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8"/>
  </p:notesMasterIdLst>
  <p:sldIdLst>
    <p:sldId id="256" r:id="rId2"/>
    <p:sldId id="259" r:id="rId3"/>
    <p:sldId id="261" r:id="rId4"/>
    <p:sldId id="257" r:id="rId5"/>
    <p:sldId id="258" r:id="rId6"/>
    <p:sldId id="260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6897" autoAdjust="0"/>
    <p:restoredTop sz="98627" autoAdjust="0"/>
  </p:normalViewPr>
  <p:slideViewPr>
    <p:cSldViewPr snapToGrid="0" snapToObjects="1">
      <p:cViewPr>
        <p:scale>
          <a:sx n="140" d="100"/>
          <a:sy n="140" d="100"/>
        </p:scale>
        <p:origin x="-720" y="-19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FBEEA3-D4FA-4FB4-A72C-31DD37E08AF9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D9E918-18D3-4753-90A0-47B16382A59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91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812775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984429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919695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111345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53261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854005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977156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201153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272928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15396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869769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05345F-A3DA-4B28-9AA6-0DFD2257C5D4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1300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382687"/>
            <a:ext cx="8686800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2" y="20717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47" dirty="0"/>
          </a:p>
        </p:txBody>
      </p:sp>
      <p:sp>
        <p:nvSpPr>
          <p:cNvPr id="4" name="Text 2"/>
          <p:cNvSpPr/>
          <p:nvPr/>
        </p:nvSpPr>
        <p:spPr>
          <a:xfrm>
            <a:off x="305885" y="1967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1118897" y="2087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en-US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ЧТО СДЕЛАНО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33311" y="169736"/>
            <a:ext cx="1139029" cy="232029"/>
          </a:xfrm>
          <a:prstGeom prst="roundRect">
            <a:avLst>
              <a:gd name="adj" fmla="val 2463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851542" y="238072"/>
            <a:ext cx="70220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АКТИВЕН</a:t>
            </a:r>
            <a:endParaRPr lang="en-US" sz="600" b="1" dirty="0"/>
          </a:p>
        </p:txBody>
      </p:sp>
      <p:sp>
        <p:nvSpPr>
          <p:cNvPr id="129" name="Text 28"/>
          <p:cNvSpPr/>
          <p:nvPr/>
        </p:nvSpPr>
        <p:spPr>
          <a:xfrm>
            <a:off x="232172" y="2020756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0" name="Text 29"/>
          <p:cNvSpPr/>
          <p:nvPr/>
        </p:nvSpPr>
        <p:spPr>
          <a:xfrm>
            <a:off x="321469" y="2069842"/>
            <a:ext cx="1191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800" dirty="0">
              <a:solidFill>
                <a:srgbClr val="00B050"/>
              </a:solidFill>
            </a:endParaRPr>
          </a:p>
        </p:txBody>
      </p:sp>
      <p:sp>
        <p:nvSpPr>
          <p:cNvPr id="133" name="Text 32"/>
          <p:cNvSpPr/>
          <p:nvPr/>
        </p:nvSpPr>
        <p:spPr>
          <a:xfrm>
            <a:off x="321469" y="2293807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POS-МАТЕРИАЛЫ</a:t>
            </a:r>
            <a:endParaRPr lang="en-US" sz="800" dirty="0"/>
          </a:p>
        </p:txBody>
      </p:sp>
      <p:sp>
        <p:nvSpPr>
          <p:cNvPr id="134" name="Text 33"/>
          <p:cNvSpPr/>
          <p:nvPr/>
        </p:nvSpPr>
        <p:spPr>
          <a:xfrm>
            <a:off x="321471" y="2537060"/>
            <a:ext cx="1596233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35" name="Text 34"/>
          <p:cNvSpPr/>
          <p:nvPr/>
        </p:nvSpPr>
        <p:spPr>
          <a:xfrm>
            <a:off x="302185" y="2421889"/>
            <a:ext cx="1536773" cy="535087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>
              <a:lnSpc>
                <a:spcPts val="900"/>
              </a:lnSpc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Руководство по продажам</a:t>
            </a:r>
            <a:b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Шелфтокеры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воблеры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ценники</a:t>
            </a:r>
            <a:endParaRPr lang="en-US" sz="700" dirty="0"/>
          </a:p>
          <a:p>
            <a:pPr marL="0" indent="0" algn="l">
              <a:lnSpc>
                <a:spcPts val="900"/>
              </a:lnSpc>
              <a:buNone/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Листовк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а</a:t>
            </a:r>
            <a:b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4.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ланограмма</a:t>
            </a:r>
            <a:endParaRPr lang="en-US" sz="700" dirty="0"/>
          </a:p>
        </p:txBody>
      </p:sp>
      <p:sp>
        <p:nvSpPr>
          <p:cNvPr id="136" name="Shape 35"/>
          <p:cNvSpPr/>
          <p:nvPr/>
        </p:nvSpPr>
        <p:spPr>
          <a:xfrm>
            <a:off x="321469" y="2922300"/>
            <a:ext cx="1505880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solid"/>
          </a:ln>
        </p:spPr>
      </p:sp>
      <p:sp>
        <p:nvSpPr>
          <p:cNvPr id="139" name="Text 38"/>
          <p:cNvSpPr/>
          <p:nvPr/>
        </p:nvSpPr>
        <p:spPr>
          <a:xfrm>
            <a:off x="1980940" y="2020756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0" name="Text 39"/>
          <p:cNvSpPr/>
          <p:nvPr/>
        </p:nvSpPr>
        <p:spPr>
          <a:xfrm>
            <a:off x="2070236" y="2069842"/>
            <a:ext cx="1191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800" dirty="0">
              <a:solidFill>
                <a:srgbClr val="00B050"/>
              </a:solidFill>
            </a:endParaRPr>
          </a:p>
        </p:txBody>
      </p:sp>
      <p:sp>
        <p:nvSpPr>
          <p:cNvPr id="143" name="Text 42"/>
          <p:cNvSpPr/>
          <p:nvPr/>
        </p:nvSpPr>
        <p:spPr>
          <a:xfrm>
            <a:off x="2070236" y="2293807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 И ОБУЧЕНИЕ</a:t>
            </a:r>
            <a:endParaRPr lang="en-US" sz="800" dirty="0"/>
          </a:p>
        </p:txBody>
      </p:sp>
      <p:sp>
        <p:nvSpPr>
          <p:cNvPr id="144" name="Text 43"/>
          <p:cNvSpPr/>
          <p:nvPr/>
        </p:nvSpPr>
        <p:spPr>
          <a:xfrm>
            <a:off x="2023480" y="2430877"/>
            <a:ext cx="1642990" cy="507705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Видеоролики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: 5 штук</a:t>
            </a: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О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блако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с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материалами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Обучение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: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_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регионов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~350 ТП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ОП</a:t>
            </a: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500" dirty="0">
              <a:solidFill>
                <a:srgbClr val="5A6776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146" name="Text 45"/>
          <p:cNvSpPr/>
          <p:nvPr/>
        </p:nvSpPr>
        <p:spPr>
          <a:xfrm>
            <a:off x="2070236" y="2813179"/>
            <a:ext cx="521106" cy="12540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47" name="Text 46"/>
          <p:cNvSpPr/>
          <p:nvPr/>
        </p:nvSpPr>
        <p:spPr>
          <a:xfrm>
            <a:off x="2569390" y="2824320"/>
            <a:ext cx="1049127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48" name="Text 47"/>
          <p:cNvSpPr/>
          <p:nvPr/>
        </p:nvSpPr>
        <p:spPr>
          <a:xfrm>
            <a:off x="3729707" y="1360356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4A57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9" name="Text 48"/>
          <p:cNvSpPr/>
          <p:nvPr/>
        </p:nvSpPr>
        <p:spPr>
          <a:xfrm>
            <a:off x="3819004" y="1409442"/>
            <a:ext cx="90569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D4A5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800" dirty="0"/>
          </a:p>
        </p:txBody>
      </p:sp>
      <p:sp>
        <p:nvSpPr>
          <p:cNvPr id="152" name="Text 51"/>
          <p:cNvSpPr/>
          <p:nvPr/>
        </p:nvSpPr>
        <p:spPr>
          <a:xfrm>
            <a:off x="3819004" y="1620707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742"/>
              </a:lnSpc>
            </a:pPr>
            <a:r>
              <a:rPr lang="ru-RU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ШК </a:t>
            </a:r>
            <a:r>
              <a:rPr lang="en-US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</a:t>
            </a:r>
            <a:endParaRPr lang="en-US" sz="800" dirty="0"/>
          </a:p>
        </p:txBody>
      </p:sp>
      <p:sp>
        <p:nvSpPr>
          <p:cNvPr id="153" name="Text 52"/>
          <p:cNvSpPr/>
          <p:nvPr/>
        </p:nvSpPr>
        <p:spPr>
          <a:xfrm>
            <a:off x="3774147" y="1719449"/>
            <a:ext cx="1626351" cy="722943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>
              <a:lnSpc>
                <a:spcPts val="797"/>
              </a:lnSpc>
            </a:pP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Доработка сайта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Empils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посадочной страницы</a:t>
            </a:r>
            <a:b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</a:t>
            </a:r>
            <a:r>
              <a:rPr lang="ru-RU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Таргетированная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реклама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(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VK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Яндекс)</a:t>
            </a:r>
            <a:endParaRPr lang="ru-RU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Видеореклама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пре-роллы 15-30 сек</a:t>
            </a:r>
          </a:p>
          <a:p>
            <a:pPr>
              <a:lnSpc>
                <a:spcPts val="797"/>
              </a:lnSpc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(VK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Видео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)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4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Блогер-инфлюенсер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5.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Контекстная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реклама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(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Яндекс.Директ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)</a:t>
            </a:r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700" dirty="0"/>
          </a:p>
        </p:txBody>
      </p:sp>
      <p:sp>
        <p:nvSpPr>
          <p:cNvPr id="155" name="Text 54"/>
          <p:cNvSpPr/>
          <p:nvPr/>
        </p:nvSpPr>
        <p:spPr>
          <a:xfrm>
            <a:off x="3819004" y="2131349"/>
            <a:ext cx="1505880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56" name="Text 55"/>
          <p:cNvSpPr/>
          <p:nvPr/>
        </p:nvSpPr>
        <p:spPr>
          <a:xfrm>
            <a:off x="3819004" y="2261164"/>
            <a:ext cx="1505880" cy="129815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57" name="Text 56"/>
          <p:cNvSpPr/>
          <p:nvPr/>
        </p:nvSpPr>
        <p:spPr>
          <a:xfrm>
            <a:off x="5478475" y="2033456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8" name="Text 57"/>
          <p:cNvSpPr/>
          <p:nvPr/>
        </p:nvSpPr>
        <p:spPr>
          <a:xfrm>
            <a:off x="5567774" y="2082542"/>
            <a:ext cx="114858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ПЛАН «Б»</a:t>
            </a:r>
            <a:endParaRPr lang="en-US" sz="800" dirty="0"/>
          </a:p>
        </p:txBody>
      </p:sp>
      <p:sp>
        <p:nvSpPr>
          <p:cNvPr id="161" name="Text 60"/>
          <p:cNvSpPr/>
          <p:nvPr/>
        </p:nvSpPr>
        <p:spPr>
          <a:xfrm>
            <a:off x="5567772" y="2306507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УПРАВЛЕНИЕ РИСКАМИ</a:t>
            </a:r>
            <a:endParaRPr lang="en-US" sz="800" dirty="0"/>
          </a:p>
        </p:txBody>
      </p:sp>
      <p:sp>
        <p:nvSpPr>
          <p:cNvPr id="162" name="Text 61"/>
          <p:cNvSpPr/>
          <p:nvPr/>
        </p:nvSpPr>
        <p:spPr>
          <a:xfrm>
            <a:off x="5567774" y="2443578"/>
            <a:ext cx="1596233" cy="304864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5 инструментов: </a:t>
            </a:r>
            <a:endParaRPr lang="ru-RU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доп.обучение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корректировка ассортимента, трейд-промо, мастер-классы, куратор</a:t>
            </a:r>
          </a:p>
        </p:txBody>
      </p:sp>
      <p:sp>
        <p:nvSpPr>
          <p:cNvPr id="163" name="Text 62"/>
          <p:cNvSpPr/>
          <p:nvPr/>
        </p:nvSpPr>
        <p:spPr>
          <a:xfrm>
            <a:off x="5507706" y="2943535"/>
            <a:ext cx="528300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ru-RU" sz="800" dirty="0" smtClean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 </a:t>
            </a:r>
            <a:r>
              <a:rPr lang="en-US" sz="800" dirty="0" smtClean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🟢70-85</a:t>
            </a:r>
            <a:r>
              <a:rPr lang="en-US" sz="800" dirty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%</a:t>
            </a:r>
            <a:endParaRPr lang="en-US" sz="800" dirty="0"/>
          </a:p>
        </p:txBody>
      </p:sp>
      <p:sp>
        <p:nvSpPr>
          <p:cNvPr id="164" name="Text 63"/>
          <p:cNvSpPr/>
          <p:nvPr/>
        </p:nvSpPr>
        <p:spPr>
          <a:xfrm>
            <a:off x="6083240" y="2945437"/>
            <a:ext cx="528300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 smtClean="0">
                <a:solidFill>
                  <a:srgbClr val="C9A77C"/>
                </a:solidFill>
                <a:ea typeface="Liberation Sans Narrow" pitchFamily="34" charset="-122"/>
                <a:cs typeface="Liberation Sans Narrow" pitchFamily="34" charset="-120"/>
              </a:rPr>
              <a:t>🟡50-70</a:t>
            </a:r>
            <a:r>
              <a:rPr lang="en-US" sz="800" dirty="0">
                <a:solidFill>
                  <a:srgbClr val="C9A77C"/>
                </a:solidFill>
                <a:ea typeface="Liberation Sans Narrow" pitchFamily="34" charset="-122"/>
                <a:cs typeface="Liberation Sans Narrow" pitchFamily="34" charset="-120"/>
              </a:rPr>
              <a:t>%</a:t>
            </a:r>
            <a:endParaRPr lang="en-US" sz="800" dirty="0"/>
          </a:p>
        </p:txBody>
      </p:sp>
      <p:sp>
        <p:nvSpPr>
          <p:cNvPr id="165" name="Text 64"/>
          <p:cNvSpPr/>
          <p:nvPr/>
        </p:nvSpPr>
        <p:spPr>
          <a:xfrm>
            <a:off x="6697540" y="2946906"/>
            <a:ext cx="597061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>
                <a:solidFill>
                  <a:srgbClr val="B5614A"/>
                </a:solidFill>
                <a:ea typeface="Segoe UI Symbol" pitchFamily="34" charset="-122"/>
                <a:cs typeface="Segoe UI Symbol" pitchFamily="34" charset="-120"/>
              </a:rPr>
              <a:t>🔴</a:t>
            </a:r>
            <a:r>
              <a:rPr lang="en-US" sz="800" dirty="0">
                <a:solidFill>
                  <a:srgbClr val="B5614A"/>
                </a:solidFill>
                <a:ea typeface="Carlito" pitchFamily="34" charset="-122"/>
                <a:cs typeface="Carlito" pitchFamily="34" charset="-120"/>
              </a:rPr>
              <a:t> &lt;</a:t>
            </a:r>
            <a:r>
              <a:rPr lang="en-US" sz="800" dirty="0">
                <a:solidFill>
                  <a:srgbClr val="B5614A"/>
                </a:solidFill>
                <a:ea typeface="Liberation Sans Narrow" pitchFamily="34" charset="-122"/>
                <a:cs typeface="Liberation Sans Narrow" pitchFamily="34" charset="-120"/>
              </a:rPr>
              <a:t>50%</a:t>
            </a:r>
            <a:endParaRPr lang="en-US" sz="800" dirty="0"/>
          </a:p>
        </p:txBody>
      </p:sp>
      <p:sp>
        <p:nvSpPr>
          <p:cNvPr id="166" name="Text 65"/>
          <p:cNvSpPr/>
          <p:nvPr/>
        </p:nvSpPr>
        <p:spPr>
          <a:xfrm>
            <a:off x="7227243" y="2033456"/>
            <a:ext cx="1684586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7" name="Text 66"/>
          <p:cNvSpPr/>
          <p:nvPr/>
        </p:nvSpPr>
        <p:spPr>
          <a:xfrm>
            <a:off x="7316539" y="2082542"/>
            <a:ext cx="12023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3</a:t>
            </a:r>
            <a:endParaRPr lang="en-US" sz="800" dirty="0"/>
          </a:p>
        </p:txBody>
      </p:sp>
      <p:sp>
        <p:nvSpPr>
          <p:cNvPr id="170" name="Text 69"/>
          <p:cNvSpPr/>
          <p:nvPr/>
        </p:nvSpPr>
        <p:spPr>
          <a:xfrm>
            <a:off x="7316539" y="2306507"/>
            <a:ext cx="1505992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МАСШТАБИРОВАНИЕ</a:t>
            </a:r>
            <a:endParaRPr lang="en-US" sz="800" dirty="0"/>
          </a:p>
        </p:txBody>
      </p:sp>
      <p:sp>
        <p:nvSpPr>
          <p:cNvPr id="173" name="Text 72"/>
          <p:cNvSpPr/>
          <p:nvPr/>
        </p:nvSpPr>
        <p:spPr>
          <a:xfrm>
            <a:off x="7274794" y="2464198"/>
            <a:ext cx="1285875" cy="273504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Цель: (DIY 650, СК 250, B2B 100)</a:t>
            </a:r>
            <a:endParaRPr lang="en-US" sz="800" dirty="0"/>
          </a:p>
        </p:txBody>
      </p:sp>
      <p:sp>
        <p:nvSpPr>
          <p:cNvPr id="182" name="Text 15"/>
          <p:cNvSpPr/>
          <p:nvPr/>
        </p:nvSpPr>
        <p:spPr>
          <a:xfrm>
            <a:off x="546497" y="11055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3" name="Text 16"/>
          <p:cNvSpPr/>
          <p:nvPr/>
        </p:nvSpPr>
        <p:spPr>
          <a:xfrm>
            <a:off x="571500" y="11305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4" name="Text 17"/>
          <p:cNvSpPr/>
          <p:nvPr/>
        </p:nvSpPr>
        <p:spPr>
          <a:xfrm>
            <a:off x="885825" y="11484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5" name="Text 18"/>
          <p:cNvSpPr/>
          <p:nvPr/>
        </p:nvSpPr>
        <p:spPr>
          <a:xfrm>
            <a:off x="2532459" y="11055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6" name="Text 19"/>
          <p:cNvSpPr/>
          <p:nvPr/>
        </p:nvSpPr>
        <p:spPr>
          <a:xfrm>
            <a:off x="2557463" y="11305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8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1788" y="1148425"/>
            <a:ext cx="1414463" cy="21431"/>
          </a:xfrm>
          <a:prstGeom prst="rect">
            <a:avLst/>
          </a:prstGeom>
        </p:spPr>
      </p:pic>
      <p:sp>
        <p:nvSpPr>
          <p:cNvPr id="188" name="Text 20"/>
          <p:cNvSpPr/>
          <p:nvPr/>
        </p:nvSpPr>
        <p:spPr>
          <a:xfrm>
            <a:off x="4518422" y="11055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FF8C0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9" name="Text 21"/>
          <p:cNvSpPr/>
          <p:nvPr/>
        </p:nvSpPr>
        <p:spPr>
          <a:xfrm>
            <a:off x="4543425" y="1130566"/>
            <a:ext cx="57150" cy="57150"/>
          </a:xfrm>
          <a:prstGeom prst="ellipse">
            <a:avLst/>
          </a:prstGeom>
          <a:solidFill>
            <a:srgbClr val="FF8C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0" name="Text 22"/>
          <p:cNvSpPr/>
          <p:nvPr/>
        </p:nvSpPr>
        <p:spPr>
          <a:xfrm>
            <a:off x="4857750" y="11484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1" name="Text 23"/>
          <p:cNvSpPr/>
          <p:nvPr/>
        </p:nvSpPr>
        <p:spPr>
          <a:xfrm>
            <a:off x="6504384" y="11055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2" name="Text 24"/>
          <p:cNvSpPr/>
          <p:nvPr/>
        </p:nvSpPr>
        <p:spPr>
          <a:xfrm>
            <a:off x="6529388" y="11305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3" name="Text 25"/>
          <p:cNvSpPr/>
          <p:nvPr/>
        </p:nvSpPr>
        <p:spPr>
          <a:xfrm>
            <a:off x="6843713" y="11484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4" name="Text 26"/>
          <p:cNvSpPr/>
          <p:nvPr/>
        </p:nvSpPr>
        <p:spPr>
          <a:xfrm>
            <a:off x="8490347" y="11055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5" name="Text 27"/>
          <p:cNvSpPr/>
          <p:nvPr/>
        </p:nvSpPr>
        <p:spPr>
          <a:xfrm>
            <a:off x="8515350" y="11305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6" name="Text 30"/>
          <p:cNvSpPr/>
          <p:nvPr/>
        </p:nvSpPr>
        <p:spPr>
          <a:xfrm>
            <a:off x="1455807" y="2050137"/>
            <a:ext cx="394640" cy="148652"/>
          </a:xfrm>
          <a:prstGeom prst="roundRect">
            <a:avLst>
              <a:gd name="adj" fmla="val 68027"/>
            </a:avLst>
          </a:prstGeom>
          <a:solidFill>
            <a:srgbClr val="2ECC7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7" name="Text 31"/>
          <p:cNvSpPr/>
          <p:nvPr/>
        </p:nvSpPr>
        <p:spPr>
          <a:xfrm>
            <a:off x="1420413" y="2067834"/>
            <a:ext cx="4492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2ECC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DONE</a:t>
            </a:r>
            <a:endParaRPr lang="en-US" sz="800" dirty="0"/>
          </a:p>
        </p:txBody>
      </p:sp>
      <p:sp>
        <p:nvSpPr>
          <p:cNvPr id="198" name="Text 30"/>
          <p:cNvSpPr/>
          <p:nvPr/>
        </p:nvSpPr>
        <p:spPr>
          <a:xfrm>
            <a:off x="3199263" y="2068363"/>
            <a:ext cx="394640" cy="148652"/>
          </a:xfrm>
          <a:prstGeom prst="roundRect">
            <a:avLst>
              <a:gd name="adj" fmla="val 68027"/>
            </a:avLst>
          </a:prstGeom>
          <a:solidFill>
            <a:srgbClr val="2ECC7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9" name="Text 31"/>
          <p:cNvSpPr/>
          <p:nvPr/>
        </p:nvSpPr>
        <p:spPr>
          <a:xfrm>
            <a:off x="3163869" y="2086060"/>
            <a:ext cx="4492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2ECC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DONE</a:t>
            </a:r>
            <a:endParaRPr lang="en-US" sz="800" dirty="0"/>
          </a:p>
        </p:txBody>
      </p:sp>
      <p:sp>
        <p:nvSpPr>
          <p:cNvPr id="200" name="Text 49"/>
          <p:cNvSpPr/>
          <p:nvPr/>
        </p:nvSpPr>
        <p:spPr>
          <a:xfrm>
            <a:off x="4520580" y="1392471"/>
            <a:ext cx="850423" cy="169513"/>
          </a:xfrm>
          <a:prstGeom prst="roundRect">
            <a:avLst>
              <a:gd name="adj" fmla="val 68027"/>
            </a:avLst>
          </a:prstGeom>
          <a:solidFill>
            <a:srgbClr val="FF8C00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1" name="Text 50"/>
          <p:cNvSpPr/>
          <p:nvPr/>
        </p:nvSpPr>
        <p:spPr>
          <a:xfrm>
            <a:off x="4513930" y="1410168"/>
            <a:ext cx="894727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FF8C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PROGRESS</a:t>
            </a:r>
            <a:endParaRPr lang="en-US" sz="800" dirty="0"/>
          </a:p>
        </p:txBody>
      </p:sp>
      <p:sp>
        <p:nvSpPr>
          <p:cNvPr id="202" name="Text 58"/>
          <p:cNvSpPr/>
          <p:nvPr/>
        </p:nvSpPr>
        <p:spPr>
          <a:xfrm>
            <a:off x="6635136" y="2077369"/>
            <a:ext cx="475833" cy="128220"/>
          </a:xfrm>
          <a:prstGeom prst="roundRect">
            <a:avLst>
              <a:gd name="adj" fmla="val 68027"/>
            </a:avLst>
          </a:prstGeom>
          <a:solidFill>
            <a:srgbClr val="888888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3" name="Text 59"/>
          <p:cNvSpPr/>
          <p:nvPr/>
        </p:nvSpPr>
        <p:spPr>
          <a:xfrm>
            <a:off x="6654968" y="2073072"/>
            <a:ext cx="519215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READY</a:t>
            </a:r>
            <a:endParaRPr lang="en-US" sz="800" dirty="0"/>
          </a:p>
        </p:txBody>
      </p:sp>
      <p:sp>
        <p:nvSpPr>
          <p:cNvPr id="204" name="Text 67"/>
          <p:cNvSpPr/>
          <p:nvPr/>
        </p:nvSpPr>
        <p:spPr>
          <a:xfrm>
            <a:off x="8465573" y="2062837"/>
            <a:ext cx="392128" cy="166348"/>
          </a:xfrm>
          <a:prstGeom prst="roundRect">
            <a:avLst>
              <a:gd name="adj" fmla="val 68027"/>
            </a:avLst>
          </a:prstGeom>
          <a:solidFill>
            <a:srgbClr val="888888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5" name="Text 68"/>
          <p:cNvSpPr/>
          <p:nvPr/>
        </p:nvSpPr>
        <p:spPr>
          <a:xfrm>
            <a:off x="8511429" y="2084870"/>
            <a:ext cx="332882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PLAN</a:t>
            </a:r>
            <a:endParaRPr lang="en-US" sz="800" dirty="0"/>
          </a:p>
        </p:txBody>
      </p:sp>
      <p:sp>
        <p:nvSpPr>
          <p:cNvPr id="206" name="Text 7"/>
          <p:cNvSpPr/>
          <p:nvPr/>
        </p:nvSpPr>
        <p:spPr>
          <a:xfrm>
            <a:off x="7743141" y="257175"/>
            <a:ext cx="57150" cy="57150"/>
          </a:xfrm>
          <a:prstGeom prst="roundRect">
            <a:avLst>
              <a:gd name="adj" fmla="val 166650000"/>
            </a:avLst>
          </a:prstGeom>
          <a:solidFill>
            <a:srgbClr val="2ECC71">
              <a:alpha val="7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7" name="Rectangle 2"/>
          <p:cNvSpPr/>
          <p:nvPr/>
        </p:nvSpPr>
        <p:spPr>
          <a:xfrm>
            <a:off x="1021010" y="1546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 47"/>
          <p:cNvSpPr/>
          <p:nvPr/>
        </p:nvSpPr>
        <p:spPr>
          <a:xfrm>
            <a:off x="3716024" y="2582883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4A57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5" name="Text 48"/>
          <p:cNvSpPr/>
          <p:nvPr/>
        </p:nvSpPr>
        <p:spPr>
          <a:xfrm>
            <a:off x="3805321" y="2631969"/>
            <a:ext cx="90569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D4A5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800" dirty="0"/>
          </a:p>
        </p:txBody>
      </p:sp>
      <p:sp>
        <p:nvSpPr>
          <p:cNvPr id="116" name="Text 51"/>
          <p:cNvSpPr/>
          <p:nvPr/>
        </p:nvSpPr>
        <p:spPr>
          <a:xfrm>
            <a:off x="3805321" y="2817834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ru-RU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РТТ </a:t>
            </a:r>
            <a:r>
              <a:rPr lang="en-US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</a:t>
            </a:r>
            <a:endParaRPr lang="en-US" sz="800" dirty="0"/>
          </a:p>
        </p:txBody>
      </p:sp>
      <p:sp>
        <p:nvSpPr>
          <p:cNvPr id="117" name="Text 52"/>
          <p:cNvSpPr/>
          <p:nvPr/>
        </p:nvSpPr>
        <p:spPr>
          <a:xfrm>
            <a:off x="3760464" y="2941976"/>
            <a:ext cx="1626351" cy="722943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>
              <a:lnSpc>
                <a:spcPts val="797"/>
              </a:lnSpc>
            </a:pP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Брендированные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зоны 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TITAN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в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топовых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РТТ Палитра,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Брозекс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И.П. Рыгалов. – 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(февраль – май 2027)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/>
            </a:r>
            <a:b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.</a:t>
            </a: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700" dirty="0"/>
          </a:p>
        </p:txBody>
      </p:sp>
      <p:sp>
        <p:nvSpPr>
          <p:cNvPr id="118" name="Text 54"/>
          <p:cNvSpPr/>
          <p:nvPr/>
        </p:nvSpPr>
        <p:spPr>
          <a:xfrm>
            <a:off x="3805321" y="3353876"/>
            <a:ext cx="1505880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19" name="Text 55"/>
          <p:cNvSpPr/>
          <p:nvPr/>
        </p:nvSpPr>
        <p:spPr>
          <a:xfrm>
            <a:off x="3805321" y="3483691"/>
            <a:ext cx="1505880" cy="129815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20" name="Text 49"/>
          <p:cNvSpPr/>
          <p:nvPr/>
        </p:nvSpPr>
        <p:spPr>
          <a:xfrm>
            <a:off x="4506897" y="2614998"/>
            <a:ext cx="850423" cy="169513"/>
          </a:xfrm>
          <a:prstGeom prst="roundRect">
            <a:avLst>
              <a:gd name="adj" fmla="val 68027"/>
            </a:avLst>
          </a:prstGeom>
          <a:solidFill>
            <a:srgbClr val="FF8C00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1" name="Text 50"/>
          <p:cNvSpPr/>
          <p:nvPr/>
        </p:nvSpPr>
        <p:spPr>
          <a:xfrm>
            <a:off x="4500247" y="2632695"/>
            <a:ext cx="894727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FF8C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PROGRESS</a:t>
            </a:r>
            <a:endParaRPr lang="en-US" sz="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228602" y="28337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47" dirty="0"/>
          </a:p>
        </p:txBody>
      </p:sp>
      <p:sp>
        <p:nvSpPr>
          <p:cNvPr id="3" name="Text 2"/>
          <p:cNvSpPr/>
          <p:nvPr/>
        </p:nvSpPr>
        <p:spPr>
          <a:xfrm>
            <a:off x="305885" y="2729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5"/>
          <p:cNvSpPr/>
          <p:nvPr/>
        </p:nvSpPr>
        <p:spPr>
          <a:xfrm>
            <a:off x="1118897" y="2849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en-US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ЧТО СДЕЛАНО</a:t>
            </a:r>
            <a:endParaRPr lang="en-US" sz="1200" dirty="0"/>
          </a:p>
        </p:txBody>
      </p:sp>
      <p:sp>
        <p:nvSpPr>
          <p:cNvPr id="5" name="Text 6"/>
          <p:cNvSpPr/>
          <p:nvPr/>
        </p:nvSpPr>
        <p:spPr>
          <a:xfrm>
            <a:off x="7633311" y="245936"/>
            <a:ext cx="1139029" cy="232029"/>
          </a:xfrm>
          <a:prstGeom prst="roundRect">
            <a:avLst>
              <a:gd name="adj" fmla="val 2463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8"/>
          <p:cNvSpPr/>
          <p:nvPr/>
        </p:nvSpPr>
        <p:spPr>
          <a:xfrm>
            <a:off x="7851542" y="314272"/>
            <a:ext cx="70220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АКТИВЕН</a:t>
            </a:r>
            <a:endParaRPr lang="en-US" sz="600" b="1" dirty="0"/>
          </a:p>
        </p:txBody>
      </p:sp>
      <p:sp>
        <p:nvSpPr>
          <p:cNvPr id="21" name="Text 7"/>
          <p:cNvSpPr/>
          <p:nvPr/>
        </p:nvSpPr>
        <p:spPr>
          <a:xfrm>
            <a:off x="7743141" y="333375"/>
            <a:ext cx="57150" cy="57150"/>
          </a:xfrm>
          <a:prstGeom prst="roundRect">
            <a:avLst>
              <a:gd name="adj" fmla="val 166650000"/>
            </a:avLst>
          </a:prstGeom>
          <a:solidFill>
            <a:srgbClr val="2ECC71">
              <a:alpha val="7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Rectangle 2"/>
          <p:cNvSpPr/>
          <p:nvPr/>
        </p:nvSpPr>
        <p:spPr>
          <a:xfrm>
            <a:off x="1021010" y="2308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 11"/>
          <p:cNvSpPr/>
          <p:nvPr/>
        </p:nvSpPr>
        <p:spPr>
          <a:xfrm>
            <a:off x="296465" y="757921"/>
            <a:ext cx="2831269" cy="1721858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Shape 12"/>
          <p:cNvSpPr/>
          <p:nvPr/>
        </p:nvSpPr>
        <p:spPr>
          <a:xfrm>
            <a:off x="385762" y="1047243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</p:sp>
      <p:sp>
        <p:nvSpPr>
          <p:cNvPr id="25" name="Text 13"/>
          <p:cNvSpPr/>
          <p:nvPr/>
        </p:nvSpPr>
        <p:spPr>
          <a:xfrm>
            <a:off x="385762" y="859719"/>
            <a:ext cx="21431" cy="114300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14"/>
          <p:cNvSpPr/>
          <p:nvPr/>
        </p:nvSpPr>
        <p:spPr>
          <a:xfrm>
            <a:off x="464341" y="852576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1266" dirty="0"/>
          </a:p>
        </p:txBody>
      </p:sp>
      <p:sp>
        <p:nvSpPr>
          <p:cNvPr id="27" name="Text 15"/>
          <p:cNvSpPr/>
          <p:nvPr/>
        </p:nvSpPr>
        <p:spPr>
          <a:xfrm>
            <a:off x="650081" y="847219"/>
            <a:ext cx="2388357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ДИСТРИБЬЮТОРСКИЙ КАНАЛ</a:t>
            </a:r>
            <a:endParaRPr lang="en-US" sz="800" dirty="0"/>
          </a:p>
        </p:txBody>
      </p:sp>
      <p:sp>
        <p:nvSpPr>
          <p:cNvPr id="28" name="Text 20"/>
          <p:cNvSpPr/>
          <p:nvPr/>
        </p:nvSpPr>
        <p:spPr>
          <a:xfrm>
            <a:off x="385760" y="116188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844" dirty="0"/>
          </a:p>
        </p:txBody>
      </p:sp>
      <p:sp>
        <p:nvSpPr>
          <p:cNvPr id="29" name="Text 21"/>
          <p:cNvSpPr/>
          <p:nvPr/>
        </p:nvSpPr>
        <p:spPr>
          <a:xfrm>
            <a:off x="514347" y="1147601"/>
            <a:ext cx="2524088" cy="29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Пилоты: Палитра (Краснодар), И.П. Рыгалов (Пенза), Брозекс (Екатеринбург)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366710" y="141841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400" dirty="0"/>
          </a:p>
        </p:txBody>
      </p:sp>
      <p:sp>
        <p:nvSpPr>
          <p:cNvPr id="31" name="Text 23"/>
          <p:cNvSpPr/>
          <p:nvPr/>
        </p:nvSpPr>
        <p:spPr>
          <a:xfrm>
            <a:off x="514347" y="1416830"/>
            <a:ext cx="2524088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Обучение: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регионов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РМ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~350 ТП</a:t>
            </a:r>
            <a:endParaRPr lang="en-US" sz="800" dirty="0"/>
          </a:p>
        </p:txBody>
      </p:sp>
      <p:sp>
        <p:nvSpPr>
          <p:cNvPr id="32" name="Text 24"/>
          <p:cNvSpPr/>
          <p:nvPr/>
        </p:nvSpPr>
        <p:spPr>
          <a:xfrm>
            <a:off x="385760" y="1601452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◖</a:t>
            </a:r>
            <a:endParaRPr lang="en-US" sz="844" dirty="0"/>
          </a:p>
        </p:txBody>
      </p:sp>
      <p:sp>
        <p:nvSpPr>
          <p:cNvPr id="33" name="Text 25"/>
          <p:cNvSpPr/>
          <p:nvPr/>
        </p:nvSpPr>
        <p:spPr>
          <a:xfrm>
            <a:off x="514347" y="1587164"/>
            <a:ext cx="2524088" cy="3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POSM: </a:t>
            </a: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шелфтокеры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b="1" dirty="0" smtClean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шт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воблеры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ценники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листовки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500</a:t>
            </a:r>
            <a:endParaRPr lang="en-US" sz="800" dirty="0"/>
          </a:p>
        </p:txBody>
      </p:sp>
      <p:sp>
        <p:nvSpPr>
          <p:cNvPr id="34" name="Text 26"/>
          <p:cNvSpPr/>
          <p:nvPr/>
        </p:nvSpPr>
        <p:spPr>
          <a:xfrm>
            <a:off x="385760" y="1884969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▶</a:t>
            </a:r>
            <a:endParaRPr lang="en-US" sz="844" dirty="0"/>
          </a:p>
        </p:txBody>
      </p:sp>
      <p:sp>
        <p:nvSpPr>
          <p:cNvPr id="35" name="Text 27"/>
          <p:cNvSpPr/>
          <p:nvPr/>
        </p:nvSpPr>
        <p:spPr>
          <a:xfrm>
            <a:off x="514347" y="1870683"/>
            <a:ext cx="2524088" cy="3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Контент: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видеоинструкция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портфолио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видео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для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ТП</a:t>
            </a:r>
            <a:endParaRPr lang="en-US" sz="800" dirty="0"/>
          </a:p>
        </p:txBody>
      </p:sp>
      <p:sp>
        <p:nvSpPr>
          <p:cNvPr id="36" name="Shape 28"/>
          <p:cNvSpPr/>
          <p:nvPr/>
        </p:nvSpPr>
        <p:spPr>
          <a:xfrm>
            <a:off x="385762" y="2157771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dash"/>
          </a:ln>
        </p:spPr>
      </p:sp>
      <p:sp>
        <p:nvSpPr>
          <p:cNvPr id="60" name="Text 68"/>
          <p:cNvSpPr/>
          <p:nvPr/>
        </p:nvSpPr>
        <p:spPr>
          <a:xfrm>
            <a:off x="296465" y="2693476"/>
            <a:ext cx="2831381" cy="1721857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Shape 69"/>
          <p:cNvSpPr/>
          <p:nvPr/>
        </p:nvSpPr>
        <p:spPr>
          <a:xfrm>
            <a:off x="385762" y="2982798"/>
            <a:ext cx="2652787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</p:sp>
      <p:sp>
        <p:nvSpPr>
          <p:cNvPr id="62" name="Text 70"/>
          <p:cNvSpPr/>
          <p:nvPr/>
        </p:nvSpPr>
        <p:spPr>
          <a:xfrm>
            <a:off x="385762" y="2795274"/>
            <a:ext cx="21431" cy="114300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71"/>
          <p:cNvSpPr/>
          <p:nvPr/>
        </p:nvSpPr>
        <p:spPr>
          <a:xfrm>
            <a:off x="464342" y="2788131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▥</a:t>
            </a:r>
            <a:endParaRPr lang="en-US" sz="1266" dirty="0"/>
          </a:p>
        </p:txBody>
      </p:sp>
      <p:sp>
        <p:nvSpPr>
          <p:cNvPr id="64" name="Text 72"/>
          <p:cNvSpPr/>
          <p:nvPr/>
        </p:nvSpPr>
        <p:spPr>
          <a:xfrm>
            <a:off x="650079" y="2782774"/>
            <a:ext cx="2388468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B2B КАНАЛ</a:t>
            </a:r>
            <a:endParaRPr lang="en-US" sz="800" dirty="0"/>
          </a:p>
        </p:txBody>
      </p:sp>
      <p:sp>
        <p:nvSpPr>
          <p:cNvPr id="65" name="Text 73"/>
          <p:cNvSpPr/>
          <p:nvPr/>
        </p:nvSpPr>
        <p:spPr>
          <a:xfrm>
            <a:off x="385760" y="3086382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⚗</a:t>
            </a:r>
            <a:endParaRPr lang="en-US" sz="844" dirty="0"/>
          </a:p>
        </p:txBody>
      </p:sp>
      <p:sp>
        <p:nvSpPr>
          <p:cNvPr id="66" name="Text 74"/>
          <p:cNvSpPr/>
          <p:nvPr/>
        </p:nvSpPr>
        <p:spPr>
          <a:xfrm>
            <a:off x="514350" y="3072094"/>
            <a:ext cx="2524199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Тест-образец: пробник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0,4 л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+ веерные выкрасы</a:t>
            </a:r>
            <a:endParaRPr lang="en-US" sz="800" dirty="0"/>
          </a:p>
        </p:txBody>
      </p:sp>
      <p:sp>
        <p:nvSpPr>
          <p:cNvPr id="67" name="Text 75"/>
          <p:cNvSpPr/>
          <p:nvPr/>
        </p:nvSpPr>
        <p:spPr>
          <a:xfrm>
            <a:off x="385760" y="325671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844" dirty="0"/>
          </a:p>
        </p:txBody>
      </p:sp>
      <p:sp>
        <p:nvSpPr>
          <p:cNvPr id="68" name="Text 76"/>
          <p:cNvSpPr/>
          <p:nvPr/>
        </p:nvSpPr>
        <p:spPr>
          <a:xfrm>
            <a:off x="514350" y="3242429"/>
            <a:ext cx="2524199" cy="14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Листовка B2B с расчётом ССВ</a:t>
            </a:r>
            <a:endParaRPr lang="en-US" sz="800" dirty="0"/>
          </a:p>
        </p:txBody>
      </p:sp>
      <p:sp>
        <p:nvSpPr>
          <p:cNvPr id="69" name="Text 77"/>
          <p:cNvSpPr/>
          <p:nvPr/>
        </p:nvSpPr>
        <p:spPr>
          <a:xfrm>
            <a:off x="385760" y="341990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⚒</a:t>
            </a:r>
            <a:endParaRPr lang="en-US" sz="844" dirty="0"/>
          </a:p>
        </p:txBody>
      </p:sp>
      <p:sp>
        <p:nvSpPr>
          <p:cNvPr id="70" name="Text 78"/>
          <p:cNvSpPr/>
          <p:nvPr/>
        </p:nvSpPr>
        <p:spPr>
          <a:xfrm>
            <a:off x="514350" y="3405619"/>
            <a:ext cx="2524199" cy="29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6 инструментов: тест-образец, листовка, инфлюенсер, маржа, портфолио</a:t>
            </a:r>
            <a:endParaRPr lang="en-US" sz="800" dirty="0"/>
          </a:p>
        </p:txBody>
      </p:sp>
      <p:sp>
        <p:nvSpPr>
          <p:cNvPr id="71" name="Text 79"/>
          <p:cNvSpPr/>
          <p:nvPr/>
        </p:nvSpPr>
        <p:spPr>
          <a:xfrm>
            <a:off x="385760" y="368913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844" dirty="0"/>
          </a:p>
        </p:txBody>
      </p:sp>
      <p:sp>
        <p:nvSpPr>
          <p:cNvPr id="72" name="Text 80"/>
          <p:cNvSpPr/>
          <p:nvPr/>
        </p:nvSpPr>
        <p:spPr>
          <a:xfrm>
            <a:off x="514350" y="3674849"/>
            <a:ext cx="2524199" cy="14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Расчёт маржинальности по фасовкам (8,5 л выгоднее)</a:t>
            </a:r>
            <a:endParaRPr lang="en-US" sz="800" dirty="0"/>
          </a:p>
        </p:txBody>
      </p:sp>
      <p:sp>
        <p:nvSpPr>
          <p:cNvPr id="73" name="Shape 81"/>
          <p:cNvSpPr/>
          <p:nvPr/>
        </p:nvSpPr>
        <p:spPr>
          <a:xfrm>
            <a:off x="385762" y="3898760"/>
            <a:ext cx="2652787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dash"/>
          </a:ln>
        </p:spPr>
      </p:sp>
    </p:spTree>
    <p:extLst>
      <p:ext uri="{BB962C8B-B14F-4D97-AF65-F5344CB8AC3E}">
        <p14:creationId xmlns:p14="http://schemas.microsoft.com/office/powerpoint/2010/main" val="2412404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2"/>
          <p:cNvSpPr/>
          <p:nvPr/>
        </p:nvSpPr>
        <p:spPr>
          <a:xfrm>
            <a:off x="383154" y="984258"/>
            <a:ext cx="2831269" cy="2953132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Shape 33"/>
          <p:cNvSpPr/>
          <p:nvPr/>
        </p:nvSpPr>
        <p:spPr>
          <a:xfrm>
            <a:off x="472451" y="1635252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</p:sp>
      <p:sp>
        <p:nvSpPr>
          <p:cNvPr id="4" name="Text 34"/>
          <p:cNvSpPr/>
          <p:nvPr/>
        </p:nvSpPr>
        <p:spPr>
          <a:xfrm>
            <a:off x="472451" y="1058760"/>
            <a:ext cx="21431" cy="114300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5"/>
          <p:cNvSpPr/>
          <p:nvPr/>
        </p:nvSpPr>
        <p:spPr>
          <a:xfrm>
            <a:off x="551030" y="1072089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🛒</a:t>
            </a:r>
            <a:endParaRPr lang="en-US" sz="1266" dirty="0"/>
          </a:p>
        </p:txBody>
      </p:sp>
      <p:sp>
        <p:nvSpPr>
          <p:cNvPr id="6" name="Text 36"/>
          <p:cNvSpPr/>
          <p:nvPr/>
        </p:nvSpPr>
        <p:spPr>
          <a:xfrm>
            <a:off x="736767" y="1066732"/>
            <a:ext cx="2388357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00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СЕТЕВОЙ </a:t>
            </a:r>
            <a:r>
              <a:rPr lang="en-US" sz="100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КАНАЛ</a:t>
            </a:r>
            <a:r>
              <a:rPr lang="ru-RU" sz="100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– </a:t>
            </a:r>
            <a:r>
              <a:rPr lang="ru-RU" sz="1000" b="1" kern="0" spc="84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Лемана</a:t>
            </a:r>
            <a:r>
              <a:rPr lang="ru-RU" sz="100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Про</a:t>
            </a:r>
            <a:endParaRPr lang="en-US" sz="1000" dirty="0"/>
          </a:p>
        </p:txBody>
      </p:sp>
      <p:sp>
        <p:nvSpPr>
          <p:cNvPr id="7" name="Text 37"/>
          <p:cNvSpPr/>
          <p:nvPr/>
        </p:nvSpPr>
        <p:spPr>
          <a:xfrm>
            <a:off x="472449" y="173883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844" dirty="0"/>
          </a:p>
        </p:txBody>
      </p:sp>
      <p:sp>
        <p:nvSpPr>
          <p:cNvPr id="8" name="Text 38"/>
          <p:cNvSpPr/>
          <p:nvPr/>
        </p:nvSpPr>
        <p:spPr>
          <a:xfrm>
            <a:off x="601036" y="1724548"/>
            <a:ext cx="2524088" cy="1580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Лемана Про: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ТТ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в ЮФО</a:t>
            </a:r>
            <a:endParaRPr lang="en-US" sz="800" dirty="0"/>
          </a:p>
        </p:txBody>
      </p:sp>
      <p:sp>
        <p:nvSpPr>
          <p:cNvPr id="9" name="Text 39"/>
          <p:cNvSpPr/>
          <p:nvPr/>
        </p:nvSpPr>
        <p:spPr>
          <a:xfrm>
            <a:off x="472449" y="1909170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▭</a:t>
            </a:r>
            <a:endParaRPr lang="en-US" sz="844" dirty="0"/>
          </a:p>
        </p:txBody>
      </p:sp>
      <p:sp>
        <p:nvSpPr>
          <p:cNvPr id="10" name="Text 40"/>
          <p:cNvSpPr/>
          <p:nvPr/>
        </p:nvSpPr>
        <p:spPr>
          <a:xfrm>
            <a:off x="601036" y="1902027"/>
            <a:ext cx="1001174" cy="119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619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РК на экранах Ростова:</a:t>
            </a:r>
            <a:endParaRPr lang="en-US" sz="619" dirty="0"/>
          </a:p>
        </p:txBody>
      </p:sp>
      <p:sp>
        <p:nvSpPr>
          <p:cNvPr id="11" name="Text 41"/>
          <p:cNvSpPr/>
          <p:nvPr/>
        </p:nvSpPr>
        <p:spPr>
          <a:xfrm>
            <a:off x="1533072" y="1902027"/>
            <a:ext cx="545068" cy="129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экранов</a:t>
            </a:r>
            <a:endParaRPr lang="en-US" sz="800" dirty="0"/>
          </a:p>
        </p:txBody>
      </p:sp>
      <p:sp>
        <p:nvSpPr>
          <p:cNvPr id="12" name="Text 42"/>
          <p:cNvSpPr/>
          <p:nvPr/>
        </p:nvSpPr>
        <p:spPr>
          <a:xfrm>
            <a:off x="472449" y="2079503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☞</a:t>
            </a:r>
            <a:endParaRPr lang="en-US" sz="844" dirty="0"/>
          </a:p>
        </p:txBody>
      </p:sp>
      <p:sp>
        <p:nvSpPr>
          <p:cNvPr id="13" name="Text 43"/>
          <p:cNvSpPr/>
          <p:nvPr/>
        </p:nvSpPr>
        <p:spPr>
          <a:xfrm>
            <a:off x="601036" y="2065216"/>
            <a:ext cx="2524088" cy="1580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Таргет ВКонтакте по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ТТ</a:t>
            </a:r>
            <a:endParaRPr lang="en-US" sz="800" dirty="0"/>
          </a:p>
        </p:txBody>
      </p:sp>
      <p:sp>
        <p:nvSpPr>
          <p:cNvPr id="14" name="Text 44"/>
          <p:cNvSpPr/>
          <p:nvPr/>
        </p:nvSpPr>
        <p:spPr>
          <a:xfrm>
            <a:off x="472449" y="2249837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844" dirty="0"/>
          </a:p>
        </p:txBody>
      </p:sp>
      <p:sp>
        <p:nvSpPr>
          <p:cNvPr id="15" name="Text 45"/>
          <p:cNvSpPr/>
          <p:nvPr/>
        </p:nvSpPr>
        <p:spPr>
          <a:xfrm>
            <a:off x="601036" y="2235551"/>
            <a:ext cx="2524088" cy="14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Промо «Подарок за покупку» (Ростов + Краснодар)</a:t>
            </a:r>
            <a:endParaRPr lang="en-US" sz="800" dirty="0"/>
          </a:p>
        </p:txBody>
      </p:sp>
      <p:sp>
        <p:nvSpPr>
          <p:cNvPr id="16" name="Text 46"/>
          <p:cNvSpPr/>
          <p:nvPr/>
        </p:nvSpPr>
        <p:spPr>
          <a:xfrm>
            <a:off x="472449" y="2413027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←</a:t>
            </a:r>
            <a:endParaRPr lang="en-US" sz="844" dirty="0"/>
          </a:p>
        </p:txBody>
      </p:sp>
      <p:sp>
        <p:nvSpPr>
          <p:cNvPr id="17" name="Text 47"/>
          <p:cNvSpPr/>
          <p:nvPr/>
        </p:nvSpPr>
        <p:spPr>
          <a:xfrm>
            <a:off x="601036" y="2398740"/>
            <a:ext cx="2524088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Кэшбек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5%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на TITAN (все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ТТ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)</a:t>
            </a:r>
            <a:endParaRPr lang="en-US" sz="800" dirty="0"/>
          </a:p>
        </p:txBody>
      </p:sp>
      <p:sp>
        <p:nvSpPr>
          <p:cNvPr id="18" name="Text 48"/>
          <p:cNvSpPr/>
          <p:nvPr/>
        </p:nvSpPr>
        <p:spPr>
          <a:xfrm>
            <a:off x="472449" y="2583361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844" dirty="0"/>
          </a:p>
        </p:txBody>
      </p:sp>
      <p:sp>
        <p:nvSpPr>
          <p:cNvPr id="19" name="Text 49"/>
          <p:cNvSpPr/>
          <p:nvPr/>
        </p:nvSpPr>
        <p:spPr>
          <a:xfrm>
            <a:off x="601036" y="2569074"/>
            <a:ext cx="2524088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Мастер-классы: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ТТ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в Ростове</a:t>
            </a:r>
            <a:endParaRPr lang="en-US" sz="800" dirty="0"/>
          </a:p>
        </p:txBody>
      </p:sp>
      <p:sp>
        <p:nvSpPr>
          <p:cNvPr id="20" name="Text 50"/>
          <p:cNvSpPr/>
          <p:nvPr/>
        </p:nvSpPr>
        <p:spPr>
          <a:xfrm>
            <a:off x="472449" y="2753695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844" dirty="0"/>
          </a:p>
        </p:txBody>
      </p:sp>
      <p:sp>
        <p:nvSpPr>
          <p:cNvPr id="21" name="Text 51"/>
          <p:cNvSpPr/>
          <p:nvPr/>
        </p:nvSpPr>
        <p:spPr>
          <a:xfrm>
            <a:off x="601038" y="2746552"/>
            <a:ext cx="1095617" cy="119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Веерные выкрасы B2B:</a:t>
            </a:r>
            <a:endParaRPr lang="en-US" sz="800" dirty="0"/>
          </a:p>
        </p:txBody>
      </p:sp>
      <p:sp>
        <p:nvSpPr>
          <p:cNvPr id="23" name="Text 53"/>
          <p:cNvSpPr/>
          <p:nvPr/>
        </p:nvSpPr>
        <p:spPr>
          <a:xfrm>
            <a:off x="472449" y="2924029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⌧</a:t>
            </a:r>
            <a:endParaRPr lang="en-US" sz="844" dirty="0"/>
          </a:p>
        </p:txBody>
      </p:sp>
      <p:sp>
        <p:nvSpPr>
          <p:cNvPr id="24" name="Text 54"/>
          <p:cNvSpPr/>
          <p:nvPr/>
        </p:nvSpPr>
        <p:spPr>
          <a:xfrm>
            <a:off x="601036" y="2909741"/>
            <a:ext cx="2524088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Скидка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10% + 10% (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жёлтый ценник) с </a:t>
            </a:r>
            <a:r>
              <a:rPr lang="en-US" sz="800" b="1" dirty="0" smtClean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01.08 - 30.09</a:t>
            </a:r>
            <a:endParaRPr lang="en-US" sz="800" dirty="0"/>
          </a:p>
        </p:txBody>
      </p:sp>
      <p:pic>
        <p:nvPicPr>
          <p:cNvPr id="25" name="Picture 2" descr="C:\Users\zakolodniy\Downloads\Анализ статистики Лемана ПРо за 02.10.2026\01_monthly_trend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4895" y="132311"/>
            <a:ext cx="5083791" cy="230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C:\Users\zakolodniy\Downloads\Анализ статистики Лемана ПРо за 02.10.2026\05_shop_performance_stock_transit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4895" y="2531602"/>
            <a:ext cx="5083791" cy="2433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Shape 33"/>
          <p:cNvSpPr/>
          <p:nvPr/>
        </p:nvSpPr>
        <p:spPr>
          <a:xfrm>
            <a:off x="450579" y="3259335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</p:sp>
      <p:sp>
        <p:nvSpPr>
          <p:cNvPr id="29" name="Text 54"/>
          <p:cNvSpPr/>
          <p:nvPr/>
        </p:nvSpPr>
        <p:spPr>
          <a:xfrm>
            <a:off x="485974" y="1381192"/>
            <a:ext cx="2524088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35"/>
              </a:lnSpc>
              <a:buNone/>
            </a:pPr>
            <a:r>
              <a:rPr lang="ru-RU" sz="1000" b="1" dirty="0" smtClean="0"/>
              <a:t>Запуск продаж 01.06.2026 – 30.09.2026</a:t>
            </a:r>
            <a:endParaRPr lang="en-US" sz="1000" b="1" dirty="0"/>
          </a:p>
        </p:txBody>
      </p:sp>
      <p:sp>
        <p:nvSpPr>
          <p:cNvPr id="32" name="Text 54"/>
          <p:cNvSpPr/>
          <p:nvPr/>
        </p:nvSpPr>
        <p:spPr>
          <a:xfrm>
            <a:off x="518169" y="3332822"/>
            <a:ext cx="2524088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35"/>
              </a:lnSpc>
              <a:buNone/>
            </a:pPr>
            <a:r>
              <a:rPr lang="ru-RU" sz="1000" b="1" dirty="0" smtClean="0"/>
              <a:t>Поддержка 01.010.2026 – 30.10.2026</a:t>
            </a:r>
            <a:endParaRPr lang="en-US" sz="1000" b="1" dirty="0"/>
          </a:p>
        </p:txBody>
      </p:sp>
      <p:sp>
        <p:nvSpPr>
          <p:cNvPr id="33" name="Text 39"/>
          <p:cNvSpPr/>
          <p:nvPr/>
        </p:nvSpPr>
        <p:spPr>
          <a:xfrm>
            <a:off x="485974" y="3684370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▭</a:t>
            </a:r>
            <a:endParaRPr lang="en-US" sz="844" dirty="0"/>
          </a:p>
        </p:txBody>
      </p:sp>
      <p:sp>
        <p:nvSpPr>
          <p:cNvPr id="34" name="Text 40"/>
          <p:cNvSpPr/>
          <p:nvPr/>
        </p:nvSpPr>
        <p:spPr>
          <a:xfrm>
            <a:off x="614561" y="3677227"/>
            <a:ext cx="1001174" cy="119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619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РК на экранах Ростова:</a:t>
            </a:r>
            <a:endParaRPr lang="en-US" sz="619" dirty="0"/>
          </a:p>
        </p:txBody>
      </p:sp>
      <p:sp>
        <p:nvSpPr>
          <p:cNvPr id="35" name="Text 41"/>
          <p:cNvSpPr/>
          <p:nvPr/>
        </p:nvSpPr>
        <p:spPr>
          <a:xfrm>
            <a:off x="1546597" y="3677227"/>
            <a:ext cx="545068" cy="129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ru-RU" sz="800" b="1" dirty="0" smtClean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800" b="1" dirty="0" smtClean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экранов</a:t>
            </a:r>
            <a:endParaRPr lang="en-US" sz="800" dirty="0"/>
          </a:p>
        </p:txBody>
      </p:sp>
      <p:sp>
        <p:nvSpPr>
          <p:cNvPr id="36" name="Text 48"/>
          <p:cNvSpPr/>
          <p:nvPr/>
        </p:nvSpPr>
        <p:spPr>
          <a:xfrm>
            <a:off x="478828" y="353346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844" dirty="0"/>
          </a:p>
        </p:txBody>
      </p:sp>
      <p:sp>
        <p:nvSpPr>
          <p:cNvPr id="37" name="Text 49"/>
          <p:cNvSpPr/>
          <p:nvPr/>
        </p:nvSpPr>
        <p:spPr>
          <a:xfrm>
            <a:off x="607415" y="3526005"/>
            <a:ext cx="2524088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Мастер-классы: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ТТ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в Ростове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0292987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8600" y="199496"/>
            <a:ext cx="1200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</a:p>
        </p:txBody>
      </p:sp>
      <p:sp>
        <p:nvSpPr>
          <p:cNvPr id="3" name="Rectangle 2"/>
          <p:cNvSpPr/>
          <p:nvPr/>
        </p:nvSpPr>
        <p:spPr>
          <a:xfrm>
            <a:off x="991515" y="190001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15111" y="233564"/>
            <a:ext cx="3698766" cy="17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406"/>
              </a:lnSpc>
            </a:pPr>
            <a:r>
              <a:rPr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ПРОЕКТ</a:t>
            </a:r>
            <a:r>
              <a:rPr lang="ru-RU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БЕЛЫЕ ПЯТНА </a:t>
            </a:r>
            <a:endParaRPr sz="1200" b="1" kern="0" spc="56" dirty="0">
              <a:solidFill>
                <a:srgbClr val="2F3A48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299151" y="172304"/>
            <a:ext cx="160596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48141" y="241798"/>
            <a:ext cx="15459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/>
              <a:t>Q4 2026 · В РАБОТЕ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014" y="554767"/>
            <a:ext cx="8686800" cy="2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0115" y="778715"/>
            <a:ext cx="6071400" cy="36125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90505" y="778715"/>
            <a:ext cx="2860000" cy="35948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70505" y="922736"/>
            <a:ext cx="27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latin typeface="Inter"/>
              </a:rPr>
              <a:t>ГРАФИК ВСТРЕЧ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0505" y="1132737"/>
            <a:ext cx="2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>
                <a:latin typeface="Inter"/>
              </a:rPr>
              <a:t>5 </a:t>
            </a:r>
            <a:r>
              <a:rPr sz="900" b="0" dirty="0" err="1">
                <a:latin typeface="Inter"/>
              </a:rPr>
              <a:t>регионов</a:t>
            </a:r>
            <a:r>
              <a:rPr sz="900" b="0" dirty="0">
                <a:latin typeface="Inter"/>
              </a:rPr>
              <a:t> · 5+ </a:t>
            </a:r>
            <a:r>
              <a:rPr sz="900" b="0" dirty="0" err="1">
                <a:latin typeface="Inter"/>
              </a:rPr>
              <a:t>дистрибьюторов</a:t>
            </a:r>
            <a:endParaRPr sz="900" b="0" dirty="0">
              <a:latin typeface="Inter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70505" y="13133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241010" y="1419605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41010" y="14727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0505" y="14227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3A48"/>
                </a:solidFill>
                <a:latin typeface="Inter"/>
              </a:rPr>
              <a:t>Барнаул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0505" y="16227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Алтайский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край</a:t>
            </a:r>
            <a:endParaRPr sz="850" b="0" dirty="0">
              <a:latin typeface="Inter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40505" y="1782736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 err="1">
                <a:solidFill>
                  <a:srgbClr val="C00000"/>
                </a:solidFill>
                <a:latin typeface="Inter"/>
              </a:rPr>
              <a:t>Олимп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440506" y="1422736"/>
            <a:ext cx="15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13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-16.10.2026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270505" y="19507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41010" y="20177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1010" y="20708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0505" y="2020835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3A48"/>
                </a:solidFill>
                <a:latin typeface="Inter"/>
              </a:rPr>
              <a:t>Красноярск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0505" y="22208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Красноярский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край</a:t>
            </a:r>
            <a:endParaRPr sz="850" b="0" dirty="0">
              <a:latin typeface="Inter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640505" y="2386735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ООО «ОЧАГ»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81826" y="2020836"/>
            <a:ext cx="95868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05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</a:t>
            </a:r>
            <a:r>
              <a:rPr sz="900" b="1" dirty="0" smtClean="0">
                <a:solidFill>
                  <a:srgbClr val="2F3A48"/>
                </a:solidFill>
                <a:latin typeface="Roboto Mono"/>
              </a:rPr>
              <a:t>11.11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270505" y="252981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241010" y="26031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41010" y="26562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40505" y="26062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Улан-Удэ</a:t>
            </a:r>
            <a:endParaRPr sz="1100" b="1" dirty="0">
              <a:latin typeface="Inter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640505" y="28062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Республика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Бурятия</a:t>
            </a:r>
            <a:endParaRPr sz="850" b="0" dirty="0">
              <a:latin typeface="Inter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640505" y="2959887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 err="1">
                <a:solidFill>
                  <a:srgbClr val="C00000"/>
                </a:solidFill>
                <a:latin typeface="Inter"/>
              </a:rPr>
              <a:t>Вегос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-М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547" y="2606237"/>
            <a:ext cx="1176958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19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</a:t>
            </a:r>
            <a:r>
              <a:rPr sz="900" b="1" dirty="0" smtClean="0">
                <a:solidFill>
                  <a:srgbClr val="2F3A48"/>
                </a:solidFill>
                <a:latin typeface="Roboto Mono"/>
              </a:rPr>
              <a:t>25.11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270505" y="31342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241010" y="3201205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41010" y="32543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0505" y="32043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Омск</a:t>
            </a:r>
            <a:endParaRPr sz="1100" b="1" dirty="0">
              <a:latin typeface="Inte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640505" y="34043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Омская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область</a:t>
            </a:r>
            <a:endParaRPr sz="850" b="0" dirty="0">
              <a:latin typeface="Inte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640505" y="3564336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ИП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Шишков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220505" y="3204336"/>
            <a:ext cx="72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900" b="1" dirty="0" smtClean="0">
                <a:solidFill>
                  <a:srgbClr val="2F3A48"/>
                </a:solidFill>
                <a:latin typeface="Roboto Mono"/>
              </a:rPr>
              <a:t>уточняется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270505" y="37450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241010" y="38120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41010" y="38651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40505" y="38151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Казань</a:t>
            </a:r>
            <a:endParaRPr sz="1100" b="1" dirty="0">
              <a:latin typeface="Inter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640505" y="40151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Республика Татарстан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40505" y="4169237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ТС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Агава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,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Карат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,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Колорит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220505" y="3815136"/>
            <a:ext cx="72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900" b="1" dirty="0">
                <a:solidFill>
                  <a:srgbClr val="2F3A48"/>
                </a:solidFill>
                <a:latin typeface="Roboto Mono"/>
              </a:rPr>
              <a:t>уточняется</a:t>
            </a:r>
          </a:p>
        </p:txBody>
      </p:sp>
      <p:pic>
        <p:nvPicPr>
          <p:cNvPr id="51" name="Picture 10" descr="white_spot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14" y="919468"/>
            <a:ext cx="5800000" cy="340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20650" y="520700"/>
            <a:ext cx="72263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2200" b="1" dirty="0" smtClean="0">
                <a:solidFill>
                  <a:srgbClr val="2F3A48"/>
                </a:solidFill>
                <a:latin typeface="Inter"/>
              </a:rPr>
              <a:t>Выход в сегмент </a:t>
            </a:r>
            <a:r>
              <a:rPr sz="2200" b="1" dirty="0" err="1" smtClean="0">
                <a:solidFill>
                  <a:srgbClr val="2F3A48"/>
                </a:solidFill>
                <a:latin typeface="Inter"/>
              </a:rPr>
              <a:t>жилищного</a:t>
            </a:r>
            <a:r>
              <a:rPr sz="2200" b="1" dirty="0" smtClean="0">
                <a:solidFill>
                  <a:srgbClr val="2F3A48"/>
                </a:solidFill>
                <a:latin typeface="Inter"/>
              </a:rPr>
              <a:t> </a:t>
            </a:r>
            <a:r>
              <a:rPr sz="2200" b="1" dirty="0" err="1">
                <a:solidFill>
                  <a:srgbClr val="2F3A48"/>
                </a:solidFill>
                <a:latin typeface="Inter"/>
              </a:rPr>
              <a:t>строительства</a:t>
            </a:r>
            <a:endParaRPr sz="2200" b="1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270750" y="139065"/>
            <a:ext cx="1601590" cy="26860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97750" y="190649"/>
            <a:ext cx="136895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 smtClean="0">
                <a:solidFill>
                  <a:srgbClr val="C9A77C"/>
                </a:solidFill>
                <a:latin typeface="Inter"/>
              </a:rPr>
              <a:t>В </a:t>
            </a:r>
            <a:r>
              <a:rPr sz="1000" b="1" spc="150" dirty="0">
                <a:solidFill>
                  <a:srgbClr val="C9A77C"/>
                </a:solidFill>
                <a:latin typeface="Inter"/>
              </a:rPr>
              <a:t>РАБОТЕ</a:t>
            </a:r>
          </a:p>
        </p:txBody>
      </p:sp>
      <p:sp>
        <p:nvSpPr>
          <p:cNvPr id="8" name="Rectangle 7"/>
          <p:cNvSpPr/>
          <p:nvPr/>
        </p:nvSpPr>
        <p:spPr>
          <a:xfrm>
            <a:off x="143256" y="45339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200" y="962590"/>
            <a:ext cx="6066960" cy="39754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1200" y="1036940"/>
            <a:ext cx="55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solidFill>
                  <a:srgbClr val="C00000"/>
                </a:solidFill>
                <a:latin typeface="Inter"/>
              </a:rPr>
              <a:t>АССОРТИМЕНТ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200" y="1276940"/>
            <a:ext cx="55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dirty="0">
                <a:solidFill>
                  <a:srgbClr val="8A95A3"/>
                </a:solidFill>
                <a:latin typeface="Inter"/>
              </a:rPr>
              <a:t>25 SKU · 3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уровня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цен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· 9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зон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жилого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 smtClean="0">
                <a:solidFill>
                  <a:srgbClr val="8A95A3"/>
                </a:solidFill>
                <a:latin typeface="Inter"/>
              </a:rPr>
              <a:t>здания</a:t>
            </a:r>
            <a:r>
              <a:rPr lang="ru-RU" sz="900" dirty="0">
                <a:solidFill>
                  <a:srgbClr val="8A95A3"/>
                </a:solidFill>
                <a:latin typeface="Inter"/>
              </a:rPr>
              <a:t>. Все продукты сертифицированы по ФЗ-123 </a:t>
            </a:r>
            <a:endParaRPr sz="90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41200" y="1476940"/>
            <a:ext cx="590696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41200" y="161694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41200" y="1616940"/>
            <a:ext cx="1888986" cy="5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21200" y="170694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1200" y="172694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БЮДЖЕТ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00" y="194694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ОРЕОЛ ДИСКОНТ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200" y="214694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21200" y="220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0186" y="220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1200" y="248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0186" y="248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1200" y="27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0186" y="276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1200" y="311694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21200" y="31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0186" y="315694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C00000"/>
                </a:solidFill>
                <a:latin typeface="Roboto Mono"/>
              </a:rPr>
              <a:t>11 SKU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50186" y="161694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150186" y="1616940"/>
            <a:ext cx="1888986" cy="5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230186" y="170694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0186" y="172694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СРЕДНИЙ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0186" y="194694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ОРЕОЛ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30186" y="214694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230186" y="220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39172" y="220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30186" y="248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9172" y="248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30186" y="27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39172" y="276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30186" y="311694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230186" y="31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39172" y="315694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C9A77C"/>
                </a:solidFill>
                <a:latin typeface="Roboto Mono"/>
              </a:rPr>
              <a:t>8 SKU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9172" y="161694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59172" y="1616940"/>
            <a:ext cx="1888986" cy="5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39172" y="170694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F3A48"/>
                </a:solidFill>
                <a:latin typeface="Roboto Mono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19172" y="172694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ПРЕМИУМ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39172" y="194694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NEWTONE · AVANTGARDE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39172" y="214694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239172" y="220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48158" y="220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39172" y="248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8158" y="248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39172" y="27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48158" y="276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39172" y="311694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239172" y="31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48158" y="315694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2F3A48"/>
                </a:solidFill>
                <a:latin typeface="Roboto Mono"/>
              </a:rPr>
              <a:t>6 SKU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194040" y="962590"/>
            <a:ext cx="2860320" cy="39457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6254040" y="110259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254040" y="1152590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74040" y="1572590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6254040" y="164069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54040" y="1690690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74040" y="2421840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6254040" y="250264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254040" y="255264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74040" y="3258390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6254040" y="3366486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54040" y="3416486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solidFill>
                  <a:srgbClr val="2F3A48"/>
                </a:solidFill>
                <a:latin typeface="Inter"/>
              </a:rPr>
              <a:t>04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14040" y="1042951"/>
            <a:ext cx="23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100" b="1" dirty="0" smtClean="0">
                <a:latin typeface="Inter"/>
              </a:rPr>
              <a:t>Каталог - ц</a:t>
            </a:r>
            <a:r>
              <a:rPr sz="1100" b="1" dirty="0" err="1" smtClean="0">
                <a:latin typeface="Inter"/>
              </a:rPr>
              <a:t>елевая</a:t>
            </a:r>
            <a:r>
              <a:rPr sz="1100" b="1" dirty="0" smtClean="0">
                <a:latin typeface="Inter"/>
              </a:rPr>
              <a:t> </a:t>
            </a:r>
            <a:r>
              <a:rPr sz="1100" b="1" dirty="0" err="1">
                <a:latin typeface="Inter"/>
              </a:rPr>
              <a:t>аудитория</a:t>
            </a:r>
            <a:endParaRPr sz="1100" b="1" dirty="0">
              <a:latin typeface="Inter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614040" y="1272951"/>
            <a:ext cx="236032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П</a:t>
            </a:r>
            <a:r>
              <a:rPr sz="850" b="0" dirty="0" err="1" smtClean="0">
                <a:solidFill>
                  <a:srgbClr val="2F3A48"/>
                </a:solidFill>
                <a:latin typeface="Inter"/>
              </a:rPr>
              <a:t>рорабы</a:t>
            </a:r>
            <a:r>
              <a:rPr sz="850" b="0" dirty="0" smtClean="0">
                <a:solidFill>
                  <a:srgbClr val="2F3A48"/>
                </a:solidFill>
                <a:latin typeface="Inter"/>
              </a:rPr>
              <a:t> </a:t>
            </a:r>
            <a:r>
              <a:rPr sz="850" b="0" dirty="0">
                <a:solidFill>
                  <a:srgbClr val="2F3A48"/>
                </a:solidFill>
                <a:latin typeface="Inter"/>
              </a:rPr>
              <a:t>· ИТР · </a:t>
            </a:r>
            <a:r>
              <a:rPr sz="850" b="0" dirty="0" err="1">
                <a:solidFill>
                  <a:srgbClr val="2F3A48"/>
                </a:solidFill>
                <a:latin typeface="Inter"/>
              </a:rPr>
              <a:t>технадзор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6614040" y="1621040"/>
            <a:ext cx="2300000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 dirty="0" smtClean="0">
                <a:latin typeface="Inter"/>
              </a:rPr>
              <a:t>Анализ создания специализированной линейки </a:t>
            </a:r>
            <a:r>
              <a:rPr lang="en-US" sz="1100" b="1" dirty="0">
                <a:latin typeface="Inter"/>
              </a:rPr>
              <a:t>Professional</a:t>
            </a:r>
            <a:endParaRPr sz="1100" b="1" dirty="0">
              <a:latin typeface="Inter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6274040" y="2184580"/>
            <a:ext cx="27249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Цена – характеристики – выгоды преимущество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6614040" y="2473313"/>
            <a:ext cx="2300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 dirty="0">
                <a:latin typeface="Inter"/>
              </a:rPr>
              <a:t>Гранд-Смета и Смета </a:t>
            </a:r>
            <a:r>
              <a:rPr lang="ru-RU" sz="1100" b="1" dirty="0" err="1">
                <a:latin typeface="Inter"/>
              </a:rPr>
              <a:t>Визард</a:t>
            </a:r>
            <a:r>
              <a:rPr lang="ru-RU" sz="1100" b="1" dirty="0">
                <a:latin typeface="Inter"/>
              </a:rPr>
              <a:t> (</a:t>
            </a:r>
            <a:r>
              <a:rPr lang="ru-RU" sz="1100" b="1" dirty="0" err="1">
                <a:latin typeface="Inter"/>
              </a:rPr>
              <a:t>SmetaWIZARD</a:t>
            </a:r>
            <a:r>
              <a:rPr lang="ru-RU" sz="1100" b="1" dirty="0">
                <a:latin typeface="Inter"/>
              </a:rPr>
              <a:t>) </a:t>
            </a:r>
            <a:endParaRPr sz="1100" b="1" dirty="0">
              <a:latin typeface="Inter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274740" y="2902490"/>
            <a:ext cx="26393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900" dirty="0" smtClean="0"/>
              <a:t>Комплексы </a:t>
            </a:r>
            <a:r>
              <a:rPr lang="ru-RU" sz="900" dirty="0"/>
              <a:t>для автоматизации сметных расчётов в строительстве.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638660" y="3321537"/>
            <a:ext cx="23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100" b="1" dirty="0" smtClean="0">
                <a:latin typeface="Inter"/>
              </a:rPr>
              <a:t>Сертификация систем </a:t>
            </a:r>
            <a:endParaRPr sz="1100" b="1" dirty="0">
              <a:latin typeface="Inter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6638660" y="3551537"/>
            <a:ext cx="2360320" cy="392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Получение сертификатов подтверждения срока служб использования систем для застройщиков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80" name="Rectangle 90"/>
          <p:cNvSpPr/>
          <p:nvPr/>
        </p:nvSpPr>
        <p:spPr>
          <a:xfrm>
            <a:off x="6286350" y="422241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286350" y="4006554"/>
            <a:ext cx="27249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850" dirty="0" smtClean="0">
                <a:solidFill>
                  <a:srgbClr val="2F3A48"/>
                </a:solidFill>
                <a:latin typeface="Inter"/>
              </a:rPr>
              <a:t>Грунт – Шпатлевка – Грунт – Краска / Эмаль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9306" y="140000"/>
            <a:ext cx="628629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dirty="0" err="1">
                <a:solidFill>
                  <a:srgbClr val="2F3A48"/>
                </a:solidFill>
                <a:latin typeface="Inter"/>
              </a:rPr>
              <a:t>Развитие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</a:t>
            </a:r>
            <a:r>
              <a:rPr sz="2000" b="1" dirty="0" err="1">
                <a:solidFill>
                  <a:srgbClr val="2F3A48"/>
                </a:solidFill>
                <a:latin typeface="Inter"/>
              </a:rPr>
              <a:t>категории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ВД-ЛКМ в </a:t>
            </a:r>
            <a:r>
              <a:rPr sz="2000" b="1" dirty="0" err="1">
                <a:solidFill>
                  <a:srgbClr val="2F3A48"/>
                </a:solidFill>
                <a:latin typeface="Inter"/>
              </a:rPr>
              <a:t>дистрибуции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000" y="1100000"/>
            <a:ext cx="190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8A95A3"/>
                </a:solidFill>
                <a:latin typeface="Inter"/>
              </a:rPr>
              <a:t>Проект расширения ассортимента и роста водно-дисперсионных материалов в дистрибуционном канале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16450" y="159050"/>
            <a:ext cx="209895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41850" y="223100"/>
            <a:ext cx="201005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>
                <a:solidFill>
                  <a:srgbClr val="C9A77C"/>
                </a:solidFill>
                <a:latin typeface="Inter"/>
              </a:rPr>
              <a:t>2027 · ПЛАН · ПРОЕКТ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143256" y="116425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200" y="675450"/>
            <a:ext cx="6066000" cy="397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1200" y="815450"/>
            <a:ext cx="55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ПЛАН ДЕЙСТВИЙ · 6 НАПРАВЛЕНИЙ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200" y="1045450"/>
            <a:ext cx="55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Ассортимент · Ценообразование · Промо · Обучение · Контент · Контроль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200" y="1265450"/>
            <a:ext cx="5786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1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01200" y="1375450"/>
            <a:ext cx="1862000" cy="4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1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АССОРТИМЕНТ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Расширение SKU · новые сегменты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81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Новые позиции ВД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3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+8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Грунтовки deep-wood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3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Архит. покрытия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3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Спец. средства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3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81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C00000"/>
                </a:solidFill>
                <a:latin typeface="Inter"/>
              </a:rPr>
              <a:t>+8 SKU к концу 2027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63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163200" y="1375450"/>
            <a:ext cx="1862000" cy="4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243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33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МОТИВАЦИЯ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3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Программа для дистрибьюторов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43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243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Ретро-бонус ВД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45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3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Кэшбек на NEWTONE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45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3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Бонус за MML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45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43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Стартовый набор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45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43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243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C9A77C"/>
                </a:solidFill>
                <a:latin typeface="Inter"/>
              </a:rPr>
              <a:t>До 10% совокупно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25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25200" y="1375450"/>
            <a:ext cx="1862000" cy="4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05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5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ОБУЧЕНИЕ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5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Сертификация ТП и РМ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5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205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Регионов в плане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7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05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ТП обучено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7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500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5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РМ сертифиц.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7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05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Вебинаров/год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7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05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05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F3A48"/>
                </a:solidFill>
                <a:latin typeface="Inter"/>
              </a:rPr>
              <a:t>+150% к 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01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201200" y="2972650"/>
            <a:ext cx="1862000" cy="40000"/>
          </a:xfrm>
          <a:prstGeom prst="rect">
            <a:avLst/>
          </a:prstGeom>
          <a:solidFill>
            <a:srgbClr val="6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81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Roboto Mono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1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POSM·МЕРЧАНД.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1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Брендированные зоны ВД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1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81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РТТ с зоной ВД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83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Стойки на 8 SKU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83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1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solidFill>
                  <a:srgbClr val="8A95A3"/>
                </a:solidFill>
                <a:latin typeface="Inter"/>
              </a:rPr>
              <a:t>Шелфтокеры</a:t>
            </a:r>
            <a:endParaRPr sz="85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1383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1500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1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Тестеры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83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300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81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281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6B8FA8"/>
                </a:solidFill>
                <a:latin typeface="Inter"/>
              </a:rPr>
              <a:t>120 РТТ · 2027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163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2163200" y="2972650"/>
            <a:ext cx="1862000" cy="40000"/>
          </a:xfrm>
          <a:prstGeom prst="rect">
            <a:avLst/>
          </a:prstGeom>
          <a:solidFill>
            <a:srgbClr val="8BA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2243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AA8A"/>
                </a:solidFill>
                <a:latin typeface="Roboto Mono"/>
              </a:rPr>
              <a:t>05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33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КОНТЕНТ·РК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43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Продвижение ВД-категории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243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243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Видео для ТП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45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243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VK·Яндекс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345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43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Блогеры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45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243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SEO·контент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45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243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243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8BAA8A"/>
                </a:solidFill>
                <a:latin typeface="Inter"/>
              </a:rPr>
              <a:t>Охват 2M+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125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4125200" y="2972650"/>
            <a:ext cx="1862000" cy="40000"/>
          </a:xfrm>
          <a:prstGeom prst="rect">
            <a:avLst/>
          </a:prstGeom>
          <a:solidFill>
            <a:srgbClr val="8BA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4205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AA8A"/>
                </a:solidFill>
                <a:latin typeface="Roboto Mono"/>
              </a:rPr>
              <a:t>06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495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ТРЕЙД-МАРКЕТИНГ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05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Промоакции и акции в точках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205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205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Промо/квартал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307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05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Скидка при входе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07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20%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05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Подарок за покупку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07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205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Кросс-промо TITAN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07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205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4205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8BAA8A"/>
                </a:solidFill>
                <a:latin typeface="Inter"/>
              </a:rPr>
              <a:t>8 промо · 2027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1200" y="4269850"/>
            <a:ext cx="5786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Бюджет проекта 2027 — 1,8 млн ₽ · ROI 3,2× · срок окупаемости 14 месяцев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195600" y="675450"/>
            <a:ext cx="2862000" cy="3945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6335600" y="815450"/>
            <a:ext cx="258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KPI · 2027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335600" y="1045450"/>
            <a:ext cx="258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Целевые метрики ВД-категории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35600" y="1265450"/>
            <a:ext cx="2582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ounded Rectangle 111"/>
          <p:cNvSpPr/>
          <p:nvPr/>
        </p:nvSpPr>
        <p:spPr>
          <a:xfrm>
            <a:off x="6255600" y="141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6255600" y="146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  <a:latin typeface="Inter"/>
              </a:rPr>
              <a:t>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615600" y="142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Доля ВД в MML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615600" y="164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28% → 42%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8237600" y="142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8237600" y="145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Inter"/>
              </a:rPr>
              <a:t>+14 п.п.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275600" y="192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6255600" y="195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255600" y="200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  <a:latin typeface="Inter"/>
              </a:rPr>
              <a:t>02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615600" y="196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Первичка ВД (т)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615600" y="218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1 200 → 2 000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237600" y="196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8237600" y="199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Inter"/>
              </a:rPr>
              <a:t>+67%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275600" y="246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6255600" y="249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255600" y="254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9A77C"/>
                </a:solidFill>
                <a:latin typeface="Inter"/>
              </a:rPr>
              <a:t>03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615600" y="250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РТТ с ВД-зоной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615600" y="272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Roboto Mono"/>
              </a:rPr>
              <a:t>180 → 350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237600" y="250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8237600" y="253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9A77C"/>
                </a:solidFill>
                <a:latin typeface="Inter"/>
              </a:rPr>
              <a:t>+94%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5600" y="300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2"/>
          <p:cNvSpPr/>
          <p:nvPr/>
        </p:nvSpPr>
        <p:spPr>
          <a:xfrm>
            <a:off x="6255600" y="303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6255600" y="308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615600" y="304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АКБ ВД в точках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615600" y="326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32% → 58%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8237600" y="304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8237600" y="307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+26 п.п.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275600" y="354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6255600" y="357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55600" y="362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615600" y="358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MML ВД SKU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615600" y="380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33 → 41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8237600" y="358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8237600" y="361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+8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275600" y="4041050"/>
            <a:ext cx="2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6335600" y="4101050"/>
            <a:ext cx="2582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Цель — удвоение доли ВД-ЛКМ в дистрибуционном канале к концу 2027 года</a:t>
            </a:r>
          </a:p>
        </p:txBody>
      </p:sp>
    </p:spTree>
    <p:extLst>
      <p:ext uri="{BB962C8B-B14F-4D97-AF65-F5344CB8AC3E}">
        <p14:creationId xmlns:p14="http://schemas.microsoft.com/office/powerpoint/2010/main" val="176966582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2F3A48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2F3A48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2F3A48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281</TotalTime>
  <Words>817</Words>
  <Application>Microsoft Office PowerPoint</Application>
  <PresentationFormat>Экран (16:9)</PresentationFormat>
  <Paragraphs>274</Paragraphs>
  <Slides>6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7" baseType="lpstr"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Заколодний Роман Александрович</cp:lastModifiedBy>
  <cp:revision>65</cp:revision>
  <dcterms:created xsi:type="dcterms:W3CDTF">2026-10-01T12:44:52Z</dcterms:created>
  <dcterms:modified xsi:type="dcterms:W3CDTF">2026-10-02T11:04:41Z</dcterms:modified>
</cp:coreProperties>
</file>