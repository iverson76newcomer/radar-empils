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ВЫКЛАДКИ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3 линейки продукции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3 полки · 22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Зона ТСО + POS-материалы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10 лет без перекраски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10 лет экономии!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3 линейки — 3 повода для выкладки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566160"/>
            <a:ext cx="22402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3566160"/>
            <a:ext cx="224028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611880"/>
            <a:ext cx="2240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Полка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206240"/>
            <a:ext cx="205740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937760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Arial"/>
              </a:rPr>
              <a:t>9 цветов 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212080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9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566160"/>
            <a:ext cx="22402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3566160"/>
            <a:ext cx="2240280" cy="45720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611880"/>
            <a:ext cx="2240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Полка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206240"/>
            <a:ext cx="205740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937760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Arial"/>
              </a:rPr>
              <a:t>7 цветов · 30 мин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212080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Arial"/>
              </a:rPr>
              <a:t>7 SKU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3566160"/>
            <a:ext cx="22402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3566160"/>
            <a:ext cx="2240280" cy="457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3611880"/>
            <a:ext cx="2240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Полка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206240"/>
            <a:ext cx="205740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1A1F36"/>
                </a:solidFill>
                <a:latin typeface="Arial"/>
              </a:rPr>
              <a:t>Молотковый эффект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937760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Arial"/>
              </a:rPr>
              <a:t>6 цветов · декор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212080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B8860B"/>
                </a:solidFill>
                <a:latin typeface="Arial"/>
              </a:rPr>
              <a:t>6 SKU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6126480"/>
            <a:ext cx="6858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Грунт-эмаль 3-в-1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ПЛАНОГРАММА ВЫКЛАДКИ TITAN — ОБЩИЙ ВИД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3 полки · 22 SKU · ТСО-зона</a:t>
            </a:r>
          </a:p>
        </p:txBody>
      </p:sp>
      <p:pic>
        <p:nvPicPr>
          <p:cNvPr id="7" name="Picture 6" descr="planogram_tita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92" y="777240"/>
            <a:ext cx="7976311" cy="5577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выкладки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ПОЛКА 1: Грунт-эмаль 3в1 по ржавчине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9 цветов RAL · 10 лет гарантии · по ржавчине без грунта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11460175" cy="4389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11185855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1009192" cy="32004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9005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5032" y="1737360"/>
            <a:ext cx="1009192" cy="3200400"/>
          </a:xfrm>
          <a:prstGeom prst="roundRect">
            <a:avLst/>
          </a:prstGeom>
          <a:solidFill>
            <a:srgbClr val="F5F5DC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60752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032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RAL 9010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7105" y="1737360"/>
            <a:ext cx="1009192" cy="3200400"/>
          </a:xfrm>
          <a:prstGeom prst="roundRect">
            <a:avLst/>
          </a:prstGeom>
          <a:solidFill>
            <a:srgbClr val="7B3F0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52825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7105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3009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9178" y="1737360"/>
            <a:ext cx="1009192" cy="3200400"/>
          </a:xfrm>
          <a:prstGeom prst="roundRect">
            <a:avLst/>
          </a:prstGeom>
          <a:solidFill>
            <a:srgbClr val="2D5016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4898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9178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6005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91251" y="1737360"/>
            <a:ext cx="1009192" cy="3200400"/>
          </a:xfrm>
          <a:prstGeom prst="roundRect">
            <a:avLst/>
          </a:prstGeom>
          <a:solidFill>
            <a:srgbClr val="B0B0B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36971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1251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RAL 7004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3323" y="1737360"/>
            <a:ext cx="1009192" cy="3200400"/>
          </a:xfrm>
          <a:prstGeom prst="roundRect">
            <a:avLst/>
          </a:prstGeom>
          <a:solidFill>
            <a:srgbClr val="40404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29043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3323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7024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5396" y="1737360"/>
            <a:ext cx="1009192" cy="320040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1116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5396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8017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67469" y="1737360"/>
            <a:ext cx="1009192" cy="3200400"/>
          </a:xfrm>
          <a:prstGeom prst="roundRect">
            <a:avLst/>
          </a:prstGeom>
          <a:solidFill>
            <a:srgbClr val="E6B80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13189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7469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RAL 1021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59542" y="1737360"/>
            <a:ext cx="1009192" cy="3200400"/>
          </a:xfrm>
          <a:prstGeom prst="roundRect">
            <a:avLst/>
          </a:prstGeom>
          <a:solidFill>
            <a:srgbClr val="0047AB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05262" y="1673352"/>
            <a:ext cx="917752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9542" y="1783080"/>
            <a:ext cx="1009192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5005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ПОЛКА 1: Грунт-эмаль 3в1 по ржавчине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9 цветов RAL · 10 лет гарантии · по ржавчине без грунта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7135" y="105156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C62828"/>
                </a:solidFill>
                <a:latin typeface="Arial"/>
              </a:rPr>
              <a:t>9 SKU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532120"/>
            <a:ext cx="11460175" cy="7772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8640" y="5715000"/>
            <a:ext cx="411480" cy="41148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1500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577840"/>
            <a:ext cx="10545775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1A1F36"/>
                </a:solidFill>
                <a:latin typeface="Arial"/>
              </a:rPr>
              <a:t>Флагманская линейка. Самая продаваемая. Топ-3 цвета (чёрный, коричневый, графит) — по 2 фейсинга. Слева направо: от тёмных к светлым.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выкладки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ПОЛКА 2: Грунт-эмаль быстросохнущая (матовая)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7 цветов RAL · сохнет 30 мин · до -15 °C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11460175" cy="4389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11185855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1349785" cy="3200400"/>
          </a:xfrm>
          <a:prstGeom prst="roundRect">
            <a:avLst/>
          </a:prstGeom>
          <a:solidFill>
            <a:srgbClr val="F5F5DC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673352"/>
            <a:ext cx="1258345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46320"/>
            <a:ext cx="1166905" cy="36576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1349785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матовая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RAL 9010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5625" y="1737360"/>
            <a:ext cx="1349785" cy="32004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01345" y="1673352"/>
            <a:ext cx="1258345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47065" y="4846320"/>
            <a:ext cx="116690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5625" y="1783080"/>
            <a:ext cx="1349785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матовая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9005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8290" y="1737360"/>
            <a:ext cx="1349785" cy="320040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4010" y="1673352"/>
            <a:ext cx="1258345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9730" y="4846320"/>
            <a:ext cx="116690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8290" y="1783080"/>
            <a:ext cx="1349785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матовая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8017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20955" y="1737360"/>
            <a:ext cx="1349785" cy="3200400"/>
          </a:xfrm>
          <a:prstGeom prst="roundRect">
            <a:avLst/>
          </a:prstGeom>
          <a:solidFill>
            <a:srgbClr val="40404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66675" y="1673352"/>
            <a:ext cx="1258345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12395" y="4846320"/>
            <a:ext cx="116690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0955" y="1783080"/>
            <a:ext cx="1349785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матовая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7024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53620" y="1737360"/>
            <a:ext cx="1349785" cy="3200400"/>
          </a:xfrm>
          <a:prstGeom prst="roundRect">
            <a:avLst/>
          </a:prstGeom>
          <a:solidFill>
            <a:srgbClr val="B0B0B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9340" y="1673352"/>
            <a:ext cx="1258345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5060" y="4846320"/>
            <a:ext cx="1166905" cy="36576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3620" y="1783080"/>
            <a:ext cx="1349785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матовая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RAL 7004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6285" y="1737360"/>
            <a:ext cx="1349785" cy="3200400"/>
          </a:xfrm>
          <a:prstGeom prst="roundRect">
            <a:avLst/>
          </a:prstGeom>
          <a:solidFill>
            <a:srgbClr val="E6B80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32005" y="1673352"/>
            <a:ext cx="1258345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77725" y="4846320"/>
            <a:ext cx="1166905" cy="36576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6285" y="1783080"/>
            <a:ext cx="1349785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матовая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RAL 1021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8950" y="1737360"/>
            <a:ext cx="1349785" cy="3200400"/>
          </a:xfrm>
          <a:prstGeom prst="roundRect">
            <a:avLst/>
          </a:prstGeom>
          <a:solidFill>
            <a:srgbClr val="2D5016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64670" y="1673352"/>
            <a:ext cx="1258345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10390" y="4846320"/>
            <a:ext cx="116690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8950" y="1783080"/>
            <a:ext cx="1349785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матовая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6005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ПОЛКА 2: Грунт-эмаль быстросохнущая (матовая)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7 цветов RAL · сохнет 30 мин · до -15 °C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7135" y="105156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1A1F36"/>
                </a:solidFill>
                <a:latin typeface="Arial"/>
              </a:rPr>
              <a:t>7 SKU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532120"/>
            <a:ext cx="11460175" cy="7772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8640" y="5715000"/>
            <a:ext cx="411480" cy="411480"/>
          </a:xfrm>
          <a:prstGeom prst="ellipse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71500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577840"/>
            <a:ext cx="10545775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1A1F36"/>
                </a:solidFill>
                <a:latin typeface="Arial"/>
              </a:rPr>
              <a:t>Премиум-сегмент для профессионалов. УТП «сохнет 30 минут» — на воблере. Ставится под флагманской линейкой.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выкладки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ПОЛКА 3: Эмаль с молотковым эффектом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цветов · декоративный эффект · скрывает дефекты · 10 лет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11460175" cy="4389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11185855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1605229" cy="3200400"/>
          </a:xfrm>
          <a:prstGeom prst="roundRect">
            <a:avLst/>
          </a:prstGeom>
          <a:solidFill>
            <a:srgbClr val="B8860B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673352"/>
            <a:ext cx="1513789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4905315774" y="9631898258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7133092209" y="223120796278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6793543578" y="119023445604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09574089258" y="229910916497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555192581" y="121897999415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389302024" y="50414416300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783080"/>
            <a:ext cx="1605229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Золотистый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11069" y="1737360"/>
            <a:ext cx="1605229" cy="3200400"/>
          </a:xfrm>
          <a:prstGeom prst="roundRect">
            <a:avLst/>
          </a:prstGeom>
          <a:solidFill>
            <a:srgbClr val="C0C0C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6789" y="1673352"/>
            <a:ext cx="1513789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4003256092" y="284072154425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1155355068" y="143627252416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334327405" y="289419116601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4606542065" y="58186218080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520203753" y="32143125939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650009339" y="148988759254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11069" y="1783080"/>
            <a:ext cx="1605229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молот.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9178" y="1737360"/>
            <a:ext cx="1605229" cy="320040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44898" y="1673352"/>
            <a:ext cx="1513789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8932844345" y="64855785942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3016803081" y="18419105012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6985698285" y="129945713494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6901486323" y="6300195914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5810980022" y="96582205191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9714199713" y="84280752050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9178" y="1783080"/>
            <a:ext cx="1605229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8017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1737360"/>
            <a:ext cx="1605229" cy="32004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3007" y="1673352"/>
            <a:ext cx="1513789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4110125586" y="190240551913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2219696890" y="284105013309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76832255394" y="236630788143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21217654007" y="195039465537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63860091727" y="138869409134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15039247778" y="184992414341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7287" y="1783080"/>
            <a:ext cx="1605229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RAL 9005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75396" y="1737360"/>
            <a:ext cx="1605229" cy="3200400"/>
          </a:xfrm>
          <a:prstGeom prst="roundRect">
            <a:avLst/>
          </a:prstGeom>
          <a:solidFill>
            <a:srgbClr val="B87333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21116" y="1673352"/>
            <a:ext cx="1513789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06756272698" y="33280395725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2012000639" y="194972691812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1731258337" y="9195593596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4672131680" y="52679295437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3455267362" y="250394785879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127849583" y="190773553743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5396" y="1783080"/>
            <a:ext cx="1605229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Медный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63505" y="1737360"/>
            <a:ext cx="1605229" cy="3200400"/>
          </a:xfrm>
          <a:prstGeom prst="roundRect">
            <a:avLst/>
          </a:prstGeom>
          <a:solidFill>
            <a:srgbClr val="355E3B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09225" y="1673352"/>
            <a:ext cx="1513789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69889989147" y="9118310936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648144937" y="20843071286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37618054253" y="62650483565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6241765948" y="193647505159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49701628689" y="89137131689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3811976356" y="40914663974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63505" y="1783080"/>
            <a:ext cx="1605229" cy="31089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Тёмно-зелёный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Arial"/>
              </a:rPr>
              <a:t>ПОЛКА 3: Эмаль с молотковым эффектом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6 цветов · декоративный эффект · скрывает дефекты · 10 лет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97135" y="1051560"/>
            <a:ext cx="1645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B8860B"/>
                </a:solidFill>
                <a:latin typeface="Arial"/>
              </a:rPr>
              <a:t>6 SKU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5532120"/>
            <a:ext cx="11460175" cy="7772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8640" y="571500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71500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" y="5577840"/>
            <a:ext cx="10545775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1A1F36"/>
                </a:solidFill>
                <a:latin typeface="Arial"/>
              </a:rPr>
              <a:t>Декоративная линейка. Не смешивать с гладкими эмалями. Золотистый и серебристый — топ-2 SKU, дублируем фейсинги.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выкладки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ЗОНА ТСО — ВЫКЛАДКА ВНИЗУ СТЕНДА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Калькулятор · Выкрасы · QR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65760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36576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18872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1. ПОСОБИЕ ПРОДАВЦА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Памятка для продавца: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Сравнение TITAN vs ПФ-115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3 шага расчёта ТСО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Калькулятор экономии 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QR на онлайн-калькулятор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097280"/>
            <a:ext cx="365760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097280"/>
            <a:ext cx="3657600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14300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18872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2. ВЫКРАСЫ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8745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Образцы выкрасов на стенде: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9456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TITAN 3в1 (через 1 год)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5146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ПФ-115 (через 1 год)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83464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Видимая разница в износе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5468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Маркировка «до/после»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097280"/>
            <a:ext cx="365760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097280"/>
            <a:ext cx="3657600" cy="64008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14300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118872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3. QR-КОД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8745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QR-код в правом нижнем углу: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19456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Ссылка на калькулятор ТСО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5146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Видеоинструкция TITAN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83464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Каталог цветов 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15468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• Программа лояльности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77840"/>
            <a:ext cx="11277295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Зона ТСО — закрывает 70% возражений покупателя по цене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выкладки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РЕКОМЕНДАЦИИ ПО ВЫКЛАДКЕ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7 правил · POS-материалы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707" y="96012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867" y="1097280"/>
            <a:ext cx="640080" cy="64008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867" y="10972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2387" y="1143000"/>
            <a:ext cx="17373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3в1 — на верхнюю полку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1874520"/>
            <a:ext cx="24688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Линейка 3в1 по ржавчине — самая продаваемая. Золотая полка — на уровне глаз.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4067" y="96012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1227" y="1097280"/>
            <a:ext cx="640080" cy="640080"/>
          </a:xfrm>
          <a:prstGeom prst="ellipse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1227" y="10972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747" y="1143000"/>
            <a:ext cx="17373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Цвета по нарастающей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1227" y="1874520"/>
            <a:ext cx="24688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Тёмные цвета слева → светлые справа. Чёрный, графит, коричневый, серый, белый.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96012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1587" y="1097280"/>
            <a:ext cx="640080" cy="64008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1587" y="10972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3107" y="1143000"/>
            <a:ext cx="17373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Arial"/>
              </a:rPr>
              <a:t>Дублируем фейсинги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1874520"/>
            <a:ext cx="24688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Топ-3 цвета (чёрный, коричневый, графит) — по 2 фейсинга. Остальные — по 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4787" y="96012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1947" y="1097280"/>
            <a:ext cx="640080" cy="6400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1947" y="10972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467" y="1143000"/>
            <a:ext cx="17373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  <a:latin typeface="Arial"/>
              </a:rPr>
              <a:t>Молотковая — отдельно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1947" y="1874520"/>
            <a:ext cx="24688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Линейка с молотковым эффектом не смешивается с гладкой. Своя полка, своя подсветка.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43887" y="352044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1047" y="365760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81047" y="365760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2567" y="3703320"/>
            <a:ext cx="17373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Топпер с УТП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81047" y="4434840"/>
            <a:ext cx="24688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Топпер «10 лет без перекраски — 10 лет экономии!» на самом видном месте.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24247" y="352044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61407" y="365760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1407" y="365760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2927" y="3703320"/>
            <a:ext cx="17373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Arial"/>
              </a:rPr>
              <a:t>Воблеры на полках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1407" y="4434840"/>
            <a:ext cx="24688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Жёлтые воблеры с УТП «1=3», «Экономия 61%» на каждой полке сверху.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4607" y="352044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41767" y="3657600"/>
            <a:ext cx="640080" cy="640080"/>
          </a:xfrm>
          <a:prstGeom prst="ellipse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1767" y="365760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3287" y="3703320"/>
            <a:ext cx="17373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0047AB"/>
                </a:solidFill>
                <a:latin typeface="Arial"/>
              </a:rPr>
              <a:t>Зона ТСО внизу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1767" y="4434840"/>
            <a:ext cx="24688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Калькулятор + выкрасы + QR — в нижней части стеллажа, на уровне рук покупателя.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89320"/>
            <a:ext cx="11277295" cy="41148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Цель: повысить долю TITAN в категории ЛКМ с 8% до 15% за 6 месяцев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выкладки  •  10 лет без перекраски — 10 лет экономии!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