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20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6000" y="762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792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47920"/>
                </a:solidFill>
                <a:latin typeface="Arial"/>
              </a:rPr>
              <a:t>TITAN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 3в1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FFFFFF"/>
                </a:solidFill>
                <a:latin typeface="Arial"/>
              </a:rPr>
              <a:t>ржавчине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0000" y="31716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dirty="0" err="1">
                <a:solidFill>
                  <a:srgbClr val="F47920"/>
                </a:solidFill>
                <a:latin typeface="Arial"/>
              </a:rPr>
              <a:t>Красишь</a:t>
            </a:r>
            <a:r>
              <a:rPr sz="1400" b="1" dirty="0">
                <a:solidFill>
                  <a:srgbClr val="F47920"/>
                </a:solidFill>
                <a:latin typeface="Arial"/>
              </a:rPr>
              <a:t> 1 </a:t>
            </a:r>
            <a:r>
              <a:rPr sz="1400" b="1" dirty="0" err="1">
                <a:solidFill>
                  <a:srgbClr val="F47920"/>
                </a:solidFill>
                <a:latin typeface="Arial"/>
              </a:rPr>
              <a:t>раз</a:t>
            </a:r>
            <a:r>
              <a:rPr sz="1400" b="1" dirty="0">
                <a:solidFill>
                  <a:srgbClr val="F47920"/>
                </a:solidFill>
                <a:latin typeface="Arial"/>
              </a:rPr>
              <a:t> — </a:t>
            </a:r>
            <a:r>
              <a:rPr sz="1400" b="1" dirty="0" err="1">
                <a:solidFill>
                  <a:srgbClr val="F47920"/>
                </a:solidFill>
                <a:latin typeface="Arial"/>
              </a:rPr>
              <a:t>служит</a:t>
            </a:r>
            <a:r>
              <a:rPr sz="1400" b="1" dirty="0">
                <a:solidFill>
                  <a:srgbClr val="F47920"/>
                </a:solidFill>
                <a:latin typeface="Arial"/>
              </a:rPr>
              <a:t> 10 </a:t>
            </a:r>
            <a:r>
              <a:rPr sz="1400" b="1" dirty="0" err="1">
                <a:solidFill>
                  <a:srgbClr val="F47920"/>
                </a:solidFill>
                <a:latin typeface="Arial"/>
              </a:rPr>
              <a:t>лет</a:t>
            </a:r>
            <a:endParaRPr sz="1400" b="1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000" y="903180"/>
            <a:ext cx="684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1E3A5F"/>
                </a:solidFill>
                <a:latin typeface="Arial"/>
              </a:rPr>
              <a:t>Грунт-эмаль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ржавчине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3в1 —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грунт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,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эмаль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и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преобразователь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ржавчины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в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одной</a:t>
            </a:r>
            <a:r>
              <a:rPr sz="11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1E3A5F"/>
                </a:solidFill>
                <a:latin typeface="Arial"/>
              </a:rPr>
              <a:t>банке</a:t>
            </a:r>
            <a:r>
              <a:rPr sz="1100" b="1" dirty="0" smtClean="0">
                <a:solidFill>
                  <a:srgbClr val="1E3A5F"/>
                </a:solidFill>
                <a:latin typeface="Arial"/>
              </a:rPr>
              <a:t>.</a:t>
            </a:r>
            <a:r>
              <a:rPr sz="1000" dirty="0" smtClean="0">
                <a:solidFill>
                  <a:srgbClr val="1A1F36"/>
                </a:solidFill>
                <a:latin typeface="Arial"/>
              </a:rPr>
              <a:t>.</a:t>
            </a:r>
            <a:endParaRPr sz="100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26179" y="3201960"/>
            <a:ext cx="1002539" cy="405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 err="1">
                <a:solidFill>
                  <a:srgbClr val="1E3A5F"/>
                </a:solidFill>
                <a:latin typeface="Arial"/>
              </a:rPr>
              <a:t>Металл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
(</a:t>
            </a:r>
            <a:r>
              <a:rPr sz="800" b="1" dirty="0" err="1">
                <a:solidFill>
                  <a:srgbClr val="1E3A5F"/>
                </a:solidFill>
                <a:latin typeface="Arial"/>
              </a:rPr>
              <a:t>сталь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, </a:t>
            </a:r>
            <a:r>
              <a:rPr sz="800" b="1" dirty="0" err="1">
                <a:solidFill>
                  <a:srgbClr val="1E3A5F"/>
                </a:solidFill>
                <a:latin typeface="Arial"/>
              </a:rPr>
              <a:t>чугун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720" y="2735580"/>
            <a:ext cx="1007999" cy="405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 dirty="0" err="1">
                <a:solidFill>
                  <a:srgbClr val="1E3A5F"/>
                </a:solidFill>
                <a:latin typeface="Arial"/>
              </a:rPr>
              <a:t>Оцинковка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
(+ </a:t>
            </a:r>
            <a:r>
              <a:rPr sz="800" b="1" dirty="0" err="1">
                <a:solidFill>
                  <a:srgbClr val="1E3A5F"/>
                </a:solidFill>
                <a:latin typeface="Arial"/>
              </a:rPr>
              <a:t>цветные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 </a:t>
            </a:r>
            <a:r>
              <a:rPr sz="800" b="1" dirty="0" err="1">
                <a:solidFill>
                  <a:srgbClr val="1E3A5F"/>
                </a:solidFill>
                <a:latin typeface="Arial"/>
              </a:rPr>
              <a:t>металлы</a:t>
            </a:r>
            <a:r>
              <a:rPr sz="800" b="1" dirty="0">
                <a:solidFill>
                  <a:srgbClr val="1E3A5F"/>
                </a:solidFill>
                <a:latin typeface="Arial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9800" y="2254860"/>
            <a:ext cx="984420" cy="4197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E3A5F"/>
                </a:solidFill>
                <a:latin typeface="Arial"/>
              </a:rPr>
              <a:t>Нержавейка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720" y="1744320"/>
            <a:ext cx="973500" cy="4197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>
                <a:solidFill>
                  <a:srgbClr val="1E3A5F"/>
                </a:solidFill>
                <a:latin typeface="Arial"/>
              </a:rPr>
              <a:t>Дерево</a:t>
            </a:r>
            <a:endParaRPr sz="1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4733" y="3109980"/>
            <a:ext cx="2629266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 err="1" smtClean="0">
                <a:solidFill>
                  <a:srgbClr val="1E3A5F"/>
                </a:solidFill>
                <a:latin typeface="Arial"/>
              </a:rPr>
              <a:t>Глянцевая</a:t>
            </a:r>
            <a:r>
              <a:rPr lang="ru-RU" sz="1000" b="1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lang="en-US" sz="1000" b="1" dirty="0" smtClean="0">
                <a:solidFill>
                  <a:srgbClr val="1E3A5F"/>
                </a:solidFill>
                <a:latin typeface="Arial"/>
              </a:rPr>
              <a:t>/ </a:t>
            </a:r>
            <a:r>
              <a:rPr lang="ru-RU" sz="1000" b="1" dirty="0" smtClean="0">
                <a:solidFill>
                  <a:srgbClr val="1E3A5F"/>
                </a:solidFill>
                <a:latin typeface="Arial"/>
              </a:rPr>
              <a:t>Матовая / Молотковая</a:t>
            </a:r>
            <a:endParaRPr sz="1000" b="1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25059" y="2480760"/>
            <a:ext cx="2160000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Время высыхания
</a:t>
            </a:r>
            <a:r>
              <a:rPr sz="1200" b="1">
                <a:solidFill>
                  <a:srgbClr val="1E3A5F"/>
                </a:solidFill>
                <a:latin typeface="Arial"/>
              </a:rPr>
              <a:t>«От пыли» — 1,5 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3140" y="3093839"/>
            <a:ext cx="2159999" cy="540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Срок службы
</a:t>
            </a:r>
            <a:r>
              <a:rPr sz="1200" b="1">
                <a:solidFill>
                  <a:srgbClr val="1E3A5F"/>
                </a:solidFill>
                <a:latin typeface="Arial"/>
              </a:rPr>
              <a:t>10 лет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740579"/>
            <a:ext cx="6840000" cy="2880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ИНСТРУКЦИЯ ПО ПРИМЕНЕНИЮ — 5 ШАГОВ</a:t>
            </a:r>
          </a:p>
        </p:txBody>
      </p:sp>
      <p:sp>
        <p:nvSpPr>
          <p:cNvPr id="16" name="Oval 15"/>
          <p:cNvSpPr/>
          <p:nvPr/>
        </p:nvSpPr>
        <p:spPr>
          <a:xfrm>
            <a:off x="648000" y="409086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00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08000" rIns="72000" rtlCol="0" anchor="ctr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Очистить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Удалить рыхлую ржавчину
металлической щёткой.
Не нужно до блеска!</a:t>
            </a:r>
          </a:p>
        </p:txBody>
      </p:sp>
      <p:sp>
        <p:nvSpPr>
          <p:cNvPr id="18" name="Oval 17"/>
          <p:cNvSpPr/>
          <p:nvPr/>
        </p:nvSpPr>
        <p:spPr>
          <a:xfrm>
            <a:off x="2123999" y="409086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55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08000" rIns="72000" rtlCol="0" anchor="ctr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Обезжирить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Протереть растворителем
или уайт-спиритом.</a:t>
            </a:r>
          </a:p>
        </p:txBody>
      </p:sp>
      <p:sp>
        <p:nvSpPr>
          <p:cNvPr id="20" name="Oval 19"/>
          <p:cNvSpPr/>
          <p:nvPr/>
        </p:nvSpPr>
        <p:spPr>
          <a:xfrm>
            <a:off x="3599999" y="409086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31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08000" rIns="72000" rtlCol="0" anchor="ctr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Перемешать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Тщательно перемешать
1 минуту. Грунт уже
внутри — отдельный не нужен.</a:t>
            </a:r>
          </a:p>
        </p:txBody>
      </p:sp>
      <p:sp>
        <p:nvSpPr>
          <p:cNvPr id="22" name="Oval 21"/>
          <p:cNvSpPr/>
          <p:nvPr/>
        </p:nvSpPr>
        <p:spPr>
          <a:xfrm>
            <a:off x="5076000" y="409086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000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08000" rIns="72000" rtlCol="0" anchor="ctr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Покрасить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Нанести 2 слоя кистью
или валиком. Между слоями
— 1,5 часа на отлип.</a:t>
            </a:r>
          </a:p>
        </p:txBody>
      </p:sp>
      <p:sp>
        <p:nvSpPr>
          <p:cNvPr id="24" name="Oval 23"/>
          <p:cNvSpPr/>
          <p:nvPr/>
        </p:nvSpPr>
        <p:spPr>
          <a:xfrm>
            <a:off x="6551999" y="4090860"/>
            <a:ext cx="432000" cy="432000"/>
          </a:xfrm>
          <a:prstGeom prst="ellipse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3999" y="4571999"/>
            <a:ext cx="1368000" cy="1440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108000" rIns="72000" rtlCol="0" anchor="ctr"/>
          <a:lstStyle/>
          <a:p>
            <a:pPr algn="ctr"/>
            <a:r>
              <a:rPr sz="1100" b="1">
                <a:solidFill>
                  <a:srgbClr val="1E3A5F"/>
                </a:solidFill>
                <a:latin typeface="Arial"/>
              </a:rPr>
              <a:t>Готово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1A1F36"/>
                </a:solidFill>
                <a:latin typeface="Arial"/>
              </a:rPr>
              <a:t>Покрытие набирает
прочность за 7 дней.
Срок службы — 10 лет.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2000" y="416286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8000" y="416286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3999" y="416286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0000" y="4162860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920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6129180"/>
            <a:ext cx="6840000" cy="288000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sz="1300" b="1" dirty="0" smtClean="0">
                <a:solidFill>
                  <a:srgbClr val="FFFFFF"/>
                </a:solidFill>
                <a:latin typeface="Arial"/>
              </a:rPr>
              <a:t>СОВОКУПНАЯ 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СТОИМОСТЬ ВЛАДЕНИЯ ЗА 10 ЛЕТ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428220"/>
            <a:ext cx="68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 err="1">
                <a:solidFill>
                  <a:srgbClr val="16A34A"/>
                </a:solidFill>
                <a:latin typeface="Arial"/>
              </a:rPr>
              <a:t>Красите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1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раз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на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10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лет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вместо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4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раз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—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экономия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16A34A"/>
                </a:solidFill>
                <a:latin typeface="Arial"/>
              </a:rPr>
              <a:t>до</a:t>
            </a:r>
            <a:r>
              <a:rPr sz="1200" b="1" dirty="0">
                <a:solidFill>
                  <a:srgbClr val="16A34A"/>
                </a:solidFill>
                <a:latin typeface="Arial"/>
              </a:rPr>
              <a:t> 59%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000" y="675774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8000" y="682974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Дверь металлическая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4.4 м²</a:t>
            </a:r>
          </a:p>
        </p:txBody>
      </p:sp>
      <p:pic>
        <p:nvPicPr>
          <p:cNvPr id="34" name="Picture 33" descr="door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606" y="7284598"/>
            <a:ext cx="1040810" cy="124218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8000" y="86250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dirty="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 dirty="0">
                <a:solidFill>
                  <a:srgbClr val="C62828"/>
                </a:solidFill>
                <a:latin typeface="Arial"/>
              </a:rPr>
              <a:t>4 640 ₽</a:t>
            </a:r>
            <a:r>
              <a:rPr sz="800" dirty="0">
                <a:solidFill>
                  <a:srgbClr val="6B7280"/>
                </a:solidFill>
                <a:latin typeface="Arial"/>
              </a:rPr>
              <a:t> (4 </a:t>
            </a:r>
            <a:r>
              <a:rPr sz="800" dirty="0" err="1">
                <a:solidFill>
                  <a:srgbClr val="6B7280"/>
                </a:solidFill>
                <a:latin typeface="Arial"/>
              </a:rPr>
              <a:t>перекраски</a:t>
            </a:r>
            <a:r>
              <a:rPr sz="800" dirty="0">
                <a:solidFill>
                  <a:srgbClr val="6B7280"/>
                </a:solidFill>
                <a:latin typeface="Arial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00" y="890670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1 610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00" y="923964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3 030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(65% за 10 лет)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00000" y="675774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08000" y="682974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Гараж металлический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54 м²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0" y="7261739"/>
            <a:ext cx="1980000" cy="1080000"/>
          </a:xfrm>
          <a:prstGeom prst="rect">
            <a:avLst/>
          </a:prstGeom>
          <a:solidFill>
            <a:srgbClr val="DBEAFE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Фото до/после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8000" y="844974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>
                <a:solidFill>
                  <a:srgbClr val="C62828"/>
                </a:solidFill>
                <a:latin typeface="Arial"/>
              </a:rPr>
              <a:t>43 692 ₽</a:t>
            </a:r>
            <a:r>
              <a:rPr sz="800">
                <a:solidFill>
                  <a:srgbClr val="6B7280"/>
                </a:solidFill>
                <a:latin typeface="Arial"/>
              </a:rPr>
              <a:t> (4 перекраски)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0" y="884574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17 580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80000" y="927774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26 112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(59% за 10 лет)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20000" y="6757740"/>
            <a:ext cx="2340000" cy="306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28000" y="6829740"/>
            <a:ext cx="212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Arial"/>
              </a:rPr>
              <a:t>Ворота распашные</a:t>
            </a:r>
          </a:p>
          <a:p>
            <a:pPr algn="ctr"/>
            <a:r>
              <a:rPr sz="900">
                <a:solidFill>
                  <a:srgbClr val="6B7280"/>
                </a:solidFill>
                <a:latin typeface="Arial"/>
              </a:rPr>
              <a:t>Площадь: 16 м²</a:t>
            </a:r>
          </a:p>
        </p:txBody>
      </p:sp>
      <p:pic>
        <p:nvPicPr>
          <p:cNvPr id="46" name="Picture 45" descr="gate_af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0" y="7261739"/>
            <a:ext cx="1980000" cy="108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28000" y="844974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ПФ-115: </a:t>
            </a:r>
            <a:r>
              <a:rPr sz="1100" b="1">
                <a:solidFill>
                  <a:srgbClr val="C62828"/>
                </a:solidFill>
                <a:latin typeface="Arial"/>
              </a:rPr>
              <a:t>13 860 ₽</a:t>
            </a:r>
            <a:r>
              <a:rPr sz="800">
                <a:solidFill>
                  <a:srgbClr val="6B7280"/>
                </a:solidFill>
                <a:latin typeface="Arial"/>
              </a:rPr>
              <a:t> (4 перекраски)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8000" y="8845740"/>
            <a:ext cx="21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Arial"/>
              </a:rPr>
              <a:t>TITAN: </a:t>
            </a:r>
            <a:r>
              <a:rPr sz="1100" b="1">
                <a:solidFill>
                  <a:srgbClr val="16A34A"/>
                </a:solidFill>
                <a:latin typeface="Arial"/>
              </a:rPr>
              <a:t>5 320 ₽</a:t>
            </a:r>
            <a:r>
              <a:rPr sz="800">
                <a:solidFill>
                  <a:srgbClr val="6B7280"/>
                </a:solidFill>
                <a:latin typeface="Arial"/>
              </a:rPr>
              <a:t> (1 покраска)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0000" y="9277740"/>
            <a:ext cx="1980000" cy="432000"/>
          </a:xfrm>
          <a:prstGeom prst="round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ЭКОНОМИЯ: 8 540 ₽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(61% за 10 лет)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10260000"/>
            <a:ext cx="7560000" cy="432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0000" y="10296000"/>
            <a:ext cx="68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Arial"/>
              </a:rPr>
              <a:t>TITAN 3в1 — грунт + эмаль + преобразователь ржавчины в одной банке  ·  </a:t>
            </a:r>
            <a:r>
              <a:rPr sz="900" b="1">
                <a:solidFill>
                  <a:srgbClr val="F47920"/>
                </a:solidFill>
                <a:latin typeface="Arial"/>
              </a:rPr>
              <a:t>Красишь 1 раз — служит 10 лет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9888960"/>
            <a:ext cx="68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Фасовка: 0.4 / 0.75 / 2 / 5 л  ·  Расход: 50–120 г/м²  ·  Разбавление: ксилол до 5%  ·  Температура нанесения: +10°C до +30°C  ·  titanpaints.ru</a:t>
            </a:r>
          </a:p>
        </p:txBody>
      </p:sp>
      <p:pic>
        <p:nvPicPr>
          <p:cNvPr id="1026" name="Picture 2" descr="C:\Users\zakolodniy\Desktop\Новая листовка Titan\1_Примеры применения дверь до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0" y="7284598"/>
            <a:ext cx="993744" cy="124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33" y="1234440"/>
            <a:ext cx="2614767" cy="1794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256</Words>
  <Application>Microsoft Office PowerPoint</Application>
  <PresentationFormat>Произвольный</PresentationFormat>
  <Paragraphs>53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7</cp:revision>
  <dcterms:created xsi:type="dcterms:W3CDTF">2013-01-27T09:14:16Z</dcterms:created>
  <dcterms:modified xsi:type="dcterms:W3CDTF">2026-08-04T11:32:46Z</dcterms:modified>
  <cp:category/>
</cp:coreProperties>
</file>