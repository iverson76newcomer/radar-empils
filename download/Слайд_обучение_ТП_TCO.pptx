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🎓  ОБУЧЕНИЕ ТОРГОВЫХ ПРЕДСТАВИТЕЛЕЙ ПО ПРОГРАММЕ TITAN TCO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BBF24"/>
                </a:solidFill>
                <a:latin typeface="Arial"/>
              </a:rPr>
              <a:t>Сбор данных → Обучение → Тест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Масштаб программы: 12 регионов  •  6 региональных директоров  •  19 региональных менеджеров  •  109 дистрибьюторов  •  ~500 ТП общего прайса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СТРУКТУРА ДИСТРИБУЦИИ ПО РЕГИОНАМ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Регион (SBU)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Директор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Дистр.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402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24028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Дальний Восток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2402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2240280"/>
            <a:ext cx="24688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146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51460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Экспорт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5146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2514600"/>
            <a:ext cx="24688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Копай-Гора Д.А.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78892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78892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Юг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278892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97480" y="2788920"/>
            <a:ext cx="24688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06324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306324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Поволжье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306324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97480" y="3063240"/>
            <a:ext cx="24688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33756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333756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Урал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1760" y="333756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97480" y="3337560"/>
            <a:ext cx="24688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61188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361188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Западная Сибирь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361188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97480" y="3611880"/>
            <a:ext cx="24688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88620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388620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Центр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388620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97480" y="3886200"/>
            <a:ext cx="24688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16052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416052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Северо-Запад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51760" y="416052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97480" y="4160520"/>
            <a:ext cx="24688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1480" y="443484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Федеральные сети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443484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697480" y="4434840"/>
            <a:ext cx="24688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Пустовалов С.И.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470916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470916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Москва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470916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697480" y="4709160"/>
            <a:ext cx="24688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49834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1480" y="498348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Новые территории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651760" y="49834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697480" y="4983480"/>
            <a:ext cx="24688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52578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11480" y="525780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Восточная Сибирь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51760" y="52578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697480" y="5257800"/>
            <a:ext cx="24688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5532120"/>
            <a:ext cx="48463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11480" y="5532120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109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32320" y="1554480"/>
            <a:ext cx="50292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ЧТО СОБИРАЕМ ПО КАЖДОМУ ТП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32320" y="1920240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223760" y="199339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223760" y="1993392"/>
            <a:ext cx="201168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98079" y="1920240"/>
            <a:ext cx="4480560" cy="3200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ФИО торгового представителя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полные данные для учёта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132320" y="2267712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223760" y="234086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23760" y="2340864"/>
            <a:ext cx="201168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98079" y="2267712"/>
            <a:ext cx="4480560" cy="3200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Телефон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связи и рассылки материалов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32320" y="2615184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223760" y="2688336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223760" y="2688336"/>
            <a:ext cx="201168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98079" y="2615184"/>
            <a:ext cx="4480560" cy="3200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Email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отправки обучения и теста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132320" y="2962656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223760" y="3035808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223760" y="3035808"/>
            <a:ext cx="201168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98079" y="2962656"/>
            <a:ext cx="4480560" cy="3200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Тип прайса: общий / эксклюзивный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обучаем общий прайс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132320" y="3310128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7223760" y="3383280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223760" y="3383280"/>
            <a:ext cx="201168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79" y="3310128"/>
            <a:ext cx="4480560" cy="3200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Дистрибьютор и регион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привязка к РМ и директору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132320" y="3657600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7223760" y="373075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223760" y="3730752"/>
            <a:ext cx="201168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98079" y="3657600"/>
            <a:ext cx="4480560" cy="3200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Дата последнего обучения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если обучался ранее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132320" y="4005072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223760" y="407822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223760" y="4078224"/>
            <a:ext cx="201168" cy="2011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498079" y="4005072"/>
            <a:ext cx="4480560" cy="3200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Готовность пройти тест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да / нет / запланировано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132320" y="4434840"/>
            <a:ext cx="4937760" cy="21031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132320" y="4480560"/>
            <a:ext cx="493776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Arial"/>
              </a:rPr>
              <a:t>🎯  ПРОЦЕСС ОБУЧЕНИЯ TCO</a:t>
            </a:r>
          </a:p>
        </p:txBody>
      </p:sp>
      <p:sp>
        <p:nvSpPr>
          <p:cNvPr id="151" name="Oval 150"/>
          <p:cNvSpPr/>
          <p:nvPr/>
        </p:nvSpPr>
        <p:spPr>
          <a:xfrm>
            <a:off x="7269480" y="489204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269480" y="4892040"/>
            <a:ext cx="256032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35240" y="4846320"/>
            <a:ext cx="4297680" cy="38404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900" b="1">
                <a:solidFill>
                  <a:srgbClr val="C62828"/>
                </a:solidFill>
                <a:latin typeface="Arial"/>
              </a:rPr>
              <a:t>Сбор данных по ТП — 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Региональные менеджеры заполняют таблицу по своим дистрибьюторам</a:t>
            </a:r>
          </a:p>
        </p:txBody>
      </p:sp>
      <p:sp>
        <p:nvSpPr>
          <p:cNvPr id="154" name="Oval 153"/>
          <p:cNvSpPr/>
          <p:nvPr/>
        </p:nvSpPr>
        <p:spPr>
          <a:xfrm>
            <a:off x="7269480" y="5276088"/>
            <a:ext cx="256032" cy="256032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269480" y="5276088"/>
            <a:ext cx="256032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230368"/>
            <a:ext cx="4297680" cy="38404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900" b="1">
                <a:solidFill>
                  <a:srgbClr val="F47920"/>
                </a:solidFill>
                <a:latin typeface="Arial"/>
              </a:rPr>
              <a:t>Рассылка материалов — 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Онлайн-материалы по TITAN TCO + видеоинструкция</a:t>
            </a:r>
          </a:p>
        </p:txBody>
      </p:sp>
      <p:sp>
        <p:nvSpPr>
          <p:cNvPr id="157" name="Oval 156"/>
          <p:cNvSpPr/>
          <p:nvPr/>
        </p:nvSpPr>
        <p:spPr>
          <a:xfrm>
            <a:off x="7269480" y="566013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269480" y="5660136"/>
            <a:ext cx="256032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35240" y="5614416"/>
            <a:ext cx="4297680" cy="38404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Arial"/>
              </a:rPr>
              <a:t>Прохождение теста — 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Каждый ТП проходит тест на знание программы TCO</a:t>
            </a:r>
          </a:p>
        </p:txBody>
      </p:sp>
      <p:sp>
        <p:nvSpPr>
          <p:cNvPr id="160" name="Oval 159"/>
          <p:cNvSpPr/>
          <p:nvPr/>
        </p:nvSpPr>
        <p:spPr>
          <a:xfrm>
            <a:off x="7269480" y="6044184"/>
            <a:ext cx="256032" cy="256032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269480" y="6044184"/>
            <a:ext cx="256032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35240" y="5998464"/>
            <a:ext cx="4297680" cy="38404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  <a:latin typeface="Arial"/>
              </a:rPr>
              <a:t>Сертификация — </a:t>
            </a:r>
          </a:p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Сертификат «ТП TITAN TCO» + включение в программу мотивации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00" b="0" i="1">
                <a:solidFill>
                  <a:srgbClr val="9CA3AF"/>
                </a:solidFill>
                <a:latin typeface="Arial"/>
              </a:rPr>
              <a:t>Empils  •  TITAN  •  Программа TCO для торговых представителей общего прайса  •  Красишь 1 раз — служит 10 лет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