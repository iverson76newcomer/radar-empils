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РАСЧЁТ TCO: ВЪЕЗДНЫЕ ВОРОТА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0399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t>Ворота распашные металлические (дача / гараж / дом)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40000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00" y="756000"/>
            <a:ext cx="5040000" cy="57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92000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Объект: Ворота распашные металлические (дача / гараж / дом)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Размеры: 3.5 × 2.0 м (стандарт по СНиП 2.07.01-89)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8B4500"/>
                </a:solidFill>
                <a:latin typeface="Carlito"/>
              </a:defRPr>
            </a:pPr>
            <a:r>
              <a:t>Площадь окраски: 3.5 × 2.0 × 2 стороны + стойки ≈ 16 м² = 16 м²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8000" y="1404000"/>
          <a:ext cx="6840000" cy="25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800000"/>
                <a:gridCol w="1800000"/>
              </a:tblGrid>
              <a:tr h="234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Параметр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ЭКОНОМ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(без грунта)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+ ГФ-021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 + эмаль)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TITAN 3в1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(грунт+эмаль+защита)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Краска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Эмаль ПФ-115 ЭКОНОМ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ГФ-021 грунт + ПФ-115 КМ эмаль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Грунт-эмаль TITAN 3в1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Цена за 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Расход (г/м² × слой)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130 × 2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 × 3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120 × 2 сл.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Краски на 1 цикл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4.2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5.3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3.8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Материал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665₽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1,232₽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3,520₽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Подготовка поверхности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 + грунтование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Очистка от рыхлой ржавчины (без грунтования!)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Работа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2,800₽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3,800₽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1,800₽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Срок службы покрытия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2.5 года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Перекрасок за 10 лет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ИТОГО TCO за 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13,860₽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10,064₽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5,320₽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28000" y="756000"/>
            <a:ext cx="4500000" cy="1007999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2000" y="827999"/>
            <a:ext cx="42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1B7D46"/>
                </a:solidFill>
                <a:latin typeface="Carlito"/>
              </a:defRPr>
            </a:pPr>
            <a:r>
              <a:t>КЛЮЧЕВОЙ ВЫВОД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TITAN 3в1 экономит 8,540₽ за 10 лет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(61% дешевле) — красите 1 раз вместо 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t>Почему: срок службы 10 лет vs 2-5 лет,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t>не нужна грунтовка, наносится на ржавчину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28000" y="1872000"/>
            <a:ext cx="4500000" cy="1080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72000" y="1944000"/>
            <a:ext cx="42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E86C00"/>
                </a:solidFill>
                <a:latin typeface="Carlito"/>
              </a:defRPr>
            </a:pPr>
            <a:r>
              <a:t>Стоимость работы за 1 цикл: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t>  Подготовка: зачистка, обезжиривание, грунтование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t>  Покраска: ~50₽/м² × 16 м² = 800₽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t>TITAN: подготовка проще — не нужно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t>грунтовать, можно наносить на ржавчину!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284000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t>* Цена TITAN: 765₽/0.75л, 1 720₽/2л, 5 720₽/8.5л (Все Инструменты, 2026). ПФ-115 ЭКОНОМ: ~190₽/л. ГФ-021: ~145₽/л. ПФ-115 КМ: ~280₽/л.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TCO: ВЪЕЗДНЫЕ ВОРОТА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0399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t>Ворота распашные металлические (дача / гараж / дом)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40000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00" y="792000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810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2540"/>
                </a:solidFill>
                <a:latin typeface="Carlito"/>
              </a:defRPr>
            </a:pPr>
            <a:r>
              <a:t>3.5 × 2.0 м (стандарт по СНиП 2.07.01-89)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1999" y="792000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63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0" y="810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4500"/>
                </a:solidFill>
                <a:latin typeface="Carlito"/>
              </a:defRPr>
            </a:pPr>
            <a:r>
              <a:t>Площадь: 16 м²  |  16 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224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890"/>
                </a:solidFill>
                <a:latin typeface="Carlito"/>
              </a:defRPr>
            </a:pPr>
            <a:r>
              <a:t>Совокупная стоимость владения за 10 лет (материал + работа)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040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ЭКОНОМ (без грунта)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1584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665₽/цикл  |  Работа: 2,800₽/цикл  |  Перекрасок: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0" y="14580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00000" y="1458000"/>
            <a:ext cx="5580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8000" y="14400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13,860₽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19800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+ ГФ-021 (грунт + эмаль)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2160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1,232₽/цикл  |  Работа: 3,800₽/цикл  |  Перекрасок: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0" y="20340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0000" y="2034000"/>
            <a:ext cx="4051740" cy="30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8000" y="20160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10,064₽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25560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D46"/>
                </a:solidFill>
                <a:latin typeface="Carlito"/>
              </a:defRPr>
            </a:pPr>
            <a:r>
              <a:t>TITAN 3в1 (грунт+эмаль+защита)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" y="2736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3,520₽/цикл  |  Работа: 1,800₽/цикл  |  Перекрасок: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0" y="26100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0000" y="2610000"/>
            <a:ext cx="2141818" cy="306000"/>
          </a:xfrm>
          <a:prstGeom prst="rect">
            <a:avLst/>
          </a:prstGeom>
          <a:solidFill>
            <a:srgbClr val="1B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9818" y="25920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rlito"/>
              </a:defRPr>
            </a:pPr>
            <a:r>
              <a:t>5,320₽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0000" y="1260000"/>
            <a:ext cx="3060000" cy="115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0000" y="1296000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7D46"/>
                </a:solidFill>
                <a:latin typeface="Carlito"/>
              </a:defRPr>
            </a:pPr>
            <a:r>
              <a:t>ЭКОНОМИЯ ЗА 10 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000" y="1548000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7D46"/>
                </a:solidFill>
                <a:latin typeface="Carlito"/>
              </a:defRPr>
            </a:pPr>
            <a:r>
              <a:t>8,540₽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0000" y="2015999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D46"/>
                </a:solidFill>
                <a:latin typeface="Carlito"/>
              </a:defRPr>
            </a:pPr>
            <a:r>
              <a:t>61% экономии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00" y="3311999"/>
            <a:ext cx="10980000" cy="46800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3365999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rlito"/>
              </a:defRPr>
            </a:pPr>
            <a:r>
              <a:t>TITAN 3в1: красите 1 раз на 10 лет вместо 4 раз  —  экономия 8,540₽ (61%)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00" y="4284000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t>* Подробнее см. слайд «Расчёт TCO»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РАСЧЁТ TCO: ГАРАЖ МЕТАЛЛИЧЕСКИЙ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0399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t>Гараж-ракушка / металлический пенал (типовой)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40000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00" y="756000"/>
            <a:ext cx="5040000" cy="57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92000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Объект: Гараж-ракушка / металлический пенал (типовой)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Размеры: 3.0 × 6.0 × 2.0 м (стандарт)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8B4500"/>
                </a:solidFill>
                <a:latin typeface="Carlito"/>
              </a:defRPr>
            </a:pPr>
            <a:r>
              <a:t>Площадь окраски: 2×(3×2) + 2×(6×2) + 3×6 = 6+24+18 = 48 м² стен + крыша ≈ 54 м² = 54 м²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8000" y="1404000"/>
          <a:ext cx="6840000" cy="25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800000"/>
                <a:gridCol w="1800000"/>
              </a:tblGrid>
              <a:tr h="234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Параметр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ЭКОНОМ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(без грунта)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+ ГФ-021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 + эмаль)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TITAN 3в1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(грунт+эмаль+защита)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Краска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Эмаль ПФ-115 ЭКОНОМ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ГФ-021 грунт + ПФ-115 КМ эмаль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Грунт-эмаль TITAN 3в1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Цена за 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Расход (г/м² × слой)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130 × 2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 × 3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120 × 2 сл.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Краски на 1 цикл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14.0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17.8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13.0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Материал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2,223₽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4,144₽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11,880₽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Подготовка поверхности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 + грунтование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Очистка от рыхлой ржавчины (без грунтования!)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Работа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8,700₽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11,700₽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5,700₽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Срок службы покрытия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2.5 года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Перекрасок за 10 лет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ИТОГО TCO за 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43,692₽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31,688₽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17,580₽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28000" y="756000"/>
            <a:ext cx="4500000" cy="1007999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2000" y="827999"/>
            <a:ext cx="42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1B7D46"/>
                </a:solidFill>
                <a:latin typeface="Carlito"/>
              </a:defRPr>
            </a:pPr>
            <a:r>
              <a:t>КЛЮЧЕВОЙ ВЫВОД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TITAN 3в1 экономит 26,112₽ за 10 лет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(59% дешевле) — красите 1 раз вместо 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t>Почему: срок службы 10 лет vs 2-5 лет,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t>не нужна грунтовка, наносится на ржавчину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28000" y="1872000"/>
            <a:ext cx="4500000" cy="1080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72000" y="1944000"/>
            <a:ext cx="42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E86C00"/>
                </a:solidFill>
                <a:latin typeface="Carlito"/>
              </a:defRPr>
            </a:pPr>
            <a:r>
              <a:t>Стоимость работы за 1 цикл: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t>  Подготовка: зачистка, обезжиривание, грунтование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t>  Покраска: ~50₽/м² × 54 м² = 2,700₽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t>TITAN: подготовка проще — не нужно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t>грунтовать, можно наносить на ржавчину!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284000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t>* Цена TITAN: 765₽/0.75л, 1 720₽/2л, 5 720₽/8.5л (Все Инструменты, 2026). ПФ-115 ЭКОНОМ: ~190₽/л. ГФ-021: ~145₽/л. ПФ-115 КМ: ~280₽/л.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TCO: ГАРАЖ МЕТАЛЛИЧЕСКИЙ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0399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t>Гараж-ракушка / металлический пенал (типовой)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40000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00" y="792000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810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2540"/>
                </a:solidFill>
                <a:latin typeface="Carlito"/>
              </a:defRPr>
            </a:pPr>
            <a:r>
              <a:t>3.0 × 6.0 × 2.0 м (стандарт)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1999" y="792000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63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0" y="810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4500"/>
                </a:solidFill>
                <a:latin typeface="Carlito"/>
              </a:defRPr>
            </a:pPr>
            <a:r>
              <a:t>Площадь: 54 м²  |  48 м² стен + крыша ≈ 54 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224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890"/>
                </a:solidFill>
                <a:latin typeface="Carlito"/>
              </a:defRPr>
            </a:pPr>
            <a:r>
              <a:t>Совокупная стоимость владения за 10 лет (материал + работа)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040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ЭКОНОМ (без грунта)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1584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2,223₽/цикл  |  Работа: 8,700₽/цикл  |  Перекрасок: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0" y="14580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00000" y="1458000"/>
            <a:ext cx="5580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8000" y="14400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43,692₽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19800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+ ГФ-021 (грунт + эмаль)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2160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4,144₽/цикл  |  Работа: 11,700₽/цикл  |  Перекрасок: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0" y="20340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0000" y="2034000"/>
            <a:ext cx="4046943" cy="30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8000" y="20160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31,688₽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25560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D46"/>
                </a:solidFill>
                <a:latin typeface="Carlito"/>
              </a:defRPr>
            </a:pPr>
            <a:r>
              <a:t>TITAN 3в1 (грунт+эмаль+защита)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" y="2736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11,880₽/цикл  |  Работа: 5,700₽/цикл  |  Перекрасок: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0" y="26100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0000" y="2610000"/>
            <a:ext cx="2245179" cy="306000"/>
          </a:xfrm>
          <a:prstGeom prst="rect">
            <a:avLst/>
          </a:prstGeom>
          <a:solidFill>
            <a:srgbClr val="1B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53179" y="25920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rlito"/>
              </a:defRPr>
            </a:pPr>
            <a:r>
              <a:t>17,580₽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0000" y="1260000"/>
            <a:ext cx="3060000" cy="115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0000" y="1296000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7D46"/>
                </a:solidFill>
                <a:latin typeface="Carlito"/>
              </a:defRPr>
            </a:pPr>
            <a:r>
              <a:t>ЭКОНОМИЯ ЗА 10 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000" y="1548000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7D46"/>
                </a:solidFill>
                <a:latin typeface="Carlito"/>
              </a:defRPr>
            </a:pPr>
            <a:r>
              <a:t>26,112₽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0000" y="2015999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D46"/>
                </a:solidFill>
                <a:latin typeface="Carlito"/>
              </a:defRPr>
            </a:pPr>
            <a:r>
              <a:t>59% экономии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00" y="3311999"/>
            <a:ext cx="10980000" cy="46800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3365999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rlito"/>
              </a:defRPr>
            </a:pPr>
            <a:r>
              <a:t>TITAN 3в1: красите 1 раз на 10 лет вместо 4 раз  —  экономия 26,112₽ (59%)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00" y="4284000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t>* Подробнее см. слайд «Расчёт TCO»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РАСЧЁТ TCO: ДВЕРЬ ВХОДНАЯ МЕТАЛЛИЧЕСКАЯ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0399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t>Входная дверь в дом / квартиру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40000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00" y="756000"/>
            <a:ext cx="5040000" cy="57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92000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Объект: Входная дверь в дом / квартиру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Размеры: 960 × 2050 мм (стандарт ГОСТ 31173-2003)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8B4500"/>
                </a:solidFill>
                <a:latin typeface="Carlito"/>
              </a:defRPr>
            </a:pPr>
            <a:r>
              <a:t>Площадь окраски: 0.9×2.05×2 стороны + рама + торцы ≈ 4.4 м² = 4.4 м²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8000" y="1404000"/>
          <a:ext cx="6840000" cy="25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800000"/>
                <a:gridCol w="1800000"/>
              </a:tblGrid>
              <a:tr h="234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Параметр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ЭКОНОМ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(без грунта)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+ ГФ-021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 + эмаль)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TITAN 3в1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(грунт+эмаль+защита)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Краска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Эмаль ПФ-115 ЭКОНОМ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ГФ-021 грунт + ПФ-115 КМ эмаль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Грунт-эмаль TITAN 3в1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Цена за 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Расход (г/м² × слой)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130 × 2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 × 3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120 × 2 сл.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Краски на 1 цикл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1.1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1.5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1.1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Материал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336₽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990₽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Подготовка поверхности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 + грунтование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Очистка от рыхлой ржавчины (без грунтования!)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Работа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970₽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1,220₽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620₽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Срок службы покрытия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2.5 года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Перекрасок за 10 лет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ИТОГО TCO за 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4,640₽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3,112₽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1,610₽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28000" y="756000"/>
            <a:ext cx="4500000" cy="1007999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2000" y="827999"/>
            <a:ext cx="42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1B7D46"/>
                </a:solidFill>
                <a:latin typeface="Carlito"/>
              </a:defRPr>
            </a:pPr>
            <a:r>
              <a:t>КЛЮЧЕВОЙ ВЫВОД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TITAN 3в1 экономит 3,030₽ за 10 лет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(65% дешевле) — красите 1 раз вместо 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t>Почему: срок службы 10 лет vs 2-5 лет,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t>не нужна грунтовка, наносится на ржавчину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28000" y="1872000"/>
            <a:ext cx="4500000" cy="1080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72000" y="1944000"/>
            <a:ext cx="42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E86C00"/>
                </a:solidFill>
                <a:latin typeface="Carlito"/>
              </a:defRPr>
            </a:pPr>
            <a:r>
              <a:t>Стоимость работы за 1 цикл: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t>  Подготовка: зачистка, обезжиривание, грунтование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t>  Покраска: ~50₽/м² × 4.4 м² = 220₽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t>TITAN: подготовка проще — не нужно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t>грунтовать, можно наносить на ржавчину!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284000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t>* Цена TITAN: 765₽/0.75л, 1 720₽/2л, 5 720₽/8.5л (Все Инструменты, 2026). ПФ-115 ЭКОНОМ: ~190₽/л. ГФ-021: ~145₽/л. ПФ-115 КМ: ~280₽/л.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TCO: ДВЕРЬ ВХОДНАЯ МЕТАЛЛИЧЕСКАЯ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0399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t>Входная дверь в дом / квартиру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40000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00" y="792000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810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2540"/>
                </a:solidFill>
                <a:latin typeface="Carlito"/>
              </a:defRPr>
            </a:pPr>
            <a:r>
              <a:t>960 × 2050 мм (стандарт ГОСТ 31173-2003)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1999" y="792000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63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0" y="810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4500"/>
                </a:solidFill>
                <a:latin typeface="Carlito"/>
              </a:defRPr>
            </a:pPr>
            <a:r>
              <a:t>Площадь: 4.4 м²  |  4.4 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224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890"/>
                </a:solidFill>
                <a:latin typeface="Carlito"/>
              </a:defRPr>
            </a:pPr>
            <a:r>
              <a:t>Совокупная стоимость владения за 10 лет (материал + работа)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4040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ЭКОНОМ (без грунта)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1584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190₽/цикл  |  Работа: 970₽/цикл  |  Перекрасок: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0" y="14580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00000" y="1458000"/>
            <a:ext cx="5580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8000" y="14400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4,640₽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19800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+ ГФ-021 (грунт + эмаль)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2160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336₽/цикл  |  Работа: 1,220₽/цикл  |  Перекрасок: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0" y="20340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0000" y="2034000"/>
            <a:ext cx="3742448" cy="30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8000" y="20160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3,112₽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25560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D46"/>
                </a:solidFill>
                <a:latin typeface="Carlito"/>
              </a:defRPr>
            </a:pPr>
            <a:r>
              <a:t>TITAN 3в1 (грунт+эмаль+защита)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" y="2736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990₽/цикл  |  Работа: 620₽/цикл  |  Перекрасок: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0" y="26100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0000" y="2610000"/>
            <a:ext cx="1936163" cy="306000"/>
          </a:xfrm>
          <a:prstGeom prst="rect">
            <a:avLst/>
          </a:prstGeom>
          <a:solidFill>
            <a:srgbClr val="1B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44163" y="25920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rlito"/>
              </a:defRPr>
            </a:pPr>
            <a:r>
              <a:t>1,610₽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0000" y="1260000"/>
            <a:ext cx="3060000" cy="115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0000" y="1296000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7D46"/>
                </a:solidFill>
                <a:latin typeface="Carlito"/>
              </a:defRPr>
            </a:pPr>
            <a:r>
              <a:t>ЭКОНОМИЯ ЗА 10 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000" y="1548000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7D46"/>
                </a:solidFill>
                <a:latin typeface="Carlito"/>
              </a:defRPr>
            </a:pPr>
            <a:r>
              <a:t>3,030₽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0000" y="2015999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D46"/>
                </a:solidFill>
                <a:latin typeface="Carlito"/>
              </a:defRPr>
            </a:pPr>
            <a:r>
              <a:t>65% экономии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00" y="3311999"/>
            <a:ext cx="10980000" cy="46800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3365999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rlito"/>
              </a:defRPr>
            </a:pPr>
            <a:r>
              <a:t>TITAN 3в1: красите 1 раз на 10 лет вместо 4 раз  —  экономия 3,030₽ (65%)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00" y="4284000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t>* Подробнее см. слайд «Расчёт TCO»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