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79" r:id="rId3"/>
    <p:sldId id="275" r:id="rId4"/>
    <p:sldId id="274" r:id="rId5"/>
    <p:sldId id="273" r:id="rId6"/>
    <p:sldId id="277" r:id="rId7"/>
    <p:sldId id="280" r:id="rId8"/>
    <p:sldId id="271" r:id="rId9"/>
    <p:sldId id="272" r:id="rId10"/>
    <p:sldId id="262" r:id="rId11"/>
    <p:sldId id="286" r:id="rId12"/>
    <p:sldId id="264" r:id="rId13"/>
    <p:sldId id="269" r:id="rId14"/>
    <p:sldId id="270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82" autoAdjust="0"/>
    <p:restoredTop sz="81465" autoAdjust="0"/>
  </p:normalViewPr>
  <p:slideViewPr>
    <p:cSldViewPr snapToGrid="0" snapToObjects="1">
      <p:cViewPr>
        <p:scale>
          <a:sx n="140" d="100"/>
          <a:sy n="140" d="100"/>
        </p:scale>
        <p:origin x="-804" y="-7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194E28-CB31-44F2-8883-5E255A9402FC}" type="datetimeFigureOut">
              <a:rPr lang="ru-RU" smtClean="0"/>
              <a:t>17.06.2026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4B1BA6-0D87-4992-A09E-75CC0CDD28F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9323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Программа развития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ru-RU" dirty="0" smtClean="0"/>
              <a:t>2</a:t>
            </a:r>
            <a:r>
              <a:rPr lang="en-US" dirty="0" smtClean="0"/>
              <a:t> </a:t>
            </a:r>
            <a:r>
              <a:rPr lang="en-US" dirty="0"/>
              <a:t>года — системный переход к </a:t>
            </a:r>
            <a:r>
              <a:rPr lang="ru-RU" dirty="0" smtClean="0"/>
              <a:t>технологическим решениям</a:t>
            </a:r>
            <a:r>
              <a:rPr lang="en-US" dirty="0"/>
              <a:t>
 • Три ключевых направления: маркетинг, продажи, НИЛ
 • Цель: выйти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 smtClean="0"/>
              <a:t>ловушки</a:t>
            </a:r>
            <a:r>
              <a:rPr lang="ru-RU" dirty="0" smtClean="0"/>
              <a:t> продажи отдельным</a:t>
            </a:r>
            <a:r>
              <a:rPr lang="ru-RU" baseline="0" dirty="0" smtClean="0"/>
              <a:t> продуктов сфокусированных в</a:t>
            </a:r>
            <a:r>
              <a:rPr lang="en-US" dirty="0" smtClean="0"/>
              <a:t> </a:t>
            </a:r>
            <a:r>
              <a:rPr lang="en-US" dirty="0" err="1" smtClean="0"/>
              <a:t>эконом-сегмента</a:t>
            </a:r>
            <a:r>
              <a:rPr lang="ru-RU" dirty="0" smtClean="0"/>
              <a:t>х</a:t>
            </a:r>
            <a:r>
              <a:rPr lang="en-US" dirty="0"/>
              <a:t>
 • Срок: 2026-2028, старт — июнь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Данные из ФС «Лемана ПРО» за Q2 2025 (B2C розница):
 СВОДНАЯ СЕГМЕНТАЦИЯ (ВД + ОР):
 — Эконом: 47% тонн → 27% выручки (ср. цена 206 руб/кг, маржа ≤10%)
 — Средний: 44% тонн → 52% выручки (ср. цена 441 руб/кг)
 — Премиум: 9% тонн → 21% выручки (ср. цена 813 руб/кг, маржа 40–50%)
 КЛЮЧЕВОЙ ИНСАЙТ: Премиум = 9% тонн, но 21% выручки
 Эконом = 47% тонн, но только 27% выручки
 → 1 тонна премиума приносит в 4× больше выручки, чем тонна эконома
 → С учётом маржи 40–50% vs ≤10% — разница по чистой прибыли ещё больше
 ВД КРАСКИ ОТДЕЛЬНО (основной фокус):
 — Премиум: 10.7% тонн → 24.8% выручки (768 руб/кг)
 — Эконом: 45.4% тонн → 22.5% выручки (164 руб/кг)
 → Премиум в ВД даёт БОЛЬШЕ выручки, чем эконом при 4× меньшем объёме!
 ВНЕШНЕЕ ПОДТВЕРЖДЕНИЕ:
 IndexBox Russia Latex Paint Market Report (2026):
 «Premium and super-premium tiers, priced at 700-1,500 rubles per litre or higher, 
 hold 10-15% of volume but a disproportionately higher share of revenue»
 Сегментация по ценам ВД (Лемана ПРО Q2 2025):
 50-150 руб/кг: 4 060 т | 151-250: 3 896 т | 251-350: 3 188 т
 351-450: 2 318 т | 451-550: 2 199 т | 551-650: 1 170 т
 651-950: 450 т | 951+: 254 т
 Итого ВД: 17 535 т
 Эмпилс в Лемана ПРО: 1% ВД (84 т из 17 535), 46% ОР
 Самая низкая полочная цена и цена закупки среди всех производителей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 </a:t>
            </a:r>
            <a:r>
              <a:rPr lang="en-US" dirty="0" smtClean="0"/>
              <a:t>• </a:t>
            </a:r>
            <a:r>
              <a:rPr lang="en-US" dirty="0" err="1" smtClean="0"/>
              <a:t>Философия</a:t>
            </a:r>
            <a:r>
              <a:rPr lang="en-US" dirty="0" smtClean="0"/>
              <a:t> </a:t>
            </a:r>
            <a:r>
              <a:rPr lang="en-US" dirty="0"/>
              <a:t>меняется: от «что у нас есть» к «что нужно клиенту»
 • Старый подход: «у нас есть краска за 500 руб/л» → конкуренция по цене, менеджер = приёмщик
 • Новый подход: «вам нужен ремонт в ванной?» → продажа от задачи, менеджер = эксперт
 • 3 столпа трансформации: обучение продажам (TCO-скрипты, KPI по комплектам), НИЛ от задачи (звенья цепочек), клиентоцентричность (навигация от боли)
 • KPI менеджеров: доля продаж комплектами, TCO-расчёт в каждом КП
 • НИЛ: разработка звеньев цепочки, не standalone-продуктов
 • Ключевая фраза: «Мы продаём не банку краски. Мы продаём решение проблемы клиента»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Сгруппированные технологии — продажа системы продуктов вместо одного
 • 3 эффекта: рост чека +40-60%, гарантия результата, защита от замещения конкурентом
 • Синергия: правильный грунт продлевает срок службы краски на 30-50%, шпатлёвка сокращает расход краски на 20%
 • Удлинение цепочек: короткая (2 SKU / 2 000 руб) → средняя (3 SKU / 5 000 руб) → длинная (5 SKU / 8 720 руб)
 • Пробелы: не хватает специализированных грунтов, шпатлёвок, защитных лаков, декоративных эффектов
 • Новая парадигма НИЛ: разрабатываем не продукт, а звено цепочки. Каждый новый SKU удлиняет технологию и увеличивает TCO-выгоду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Гибридная модель: commodities (грунты, стартовые шпатлёвки) — без сегментации, один SKU на все уровни
 • Маржинальные продукты (краски, лаки, декоративные эффекты) — 3 сегмента, маржа растёт с ценой
 • Принцип: не все звенья создают ценность одинаково. Грунт не определяет срок службы — краска и защита определяют
 • Бенчмарк: Tikkurila, Dulux, Caparol — все используют гибридный подход, никто не делает «премиум-грунт»
 • Пример: Грунт ОРЕОЛ + Шпатлёвка NEWTONE + Краска AVANTGARDE + Лак AVANTGARDE = средняя цена цепочки ~420 руб/кг
 • Итог: -30% SKU, +15% маржа на системе, TCO-логика работает (переплата только за ценность)
 • Навигация — по технологии (задаче), не по бренду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TCO — совокупная стоимость владения: материалы + работа + ремонты + простой
 • Главный инсайт: краска = лишь 15-20% сметы, остальное — работа и подготовка
 • Пример: комната 20 м2, стены 45 м2. Технология: грунт + шпатлёвка + краска
 • Эконом: 19 350 руб, 3 года = 6 450 руб/год. Премиум: 24 470 руб, 10 лет = 2 447 руб/год
 • Премиум в 2,6 раза дешевле в пересчёте на год эксплуатации
 • Переплата 5 120 руб при ремонте окупается за 1,3 года, затем чистая экономия
 • За 10 лет: 3 эконом-ремонта = 58 050 руб vs 1 премиум = 24 470 руб, экономия 33 580 руб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Смена парадигмы: каталог продуктов → каталог технологий (решений)
 • Сегодня: клиент приходит за «краской» и покупает 1 банку. Завтра: клиент приходит за «ремонтом в ванной» и покупает систему из 3-4 продуктов
 • Технологические цепочки: «Интерьер под шелкографию», «Влажная зона», «Фасад дома», «Детская комната»
 • 4 шага внедрения: классификатор → новый каталог/сайт → калькулятор TCO → POS-мерчендайзинг
 • Ключевой инструмент — калькулятор TCO (веб + Excel), менеджер считает за 2 минуты
 • Результат: средний чек +40-60%, возвратность +25%, брак -30%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</a:t>
            </a:r>
            <a:r>
              <a:rPr lang="ru-RU" dirty="0" smtClean="0"/>
              <a:t>4</a:t>
            </a:r>
            <a:r>
              <a:rPr lang="en-US" dirty="0" smtClean="0"/>
              <a:t> </a:t>
            </a:r>
            <a:r>
              <a:rPr lang="en-US" dirty="0" err="1"/>
              <a:t>ключевых</a:t>
            </a:r>
            <a:r>
              <a:rPr lang="en-US" dirty="0"/>
              <a:t> </a:t>
            </a:r>
            <a:r>
              <a:rPr lang="en-US" dirty="0" err="1" smtClean="0"/>
              <a:t>риска</a:t>
            </a:r>
            <a:r>
              <a:rPr lang="en-US" dirty="0" smtClean="0"/>
              <a:t>:</a:t>
            </a:r>
            <a:r>
              <a:rPr lang="ru-RU" dirty="0" smtClean="0"/>
              <a:t> </a:t>
            </a:r>
            <a:r>
              <a:rPr lang="en-US" dirty="0" err="1" smtClean="0"/>
              <a:t>каннибализация</a:t>
            </a:r>
            <a:r>
              <a:rPr lang="en-US" dirty="0" smtClean="0"/>
              <a:t> </a:t>
            </a:r>
            <a:r>
              <a:rPr lang="en-US" dirty="0"/>
              <a:t>(средняя), дистрибьюторы (средняя), </a:t>
            </a:r>
            <a:r>
              <a:rPr lang="ru-RU" dirty="0" smtClean="0"/>
              <a:t>инертность системы, </a:t>
            </a:r>
            <a:r>
              <a:rPr lang="en-US" dirty="0" err="1" smtClean="0"/>
              <a:t>рынок</a:t>
            </a:r>
            <a:r>
              <a:rPr lang="en-US" dirty="0" smtClean="0"/>
              <a:t> </a:t>
            </a:r>
            <a:r>
              <a:rPr lang="en-US" dirty="0"/>
              <a:t>(высокая)
 • Сырьё: 82% акриловых смол импорт — диверсификация Китай/Индия, нацпроект, запас 3-6 мес
 • Каннибализация: </a:t>
            </a:r>
            <a:r>
              <a:rPr lang="ru-RU" dirty="0" smtClean="0"/>
              <a:t>Премиальный </a:t>
            </a:r>
            <a:r>
              <a:rPr lang="en-US" dirty="0" err="1" smtClean="0"/>
              <a:t>бренд</a:t>
            </a:r>
            <a:r>
              <a:rPr lang="en-US" dirty="0"/>
              <a:t>, разные каналы, эконом сохраняет объём
 • Дистрибьюторы: Премиум-лаборатория, финансовая мотивация, стартовый пакет
 • Рынок -7,8%: фокус на водные ЛКМ +3,9%, профессиональный канал, экспорт СНГ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</p:spPr>
        <p:txBody>
          <a:bodyPr lIns="68580" tIns="34290" rIns="68580" bIns="34290"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</p:spPr>
        <p:txBody>
          <a:bodyPr lIns="68580" tIns="34290" rIns="68580" bIns="34290"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</p:spPr>
        <p:txBody>
          <a:bodyPr lIns="68580" tIns="34290" rIns="68580" bIns="34290"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14443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878385" y="1321593"/>
            <a:ext cx="2500313" cy="2500313"/>
          </a:xfrm>
          <a:prstGeom prst="ellipse">
            <a:avLst/>
          </a:prstGeom>
          <a:solidFill>
            <a:srgbClr val="E3F4E8">
              <a:alpha val="3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001000" y="1285875"/>
            <a:ext cx="1428750" cy="1428750"/>
          </a:xfrm>
          <a:prstGeom prst="ellipse">
            <a:avLst/>
          </a:prstGeom>
          <a:solidFill>
            <a:srgbClr val="F0E6FF">
              <a:alpha val="3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/tmp/h2p-fit-1781414104264-sctg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250" y="1347378"/>
            <a:ext cx="4490427" cy="950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65"/>
              </a:lnSpc>
              <a:buNone/>
            </a:pPr>
            <a:r>
              <a:rPr lang="en-US" sz="3150" b="1" kern="0" spc="-56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Программа развития</a:t>
            </a:r>
            <a:endParaRPr lang="en-US" sz="3150" dirty="0"/>
          </a:p>
          <a:p>
            <a:pPr marL="0" indent="0" algn="l">
              <a:lnSpc>
                <a:spcPts val="3465"/>
              </a:lnSpc>
              <a:buNone/>
            </a:pPr>
            <a:r>
              <a:rPr lang="en-US" sz="3150" b="1" kern="0" spc="-56" dirty="0" err="1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Эмпилс</a:t>
            </a:r>
            <a:endParaRPr lang="en-US" sz="31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250" y="2370274"/>
            <a:ext cx="571500" cy="4286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03250" y="2613161"/>
            <a:ext cx="4082207" cy="488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22"/>
              </a:lnSpc>
              <a:buNone/>
            </a:pPr>
            <a:r>
              <a:rPr lang="ru-RU" sz="1215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Системная трансформация</a:t>
            </a:r>
            <a:endParaRPr lang="en-US" sz="1215" dirty="0"/>
          </a:p>
        </p:txBody>
      </p:sp>
      <p:sp>
        <p:nvSpPr>
          <p:cNvPr id="10" name="Text 6"/>
          <p:cNvSpPr/>
          <p:nvPr/>
        </p:nvSpPr>
        <p:spPr>
          <a:xfrm>
            <a:off x="603250" y="3101727"/>
            <a:ext cx="931212" cy="203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85"/>
              </a:lnSpc>
              <a:buNone/>
            </a:pPr>
            <a:r>
              <a:rPr lang="en-US" sz="990" b="1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Маркетинг</a:t>
            </a:r>
            <a:endParaRPr lang="en-US" sz="990" dirty="0"/>
          </a:p>
        </p:txBody>
      </p:sp>
      <p:sp>
        <p:nvSpPr>
          <p:cNvPr id="11" name="Text 7"/>
          <p:cNvSpPr/>
          <p:nvPr/>
        </p:nvSpPr>
        <p:spPr>
          <a:xfrm>
            <a:off x="1340172" y="3167360"/>
            <a:ext cx="57150" cy="57150"/>
          </a:xfrm>
          <a:prstGeom prst="ellipse">
            <a:avLst/>
          </a:prstGeom>
          <a:solidFill>
            <a:srgbClr val="F28C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1483047" y="3101727"/>
            <a:ext cx="798410" cy="203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85"/>
              </a:lnSpc>
              <a:buNone/>
            </a:pPr>
            <a:r>
              <a:rPr lang="en-US" sz="990" b="1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Продажи</a:t>
            </a:r>
            <a:endParaRPr lang="en-US" sz="990" dirty="0"/>
          </a:p>
        </p:txBody>
      </p:sp>
      <p:sp>
        <p:nvSpPr>
          <p:cNvPr id="13" name="Text 9"/>
          <p:cNvSpPr/>
          <p:nvPr/>
        </p:nvSpPr>
        <p:spPr>
          <a:xfrm>
            <a:off x="2127101" y="3167360"/>
            <a:ext cx="57150" cy="57150"/>
          </a:xfrm>
          <a:prstGeom prst="ellipse">
            <a:avLst/>
          </a:prstGeom>
          <a:solidFill>
            <a:srgbClr val="F28C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2269976" y="3101727"/>
            <a:ext cx="2415480" cy="203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85"/>
              </a:lnSpc>
              <a:buNone/>
            </a:pPr>
            <a:r>
              <a:rPr lang="en-US" sz="990" b="1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НИЛ</a:t>
            </a:r>
            <a:endParaRPr lang="en-US" sz="990" dirty="0"/>
          </a:p>
        </p:txBody>
      </p:sp>
      <p:sp>
        <p:nvSpPr>
          <p:cNvPr id="15" name="Text 11"/>
          <p:cNvSpPr/>
          <p:nvPr/>
        </p:nvSpPr>
        <p:spPr>
          <a:xfrm>
            <a:off x="603250" y="3808078"/>
            <a:ext cx="4624710" cy="175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83"/>
              </a:lnSpc>
              <a:buNone/>
            </a:pPr>
            <a:r>
              <a:rPr lang="en-US" sz="855" kern="0" spc="28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ЗАО Эмпилс · Июнь 2026</a:t>
            </a:r>
            <a:endParaRPr lang="en-US" sz="85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400050" y="285750"/>
            <a:ext cx="8636000" cy="254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6"/>
              </a:lnSpc>
              <a:buNone/>
            </a:pPr>
            <a:r>
              <a:rPr lang="en-US" sz="1238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Где мы сейчас: </a:t>
            </a:r>
            <a:r>
              <a:rPr lang="ru-RU" sz="1238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системные</a:t>
            </a:r>
            <a:r>
              <a:rPr lang="en-US" sz="1238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1238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особенности</a:t>
            </a:r>
            <a:endParaRPr lang="ru-RU" sz="1238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542925"/>
            <a:ext cx="457200" cy="3571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00050" y="818356"/>
            <a:ext cx="2724113" cy="1528763"/>
          </a:xfrm>
          <a:prstGeom prst="roundRect">
            <a:avLst>
              <a:gd name="adj" fmla="val 8723"/>
            </a:avLst>
          </a:prstGeom>
          <a:solidFill>
            <a:srgbClr val="FDE8E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28638" y="932656"/>
            <a:ext cx="228600" cy="228600"/>
          </a:xfrm>
          <a:prstGeom prst="roundRect">
            <a:avLst>
              <a:gd name="adj" fmla="val 33333"/>
            </a:avLst>
          </a:prstGeom>
          <a:solidFill>
            <a:srgbClr val="DC5C5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49712" y="953730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10" name="Text 7"/>
          <p:cNvSpPr/>
          <p:nvPr/>
        </p:nvSpPr>
        <p:spPr>
          <a:xfrm>
            <a:off x="814388" y="982663"/>
            <a:ext cx="134757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kern="0" spc="28" dirty="0">
                <a:solidFill>
                  <a:srgbClr val="DC5C5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ПРОДУКТОВАЯ МОДЕЛЬ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28638" y="1232694"/>
            <a:ext cx="2576666" cy="154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ru-RU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Продаем</a:t>
            </a:r>
            <a:r>
              <a:rPr lang="en-US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банку </a:t>
            </a:r>
            <a:r>
              <a:rPr lang="en-US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DIY</a:t>
            </a:r>
            <a:endParaRPr lang="ru-RU" sz="800" b="1" dirty="0"/>
          </a:p>
        </p:txBody>
      </p:sp>
      <p:sp>
        <p:nvSpPr>
          <p:cNvPr id="12" name="Text 9"/>
          <p:cNvSpPr/>
          <p:nvPr/>
        </p:nvSpPr>
        <p:spPr>
          <a:xfrm>
            <a:off x="528638" y="1418531"/>
            <a:ext cx="2466938" cy="575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ru-RU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Сложность создания продуктов для </a:t>
            </a:r>
            <a:r>
              <a:rPr lang="ru-RU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других </a:t>
            </a:r>
            <a:r>
              <a:rPr lang="ru-RU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высоко маржинальных каналов. </a:t>
            </a:r>
            <a:endParaRPr lang="ru-RU" sz="800" dirty="0">
              <a:solidFill>
                <a:srgbClr val="555555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>
              <a:lnSpc>
                <a:spcPct val="150000"/>
              </a:lnSpc>
            </a:pPr>
            <a:r>
              <a:rPr lang="ru-RU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Конкурируем только ценой за килограмм.</a:t>
            </a:r>
            <a:endParaRPr lang="en-US" sz="800" dirty="0">
              <a:solidFill>
                <a:srgbClr val="555555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36538" y="2082800"/>
            <a:ext cx="639254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b="1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984" b="1" dirty="0"/>
          </a:p>
        </p:txBody>
      </p:sp>
      <p:sp>
        <p:nvSpPr>
          <p:cNvPr id="14" name="Text 11"/>
          <p:cNvSpPr/>
          <p:nvPr/>
        </p:nvSpPr>
        <p:spPr>
          <a:xfrm>
            <a:off x="639254" y="2129631"/>
            <a:ext cx="178482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ru-RU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Цена за тонну растет медленно</a:t>
            </a:r>
            <a:endParaRPr lang="en-US" sz="800" b="1" dirty="0"/>
          </a:p>
        </p:txBody>
      </p:sp>
      <p:sp>
        <p:nvSpPr>
          <p:cNvPr id="15" name="Text 12"/>
          <p:cNvSpPr/>
          <p:nvPr/>
        </p:nvSpPr>
        <p:spPr>
          <a:xfrm>
            <a:off x="3203538" y="818356"/>
            <a:ext cx="2724113" cy="1528763"/>
          </a:xfrm>
          <a:prstGeom prst="roundRect">
            <a:avLst>
              <a:gd name="adj" fmla="val 8723"/>
            </a:avLst>
          </a:prstGeom>
          <a:solidFill>
            <a:srgbClr val="FFF0E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3338475" y="932656"/>
            <a:ext cx="228600" cy="228600"/>
          </a:xfrm>
          <a:prstGeom prst="roundRect">
            <a:avLst>
              <a:gd name="adj" fmla="val 33333"/>
            </a:avLst>
          </a:prstGeom>
          <a:solidFill>
            <a:srgbClr val="F28C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359549" y="953730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1266" dirty="0"/>
          </a:p>
        </p:txBody>
      </p:sp>
      <p:sp>
        <p:nvSpPr>
          <p:cNvPr id="18" name="Text 15"/>
          <p:cNvSpPr/>
          <p:nvPr/>
        </p:nvSpPr>
        <p:spPr>
          <a:xfrm>
            <a:off x="3624225" y="982663"/>
            <a:ext cx="7320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kern="0" spc="28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МАРКЕТИНГ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3338475" y="1232694"/>
            <a:ext cx="2576666" cy="154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ru-RU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Система</a:t>
            </a:r>
            <a:r>
              <a:rPr lang="en-US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заточена</a:t>
            </a:r>
            <a:r>
              <a:rPr lang="en-US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вокруг продукта</a:t>
            </a:r>
            <a:endParaRPr lang="en-US" sz="800" b="1" dirty="0"/>
          </a:p>
        </p:txBody>
      </p:sp>
      <p:sp>
        <p:nvSpPr>
          <p:cNvPr id="20" name="Text 17"/>
          <p:cNvSpPr/>
          <p:nvPr/>
        </p:nvSpPr>
        <p:spPr>
          <a:xfrm>
            <a:off x="3338475" y="1414859"/>
            <a:ext cx="2466938" cy="6405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Каталог, сайт, </a:t>
            </a:r>
            <a:r>
              <a:rPr lang="ru-RU" sz="800" dirty="0" err="1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POSm</a:t>
            </a:r>
            <a:r>
              <a:rPr lang="ru-RU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ru-RU" sz="800" dirty="0" err="1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выкрасы</a:t>
            </a:r>
            <a:r>
              <a:rPr lang="ru-RU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ru-RU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трейд – маркетинг презентации </a:t>
            </a:r>
            <a:r>
              <a:rPr lang="ru-RU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 большей степени сфокусированы </a:t>
            </a:r>
            <a:r>
              <a:rPr lang="ru-RU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вокруг продукта. 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3071775" y="2070100"/>
            <a:ext cx="639254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b="1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984" b="1" dirty="0"/>
          </a:p>
        </p:txBody>
      </p:sp>
      <p:sp>
        <p:nvSpPr>
          <p:cNvPr id="22" name="Text 19"/>
          <p:cNvSpPr/>
          <p:nvPr/>
        </p:nvSpPr>
        <p:spPr>
          <a:xfrm>
            <a:off x="3487192" y="2110581"/>
            <a:ext cx="178482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ru-RU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Клиенту</a:t>
            </a:r>
            <a:r>
              <a:rPr lang="en-US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тяжело донести ценность</a:t>
            </a:r>
            <a:endParaRPr lang="en-US" sz="800" b="1" dirty="0"/>
          </a:p>
        </p:txBody>
      </p:sp>
      <p:sp>
        <p:nvSpPr>
          <p:cNvPr id="23" name="Text 20"/>
          <p:cNvSpPr/>
          <p:nvPr/>
        </p:nvSpPr>
        <p:spPr>
          <a:xfrm>
            <a:off x="6026869" y="825500"/>
            <a:ext cx="2709937" cy="1514475"/>
          </a:xfrm>
          <a:prstGeom prst="roundRect">
            <a:avLst>
              <a:gd name="adj" fmla="val 8805"/>
            </a:avLst>
          </a:prstGeom>
          <a:solidFill>
            <a:srgbClr val="FFF9F0"/>
          </a:solidFill>
          <a:ln w="14288">
            <a:noFill/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162601" y="946944"/>
            <a:ext cx="228600" cy="228600"/>
          </a:xfrm>
          <a:prstGeom prst="roundRect">
            <a:avLst>
              <a:gd name="adj" fmla="val 33333"/>
            </a:avLst>
          </a:prstGeom>
          <a:solidFill>
            <a:srgbClr val="F28C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6183675" y="968018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$</a:t>
            </a:r>
            <a:endParaRPr lang="en-US" sz="1266" dirty="0"/>
          </a:p>
        </p:txBody>
      </p:sp>
      <p:sp>
        <p:nvSpPr>
          <p:cNvPr id="26" name="Text 23"/>
          <p:cNvSpPr/>
          <p:nvPr/>
        </p:nvSpPr>
        <p:spPr>
          <a:xfrm>
            <a:off x="6448351" y="920750"/>
            <a:ext cx="1644433" cy="248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kern="0" spc="28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ЦЕНОВОЕ ПОЗИЦИОНИРОВАНИЕ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162601" y="1258259"/>
            <a:ext cx="2548202" cy="154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Застряли между экономом и средним</a:t>
            </a:r>
            <a:endParaRPr lang="en-US" sz="800" b="1" dirty="0"/>
          </a:p>
        </p:txBody>
      </p:sp>
      <p:sp>
        <p:nvSpPr>
          <p:cNvPr id="28" name="Text 25"/>
          <p:cNvSpPr/>
          <p:nvPr/>
        </p:nvSpPr>
        <p:spPr>
          <a:xfrm>
            <a:off x="6162601" y="1479947"/>
            <a:ext cx="2438474" cy="463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231 ₽/кг — не самый дешёвый (эконом 206 ₽/кг) и не признанный средний (441 ₽/кг). 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5889551" y="2082635"/>
            <a:ext cx="639254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b="1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984" b="1" dirty="0"/>
          </a:p>
        </p:txBody>
      </p:sp>
      <p:sp>
        <p:nvSpPr>
          <p:cNvPr id="30" name="Text 27"/>
          <p:cNvSpPr/>
          <p:nvPr/>
        </p:nvSpPr>
        <p:spPr>
          <a:xfrm>
            <a:off x="6298617" y="2123116"/>
            <a:ext cx="175635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ru-RU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Этот сегмент падает</a:t>
            </a:r>
            <a:endParaRPr lang="en-US" sz="800" b="1" dirty="0"/>
          </a:p>
        </p:txBody>
      </p:sp>
      <p:sp>
        <p:nvSpPr>
          <p:cNvPr id="31" name="Text 28"/>
          <p:cNvSpPr/>
          <p:nvPr/>
        </p:nvSpPr>
        <p:spPr>
          <a:xfrm>
            <a:off x="400050" y="2498679"/>
            <a:ext cx="2724113" cy="1528763"/>
          </a:xfrm>
          <a:prstGeom prst="roundRect">
            <a:avLst>
              <a:gd name="adj" fmla="val 8723"/>
            </a:avLst>
          </a:prstGeom>
          <a:solidFill>
            <a:srgbClr val="E6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9"/>
          <p:cNvSpPr/>
          <p:nvPr/>
        </p:nvSpPr>
        <p:spPr>
          <a:xfrm>
            <a:off x="528638" y="2612979"/>
            <a:ext cx="228600" cy="228600"/>
          </a:xfrm>
          <a:prstGeom prst="roundRect">
            <a:avLst>
              <a:gd name="adj" fmla="val 33333"/>
            </a:avLst>
          </a:prstGeom>
          <a:solidFill>
            <a:srgbClr val="1565C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549712" y="2634053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266" dirty="0"/>
          </a:p>
        </p:txBody>
      </p:sp>
      <p:sp>
        <p:nvSpPr>
          <p:cNvPr id="34" name="Text 31"/>
          <p:cNvSpPr/>
          <p:nvPr/>
        </p:nvSpPr>
        <p:spPr>
          <a:xfrm>
            <a:off x="814388" y="2662985"/>
            <a:ext cx="10105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kern="0" spc="28" dirty="0">
                <a:solidFill>
                  <a:srgbClr val="1565C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КАНАЛЫ ПРОДАЖ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467222" y="2913016"/>
            <a:ext cx="2576666" cy="154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ru-RU" sz="800" b="1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Ограниченный</a:t>
            </a:r>
            <a:r>
              <a:rPr lang="en-US" sz="800" b="1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доступ</a:t>
            </a:r>
            <a:r>
              <a:rPr lang="en-US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к </a:t>
            </a:r>
            <a:r>
              <a:rPr lang="ru-RU" sz="800" b="1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премиум </a:t>
            </a:r>
            <a:r>
              <a:rPr lang="ru-RU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каналам </a:t>
            </a:r>
            <a:r>
              <a:rPr lang="ru-RU" sz="800" b="1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продаж</a:t>
            </a:r>
            <a:endParaRPr lang="en-US" sz="800" b="1" dirty="0"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474046" y="3115654"/>
            <a:ext cx="2466938" cy="6405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ru-RU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Есть сложности работы</a:t>
            </a:r>
            <a:r>
              <a:rPr lang="en-US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 дистрибьюторами, у которых есть розница, умеющая продавать дорогие продукты.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268288" y="3780375"/>
            <a:ext cx="639254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b="1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984" b="1" dirty="0"/>
          </a:p>
        </p:txBody>
      </p:sp>
      <p:sp>
        <p:nvSpPr>
          <p:cNvPr id="38" name="Text 35"/>
          <p:cNvSpPr/>
          <p:nvPr/>
        </p:nvSpPr>
        <p:spPr>
          <a:xfrm>
            <a:off x="687529" y="3757356"/>
            <a:ext cx="1890571" cy="248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ru-RU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Ограниченный </a:t>
            </a:r>
            <a:r>
              <a:rPr lang="en-US" sz="800" b="1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выход</a:t>
            </a:r>
            <a:r>
              <a:rPr lang="en-US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на</a:t>
            </a:r>
            <a:r>
              <a:rPr lang="en-US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endParaRPr lang="ru-RU" sz="800" b="1" dirty="0" smtClean="0"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844"/>
              </a:lnSpc>
              <a:buNone/>
            </a:pPr>
            <a:r>
              <a:rPr lang="ru-RU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платёжеспособного</a:t>
            </a:r>
            <a:r>
              <a:rPr lang="en-US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клиента</a:t>
            </a:r>
            <a:endParaRPr lang="en-US" sz="800" b="1" dirty="0"/>
          </a:p>
        </p:txBody>
      </p:sp>
      <p:sp>
        <p:nvSpPr>
          <p:cNvPr id="39" name="Text 36"/>
          <p:cNvSpPr/>
          <p:nvPr/>
        </p:nvSpPr>
        <p:spPr>
          <a:xfrm>
            <a:off x="3209888" y="2498679"/>
            <a:ext cx="2724113" cy="1528763"/>
          </a:xfrm>
          <a:prstGeom prst="roundRect">
            <a:avLst>
              <a:gd name="adj" fmla="val 8723"/>
            </a:avLst>
          </a:prstGeom>
          <a:solidFill>
            <a:srgbClr val="F0E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7"/>
          <p:cNvSpPr/>
          <p:nvPr/>
        </p:nvSpPr>
        <p:spPr>
          <a:xfrm>
            <a:off x="3338475" y="2612979"/>
            <a:ext cx="228600" cy="228600"/>
          </a:xfrm>
          <a:prstGeom prst="roundRect">
            <a:avLst>
              <a:gd name="adj" fmla="val 33333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8"/>
          <p:cNvSpPr/>
          <p:nvPr/>
        </p:nvSpPr>
        <p:spPr>
          <a:xfrm>
            <a:off x="3359549" y="2634053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⇄</a:t>
            </a:r>
            <a:endParaRPr lang="en-US" sz="1266" dirty="0"/>
          </a:p>
        </p:txBody>
      </p:sp>
      <p:sp>
        <p:nvSpPr>
          <p:cNvPr id="42" name="Text 39"/>
          <p:cNvSpPr/>
          <p:nvPr/>
        </p:nvSpPr>
        <p:spPr>
          <a:xfrm>
            <a:off x="3624225" y="2662985"/>
            <a:ext cx="87219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kern="0" spc="28" dirty="0">
                <a:solidFill>
                  <a:srgbClr val="7B1FA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3338475" y="2913016"/>
            <a:ext cx="2576666" cy="154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Одинаково для всех сегментов</a:t>
            </a:r>
            <a:endParaRPr lang="en-US" sz="800" b="1" dirty="0"/>
          </a:p>
        </p:txBody>
      </p:sp>
      <p:sp>
        <p:nvSpPr>
          <p:cNvPr id="44" name="Text 41"/>
          <p:cNvSpPr/>
          <p:nvPr/>
        </p:nvSpPr>
        <p:spPr>
          <a:xfrm>
            <a:off x="3338475" y="3095182"/>
            <a:ext cx="2466938" cy="6405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Премиум и </a:t>
            </a:r>
            <a:r>
              <a:rPr lang="en-US" sz="800" dirty="0" err="1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эконом</a:t>
            </a: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продвигаются</a:t>
            </a:r>
            <a:r>
              <a:rPr lang="en-US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одними инструментами. </a:t>
            </a:r>
            <a:r>
              <a:rPr lang="en-US" sz="800" dirty="0" err="1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Нет</a:t>
            </a: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дифференциации</a:t>
            </a:r>
            <a:r>
              <a:rPr lang="ru-RU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и системности</a:t>
            </a:r>
            <a:r>
              <a:rPr lang="en-US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 подходе к </a:t>
            </a:r>
            <a:r>
              <a:rPr lang="ru-RU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 разным каналам.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3063298" y="3782951"/>
            <a:ext cx="639254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b="1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984" b="1" dirty="0"/>
          </a:p>
        </p:txBody>
      </p:sp>
      <p:sp>
        <p:nvSpPr>
          <p:cNvPr id="46" name="Text 43"/>
          <p:cNvSpPr/>
          <p:nvPr/>
        </p:nvSpPr>
        <p:spPr>
          <a:xfrm>
            <a:off x="3487594" y="3807877"/>
            <a:ext cx="1897504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b="1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Премиум не выделяется, не обоснован</a:t>
            </a:r>
            <a:endParaRPr lang="en-US" sz="800" b="1" dirty="0"/>
          </a:p>
        </p:txBody>
      </p:sp>
      <p:sp>
        <p:nvSpPr>
          <p:cNvPr id="47" name="Text 44"/>
          <p:cNvSpPr/>
          <p:nvPr/>
        </p:nvSpPr>
        <p:spPr>
          <a:xfrm>
            <a:off x="6019726" y="2498679"/>
            <a:ext cx="2724224" cy="1528763"/>
          </a:xfrm>
          <a:prstGeom prst="roundRect">
            <a:avLst>
              <a:gd name="adj" fmla="val 8723"/>
            </a:avLst>
          </a:prstGeom>
          <a:solidFill>
            <a:srgbClr val="E3F4E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5"/>
          <p:cNvSpPr/>
          <p:nvPr/>
        </p:nvSpPr>
        <p:spPr>
          <a:xfrm>
            <a:off x="6148313" y="2612979"/>
            <a:ext cx="228600" cy="228600"/>
          </a:xfrm>
          <a:prstGeom prst="roundRect">
            <a:avLst>
              <a:gd name="adj" fmla="val 33333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6"/>
          <p:cNvSpPr/>
          <p:nvPr/>
        </p:nvSpPr>
        <p:spPr>
          <a:xfrm>
            <a:off x="6169387" y="2634053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◆</a:t>
            </a:r>
            <a:endParaRPr lang="en-US" sz="1266" dirty="0"/>
          </a:p>
        </p:txBody>
      </p:sp>
      <p:sp>
        <p:nvSpPr>
          <p:cNvPr id="50" name="Text 47"/>
          <p:cNvSpPr/>
          <p:nvPr/>
        </p:nvSpPr>
        <p:spPr>
          <a:xfrm>
            <a:off x="6434063" y="2662985"/>
            <a:ext cx="67424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kern="0" spc="28" dirty="0">
                <a:solidFill>
                  <a:srgbClr val="2E7D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ЦЕННОСТЬ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6148313" y="2899368"/>
            <a:ext cx="2576777" cy="154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Нет обоснования цены премиум</a:t>
            </a:r>
            <a:endParaRPr lang="en-US" sz="800" b="1" dirty="0"/>
          </a:p>
        </p:txBody>
      </p:sp>
      <p:sp>
        <p:nvSpPr>
          <p:cNvPr id="52" name="Text 49"/>
          <p:cNvSpPr/>
          <p:nvPr/>
        </p:nvSpPr>
        <p:spPr>
          <a:xfrm>
            <a:off x="6148313" y="3095182"/>
            <a:ext cx="2467049" cy="6405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ru-RU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Сложность в создании дополнительной</a:t>
            </a:r>
            <a:r>
              <a:rPr lang="en-US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ценности, расчёты</a:t>
            </a:r>
            <a:r>
              <a:rPr lang="en-US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</a:t>
            </a:r>
            <a:r>
              <a:rPr lang="ru-RU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портфолио, гарантии</a:t>
            </a:r>
            <a:r>
              <a:rPr lang="en-US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результата, сервис, консультации.</a:t>
            </a:r>
            <a:endParaRPr lang="en-US" sz="800" dirty="0"/>
          </a:p>
        </p:txBody>
      </p:sp>
      <p:sp>
        <p:nvSpPr>
          <p:cNvPr id="53" name="Text 50"/>
          <p:cNvSpPr/>
          <p:nvPr/>
        </p:nvSpPr>
        <p:spPr>
          <a:xfrm>
            <a:off x="5894313" y="3772603"/>
            <a:ext cx="639254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b="1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984" b="1" dirty="0"/>
          </a:p>
        </p:txBody>
      </p:sp>
      <p:sp>
        <p:nvSpPr>
          <p:cNvPr id="54" name="Text 51"/>
          <p:cNvSpPr/>
          <p:nvPr/>
        </p:nvSpPr>
        <p:spPr>
          <a:xfrm>
            <a:off x="6360530" y="3808472"/>
            <a:ext cx="2254832" cy="191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ru-RU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Клиент</a:t>
            </a:r>
            <a:r>
              <a:rPr lang="en-US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не</a:t>
            </a:r>
            <a:r>
              <a:rPr lang="en-US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понимает</a:t>
            </a:r>
            <a:r>
              <a:rPr lang="en-US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,</a:t>
            </a:r>
            <a:r>
              <a:rPr lang="ru-RU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за</a:t>
            </a:r>
            <a:r>
              <a:rPr lang="en-US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что</a:t>
            </a:r>
            <a:r>
              <a:rPr lang="en-US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платить</a:t>
            </a:r>
            <a:r>
              <a:rPr lang="en-US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b="1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больше</a:t>
            </a:r>
          </a:p>
        </p:txBody>
      </p:sp>
      <p:pic>
        <p:nvPicPr>
          <p:cNvPr id="5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00" y="4150084"/>
            <a:ext cx="8343900" cy="521494"/>
          </a:xfrm>
          <a:prstGeom prst="rect">
            <a:avLst/>
          </a:prstGeom>
        </p:spPr>
      </p:pic>
      <p:sp>
        <p:nvSpPr>
          <p:cNvPr id="56" name="Text 52"/>
          <p:cNvSpPr/>
          <p:nvPr/>
        </p:nvSpPr>
        <p:spPr>
          <a:xfrm>
            <a:off x="571500" y="4260812"/>
            <a:ext cx="934157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69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969" dirty="0"/>
          </a:p>
        </p:txBody>
      </p:sp>
      <p:sp>
        <p:nvSpPr>
          <p:cNvPr id="57" name="Text 53"/>
          <p:cNvSpPr/>
          <p:nvPr/>
        </p:nvSpPr>
        <p:spPr>
          <a:xfrm>
            <a:off x="1444697" y="4232385"/>
            <a:ext cx="6952543" cy="133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18" charset="0"/>
                <a:ea typeface="Carlito" pitchFamily="34" charset="-122"/>
                <a:cs typeface="Times New Roman" pitchFamily="18" charset="0"/>
              </a:rPr>
              <a:t>Замкнутый круг</a:t>
            </a:r>
            <a:endParaRPr lang="en-US" sz="1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8" name="Text 54"/>
          <p:cNvSpPr/>
          <p:nvPr/>
        </p:nvSpPr>
        <p:spPr>
          <a:xfrm>
            <a:off x="1444697" y="4424097"/>
            <a:ext cx="681849" cy="180023"/>
          </a:xfrm>
          <a:prstGeom prst="roundRect">
            <a:avLst>
              <a:gd name="adj" fmla="val 63492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5"/>
          <p:cNvSpPr/>
          <p:nvPr/>
        </p:nvSpPr>
        <p:spPr>
          <a:xfrm>
            <a:off x="1467557" y="4433741"/>
            <a:ext cx="636129" cy="160734"/>
          </a:xfrm>
          <a:prstGeom prst="rect">
            <a:avLst/>
          </a:prstGeom>
          <a:noFill/>
          <a:ln/>
        </p:spPr>
        <p:txBody>
          <a:bodyPr wrap="none" lIns="71438" tIns="21431" rIns="71438" bIns="21431" rtlCol="0" anchor="ctr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800" dirty="0">
                <a:solidFill>
                  <a:srgbClr val="FFFFFF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Нет ценности</a:t>
            </a:r>
            <a:endParaRPr lang="en-US" sz="800" dirty="0"/>
          </a:p>
        </p:txBody>
      </p:sp>
      <p:sp>
        <p:nvSpPr>
          <p:cNvPr id="60" name="Text 56"/>
          <p:cNvSpPr/>
          <p:nvPr/>
        </p:nvSpPr>
        <p:spPr>
          <a:xfrm>
            <a:off x="2171948" y="4449814"/>
            <a:ext cx="9144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800" dirty="0"/>
          </a:p>
        </p:txBody>
      </p:sp>
      <p:sp>
        <p:nvSpPr>
          <p:cNvPr id="61" name="Text 57"/>
          <p:cNvSpPr/>
          <p:nvPr/>
        </p:nvSpPr>
        <p:spPr>
          <a:xfrm>
            <a:off x="2288788" y="4430447"/>
            <a:ext cx="1142981" cy="180023"/>
          </a:xfrm>
          <a:prstGeom prst="roundRect">
            <a:avLst>
              <a:gd name="adj" fmla="val 63492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Text 58"/>
          <p:cNvSpPr/>
          <p:nvPr/>
        </p:nvSpPr>
        <p:spPr>
          <a:xfrm>
            <a:off x="2350541" y="4434337"/>
            <a:ext cx="981373" cy="160734"/>
          </a:xfrm>
          <a:prstGeom prst="rect">
            <a:avLst/>
          </a:prstGeom>
          <a:noFill/>
          <a:ln/>
        </p:spPr>
        <p:txBody>
          <a:bodyPr wrap="none" lIns="71438" tIns="21431" rIns="71438" bIns="21431" rtlCol="0" anchor="ctr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800" dirty="0">
                <a:solidFill>
                  <a:srgbClr val="FFFFFF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Нет обоснования цены</a:t>
            </a:r>
            <a:endParaRPr lang="en-US" sz="800" dirty="0"/>
          </a:p>
        </p:txBody>
      </p:sp>
      <p:sp>
        <p:nvSpPr>
          <p:cNvPr id="63" name="Text 59"/>
          <p:cNvSpPr/>
          <p:nvPr/>
        </p:nvSpPr>
        <p:spPr>
          <a:xfrm>
            <a:off x="3439071" y="4456164"/>
            <a:ext cx="9144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800" dirty="0"/>
          </a:p>
        </p:txBody>
      </p:sp>
      <p:sp>
        <p:nvSpPr>
          <p:cNvPr id="64" name="Text 60"/>
          <p:cNvSpPr/>
          <p:nvPr/>
        </p:nvSpPr>
        <p:spPr>
          <a:xfrm>
            <a:off x="3557498" y="4430447"/>
            <a:ext cx="643451" cy="180023"/>
          </a:xfrm>
          <a:prstGeom prst="roundRect">
            <a:avLst>
              <a:gd name="adj" fmla="val 63492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61"/>
          <p:cNvSpPr/>
          <p:nvPr/>
        </p:nvSpPr>
        <p:spPr>
          <a:xfrm>
            <a:off x="3580358" y="4440091"/>
            <a:ext cx="597731" cy="160734"/>
          </a:xfrm>
          <a:prstGeom prst="rect">
            <a:avLst/>
          </a:prstGeom>
          <a:noFill/>
          <a:ln/>
        </p:spPr>
        <p:txBody>
          <a:bodyPr wrap="none" lIns="71438" tIns="21431" rIns="71438" bIns="21431" rtlCol="0" anchor="ctr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800" dirty="0">
                <a:solidFill>
                  <a:srgbClr val="FFFFFF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Нет каналов</a:t>
            </a:r>
            <a:endParaRPr lang="en-US" sz="800" dirty="0"/>
          </a:p>
        </p:txBody>
      </p:sp>
      <p:sp>
        <p:nvSpPr>
          <p:cNvPr id="66" name="Text 62"/>
          <p:cNvSpPr/>
          <p:nvPr/>
        </p:nvSpPr>
        <p:spPr>
          <a:xfrm>
            <a:off x="4201902" y="4456164"/>
            <a:ext cx="9144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800" dirty="0"/>
          </a:p>
        </p:txBody>
      </p:sp>
      <p:sp>
        <p:nvSpPr>
          <p:cNvPr id="67" name="Text 63"/>
          <p:cNvSpPr/>
          <p:nvPr/>
        </p:nvSpPr>
        <p:spPr>
          <a:xfrm>
            <a:off x="4326782" y="4430447"/>
            <a:ext cx="614447" cy="180023"/>
          </a:xfrm>
          <a:prstGeom prst="roundRect">
            <a:avLst>
              <a:gd name="adj" fmla="val 63492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8" name="Text 64"/>
          <p:cNvSpPr/>
          <p:nvPr/>
        </p:nvSpPr>
        <p:spPr>
          <a:xfrm>
            <a:off x="4349539" y="4440091"/>
            <a:ext cx="568933" cy="160734"/>
          </a:xfrm>
          <a:prstGeom prst="rect">
            <a:avLst/>
          </a:prstGeom>
          <a:noFill/>
          <a:ln/>
        </p:spPr>
        <p:txBody>
          <a:bodyPr wrap="none" lIns="71438" tIns="21431" rIns="71438" bIns="21431" rtlCol="0" anchor="ctr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800" dirty="0">
                <a:solidFill>
                  <a:srgbClr val="FFFFFF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Нет продаж</a:t>
            </a:r>
            <a:endParaRPr lang="en-US" sz="800" dirty="0"/>
          </a:p>
        </p:txBody>
      </p:sp>
      <p:sp>
        <p:nvSpPr>
          <p:cNvPr id="69" name="Text 65"/>
          <p:cNvSpPr/>
          <p:nvPr/>
        </p:nvSpPr>
        <p:spPr>
          <a:xfrm>
            <a:off x="4961334" y="4456164"/>
            <a:ext cx="9144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800" dirty="0"/>
          </a:p>
        </p:txBody>
      </p:sp>
      <p:sp>
        <p:nvSpPr>
          <p:cNvPr id="70" name="Text 66"/>
          <p:cNvSpPr/>
          <p:nvPr/>
        </p:nvSpPr>
        <p:spPr>
          <a:xfrm>
            <a:off x="5093467" y="4429375"/>
            <a:ext cx="2343234" cy="180023"/>
          </a:xfrm>
          <a:prstGeom prst="roundRect">
            <a:avLst>
              <a:gd name="adj" fmla="val 63492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67"/>
          <p:cNvSpPr/>
          <p:nvPr/>
        </p:nvSpPr>
        <p:spPr>
          <a:xfrm>
            <a:off x="5093827" y="4452791"/>
            <a:ext cx="2056089" cy="160734"/>
          </a:xfrm>
          <a:prstGeom prst="rect">
            <a:avLst/>
          </a:prstGeom>
          <a:noFill/>
          <a:ln/>
        </p:spPr>
        <p:txBody>
          <a:bodyPr wrap="none" lIns="71438" tIns="21431" rIns="71438" bIns="21431" rtlCol="0" anchor="ctr"/>
          <a:lstStyle/>
          <a:p>
            <a:pPr marL="0" indent="0" algn="ctr">
              <a:lnSpc>
                <a:spcPts val="928"/>
              </a:lnSpc>
              <a:buNone/>
            </a:pPr>
            <a:r>
              <a:rPr lang="ru-RU" sz="800" dirty="0" smtClean="0">
                <a:solidFill>
                  <a:srgbClr val="FFFFFF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Нет</a:t>
            </a:r>
            <a:r>
              <a:rPr lang="en-US" sz="800" dirty="0" smtClean="0">
                <a:solidFill>
                  <a:srgbClr val="FFFFFF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dirty="0" smtClean="0">
                <a:solidFill>
                  <a:srgbClr val="FFFFFF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прибыли </a:t>
            </a:r>
            <a:r>
              <a:rPr lang="en-US" sz="800" dirty="0" err="1" smtClean="0">
                <a:solidFill>
                  <a:srgbClr val="FFFFFF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на</a:t>
            </a:r>
            <a:r>
              <a:rPr lang="en-US" sz="800" dirty="0" smtClean="0">
                <a:solidFill>
                  <a:srgbClr val="FFFFFF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dirty="0" smtClean="0">
                <a:solidFill>
                  <a:srgbClr val="FFFFFF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 ценностей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539728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46484" y="721606"/>
            <a:ext cx="0" cy="1071563"/>
          </a:xfrm>
          <a:prstGeom prst="line">
            <a:avLst/>
          </a:prstGeom>
          <a:noFill/>
          <a:ln w="35719">
            <a:solidFill>
              <a:srgbClr val="F28C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6484" y="1819174"/>
            <a:ext cx="0" cy="1071563"/>
          </a:xfrm>
          <a:prstGeom prst="line">
            <a:avLst/>
          </a:prstGeom>
          <a:noFill/>
          <a:ln w="35719">
            <a:solidFill>
              <a:srgbClr val="5B8D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8625" y="241300"/>
            <a:ext cx="8286750" cy="24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13"/>
              </a:lnSpc>
              <a:buNone/>
            </a:pPr>
            <a:r>
              <a:rPr lang="en-US" sz="1395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Рыночная возможность: премиум — больше выручки, меньше объёма</a:t>
            </a:r>
            <a:endParaRPr lang="en-US" sz="1395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543012"/>
            <a:ext cx="457200" cy="35719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" y="721606"/>
            <a:ext cx="4649912" cy="107156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506" y="762263"/>
            <a:ext cx="1056605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69" dirty="0">
                <a:solidFill>
                  <a:srgbClr val="F28C3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1969" dirty="0"/>
          </a:p>
        </p:txBody>
      </p:sp>
      <p:sp>
        <p:nvSpPr>
          <p:cNvPr id="11" name="Text 7"/>
          <p:cNvSpPr/>
          <p:nvPr/>
        </p:nvSpPr>
        <p:spPr>
          <a:xfrm>
            <a:off x="1749549" y="822315"/>
            <a:ext cx="3171825" cy="194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945" b="1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ПРЕМИУМ</a:t>
            </a:r>
            <a:endParaRPr lang="en-US" sz="945" dirty="0"/>
          </a:p>
        </p:txBody>
      </p:sp>
      <p:sp>
        <p:nvSpPr>
          <p:cNvPr id="12" name="Text 8"/>
          <p:cNvSpPr/>
          <p:nvPr/>
        </p:nvSpPr>
        <p:spPr>
          <a:xfrm>
            <a:off x="621506" y="1119451"/>
            <a:ext cx="396478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9%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912168" y="1205176"/>
            <a:ext cx="464915" cy="164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 тоннах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1346820" y="1169457"/>
            <a:ext cx="125685" cy="1885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90" b="1" dirty="0">
                <a:solidFill>
                  <a:srgbClr val="7A7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990" dirty="0"/>
          </a:p>
        </p:txBody>
      </p:sp>
      <p:sp>
        <p:nvSpPr>
          <p:cNvPr id="15" name="Text 11"/>
          <p:cNvSpPr/>
          <p:nvPr/>
        </p:nvSpPr>
        <p:spPr>
          <a:xfrm>
            <a:off x="1543943" y="1119451"/>
            <a:ext cx="549176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F28C3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21%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1930040" y="1205176"/>
            <a:ext cx="2991334" cy="164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 рублях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621506" y="1448063"/>
            <a:ext cx="1894214" cy="123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3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Средняя цена </a:t>
            </a: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813 руб/кг</a:t>
            </a: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· </a:t>
            </a:r>
            <a:endParaRPr lang="en-US" sz="8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25" y="1883656"/>
            <a:ext cx="4649912" cy="1071563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21506" y="1947761"/>
            <a:ext cx="700757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69" dirty="0">
                <a:solidFill>
                  <a:srgbClr val="5B8DB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⚖</a:t>
            </a:r>
            <a:endParaRPr lang="en-US" sz="1969" dirty="0"/>
          </a:p>
        </p:txBody>
      </p:sp>
      <p:sp>
        <p:nvSpPr>
          <p:cNvPr id="29" name="Text 23"/>
          <p:cNvSpPr/>
          <p:nvPr/>
        </p:nvSpPr>
        <p:spPr>
          <a:xfrm>
            <a:off x="1393701" y="2007813"/>
            <a:ext cx="3527673" cy="194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945" b="1" dirty="0">
                <a:solidFill>
                  <a:srgbClr val="5B8D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СРЕДНИЙ</a:t>
            </a:r>
            <a:endParaRPr lang="en-US" sz="945" dirty="0"/>
          </a:p>
        </p:txBody>
      </p:sp>
      <p:sp>
        <p:nvSpPr>
          <p:cNvPr id="30" name="Text 24"/>
          <p:cNvSpPr/>
          <p:nvPr/>
        </p:nvSpPr>
        <p:spPr>
          <a:xfrm>
            <a:off x="621506" y="2304949"/>
            <a:ext cx="549176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44%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1007604" y="2390674"/>
            <a:ext cx="464915" cy="164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 тоннах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1442256" y="2354955"/>
            <a:ext cx="125685" cy="1885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90" b="1" dirty="0">
                <a:solidFill>
                  <a:srgbClr val="7A7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990" dirty="0"/>
          </a:p>
        </p:txBody>
      </p:sp>
      <p:sp>
        <p:nvSpPr>
          <p:cNvPr id="33" name="Text 27"/>
          <p:cNvSpPr/>
          <p:nvPr/>
        </p:nvSpPr>
        <p:spPr>
          <a:xfrm>
            <a:off x="1639379" y="2304949"/>
            <a:ext cx="549176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5B8D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52%</a:t>
            </a:r>
            <a:endParaRPr lang="en-US" sz="1350" dirty="0"/>
          </a:p>
        </p:txBody>
      </p:sp>
      <p:sp>
        <p:nvSpPr>
          <p:cNvPr id="34" name="Text 28"/>
          <p:cNvSpPr/>
          <p:nvPr/>
        </p:nvSpPr>
        <p:spPr>
          <a:xfrm>
            <a:off x="2025476" y="2390674"/>
            <a:ext cx="2895898" cy="164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 рублях</a:t>
            </a:r>
            <a:endParaRPr lang="en-US" sz="800" dirty="0"/>
          </a:p>
        </p:txBody>
      </p:sp>
      <p:sp>
        <p:nvSpPr>
          <p:cNvPr id="35" name="Text 29"/>
          <p:cNvSpPr/>
          <p:nvPr/>
        </p:nvSpPr>
        <p:spPr>
          <a:xfrm>
            <a:off x="621506" y="2633561"/>
            <a:ext cx="2288657" cy="123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3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Средняя цена </a:t>
            </a: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441 руб/кг</a:t>
            </a: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· Крупнейший по выручке</a:t>
            </a:r>
            <a:endParaRPr lang="en-US" sz="800" dirty="0"/>
          </a:p>
        </p:txBody>
      </p:sp>
      <p:sp>
        <p:nvSpPr>
          <p:cNvPr id="36" name="Text 30"/>
          <p:cNvSpPr/>
          <p:nvPr/>
        </p:nvSpPr>
        <p:spPr>
          <a:xfrm>
            <a:off x="435769" y="4243474"/>
            <a:ext cx="4635624" cy="528638"/>
          </a:xfrm>
          <a:prstGeom prst="roundRect">
            <a:avLst>
              <a:gd name="adj" fmla="val 21622"/>
            </a:avLst>
          </a:prstGeom>
          <a:solidFill>
            <a:srgbClr val="FFF9F0"/>
          </a:solidFill>
          <a:ln w="14288">
            <a:solidFill>
              <a:srgbClr val="F28C3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1"/>
          <p:cNvSpPr/>
          <p:nvPr/>
        </p:nvSpPr>
        <p:spPr>
          <a:xfrm>
            <a:off x="571500" y="4315706"/>
            <a:ext cx="638696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F28C3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◆</a:t>
            </a:r>
            <a:endParaRPr lang="en-US" sz="1688" dirty="0"/>
          </a:p>
        </p:txBody>
      </p:sp>
      <p:sp>
        <p:nvSpPr>
          <p:cNvPr id="38" name="Text 32"/>
          <p:cNvSpPr/>
          <p:nvPr/>
        </p:nvSpPr>
        <p:spPr>
          <a:xfrm>
            <a:off x="1281633" y="4315706"/>
            <a:ext cx="2657663" cy="124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8"/>
              </a:lnSpc>
              <a:buNone/>
            </a:pP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 тонна премиума = 4 тонны эконома по выручке</a:t>
            </a:r>
            <a:endParaRPr lang="en-US" sz="800" dirty="0"/>
          </a:p>
        </p:txBody>
      </p:sp>
      <p:sp>
        <p:nvSpPr>
          <p:cNvPr id="39" name="Text 33"/>
          <p:cNvSpPr/>
          <p:nvPr/>
        </p:nvSpPr>
        <p:spPr>
          <a:xfrm>
            <a:off x="1281633" y="4472868"/>
            <a:ext cx="3016672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При маржинальности 40–50% vs ≤10% — разница по прибыли ещё больше</a:t>
            </a:r>
            <a:endParaRPr lang="en-US" sz="800" dirty="0"/>
          </a:p>
        </p:txBody>
      </p:sp>
      <p:sp>
        <p:nvSpPr>
          <p:cNvPr id="40" name="Text 34"/>
          <p:cNvSpPr/>
          <p:nvPr/>
        </p:nvSpPr>
        <p:spPr>
          <a:xfrm>
            <a:off x="5278562" y="1073435"/>
            <a:ext cx="3436813" cy="2853928"/>
          </a:xfrm>
          <a:prstGeom prst="roundRect">
            <a:avLst>
              <a:gd name="adj" fmla="val 5340"/>
            </a:avLst>
          </a:prstGeom>
          <a:solidFill>
            <a:srgbClr val="FFF9F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5"/>
          <p:cNvSpPr/>
          <p:nvPr/>
        </p:nvSpPr>
        <p:spPr>
          <a:xfrm>
            <a:off x="5478587" y="1244885"/>
            <a:ext cx="3146491" cy="170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42"/>
              </a:lnSpc>
              <a:buNone/>
            </a:pPr>
            <a:r>
              <a:rPr lang="en-US" sz="828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Доля сегмента: тонны vs рубли</a:t>
            </a:r>
            <a:endParaRPr lang="en-US" sz="828" dirty="0"/>
          </a:p>
        </p:txBody>
      </p:sp>
      <p:sp>
        <p:nvSpPr>
          <p:cNvPr id="42" name="Text 36"/>
          <p:cNvSpPr/>
          <p:nvPr/>
        </p:nvSpPr>
        <p:spPr>
          <a:xfrm>
            <a:off x="6442770" y="1557089"/>
            <a:ext cx="100013" cy="100013"/>
          </a:xfrm>
          <a:prstGeom prst="roundRect">
            <a:avLst>
              <a:gd name="adj" fmla="val 28571"/>
            </a:avLst>
          </a:prstGeom>
          <a:solidFill>
            <a:srgbClr val="C4C4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7"/>
          <p:cNvSpPr/>
          <p:nvPr/>
        </p:nvSpPr>
        <p:spPr>
          <a:xfrm>
            <a:off x="6585645" y="1545481"/>
            <a:ext cx="432626" cy="164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72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 тоннах</a:t>
            </a:r>
            <a:endParaRPr lang="en-US" sz="800" dirty="0"/>
          </a:p>
        </p:txBody>
      </p:sp>
      <p:sp>
        <p:nvSpPr>
          <p:cNvPr id="44" name="Text 38"/>
          <p:cNvSpPr/>
          <p:nvPr/>
        </p:nvSpPr>
        <p:spPr>
          <a:xfrm>
            <a:off x="7066508" y="1557089"/>
            <a:ext cx="100013" cy="100013"/>
          </a:xfrm>
          <a:prstGeom prst="roundRect">
            <a:avLst>
              <a:gd name="adj" fmla="val 28571"/>
            </a:avLst>
          </a:prstGeom>
          <a:solidFill>
            <a:srgbClr val="F28C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9"/>
          <p:cNvSpPr/>
          <p:nvPr/>
        </p:nvSpPr>
        <p:spPr>
          <a:xfrm>
            <a:off x="7209383" y="1545481"/>
            <a:ext cx="437483" cy="164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72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 рублях</a:t>
            </a:r>
            <a:endParaRPr lang="en-US" sz="800" dirty="0"/>
          </a:p>
        </p:txBody>
      </p:sp>
      <p:sp>
        <p:nvSpPr>
          <p:cNvPr id="46" name="Text 40"/>
          <p:cNvSpPr/>
          <p:nvPr/>
        </p:nvSpPr>
        <p:spPr>
          <a:xfrm>
            <a:off x="5478587" y="1783122"/>
            <a:ext cx="2576885" cy="1646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7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Премиум</a:t>
            </a:r>
            <a:endParaRPr lang="en-US" sz="800" dirty="0"/>
          </a:p>
        </p:txBody>
      </p:sp>
      <p:sp>
        <p:nvSpPr>
          <p:cNvPr id="47" name="Text 41"/>
          <p:cNvSpPr/>
          <p:nvPr/>
        </p:nvSpPr>
        <p:spPr>
          <a:xfrm>
            <a:off x="8069759" y="1790266"/>
            <a:ext cx="445591" cy="164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3"/>
              </a:lnSpc>
              <a:buNone/>
            </a:pPr>
            <a:r>
              <a:rPr lang="en-US" sz="800" b="1" dirty="0">
                <a:solidFill>
                  <a:srgbClr val="F28C3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9% → 21%</a:t>
            </a:r>
            <a:endParaRPr lang="en-US" sz="800" dirty="0"/>
          </a:p>
        </p:txBody>
      </p:sp>
      <p:sp>
        <p:nvSpPr>
          <p:cNvPr id="48" name="Text 42"/>
          <p:cNvSpPr/>
          <p:nvPr/>
        </p:nvSpPr>
        <p:spPr>
          <a:xfrm>
            <a:off x="5478587" y="1952563"/>
            <a:ext cx="3036763" cy="128588"/>
          </a:xfrm>
          <a:prstGeom prst="roundRect">
            <a:avLst>
              <a:gd name="adj" fmla="val 66666"/>
            </a:avLst>
          </a:prstGeom>
          <a:solidFill>
            <a:srgbClr val="F0EBE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3"/>
          <p:cNvSpPr/>
          <p:nvPr/>
        </p:nvSpPr>
        <p:spPr>
          <a:xfrm>
            <a:off x="5478587" y="1952563"/>
            <a:ext cx="576969" cy="128588"/>
          </a:xfrm>
          <a:prstGeom prst="roundRect">
            <a:avLst>
              <a:gd name="adj" fmla="val 66666"/>
            </a:avLst>
          </a:prstGeom>
          <a:solidFill>
            <a:srgbClr val="D4D4D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4"/>
          <p:cNvSpPr/>
          <p:nvPr/>
        </p:nvSpPr>
        <p:spPr>
          <a:xfrm>
            <a:off x="5478587" y="2109725"/>
            <a:ext cx="3036763" cy="128588"/>
          </a:xfrm>
          <a:prstGeom prst="roundRect">
            <a:avLst>
              <a:gd name="adj" fmla="val 66666"/>
            </a:avLst>
          </a:prstGeom>
          <a:solidFill>
            <a:srgbClr val="F0EBE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8587" y="2109725"/>
            <a:ext cx="1275383" cy="128588"/>
          </a:xfrm>
          <a:prstGeom prst="rect">
            <a:avLst/>
          </a:prstGeom>
        </p:spPr>
      </p:pic>
      <p:sp>
        <p:nvSpPr>
          <p:cNvPr id="52" name="Text 45"/>
          <p:cNvSpPr/>
          <p:nvPr/>
        </p:nvSpPr>
        <p:spPr>
          <a:xfrm>
            <a:off x="5478587" y="2366900"/>
            <a:ext cx="2527325" cy="1646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7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53" name="Text 46"/>
          <p:cNvSpPr/>
          <p:nvPr/>
        </p:nvSpPr>
        <p:spPr>
          <a:xfrm>
            <a:off x="8020199" y="2374044"/>
            <a:ext cx="495151" cy="164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3"/>
              </a:lnSpc>
              <a:buNone/>
            </a:pPr>
            <a:r>
              <a:rPr lang="en-US" sz="800" b="1" dirty="0">
                <a:solidFill>
                  <a:srgbClr val="5B8D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44% → 52%</a:t>
            </a:r>
            <a:endParaRPr lang="en-US" sz="800" dirty="0"/>
          </a:p>
        </p:txBody>
      </p:sp>
      <p:sp>
        <p:nvSpPr>
          <p:cNvPr id="54" name="Text 47"/>
          <p:cNvSpPr/>
          <p:nvPr/>
        </p:nvSpPr>
        <p:spPr>
          <a:xfrm>
            <a:off x="5478587" y="2536341"/>
            <a:ext cx="3036763" cy="128588"/>
          </a:xfrm>
          <a:prstGeom prst="roundRect">
            <a:avLst>
              <a:gd name="adj" fmla="val 66666"/>
            </a:avLst>
          </a:prstGeom>
          <a:solidFill>
            <a:srgbClr val="F0EBE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48"/>
          <p:cNvSpPr/>
          <p:nvPr/>
        </p:nvSpPr>
        <p:spPr>
          <a:xfrm>
            <a:off x="5478587" y="2536341"/>
            <a:ext cx="2672321" cy="128588"/>
          </a:xfrm>
          <a:prstGeom prst="roundRect">
            <a:avLst>
              <a:gd name="adj" fmla="val 66666"/>
            </a:avLst>
          </a:prstGeom>
          <a:solidFill>
            <a:srgbClr val="D4D4D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49"/>
          <p:cNvSpPr/>
          <p:nvPr/>
        </p:nvSpPr>
        <p:spPr>
          <a:xfrm>
            <a:off x="5478587" y="2693504"/>
            <a:ext cx="3036763" cy="128588"/>
          </a:xfrm>
          <a:prstGeom prst="roundRect">
            <a:avLst>
              <a:gd name="adj" fmla="val 66666"/>
            </a:avLst>
          </a:prstGeom>
          <a:solidFill>
            <a:srgbClr val="F0EBE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50"/>
          <p:cNvSpPr/>
          <p:nvPr/>
        </p:nvSpPr>
        <p:spPr>
          <a:xfrm>
            <a:off x="5478587" y="2693504"/>
            <a:ext cx="3036763" cy="128588"/>
          </a:xfrm>
          <a:prstGeom prst="roundRect">
            <a:avLst>
              <a:gd name="adj" fmla="val 66666"/>
            </a:avLst>
          </a:prstGeom>
          <a:solidFill>
            <a:srgbClr val="5B8DB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51"/>
          <p:cNvSpPr/>
          <p:nvPr/>
        </p:nvSpPr>
        <p:spPr>
          <a:xfrm>
            <a:off x="5478587" y="2950679"/>
            <a:ext cx="2527325" cy="1646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7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Эконом</a:t>
            </a:r>
            <a:endParaRPr lang="en-US" sz="800" dirty="0"/>
          </a:p>
        </p:txBody>
      </p:sp>
      <p:sp>
        <p:nvSpPr>
          <p:cNvPr id="59" name="Text 52"/>
          <p:cNvSpPr/>
          <p:nvPr/>
        </p:nvSpPr>
        <p:spPr>
          <a:xfrm>
            <a:off x="8020199" y="2957823"/>
            <a:ext cx="495151" cy="164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3"/>
              </a:lnSpc>
              <a:buNone/>
            </a:pPr>
            <a:r>
              <a:rPr lang="en-US" sz="800" b="1" dirty="0">
                <a:solidFill>
                  <a:srgbClr val="DC5C5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47% → 27%</a:t>
            </a:r>
            <a:endParaRPr lang="en-US" sz="800" dirty="0"/>
          </a:p>
        </p:txBody>
      </p:sp>
      <p:sp>
        <p:nvSpPr>
          <p:cNvPr id="60" name="Text 53"/>
          <p:cNvSpPr/>
          <p:nvPr/>
        </p:nvSpPr>
        <p:spPr>
          <a:xfrm>
            <a:off x="5478587" y="3120120"/>
            <a:ext cx="3036763" cy="128588"/>
          </a:xfrm>
          <a:prstGeom prst="roundRect">
            <a:avLst>
              <a:gd name="adj" fmla="val 66666"/>
            </a:avLst>
          </a:prstGeom>
          <a:solidFill>
            <a:srgbClr val="F0EBE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 54"/>
          <p:cNvSpPr/>
          <p:nvPr/>
        </p:nvSpPr>
        <p:spPr>
          <a:xfrm>
            <a:off x="5478587" y="3120120"/>
            <a:ext cx="2854486" cy="128588"/>
          </a:xfrm>
          <a:prstGeom prst="roundRect">
            <a:avLst>
              <a:gd name="adj" fmla="val 66666"/>
            </a:avLst>
          </a:prstGeom>
          <a:solidFill>
            <a:srgbClr val="D4D4D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Text 55"/>
          <p:cNvSpPr/>
          <p:nvPr/>
        </p:nvSpPr>
        <p:spPr>
          <a:xfrm>
            <a:off x="5478587" y="3277282"/>
            <a:ext cx="3036763" cy="128588"/>
          </a:xfrm>
          <a:prstGeom prst="roundRect">
            <a:avLst>
              <a:gd name="adj" fmla="val 66666"/>
            </a:avLst>
          </a:prstGeom>
          <a:solidFill>
            <a:srgbClr val="F0EBE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56"/>
          <p:cNvSpPr/>
          <p:nvPr/>
        </p:nvSpPr>
        <p:spPr>
          <a:xfrm>
            <a:off x="5478587" y="3277282"/>
            <a:ext cx="1639825" cy="128588"/>
          </a:xfrm>
          <a:prstGeom prst="roundRect">
            <a:avLst>
              <a:gd name="adj" fmla="val 66666"/>
            </a:avLst>
          </a:prstGeom>
          <a:solidFill>
            <a:srgbClr val="DC5C5C">
              <a:alpha val="7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4" name="Text 57"/>
          <p:cNvSpPr/>
          <p:nvPr/>
        </p:nvSpPr>
        <p:spPr>
          <a:xfrm>
            <a:off x="5478587" y="3505882"/>
            <a:ext cx="3036763" cy="7144"/>
          </a:xfrm>
          <a:prstGeom prst="rect">
            <a:avLst/>
          </a:prstGeom>
          <a:solidFill>
            <a:srgbClr val="E8DDD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58"/>
          <p:cNvSpPr/>
          <p:nvPr/>
        </p:nvSpPr>
        <p:spPr>
          <a:xfrm>
            <a:off x="5674767" y="3620182"/>
            <a:ext cx="2644402" cy="125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07"/>
              </a:lnSpc>
              <a:buNone/>
            </a:pPr>
            <a:r>
              <a:rPr lang="en-US" sz="800" b="1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Премиум в 2.2× эффективнее по выручке на 1 тонну</a:t>
            </a:r>
            <a:endParaRPr lang="en-US" sz="800" dirty="0"/>
          </a:p>
        </p:txBody>
      </p:sp>
      <p:sp>
        <p:nvSpPr>
          <p:cNvPr id="66" name="Text 59"/>
          <p:cNvSpPr/>
          <p:nvPr/>
        </p:nvSpPr>
        <p:spPr>
          <a:xfrm>
            <a:off x="5914020" y="4055951"/>
            <a:ext cx="2801355" cy="1160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877"/>
              </a:lnSpc>
              <a:buNone/>
            </a:pPr>
            <a:r>
              <a:rPr lang="en-US" sz="800" i="1" dirty="0">
                <a:solidFill>
                  <a:srgbClr val="AAAAA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Источник: ФС «Лемана ПРО», Q2 2025, расчёт по ценовым сегментам ВД+ОР</a:t>
            </a:r>
            <a:endParaRPr lang="en-US" sz="800" dirty="0"/>
          </a:p>
        </p:txBody>
      </p:sp>
      <p:sp>
        <p:nvSpPr>
          <p:cNvPr id="67" name="Text 60"/>
          <p:cNvSpPr/>
          <p:nvPr/>
        </p:nvSpPr>
        <p:spPr>
          <a:xfrm>
            <a:off x="428625" y="4599657"/>
            <a:ext cx="8286750" cy="137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25000" lnSpcReduction="20000"/>
          </a:bodyPr>
          <a:lstStyle/>
          <a:p>
            <a:pPr marL="0" indent="0" algn="ctr">
              <a:lnSpc>
                <a:spcPts val="1188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Премиум даёт почти столько же выручки, сколько эконом — но в 5 раз меньше объёма</a:t>
            </a:r>
            <a:endParaRPr lang="en-US" sz="800" dirty="0"/>
          </a:p>
        </p:txBody>
      </p:sp>
      <p:sp>
        <p:nvSpPr>
          <p:cNvPr id="68" name="Text 61"/>
          <p:cNvSpPr/>
          <p:nvPr/>
        </p:nvSpPr>
        <p:spPr>
          <a:xfrm>
            <a:off x="428625" y="4885395"/>
            <a:ext cx="8286750" cy="164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Подтверждено: IndexBox (2026) — «премиум 10–15% объёма, но непропорционально бо́льшая доля выручки»</a:t>
            </a:r>
            <a:endParaRPr lang="en-US" sz="800" dirty="0"/>
          </a:p>
        </p:txBody>
      </p:sp>
      <p:sp>
        <p:nvSpPr>
          <p:cNvPr id="69" name="Shape 3"/>
          <p:cNvSpPr/>
          <p:nvPr/>
        </p:nvSpPr>
        <p:spPr>
          <a:xfrm>
            <a:off x="446484" y="2960463"/>
            <a:ext cx="0" cy="1071563"/>
          </a:xfrm>
          <a:prstGeom prst="line">
            <a:avLst/>
          </a:prstGeom>
          <a:noFill/>
          <a:ln w="35719">
            <a:solidFill>
              <a:srgbClr val="DC5C5C"/>
            </a:solidFill>
            <a:prstDash val="solid"/>
          </a:ln>
        </p:spPr>
      </p:sp>
      <p:pic>
        <p:nvPicPr>
          <p:cNvPr id="70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625" y="3042531"/>
            <a:ext cx="4649912" cy="1071563"/>
          </a:xfrm>
          <a:prstGeom prst="rect">
            <a:avLst/>
          </a:prstGeom>
        </p:spPr>
      </p:pic>
      <p:sp>
        <p:nvSpPr>
          <p:cNvPr id="71" name="Text 14"/>
          <p:cNvSpPr/>
          <p:nvPr/>
        </p:nvSpPr>
        <p:spPr>
          <a:xfrm>
            <a:off x="621506" y="3089050"/>
            <a:ext cx="1312329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69" dirty="0">
                <a:solidFill>
                  <a:srgbClr val="DC5C5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↘</a:t>
            </a:r>
            <a:endParaRPr lang="en-US" sz="1969" dirty="0"/>
          </a:p>
        </p:txBody>
      </p:sp>
      <p:sp>
        <p:nvSpPr>
          <p:cNvPr id="72" name="Text 15"/>
          <p:cNvSpPr/>
          <p:nvPr/>
        </p:nvSpPr>
        <p:spPr>
          <a:xfrm>
            <a:off x="2005273" y="3149102"/>
            <a:ext cx="2916101" cy="194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945" b="1" dirty="0">
                <a:solidFill>
                  <a:srgbClr val="DC5C5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ЭКОНОМ</a:t>
            </a:r>
            <a:endParaRPr lang="en-US" sz="945" dirty="0"/>
          </a:p>
        </p:txBody>
      </p:sp>
      <p:sp>
        <p:nvSpPr>
          <p:cNvPr id="73" name="Text 16"/>
          <p:cNvSpPr/>
          <p:nvPr/>
        </p:nvSpPr>
        <p:spPr>
          <a:xfrm>
            <a:off x="621506" y="3446238"/>
            <a:ext cx="549176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47%</a:t>
            </a:r>
            <a:endParaRPr lang="en-US" sz="1350" dirty="0"/>
          </a:p>
        </p:txBody>
      </p:sp>
      <p:sp>
        <p:nvSpPr>
          <p:cNvPr id="74" name="Text 17"/>
          <p:cNvSpPr/>
          <p:nvPr/>
        </p:nvSpPr>
        <p:spPr>
          <a:xfrm>
            <a:off x="1007604" y="3531963"/>
            <a:ext cx="464915" cy="164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 тоннах</a:t>
            </a:r>
            <a:endParaRPr lang="en-US" sz="800" dirty="0"/>
          </a:p>
        </p:txBody>
      </p:sp>
      <p:sp>
        <p:nvSpPr>
          <p:cNvPr id="75" name="Text 18"/>
          <p:cNvSpPr/>
          <p:nvPr/>
        </p:nvSpPr>
        <p:spPr>
          <a:xfrm>
            <a:off x="1442256" y="3496244"/>
            <a:ext cx="125685" cy="1885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90" b="1" dirty="0">
                <a:solidFill>
                  <a:srgbClr val="7A7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990" dirty="0"/>
          </a:p>
        </p:txBody>
      </p:sp>
      <p:sp>
        <p:nvSpPr>
          <p:cNvPr id="76" name="Text 19"/>
          <p:cNvSpPr/>
          <p:nvPr/>
        </p:nvSpPr>
        <p:spPr>
          <a:xfrm>
            <a:off x="1639379" y="3446238"/>
            <a:ext cx="549176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DC5C5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27%</a:t>
            </a:r>
            <a:endParaRPr lang="en-US" sz="1350" dirty="0"/>
          </a:p>
        </p:txBody>
      </p:sp>
      <p:sp>
        <p:nvSpPr>
          <p:cNvPr id="77" name="Text 20"/>
          <p:cNvSpPr/>
          <p:nvPr/>
        </p:nvSpPr>
        <p:spPr>
          <a:xfrm>
            <a:off x="2025476" y="3531963"/>
            <a:ext cx="2895898" cy="164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 рублях</a:t>
            </a:r>
            <a:endParaRPr lang="en-US" sz="800" dirty="0"/>
          </a:p>
        </p:txBody>
      </p:sp>
      <p:sp>
        <p:nvSpPr>
          <p:cNvPr id="78" name="Text 21"/>
          <p:cNvSpPr/>
          <p:nvPr/>
        </p:nvSpPr>
        <p:spPr>
          <a:xfrm>
            <a:off x="621506" y="3774850"/>
            <a:ext cx="1786442" cy="123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3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Средняя цена </a:t>
            </a: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206 </a:t>
            </a:r>
            <a:r>
              <a:rPr lang="en-US" sz="800" b="1" dirty="0" err="1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руб</a:t>
            </a: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/</a:t>
            </a:r>
            <a:r>
              <a:rPr lang="en-US" sz="800" b="1" dirty="0" err="1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кг</a:t>
            </a: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endParaRPr lang="en-US" sz="800" dirty="0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3549650" y="2859868"/>
            <a:ext cx="920750" cy="2883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231 </a:t>
            </a:r>
            <a:r>
              <a:rPr lang="ru-RU" sz="1200" dirty="0" err="1" smtClean="0"/>
              <a:t>руб</a:t>
            </a:r>
            <a:r>
              <a:rPr lang="ru-RU" sz="1200" dirty="0" smtClean="0"/>
              <a:t>/кг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22703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428625" y="108820"/>
            <a:ext cx="8636000" cy="300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94"/>
              </a:lnSpc>
              <a:buNone/>
            </a:pPr>
            <a:r>
              <a:rPr lang="ru-RU" sz="1463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Где искать </a:t>
            </a:r>
            <a:r>
              <a:rPr lang="ru-RU" sz="1463" b="1" dirty="0" err="1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маржинальность</a:t>
            </a:r>
            <a:r>
              <a:rPr lang="en-US" sz="1463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: </a:t>
            </a:r>
            <a:r>
              <a:rPr lang="en-US" sz="1463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от банки к решению</a:t>
            </a:r>
            <a:endParaRPr lang="en-US" sz="1463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408686"/>
            <a:ext cx="457200" cy="3571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8625" y="499843"/>
            <a:ext cx="3800475" cy="1034256"/>
          </a:xfrm>
          <a:prstGeom prst="roundRect">
            <a:avLst>
              <a:gd name="adj" fmla="val 9481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871074" y="525335"/>
            <a:ext cx="266886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DC5C5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11" name="Text 8"/>
          <p:cNvSpPr/>
          <p:nvPr/>
        </p:nvSpPr>
        <p:spPr>
          <a:xfrm>
            <a:off x="1121586" y="540895"/>
            <a:ext cx="2555342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DC5C5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От ассортимента</a:t>
            </a:r>
            <a:endParaRPr lang="en-US" sz="844" dirty="0"/>
          </a:p>
        </p:txBody>
      </p:sp>
      <p:sp>
        <p:nvSpPr>
          <p:cNvPr id="12" name="Text 9"/>
          <p:cNvSpPr/>
          <p:nvPr/>
        </p:nvSpPr>
        <p:spPr>
          <a:xfrm>
            <a:off x="527268" y="758339"/>
            <a:ext cx="26688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DC5C5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✕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65591" y="744051"/>
            <a:ext cx="3147826" cy="159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«У нас есть краска за 500 руб/л»</a:t>
            </a: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продажа от наличия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27268" y="935049"/>
            <a:ext cx="26688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DC5C5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✕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65591" y="920761"/>
            <a:ext cx="3147826" cy="159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Конкуренция по цене за литр — гонка в никуда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27268" y="1104444"/>
            <a:ext cx="26688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DC5C5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✕</a:t>
            </a:r>
            <a:endParaRPr lang="en-US" sz="1125" dirty="0"/>
          </a:p>
        </p:txBody>
      </p:sp>
      <p:sp>
        <p:nvSpPr>
          <p:cNvPr id="17" name="Text 14"/>
          <p:cNvSpPr/>
          <p:nvPr/>
        </p:nvSpPr>
        <p:spPr>
          <a:xfrm>
            <a:off x="865591" y="1090156"/>
            <a:ext cx="3147826" cy="159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Клиент выбирает сам, часто ошибается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527268" y="1281154"/>
            <a:ext cx="26688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DC5C5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✕</a:t>
            </a:r>
            <a:endParaRPr lang="en-US" sz="1125" dirty="0"/>
          </a:p>
        </p:txBody>
      </p:sp>
      <p:sp>
        <p:nvSpPr>
          <p:cNvPr id="19" name="Text 16"/>
          <p:cNvSpPr/>
          <p:nvPr/>
        </p:nvSpPr>
        <p:spPr>
          <a:xfrm>
            <a:off x="865591" y="1266866"/>
            <a:ext cx="3147826" cy="159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Менеджер — приёмщик заказа, не эксперт</a:t>
            </a:r>
            <a:endParaRPr lang="en-US" sz="80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975" y="745054"/>
            <a:ext cx="400050" cy="40005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426982" y="800061"/>
            <a:ext cx="290036" cy="290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69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969" dirty="0"/>
          </a:p>
        </p:txBody>
      </p:sp>
      <p:sp>
        <p:nvSpPr>
          <p:cNvPr id="22" name="Text 18"/>
          <p:cNvSpPr/>
          <p:nvPr/>
        </p:nvSpPr>
        <p:spPr>
          <a:xfrm>
            <a:off x="4914900" y="499843"/>
            <a:ext cx="3800475" cy="1049911"/>
          </a:xfrm>
          <a:prstGeom prst="roundRect">
            <a:avLst>
              <a:gd name="adj" fmla="val 9481"/>
            </a:avLst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0"/>
          <p:cNvSpPr/>
          <p:nvPr/>
        </p:nvSpPr>
        <p:spPr>
          <a:xfrm>
            <a:off x="5416787" y="627690"/>
            <a:ext cx="88551" cy="511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◯</a:t>
            </a:r>
            <a:endParaRPr lang="en-US" sz="1547" dirty="0"/>
          </a:p>
        </p:txBody>
      </p:sp>
      <p:sp>
        <p:nvSpPr>
          <p:cNvPr id="25" name="Text 21"/>
          <p:cNvSpPr/>
          <p:nvPr/>
        </p:nvSpPr>
        <p:spPr>
          <a:xfrm>
            <a:off x="5598369" y="556410"/>
            <a:ext cx="2642629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2E7D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 проблеме клиента</a:t>
            </a:r>
            <a:endParaRPr lang="en-US" sz="844" dirty="0"/>
          </a:p>
        </p:txBody>
      </p:sp>
      <p:sp>
        <p:nvSpPr>
          <p:cNvPr id="26" name="Text 22"/>
          <p:cNvSpPr/>
          <p:nvPr/>
        </p:nvSpPr>
        <p:spPr>
          <a:xfrm>
            <a:off x="4991598" y="751024"/>
            <a:ext cx="29858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25" dirty="0"/>
          </a:p>
        </p:txBody>
      </p:sp>
      <p:sp>
        <p:nvSpPr>
          <p:cNvPr id="27" name="Text 23"/>
          <p:cNvSpPr/>
          <p:nvPr/>
        </p:nvSpPr>
        <p:spPr>
          <a:xfrm>
            <a:off x="5361621" y="736736"/>
            <a:ext cx="3116126" cy="159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«Вам нужен ремонт в ванной?»</a:t>
            </a: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продажа от задачи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4991598" y="920419"/>
            <a:ext cx="29858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25" dirty="0"/>
          </a:p>
        </p:txBody>
      </p:sp>
      <p:sp>
        <p:nvSpPr>
          <p:cNvPr id="29" name="Text 25"/>
          <p:cNvSpPr/>
          <p:nvPr/>
        </p:nvSpPr>
        <p:spPr>
          <a:xfrm>
            <a:off x="5361620" y="906131"/>
            <a:ext cx="3273289" cy="143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TCO — главный аргумент: дешевле в год, а не дороже в моменте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4991598" y="1080569"/>
            <a:ext cx="29858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25" dirty="0"/>
          </a:p>
        </p:txBody>
      </p:sp>
      <p:sp>
        <p:nvSpPr>
          <p:cNvPr id="31" name="Text 27"/>
          <p:cNvSpPr/>
          <p:nvPr/>
        </p:nvSpPr>
        <p:spPr>
          <a:xfrm>
            <a:off x="5361621" y="1110731"/>
            <a:ext cx="3116126" cy="159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Менеджер подбирает систему, гарантирующую результат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4998913" y="1288469"/>
            <a:ext cx="29858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25" dirty="0"/>
          </a:p>
        </p:txBody>
      </p:sp>
      <p:sp>
        <p:nvSpPr>
          <p:cNvPr id="33" name="Text 29"/>
          <p:cNvSpPr/>
          <p:nvPr/>
        </p:nvSpPr>
        <p:spPr>
          <a:xfrm>
            <a:off x="5368936" y="1281496"/>
            <a:ext cx="3116126" cy="159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Менеджер — эксперт-консультант, а не продавец</a:t>
            </a:r>
            <a:endParaRPr lang="en-US" sz="800" dirty="0"/>
          </a:p>
        </p:txBody>
      </p:sp>
      <p:sp>
        <p:nvSpPr>
          <p:cNvPr id="58" name="Text 54"/>
          <p:cNvSpPr/>
          <p:nvPr/>
        </p:nvSpPr>
        <p:spPr>
          <a:xfrm>
            <a:off x="2401203" y="1581859"/>
            <a:ext cx="4325094" cy="131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kern="0" spc="28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Мы продаём не банку краски. Мы продаём решение проблемы клиента.</a:t>
            </a:r>
            <a:endParaRPr lang="en-US" sz="900" dirty="0"/>
          </a:p>
        </p:txBody>
      </p:sp>
      <p:sp>
        <p:nvSpPr>
          <p:cNvPr id="59" name="Rounded Rectangle 5"/>
          <p:cNvSpPr/>
          <p:nvPr/>
        </p:nvSpPr>
        <p:spPr>
          <a:xfrm>
            <a:off x="315289" y="1771372"/>
            <a:ext cx="4087500" cy="2882702"/>
          </a:xfrm>
          <a:prstGeom prst="roundRect">
            <a:avLst/>
          </a:prstGeom>
          <a:solidFill>
            <a:srgbClr val="FFFFFF"/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60" name="Rounded Rectangle 6"/>
          <p:cNvSpPr/>
          <p:nvPr/>
        </p:nvSpPr>
        <p:spPr>
          <a:xfrm>
            <a:off x="450289" y="1999162"/>
            <a:ext cx="3772500" cy="315000"/>
          </a:xfrm>
          <a:prstGeom prst="roundRect">
            <a:avLst/>
          </a:prstGeom>
          <a:solidFill>
            <a:srgbClr val="E8EFFF"/>
          </a:solidFill>
          <a:ln w="19050">
            <a:solidFill>
              <a:srgbClr val="2D5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35289" y="2000087"/>
            <a:ext cx="3750000" cy="300082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l">
              <a:defRPr sz="1500" b="1">
                <a:solidFill>
                  <a:srgbClr val="2D5FFF"/>
                </a:solidFill>
                <a:latin typeface="Calibri"/>
              </a:defRPr>
            </a:pPr>
            <a:r>
              <a:rPr dirty="0"/>
              <a:t>«</a:t>
            </a:r>
            <a:r>
              <a:rPr dirty="0" err="1"/>
              <a:t>Дай</a:t>
            </a:r>
            <a:r>
              <a:rPr dirty="0"/>
              <a:t> </a:t>
            </a:r>
            <a:r>
              <a:rPr dirty="0" err="1"/>
              <a:t>банку</a:t>
            </a:r>
            <a:r>
              <a:rPr dirty="0"/>
              <a:t>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084" y="2303147"/>
            <a:ext cx="3750000" cy="22313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l">
              <a:defRPr sz="1000" b="0">
                <a:solidFill>
                  <a:srgbClr val="6B7B8D"/>
                </a:solidFill>
                <a:latin typeface="Calibri"/>
              </a:defRPr>
            </a:pPr>
            <a:r>
              <a:rPr sz="1000" dirty="0" err="1">
                <a:solidFill>
                  <a:srgbClr val="6B7B8D"/>
                </a:solidFill>
                <a:latin typeface="Calibri"/>
              </a:rPr>
              <a:t>Массовый</a:t>
            </a:r>
            <a:r>
              <a:rPr sz="1000" dirty="0">
                <a:solidFill>
                  <a:srgbClr val="6B7B8D"/>
                </a:solidFill>
                <a:latin typeface="Calibri"/>
              </a:rPr>
              <a:t> </a:t>
            </a:r>
            <a:r>
              <a:rPr sz="1000" dirty="0" err="1">
                <a:solidFill>
                  <a:srgbClr val="6B7B8D"/>
                </a:solidFill>
                <a:latin typeface="Calibri"/>
              </a:rPr>
              <a:t>клиент</a:t>
            </a:r>
            <a:r>
              <a:rPr sz="1000" dirty="0">
                <a:solidFill>
                  <a:srgbClr val="6B7B8D"/>
                </a:solidFill>
                <a:latin typeface="Calibri"/>
              </a:rPr>
              <a:t> · DIY-</a:t>
            </a:r>
            <a:r>
              <a:rPr sz="1000" dirty="0" err="1">
                <a:solidFill>
                  <a:srgbClr val="6B7B8D"/>
                </a:solidFill>
                <a:latin typeface="Calibri"/>
              </a:rPr>
              <a:t>ритейл</a:t>
            </a:r>
            <a:endParaRPr sz="1000" dirty="0">
              <a:solidFill>
                <a:srgbClr val="6B7B8D"/>
              </a:solidFill>
              <a:latin typeface="Calibri"/>
            </a:endParaRPr>
          </a:p>
        </p:txBody>
      </p:sp>
      <p:sp>
        <p:nvSpPr>
          <p:cNvPr id="63" name="Rounded Rectangle 9"/>
          <p:cNvSpPr/>
          <p:nvPr/>
        </p:nvSpPr>
        <p:spPr>
          <a:xfrm>
            <a:off x="3318989" y="2059162"/>
            <a:ext cx="825000" cy="195000"/>
          </a:xfrm>
          <a:prstGeom prst="roundRect">
            <a:avLst/>
          </a:prstGeom>
          <a:solidFill>
            <a:srgbClr val="2D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356489" y="2015642"/>
            <a:ext cx="750000" cy="284693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dirty="0"/>
              <a:t>75-80%</a:t>
            </a:r>
          </a:p>
        </p:txBody>
      </p:sp>
      <p:sp>
        <p:nvSpPr>
          <p:cNvPr id="65" name="Rounded Rectangle 11"/>
          <p:cNvSpPr/>
          <p:nvPr/>
        </p:nvSpPr>
        <p:spPr>
          <a:xfrm>
            <a:off x="390289" y="2542777"/>
            <a:ext cx="1237500" cy="240000"/>
          </a:xfrm>
          <a:prstGeom prst="roundRect">
            <a:avLst/>
          </a:prstGeom>
          <a:solidFill>
            <a:srgbClr val="F7F8FA"/>
          </a:solidFill>
          <a:ln w="635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50289" y="2514072"/>
            <a:ext cx="1117500" cy="22313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rPr lang="ru-RU" sz="1000" dirty="0" smtClean="0"/>
              <a:t>3</a:t>
            </a:r>
            <a:r>
              <a:rPr sz="1000" dirty="0" smtClean="0"/>
              <a:t>00</a:t>
            </a:r>
            <a:r>
              <a:rPr lang="ru-RU" sz="1000" dirty="0" smtClean="0"/>
              <a:t> </a:t>
            </a:r>
            <a:r>
              <a:rPr sz="1000" dirty="0" smtClean="0"/>
              <a:t>-</a:t>
            </a:r>
            <a:r>
              <a:rPr lang="ru-RU" sz="1000" dirty="0" smtClean="0"/>
              <a:t> </a:t>
            </a:r>
            <a:r>
              <a:rPr sz="1000" dirty="0" smtClean="0"/>
              <a:t>3000 </a:t>
            </a:r>
            <a:r>
              <a:rPr sz="1000" dirty="0" err="1"/>
              <a:t>руб</a:t>
            </a:r>
            <a:endParaRPr sz="1000" dirty="0"/>
          </a:p>
        </p:txBody>
      </p:sp>
      <p:sp>
        <p:nvSpPr>
          <p:cNvPr id="67" name="TextBox 66"/>
          <p:cNvSpPr txBox="1"/>
          <p:nvPr/>
        </p:nvSpPr>
        <p:spPr>
          <a:xfrm>
            <a:off x="450289" y="2780187"/>
            <a:ext cx="1117500" cy="192360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800" b="0">
                <a:solidFill>
                  <a:srgbClr val="6B7B8D"/>
                </a:solidFill>
                <a:latin typeface="Calibri"/>
              </a:defRPr>
            </a:pPr>
            <a:r>
              <a:rPr dirty="0" err="1"/>
              <a:t>Средний</a:t>
            </a:r>
            <a:r>
              <a:rPr dirty="0"/>
              <a:t> </a:t>
            </a:r>
            <a:r>
              <a:rPr dirty="0" err="1"/>
              <a:t>чек</a:t>
            </a:r>
            <a:endParaRPr dirty="0"/>
          </a:p>
        </p:txBody>
      </p:sp>
      <p:sp>
        <p:nvSpPr>
          <p:cNvPr id="68" name="Rounded Rectangle 14"/>
          <p:cNvSpPr/>
          <p:nvPr/>
        </p:nvSpPr>
        <p:spPr>
          <a:xfrm>
            <a:off x="1687789" y="2542777"/>
            <a:ext cx="1237500" cy="240000"/>
          </a:xfrm>
          <a:prstGeom prst="roundRect">
            <a:avLst/>
          </a:prstGeom>
          <a:solidFill>
            <a:srgbClr val="F7F8FA"/>
          </a:solidFill>
          <a:ln w="635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747789" y="2558597"/>
            <a:ext cx="1117500" cy="22313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rPr sz="1000" dirty="0"/>
              <a:t>12-15%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75289" y="2774976"/>
            <a:ext cx="1410000" cy="192360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800" b="0">
                <a:solidFill>
                  <a:srgbClr val="6B7B8D"/>
                </a:solidFill>
                <a:latin typeface="Calibri"/>
              </a:defRPr>
            </a:pPr>
            <a:r>
              <a:rPr dirty="0" err="1"/>
              <a:t>Маржинальность</a:t>
            </a:r>
            <a:r>
              <a:rPr dirty="0"/>
              <a:t> (МД)</a:t>
            </a:r>
          </a:p>
        </p:txBody>
      </p:sp>
      <p:sp>
        <p:nvSpPr>
          <p:cNvPr id="71" name="Rounded Rectangle 17"/>
          <p:cNvSpPr/>
          <p:nvPr/>
        </p:nvSpPr>
        <p:spPr>
          <a:xfrm>
            <a:off x="2985289" y="2542777"/>
            <a:ext cx="1237500" cy="240000"/>
          </a:xfrm>
          <a:prstGeom prst="roundRect">
            <a:avLst/>
          </a:prstGeom>
          <a:solidFill>
            <a:srgbClr val="F7F8FA"/>
          </a:solidFill>
          <a:ln w="635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046769" y="2562813"/>
            <a:ext cx="1117500" cy="22313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rPr sz="1000" b="1" dirty="0">
                <a:solidFill>
                  <a:srgbClr val="1A1A2E"/>
                </a:solidFill>
                <a:latin typeface="Calibri"/>
              </a:rPr>
              <a:t>~40%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45289" y="2780187"/>
            <a:ext cx="1117500" cy="192360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800" b="0">
                <a:solidFill>
                  <a:srgbClr val="6B7B8D"/>
                </a:solidFill>
                <a:latin typeface="Calibri"/>
              </a:defRPr>
            </a:pPr>
            <a:r>
              <a:t>Доля в прибыли</a:t>
            </a:r>
          </a:p>
        </p:txBody>
      </p:sp>
      <p:sp>
        <p:nvSpPr>
          <p:cNvPr id="74" name="Rounded Rectangle 20"/>
          <p:cNvSpPr/>
          <p:nvPr/>
        </p:nvSpPr>
        <p:spPr>
          <a:xfrm>
            <a:off x="390289" y="3004077"/>
            <a:ext cx="1050000" cy="232500"/>
          </a:xfrm>
          <a:prstGeom prst="roundRect">
            <a:avLst/>
          </a:prstGeom>
          <a:solidFill>
            <a:srgbClr val="E8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20289" y="3011947"/>
            <a:ext cx="990000" cy="2077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900" b="1">
                <a:solidFill>
                  <a:srgbClr val="2D5FFF"/>
                </a:solidFill>
                <a:latin typeface="Calibri"/>
              </a:defRPr>
            </a:pPr>
            <a:r>
              <a:rPr dirty="0" err="1"/>
              <a:t>Канал</a:t>
            </a:r>
            <a:endParaRPr dirty="0"/>
          </a:p>
        </p:txBody>
      </p:sp>
      <p:sp>
        <p:nvSpPr>
          <p:cNvPr id="76" name="TextBox 75"/>
          <p:cNvSpPr txBox="1"/>
          <p:nvPr/>
        </p:nvSpPr>
        <p:spPr>
          <a:xfrm>
            <a:off x="1515289" y="3048522"/>
            <a:ext cx="2812500" cy="2077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rPr dirty="0" smtClean="0"/>
              <a:t>DIY-</a:t>
            </a:r>
            <a:r>
              <a:rPr dirty="0" err="1" smtClean="0"/>
              <a:t>ритейл</a:t>
            </a:r>
            <a:r>
              <a:rPr lang="ru-RU" dirty="0" smtClean="0"/>
              <a:t>, РТТ, магазины и т.д.</a:t>
            </a:r>
            <a:r>
              <a:rPr dirty="0" smtClean="0"/>
              <a:t> </a:t>
            </a:r>
            <a:endParaRPr dirty="0"/>
          </a:p>
        </p:txBody>
      </p:sp>
      <p:sp>
        <p:nvSpPr>
          <p:cNvPr id="77" name="Rounded Rectangle 23"/>
          <p:cNvSpPr/>
          <p:nvPr/>
        </p:nvSpPr>
        <p:spPr>
          <a:xfrm>
            <a:off x="390289" y="3266577"/>
            <a:ext cx="1050000" cy="232500"/>
          </a:xfrm>
          <a:prstGeom prst="roundRect">
            <a:avLst/>
          </a:prstGeom>
          <a:solidFill>
            <a:srgbClr val="E8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20289" y="3274447"/>
            <a:ext cx="990000" cy="2077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900" b="1">
                <a:solidFill>
                  <a:srgbClr val="2D5FFF"/>
                </a:solidFill>
                <a:latin typeface="Calibri"/>
              </a:defRPr>
            </a:pPr>
            <a:r>
              <a:rPr dirty="0" err="1"/>
              <a:t>Навигация</a:t>
            </a:r>
            <a:endParaRPr dirty="0"/>
          </a:p>
        </p:txBody>
      </p:sp>
      <p:sp>
        <p:nvSpPr>
          <p:cNvPr id="79" name="TextBox 78"/>
          <p:cNvSpPr txBox="1"/>
          <p:nvPr/>
        </p:nvSpPr>
        <p:spPr>
          <a:xfrm>
            <a:off x="1515289" y="3237872"/>
            <a:ext cx="2812500" cy="3462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полке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типу</a:t>
            </a:r>
            <a:r>
              <a:rPr dirty="0"/>
              <a:t> </a:t>
            </a:r>
            <a:r>
              <a:rPr dirty="0" err="1"/>
              <a:t>поверхности</a:t>
            </a:r>
            <a:r>
              <a:rPr dirty="0"/>
              <a:t> («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стен</a:t>
            </a:r>
            <a:r>
              <a:rPr dirty="0"/>
              <a:t>», «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дерева</a:t>
            </a:r>
            <a:r>
              <a:rPr dirty="0"/>
              <a:t>»)</a:t>
            </a:r>
          </a:p>
        </p:txBody>
      </p:sp>
      <p:sp>
        <p:nvSpPr>
          <p:cNvPr id="80" name="Rounded Rectangle 26"/>
          <p:cNvSpPr/>
          <p:nvPr/>
        </p:nvSpPr>
        <p:spPr>
          <a:xfrm>
            <a:off x="390289" y="3529077"/>
            <a:ext cx="1050000" cy="232500"/>
          </a:xfrm>
          <a:prstGeom prst="roundRect">
            <a:avLst/>
          </a:prstGeom>
          <a:solidFill>
            <a:srgbClr val="E8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420289" y="3544262"/>
            <a:ext cx="990000" cy="2077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900" b="1">
                <a:solidFill>
                  <a:srgbClr val="2D5FFF"/>
                </a:solidFill>
                <a:latin typeface="Calibri"/>
              </a:defRPr>
            </a:pPr>
            <a:r>
              <a:rPr dirty="0" err="1"/>
              <a:t>Продвижение</a:t>
            </a:r>
            <a:endParaRPr dirty="0"/>
          </a:p>
        </p:txBody>
      </p:sp>
      <p:sp>
        <p:nvSpPr>
          <p:cNvPr id="82" name="TextBox 81"/>
          <p:cNvSpPr txBox="1"/>
          <p:nvPr/>
        </p:nvSpPr>
        <p:spPr>
          <a:xfrm>
            <a:off x="1515289" y="3551577"/>
            <a:ext cx="2812500" cy="2077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rPr dirty="0" err="1"/>
              <a:t>Цена</a:t>
            </a:r>
            <a:r>
              <a:rPr dirty="0"/>
              <a:t>, </a:t>
            </a:r>
            <a:r>
              <a:rPr dirty="0" err="1"/>
              <a:t>скидки</a:t>
            </a:r>
            <a:r>
              <a:rPr dirty="0"/>
              <a:t>, </a:t>
            </a:r>
            <a:r>
              <a:rPr dirty="0" err="1"/>
              <a:t>POSm</a:t>
            </a:r>
            <a:r>
              <a:rPr dirty="0"/>
              <a:t>, </a:t>
            </a:r>
            <a:r>
              <a:rPr dirty="0" err="1"/>
              <a:t>полочное</a:t>
            </a:r>
            <a:r>
              <a:rPr dirty="0"/>
              <a:t> </a:t>
            </a:r>
            <a:r>
              <a:rPr dirty="0" err="1"/>
              <a:t>пространство</a:t>
            </a:r>
            <a:endParaRPr dirty="0"/>
          </a:p>
        </p:txBody>
      </p:sp>
      <p:sp>
        <p:nvSpPr>
          <p:cNvPr id="83" name="Rounded Rectangle 29"/>
          <p:cNvSpPr/>
          <p:nvPr/>
        </p:nvSpPr>
        <p:spPr>
          <a:xfrm>
            <a:off x="390289" y="3791577"/>
            <a:ext cx="1050000" cy="232500"/>
          </a:xfrm>
          <a:prstGeom prst="roundRect">
            <a:avLst/>
          </a:prstGeom>
          <a:solidFill>
            <a:srgbClr val="E8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420289" y="3799447"/>
            <a:ext cx="990000" cy="2077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900" b="1">
                <a:solidFill>
                  <a:srgbClr val="2D5FFF"/>
                </a:solidFill>
                <a:latin typeface="Calibri"/>
              </a:defRPr>
            </a:pPr>
            <a:r>
              <a:rPr dirty="0" err="1"/>
              <a:t>Продукт</a:t>
            </a:r>
            <a:endParaRPr dirty="0"/>
          </a:p>
        </p:txBody>
      </p:sp>
      <p:sp>
        <p:nvSpPr>
          <p:cNvPr id="85" name="TextBox 84"/>
          <p:cNvSpPr txBox="1"/>
          <p:nvPr/>
        </p:nvSpPr>
        <p:spPr>
          <a:xfrm>
            <a:off x="1515289" y="3799447"/>
            <a:ext cx="2812500" cy="2077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rPr dirty="0" err="1"/>
              <a:t>Отдельная</a:t>
            </a:r>
            <a:r>
              <a:rPr dirty="0"/>
              <a:t> </a:t>
            </a:r>
            <a:r>
              <a:rPr dirty="0" err="1"/>
              <a:t>банка</a:t>
            </a:r>
            <a:r>
              <a:rPr dirty="0"/>
              <a:t> — </a:t>
            </a:r>
            <a:r>
              <a:rPr dirty="0" err="1"/>
              <a:t>выбирает</a:t>
            </a:r>
            <a:r>
              <a:rPr dirty="0"/>
              <a:t> </a:t>
            </a:r>
            <a:r>
              <a:rPr dirty="0" err="1"/>
              <a:t>клиент</a:t>
            </a:r>
            <a:endParaRPr dirty="0"/>
          </a:p>
        </p:txBody>
      </p:sp>
      <p:sp>
        <p:nvSpPr>
          <p:cNvPr id="86" name="Rounded Rectangle 32"/>
          <p:cNvSpPr/>
          <p:nvPr/>
        </p:nvSpPr>
        <p:spPr>
          <a:xfrm>
            <a:off x="390289" y="4054076"/>
            <a:ext cx="1050000" cy="412639"/>
          </a:xfrm>
          <a:prstGeom prst="roundRect">
            <a:avLst/>
          </a:prstGeom>
          <a:solidFill>
            <a:srgbClr val="E8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420289" y="4069262"/>
            <a:ext cx="990000" cy="3462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900" b="1">
                <a:solidFill>
                  <a:srgbClr val="2D5FFF"/>
                </a:solidFill>
                <a:latin typeface="Calibri"/>
              </a:defRPr>
            </a:pPr>
            <a:r>
              <a:rPr dirty="0" err="1"/>
              <a:t>Критерий</a:t>
            </a:r>
            <a:r>
              <a:rPr dirty="0"/>
              <a:t> </a:t>
            </a:r>
            <a:r>
              <a:rPr dirty="0" err="1"/>
              <a:t>выбора</a:t>
            </a:r>
            <a:endParaRPr dirty="0"/>
          </a:p>
        </p:txBody>
      </p:sp>
      <p:sp>
        <p:nvSpPr>
          <p:cNvPr id="88" name="TextBox 87"/>
          <p:cNvSpPr txBox="1"/>
          <p:nvPr/>
        </p:nvSpPr>
        <p:spPr>
          <a:xfrm>
            <a:off x="1515289" y="4098522"/>
            <a:ext cx="2812500" cy="2077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rPr dirty="0" err="1"/>
              <a:t>Цена</a:t>
            </a:r>
            <a:r>
              <a:rPr dirty="0"/>
              <a:t> и </a:t>
            </a:r>
            <a:r>
              <a:rPr dirty="0" err="1"/>
              <a:t>знакомый</a:t>
            </a:r>
            <a:r>
              <a:rPr dirty="0"/>
              <a:t> </a:t>
            </a:r>
            <a:r>
              <a:rPr dirty="0" err="1"/>
              <a:t>бренд</a:t>
            </a:r>
            <a:endParaRPr dirty="0"/>
          </a:p>
        </p:txBody>
      </p:sp>
      <p:sp>
        <p:nvSpPr>
          <p:cNvPr id="89" name="Rounded Rectangle 35"/>
          <p:cNvSpPr/>
          <p:nvPr/>
        </p:nvSpPr>
        <p:spPr>
          <a:xfrm>
            <a:off x="4468890" y="1747800"/>
            <a:ext cx="4500000" cy="2882702"/>
          </a:xfrm>
          <a:prstGeom prst="roundRect">
            <a:avLst/>
          </a:prstGeom>
          <a:solidFill>
            <a:srgbClr val="FFFFFF"/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90" name="Rounded Rectangle 36"/>
          <p:cNvSpPr/>
          <p:nvPr/>
        </p:nvSpPr>
        <p:spPr>
          <a:xfrm>
            <a:off x="4618890" y="1982905"/>
            <a:ext cx="4173978" cy="315000"/>
          </a:xfrm>
          <a:prstGeom prst="roundRect">
            <a:avLst/>
          </a:prstGeom>
          <a:solidFill>
            <a:srgbClr val="FFF0E8"/>
          </a:solidFill>
          <a:ln w="1905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4689042" y="1976515"/>
            <a:ext cx="3785218" cy="300082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l">
              <a:defRPr sz="1500" b="1">
                <a:solidFill>
                  <a:srgbClr val="FF6B35"/>
                </a:solidFill>
                <a:latin typeface="Calibri"/>
              </a:defRPr>
            </a:pPr>
            <a:r>
              <a:rPr dirty="0"/>
              <a:t>«</a:t>
            </a:r>
            <a:r>
              <a:rPr dirty="0" err="1"/>
              <a:t>Цепочка</a:t>
            </a:r>
            <a:r>
              <a:rPr dirty="0"/>
              <a:t> </a:t>
            </a:r>
            <a:r>
              <a:rPr dirty="0" err="1"/>
              <a:t>решений</a:t>
            </a:r>
            <a:r>
              <a:rPr dirty="0"/>
              <a:t>»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96205" y="2294205"/>
            <a:ext cx="3900000" cy="22313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l">
              <a:defRPr sz="1000" b="0">
                <a:solidFill>
                  <a:srgbClr val="6B7B8D"/>
                </a:solidFill>
                <a:latin typeface="Calibri"/>
              </a:defRPr>
            </a:pPr>
            <a:r>
              <a:rPr dirty="0" err="1"/>
              <a:t>Профессионалы</a:t>
            </a:r>
            <a:r>
              <a:rPr dirty="0"/>
              <a:t> и </a:t>
            </a:r>
            <a:r>
              <a:rPr dirty="0" err="1"/>
              <a:t>осознанные</a:t>
            </a:r>
            <a:r>
              <a:rPr dirty="0"/>
              <a:t> </a:t>
            </a:r>
            <a:r>
              <a:rPr dirty="0" err="1"/>
              <a:t>клиенты</a:t>
            </a:r>
            <a:r>
              <a:rPr dirty="0"/>
              <a:t> · </a:t>
            </a:r>
            <a:r>
              <a:rPr dirty="0" err="1"/>
              <a:t>Новые</a:t>
            </a:r>
            <a:r>
              <a:rPr dirty="0"/>
              <a:t> </a:t>
            </a:r>
            <a:r>
              <a:rPr dirty="0" err="1"/>
              <a:t>каналы</a:t>
            </a:r>
            <a:endParaRPr dirty="0"/>
          </a:p>
        </p:txBody>
      </p:sp>
      <p:sp>
        <p:nvSpPr>
          <p:cNvPr id="93" name="Rounded Rectangle 39"/>
          <p:cNvSpPr/>
          <p:nvPr/>
        </p:nvSpPr>
        <p:spPr>
          <a:xfrm>
            <a:off x="7642770" y="2042905"/>
            <a:ext cx="862500" cy="19500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7680270" y="2006700"/>
            <a:ext cx="787500" cy="284693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dirty="0"/>
              <a:t>20-25%</a:t>
            </a:r>
          </a:p>
        </p:txBody>
      </p:sp>
      <p:sp>
        <p:nvSpPr>
          <p:cNvPr id="95" name="Rounded Rectangle 41"/>
          <p:cNvSpPr/>
          <p:nvPr/>
        </p:nvSpPr>
        <p:spPr>
          <a:xfrm>
            <a:off x="4543890" y="2526520"/>
            <a:ext cx="1237500" cy="240000"/>
          </a:xfrm>
          <a:prstGeom prst="roundRect">
            <a:avLst/>
          </a:prstGeom>
          <a:solidFill>
            <a:srgbClr val="F7F8FA"/>
          </a:solidFill>
          <a:ln w="635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4603890" y="2519760"/>
            <a:ext cx="1237500" cy="22313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rPr lang="ru-RU" sz="1000" dirty="0" smtClean="0"/>
              <a:t>3</a:t>
            </a:r>
            <a:r>
              <a:rPr sz="1000" dirty="0" smtClean="0"/>
              <a:t>500</a:t>
            </a:r>
            <a:r>
              <a:rPr lang="ru-RU" sz="1000" dirty="0" smtClean="0"/>
              <a:t> </a:t>
            </a:r>
            <a:r>
              <a:rPr sz="1000" dirty="0" smtClean="0"/>
              <a:t>-</a:t>
            </a:r>
            <a:r>
              <a:rPr lang="ru-RU" sz="1000" dirty="0" smtClean="0"/>
              <a:t> &gt;</a:t>
            </a:r>
            <a:r>
              <a:rPr lang="en-US" sz="1000" dirty="0" smtClean="0"/>
              <a:t> </a:t>
            </a:r>
            <a:r>
              <a:rPr sz="1000" dirty="0" err="1" smtClean="0"/>
              <a:t>руб</a:t>
            </a:r>
            <a:r>
              <a:rPr lang="ru-RU" sz="1000" dirty="0" smtClean="0"/>
              <a:t>.</a:t>
            </a:r>
            <a:endParaRPr sz="1000" dirty="0"/>
          </a:p>
        </p:txBody>
      </p:sp>
      <p:sp>
        <p:nvSpPr>
          <p:cNvPr id="97" name="TextBox 96"/>
          <p:cNvSpPr txBox="1"/>
          <p:nvPr/>
        </p:nvSpPr>
        <p:spPr>
          <a:xfrm>
            <a:off x="4603890" y="2749300"/>
            <a:ext cx="1117500" cy="192360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800" b="0">
                <a:solidFill>
                  <a:srgbClr val="6B7B8D"/>
                </a:solidFill>
                <a:latin typeface="Calibri"/>
              </a:defRPr>
            </a:pPr>
            <a:r>
              <a:rPr dirty="0" err="1"/>
              <a:t>Средний</a:t>
            </a:r>
            <a:r>
              <a:rPr dirty="0"/>
              <a:t> </a:t>
            </a:r>
            <a:r>
              <a:rPr dirty="0" err="1"/>
              <a:t>чек</a:t>
            </a:r>
            <a:endParaRPr dirty="0"/>
          </a:p>
        </p:txBody>
      </p:sp>
      <p:sp>
        <p:nvSpPr>
          <p:cNvPr id="98" name="Rounded Rectangle 44"/>
          <p:cNvSpPr/>
          <p:nvPr/>
        </p:nvSpPr>
        <p:spPr>
          <a:xfrm>
            <a:off x="5841390" y="2526520"/>
            <a:ext cx="1237500" cy="240000"/>
          </a:xfrm>
          <a:prstGeom prst="roundRect">
            <a:avLst/>
          </a:prstGeom>
          <a:solidFill>
            <a:srgbClr val="F7F8FA"/>
          </a:solidFill>
          <a:ln w="635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850185" y="2518847"/>
            <a:ext cx="1117500" cy="22313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rPr sz="1000" dirty="0"/>
              <a:t>22-42%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872130" y="2741985"/>
            <a:ext cx="1297500" cy="192360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800" b="0">
                <a:solidFill>
                  <a:srgbClr val="6B7B8D"/>
                </a:solidFill>
                <a:latin typeface="Calibri"/>
              </a:defRPr>
            </a:pPr>
            <a:r>
              <a:rPr dirty="0" err="1"/>
              <a:t>Маржинальность</a:t>
            </a:r>
            <a:r>
              <a:rPr dirty="0"/>
              <a:t> (МД)</a:t>
            </a:r>
          </a:p>
        </p:txBody>
      </p:sp>
      <p:sp>
        <p:nvSpPr>
          <p:cNvPr id="101" name="Rounded Rectangle 47"/>
          <p:cNvSpPr/>
          <p:nvPr/>
        </p:nvSpPr>
        <p:spPr>
          <a:xfrm>
            <a:off x="7138890" y="2526520"/>
            <a:ext cx="1237500" cy="240000"/>
          </a:xfrm>
          <a:prstGeom prst="roundRect">
            <a:avLst/>
          </a:prstGeom>
          <a:solidFill>
            <a:srgbClr val="F7F8FA"/>
          </a:solidFill>
          <a:ln w="635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7103795" y="2526520"/>
            <a:ext cx="1117500" cy="22313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1300" b="1">
                <a:solidFill>
                  <a:srgbClr val="00A86B"/>
                </a:solidFill>
                <a:latin typeface="Calibri"/>
              </a:defRPr>
            </a:pPr>
            <a:r>
              <a:rPr sz="1000" dirty="0"/>
              <a:t>~60%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198890" y="2741985"/>
            <a:ext cx="1117500" cy="192360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800" b="0">
                <a:solidFill>
                  <a:srgbClr val="6B7B8D"/>
                </a:solidFill>
                <a:latin typeface="Calibri"/>
              </a:defRPr>
            </a:pPr>
            <a:r>
              <a:rPr dirty="0" err="1"/>
              <a:t>Доля</a:t>
            </a:r>
            <a:r>
              <a:rPr dirty="0"/>
              <a:t> в </a:t>
            </a:r>
            <a:r>
              <a:rPr dirty="0" err="1"/>
              <a:t>прибыли</a:t>
            </a:r>
            <a:endParaRPr dirty="0"/>
          </a:p>
        </p:txBody>
      </p:sp>
      <p:sp>
        <p:nvSpPr>
          <p:cNvPr id="104" name="Rounded Rectangle 50"/>
          <p:cNvSpPr/>
          <p:nvPr/>
        </p:nvSpPr>
        <p:spPr>
          <a:xfrm>
            <a:off x="4543890" y="2973190"/>
            <a:ext cx="1050000" cy="232500"/>
          </a:xfrm>
          <a:prstGeom prst="roundRect">
            <a:avLst/>
          </a:prstGeom>
          <a:solidFill>
            <a:srgbClr val="FF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573890" y="2973745"/>
            <a:ext cx="990000" cy="2077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900" b="1">
                <a:solidFill>
                  <a:srgbClr val="FF6B35"/>
                </a:solidFill>
                <a:latin typeface="Calibri"/>
              </a:defRPr>
            </a:pPr>
            <a:r>
              <a:rPr dirty="0" err="1"/>
              <a:t>Канал</a:t>
            </a:r>
            <a:endParaRPr dirty="0"/>
          </a:p>
        </p:txBody>
      </p:sp>
      <p:sp>
        <p:nvSpPr>
          <p:cNvPr id="106" name="TextBox 105"/>
          <p:cNvSpPr txBox="1"/>
          <p:nvPr/>
        </p:nvSpPr>
        <p:spPr>
          <a:xfrm>
            <a:off x="5668890" y="2995690"/>
            <a:ext cx="2812500" cy="2077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rPr lang="ru-RU" dirty="0" smtClean="0"/>
              <a:t>Спец</a:t>
            </a:r>
            <a:r>
              <a:rPr dirty="0" smtClean="0"/>
              <a:t>. </a:t>
            </a:r>
            <a:r>
              <a:rPr dirty="0" err="1"/>
              <a:t>дилеры</a:t>
            </a:r>
            <a:r>
              <a:rPr dirty="0"/>
              <a:t>, </a:t>
            </a:r>
            <a:r>
              <a:rPr dirty="0" err="1"/>
              <a:t>дизайн-студии</a:t>
            </a:r>
            <a:r>
              <a:rPr dirty="0"/>
              <a:t>, </a:t>
            </a:r>
            <a:r>
              <a:rPr dirty="0" err="1" smtClean="0"/>
              <a:t>строит</a:t>
            </a:r>
            <a:r>
              <a:rPr lang="ru-RU" dirty="0" err="1" smtClean="0"/>
              <a:t>ельные</a:t>
            </a:r>
            <a:r>
              <a:rPr dirty="0" smtClean="0"/>
              <a:t> </a:t>
            </a:r>
            <a:r>
              <a:rPr dirty="0" err="1"/>
              <a:t>бригады</a:t>
            </a:r>
            <a:endParaRPr dirty="0"/>
          </a:p>
        </p:txBody>
      </p:sp>
      <p:sp>
        <p:nvSpPr>
          <p:cNvPr id="107" name="Rounded Rectangle 53"/>
          <p:cNvSpPr/>
          <p:nvPr/>
        </p:nvSpPr>
        <p:spPr>
          <a:xfrm>
            <a:off x="4543890" y="3235690"/>
            <a:ext cx="1050000" cy="232500"/>
          </a:xfrm>
          <a:prstGeom prst="roundRect">
            <a:avLst/>
          </a:prstGeom>
          <a:solidFill>
            <a:srgbClr val="FF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4573890" y="3243560"/>
            <a:ext cx="990000" cy="2077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900" b="1">
                <a:solidFill>
                  <a:srgbClr val="FF6B35"/>
                </a:solidFill>
                <a:latin typeface="Calibri"/>
              </a:defRPr>
            </a:pPr>
            <a:r>
              <a:rPr dirty="0" err="1"/>
              <a:t>Навигация</a:t>
            </a:r>
            <a:endParaRPr dirty="0"/>
          </a:p>
        </p:txBody>
      </p:sp>
      <p:sp>
        <p:nvSpPr>
          <p:cNvPr id="109" name="TextBox 108"/>
          <p:cNvSpPr txBox="1"/>
          <p:nvPr/>
        </p:nvSpPr>
        <p:spPr>
          <a:xfrm>
            <a:off x="5668890" y="3265505"/>
            <a:ext cx="2812500" cy="2077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rPr dirty="0" err="1"/>
              <a:t>Набор-решение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задаче</a:t>
            </a:r>
            <a:r>
              <a:rPr dirty="0"/>
              <a:t> (</a:t>
            </a:r>
            <a:r>
              <a:rPr dirty="0" err="1"/>
              <a:t>чек-лист</a:t>
            </a:r>
            <a:r>
              <a:rPr dirty="0"/>
              <a:t> + </a:t>
            </a:r>
            <a:r>
              <a:rPr dirty="0" err="1"/>
              <a:t>инструкция</a:t>
            </a:r>
            <a:r>
              <a:rPr dirty="0"/>
              <a:t>)</a:t>
            </a:r>
          </a:p>
        </p:txBody>
      </p:sp>
      <p:sp>
        <p:nvSpPr>
          <p:cNvPr id="110" name="Rounded Rectangle 56"/>
          <p:cNvSpPr/>
          <p:nvPr/>
        </p:nvSpPr>
        <p:spPr>
          <a:xfrm>
            <a:off x="4543890" y="3498190"/>
            <a:ext cx="1050000" cy="232500"/>
          </a:xfrm>
          <a:prstGeom prst="roundRect">
            <a:avLst/>
          </a:prstGeom>
          <a:solidFill>
            <a:srgbClr val="FF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4573890" y="3498745"/>
            <a:ext cx="990000" cy="2077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900" b="1">
                <a:solidFill>
                  <a:srgbClr val="FF6B35"/>
                </a:solidFill>
                <a:latin typeface="Calibri"/>
              </a:defRPr>
            </a:pPr>
            <a:r>
              <a:rPr dirty="0" err="1"/>
              <a:t>Продвижение</a:t>
            </a:r>
            <a:endParaRPr dirty="0"/>
          </a:p>
        </p:txBody>
      </p:sp>
      <p:sp>
        <p:nvSpPr>
          <p:cNvPr id="112" name="TextBox 111"/>
          <p:cNvSpPr txBox="1"/>
          <p:nvPr/>
        </p:nvSpPr>
        <p:spPr>
          <a:xfrm>
            <a:off x="5668890" y="3513375"/>
            <a:ext cx="2812500" cy="2077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rPr dirty="0" err="1"/>
              <a:t>Обучение</a:t>
            </a:r>
            <a:r>
              <a:rPr dirty="0"/>
              <a:t>, </a:t>
            </a:r>
            <a:r>
              <a:rPr dirty="0" err="1"/>
              <a:t>видео-гайды</a:t>
            </a:r>
            <a:r>
              <a:rPr dirty="0"/>
              <a:t>, </a:t>
            </a:r>
            <a:r>
              <a:rPr dirty="0" err="1"/>
              <a:t>гарантия</a:t>
            </a:r>
            <a:r>
              <a:rPr dirty="0"/>
              <a:t> </a:t>
            </a:r>
            <a:r>
              <a:rPr dirty="0" err="1"/>
              <a:t>результата</a:t>
            </a:r>
            <a:endParaRPr dirty="0"/>
          </a:p>
        </p:txBody>
      </p:sp>
      <p:sp>
        <p:nvSpPr>
          <p:cNvPr id="113" name="Rounded Rectangle 59"/>
          <p:cNvSpPr/>
          <p:nvPr/>
        </p:nvSpPr>
        <p:spPr>
          <a:xfrm>
            <a:off x="4543890" y="3760690"/>
            <a:ext cx="1050000" cy="232500"/>
          </a:xfrm>
          <a:prstGeom prst="roundRect">
            <a:avLst/>
          </a:prstGeom>
          <a:solidFill>
            <a:srgbClr val="FF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4573890" y="3761245"/>
            <a:ext cx="990000" cy="2077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900" b="1">
                <a:solidFill>
                  <a:srgbClr val="FF6B35"/>
                </a:solidFill>
                <a:latin typeface="Calibri"/>
              </a:defRPr>
            </a:pPr>
            <a:r>
              <a:rPr dirty="0" err="1"/>
              <a:t>Продукт</a:t>
            </a:r>
            <a:endParaRPr dirty="0"/>
          </a:p>
        </p:txBody>
      </p:sp>
      <p:sp>
        <p:nvSpPr>
          <p:cNvPr id="115" name="TextBox 114"/>
          <p:cNvSpPr txBox="1"/>
          <p:nvPr/>
        </p:nvSpPr>
        <p:spPr>
          <a:xfrm>
            <a:off x="5668890" y="3790505"/>
            <a:ext cx="2812500" cy="2077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rPr dirty="0" err="1"/>
              <a:t>Комплект</a:t>
            </a:r>
            <a:r>
              <a:rPr dirty="0"/>
              <a:t> </a:t>
            </a:r>
            <a:r>
              <a:rPr dirty="0" err="1"/>
              <a:t>продуктов</a:t>
            </a:r>
            <a:r>
              <a:rPr dirty="0"/>
              <a:t> + </a:t>
            </a:r>
            <a:r>
              <a:rPr dirty="0" err="1"/>
              <a:t>пошаговая</a:t>
            </a:r>
            <a:r>
              <a:rPr dirty="0"/>
              <a:t> </a:t>
            </a:r>
            <a:r>
              <a:rPr dirty="0" err="1"/>
              <a:t>инструкция</a:t>
            </a:r>
            <a:endParaRPr dirty="0"/>
          </a:p>
        </p:txBody>
      </p:sp>
      <p:sp>
        <p:nvSpPr>
          <p:cNvPr id="116" name="Rounded Rectangle 62"/>
          <p:cNvSpPr/>
          <p:nvPr/>
        </p:nvSpPr>
        <p:spPr>
          <a:xfrm>
            <a:off x="4543890" y="4023190"/>
            <a:ext cx="1050000" cy="405324"/>
          </a:xfrm>
          <a:prstGeom prst="roundRect">
            <a:avLst/>
          </a:prstGeom>
          <a:solidFill>
            <a:srgbClr val="FF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4573890" y="4038375"/>
            <a:ext cx="990000" cy="3462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>
              <a:defRPr sz="900" b="1">
                <a:solidFill>
                  <a:srgbClr val="FF6B35"/>
                </a:solidFill>
                <a:latin typeface="Calibri"/>
              </a:defRPr>
            </a:pPr>
            <a:r>
              <a:rPr dirty="0" err="1"/>
              <a:t>Критерий</a:t>
            </a:r>
            <a:r>
              <a:rPr dirty="0"/>
              <a:t> </a:t>
            </a:r>
            <a:r>
              <a:rPr dirty="0" err="1"/>
              <a:t>выбора</a:t>
            </a:r>
            <a:endParaRPr dirty="0"/>
          </a:p>
        </p:txBody>
      </p:sp>
      <p:sp>
        <p:nvSpPr>
          <p:cNvPr id="118" name="TextBox 117"/>
          <p:cNvSpPr txBox="1"/>
          <p:nvPr/>
        </p:nvSpPr>
        <p:spPr>
          <a:xfrm>
            <a:off x="5668890" y="4118840"/>
            <a:ext cx="2812500" cy="207749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rPr dirty="0" err="1"/>
              <a:t>Результат</a:t>
            </a:r>
            <a:r>
              <a:rPr dirty="0"/>
              <a:t> и </a:t>
            </a:r>
            <a:r>
              <a:rPr dirty="0" err="1"/>
              <a:t>гарантия</a:t>
            </a:r>
            <a:r>
              <a:rPr dirty="0"/>
              <a:t> </a:t>
            </a:r>
            <a:r>
              <a:rPr dirty="0" err="1"/>
              <a:t>качества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62321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322448" y="322756"/>
            <a:ext cx="8286750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9"/>
              </a:lnSpc>
              <a:buNone/>
            </a:pPr>
            <a:r>
              <a:rPr lang="ru-RU" sz="1406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Решения - сгруппированные</a:t>
            </a:r>
            <a:r>
              <a:rPr lang="en-US" sz="1406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1406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технологии: </a:t>
            </a:r>
            <a:r>
              <a:rPr lang="ru-RU" sz="1406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предсказуемость результата и ТСО</a:t>
            </a:r>
            <a:endParaRPr lang="en-US" sz="1406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230" y="639366"/>
            <a:ext cx="457200" cy="3571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13825" y="803672"/>
            <a:ext cx="2571750" cy="1107058"/>
          </a:xfrm>
          <a:prstGeom prst="roundRect">
            <a:avLst>
              <a:gd name="adj" fmla="val 12045"/>
            </a:avLst>
          </a:prstGeom>
          <a:solidFill>
            <a:srgbClr val="FFF9F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1170988" y="849709"/>
            <a:ext cx="2286000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ПОЧЕМУ ЭТО РАБОТАЕТ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70988" y="971947"/>
            <a:ext cx="2286000" cy="88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46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Продавая один продукт, мы конкурируем по цене за литр. Продавая систему из 3-5 продуктов, мы создаём уникальное предложение, которое невозможно сравнить с банкой конкурента. Клиент видит </a:t>
            </a:r>
            <a:r>
              <a:rPr lang="en-US" sz="800" b="1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ценность решения</a:t>
            </a: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 а не цену </a:t>
            </a:r>
            <a:r>
              <a:rPr lang="en-US" sz="800" dirty="0" err="1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отдельного</a:t>
            </a: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dirty="0" smtClean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продукта</a:t>
            </a:r>
            <a:r>
              <a:rPr lang="en-US" sz="800" dirty="0" smtClean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ru-RU" sz="800" dirty="0" smtClean="0">
              <a:solidFill>
                <a:srgbClr val="444444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1046"/>
              </a:lnSpc>
              <a:buNone/>
            </a:pPr>
            <a:r>
              <a:rPr lang="ru-RU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Отстройка от конкурентов.</a:t>
            </a:r>
            <a:endParaRPr lang="en-US" sz="800" dirty="0">
              <a:solidFill>
                <a:srgbClr val="444444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13825" y="2010742"/>
            <a:ext cx="2571750" cy="1504206"/>
          </a:xfrm>
          <a:prstGeom prst="roundRect">
            <a:avLst>
              <a:gd name="adj" fmla="val 8865"/>
            </a:avLst>
          </a:prstGeom>
          <a:solidFill>
            <a:srgbClr val="E3F4E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1062330" y="2067207"/>
            <a:ext cx="434306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1266" dirty="0"/>
          </a:p>
        </p:txBody>
      </p:sp>
      <p:sp>
        <p:nvSpPr>
          <p:cNvPr id="13" name="Text 10"/>
          <p:cNvSpPr/>
          <p:nvPr/>
        </p:nvSpPr>
        <p:spPr>
          <a:xfrm>
            <a:off x="1464675" y="2118342"/>
            <a:ext cx="157809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2E7D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3 ЭФФЕКТА ГРУППИРОВКИ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142413" y="2352101"/>
            <a:ext cx="200025" cy="200025"/>
          </a:xfrm>
          <a:prstGeom prst="roundRect">
            <a:avLst>
              <a:gd name="adj" fmla="val 38095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1216529" y="2382462"/>
            <a:ext cx="12590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413875" y="2352101"/>
            <a:ext cx="1742923" cy="101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Рост среднего чека на 40-60%</a:t>
            </a:r>
          </a:p>
        </p:txBody>
      </p:sp>
      <p:sp>
        <p:nvSpPr>
          <p:cNvPr id="17" name="Text 14"/>
          <p:cNvSpPr/>
          <p:nvPr/>
        </p:nvSpPr>
        <p:spPr>
          <a:xfrm>
            <a:off x="1413875" y="2480689"/>
            <a:ext cx="1742923" cy="153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6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Клиент покупает систему, а не один продукт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42413" y="2712873"/>
            <a:ext cx="200025" cy="200025"/>
          </a:xfrm>
          <a:prstGeom prst="roundRect">
            <a:avLst>
              <a:gd name="adj" fmla="val 38095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1216529" y="2743234"/>
            <a:ext cx="12590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425197" y="2724374"/>
            <a:ext cx="2043113" cy="101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Гарантия результата</a:t>
            </a:r>
          </a:p>
        </p:txBody>
      </p:sp>
      <p:sp>
        <p:nvSpPr>
          <p:cNvPr id="21" name="Text 18"/>
          <p:cNvSpPr/>
          <p:nvPr/>
        </p:nvSpPr>
        <p:spPr>
          <a:xfrm>
            <a:off x="1420225" y="2847810"/>
            <a:ext cx="2043113" cy="307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6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Все компоненты совместимы, работают как единое целое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142413" y="3081991"/>
            <a:ext cx="200025" cy="200025"/>
          </a:xfrm>
          <a:prstGeom prst="roundRect">
            <a:avLst>
              <a:gd name="adj" fmla="val 38095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1216529" y="3112352"/>
            <a:ext cx="12590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413875" y="3107391"/>
            <a:ext cx="2043113" cy="101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Защита от замещения</a:t>
            </a:r>
          </a:p>
        </p:txBody>
      </p:sp>
      <p:sp>
        <p:nvSpPr>
          <p:cNvPr id="25" name="Text 22"/>
          <p:cNvSpPr/>
          <p:nvPr/>
        </p:nvSpPr>
        <p:spPr>
          <a:xfrm>
            <a:off x="1413875" y="3223279"/>
            <a:ext cx="2002259" cy="18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6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Конкурент не может подменить один элемент системы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13825" y="3614961"/>
            <a:ext cx="2571750" cy="957263"/>
          </a:xfrm>
          <a:prstGeom prst="roundRect">
            <a:avLst>
              <a:gd name="adj" fmla="val 13930"/>
            </a:avLst>
          </a:prstGeom>
          <a:solidFill>
            <a:srgbClr val="F0E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1142413" y="3718148"/>
            <a:ext cx="2314575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7B1FA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СИНЕРГИЯ TCO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1142413" y="3878486"/>
            <a:ext cx="2314575" cy="680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Правильный грунт продлевает срок службы краски на 30-50%. Правильная шпатлёвка сокращает расход краски на 20%. </a:t>
            </a:r>
            <a:endParaRPr lang="ru-RU" sz="800" dirty="0" smtClean="0">
              <a:solidFill>
                <a:srgbClr val="444444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1013"/>
              </a:lnSpc>
              <a:buNone/>
            </a:pPr>
            <a:r>
              <a:rPr lang="ru-RU" sz="800" b="1" dirty="0" smtClean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Каждый</a:t>
            </a:r>
            <a:r>
              <a:rPr lang="en-US" sz="800" b="1" dirty="0" smtClean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элемент цепочки усиливает следующий.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4218242" y="829300"/>
            <a:ext cx="238118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Удлинение технологических цепочек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4225870" y="1598333"/>
            <a:ext cx="3397250" cy="578644"/>
          </a:xfrm>
          <a:prstGeom prst="roundRect">
            <a:avLst>
              <a:gd name="adj" fmla="val 19753"/>
            </a:avLst>
          </a:prstGeom>
          <a:solidFill>
            <a:srgbClr val="FDE8E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4340170" y="1698345"/>
            <a:ext cx="3125395" cy="147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DC5C5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КОРОТКАЯ ЦЕПОЧКА 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4325726" y="1861151"/>
            <a:ext cx="389982" cy="228029"/>
          </a:xfrm>
          <a:prstGeom prst="roundRect">
            <a:avLst>
              <a:gd name="adj" fmla="val 25063"/>
            </a:avLst>
          </a:prstGeom>
          <a:solidFill>
            <a:srgbClr val="E0D5C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4340170" y="1873367"/>
            <a:ext cx="361094" cy="203597"/>
          </a:xfrm>
          <a:prstGeom prst="rect">
            <a:avLst/>
          </a:prstGeom>
          <a:noFill/>
          <a:ln/>
        </p:spPr>
        <p:txBody>
          <a:bodyPr wrap="none" lIns="71438" tIns="42863" rIns="71438" bIns="42863" rtlCol="0" anchor="ctr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Грунт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744127" y="1900156"/>
            <a:ext cx="10001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4870629" y="1861151"/>
            <a:ext cx="442060" cy="228029"/>
          </a:xfrm>
          <a:prstGeom prst="roundRect">
            <a:avLst>
              <a:gd name="adj" fmla="val 25063"/>
            </a:avLst>
          </a:prstGeom>
          <a:solidFill>
            <a:srgbClr val="E0D5C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3"/>
          <p:cNvSpPr/>
          <p:nvPr/>
        </p:nvSpPr>
        <p:spPr>
          <a:xfrm>
            <a:off x="4887002" y="1873367"/>
            <a:ext cx="409315" cy="203597"/>
          </a:xfrm>
          <a:prstGeom prst="rect">
            <a:avLst/>
          </a:prstGeom>
          <a:noFill/>
          <a:ln/>
        </p:spPr>
        <p:txBody>
          <a:bodyPr wrap="none" lIns="71438" tIns="42863" rIns="71438" bIns="42863" rtlCol="0" anchor="ctr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Краска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5396329" y="1916229"/>
            <a:ext cx="1959508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2 SKU · </a:t>
            </a:r>
            <a:r>
              <a:rPr lang="en-US" sz="800" dirty="0" err="1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средний</a:t>
            </a: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чек</a:t>
            </a:r>
            <a:r>
              <a:rPr lang="en-US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X2 </a:t>
            </a: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₽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4213170" y="2211901"/>
            <a:ext cx="3409950" cy="739378"/>
          </a:xfrm>
          <a:prstGeom prst="roundRect">
            <a:avLst>
              <a:gd name="adj" fmla="val 15459"/>
            </a:avLst>
          </a:prstGeom>
          <a:solidFill>
            <a:srgbClr val="FFF0E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4327470" y="2311914"/>
            <a:ext cx="3015667" cy="1475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СРЕДНЯЯ ЦЕПОЧКА 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4313026" y="2474720"/>
            <a:ext cx="389982" cy="228029"/>
          </a:xfrm>
          <a:prstGeom prst="roundRect">
            <a:avLst>
              <a:gd name="adj" fmla="val 25063"/>
            </a:avLst>
          </a:prstGeom>
          <a:solidFill>
            <a:srgbClr val="F28C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8"/>
          <p:cNvSpPr/>
          <p:nvPr/>
        </p:nvSpPr>
        <p:spPr>
          <a:xfrm>
            <a:off x="4327470" y="2486936"/>
            <a:ext cx="361094" cy="203597"/>
          </a:xfrm>
          <a:prstGeom prst="rect">
            <a:avLst/>
          </a:prstGeom>
          <a:noFill/>
          <a:ln/>
        </p:spPr>
        <p:txBody>
          <a:bodyPr wrap="none" lIns="71438" tIns="42863" rIns="71438" bIns="42863" rtlCol="0" anchor="ctr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Грунт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4724283" y="2513725"/>
            <a:ext cx="10001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28C3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4837154" y="2474720"/>
            <a:ext cx="621238" cy="228029"/>
          </a:xfrm>
          <a:prstGeom prst="roundRect">
            <a:avLst>
              <a:gd name="adj" fmla="val 25063"/>
            </a:avLst>
          </a:prstGeom>
          <a:solidFill>
            <a:srgbClr val="F28C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1"/>
          <p:cNvSpPr/>
          <p:nvPr/>
        </p:nvSpPr>
        <p:spPr>
          <a:xfrm>
            <a:off x="4860014" y="2486936"/>
            <a:ext cx="575518" cy="203597"/>
          </a:xfrm>
          <a:prstGeom prst="rect">
            <a:avLst/>
          </a:prstGeom>
          <a:noFill/>
          <a:ln/>
        </p:spPr>
        <p:txBody>
          <a:bodyPr wrap="none" lIns="71438" tIns="42863" rIns="71438" bIns="42863" rtlCol="0" anchor="ctr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Шпатлёвка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5471251" y="2513725"/>
            <a:ext cx="10001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28C3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5590610" y="2474720"/>
            <a:ext cx="442060" cy="228029"/>
          </a:xfrm>
          <a:prstGeom prst="roundRect">
            <a:avLst>
              <a:gd name="adj" fmla="val 25063"/>
            </a:avLst>
          </a:prstGeom>
          <a:solidFill>
            <a:srgbClr val="F28C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4"/>
          <p:cNvSpPr/>
          <p:nvPr/>
        </p:nvSpPr>
        <p:spPr>
          <a:xfrm>
            <a:off x="5606983" y="2486936"/>
            <a:ext cx="409315" cy="203597"/>
          </a:xfrm>
          <a:prstGeom prst="rect">
            <a:avLst/>
          </a:prstGeom>
          <a:noFill/>
          <a:ln/>
        </p:spPr>
        <p:txBody>
          <a:bodyPr wrap="none" lIns="71438" tIns="42863" rIns="71438" bIns="42863" rtlCol="0" anchor="ctr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Краска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4327470" y="2733395"/>
            <a:ext cx="3015667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3 SKU · </a:t>
            </a:r>
            <a:r>
              <a:rPr lang="ru-RU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средний</a:t>
            </a:r>
            <a:r>
              <a:rPr lang="en-US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чек</a:t>
            </a:r>
            <a:r>
              <a:rPr lang="en-US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X3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4225870" y="2992554"/>
            <a:ext cx="3397250" cy="714375"/>
          </a:xfrm>
          <a:prstGeom prst="roundRect">
            <a:avLst>
              <a:gd name="adj" fmla="val 16000"/>
            </a:avLst>
          </a:prstGeom>
          <a:solidFill>
            <a:srgbClr val="E3F4E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7"/>
          <p:cNvSpPr/>
          <p:nvPr/>
        </p:nvSpPr>
        <p:spPr>
          <a:xfrm>
            <a:off x="4340170" y="3092567"/>
            <a:ext cx="3125395" cy="147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ДЛИННАЯ ЦЕПОЧКА 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4327664" y="3256873"/>
            <a:ext cx="337663" cy="200025"/>
          </a:xfrm>
          <a:prstGeom prst="roundRect">
            <a:avLst>
              <a:gd name="adj" fmla="val 28571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9"/>
          <p:cNvSpPr/>
          <p:nvPr/>
        </p:nvSpPr>
        <p:spPr>
          <a:xfrm>
            <a:off x="4340170" y="3267589"/>
            <a:ext cx="312651" cy="178594"/>
          </a:xfrm>
          <a:prstGeom prst="rect">
            <a:avLst/>
          </a:prstGeom>
          <a:noFill/>
          <a:ln/>
        </p:spPr>
        <p:txBody>
          <a:bodyPr wrap="none" lIns="57150" tIns="35719" rIns="57150" bIns="35719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Грунт</a:t>
            </a:r>
            <a:endParaRPr lang="en-US" sz="800" dirty="0"/>
          </a:p>
        </p:txBody>
      </p:sp>
      <p:sp>
        <p:nvSpPr>
          <p:cNvPr id="53" name="Text 50"/>
          <p:cNvSpPr/>
          <p:nvPr/>
        </p:nvSpPr>
        <p:spPr>
          <a:xfrm>
            <a:off x="4681396" y="3292592"/>
            <a:ext cx="9144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800" dirty="0"/>
          </a:p>
        </p:txBody>
      </p:sp>
      <p:sp>
        <p:nvSpPr>
          <p:cNvPr id="54" name="Text 51"/>
          <p:cNvSpPr/>
          <p:nvPr/>
        </p:nvSpPr>
        <p:spPr>
          <a:xfrm>
            <a:off x="4775394" y="3256873"/>
            <a:ext cx="548144" cy="200025"/>
          </a:xfrm>
          <a:prstGeom prst="roundRect">
            <a:avLst>
              <a:gd name="adj" fmla="val 28571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2"/>
          <p:cNvSpPr/>
          <p:nvPr/>
        </p:nvSpPr>
        <p:spPr>
          <a:xfrm>
            <a:off x="4795696" y="3267589"/>
            <a:ext cx="507541" cy="178594"/>
          </a:xfrm>
          <a:prstGeom prst="rect">
            <a:avLst/>
          </a:prstGeom>
          <a:noFill/>
          <a:ln/>
        </p:spPr>
        <p:txBody>
          <a:bodyPr wrap="none" lIns="57150" tIns="35719" rIns="57150" bIns="35719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Шпатлёвка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5331812" y="3292592"/>
            <a:ext cx="9144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800" dirty="0"/>
          </a:p>
        </p:txBody>
      </p:sp>
      <p:sp>
        <p:nvSpPr>
          <p:cNvPr id="57" name="Text 54"/>
          <p:cNvSpPr/>
          <p:nvPr/>
        </p:nvSpPr>
        <p:spPr>
          <a:xfrm>
            <a:off x="5423252" y="3256873"/>
            <a:ext cx="693011" cy="200025"/>
          </a:xfrm>
          <a:prstGeom prst="roundRect">
            <a:avLst>
              <a:gd name="adj" fmla="val 28571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55"/>
          <p:cNvSpPr/>
          <p:nvPr/>
        </p:nvSpPr>
        <p:spPr>
          <a:xfrm>
            <a:off x="5446112" y="3267589"/>
            <a:ext cx="647291" cy="178594"/>
          </a:xfrm>
          <a:prstGeom prst="rect">
            <a:avLst/>
          </a:prstGeom>
          <a:noFill/>
          <a:ln/>
        </p:spPr>
        <p:txBody>
          <a:bodyPr wrap="none" lIns="57150" tIns="35719" rIns="57150" bIns="35719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Финиш. шпатл.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6121978" y="3292592"/>
            <a:ext cx="9144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6222017" y="3256873"/>
            <a:ext cx="385039" cy="200025"/>
          </a:xfrm>
          <a:prstGeom prst="roundRect">
            <a:avLst>
              <a:gd name="adj" fmla="val 28571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 58"/>
          <p:cNvSpPr/>
          <p:nvPr/>
        </p:nvSpPr>
        <p:spPr>
          <a:xfrm>
            <a:off x="6236278" y="3267589"/>
            <a:ext cx="356518" cy="178594"/>
          </a:xfrm>
          <a:prstGeom prst="rect">
            <a:avLst/>
          </a:prstGeom>
          <a:noFill/>
          <a:ln/>
        </p:spPr>
        <p:txBody>
          <a:bodyPr wrap="none" lIns="57150" tIns="35719" rIns="57150" bIns="35719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Краска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6621370" y="3292592"/>
            <a:ext cx="9144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800" dirty="0"/>
          </a:p>
        </p:txBody>
      </p:sp>
      <p:sp>
        <p:nvSpPr>
          <p:cNvPr id="63" name="Text 60"/>
          <p:cNvSpPr/>
          <p:nvPr/>
        </p:nvSpPr>
        <p:spPr>
          <a:xfrm>
            <a:off x="6715078" y="3256873"/>
            <a:ext cx="555980" cy="200025"/>
          </a:xfrm>
          <a:prstGeom prst="roundRect">
            <a:avLst>
              <a:gd name="adj" fmla="val 28571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4" name="Text 61"/>
          <p:cNvSpPr/>
          <p:nvPr/>
        </p:nvSpPr>
        <p:spPr>
          <a:xfrm>
            <a:off x="6735670" y="3267589"/>
            <a:ext cx="514796" cy="178594"/>
          </a:xfrm>
          <a:prstGeom prst="rect">
            <a:avLst/>
          </a:prstGeom>
          <a:noFill/>
          <a:ln/>
        </p:spPr>
        <p:txBody>
          <a:bodyPr wrap="none" lIns="57150" tIns="35719" rIns="57150" bIns="35719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Лак/защита</a:t>
            </a:r>
            <a:endParaRPr lang="en-US" sz="800" dirty="0"/>
          </a:p>
        </p:txBody>
      </p:sp>
      <p:sp>
        <p:nvSpPr>
          <p:cNvPr id="65" name="Text 62"/>
          <p:cNvSpPr/>
          <p:nvPr/>
        </p:nvSpPr>
        <p:spPr>
          <a:xfrm>
            <a:off x="4340170" y="3489045"/>
            <a:ext cx="3015667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5 SKU · </a:t>
            </a:r>
            <a:r>
              <a:rPr lang="en-US" sz="800" dirty="0" err="1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средний</a:t>
            </a: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чек</a:t>
            </a:r>
            <a:r>
              <a:rPr lang="en-US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X5</a:t>
            </a:r>
            <a:endParaRPr lang="en-US" sz="800" dirty="0"/>
          </a:p>
        </p:txBody>
      </p:sp>
      <p:sp>
        <p:nvSpPr>
          <p:cNvPr id="91" name="Text 88"/>
          <p:cNvSpPr/>
          <p:nvPr/>
        </p:nvSpPr>
        <p:spPr>
          <a:xfrm>
            <a:off x="6704737" y="3807053"/>
            <a:ext cx="651309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406" dirty="0"/>
          </a:p>
        </p:txBody>
      </p:sp>
      <p:sp>
        <p:nvSpPr>
          <p:cNvPr id="97" name="Text 27"/>
          <p:cNvSpPr/>
          <p:nvPr/>
        </p:nvSpPr>
        <p:spPr>
          <a:xfrm>
            <a:off x="4251270" y="995083"/>
            <a:ext cx="3371850" cy="578644"/>
          </a:xfrm>
          <a:prstGeom prst="roundRect">
            <a:avLst>
              <a:gd name="adj" fmla="val 19753"/>
            </a:avLst>
          </a:prstGeom>
          <a:solidFill>
            <a:srgbClr val="E6F2FD"/>
          </a:solidFill>
          <a:ln/>
        </p:spPr>
        <p:txBody>
          <a:bodyPr wrap="square" rtlCol="0" anchor="ctr"/>
          <a:lstStyle/>
          <a:p>
            <a:endParaRPr lang="en-US" dirty="0"/>
          </a:p>
        </p:txBody>
      </p:sp>
      <p:sp>
        <p:nvSpPr>
          <p:cNvPr id="98" name="Text 28"/>
          <p:cNvSpPr/>
          <p:nvPr/>
        </p:nvSpPr>
        <p:spPr>
          <a:xfrm>
            <a:off x="4340170" y="1087951"/>
            <a:ext cx="3125395" cy="147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ru-RU" sz="800" dirty="0" smtClean="0">
                <a:solidFill>
                  <a:srgbClr val="DC5C5C"/>
                </a:solidFill>
                <a:ea typeface="Carlito" pitchFamily="34" charset="-122"/>
              </a:rPr>
              <a:t>ПРОДУКТ</a:t>
            </a:r>
            <a:endParaRPr lang="en-US" sz="800" dirty="0"/>
          </a:p>
        </p:txBody>
      </p:sp>
      <p:sp>
        <p:nvSpPr>
          <p:cNvPr id="102" name="Text 32"/>
          <p:cNvSpPr/>
          <p:nvPr/>
        </p:nvSpPr>
        <p:spPr>
          <a:xfrm>
            <a:off x="4318179" y="1257901"/>
            <a:ext cx="442060" cy="228029"/>
          </a:xfrm>
          <a:prstGeom prst="roundRect">
            <a:avLst>
              <a:gd name="adj" fmla="val 25063"/>
            </a:avLst>
          </a:prstGeom>
          <a:solidFill>
            <a:srgbClr val="E0D5C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3" name="Text 33"/>
          <p:cNvSpPr/>
          <p:nvPr/>
        </p:nvSpPr>
        <p:spPr>
          <a:xfrm>
            <a:off x="4334552" y="1270117"/>
            <a:ext cx="409315" cy="203597"/>
          </a:xfrm>
          <a:prstGeom prst="rect">
            <a:avLst/>
          </a:prstGeom>
          <a:noFill/>
          <a:ln/>
        </p:spPr>
        <p:txBody>
          <a:bodyPr wrap="none" lIns="71438" tIns="42863" rIns="71438" bIns="42863" rtlCol="0" anchor="ctr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Краска</a:t>
            </a:r>
            <a:endParaRPr lang="en-US" sz="800" dirty="0"/>
          </a:p>
        </p:txBody>
      </p:sp>
      <p:sp>
        <p:nvSpPr>
          <p:cNvPr id="104" name="Text 34"/>
          <p:cNvSpPr/>
          <p:nvPr/>
        </p:nvSpPr>
        <p:spPr>
          <a:xfrm>
            <a:off x="4836996" y="1312979"/>
            <a:ext cx="1959508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ru-RU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</a:t>
            </a:r>
            <a:r>
              <a:rPr lang="en-US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SKU · средний </a:t>
            </a:r>
            <a:r>
              <a:rPr lang="en-US" sz="800" dirty="0" err="1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чек</a:t>
            </a: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300 </a:t>
            </a:r>
            <a:r>
              <a:rPr lang="en-US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₽</a:t>
            </a:r>
            <a:endParaRPr lang="en-US" sz="800" dirty="0"/>
          </a:p>
        </p:txBody>
      </p:sp>
      <p:sp>
        <p:nvSpPr>
          <p:cNvPr id="94" name="Text 46"/>
          <p:cNvSpPr/>
          <p:nvPr/>
        </p:nvSpPr>
        <p:spPr>
          <a:xfrm>
            <a:off x="4225870" y="3735504"/>
            <a:ext cx="3526842" cy="714375"/>
          </a:xfrm>
          <a:prstGeom prst="roundRect">
            <a:avLst>
              <a:gd name="adj" fmla="val 16000"/>
            </a:avLst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5" name="Text 47"/>
          <p:cNvSpPr/>
          <p:nvPr/>
        </p:nvSpPr>
        <p:spPr>
          <a:xfrm>
            <a:off x="4276670" y="3835517"/>
            <a:ext cx="3125395" cy="147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ru-RU" sz="800" dirty="0" smtClean="0">
                <a:solidFill>
                  <a:schemeClr val="bg1">
                    <a:lumMod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СВЕРХ </a:t>
            </a:r>
            <a:r>
              <a:rPr lang="en-US" sz="800" dirty="0" smtClean="0">
                <a:solidFill>
                  <a:schemeClr val="bg1">
                    <a:lumMod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ДЛИННАЯ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ЦЕПОЧКА </a:t>
            </a:r>
            <a:endParaRPr 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6" name="Text 48"/>
          <p:cNvSpPr/>
          <p:nvPr/>
        </p:nvSpPr>
        <p:spPr>
          <a:xfrm>
            <a:off x="4251464" y="3999823"/>
            <a:ext cx="337663" cy="200025"/>
          </a:xfrm>
          <a:prstGeom prst="roundRect">
            <a:avLst>
              <a:gd name="adj" fmla="val 28571"/>
            </a:avLst>
          </a:prstGeom>
          <a:solidFill>
            <a:schemeClr val="accent4">
              <a:lumMod val="40000"/>
              <a:lumOff val="6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9" name="Text 49"/>
          <p:cNvSpPr/>
          <p:nvPr/>
        </p:nvSpPr>
        <p:spPr>
          <a:xfrm>
            <a:off x="4263970" y="4010539"/>
            <a:ext cx="312651" cy="178594"/>
          </a:xfrm>
          <a:prstGeom prst="rect">
            <a:avLst/>
          </a:prstGeom>
          <a:noFill/>
          <a:ln/>
        </p:spPr>
        <p:txBody>
          <a:bodyPr wrap="none" lIns="57150" tIns="35719" rIns="57150" bIns="35719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Грунт</a:t>
            </a:r>
            <a:endParaRPr 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0" name="Text 50"/>
          <p:cNvSpPr/>
          <p:nvPr/>
        </p:nvSpPr>
        <p:spPr>
          <a:xfrm>
            <a:off x="4560746" y="4035542"/>
            <a:ext cx="9144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800" dirty="0"/>
          </a:p>
        </p:txBody>
      </p:sp>
      <p:sp>
        <p:nvSpPr>
          <p:cNvPr id="101" name="Text 51"/>
          <p:cNvSpPr/>
          <p:nvPr/>
        </p:nvSpPr>
        <p:spPr>
          <a:xfrm>
            <a:off x="4654744" y="3999823"/>
            <a:ext cx="548144" cy="200025"/>
          </a:xfrm>
          <a:prstGeom prst="roundRect">
            <a:avLst>
              <a:gd name="adj" fmla="val 28571"/>
            </a:avLst>
          </a:prstGeom>
          <a:solidFill>
            <a:schemeClr val="accent4">
              <a:lumMod val="40000"/>
              <a:lumOff val="6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5" name="Text 52"/>
          <p:cNvSpPr/>
          <p:nvPr/>
        </p:nvSpPr>
        <p:spPr>
          <a:xfrm>
            <a:off x="4669514" y="4015922"/>
            <a:ext cx="507541" cy="178594"/>
          </a:xfrm>
          <a:prstGeom prst="rect">
            <a:avLst/>
          </a:prstGeom>
          <a:noFill/>
          <a:ln/>
        </p:spPr>
        <p:txBody>
          <a:bodyPr wrap="none" lIns="57150" tIns="35719" rIns="57150" bIns="35719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Шпатлёвка</a:t>
            </a:r>
          </a:p>
        </p:txBody>
      </p:sp>
      <p:sp>
        <p:nvSpPr>
          <p:cNvPr id="106" name="Text 53"/>
          <p:cNvSpPr/>
          <p:nvPr/>
        </p:nvSpPr>
        <p:spPr>
          <a:xfrm>
            <a:off x="5192112" y="4035542"/>
            <a:ext cx="9144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800" dirty="0"/>
          </a:p>
        </p:txBody>
      </p:sp>
      <p:sp>
        <p:nvSpPr>
          <p:cNvPr id="107" name="Text 54"/>
          <p:cNvSpPr/>
          <p:nvPr/>
        </p:nvSpPr>
        <p:spPr>
          <a:xfrm>
            <a:off x="5296252" y="3999823"/>
            <a:ext cx="693011" cy="200025"/>
          </a:xfrm>
          <a:prstGeom prst="roundRect">
            <a:avLst>
              <a:gd name="adj" fmla="val 28571"/>
            </a:avLst>
          </a:prstGeom>
          <a:solidFill>
            <a:schemeClr val="accent4">
              <a:lumMod val="40000"/>
              <a:lumOff val="6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8" name="Text 55"/>
          <p:cNvSpPr/>
          <p:nvPr/>
        </p:nvSpPr>
        <p:spPr>
          <a:xfrm>
            <a:off x="5312762" y="4016889"/>
            <a:ext cx="647291" cy="178594"/>
          </a:xfrm>
          <a:prstGeom prst="rect">
            <a:avLst/>
          </a:prstGeom>
          <a:noFill/>
          <a:ln/>
        </p:spPr>
        <p:txBody>
          <a:bodyPr wrap="none" lIns="57150" tIns="35719" rIns="57150" bIns="35719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Финиш. шпатл.</a:t>
            </a:r>
            <a:endParaRPr 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9" name="Text 56"/>
          <p:cNvSpPr/>
          <p:nvPr/>
        </p:nvSpPr>
        <p:spPr>
          <a:xfrm>
            <a:off x="5975928" y="4035542"/>
            <a:ext cx="9144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800" dirty="0"/>
          </a:p>
        </p:txBody>
      </p:sp>
      <p:sp>
        <p:nvSpPr>
          <p:cNvPr id="110" name="Text 57"/>
          <p:cNvSpPr/>
          <p:nvPr/>
        </p:nvSpPr>
        <p:spPr>
          <a:xfrm>
            <a:off x="6063267" y="3999823"/>
            <a:ext cx="385039" cy="200025"/>
          </a:xfrm>
          <a:prstGeom prst="roundRect">
            <a:avLst>
              <a:gd name="adj" fmla="val 28571"/>
            </a:avLst>
          </a:prstGeom>
          <a:solidFill>
            <a:schemeClr val="accent4">
              <a:lumMod val="40000"/>
              <a:lumOff val="6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1" name="Text 58"/>
          <p:cNvSpPr/>
          <p:nvPr/>
        </p:nvSpPr>
        <p:spPr>
          <a:xfrm>
            <a:off x="6052128" y="4016889"/>
            <a:ext cx="356518" cy="178594"/>
          </a:xfrm>
          <a:prstGeom prst="rect">
            <a:avLst/>
          </a:prstGeom>
          <a:noFill/>
          <a:ln/>
        </p:spPr>
        <p:txBody>
          <a:bodyPr wrap="none" lIns="57150" tIns="35719" rIns="57150" bIns="35719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Краска</a:t>
            </a:r>
            <a:endParaRPr 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2" name="Text 59"/>
          <p:cNvSpPr/>
          <p:nvPr/>
        </p:nvSpPr>
        <p:spPr>
          <a:xfrm>
            <a:off x="6443570" y="4035542"/>
            <a:ext cx="9144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800" dirty="0"/>
          </a:p>
        </p:txBody>
      </p:sp>
      <p:sp>
        <p:nvSpPr>
          <p:cNvPr id="113" name="Text 60"/>
          <p:cNvSpPr/>
          <p:nvPr/>
        </p:nvSpPr>
        <p:spPr>
          <a:xfrm>
            <a:off x="6556328" y="3999823"/>
            <a:ext cx="555980" cy="200025"/>
          </a:xfrm>
          <a:prstGeom prst="roundRect">
            <a:avLst>
              <a:gd name="adj" fmla="val 28571"/>
            </a:avLst>
          </a:prstGeom>
          <a:solidFill>
            <a:schemeClr val="accent4">
              <a:lumMod val="40000"/>
              <a:lumOff val="6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4" name="Text 61"/>
          <p:cNvSpPr/>
          <p:nvPr/>
        </p:nvSpPr>
        <p:spPr>
          <a:xfrm>
            <a:off x="6576920" y="4010539"/>
            <a:ext cx="514796" cy="178594"/>
          </a:xfrm>
          <a:prstGeom prst="rect">
            <a:avLst/>
          </a:prstGeom>
          <a:noFill/>
          <a:ln/>
        </p:spPr>
        <p:txBody>
          <a:bodyPr wrap="none" lIns="57150" tIns="35719" rIns="57150" bIns="35719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Лак/защита</a:t>
            </a:r>
            <a:endParaRPr 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5" name="Text 62"/>
          <p:cNvSpPr/>
          <p:nvPr/>
        </p:nvSpPr>
        <p:spPr>
          <a:xfrm>
            <a:off x="4295720" y="4231995"/>
            <a:ext cx="3015667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5 SKU · </a:t>
            </a:r>
            <a:r>
              <a:rPr lang="ru-RU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средний</a:t>
            </a:r>
            <a:r>
              <a:rPr lang="en-US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чек</a:t>
            </a:r>
            <a:r>
              <a:rPr lang="en-US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X6</a:t>
            </a:r>
            <a:endParaRPr lang="en-US" sz="800" dirty="0"/>
          </a:p>
        </p:txBody>
      </p:sp>
      <p:sp>
        <p:nvSpPr>
          <p:cNvPr id="116" name="Text 60"/>
          <p:cNvSpPr/>
          <p:nvPr/>
        </p:nvSpPr>
        <p:spPr>
          <a:xfrm>
            <a:off x="7236597" y="3999823"/>
            <a:ext cx="430973" cy="200025"/>
          </a:xfrm>
          <a:prstGeom prst="roundRect">
            <a:avLst>
              <a:gd name="adj" fmla="val 28571"/>
            </a:avLst>
          </a:prstGeom>
          <a:solidFill>
            <a:schemeClr val="accent4">
              <a:lumMod val="40000"/>
              <a:lumOff val="6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8" name="Text 61"/>
          <p:cNvSpPr/>
          <p:nvPr/>
        </p:nvSpPr>
        <p:spPr>
          <a:xfrm>
            <a:off x="7242946" y="4010539"/>
            <a:ext cx="430973" cy="178594"/>
          </a:xfrm>
          <a:prstGeom prst="rect">
            <a:avLst/>
          </a:prstGeom>
          <a:noFill/>
          <a:ln/>
        </p:spPr>
        <p:txBody>
          <a:bodyPr wrap="none" lIns="57150" tIns="35719" rIns="57150" bIns="35719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ru-RU" sz="800" dirty="0" smtClean="0">
                <a:solidFill>
                  <a:schemeClr val="bg1">
                    <a:lumMod val="50000"/>
                  </a:schemeClr>
                </a:solidFill>
              </a:rPr>
              <a:t>Декор</a:t>
            </a:r>
            <a:endParaRPr 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9" name="Text 59"/>
          <p:cNvSpPr/>
          <p:nvPr/>
        </p:nvSpPr>
        <p:spPr>
          <a:xfrm>
            <a:off x="7127657" y="4022842"/>
            <a:ext cx="9144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224034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400050" y="153738"/>
            <a:ext cx="8343900" cy="254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6"/>
              </a:lnSpc>
              <a:buNone/>
            </a:pPr>
            <a:r>
              <a:rPr lang="ru-RU" sz="1238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Гибридная</a:t>
            </a:r>
            <a:r>
              <a:rPr lang="en-US" sz="1238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1238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модель решений</a:t>
            </a:r>
            <a:r>
              <a:rPr lang="en-US" sz="1238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: </a:t>
            </a:r>
            <a:r>
              <a:rPr lang="en-US" sz="1238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объём на базовых, маржа на видимых</a:t>
            </a:r>
            <a:endParaRPr lang="en-US" sz="1238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410913"/>
            <a:ext cx="457200" cy="3571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4716" y="483144"/>
            <a:ext cx="2528959" cy="1062632"/>
          </a:xfrm>
          <a:prstGeom prst="roundRect">
            <a:avLst>
              <a:gd name="adj" fmla="val 14756"/>
            </a:avLst>
          </a:prstGeom>
          <a:solidFill>
            <a:srgbClr val="FFF9F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331667" y="597444"/>
            <a:ext cx="2171700" cy="133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28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ПРИНЦИП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31667" y="770877"/>
            <a:ext cx="2171700" cy="707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Не все звенья цепочки создают ценность одинаково. </a:t>
            </a:r>
            <a:r>
              <a:rPr lang="ru-RU" sz="800" b="1" dirty="0" smtClean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Универсальный г</a:t>
            </a:r>
            <a:r>
              <a:rPr lang="en-US" sz="800" b="1" dirty="0" err="1" smtClean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рунт</a:t>
            </a:r>
            <a:r>
              <a:rPr lang="en-US" sz="800" b="1" dirty="0" smtClean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не определяет срок службы</a:t>
            </a: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его функция одинакова за 100 и 300 руб/кг. А вот краска и защита — определяют.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204716" y="1633875"/>
            <a:ext cx="2528959" cy="1505067"/>
          </a:xfrm>
          <a:prstGeom prst="roundRect">
            <a:avLst>
              <a:gd name="adj" fmla="val 10360"/>
            </a:avLst>
          </a:prstGeom>
          <a:solidFill>
            <a:srgbClr val="F0E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350221" y="1739110"/>
            <a:ext cx="2228850" cy="1475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dirty="0">
                <a:solidFill>
                  <a:srgbClr val="6A1B9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КАРТА ЦЕННОСТИ ЗВЕНЬЕВ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50221" y="1934604"/>
            <a:ext cx="4286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4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Грунт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835996" y="1952463"/>
            <a:ext cx="1514475" cy="71438"/>
          </a:xfrm>
          <a:prstGeom prst="roundRect">
            <a:avLst>
              <a:gd name="adj" fmla="val 66666"/>
            </a:avLst>
          </a:prstGeom>
          <a:solidFill>
            <a:srgbClr val="F0E6D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835996" y="1952463"/>
            <a:ext cx="378619" cy="71438"/>
          </a:xfrm>
          <a:prstGeom prst="roundRect">
            <a:avLst>
              <a:gd name="adj" fmla="val 66666"/>
            </a:avLst>
          </a:prstGeom>
          <a:solidFill>
            <a:srgbClr val="DC5C5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2407621" y="1939962"/>
            <a:ext cx="17145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59"/>
              </a:lnSpc>
              <a:buNone/>
            </a:pPr>
            <a:r>
              <a:rPr lang="en-US" sz="800" dirty="0">
                <a:solidFill>
                  <a:srgbClr val="DC5C5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25%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370693" y="2077479"/>
            <a:ext cx="4286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4"/>
              </a:lnSpc>
              <a:buNone/>
            </a:pPr>
            <a:r>
              <a:rPr lang="en-US" sz="800" dirty="0" err="1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Шпатлёвка</a:t>
            </a:r>
            <a:r>
              <a:rPr lang="ru-RU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</a:p>
          <a:p>
            <a:pPr marL="0" indent="0" algn="r">
              <a:lnSpc>
                <a:spcPts val="844"/>
              </a:lnSpc>
              <a:buNone/>
            </a:pPr>
            <a:r>
              <a:rPr lang="ru-RU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стартовая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35996" y="2095338"/>
            <a:ext cx="1514475" cy="71438"/>
          </a:xfrm>
          <a:prstGeom prst="roundRect">
            <a:avLst>
              <a:gd name="adj" fmla="val 66666"/>
            </a:avLst>
          </a:prstGeom>
          <a:solidFill>
            <a:srgbClr val="F0E6D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835996" y="2095338"/>
            <a:ext cx="529977" cy="71438"/>
          </a:xfrm>
          <a:prstGeom prst="roundRect">
            <a:avLst>
              <a:gd name="adj" fmla="val 66666"/>
            </a:avLst>
          </a:prstGeom>
          <a:solidFill>
            <a:srgbClr val="F5B0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2407621" y="2082837"/>
            <a:ext cx="17145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59"/>
              </a:lnSpc>
              <a:buNone/>
            </a:pPr>
            <a:r>
              <a:rPr lang="en-US" sz="800" dirty="0">
                <a:solidFill>
                  <a:srgbClr val="F5B041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35%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357045" y="2322714"/>
            <a:ext cx="4286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4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Краска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42820" y="2340573"/>
            <a:ext cx="1514475" cy="71438"/>
          </a:xfrm>
          <a:prstGeom prst="roundRect">
            <a:avLst>
              <a:gd name="adj" fmla="val 66666"/>
            </a:avLst>
          </a:prstGeom>
          <a:solidFill>
            <a:srgbClr val="F0E6D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842820" y="2340573"/>
            <a:ext cx="1211535" cy="71438"/>
          </a:xfrm>
          <a:prstGeom prst="roundRect">
            <a:avLst>
              <a:gd name="adj" fmla="val 66666"/>
            </a:avLst>
          </a:prstGeom>
          <a:solidFill>
            <a:srgbClr val="F28C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2414445" y="2328072"/>
            <a:ext cx="17145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59"/>
              </a:lnSpc>
              <a:buNone/>
            </a:pPr>
            <a:r>
              <a:rPr lang="en-US" sz="800" dirty="0">
                <a:solidFill>
                  <a:srgbClr val="F28C3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80%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357045" y="2465589"/>
            <a:ext cx="4286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4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Лак/защита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842820" y="2483448"/>
            <a:ext cx="1514475" cy="71438"/>
          </a:xfrm>
          <a:prstGeom prst="roundRect">
            <a:avLst>
              <a:gd name="adj" fmla="val 66666"/>
            </a:avLst>
          </a:prstGeom>
          <a:solidFill>
            <a:srgbClr val="F0E6D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842820" y="2483448"/>
            <a:ext cx="1438684" cy="71438"/>
          </a:xfrm>
          <a:prstGeom prst="roundRect">
            <a:avLst>
              <a:gd name="adj" fmla="val 66666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2414445" y="2470947"/>
            <a:ext cx="17145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59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95%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257033" y="2608464"/>
            <a:ext cx="5286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844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Декор-эффект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842820" y="2679902"/>
            <a:ext cx="1514475" cy="71438"/>
          </a:xfrm>
          <a:prstGeom prst="roundRect">
            <a:avLst>
              <a:gd name="adj" fmla="val 66666"/>
            </a:avLst>
          </a:prstGeom>
          <a:solidFill>
            <a:srgbClr val="F0E6D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842820" y="2679902"/>
            <a:ext cx="1514475" cy="71438"/>
          </a:xfrm>
          <a:prstGeom prst="roundRect">
            <a:avLst>
              <a:gd name="adj" fmla="val 66666"/>
            </a:avLst>
          </a:prstGeom>
          <a:solidFill>
            <a:srgbClr val="6A1B9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9"/>
          <p:cNvSpPr/>
          <p:nvPr/>
        </p:nvSpPr>
        <p:spPr>
          <a:xfrm>
            <a:off x="2414444" y="2667400"/>
            <a:ext cx="2651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59"/>
              </a:lnSpc>
              <a:buNone/>
            </a:pPr>
            <a:r>
              <a:rPr lang="en-US" sz="800" dirty="0">
                <a:solidFill>
                  <a:srgbClr val="6A1B9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100%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357045" y="2886111"/>
            <a:ext cx="222885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58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Доля обоснования переплаты в зависимости от звена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204717" y="3272021"/>
            <a:ext cx="2522608" cy="1423046"/>
          </a:xfrm>
          <a:prstGeom prst="roundRect">
            <a:avLst>
              <a:gd name="adj" fmla="val 17641"/>
            </a:avLst>
          </a:prstGeom>
          <a:solidFill>
            <a:srgbClr val="E6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2"/>
          <p:cNvSpPr/>
          <p:nvPr/>
        </p:nvSpPr>
        <p:spPr>
          <a:xfrm>
            <a:off x="271463" y="3361716"/>
            <a:ext cx="3684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1565C0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25" dirty="0"/>
          </a:p>
        </p:txBody>
      </p:sp>
      <p:sp>
        <p:nvSpPr>
          <p:cNvPr id="36" name="Text 33"/>
          <p:cNvSpPr/>
          <p:nvPr/>
        </p:nvSpPr>
        <p:spPr>
          <a:xfrm>
            <a:off x="574836" y="3388505"/>
            <a:ext cx="83261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dirty="0">
                <a:solidFill>
                  <a:srgbClr val="1565C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БЕНЧМАРК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398463" y="3576029"/>
            <a:ext cx="2228850" cy="1064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97"/>
              </a:lnSpc>
              <a:buNone/>
            </a:pPr>
            <a:r>
              <a:rPr lang="en-US" sz="800" b="1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Tikkurila, Dulux, Caparol</a:t>
            </a: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все используют гибридный подход. Один грунт на все сегменты, сегментные краски и </a:t>
            </a:r>
            <a:r>
              <a:rPr lang="en-US" sz="800" dirty="0" err="1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эффекты</a:t>
            </a:r>
            <a:r>
              <a:rPr lang="en-US" sz="800" dirty="0" smtClean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ru-RU" sz="800" dirty="0" smtClean="0">
              <a:solidFill>
                <a:srgbClr val="444444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897"/>
              </a:lnSpc>
              <a:buNone/>
            </a:pPr>
            <a:endParaRPr lang="en-US" sz="800" dirty="0" smtClean="0">
              <a:solidFill>
                <a:srgbClr val="444444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897"/>
              </a:lnSpc>
            </a:pPr>
            <a:r>
              <a:rPr lang="ru-RU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Премиум-грунт продаётся в объёме премиум-сегмента → низкий объём → высокая себестоимость → ещё дороже</a:t>
            </a:r>
            <a:endParaRPr lang="en-US" sz="800" dirty="0">
              <a:solidFill>
                <a:srgbClr val="444444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2943225" y="476794"/>
            <a:ext cx="2643188" cy="2478881"/>
          </a:xfrm>
          <a:prstGeom prst="roundRect">
            <a:avLst>
              <a:gd name="adj" fmla="val 5379"/>
            </a:avLst>
          </a:prstGeom>
          <a:solidFill>
            <a:srgbClr val="FDE8E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3057525" y="594666"/>
            <a:ext cx="200025" cy="200025"/>
          </a:xfrm>
          <a:prstGeom prst="roundRect">
            <a:avLst>
              <a:gd name="adj" fmla="val 38095"/>
            </a:avLst>
          </a:prstGeom>
          <a:solidFill>
            <a:srgbClr val="DC5C5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7"/>
          <p:cNvSpPr/>
          <p:nvPr/>
        </p:nvSpPr>
        <p:spPr>
          <a:xfrm>
            <a:off x="3074670" y="611811"/>
            <a:ext cx="165735" cy="165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▣</a:t>
            </a:r>
            <a:endParaRPr lang="en-US" sz="1125" dirty="0"/>
          </a:p>
        </p:txBody>
      </p:sp>
      <p:sp>
        <p:nvSpPr>
          <p:cNvPr id="41" name="Text 38"/>
          <p:cNvSpPr/>
          <p:nvPr/>
        </p:nvSpPr>
        <p:spPr>
          <a:xfrm>
            <a:off x="3289299" y="564106"/>
            <a:ext cx="2271713" cy="1539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DC5C5C"/>
                </a:solidFill>
                <a:ea typeface="Carlito" pitchFamily="34" charset="-122"/>
                <a:cs typeface="Carlito" pitchFamily="34" charset="-120"/>
              </a:rPr>
              <a:t>ЗОНА А: </a:t>
            </a:r>
            <a:r>
              <a:rPr lang="ru-RU" sz="800" b="1" dirty="0" smtClean="0">
                <a:solidFill>
                  <a:srgbClr val="DC5C5C"/>
                </a:solidFill>
                <a:ea typeface="Carlito" pitchFamily="34" charset="-122"/>
                <a:cs typeface="Carlito" pitchFamily="34" charset="-120"/>
              </a:rPr>
              <a:t> База</a:t>
            </a:r>
            <a:r>
              <a:rPr lang="en-US" sz="800" b="1" dirty="0" smtClean="0">
                <a:solidFill>
                  <a:srgbClr val="DC5C5C"/>
                </a:solidFill>
                <a:ea typeface="Carlito" pitchFamily="34" charset="-122"/>
                <a:cs typeface="Carlito" pitchFamily="34" charset="-120"/>
              </a:rPr>
              <a:t> (</a:t>
            </a:r>
            <a:r>
              <a:rPr lang="ru-RU" sz="800" b="1" dirty="0" smtClean="0">
                <a:solidFill>
                  <a:srgbClr val="DC5C5C"/>
                </a:solidFill>
                <a:ea typeface="Carlito" pitchFamily="34" charset="-122"/>
                <a:cs typeface="Carlito" pitchFamily="34" charset="-120"/>
              </a:rPr>
              <a:t>специализация не нужна)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289299" y="724428"/>
            <a:ext cx="208597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Даём объём — снижаем себестоимость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3032125" y="850650"/>
            <a:ext cx="2414588" cy="314325"/>
          </a:xfrm>
          <a:prstGeom prst="roundRect">
            <a:avLst>
              <a:gd name="adj" fmla="val 24242"/>
            </a:avLst>
          </a:prstGeom>
          <a:solidFill>
            <a:srgbClr val="FFFFFF">
              <a:alpha val="6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1"/>
          <p:cNvSpPr/>
          <p:nvPr/>
        </p:nvSpPr>
        <p:spPr>
          <a:xfrm>
            <a:off x="3032125" y="920779"/>
            <a:ext cx="274086" cy="162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dirty="0">
                <a:solidFill>
                  <a:srgbClr val="DC5C5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984" dirty="0"/>
          </a:p>
        </p:txBody>
      </p:sp>
      <p:sp>
        <p:nvSpPr>
          <p:cNvPr id="45" name="Text 42"/>
          <p:cNvSpPr/>
          <p:nvPr/>
        </p:nvSpPr>
        <p:spPr>
          <a:xfrm>
            <a:off x="3346562" y="875574"/>
            <a:ext cx="180238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Грунтовка глубокого проникновения</a:t>
            </a:r>
          </a:p>
        </p:txBody>
      </p:sp>
      <p:sp>
        <p:nvSpPr>
          <p:cNvPr id="46" name="Text 43"/>
          <p:cNvSpPr/>
          <p:nvPr/>
        </p:nvSpPr>
        <p:spPr>
          <a:xfrm>
            <a:off x="3340212" y="1025196"/>
            <a:ext cx="2035063" cy="12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59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 SKU на все </a:t>
            </a:r>
            <a:r>
              <a:rPr lang="en-US" sz="800" dirty="0" err="1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сегменты</a:t>
            </a: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3044825" y="1193550"/>
            <a:ext cx="2414588" cy="314325"/>
          </a:xfrm>
          <a:prstGeom prst="roundRect">
            <a:avLst>
              <a:gd name="adj" fmla="val 24242"/>
            </a:avLst>
          </a:prstGeom>
          <a:solidFill>
            <a:srgbClr val="FFFFFF">
              <a:alpha val="6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5"/>
          <p:cNvSpPr/>
          <p:nvPr/>
        </p:nvSpPr>
        <p:spPr>
          <a:xfrm>
            <a:off x="3044825" y="1263679"/>
            <a:ext cx="274086" cy="162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dirty="0">
                <a:solidFill>
                  <a:srgbClr val="DC5C5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984" dirty="0"/>
          </a:p>
        </p:txBody>
      </p:sp>
      <p:sp>
        <p:nvSpPr>
          <p:cNvPr id="49" name="Text 46"/>
          <p:cNvSpPr/>
          <p:nvPr/>
        </p:nvSpPr>
        <p:spPr>
          <a:xfrm>
            <a:off x="3384042" y="1212124"/>
            <a:ext cx="107288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Грунтовка бетон-контакт</a:t>
            </a:r>
            <a:endParaRPr lang="en-US" sz="800" dirty="0"/>
          </a:p>
        </p:txBody>
      </p:sp>
      <p:sp>
        <p:nvSpPr>
          <p:cNvPr id="50" name="Text 47"/>
          <p:cNvSpPr/>
          <p:nvPr/>
        </p:nvSpPr>
        <p:spPr>
          <a:xfrm>
            <a:off x="3366018" y="1373731"/>
            <a:ext cx="2002906" cy="155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59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 SKU на все </a:t>
            </a:r>
            <a:r>
              <a:rPr lang="en-US" sz="800" dirty="0" err="1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сегменты</a:t>
            </a: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3044825" y="1536450"/>
            <a:ext cx="2414588" cy="314325"/>
          </a:xfrm>
          <a:prstGeom prst="roundRect">
            <a:avLst>
              <a:gd name="adj" fmla="val 24242"/>
            </a:avLst>
          </a:prstGeom>
          <a:solidFill>
            <a:srgbClr val="FFFFFF">
              <a:alpha val="6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9"/>
          <p:cNvSpPr/>
          <p:nvPr/>
        </p:nvSpPr>
        <p:spPr>
          <a:xfrm>
            <a:off x="3044825" y="1606579"/>
            <a:ext cx="274086" cy="162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dirty="0">
                <a:solidFill>
                  <a:srgbClr val="DC5C5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984" dirty="0"/>
          </a:p>
        </p:txBody>
      </p:sp>
      <p:sp>
        <p:nvSpPr>
          <p:cNvPr id="53" name="Text 50"/>
          <p:cNvSpPr/>
          <p:nvPr/>
        </p:nvSpPr>
        <p:spPr>
          <a:xfrm>
            <a:off x="3384042" y="1560859"/>
            <a:ext cx="131147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Шпатлёвка стартовая</a:t>
            </a:r>
          </a:p>
        </p:txBody>
      </p:sp>
      <p:sp>
        <p:nvSpPr>
          <p:cNvPr id="54" name="Text 51"/>
          <p:cNvSpPr/>
          <p:nvPr/>
        </p:nvSpPr>
        <p:spPr>
          <a:xfrm>
            <a:off x="3384042" y="1704328"/>
            <a:ext cx="1905508" cy="96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759"/>
              </a:lnSpc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 SKU </a:t>
            </a:r>
            <a:r>
              <a:rPr lang="ru-RU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</a:t>
            </a:r>
            <a:r>
              <a:rPr lang="en-US" sz="800" dirty="0" err="1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ерновой</a:t>
            </a:r>
            <a:r>
              <a:rPr lang="en-US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продукт, не </a:t>
            </a:r>
            <a:r>
              <a:rPr lang="en-US" sz="800" dirty="0" err="1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виден</a:t>
            </a: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044825" y="1879350"/>
            <a:ext cx="2414588" cy="314325"/>
          </a:xfrm>
          <a:prstGeom prst="roundRect">
            <a:avLst>
              <a:gd name="adj" fmla="val 24242"/>
            </a:avLst>
          </a:prstGeom>
          <a:solidFill>
            <a:srgbClr val="FFFFFF">
              <a:alpha val="6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53"/>
          <p:cNvSpPr/>
          <p:nvPr/>
        </p:nvSpPr>
        <p:spPr>
          <a:xfrm>
            <a:off x="3044825" y="1949479"/>
            <a:ext cx="274086" cy="162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dirty="0">
                <a:solidFill>
                  <a:srgbClr val="DC5C5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984" dirty="0"/>
          </a:p>
        </p:txBody>
      </p:sp>
      <p:sp>
        <p:nvSpPr>
          <p:cNvPr id="57" name="Text 54"/>
          <p:cNvSpPr/>
          <p:nvPr/>
        </p:nvSpPr>
        <p:spPr>
          <a:xfrm>
            <a:off x="3379124" y="1920498"/>
            <a:ext cx="1122484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Грунтовка универсальная</a:t>
            </a:r>
          </a:p>
        </p:txBody>
      </p:sp>
      <p:sp>
        <p:nvSpPr>
          <p:cNvPr id="58" name="Text 55"/>
          <p:cNvSpPr/>
          <p:nvPr/>
        </p:nvSpPr>
        <p:spPr>
          <a:xfrm>
            <a:off x="3369444" y="2066650"/>
            <a:ext cx="1972767" cy="1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59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 SKU на все </a:t>
            </a:r>
            <a:r>
              <a:rPr lang="en-US" sz="800" dirty="0" err="1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сегменты</a:t>
            </a: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3044825" y="2222250"/>
            <a:ext cx="2414588" cy="314325"/>
          </a:xfrm>
          <a:prstGeom prst="roundRect">
            <a:avLst>
              <a:gd name="adj" fmla="val 24242"/>
            </a:avLst>
          </a:prstGeom>
          <a:solidFill>
            <a:srgbClr val="FFFFFF">
              <a:alpha val="6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7"/>
          <p:cNvSpPr/>
          <p:nvPr/>
        </p:nvSpPr>
        <p:spPr>
          <a:xfrm>
            <a:off x="3044825" y="2292379"/>
            <a:ext cx="274086" cy="162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dirty="0">
                <a:solidFill>
                  <a:srgbClr val="DC5C5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984" dirty="0"/>
          </a:p>
        </p:txBody>
      </p:sp>
      <p:sp>
        <p:nvSpPr>
          <p:cNvPr id="61" name="Text 58"/>
          <p:cNvSpPr/>
          <p:nvPr/>
        </p:nvSpPr>
        <p:spPr>
          <a:xfrm>
            <a:off x="3386783" y="2263906"/>
            <a:ext cx="1262412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Краска потолочная</a:t>
            </a:r>
          </a:p>
        </p:txBody>
      </p:sp>
      <p:sp>
        <p:nvSpPr>
          <p:cNvPr id="62" name="Text 59"/>
          <p:cNvSpPr/>
          <p:nvPr/>
        </p:nvSpPr>
        <p:spPr>
          <a:xfrm>
            <a:off x="3385629" y="2409178"/>
            <a:ext cx="1956582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59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Commodity — нет </a:t>
            </a:r>
            <a:r>
              <a:rPr lang="en-US" sz="800" dirty="0" err="1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разницы</a:t>
            </a: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endParaRPr lang="en-US" sz="800" dirty="0"/>
          </a:p>
        </p:txBody>
      </p:sp>
      <p:sp>
        <p:nvSpPr>
          <p:cNvPr id="63" name="Text 60"/>
          <p:cNvSpPr/>
          <p:nvPr/>
        </p:nvSpPr>
        <p:spPr>
          <a:xfrm>
            <a:off x="3057525" y="2598488"/>
            <a:ext cx="2414588" cy="257175"/>
          </a:xfrm>
          <a:prstGeom prst="roundRect">
            <a:avLst>
              <a:gd name="adj" fmla="val 29630"/>
            </a:avLst>
          </a:prstGeom>
          <a:solidFill>
            <a:srgbClr val="DC5C5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4" name="Text 61"/>
          <p:cNvSpPr/>
          <p:nvPr/>
        </p:nvSpPr>
        <p:spPr>
          <a:xfrm>
            <a:off x="3174616" y="2628650"/>
            <a:ext cx="218029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dirty="0" err="1" smtClean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Максимальный</a:t>
            </a:r>
            <a:r>
              <a:rPr lang="en-US" sz="800" dirty="0" smtClean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объём · </a:t>
            </a:r>
            <a:endParaRPr lang="ru-RU" sz="800" dirty="0" smtClean="0">
              <a:solidFill>
                <a:srgbClr val="FFFFFF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ctr">
              <a:lnSpc>
                <a:spcPts val="844"/>
              </a:lnSpc>
              <a:buNone/>
            </a:pPr>
            <a:r>
              <a:rPr lang="en-US" sz="800" dirty="0" err="1" smtClean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Минимальная</a:t>
            </a:r>
            <a:r>
              <a:rPr lang="en-US" sz="800" dirty="0" smtClean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себестоимость</a:t>
            </a:r>
            <a:endParaRPr lang="en-US" sz="800" dirty="0"/>
          </a:p>
        </p:txBody>
      </p:sp>
      <p:sp>
        <p:nvSpPr>
          <p:cNvPr id="65" name="Text 62"/>
          <p:cNvSpPr/>
          <p:nvPr/>
        </p:nvSpPr>
        <p:spPr>
          <a:xfrm>
            <a:off x="2943225" y="3040100"/>
            <a:ext cx="2643188" cy="1654968"/>
          </a:xfrm>
          <a:prstGeom prst="roundRect">
            <a:avLst>
              <a:gd name="adj" fmla="val 6527"/>
            </a:avLst>
          </a:prstGeom>
          <a:solidFill>
            <a:srgbClr val="E3F4E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Text 63"/>
          <p:cNvSpPr/>
          <p:nvPr/>
        </p:nvSpPr>
        <p:spPr>
          <a:xfrm>
            <a:off x="3057525" y="3107170"/>
            <a:ext cx="200025" cy="200025"/>
          </a:xfrm>
          <a:prstGeom prst="roundRect">
            <a:avLst>
              <a:gd name="adj" fmla="val 38095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7" name="Text 64"/>
          <p:cNvSpPr/>
          <p:nvPr/>
        </p:nvSpPr>
        <p:spPr>
          <a:xfrm>
            <a:off x="3074670" y="3124315"/>
            <a:ext cx="165735" cy="165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◆</a:t>
            </a:r>
            <a:endParaRPr lang="en-US" sz="1125" dirty="0"/>
          </a:p>
        </p:txBody>
      </p:sp>
      <p:sp>
        <p:nvSpPr>
          <p:cNvPr id="68" name="Text 65"/>
          <p:cNvSpPr/>
          <p:nvPr/>
        </p:nvSpPr>
        <p:spPr>
          <a:xfrm>
            <a:off x="3314700" y="3108361"/>
            <a:ext cx="1545507" cy="101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1000" b="1" dirty="0">
                <a:solidFill>
                  <a:srgbClr val="2E7D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ЗОНА Б: МАРЖИНАЛЬНЫЕ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3314700" y="3268699"/>
            <a:ext cx="1987550" cy="140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Обоснованная переплата = рост маржи</a:t>
            </a:r>
            <a:endParaRPr lang="en-US" sz="800" dirty="0"/>
          </a:p>
        </p:txBody>
      </p:sp>
      <p:sp>
        <p:nvSpPr>
          <p:cNvPr id="70" name="Text 67"/>
          <p:cNvSpPr/>
          <p:nvPr/>
        </p:nvSpPr>
        <p:spPr>
          <a:xfrm>
            <a:off x="3057525" y="3433005"/>
            <a:ext cx="2414588" cy="203597"/>
          </a:xfrm>
          <a:prstGeom prst="roundRect">
            <a:avLst>
              <a:gd name="adj" fmla="val 37427"/>
            </a:avLst>
          </a:prstGeom>
          <a:solidFill>
            <a:srgbClr val="FFFFFF">
              <a:alpha val="6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68"/>
          <p:cNvSpPr/>
          <p:nvPr/>
        </p:nvSpPr>
        <p:spPr>
          <a:xfrm>
            <a:off x="3035440" y="3478796"/>
            <a:ext cx="145175" cy="112014"/>
          </a:xfrm>
          <a:prstGeom prst="roundRect">
            <a:avLst>
              <a:gd name="adj" fmla="val 25510"/>
            </a:avLst>
          </a:prstGeom>
          <a:solidFill>
            <a:srgbClr val="E0D5C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2" name="Text 69"/>
          <p:cNvSpPr/>
          <p:nvPr/>
        </p:nvSpPr>
        <p:spPr>
          <a:xfrm>
            <a:off x="3046413" y="3484797"/>
            <a:ext cx="123230" cy="100013"/>
          </a:xfrm>
          <a:prstGeom prst="rect">
            <a:avLst/>
          </a:prstGeom>
          <a:noFill/>
          <a:ln/>
        </p:spPr>
        <p:txBody>
          <a:bodyPr wrap="none" lIns="28575" tIns="7144" rIns="28575" bIns="7144" rtlCol="0" anchor="ctr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Эк</a:t>
            </a:r>
            <a:endParaRPr lang="en-US" sz="800" dirty="0"/>
          </a:p>
        </p:txBody>
      </p:sp>
      <p:sp>
        <p:nvSpPr>
          <p:cNvPr id="73" name="Text 70"/>
          <p:cNvSpPr/>
          <p:nvPr/>
        </p:nvSpPr>
        <p:spPr>
          <a:xfrm>
            <a:off x="3172957" y="3478796"/>
            <a:ext cx="152207" cy="112014"/>
          </a:xfrm>
          <a:prstGeom prst="roundRect">
            <a:avLst>
              <a:gd name="adj" fmla="val 25510"/>
            </a:avLst>
          </a:prstGeom>
          <a:solidFill>
            <a:srgbClr val="F28C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4" name="Text 71"/>
          <p:cNvSpPr/>
          <p:nvPr/>
        </p:nvSpPr>
        <p:spPr>
          <a:xfrm>
            <a:off x="3183930" y="3484797"/>
            <a:ext cx="130262" cy="100013"/>
          </a:xfrm>
          <a:prstGeom prst="rect">
            <a:avLst/>
          </a:prstGeom>
          <a:noFill/>
          <a:ln/>
        </p:spPr>
        <p:txBody>
          <a:bodyPr wrap="none" lIns="28575" tIns="7144" rIns="28575" bIns="7144" rtlCol="0" anchor="ctr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</a:t>
            </a:r>
            <a:endParaRPr lang="en-US" sz="800" dirty="0"/>
          </a:p>
        </p:txBody>
      </p:sp>
      <p:sp>
        <p:nvSpPr>
          <p:cNvPr id="75" name="Text 72"/>
          <p:cNvSpPr/>
          <p:nvPr/>
        </p:nvSpPr>
        <p:spPr>
          <a:xfrm>
            <a:off x="3317506" y="3478796"/>
            <a:ext cx="151984" cy="112014"/>
          </a:xfrm>
          <a:prstGeom prst="roundRect">
            <a:avLst>
              <a:gd name="adj" fmla="val 25510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6" name="Text 73"/>
          <p:cNvSpPr/>
          <p:nvPr/>
        </p:nvSpPr>
        <p:spPr>
          <a:xfrm>
            <a:off x="3328479" y="3484797"/>
            <a:ext cx="130039" cy="100013"/>
          </a:xfrm>
          <a:prstGeom prst="rect">
            <a:avLst/>
          </a:prstGeom>
          <a:noFill/>
          <a:ln/>
        </p:spPr>
        <p:txBody>
          <a:bodyPr wrap="none" lIns="28575" tIns="7144" rIns="28575" bIns="7144" rtlCol="0" anchor="ctr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</a:t>
            </a:r>
            <a:endParaRPr lang="en-US" sz="800" dirty="0"/>
          </a:p>
        </p:txBody>
      </p:sp>
      <p:sp>
        <p:nvSpPr>
          <p:cNvPr id="77" name="Text 74"/>
          <p:cNvSpPr/>
          <p:nvPr/>
        </p:nvSpPr>
        <p:spPr>
          <a:xfrm>
            <a:off x="3587750" y="3475867"/>
            <a:ext cx="1914525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Шпатлёвка финишная</a:t>
            </a:r>
            <a:endParaRPr lang="en-US" sz="800" dirty="0"/>
          </a:p>
        </p:txBody>
      </p:sp>
      <p:sp>
        <p:nvSpPr>
          <p:cNvPr id="78" name="Text 75"/>
          <p:cNvSpPr/>
          <p:nvPr/>
        </p:nvSpPr>
        <p:spPr>
          <a:xfrm>
            <a:off x="3057525" y="3665177"/>
            <a:ext cx="2414588" cy="203597"/>
          </a:xfrm>
          <a:prstGeom prst="roundRect">
            <a:avLst>
              <a:gd name="adj" fmla="val 37427"/>
            </a:avLst>
          </a:prstGeom>
          <a:solidFill>
            <a:srgbClr val="FFFFFF">
              <a:alpha val="6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9" name="Text 76"/>
          <p:cNvSpPr/>
          <p:nvPr/>
        </p:nvSpPr>
        <p:spPr>
          <a:xfrm>
            <a:off x="3035440" y="3710968"/>
            <a:ext cx="145175" cy="112014"/>
          </a:xfrm>
          <a:prstGeom prst="roundRect">
            <a:avLst>
              <a:gd name="adj" fmla="val 25510"/>
            </a:avLst>
          </a:prstGeom>
          <a:solidFill>
            <a:srgbClr val="E0D5C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0" name="Text 77"/>
          <p:cNvSpPr/>
          <p:nvPr/>
        </p:nvSpPr>
        <p:spPr>
          <a:xfrm>
            <a:off x="3046413" y="3716969"/>
            <a:ext cx="123230" cy="100013"/>
          </a:xfrm>
          <a:prstGeom prst="rect">
            <a:avLst/>
          </a:prstGeom>
          <a:noFill/>
          <a:ln/>
        </p:spPr>
        <p:txBody>
          <a:bodyPr wrap="none" lIns="28575" tIns="7144" rIns="28575" bIns="7144" rtlCol="0" anchor="ctr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Эк</a:t>
            </a:r>
            <a:endParaRPr lang="en-US" sz="800" dirty="0"/>
          </a:p>
        </p:txBody>
      </p:sp>
      <p:sp>
        <p:nvSpPr>
          <p:cNvPr id="81" name="Text 78"/>
          <p:cNvSpPr/>
          <p:nvPr/>
        </p:nvSpPr>
        <p:spPr>
          <a:xfrm>
            <a:off x="3172957" y="3710968"/>
            <a:ext cx="152207" cy="112014"/>
          </a:xfrm>
          <a:prstGeom prst="roundRect">
            <a:avLst>
              <a:gd name="adj" fmla="val 25510"/>
            </a:avLst>
          </a:prstGeom>
          <a:solidFill>
            <a:srgbClr val="F28C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2" name="Text 79"/>
          <p:cNvSpPr/>
          <p:nvPr/>
        </p:nvSpPr>
        <p:spPr>
          <a:xfrm>
            <a:off x="3183930" y="3716969"/>
            <a:ext cx="130262" cy="100013"/>
          </a:xfrm>
          <a:prstGeom prst="rect">
            <a:avLst/>
          </a:prstGeom>
          <a:noFill/>
          <a:ln/>
        </p:spPr>
        <p:txBody>
          <a:bodyPr wrap="none" lIns="28575" tIns="7144" rIns="28575" bIns="7144" rtlCol="0" anchor="ctr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</a:t>
            </a:r>
            <a:endParaRPr lang="en-US" sz="800" dirty="0"/>
          </a:p>
        </p:txBody>
      </p:sp>
      <p:sp>
        <p:nvSpPr>
          <p:cNvPr id="83" name="Text 80"/>
          <p:cNvSpPr/>
          <p:nvPr/>
        </p:nvSpPr>
        <p:spPr>
          <a:xfrm>
            <a:off x="3317506" y="3710968"/>
            <a:ext cx="151984" cy="112014"/>
          </a:xfrm>
          <a:prstGeom prst="roundRect">
            <a:avLst>
              <a:gd name="adj" fmla="val 25510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4" name="Text 81"/>
          <p:cNvSpPr/>
          <p:nvPr/>
        </p:nvSpPr>
        <p:spPr>
          <a:xfrm>
            <a:off x="3328479" y="3716969"/>
            <a:ext cx="130039" cy="100013"/>
          </a:xfrm>
          <a:prstGeom prst="rect">
            <a:avLst/>
          </a:prstGeom>
          <a:noFill/>
          <a:ln/>
        </p:spPr>
        <p:txBody>
          <a:bodyPr wrap="none" lIns="28575" tIns="7144" rIns="28575" bIns="7144" rtlCol="0" anchor="ctr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3587750" y="3708039"/>
            <a:ext cx="1914525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Краска интерьерная</a:t>
            </a:r>
            <a:endParaRPr lang="en-US" sz="800" dirty="0"/>
          </a:p>
        </p:txBody>
      </p:sp>
      <p:sp>
        <p:nvSpPr>
          <p:cNvPr id="86" name="Text 83"/>
          <p:cNvSpPr/>
          <p:nvPr/>
        </p:nvSpPr>
        <p:spPr>
          <a:xfrm>
            <a:off x="3057525" y="3897349"/>
            <a:ext cx="2414588" cy="203597"/>
          </a:xfrm>
          <a:prstGeom prst="roundRect">
            <a:avLst>
              <a:gd name="adj" fmla="val 37427"/>
            </a:avLst>
          </a:prstGeom>
          <a:solidFill>
            <a:srgbClr val="FFFFFF">
              <a:alpha val="6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7" name="Text 84"/>
          <p:cNvSpPr/>
          <p:nvPr/>
        </p:nvSpPr>
        <p:spPr>
          <a:xfrm>
            <a:off x="3035440" y="3943140"/>
            <a:ext cx="152207" cy="112014"/>
          </a:xfrm>
          <a:prstGeom prst="roundRect">
            <a:avLst>
              <a:gd name="adj" fmla="val 25510"/>
            </a:avLst>
          </a:prstGeom>
          <a:solidFill>
            <a:srgbClr val="F28C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8" name="Text 85"/>
          <p:cNvSpPr/>
          <p:nvPr/>
        </p:nvSpPr>
        <p:spPr>
          <a:xfrm>
            <a:off x="3046413" y="3949141"/>
            <a:ext cx="130262" cy="100013"/>
          </a:xfrm>
          <a:prstGeom prst="rect">
            <a:avLst/>
          </a:prstGeom>
          <a:noFill/>
          <a:ln/>
        </p:spPr>
        <p:txBody>
          <a:bodyPr wrap="none" lIns="28575" tIns="7144" rIns="28575" bIns="7144" rtlCol="0" anchor="ctr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</a:t>
            </a:r>
            <a:endParaRPr lang="en-US" sz="800" dirty="0"/>
          </a:p>
        </p:txBody>
      </p:sp>
      <p:sp>
        <p:nvSpPr>
          <p:cNvPr id="89" name="Text 86"/>
          <p:cNvSpPr/>
          <p:nvPr/>
        </p:nvSpPr>
        <p:spPr>
          <a:xfrm>
            <a:off x="3179989" y="3943140"/>
            <a:ext cx="151984" cy="112014"/>
          </a:xfrm>
          <a:prstGeom prst="roundRect">
            <a:avLst>
              <a:gd name="adj" fmla="val 25510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0" name="Text 87"/>
          <p:cNvSpPr/>
          <p:nvPr/>
        </p:nvSpPr>
        <p:spPr>
          <a:xfrm>
            <a:off x="3190962" y="3949141"/>
            <a:ext cx="130039" cy="100013"/>
          </a:xfrm>
          <a:prstGeom prst="rect">
            <a:avLst/>
          </a:prstGeom>
          <a:noFill/>
          <a:ln/>
        </p:spPr>
        <p:txBody>
          <a:bodyPr wrap="none" lIns="28575" tIns="7144" rIns="28575" bIns="7144" rtlCol="0" anchor="ctr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</a:t>
            </a:r>
            <a:endParaRPr lang="en-US" sz="800" dirty="0"/>
          </a:p>
        </p:txBody>
      </p:sp>
      <p:sp>
        <p:nvSpPr>
          <p:cNvPr id="91" name="Text 88"/>
          <p:cNvSpPr/>
          <p:nvPr/>
        </p:nvSpPr>
        <p:spPr>
          <a:xfrm>
            <a:off x="3587750" y="3940211"/>
            <a:ext cx="1914525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Краска фасадная</a:t>
            </a:r>
            <a:endParaRPr lang="en-US" sz="800" dirty="0"/>
          </a:p>
        </p:txBody>
      </p:sp>
      <p:sp>
        <p:nvSpPr>
          <p:cNvPr id="92" name="Text 89"/>
          <p:cNvSpPr/>
          <p:nvPr/>
        </p:nvSpPr>
        <p:spPr>
          <a:xfrm>
            <a:off x="3057525" y="4129520"/>
            <a:ext cx="2414588" cy="203597"/>
          </a:xfrm>
          <a:prstGeom prst="roundRect">
            <a:avLst>
              <a:gd name="adj" fmla="val 37427"/>
            </a:avLst>
          </a:prstGeom>
          <a:solidFill>
            <a:srgbClr val="FFFFFF">
              <a:alpha val="6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3" name="Text 90"/>
          <p:cNvSpPr/>
          <p:nvPr/>
        </p:nvSpPr>
        <p:spPr>
          <a:xfrm>
            <a:off x="3035440" y="4175312"/>
            <a:ext cx="152207" cy="112014"/>
          </a:xfrm>
          <a:prstGeom prst="roundRect">
            <a:avLst>
              <a:gd name="adj" fmla="val 25510"/>
            </a:avLst>
          </a:prstGeom>
          <a:solidFill>
            <a:srgbClr val="F28C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4" name="Text 91"/>
          <p:cNvSpPr/>
          <p:nvPr/>
        </p:nvSpPr>
        <p:spPr>
          <a:xfrm>
            <a:off x="3046413" y="4181313"/>
            <a:ext cx="130262" cy="100013"/>
          </a:xfrm>
          <a:prstGeom prst="rect">
            <a:avLst/>
          </a:prstGeom>
          <a:noFill/>
          <a:ln/>
        </p:spPr>
        <p:txBody>
          <a:bodyPr wrap="none" lIns="28575" tIns="7144" rIns="28575" bIns="7144" rtlCol="0" anchor="ctr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</a:t>
            </a:r>
            <a:endParaRPr lang="en-US" sz="800" dirty="0"/>
          </a:p>
        </p:txBody>
      </p:sp>
      <p:sp>
        <p:nvSpPr>
          <p:cNvPr id="95" name="Text 92"/>
          <p:cNvSpPr/>
          <p:nvPr/>
        </p:nvSpPr>
        <p:spPr>
          <a:xfrm>
            <a:off x="3179989" y="4175312"/>
            <a:ext cx="151984" cy="112014"/>
          </a:xfrm>
          <a:prstGeom prst="roundRect">
            <a:avLst>
              <a:gd name="adj" fmla="val 25510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6" name="Text 93"/>
          <p:cNvSpPr/>
          <p:nvPr/>
        </p:nvSpPr>
        <p:spPr>
          <a:xfrm>
            <a:off x="3190962" y="4181313"/>
            <a:ext cx="130039" cy="100013"/>
          </a:xfrm>
          <a:prstGeom prst="rect">
            <a:avLst/>
          </a:prstGeom>
          <a:noFill/>
          <a:ln/>
        </p:spPr>
        <p:txBody>
          <a:bodyPr wrap="none" lIns="28575" tIns="7144" rIns="28575" bIns="7144" rtlCol="0" anchor="ctr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</a:t>
            </a:r>
            <a:endParaRPr lang="en-US" sz="800" dirty="0"/>
          </a:p>
        </p:txBody>
      </p:sp>
      <p:sp>
        <p:nvSpPr>
          <p:cNvPr id="97" name="Text 94"/>
          <p:cNvSpPr/>
          <p:nvPr/>
        </p:nvSpPr>
        <p:spPr>
          <a:xfrm>
            <a:off x="3587750" y="4172383"/>
            <a:ext cx="1914525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Лак / Защитное покрытие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057525" y="4361692"/>
            <a:ext cx="2414588" cy="321469"/>
          </a:xfrm>
          <a:prstGeom prst="roundRect">
            <a:avLst>
              <a:gd name="adj" fmla="val 23704"/>
            </a:avLst>
          </a:prstGeom>
          <a:solidFill>
            <a:srgbClr val="FFFFFF">
              <a:alpha val="6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9" name="Text 96"/>
          <p:cNvSpPr/>
          <p:nvPr/>
        </p:nvSpPr>
        <p:spPr>
          <a:xfrm>
            <a:off x="3035440" y="4466420"/>
            <a:ext cx="151984" cy="112014"/>
          </a:xfrm>
          <a:prstGeom prst="roundRect">
            <a:avLst>
              <a:gd name="adj" fmla="val 25510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0" name="Text 97"/>
          <p:cNvSpPr/>
          <p:nvPr/>
        </p:nvSpPr>
        <p:spPr>
          <a:xfrm>
            <a:off x="3046413" y="4472420"/>
            <a:ext cx="130039" cy="100013"/>
          </a:xfrm>
          <a:prstGeom prst="rect">
            <a:avLst/>
          </a:prstGeom>
          <a:noFill/>
          <a:ln/>
        </p:spPr>
        <p:txBody>
          <a:bodyPr wrap="none" lIns="28575" tIns="7144" rIns="28575" bIns="7144" rtlCol="0" anchor="ctr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</a:t>
            </a:r>
            <a:endParaRPr lang="en-US" sz="800" dirty="0"/>
          </a:p>
        </p:txBody>
      </p:sp>
      <p:sp>
        <p:nvSpPr>
          <p:cNvPr id="101" name="Text 98"/>
          <p:cNvSpPr/>
          <p:nvPr/>
        </p:nvSpPr>
        <p:spPr>
          <a:xfrm>
            <a:off x="3580160" y="4404555"/>
            <a:ext cx="1922115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Декоративные эффекты (сатин, бархат, керамика)</a:t>
            </a:r>
            <a:endParaRPr lang="en-US" sz="800" dirty="0"/>
          </a:p>
        </p:txBody>
      </p:sp>
      <p:sp>
        <p:nvSpPr>
          <p:cNvPr id="104" name="Text 101"/>
          <p:cNvSpPr/>
          <p:nvPr/>
        </p:nvSpPr>
        <p:spPr>
          <a:xfrm>
            <a:off x="5734833" y="531386"/>
            <a:ext cx="304323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Пример: Технологическая карта «Долговечный интерьер»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5688013" y="770877"/>
            <a:ext cx="3043238" cy="1311960"/>
          </a:xfrm>
          <a:prstGeom prst="roundRect">
            <a:avLst>
              <a:gd name="adj" fmla="val 10884"/>
            </a:avLst>
          </a:prstGeom>
          <a:solidFill>
            <a:srgbClr val="FFF9F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6" name="Text 103"/>
          <p:cNvSpPr/>
          <p:nvPr/>
        </p:nvSpPr>
        <p:spPr>
          <a:xfrm>
            <a:off x="5788025" y="843958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DC5C5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7" name="Text 104"/>
          <p:cNvSpPr/>
          <p:nvPr/>
        </p:nvSpPr>
        <p:spPr>
          <a:xfrm>
            <a:off x="5853881" y="876105"/>
            <a:ext cx="105594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6010275" y="840584"/>
            <a:ext cx="1354750" cy="119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Грунт глубокого проникновения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7299250" y="839592"/>
            <a:ext cx="638249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59"/>
              </a:lnSpc>
              <a:buNone/>
            </a:pPr>
            <a:r>
              <a:rPr lang="ru-RU" sz="800" dirty="0" err="1" smtClean="0">
                <a:solidFill>
                  <a:srgbClr val="DC5C5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Субэконом</a:t>
            </a:r>
            <a:r>
              <a:rPr lang="ru-RU" sz="800" dirty="0" smtClean="0">
                <a:solidFill>
                  <a:srgbClr val="DC5C5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/>
            </a:r>
            <a:br>
              <a:rPr lang="ru-RU" sz="800" dirty="0" smtClean="0">
                <a:solidFill>
                  <a:srgbClr val="DC5C5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</a:br>
            <a:r>
              <a:rPr lang="ru-RU" sz="800" dirty="0" smtClean="0">
                <a:solidFill>
                  <a:srgbClr val="DC5C5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/ Эконом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8146120" y="876105"/>
            <a:ext cx="605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ОРЕОЛ · ~130 ₽/кг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5788025" y="1136840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F5B0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2" name="Text 109"/>
          <p:cNvSpPr/>
          <p:nvPr/>
        </p:nvSpPr>
        <p:spPr>
          <a:xfrm>
            <a:off x="5853881" y="1168987"/>
            <a:ext cx="105594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endParaRPr lang="en-US" sz="800" dirty="0"/>
          </a:p>
        </p:txBody>
      </p:sp>
      <p:sp>
        <p:nvSpPr>
          <p:cNvPr id="113" name="Text 110"/>
          <p:cNvSpPr/>
          <p:nvPr/>
        </p:nvSpPr>
        <p:spPr>
          <a:xfrm>
            <a:off x="6016625" y="1177917"/>
            <a:ext cx="1019349" cy="119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Шпатлёвка финишная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7337351" y="1173670"/>
            <a:ext cx="644598" cy="111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59"/>
              </a:lnSpc>
              <a:buNone/>
            </a:pPr>
            <a:r>
              <a:rPr lang="en-US" sz="800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8130084" y="1168987"/>
            <a:ext cx="71705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NEWTONE · ~200 ₽/кг</a:t>
            </a:r>
            <a:endParaRPr lang="en-US" sz="800" dirty="0"/>
          </a:p>
        </p:txBody>
      </p:sp>
      <p:sp>
        <p:nvSpPr>
          <p:cNvPr id="116" name="Text 113"/>
          <p:cNvSpPr/>
          <p:nvPr/>
        </p:nvSpPr>
        <p:spPr>
          <a:xfrm>
            <a:off x="5788025" y="1426217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7" name="Text 114"/>
          <p:cNvSpPr/>
          <p:nvPr/>
        </p:nvSpPr>
        <p:spPr>
          <a:xfrm>
            <a:off x="5853881" y="1458364"/>
            <a:ext cx="105594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</a:t>
            </a:r>
            <a:endParaRPr lang="en-US" sz="800" dirty="0"/>
          </a:p>
        </p:txBody>
      </p:sp>
      <p:sp>
        <p:nvSpPr>
          <p:cNvPr id="118" name="Text 115"/>
          <p:cNvSpPr/>
          <p:nvPr/>
        </p:nvSpPr>
        <p:spPr>
          <a:xfrm>
            <a:off x="6016625" y="1426349"/>
            <a:ext cx="1330278" cy="119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Краска интерьерная моющаяся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7308342" y="1478737"/>
            <a:ext cx="416481" cy="121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59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ПРЕМИУМ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986923" y="1461870"/>
            <a:ext cx="8348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AVANTGARDE · ~600 ₽/кг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5794375" y="1737598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6A1B9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2" name="Text 119"/>
          <p:cNvSpPr/>
          <p:nvPr/>
        </p:nvSpPr>
        <p:spPr>
          <a:xfrm>
            <a:off x="5860231" y="1769745"/>
            <a:ext cx="105594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6022975" y="1719739"/>
            <a:ext cx="1647085" cy="104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Лак защитный / </a:t>
            </a:r>
            <a:r>
              <a:rPr lang="ru-RU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/>
            </a:r>
            <a:br>
              <a:rPr lang="ru-RU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</a:br>
            <a:r>
              <a:rPr lang="en-US" sz="800" b="1" dirty="0" err="1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Декоративный</a:t>
            </a:r>
            <a:r>
              <a:rPr lang="en-US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эффект</a:t>
            </a:r>
          </a:p>
        </p:txBody>
      </p:sp>
      <p:sp>
        <p:nvSpPr>
          <p:cNvPr id="124" name="Text 121"/>
          <p:cNvSpPr/>
          <p:nvPr/>
        </p:nvSpPr>
        <p:spPr>
          <a:xfrm>
            <a:off x="7324456" y="1817806"/>
            <a:ext cx="464487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59"/>
              </a:lnSpc>
              <a:buNone/>
            </a:pPr>
            <a:r>
              <a:rPr lang="en-US" sz="800" dirty="0" smtClean="0">
                <a:solidFill>
                  <a:srgbClr val="6A1B9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ПРЕМИУМ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7993273" y="1769745"/>
            <a:ext cx="8348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AVANTGARDE · ~800 ₽/кг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5700713" y="2200026"/>
            <a:ext cx="3043238" cy="907144"/>
          </a:xfrm>
          <a:prstGeom prst="roundRect">
            <a:avLst>
              <a:gd name="adj" fmla="val 15920"/>
            </a:avLst>
          </a:prstGeom>
          <a:solidFill>
            <a:srgbClr val="F0E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7" name="Text 124"/>
          <p:cNvSpPr/>
          <p:nvPr/>
        </p:nvSpPr>
        <p:spPr>
          <a:xfrm>
            <a:off x="5800725" y="2290897"/>
            <a:ext cx="2952940" cy="133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dirty="0">
                <a:solidFill>
                  <a:srgbClr val="6A1B9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Экономика гибридной цепочки</a:t>
            </a:r>
            <a:endParaRPr lang="en-US" sz="800" dirty="0"/>
          </a:p>
        </p:txBody>
      </p:sp>
      <p:sp>
        <p:nvSpPr>
          <p:cNvPr id="128" name="Text 125"/>
          <p:cNvSpPr/>
          <p:nvPr/>
        </p:nvSpPr>
        <p:spPr>
          <a:xfrm>
            <a:off x="5892800" y="2506223"/>
            <a:ext cx="646199" cy="1654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ctr">
              <a:lnSpc>
                <a:spcPts val="1519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Times New Roman" pitchFamily="18" charset="0"/>
                <a:ea typeface="Liberation Sans Narrow" pitchFamily="34" charset="-122"/>
                <a:cs typeface="Times New Roman" pitchFamily="18" charset="0"/>
              </a:rPr>
              <a:t>~140</a:t>
            </a:r>
          </a:p>
        </p:txBody>
      </p:sp>
      <p:sp>
        <p:nvSpPr>
          <p:cNvPr id="129" name="Text 126"/>
          <p:cNvSpPr/>
          <p:nvPr/>
        </p:nvSpPr>
        <p:spPr>
          <a:xfrm>
            <a:off x="5800725" y="2699104"/>
            <a:ext cx="807913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средняя цена</a:t>
            </a:r>
            <a:endParaRPr lang="en-US" sz="800" dirty="0"/>
          </a:p>
          <a:p>
            <a:pPr marL="0" indent="0" algn="ctr">
              <a:lnSpc>
                <a:spcPts val="759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commodities, ₽/кг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6680076" y="2506223"/>
            <a:ext cx="106799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+</a:t>
            </a:r>
            <a:endParaRPr lang="en-US" sz="900" dirty="0"/>
          </a:p>
        </p:txBody>
      </p:sp>
      <p:sp>
        <p:nvSpPr>
          <p:cNvPr id="131" name="Text 128"/>
          <p:cNvSpPr/>
          <p:nvPr/>
        </p:nvSpPr>
        <p:spPr>
          <a:xfrm>
            <a:off x="6583936" y="2506223"/>
            <a:ext cx="1276680" cy="1654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25000" lnSpcReduction="20000"/>
          </a:bodyPr>
          <a:lstStyle/>
          <a:p>
            <a:pPr marL="0" indent="0" algn="ctr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2E7D3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~</a:t>
            </a:r>
            <a:r>
              <a:rPr lang="en-US" sz="5600" b="1" dirty="0">
                <a:solidFill>
                  <a:srgbClr val="2E7D32"/>
                </a:solidFill>
                <a:latin typeface="Times New Roman" pitchFamily="18" charset="0"/>
                <a:ea typeface="Liberation Sans Narrow" pitchFamily="34" charset="-122"/>
                <a:cs typeface="Times New Roman" pitchFamily="18" charset="0"/>
              </a:rPr>
              <a:t>650</a:t>
            </a:r>
            <a:endParaRPr lang="en-US" sz="5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2" name="Text 129"/>
          <p:cNvSpPr/>
          <p:nvPr/>
        </p:nvSpPr>
        <p:spPr>
          <a:xfrm>
            <a:off x="6818263" y="2699104"/>
            <a:ext cx="808025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средняя цена</a:t>
            </a:r>
            <a:endParaRPr lang="en-US" sz="800" dirty="0"/>
          </a:p>
          <a:p>
            <a:pPr marL="0" indent="0" algn="ctr">
              <a:lnSpc>
                <a:spcPts val="759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маржинальных, ₽/кг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7697725" y="2506223"/>
            <a:ext cx="106799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=</a:t>
            </a:r>
            <a:endParaRPr lang="en-US" sz="900" dirty="0"/>
          </a:p>
        </p:txBody>
      </p:sp>
      <p:sp>
        <p:nvSpPr>
          <p:cNvPr id="134" name="Text 131"/>
          <p:cNvSpPr/>
          <p:nvPr/>
        </p:nvSpPr>
        <p:spPr>
          <a:xfrm>
            <a:off x="7937499" y="2506223"/>
            <a:ext cx="647701" cy="1654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ctr">
              <a:lnSpc>
                <a:spcPts val="1519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Times New Roman" pitchFamily="18" charset="0"/>
                <a:ea typeface="Liberation Sans Narrow" pitchFamily="34" charset="-122"/>
                <a:cs typeface="Times New Roman" pitchFamily="18" charset="0"/>
              </a:rPr>
              <a:t>~420</a:t>
            </a:r>
          </a:p>
        </p:txBody>
      </p:sp>
      <p:sp>
        <p:nvSpPr>
          <p:cNvPr id="135" name="Text 132"/>
          <p:cNvSpPr/>
          <p:nvPr/>
        </p:nvSpPr>
        <p:spPr>
          <a:xfrm>
            <a:off x="7835912" y="2699104"/>
            <a:ext cx="808025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средняя цена</a:t>
            </a:r>
            <a:endParaRPr lang="en-US" sz="800" dirty="0"/>
          </a:p>
          <a:p>
            <a:pPr marL="0" indent="0" algn="ctr">
              <a:lnSpc>
                <a:spcPts val="759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цепочки, ₽/кг</a:t>
            </a:r>
            <a:endParaRPr lang="en-US" sz="800" dirty="0"/>
          </a:p>
        </p:txBody>
      </p:sp>
      <p:pic>
        <p:nvPicPr>
          <p:cNvPr id="13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0713" y="3351014"/>
            <a:ext cx="3043238" cy="682228"/>
          </a:xfrm>
          <a:prstGeom prst="rect">
            <a:avLst/>
          </a:prstGeom>
        </p:spPr>
      </p:pic>
      <p:sp>
        <p:nvSpPr>
          <p:cNvPr id="137" name="Text 133"/>
          <p:cNvSpPr/>
          <p:nvPr/>
        </p:nvSpPr>
        <p:spPr>
          <a:xfrm>
            <a:off x="5815013" y="3411339"/>
            <a:ext cx="2814637" cy="1190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Итог гибридной модели</a:t>
            </a:r>
            <a:endParaRPr lang="en-US" sz="800" dirty="0"/>
          </a:p>
        </p:txBody>
      </p:sp>
      <p:sp>
        <p:nvSpPr>
          <p:cNvPr id="138" name="Text 134"/>
          <p:cNvSpPr/>
          <p:nvPr/>
        </p:nvSpPr>
        <p:spPr>
          <a:xfrm>
            <a:off x="5815013" y="3551436"/>
            <a:ext cx="11277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ea typeface="Liberation Sans Narrow" pitchFamily="34" charset="-122"/>
                <a:cs typeface="Liberation Sans Narrow" pitchFamily="34" charset="-120"/>
              </a:rPr>
              <a:t>-30% SKU</a:t>
            </a:r>
            <a:endParaRPr lang="en-US" sz="1000" dirty="0"/>
          </a:p>
        </p:txBody>
      </p:sp>
      <p:sp>
        <p:nvSpPr>
          <p:cNvPr id="139" name="Text 135"/>
          <p:cNvSpPr/>
          <p:nvPr/>
        </p:nvSpPr>
        <p:spPr>
          <a:xfrm>
            <a:off x="5815013" y="3722886"/>
            <a:ext cx="881025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59"/>
              </a:lnSpc>
              <a:buNone/>
            </a:pPr>
            <a:r>
              <a:rPr lang="en-US" sz="800" dirty="0">
                <a:solidFill>
                  <a:srgbClr val="FFFFF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vs чистые сегментные цепочки</a:t>
            </a:r>
            <a:endParaRPr lang="en-US" sz="800" dirty="0"/>
          </a:p>
        </p:txBody>
      </p:sp>
      <p:sp>
        <p:nvSpPr>
          <p:cNvPr id="140" name="Text 136"/>
          <p:cNvSpPr/>
          <p:nvPr/>
        </p:nvSpPr>
        <p:spPr>
          <a:xfrm>
            <a:off x="6654763" y="3551436"/>
            <a:ext cx="103269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+15% маржа</a:t>
            </a:r>
            <a:endParaRPr lang="en-US" sz="1000" dirty="0"/>
          </a:p>
        </p:txBody>
      </p:sp>
      <p:sp>
        <p:nvSpPr>
          <p:cNvPr id="141" name="Text 137"/>
          <p:cNvSpPr/>
          <p:nvPr/>
        </p:nvSpPr>
        <p:spPr>
          <a:xfrm>
            <a:off x="6654763" y="3722886"/>
            <a:ext cx="103269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59"/>
              </a:lnSpc>
              <a:buNone/>
            </a:pPr>
            <a:r>
              <a:rPr lang="en-US" sz="800" dirty="0">
                <a:solidFill>
                  <a:srgbClr val="FFFFF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на системе в целом</a:t>
            </a:r>
            <a:endParaRPr lang="en-US" sz="800" dirty="0"/>
          </a:p>
        </p:txBody>
      </p:sp>
      <p:sp>
        <p:nvSpPr>
          <p:cNvPr id="142" name="Text 138"/>
          <p:cNvSpPr/>
          <p:nvPr/>
        </p:nvSpPr>
        <p:spPr>
          <a:xfrm>
            <a:off x="7767675" y="3551436"/>
            <a:ext cx="881025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TCO работает</a:t>
            </a:r>
            <a:endParaRPr lang="en-US" sz="1000" dirty="0"/>
          </a:p>
        </p:txBody>
      </p:sp>
      <p:sp>
        <p:nvSpPr>
          <p:cNvPr id="143" name="Text 139"/>
          <p:cNvSpPr/>
          <p:nvPr/>
        </p:nvSpPr>
        <p:spPr>
          <a:xfrm>
            <a:off x="7767675" y="3722886"/>
            <a:ext cx="881025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59"/>
              </a:lnSpc>
              <a:buNone/>
            </a:pPr>
            <a:r>
              <a:rPr lang="en-US" sz="800" dirty="0">
                <a:solidFill>
                  <a:srgbClr val="FFFFF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переплата только за ценность</a:t>
            </a:r>
            <a:endParaRPr lang="en-US" sz="800" dirty="0"/>
          </a:p>
        </p:txBody>
      </p:sp>
      <p:sp>
        <p:nvSpPr>
          <p:cNvPr id="144" name="Text 140"/>
          <p:cNvSpPr/>
          <p:nvPr/>
        </p:nvSpPr>
        <p:spPr>
          <a:xfrm>
            <a:off x="5700713" y="4187230"/>
            <a:ext cx="3043238" cy="472715"/>
          </a:xfrm>
          <a:prstGeom prst="roundRect">
            <a:avLst>
              <a:gd name="adj" fmla="val 24179"/>
            </a:avLst>
          </a:prstGeom>
          <a:solidFill>
            <a:srgbClr val="FFF0E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5" name="Text 141"/>
          <p:cNvSpPr/>
          <p:nvPr/>
        </p:nvSpPr>
        <p:spPr>
          <a:xfrm>
            <a:off x="5800725" y="4349385"/>
            <a:ext cx="52115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F28C3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➤</a:t>
            </a:r>
            <a:endParaRPr lang="en-US" sz="1125" dirty="0"/>
          </a:p>
        </p:txBody>
      </p:sp>
      <p:sp>
        <p:nvSpPr>
          <p:cNvPr id="146" name="Text 142"/>
          <p:cNvSpPr/>
          <p:nvPr/>
        </p:nvSpPr>
        <p:spPr>
          <a:xfrm>
            <a:off x="6364746" y="4270246"/>
            <a:ext cx="2279191" cy="32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6"/>
              </a:lnSpc>
              <a:buNone/>
            </a:pPr>
            <a:r>
              <a:rPr lang="en-US" sz="800" b="1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Навигация — по технологии, не по бренду.</a:t>
            </a: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Клиент выбирает задачу, а система сама подбирает оптимальное сочетание звеньев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1566683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0000" y="233175"/>
            <a:ext cx="8544000" cy="401445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>
              <a:defRPr sz="1800" b="1">
                <a:solidFill>
                  <a:srgbClr val="2D2D2D"/>
                </a:solidFill>
                <a:latin typeface="Montserrat"/>
              </a:defRPr>
            </a:pPr>
            <a:r>
              <a:rPr dirty="0" err="1"/>
              <a:t>Ассортиментная</a:t>
            </a:r>
            <a:r>
              <a:rPr dirty="0"/>
              <a:t> </a:t>
            </a:r>
            <a:r>
              <a:rPr dirty="0" err="1"/>
              <a:t>матрица</a:t>
            </a:r>
            <a:r>
              <a:rPr dirty="0"/>
              <a:t>: </a:t>
            </a:r>
            <a:r>
              <a:rPr dirty="0" err="1"/>
              <a:t>задачи</a:t>
            </a:r>
            <a:r>
              <a:rPr dirty="0"/>
              <a:t> </a:t>
            </a:r>
            <a:r>
              <a:rPr dirty="0" err="1"/>
              <a:t>клиента</a:t>
            </a:r>
            <a:r>
              <a:rPr dirty="0"/>
              <a:t> × </a:t>
            </a:r>
            <a:r>
              <a:rPr dirty="0" err="1"/>
              <a:t>продукты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300000" y="561888"/>
            <a:ext cx="480000" cy="31500"/>
          </a:xfrm>
          <a:prstGeom prst="roundRect">
            <a:avLst/>
          </a:prstGeom>
          <a:solidFill>
            <a:srgbClr val="F28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00000" y="737220"/>
            <a:ext cx="8544000" cy="1500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>
              <a:defRPr sz="800" b="0">
                <a:solidFill>
                  <a:srgbClr val="7A7A7A"/>
                </a:solidFill>
                <a:latin typeface="Open Sans"/>
              </a:defRPr>
            </a:pPr>
            <a:r>
              <a:rPr dirty="0" err="1"/>
              <a:t>Каждая</a:t>
            </a:r>
            <a:r>
              <a:rPr dirty="0"/>
              <a:t> </a:t>
            </a:r>
            <a:r>
              <a:rPr dirty="0" err="1"/>
              <a:t>задача</a:t>
            </a:r>
            <a:r>
              <a:rPr dirty="0"/>
              <a:t> </a:t>
            </a:r>
            <a:r>
              <a:rPr dirty="0" err="1"/>
              <a:t>клиента</a:t>
            </a:r>
            <a:r>
              <a:rPr dirty="0"/>
              <a:t> = </a:t>
            </a:r>
            <a:r>
              <a:rPr dirty="0" err="1"/>
              <a:t>комбинация</a:t>
            </a:r>
            <a:r>
              <a:rPr dirty="0"/>
              <a:t> </a:t>
            </a:r>
            <a:r>
              <a:rPr dirty="0" err="1"/>
              <a:t>продуктов</a:t>
            </a:r>
            <a:r>
              <a:rPr dirty="0"/>
              <a:t>. </a:t>
            </a:r>
            <a:r>
              <a:rPr dirty="0" err="1"/>
              <a:t>Анализ</a:t>
            </a:r>
            <a:r>
              <a:rPr dirty="0"/>
              <a:t> </a:t>
            </a:r>
            <a:r>
              <a:rPr dirty="0" err="1"/>
              <a:t>показывает</a:t>
            </a:r>
            <a:r>
              <a:rPr dirty="0"/>
              <a:t>: </a:t>
            </a:r>
            <a:r>
              <a:rPr dirty="0" err="1"/>
              <a:t>весь</a:t>
            </a:r>
            <a:r>
              <a:rPr dirty="0"/>
              <a:t> </a:t>
            </a:r>
            <a:r>
              <a:rPr dirty="0" err="1"/>
              <a:t>ли</a:t>
            </a:r>
            <a:r>
              <a:rPr dirty="0"/>
              <a:t> </a:t>
            </a:r>
            <a:r>
              <a:rPr dirty="0" err="1"/>
              <a:t>ассортимент</a:t>
            </a:r>
            <a:r>
              <a:rPr dirty="0"/>
              <a:t> </a:t>
            </a:r>
            <a:r>
              <a:rPr dirty="0" err="1"/>
              <a:t>используется</a:t>
            </a:r>
            <a:r>
              <a:rPr dirty="0"/>
              <a:t>, а </a:t>
            </a:r>
            <a:r>
              <a:rPr dirty="0" err="1"/>
              <a:t>неиспользуемый</a:t>
            </a:r>
            <a:r>
              <a:rPr dirty="0"/>
              <a:t> — </a:t>
            </a:r>
            <a:r>
              <a:rPr dirty="0" err="1"/>
              <a:t>может</a:t>
            </a:r>
            <a:r>
              <a:rPr dirty="0"/>
              <a:t> </a:t>
            </a:r>
            <a:r>
              <a:rPr dirty="0" err="1"/>
              <a:t>ли</a:t>
            </a:r>
            <a:r>
              <a:rPr dirty="0"/>
              <a:t> </a:t>
            </a:r>
            <a:r>
              <a:rPr dirty="0" err="1"/>
              <a:t>быть</a:t>
            </a:r>
            <a:r>
              <a:rPr dirty="0"/>
              <a:t> </a:t>
            </a:r>
            <a:r>
              <a:rPr dirty="0" err="1"/>
              <a:t>самостоятельным</a:t>
            </a:r>
            <a:r>
              <a:rPr dirty="0"/>
              <a:t> </a:t>
            </a:r>
            <a:r>
              <a:rPr dirty="0" err="1"/>
              <a:t>продуктом</a:t>
            </a:r>
            <a:r>
              <a:rPr dirty="0"/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8456" y="1061876"/>
            <a:ext cx="1087500" cy="270000"/>
          </a:xfrm>
          <a:prstGeom prst="roundRect">
            <a:avLst/>
          </a:prstGeom>
          <a:solidFill>
            <a:srgbClr val="F28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768456" y="1084376"/>
            <a:ext cx="1050000" cy="2250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800" b="1">
                <a:solidFill>
                  <a:srgbClr val="FFFFFF"/>
                </a:solidFill>
                <a:latin typeface="Montserrat"/>
              </a:defRPr>
            </a:pPr>
            <a:r>
              <a:t>Грунтовка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48456" y="1061876"/>
            <a:ext cx="1087500" cy="2700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878456" y="1084376"/>
            <a:ext cx="1050000" cy="2250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800" b="1">
                <a:solidFill>
                  <a:srgbClr val="FFFFFF"/>
                </a:solidFill>
                <a:latin typeface="Montserrat"/>
              </a:defRPr>
            </a:pPr>
            <a:r>
              <a:t>Шпатлёвка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8456" y="1061876"/>
            <a:ext cx="1087500" cy="270000"/>
          </a:xfrm>
          <a:prstGeom prst="round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988456" y="1043432"/>
            <a:ext cx="1050000" cy="2250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800" b="1">
                <a:solidFill>
                  <a:srgbClr val="FFFFFF"/>
                </a:solidFill>
                <a:latin typeface="Montserrat"/>
              </a:defRPr>
            </a:pPr>
            <a:r>
              <a:rPr dirty="0" err="1"/>
              <a:t>Финишная</a:t>
            </a:r>
            <a:r>
              <a:rPr dirty="0"/>
              <a:t/>
            </a:r>
            <a:br>
              <a:rPr dirty="0"/>
            </a:br>
            <a:r>
              <a:rPr dirty="0" err="1"/>
              <a:t>шпатлёвка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5068456" y="1061876"/>
            <a:ext cx="1087500" cy="27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98456" y="1084376"/>
            <a:ext cx="1050000" cy="2250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800" b="1">
                <a:solidFill>
                  <a:srgbClr val="FFFFFF"/>
                </a:solidFill>
                <a:latin typeface="Montserrat"/>
              </a:defRPr>
            </a:pPr>
            <a:r>
              <a:t>Краска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8456" y="1061876"/>
            <a:ext cx="1087500" cy="27000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08456" y="1043432"/>
            <a:ext cx="1050000" cy="2250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800" b="1">
                <a:solidFill>
                  <a:srgbClr val="FFFFFF"/>
                </a:solidFill>
                <a:latin typeface="Montserrat"/>
              </a:defRPr>
            </a:pPr>
            <a:r>
              <a:rPr dirty="0" err="1"/>
              <a:t>Лак</a:t>
            </a:r>
            <a:r>
              <a:rPr dirty="0"/>
              <a:t> /</a:t>
            </a:r>
            <a:br>
              <a:rPr dirty="0"/>
            </a:br>
            <a:r>
              <a:rPr dirty="0" err="1"/>
              <a:t>защита</a:t>
            </a:r>
            <a:endParaRPr dirty="0"/>
          </a:p>
        </p:txBody>
      </p:sp>
      <p:sp>
        <p:nvSpPr>
          <p:cNvPr id="15" name="Rounded Rectangle 14"/>
          <p:cNvSpPr/>
          <p:nvPr/>
        </p:nvSpPr>
        <p:spPr>
          <a:xfrm>
            <a:off x="7288456" y="1061876"/>
            <a:ext cx="1087500" cy="2700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8456" y="1043432"/>
            <a:ext cx="1050000" cy="2250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800" b="1">
                <a:solidFill>
                  <a:srgbClr val="FFFFFF"/>
                </a:solidFill>
                <a:latin typeface="Montserrat"/>
              </a:defRPr>
            </a:pPr>
            <a:r>
              <a:rPr dirty="0" err="1"/>
              <a:t>Декор</a:t>
            </a:r>
            <a:r>
              <a:rPr dirty="0"/>
              <a:t>.</a:t>
            </a:r>
            <a:br>
              <a:rPr dirty="0"/>
            </a:br>
            <a:r>
              <a:rPr dirty="0" err="1"/>
              <a:t>эффект</a:t>
            </a:r>
            <a:endParaRPr dirty="0"/>
          </a:p>
        </p:txBody>
      </p:sp>
      <p:sp>
        <p:nvSpPr>
          <p:cNvPr id="17" name="Rounded Rectangle 16"/>
          <p:cNvSpPr/>
          <p:nvPr/>
        </p:nvSpPr>
        <p:spPr>
          <a:xfrm>
            <a:off x="88456" y="1061876"/>
            <a:ext cx="1575000" cy="2700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48456" y="1106876"/>
            <a:ext cx="1485000" cy="1800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>
              <a:defRPr sz="900" b="1">
                <a:solidFill>
                  <a:srgbClr val="FFFFFF"/>
                </a:solidFill>
                <a:latin typeface="Montserrat"/>
              </a:defRPr>
            </a:pPr>
            <a:r>
              <a:t>ЗАДАЧА КЛИЕНТА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456" y="1361876"/>
            <a:ext cx="1575000" cy="495000"/>
          </a:xfrm>
          <a:prstGeom prst="roundRect">
            <a:avLst/>
          </a:prstGeom>
          <a:solidFill>
            <a:srgbClr val="FF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48456" y="1399376"/>
            <a:ext cx="1485000" cy="2250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>
              <a:defRPr sz="900" b="1">
                <a:solidFill>
                  <a:srgbClr val="2D2D2D"/>
                </a:solidFill>
                <a:latin typeface="Montserrat"/>
              </a:defRPr>
            </a:pPr>
            <a:r>
              <a:t>Ремонт комнаты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456" y="1624376"/>
            <a:ext cx="1485000" cy="187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>
              <a:defRPr sz="700" b="0">
                <a:solidFill>
                  <a:srgbClr val="7A7A7A"/>
                </a:solidFill>
                <a:latin typeface="Open Sans"/>
              </a:defRPr>
            </a:pPr>
            <a:r>
              <a:t>Интерьер · Полный цикл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38456" y="136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60956" y="139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Грунт глуб.</a:t>
            </a:r>
            <a:br/>
            <a:r>
              <a:t>проникн.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48456" y="136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870956" y="139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Стартовая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58456" y="136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980956" y="139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Финишная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68456" y="136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90956" y="139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ВД</a:t>
            </a:r>
            <a:br/>
            <a:r>
              <a:t>интерьерная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8456" y="1361876"/>
            <a:ext cx="1087500" cy="495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00956" y="139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900" b="0">
                <a:solidFill>
                  <a:srgbClr val="CCCCCC"/>
                </a:solidFill>
                <a:latin typeface="Open Sans"/>
              </a:defRPr>
            </a:pPr>
            <a:r>
              <a:t>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88456" y="1361876"/>
            <a:ext cx="1087500" cy="495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0956" y="139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900" b="0">
                <a:solidFill>
                  <a:srgbClr val="CCCCCC"/>
                </a:solidFill>
                <a:latin typeface="Open Sans"/>
              </a:defRPr>
            </a:pPr>
            <a:r>
              <a:t>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456" y="1901876"/>
            <a:ext cx="1575000" cy="495000"/>
          </a:xfrm>
          <a:prstGeom prst="roundRect">
            <a:avLst/>
          </a:prstGeom>
          <a:solidFill>
            <a:srgbClr val="E3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48456" y="1939376"/>
            <a:ext cx="1485000" cy="2250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>
              <a:defRPr sz="900" b="1">
                <a:solidFill>
                  <a:srgbClr val="2D2D2D"/>
                </a:solidFill>
                <a:latin typeface="Montserrat"/>
              </a:defRPr>
            </a:pPr>
            <a:r>
              <a:t>Обновление фасада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8456" y="2164376"/>
            <a:ext cx="1485000" cy="187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>
              <a:defRPr sz="700" b="0">
                <a:solidFill>
                  <a:srgbClr val="7A7A7A"/>
                </a:solidFill>
                <a:latin typeface="Open Sans"/>
              </a:defRPr>
            </a:pPr>
            <a:r>
              <a:t>Фасад · Защита от погоды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738456" y="190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760956" y="193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Грунт</a:t>
            </a:r>
            <a:br/>
            <a:r>
              <a:t>фасадный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48456" y="190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870956" y="193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Фасадная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58456" y="190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980956" y="193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Финишная</a:t>
            </a:r>
            <a:br/>
            <a:r>
              <a:t>фасадная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68456" y="190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090956" y="193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ВД</a:t>
            </a:r>
            <a:br/>
            <a:r>
              <a:t>фасадная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78456" y="190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00956" y="193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Защитный</a:t>
            </a:r>
            <a:br/>
            <a:r>
              <a:t>лак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288456" y="1901876"/>
            <a:ext cx="1087500" cy="495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310956" y="193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900" b="0">
                <a:solidFill>
                  <a:srgbClr val="CCCCCC"/>
                </a:solidFill>
                <a:latin typeface="Open Sans"/>
              </a:defRPr>
            </a:pPr>
            <a:r>
              <a:t>—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8456" y="2441876"/>
            <a:ext cx="1575000" cy="495000"/>
          </a:xfrm>
          <a:prstGeom prst="roundRect">
            <a:avLst/>
          </a:prstGeom>
          <a:solidFill>
            <a:srgbClr val="E6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48456" y="2479376"/>
            <a:ext cx="1485000" cy="2250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>
              <a:defRPr sz="900" b="1">
                <a:solidFill>
                  <a:srgbClr val="2D2D2D"/>
                </a:solidFill>
                <a:latin typeface="Montserrat"/>
              </a:defRPr>
            </a:pPr>
            <a:r>
              <a:t>Покраска</a:t>
            </a:r>
            <a:br/>
            <a:r>
              <a:t>деревянного домика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8456" y="2758968"/>
            <a:ext cx="1485000" cy="187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>
              <a:defRPr sz="700" b="0">
                <a:solidFill>
                  <a:srgbClr val="7A7A7A"/>
                </a:solidFill>
                <a:latin typeface="Open Sans"/>
              </a:defRPr>
            </a:pPr>
            <a:r>
              <a:rPr dirty="0" err="1"/>
              <a:t>Дерево</a:t>
            </a:r>
            <a:r>
              <a:rPr dirty="0"/>
              <a:t> · </a:t>
            </a:r>
            <a:r>
              <a:rPr dirty="0" err="1"/>
              <a:t>Защита</a:t>
            </a:r>
            <a:r>
              <a:rPr dirty="0"/>
              <a:t> + </a:t>
            </a:r>
            <a:r>
              <a:rPr dirty="0" err="1"/>
              <a:t>цвет</a:t>
            </a:r>
            <a:endParaRPr dirty="0"/>
          </a:p>
        </p:txBody>
      </p:sp>
      <p:sp>
        <p:nvSpPr>
          <p:cNvPr id="52" name="Rounded Rectangle 51"/>
          <p:cNvSpPr/>
          <p:nvPr/>
        </p:nvSpPr>
        <p:spPr>
          <a:xfrm>
            <a:off x="1738456" y="244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760956" y="247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Антисептик</a:t>
            </a:r>
            <a:br/>
            <a:r>
              <a:t>для дерева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48456" y="2441876"/>
            <a:ext cx="1087500" cy="495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870956" y="247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900" b="0">
                <a:solidFill>
                  <a:srgbClr val="CCCCCC"/>
                </a:solidFill>
                <a:latin typeface="Open Sans"/>
              </a:defRPr>
            </a:pPr>
            <a: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958456" y="2441876"/>
            <a:ext cx="1087500" cy="495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980956" y="247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900" b="0">
                <a:solidFill>
                  <a:srgbClr val="CCCCCC"/>
                </a:solidFill>
                <a:latin typeface="Open Sans"/>
              </a:defRPr>
            </a:pPr>
            <a:r>
              <a:t>—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068456" y="244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090956" y="247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Деревозащитная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78456" y="244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00956" y="247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Лак</a:t>
            </a:r>
            <a:br/>
            <a:r>
              <a:t>для дерева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288456" y="2441876"/>
            <a:ext cx="1087500" cy="495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310956" y="247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900" b="0">
                <a:solidFill>
                  <a:srgbClr val="CCCCCC"/>
                </a:solidFill>
                <a:latin typeface="Open Sans"/>
              </a:defRPr>
            </a:pPr>
            <a:r>
              <a:t>—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8456" y="2981876"/>
            <a:ext cx="1575000" cy="495000"/>
          </a:xfrm>
          <a:prstGeom prst="roundRect">
            <a:avLst/>
          </a:prstGeom>
          <a:solidFill>
            <a:srgbClr val="F0E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48456" y="3019376"/>
            <a:ext cx="1485000" cy="2250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>
              <a:defRPr sz="900" b="1">
                <a:solidFill>
                  <a:srgbClr val="2D2D2D"/>
                </a:solidFill>
                <a:latin typeface="Montserrat"/>
              </a:defRPr>
            </a:pPr>
            <a:r>
              <a:t>Ремонт ванной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48456" y="3244376"/>
            <a:ext cx="1485000" cy="187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>
              <a:defRPr sz="700" b="0">
                <a:solidFill>
                  <a:srgbClr val="7A7A7A"/>
                </a:solidFill>
                <a:latin typeface="Open Sans"/>
              </a:defRPr>
            </a:pPr>
            <a:r>
              <a:t>Влажная зона · Моющаяся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38456" y="298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760956" y="301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Грунт</a:t>
            </a:r>
            <a:br/>
            <a:r>
              <a:t>влагостойк.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848456" y="298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2870956" y="301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Влагостойкая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958456" y="298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980956" y="301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Финишная</a:t>
            </a:r>
            <a:br/>
            <a:r>
              <a:t>влагостойк.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068456" y="298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090956" y="301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ВД</a:t>
            </a:r>
            <a:br/>
            <a:r>
              <a:t>моющаяся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178456" y="298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200956" y="301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Антивандальн.</a:t>
            </a:r>
            <a:br/>
            <a:r>
              <a:t>лак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288456" y="298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310956" y="301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Сатин /</a:t>
            </a:r>
            <a:br/>
            <a:r>
              <a:t>бархат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8456" y="3521876"/>
            <a:ext cx="1575000" cy="495000"/>
          </a:xfrm>
          <a:prstGeom prst="roundRect">
            <a:avLst/>
          </a:prstGeom>
          <a:solidFill>
            <a:srgbClr val="FFF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148456" y="3559376"/>
            <a:ext cx="1485000" cy="2250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>
              <a:defRPr sz="900" b="1">
                <a:solidFill>
                  <a:srgbClr val="2D2D2D"/>
                </a:solidFill>
                <a:latin typeface="Montserrat"/>
              </a:defRPr>
            </a:pPr>
            <a:r>
              <a:t>Декоративный</a:t>
            </a:r>
            <a:br/>
            <a:r>
              <a:t>интерьер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8456" y="3838968"/>
            <a:ext cx="1485000" cy="187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>
              <a:defRPr sz="700" b="0">
                <a:solidFill>
                  <a:srgbClr val="7A7A7A"/>
                </a:solidFill>
                <a:latin typeface="Open Sans"/>
              </a:defRPr>
            </a:pPr>
            <a:r>
              <a:t>Премиум · Фактура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738456" y="352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1760956" y="355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Грунт под</a:t>
            </a:r>
            <a:br/>
            <a:r>
              <a:t>шпатлёвку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848456" y="352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2870956" y="355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Стартовая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958456" y="352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3980956" y="355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Ультратонкая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068456" y="352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5090956" y="355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ВД</a:t>
            </a:r>
            <a:br/>
            <a:r>
              <a:t>премиум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78456" y="352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00956" y="355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Топ-лак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288456" y="352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7310956" y="355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Керамика /</a:t>
            </a:r>
            <a:br/>
            <a:r>
              <a:t>шёлкография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8456" y="4061876"/>
            <a:ext cx="1575000" cy="495000"/>
          </a:xfrm>
          <a:prstGeom prst="round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148456" y="4099376"/>
            <a:ext cx="1485000" cy="2250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>
              <a:defRPr sz="900" b="1">
                <a:solidFill>
                  <a:srgbClr val="2D2D2D"/>
                </a:solidFill>
                <a:latin typeface="Montserrat"/>
              </a:defRPr>
            </a:pPr>
            <a:r>
              <a:t>Покраска</a:t>
            </a:r>
            <a:br/>
            <a:r>
              <a:t>садовых деревьев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48456" y="4365320"/>
            <a:ext cx="1485000" cy="187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>
              <a:defRPr sz="700" b="0">
                <a:solidFill>
                  <a:srgbClr val="7A7A7A"/>
                </a:solidFill>
                <a:latin typeface="Open Sans"/>
              </a:defRPr>
            </a:pPr>
            <a:r>
              <a:rPr dirty="0" err="1"/>
              <a:t>Стandalone</a:t>
            </a:r>
            <a:r>
              <a:rPr dirty="0"/>
              <a:t> · </a:t>
            </a:r>
            <a:r>
              <a:rPr dirty="0" err="1"/>
              <a:t>Сад</a:t>
            </a:r>
            <a:endParaRPr dirty="0"/>
          </a:p>
        </p:txBody>
      </p:sp>
      <p:sp>
        <p:nvSpPr>
          <p:cNvPr id="97" name="Rounded Rectangle 96"/>
          <p:cNvSpPr/>
          <p:nvPr/>
        </p:nvSpPr>
        <p:spPr>
          <a:xfrm>
            <a:off x="1738456" y="4061876"/>
            <a:ext cx="1087500" cy="495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1760956" y="409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900" b="0">
                <a:solidFill>
                  <a:srgbClr val="CCCCCC"/>
                </a:solidFill>
                <a:latin typeface="Open Sans"/>
              </a:defRPr>
            </a:pPr>
            <a:r>
              <a:t>—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848456" y="4061876"/>
            <a:ext cx="1087500" cy="495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2870956" y="409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900" b="0">
                <a:solidFill>
                  <a:srgbClr val="CCCCCC"/>
                </a:solidFill>
                <a:latin typeface="Open Sans"/>
              </a:defRPr>
            </a:pPr>
            <a:r>
              <a:t>—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958456" y="4061876"/>
            <a:ext cx="1087500" cy="495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3980956" y="409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900" b="0">
                <a:solidFill>
                  <a:srgbClr val="CCCCCC"/>
                </a:solidFill>
                <a:latin typeface="Open Sans"/>
              </a:defRPr>
            </a:pPr>
            <a:r>
              <a:t>—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068456" y="4061876"/>
            <a:ext cx="1087500" cy="495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5090956" y="409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700" b="1">
                <a:solidFill>
                  <a:srgbClr val="2D2D2D"/>
                </a:solidFill>
                <a:latin typeface="Open Sans"/>
              </a:defRPr>
            </a:pPr>
            <a:r>
              <a:t>Садовая</a:t>
            </a:r>
            <a:br/>
            <a:r>
              <a:t>краска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78456" y="4061876"/>
            <a:ext cx="1087500" cy="495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6200956" y="409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900" b="0">
                <a:solidFill>
                  <a:srgbClr val="CCCCCC"/>
                </a:solidFill>
                <a:latin typeface="Open Sans"/>
              </a:defRPr>
            </a:pPr>
            <a:r>
              <a:t>—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7288456" y="4061876"/>
            <a:ext cx="1087500" cy="495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7310956" y="4099376"/>
            <a:ext cx="1057500" cy="412500"/>
          </a:xfrm>
          <a:prstGeom prst="rect">
            <a:avLst/>
          </a:prstGeom>
          <a:noFill/>
        </p:spPr>
        <p:txBody>
          <a:bodyPr wrap="square" lIns="68580" tIns="34290" rIns="68580" bIns="34290"/>
          <a:lstStyle/>
          <a:p>
            <a:pPr algn="ctr">
              <a:defRPr sz="900" b="0">
                <a:solidFill>
                  <a:srgbClr val="CCCCCC"/>
                </a:solidFill>
                <a:latin typeface="Open Sans"/>
              </a:defRPr>
            </a:pPr>
            <a:r>
              <a:t>—</a:t>
            </a:r>
          </a:p>
        </p:txBody>
      </p:sp>
      <p:sp>
        <p:nvSpPr>
          <p:cNvPr id="139" name="Rounded Rectangle 18"/>
          <p:cNvSpPr/>
          <p:nvPr/>
        </p:nvSpPr>
        <p:spPr>
          <a:xfrm>
            <a:off x="8394000" y="1055052"/>
            <a:ext cx="674937" cy="27000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8311468" y="1030728"/>
            <a:ext cx="840000" cy="1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Montserrat"/>
              </a:defRPr>
            </a:pPr>
            <a:r>
              <a:rPr dirty="0" err="1"/>
              <a:t>Чек</a:t>
            </a:r>
            <a:r>
              <a:rPr dirty="0"/>
              <a:t>, ₽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311468" y="1165728"/>
            <a:ext cx="840000" cy="1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Montserrat"/>
              </a:defRPr>
            </a:pPr>
            <a:r>
              <a:rPr dirty="0"/>
              <a:t>МД, %</a:t>
            </a:r>
          </a:p>
        </p:txBody>
      </p:sp>
      <p:sp>
        <p:nvSpPr>
          <p:cNvPr id="146" name="Rounded Rectangle 31"/>
          <p:cNvSpPr/>
          <p:nvPr/>
        </p:nvSpPr>
        <p:spPr>
          <a:xfrm>
            <a:off x="8394000" y="1358126"/>
            <a:ext cx="674937" cy="495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47" name="Rounded Rectangle 31"/>
          <p:cNvSpPr/>
          <p:nvPr/>
        </p:nvSpPr>
        <p:spPr>
          <a:xfrm>
            <a:off x="8394000" y="1908992"/>
            <a:ext cx="674937" cy="495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48" name="Rounded Rectangle 31"/>
          <p:cNvSpPr/>
          <p:nvPr/>
        </p:nvSpPr>
        <p:spPr>
          <a:xfrm>
            <a:off x="8400152" y="2456876"/>
            <a:ext cx="674937" cy="495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49" name="Rounded Rectangle 31"/>
          <p:cNvSpPr/>
          <p:nvPr/>
        </p:nvSpPr>
        <p:spPr>
          <a:xfrm>
            <a:off x="8400152" y="2996876"/>
            <a:ext cx="674937" cy="495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50" name="Rounded Rectangle 31"/>
          <p:cNvSpPr/>
          <p:nvPr/>
        </p:nvSpPr>
        <p:spPr>
          <a:xfrm>
            <a:off x="8400823" y="3518085"/>
            <a:ext cx="674937" cy="495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51" name="Rounded Rectangle 31"/>
          <p:cNvSpPr/>
          <p:nvPr/>
        </p:nvSpPr>
        <p:spPr>
          <a:xfrm>
            <a:off x="8400823" y="4057820"/>
            <a:ext cx="674937" cy="495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8306467" y="1352503"/>
            <a:ext cx="85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97706"/>
                </a:solidFill>
                <a:latin typeface="Montserrat"/>
              </a:defRPr>
            </a:pPr>
            <a:r>
              <a:rPr sz="1100" dirty="0"/>
              <a:t>8 500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306467" y="1575928"/>
            <a:ext cx="85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D97706"/>
                </a:solidFill>
                <a:latin typeface="Montserrat"/>
              </a:defRPr>
            </a:pPr>
            <a:r>
              <a:rPr sz="1100" dirty="0"/>
              <a:t>15%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302806" y="1902616"/>
            <a:ext cx="85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7D32"/>
                </a:solidFill>
                <a:latin typeface="Montserrat"/>
              </a:defRPr>
            </a:pPr>
            <a:r>
              <a:rPr sz="1100" dirty="0"/>
              <a:t>18 000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310121" y="2111411"/>
            <a:ext cx="85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7D32"/>
                </a:solidFill>
                <a:latin typeface="Montserrat"/>
              </a:defRPr>
            </a:pPr>
            <a:r>
              <a:rPr sz="1100" dirty="0"/>
              <a:t>25%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332066" y="2436110"/>
            <a:ext cx="85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7D32"/>
                </a:solidFill>
                <a:latin typeface="Montserrat"/>
              </a:defRPr>
            </a:pPr>
            <a:r>
              <a:rPr sz="1100" dirty="0"/>
              <a:t>12 000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46696" y="2652220"/>
            <a:ext cx="85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7D32"/>
                </a:solidFill>
                <a:latin typeface="Montserrat"/>
              </a:defRPr>
            </a:pPr>
            <a:r>
              <a:rPr sz="1100" dirty="0"/>
              <a:t>22%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346696" y="3011956"/>
            <a:ext cx="85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B5E20"/>
                </a:solidFill>
                <a:latin typeface="Montserrat"/>
              </a:defRPr>
            </a:pPr>
            <a:r>
              <a:rPr sz="1100" dirty="0"/>
              <a:t>28 000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346696" y="3228066"/>
            <a:ext cx="85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5E20"/>
                </a:solidFill>
                <a:latin typeface="Montserrat"/>
              </a:defRPr>
            </a:pPr>
            <a:r>
              <a:rPr sz="1100" dirty="0"/>
              <a:t>35%</a:t>
            </a:r>
          </a:p>
        </p:txBody>
      </p:sp>
      <p:sp>
        <p:nvSpPr>
          <p:cNvPr id="160" name="Прямоугольник 159"/>
          <p:cNvSpPr/>
          <p:nvPr/>
        </p:nvSpPr>
        <p:spPr>
          <a:xfrm>
            <a:off x="8449129" y="3552412"/>
            <a:ext cx="6158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B5E20"/>
                </a:solidFill>
                <a:latin typeface="Montserrat"/>
              </a:defRPr>
            </a:pPr>
            <a:r>
              <a:rPr lang="ru-RU" sz="1100" dirty="0"/>
              <a:t>38 000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353826" y="3733171"/>
            <a:ext cx="85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5E20"/>
                </a:solidFill>
                <a:latin typeface="Montserrat"/>
              </a:defRPr>
            </a:pPr>
            <a:r>
              <a:rPr sz="1100" dirty="0"/>
              <a:t>42%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346511" y="4065370"/>
            <a:ext cx="85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97706"/>
                </a:solidFill>
                <a:latin typeface="Montserrat"/>
              </a:defRPr>
            </a:pPr>
            <a:r>
              <a:rPr sz="1100" dirty="0"/>
              <a:t>2 500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353826" y="4296110"/>
            <a:ext cx="85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D97706"/>
                </a:solidFill>
                <a:latin typeface="Montserrat"/>
              </a:defRPr>
            </a:pPr>
            <a:r>
              <a:rPr sz="1100" dirty="0"/>
              <a:t>12%</a:t>
            </a:r>
          </a:p>
        </p:txBody>
      </p:sp>
    </p:spTree>
    <p:extLst>
      <p:ext uri="{BB962C8B-B14F-4D97-AF65-F5344CB8AC3E}">
        <p14:creationId xmlns:p14="http://schemas.microsoft.com/office/powerpoint/2010/main" val="30968039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3328988" y="2552303"/>
            <a:ext cx="5372100" cy="0"/>
          </a:xfrm>
          <a:prstGeom prst="line">
            <a:avLst/>
          </a:prstGeom>
          <a:noFill/>
          <a:ln w="7144">
            <a:solidFill>
              <a:srgbClr val="F0E6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28988" y="2841625"/>
            <a:ext cx="5372100" cy="0"/>
          </a:xfrm>
          <a:prstGeom prst="line">
            <a:avLst/>
          </a:prstGeom>
          <a:noFill/>
          <a:ln w="7144">
            <a:solidFill>
              <a:srgbClr val="F0E6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28988" y="3141663"/>
            <a:ext cx="5372100" cy="0"/>
          </a:xfrm>
          <a:prstGeom prst="line">
            <a:avLst/>
          </a:prstGeom>
          <a:noFill/>
          <a:ln w="7144">
            <a:solidFill>
              <a:srgbClr val="F0E6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28988" y="3430984"/>
            <a:ext cx="5372100" cy="0"/>
          </a:xfrm>
          <a:prstGeom prst="line">
            <a:avLst/>
          </a:prstGeom>
          <a:noFill/>
          <a:ln w="7144">
            <a:solidFill>
              <a:srgbClr val="F0E6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8625" y="342900"/>
            <a:ext cx="8636000" cy="300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94"/>
              </a:lnSpc>
              <a:buNone/>
            </a:pPr>
            <a:r>
              <a:rPr lang="ru-RU" sz="1463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Как продаем решения: философия </a:t>
            </a:r>
            <a:r>
              <a:rPr lang="en-US" sz="1463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TCO</a:t>
            </a:r>
            <a:r>
              <a:rPr lang="en-US" sz="1463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: совокупная стоимость владения</a:t>
            </a:r>
            <a:endParaRPr lang="en-US" sz="1463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650081"/>
            <a:ext cx="457200" cy="35719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56549" y="1076580"/>
            <a:ext cx="82867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2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Переводим продажу от цены за литр к стоимости года эксплуатации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28625" y="1414066"/>
            <a:ext cx="2714625" cy="768623"/>
          </a:xfrm>
          <a:prstGeom prst="roundRect">
            <a:avLst>
              <a:gd name="adj" fmla="val 17349"/>
            </a:avLst>
          </a:prstGeom>
          <a:solidFill>
            <a:srgbClr val="FFF9F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00075" y="1556941"/>
            <a:ext cx="2400300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kern="0" spc="28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ФОРМУЛА TCO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00075" y="1742678"/>
            <a:ext cx="2400300" cy="297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TCO = Материалы + Подготовка + Нанесение + Ремонты + Простой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28625" y="2328737"/>
            <a:ext cx="2714625" cy="1824337"/>
          </a:xfrm>
          <a:prstGeom prst="roundRect">
            <a:avLst>
              <a:gd name="adj" fmla="val 9302"/>
            </a:avLst>
          </a:prstGeom>
          <a:solidFill>
            <a:srgbClr val="FDE8E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571500" y="2471613"/>
            <a:ext cx="53232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DC5C5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◆</a:t>
            </a:r>
            <a:endParaRPr lang="en-US" sz="1406" dirty="0"/>
          </a:p>
        </p:txBody>
      </p:sp>
      <p:sp>
        <p:nvSpPr>
          <p:cNvPr id="18" name="Text 15"/>
          <p:cNvSpPr/>
          <p:nvPr/>
        </p:nvSpPr>
        <p:spPr>
          <a:xfrm>
            <a:off x="1160971" y="2514476"/>
            <a:ext cx="183940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DC5C5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ГЛАВНЫЙ ИНСАЙТ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873533" y="2687513"/>
            <a:ext cx="962643" cy="31546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1100" b="1" dirty="0">
                <a:solidFill>
                  <a:srgbClr val="DC5C5C"/>
                </a:solidFill>
                <a:ea typeface="Liberation Sans Narrow" pitchFamily="34" charset="-122"/>
                <a:cs typeface="Liberation Sans Narrow" pitchFamily="34" charset="-120"/>
              </a:rPr>
              <a:t>80%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22733" y="3030413"/>
            <a:ext cx="96264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800" b="1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работа и подготовка</a:t>
            </a:r>
            <a:endParaRPr lang="en-US" sz="800" b="1" dirty="0"/>
          </a:p>
        </p:txBody>
      </p:sp>
      <p:sp>
        <p:nvSpPr>
          <p:cNvPr id="21" name="Text 18"/>
          <p:cNvSpPr/>
          <p:nvPr/>
        </p:nvSpPr>
        <p:spPr>
          <a:xfrm>
            <a:off x="1714040" y="2810743"/>
            <a:ext cx="91440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CCCCC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/</a:t>
            </a:r>
            <a:endParaRPr lang="en-US" sz="1125" b="1" dirty="0"/>
          </a:p>
        </p:txBody>
      </p:sp>
      <p:sp>
        <p:nvSpPr>
          <p:cNvPr id="22" name="Text 19"/>
          <p:cNvSpPr/>
          <p:nvPr/>
        </p:nvSpPr>
        <p:spPr>
          <a:xfrm>
            <a:off x="1824479" y="2693863"/>
            <a:ext cx="732056" cy="31546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ea typeface="Liberation Sans Narrow" pitchFamily="34" charset="-122"/>
                <a:cs typeface="Liberation Sans Narrow" pitchFamily="34" charset="-120"/>
              </a:rPr>
              <a:t>20%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878635" y="3030413"/>
            <a:ext cx="58564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800" b="1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краска</a:t>
            </a:r>
            <a:endParaRPr lang="en-US" sz="800" b="1" dirty="0"/>
          </a:p>
        </p:txBody>
      </p:sp>
      <p:sp>
        <p:nvSpPr>
          <p:cNvPr id="24" name="Text 21"/>
          <p:cNvSpPr/>
          <p:nvPr/>
        </p:nvSpPr>
        <p:spPr>
          <a:xfrm>
            <a:off x="571500" y="3270522"/>
            <a:ext cx="2428875" cy="72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Стоимость краски — лишь 15-20% от общей сметы. </a:t>
            </a:r>
            <a:r>
              <a:rPr lang="en-US" sz="800" dirty="0" err="1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Переплата</a:t>
            </a:r>
            <a:r>
              <a:rPr lang="en-US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за премиум — это всего +7% к смете, но -60% к стоимости года эксплуатации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3328988" y="1442913"/>
            <a:ext cx="5372100" cy="557213"/>
          </a:xfrm>
          <a:prstGeom prst="roundRect">
            <a:avLst>
              <a:gd name="adj" fmla="val 19444"/>
            </a:avLst>
          </a:prstGeom>
          <a:solidFill>
            <a:srgbClr val="E3F4E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3457576" y="1571501"/>
            <a:ext cx="2457450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1000" b="1" dirty="0">
                <a:solidFill>
                  <a:srgbClr val="2E7D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ПРИМЕР: КОМНАТА 20 М2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3457575" y="1777071"/>
            <a:ext cx="458271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Стены ~45 м2. Технология: Грунтовка + Шпатлёвка + Краска (2 слоя)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826014" y="2080816"/>
            <a:ext cx="172821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ЭКОНОМ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249092" y="2080816"/>
            <a:ext cx="158239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13"/>
              </a:lnSpc>
              <a:buNone/>
            </a:pPr>
            <a:r>
              <a:rPr lang="ru-RU" sz="800" b="1" dirty="0" smtClean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Средний +</a:t>
            </a:r>
            <a:r>
              <a:rPr lang="en-US" sz="800" b="1" dirty="0" smtClean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ЭМПИЛС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3314700" y="2252266"/>
            <a:ext cx="5400675" cy="1589484"/>
          </a:xfrm>
          <a:prstGeom prst="roundRect">
            <a:avLst>
              <a:gd name="adj" fmla="val 7191"/>
            </a:avLst>
          </a:prstGeom>
          <a:solidFill>
            <a:srgbClr val="FFF9F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3443288" y="2337991"/>
            <a:ext cx="3291840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Материалы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5835015" y="2337991"/>
            <a:ext cx="1645920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97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3 600 ₽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6940867" y="2337991"/>
            <a:ext cx="1645920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97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8 720 ₽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3443288" y="2627313"/>
            <a:ext cx="2777490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Работа (грунт + шпатлёвка + покраска)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5835015" y="2627313"/>
            <a:ext cx="1645920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97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15 750 ₽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940867" y="2627313"/>
            <a:ext cx="1645920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97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15 750 ₽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3328988" y="2845197"/>
            <a:ext cx="5372100" cy="300038"/>
          </a:xfrm>
          <a:prstGeom prst="rect">
            <a:avLst/>
          </a:prstGeom>
          <a:solidFill>
            <a:srgbClr val="FFF0E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5"/>
          <p:cNvSpPr/>
          <p:nvPr/>
        </p:nvSpPr>
        <p:spPr>
          <a:xfrm>
            <a:off x="3443288" y="2916634"/>
            <a:ext cx="2700338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Общая стоимость ремонта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5835015" y="2916634"/>
            <a:ext cx="1645920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181"/>
              </a:lnSpc>
              <a:buNone/>
            </a:pPr>
            <a:r>
              <a:rPr lang="en-US" sz="800" b="1" dirty="0">
                <a:solidFill>
                  <a:srgbClr val="7A7A7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19 350 ₽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6940867" y="2916634"/>
            <a:ext cx="1645920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181"/>
              </a:lnSpc>
              <a:buNone/>
            </a:pPr>
            <a:r>
              <a:rPr lang="en-US" sz="800" b="1" dirty="0">
                <a:solidFill>
                  <a:srgbClr val="2D2D2D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24 470 ₽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3443288" y="3216672"/>
            <a:ext cx="2700338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Срок службы покрытия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5835015" y="3216672"/>
            <a:ext cx="1645920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97"/>
              </a:lnSpc>
              <a:buNone/>
            </a:pPr>
            <a:r>
              <a:rPr lang="en-US" sz="800" dirty="0">
                <a:solidFill>
                  <a:srgbClr val="DC5C5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3 года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6940867" y="3216672"/>
            <a:ext cx="1645920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97"/>
              </a:lnSpc>
              <a:buNone/>
            </a:pPr>
            <a:r>
              <a:rPr lang="en-US" sz="800" dirty="0">
                <a:solidFill>
                  <a:srgbClr val="4CAF7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10 лет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3328988" y="3434556"/>
            <a:ext cx="5372100" cy="392906"/>
          </a:xfrm>
          <a:prstGeom prst="rect">
            <a:avLst/>
          </a:prstGeom>
          <a:solidFill>
            <a:srgbClr val="F28C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2"/>
          <p:cNvSpPr/>
          <p:nvPr/>
        </p:nvSpPr>
        <p:spPr>
          <a:xfrm>
            <a:off x="3443288" y="3534569"/>
            <a:ext cx="277749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Стоимость 1 года эксплуатации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5835015" y="3534569"/>
            <a:ext cx="164592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FFFFFF">
                    <a:alpha val="7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6 450 ₽</a:t>
            </a:r>
            <a:endParaRPr lang="en-US" sz="1013" dirty="0"/>
          </a:p>
        </p:txBody>
      </p:sp>
      <p:sp>
        <p:nvSpPr>
          <p:cNvPr id="47" name="Text 44"/>
          <p:cNvSpPr/>
          <p:nvPr/>
        </p:nvSpPr>
        <p:spPr>
          <a:xfrm>
            <a:off x="6940867" y="3534569"/>
            <a:ext cx="164592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2 447 ₽</a:t>
            </a:r>
            <a:endParaRPr lang="en-US" sz="1013" dirty="0"/>
          </a:p>
        </p:txBody>
      </p:sp>
      <p:sp>
        <p:nvSpPr>
          <p:cNvPr id="48" name="Text 45"/>
          <p:cNvSpPr/>
          <p:nvPr/>
        </p:nvSpPr>
        <p:spPr>
          <a:xfrm>
            <a:off x="3314700" y="3941763"/>
            <a:ext cx="1733476" cy="567928"/>
          </a:xfrm>
          <a:prstGeom prst="roundRect">
            <a:avLst>
              <a:gd name="adj" fmla="val 20126"/>
            </a:avLst>
          </a:prstGeom>
          <a:solidFill>
            <a:srgbClr val="E3F4E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6"/>
          <p:cNvSpPr/>
          <p:nvPr/>
        </p:nvSpPr>
        <p:spPr>
          <a:xfrm>
            <a:off x="3443288" y="4041775"/>
            <a:ext cx="1476301" cy="2225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ctr">
              <a:lnSpc>
                <a:spcPts val="1856"/>
              </a:lnSpc>
              <a:buNone/>
            </a:pPr>
            <a:r>
              <a:rPr lang="en-US" sz="800" b="1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X</a:t>
            </a:r>
            <a:r>
              <a:rPr lang="ru-RU" sz="800" b="1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2,6</a:t>
            </a:r>
            <a:endParaRPr lang="en-US" sz="800" b="1" dirty="0">
              <a:solidFill>
                <a:srgbClr val="555555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3443288" y="4291806"/>
            <a:ext cx="1476301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премиум дешевле в год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5148188" y="3941763"/>
            <a:ext cx="1733587" cy="567928"/>
          </a:xfrm>
          <a:prstGeom prst="roundRect">
            <a:avLst>
              <a:gd name="adj" fmla="val 20126"/>
            </a:avLst>
          </a:prstGeom>
          <a:solidFill>
            <a:srgbClr val="FFF0E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9"/>
          <p:cNvSpPr/>
          <p:nvPr/>
        </p:nvSpPr>
        <p:spPr>
          <a:xfrm>
            <a:off x="5276776" y="4041775"/>
            <a:ext cx="1476412" cy="2225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ctr">
              <a:lnSpc>
                <a:spcPts val="1856"/>
              </a:lnSpc>
              <a:buNone/>
            </a:pPr>
            <a:r>
              <a:rPr lang="en-US" sz="800" b="1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4 003 ₽</a:t>
            </a:r>
          </a:p>
        </p:txBody>
      </p:sp>
      <p:sp>
        <p:nvSpPr>
          <p:cNvPr id="53" name="Text 50"/>
          <p:cNvSpPr/>
          <p:nvPr/>
        </p:nvSpPr>
        <p:spPr>
          <a:xfrm>
            <a:off x="5276776" y="4291806"/>
            <a:ext cx="1476412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экономия в год</a:t>
            </a:r>
            <a:endParaRPr lang="en-US" sz="800" dirty="0"/>
          </a:p>
        </p:txBody>
      </p:sp>
      <p:sp>
        <p:nvSpPr>
          <p:cNvPr id="54" name="Text 51"/>
          <p:cNvSpPr/>
          <p:nvPr/>
        </p:nvSpPr>
        <p:spPr>
          <a:xfrm>
            <a:off x="6981788" y="3941763"/>
            <a:ext cx="1733587" cy="567928"/>
          </a:xfrm>
          <a:prstGeom prst="roundRect">
            <a:avLst>
              <a:gd name="adj" fmla="val 20126"/>
            </a:avLst>
          </a:prstGeom>
          <a:solidFill>
            <a:srgbClr val="F0E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2"/>
          <p:cNvSpPr/>
          <p:nvPr/>
        </p:nvSpPr>
        <p:spPr>
          <a:xfrm>
            <a:off x="7110375" y="4041775"/>
            <a:ext cx="1476412" cy="2225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ctr">
              <a:lnSpc>
                <a:spcPts val="1856"/>
              </a:lnSpc>
              <a:buNone/>
            </a:pPr>
            <a:r>
              <a:rPr lang="en-US" sz="800" b="1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33 580 ₽</a:t>
            </a:r>
          </a:p>
        </p:txBody>
      </p:sp>
      <p:sp>
        <p:nvSpPr>
          <p:cNvPr id="56" name="Text 53"/>
          <p:cNvSpPr/>
          <p:nvPr/>
        </p:nvSpPr>
        <p:spPr>
          <a:xfrm>
            <a:off x="7110375" y="4291806"/>
            <a:ext cx="1476412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экономия за 10 лет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031828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428625" y="342900"/>
            <a:ext cx="8636000" cy="300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94"/>
              </a:lnSpc>
              <a:buNone/>
            </a:pPr>
            <a:r>
              <a:rPr lang="ru-RU" sz="1463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Маркетинг: программа внедрения решений и паттернов</a:t>
            </a:r>
            <a:endParaRPr lang="ru-RU" sz="1463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650081"/>
            <a:ext cx="457200" cy="35719"/>
          </a:xfrm>
          <a:prstGeom prst="rect">
            <a:avLst/>
          </a:prstGeom>
        </p:spPr>
      </p:pic>
      <p:sp>
        <p:nvSpPr>
          <p:cNvPr id="58" name="Text 55"/>
          <p:cNvSpPr/>
          <p:nvPr/>
        </p:nvSpPr>
        <p:spPr>
          <a:xfrm>
            <a:off x="413995" y="816971"/>
            <a:ext cx="418130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ru-RU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Программа</a:t>
            </a:r>
            <a:r>
              <a:rPr lang="en-US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внедрения решения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413995" y="992390"/>
            <a:ext cx="3982194" cy="636463"/>
          </a:xfrm>
          <a:prstGeom prst="roundRect">
            <a:avLst>
              <a:gd name="adj" fmla="val 17959"/>
            </a:avLst>
          </a:prstGeom>
          <a:solidFill>
            <a:srgbClr val="FFF0E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7"/>
          <p:cNvSpPr/>
          <p:nvPr/>
        </p:nvSpPr>
        <p:spPr>
          <a:xfrm>
            <a:off x="542582" y="1106690"/>
            <a:ext cx="257175" cy="257175"/>
          </a:xfrm>
          <a:prstGeom prst="roundRect">
            <a:avLst>
              <a:gd name="adj" fmla="val 37037"/>
            </a:avLst>
          </a:prstGeom>
          <a:solidFill>
            <a:srgbClr val="F28C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 58"/>
          <p:cNvSpPr/>
          <p:nvPr/>
        </p:nvSpPr>
        <p:spPr>
          <a:xfrm>
            <a:off x="639358" y="1149552"/>
            <a:ext cx="160400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endParaRPr lang="en-US" sz="900" dirty="0"/>
          </a:p>
        </p:txBody>
      </p:sp>
      <p:sp>
        <p:nvSpPr>
          <p:cNvPr id="62" name="Text 59"/>
          <p:cNvSpPr/>
          <p:nvPr/>
        </p:nvSpPr>
        <p:spPr>
          <a:xfrm>
            <a:off x="899770" y="1106690"/>
            <a:ext cx="3477560" cy="1404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Классификатор технологий</a:t>
            </a:r>
            <a:endParaRPr lang="en-US" sz="800" dirty="0"/>
          </a:p>
        </p:txBody>
      </p:sp>
      <p:sp>
        <p:nvSpPr>
          <p:cNvPr id="63" name="Text 60"/>
          <p:cNvSpPr/>
          <p:nvPr/>
        </p:nvSpPr>
        <p:spPr>
          <a:xfrm>
            <a:off x="899770" y="1274568"/>
            <a:ext cx="3367832" cy="239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Сгруппировать все продукты в технологические цепочки по задачам клиента: «ванная», «фасад», «детская», «офис»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413995" y="1652666"/>
            <a:ext cx="3982194" cy="636463"/>
          </a:xfrm>
          <a:prstGeom prst="roundRect">
            <a:avLst>
              <a:gd name="adj" fmla="val 17959"/>
            </a:avLst>
          </a:prstGeom>
          <a:solidFill>
            <a:srgbClr val="F0E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62"/>
          <p:cNvSpPr/>
          <p:nvPr/>
        </p:nvSpPr>
        <p:spPr>
          <a:xfrm>
            <a:off x="542582" y="1766966"/>
            <a:ext cx="257175" cy="257175"/>
          </a:xfrm>
          <a:prstGeom prst="roundRect">
            <a:avLst>
              <a:gd name="adj" fmla="val 37037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Text 63"/>
          <p:cNvSpPr/>
          <p:nvPr/>
        </p:nvSpPr>
        <p:spPr>
          <a:xfrm>
            <a:off x="639358" y="1809828"/>
            <a:ext cx="160400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endParaRPr lang="en-US" sz="900" dirty="0"/>
          </a:p>
        </p:txBody>
      </p:sp>
      <p:sp>
        <p:nvSpPr>
          <p:cNvPr id="67" name="Text 64"/>
          <p:cNvSpPr/>
          <p:nvPr/>
        </p:nvSpPr>
        <p:spPr>
          <a:xfrm>
            <a:off x="899770" y="1741566"/>
            <a:ext cx="3367832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ru-RU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</a:t>
            </a:r>
            <a:r>
              <a:rPr lang="en-US" sz="800" b="1" dirty="0" err="1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аталог</a:t>
            </a:r>
            <a:r>
              <a:rPr lang="en-US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и сайт</a:t>
            </a:r>
            <a:endParaRPr lang="en-US" sz="800" dirty="0"/>
          </a:p>
        </p:txBody>
      </p:sp>
      <p:sp>
        <p:nvSpPr>
          <p:cNvPr id="68" name="Text 65"/>
          <p:cNvSpPr/>
          <p:nvPr/>
        </p:nvSpPr>
        <p:spPr>
          <a:xfrm>
            <a:off x="899770" y="1915794"/>
            <a:ext cx="3367832" cy="239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Навигация по задачам, не по продуктам. Каждая технология = карточка с расчётом TCO, списком продуктов, видео-инструкцией</a:t>
            </a:r>
            <a:endParaRPr lang="en-US" sz="800" dirty="0"/>
          </a:p>
        </p:txBody>
      </p:sp>
      <p:sp>
        <p:nvSpPr>
          <p:cNvPr id="69" name="Text 66"/>
          <p:cNvSpPr/>
          <p:nvPr/>
        </p:nvSpPr>
        <p:spPr>
          <a:xfrm>
            <a:off x="413995" y="2312942"/>
            <a:ext cx="3982194" cy="636463"/>
          </a:xfrm>
          <a:prstGeom prst="roundRect">
            <a:avLst>
              <a:gd name="adj" fmla="val 17959"/>
            </a:avLst>
          </a:prstGeom>
          <a:solidFill>
            <a:srgbClr val="E6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0" name="Text 67"/>
          <p:cNvSpPr/>
          <p:nvPr/>
        </p:nvSpPr>
        <p:spPr>
          <a:xfrm>
            <a:off x="542582" y="2427242"/>
            <a:ext cx="257175" cy="257175"/>
          </a:xfrm>
          <a:prstGeom prst="roundRect">
            <a:avLst>
              <a:gd name="adj" fmla="val 37037"/>
            </a:avLst>
          </a:prstGeom>
          <a:solidFill>
            <a:srgbClr val="1565C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68"/>
          <p:cNvSpPr/>
          <p:nvPr/>
        </p:nvSpPr>
        <p:spPr>
          <a:xfrm>
            <a:off x="639358" y="2470104"/>
            <a:ext cx="160400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899770" y="2427242"/>
            <a:ext cx="3367832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Калькулятор TCO</a:t>
            </a:r>
            <a:endParaRPr lang="en-US" sz="800" dirty="0"/>
          </a:p>
        </p:txBody>
      </p:sp>
      <p:sp>
        <p:nvSpPr>
          <p:cNvPr id="73" name="Text 70"/>
          <p:cNvSpPr/>
          <p:nvPr/>
        </p:nvSpPr>
        <p:spPr>
          <a:xfrm>
            <a:off x="899770" y="2595120"/>
            <a:ext cx="3367832" cy="239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Веб-инструмент + Excel для менеджеров. Предзаполненные сценарии. Расчёт экономики для клиента за 2 минуты</a:t>
            </a:r>
            <a:endParaRPr lang="en-US" sz="800" dirty="0"/>
          </a:p>
        </p:txBody>
      </p:sp>
      <p:sp>
        <p:nvSpPr>
          <p:cNvPr id="74" name="Text 71"/>
          <p:cNvSpPr/>
          <p:nvPr/>
        </p:nvSpPr>
        <p:spPr>
          <a:xfrm>
            <a:off x="413995" y="2960518"/>
            <a:ext cx="3982194" cy="636463"/>
          </a:xfrm>
          <a:prstGeom prst="roundRect">
            <a:avLst>
              <a:gd name="adj" fmla="val 17959"/>
            </a:avLst>
          </a:prstGeom>
          <a:solidFill>
            <a:srgbClr val="E3F4E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5" name="Text 72"/>
          <p:cNvSpPr/>
          <p:nvPr/>
        </p:nvSpPr>
        <p:spPr>
          <a:xfrm>
            <a:off x="542582" y="3074818"/>
            <a:ext cx="257175" cy="257175"/>
          </a:xfrm>
          <a:prstGeom prst="roundRect">
            <a:avLst>
              <a:gd name="adj" fmla="val 37037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6" name="Text 73"/>
          <p:cNvSpPr/>
          <p:nvPr/>
        </p:nvSpPr>
        <p:spPr>
          <a:xfrm>
            <a:off x="639358" y="3117680"/>
            <a:ext cx="160400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endParaRPr lang="en-US" sz="900" dirty="0"/>
          </a:p>
        </p:txBody>
      </p:sp>
      <p:sp>
        <p:nvSpPr>
          <p:cNvPr id="77" name="Text 74"/>
          <p:cNvSpPr/>
          <p:nvPr/>
        </p:nvSpPr>
        <p:spPr>
          <a:xfrm>
            <a:off x="899770" y="3074818"/>
            <a:ext cx="3367832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 и мерчендайзинг</a:t>
            </a:r>
            <a:endParaRPr lang="en-US" sz="800" dirty="0"/>
          </a:p>
        </p:txBody>
      </p:sp>
      <p:sp>
        <p:nvSpPr>
          <p:cNvPr id="78" name="Text 75"/>
          <p:cNvSpPr/>
          <p:nvPr/>
        </p:nvSpPr>
        <p:spPr>
          <a:xfrm>
            <a:off x="899770" y="3242696"/>
            <a:ext cx="3367832" cy="239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buNone/>
            </a:pPr>
            <a:r>
              <a:rPr lang="en-US" sz="800" dirty="0" err="1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POSm</a:t>
            </a:r>
            <a:r>
              <a:rPr lang="en-US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«под задачу» в DIY-ритейле. Выкрасы по технологиям. Этикетки с TCO-сравнением прямо на полке</a:t>
            </a:r>
            <a:endParaRPr lang="en-US" sz="800" dirty="0"/>
          </a:p>
        </p:txBody>
      </p:sp>
      <p:sp>
        <p:nvSpPr>
          <p:cNvPr id="83" name="Text 71"/>
          <p:cNvSpPr/>
          <p:nvPr/>
        </p:nvSpPr>
        <p:spPr>
          <a:xfrm>
            <a:off x="439395" y="3620918"/>
            <a:ext cx="3982194" cy="636463"/>
          </a:xfrm>
          <a:prstGeom prst="roundRect">
            <a:avLst>
              <a:gd name="adj" fmla="val 17959"/>
            </a:avLst>
          </a:prstGeom>
          <a:solidFill>
            <a:schemeClr val="accent3">
              <a:lumMod val="20000"/>
              <a:lumOff val="8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4" name="Text 72"/>
          <p:cNvSpPr/>
          <p:nvPr/>
        </p:nvSpPr>
        <p:spPr>
          <a:xfrm>
            <a:off x="567982" y="3703468"/>
            <a:ext cx="257175" cy="257175"/>
          </a:xfrm>
          <a:prstGeom prst="roundRect">
            <a:avLst>
              <a:gd name="adj" fmla="val 37037"/>
            </a:avLst>
          </a:prstGeom>
          <a:solidFill>
            <a:schemeClr val="accent3">
              <a:lumMod val="60000"/>
              <a:lumOff val="4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5" name="Text 73"/>
          <p:cNvSpPr/>
          <p:nvPr/>
        </p:nvSpPr>
        <p:spPr>
          <a:xfrm>
            <a:off x="664758" y="3746330"/>
            <a:ext cx="160400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ru-RU" sz="900" b="1" dirty="0">
                <a:solidFill>
                  <a:srgbClr val="FFFFFF"/>
                </a:solidFill>
                <a:ea typeface="Liberation Sans Narrow" pitchFamily="34" charset="-122"/>
              </a:rPr>
              <a:t>5</a:t>
            </a:r>
            <a:endParaRPr lang="en-US" sz="900" dirty="0"/>
          </a:p>
        </p:txBody>
      </p:sp>
      <p:sp>
        <p:nvSpPr>
          <p:cNvPr id="86" name="Text 74"/>
          <p:cNvSpPr/>
          <p:nvPr/>
        </p:nvSpPr>
        <p:spPr>
          <a:xfrm>
            <a:off x="925170" y="3665368"/>
            <a:ext cx="3367832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ru-RU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Цифровое лидерство</a:t>
            </a:r>
            <a:endParaRPr lang="en-US" sz="800" dirty="0"/>
          </a:p>
        </p:txBody>
      </p:sp>
      <p:sp>
        <p:nvSpPr>
          <p:cNvPr id="87" name="Text 75"/>
          <p:cNvSpPr/>
          <p:nvPr/>
        </p:nvSpPr>
        <p:spPr>
          <a:xfrm>
            <a:off x="925170" y="3826896"/>
            <a:ext cx="3367832" cy="352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SMM, </a:t>
            </a:r>
            <a:r>
              <a:rPr lang="en-US" sz="800" dirty="0" err="1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Rutube</a:t>
            </a: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 web-</a:t>
            </a:r>
            <a:r>
              <a:rPr lang="ru-RU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сайт</a:t>
            </a: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</a:p>
          <a:p>
            <a:pPr marL="0" indent="0" algn="l">
              <a:lnSpc>
                <a:spcPts val="945"/>
              </a:lnSpc>
              <a:buNone/>
            </a:pPr>
            <a:r>
              <a:rPr lang="ru-RU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Цифровое обучение</a:t>
            </a:r>
          </a:p>
          <a:p>
            <a:pPr marL="0" indent="0" algn="l">
              <a:lnSpc>
                <a:spcPts val="945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Email + CRM</a:t>
            </a:r>
            <a:endParaRPr lang="ru-RU" sz="800" dirty="0">
              <a:solidFill>
                <a:srgbClr val="555555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945"/>
              </a:lnSpc>
              <a:buNone/>
            </a:pPr>
            <a:endParaRPr lang="en-US" sz="800" dirty="0"/>
          </a:p>
        </p:txBody>
      </p:sp>
      <p:sp>
        <p:nvSpPr>
          <p:cNvPr id="88" name="Text 71"/>
          <p:cNvSpPr/>
          <p:nvPr/>
        </p:nvSpPr>
        <p:spPr>
          <a:xfrm>
            <a:off x="445745" y="4268618"/>
            <a:ext cx="3982194" cy="636463"/>
          </a:xfrm>
          <a:prstGeom prst="roundRect">
            <a:avLst>
              <a:gd name="adj" fmla="val 17959"/>
            </a:avLst>
          </a:prstGeom>
          <a:solidFill>
            <a:schemeClr val="tx2">
              <a:lumMod val="20000"/>
              <a:lumOff val="8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9" name="Text 72"/>
          <p:cNvSpPr/>
          <p:nvPr/>
        </p:nvSpPr>
        <p:spPr>
          <a:xfrm>
            <a:off x="574332" y="4325768"/>
            <a:ext cx="257175" cy="257175"/>
          </a:xfrm>
          <a:prstGeom prst="roundRect">
            <a:avLst>
              <a:gd name="adj" fmla="val 37037"/>
            </a:avLst>
          </a:prstGeom>
          <a:solidFill>
            <a:schemeClr val="tx2">
              <a:lumMod val="60000"/>
              <a:lumOff val="4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0" name="Text 73"/>
          <p:cNvSpPr/>
          <p:nvPr/>
        </p:nvSpPr>
        <p:spPr>
          <a:xfrm>
            <a:off x="671108" y="4368630"/>
            <a:ext cx="160400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ru-RU" sz="900" b="1" dirty="0">
                <a:solidFill>
                  <a:srgbClr val="FFFFFF"/>
                </a:solidFill>
                <a:ea typeface="Liberation Sans Narrow" pitchFamily="34" charset="-122"/>
              </a:rPr>
              <a:t>6</a:t>
            </a:r>
            <a:endParaRPr lang="en-US" sz="900" dirty="0"/>
          </a:p>
        </p:txBody>
      </p:sp>
      <p:sp>
        <p:nvSpPr>
          <p:cNvPr id="91" name="Text 74"/>
          <p:cNvSpPr/>
          <p:nvPr/>
        </p:nvSpPr>
        <p:spPr>
          <a:xfrm>
            <a:off x="931520" y="4287668"/>
            <a:ext cx="3367832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ru-RU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Мероприятия</a:t>
            </a:r>
            <a:endParaRPr lang="en-US" sz="800" b="1" dirty="0">
              <a:solidFill>
                <a:srgbClr val="2D2D2D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92" name="Text 75"/>
          <p:cNvSpPr/>
          <p:nvPr/>
        </p:nvSpPr>
        <p:spPr>
          <a:xfrm>
            <a:off x="931520" y="4449196"/>
            <a:ext cx="3367832" cy="352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buNone/>
            </a:pPr>
            <a:r>
              <a:rPr lang="ru-RU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Выставки – продвижение технологий</a:t>
            </a:r>
          </a:p>
          <a:p>
            <a:pPr marL="0" indent="0" algn="l">
              <a:lnSpc>
                <a:spcPts val="945"/>
              </a:lnSpc>
              <a:buNone/>
            </a:pPr>
            <a:r>
              <a:rPr lang="ru-RU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Полевые мероприятия</a:t>
            </a:r>
          </a:p>
          <a:p>
            <a:pPr marL="0" indent="0" algn="l">
              <a:lnSpc>
                <a:spcPts val="945"/>
              </a:lnSpc>
              <a:buNone/>
            </a:pPr>
            <a:r>
              <a:rPr lang="ru-RU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Профессиональные форумы и симпозиумы</a:t>
            </a:r>
          </a:p>
          <a:p>
            <a:pPr marL="0" indent="0" algn="l">
              <a:lnSpc>
                <a:spcPts val="945"/>
              </a:lnSpc>
              <a:buNone/>
            </a:pPr>
            <a:endParaRPr lang="ru-RU" sz="800" dirty="0">
              <a:solidFill>
                <a:srgbClr val="555555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945"/>
              </a:lnSpc>
              <a:buNone/>
            </a:pPr>
            <a:endParaRPr lang="en-US" sz="800" dirty="0"/>
          </a:p>
        </p:txBody>
      </p:sp>
      <p:sp>
        <p:nvSpPr>
          <p:cNvPr id="93" name="Text 2"/>
          <p:cNvSpPr/>
          <p:nvPr/>
        </p:nvSpPr>
        <p:spPr>
          <a:xfrm>
            <a:off x="5214938" y="1231590"/>
            <a:ext cx="1071563" cy="1071563"/>
          </a:xfrm>
          <a:prstGeom prst="ellipse">
            <a:avLst/>
          </a:prstGeom>
          <a:solidFill>
            <a:srgbClr val="F0E6FF">
              <a:alpha val="3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4" name="Shape 12"/>
          <p:cNvSpPr/>
          <p:nvPr/>
        </p:nvSpPr>
        <p:spPr>
          <a:xfrm>
            <a:off x="4864723" y="2153011"/>
            <a:ext cx="0" cy="314325"/>
          </a:xfrm>
          <a:prstGeom prst="line">
            <a:avLst/>
          </a:prstGeom>
          <a:noFill/>
          <a:ln w="28575">
            <a:solidFill>
              <a:srgbClr val="F28C38"/>
            </a:solidFill>
            <a:prstDash val="solid"/>
          </a:ln>
        </p:spPr>
      </p:sp>
      <p:sp>
        <p:nvSpPr>
          <p:cNvPr id="95" name="Shape 13"/>
          <p:cNvSpPr/>
          <p:nvPr/>
        </p:nvSpPr>
        <p:spPr>
          <a:xfrm>
            <a:off x="4864723" y="2612266"/>
            <a:ext cx="0" cy="314325"/>
          </a:xfrm>
          <a:prstGeom prst="line">
            <a:avLst/>
          </a:prstGeom>
          <a:noFill/>
          <a:ln w="28575">
            <a:solidFill>
              <a:srgbClr val="4CAF7D"/>
            </a:solidFill>
            <a:prstDash val="solid"/>
          </a:ln>
        </p:spPr>
      </p:sp>
      <p:sp>
        <p:nvSpPr>
          <p:cNvPr id="96" name="Shape 14"/>
          <p:cNvSpPr/>
          <p:nvPr/>
        </p:nvSpPr>
        <p:spPr>
          <a:xfrm>
            <a:off x="4864723" y="3064206"/>
            <a:ext cx="0" cy="314325"/>
          </a:xfrm>
          <a:prstGeom prst="line">
            <a:avLst/>
          </a:prstGeom>
          <a:noFill/>
          <a:ln w="28575">
            <a:solidFill>
              <a:srgbClr val="4CAF7D"/>
            </a:solidFill>
            <a:prstDash val="solid"/>
          </a:ln>
        </p:spPr>
      </p:sp>
      <p:sp>
        <p:nvSpPr>
          <p:cNvPr id="97" name="Shape 15"/>
          <p:cNvSpPr/>
          <p:nvPr/>
        </p:nvSpPr>
        <p:spPr>
          <a:xfrm>
            <a:off x="4864723" y="3516146"/>
            <a:ext cx="0" cy="314325"/>
          </a:xfrm>
          <a:prstGeom prst="line">
            <a:avLst/>
          </a:prstGeom>
          <a:noFill/>
          <a:ln w="28575">
            <a:solidFill>
              <a:srgbClr val="7A7A7A"/>
            </a:solidFill>
            <a:prstDash val="solid"/>
          </a:ln>
        </p:spPr>
      </p:sp>
      <p:sp>
        <p:nvSpPr>
          <p:cNvPr id="98" name="Shape 16"/>
          <p:cNvSpPr/>
          <p:nvPr/>
        </p:nvSpPr>
        <p:spPr>
          <a:xfrm>
            <a:off x="4864723" y="3975401"/>
            <a:ext cx="0" cy="314325"/>
          </a:xfrm>
          <a:prstGeom prst="line">
            <a:avLst/>
          </a:prstGeom>
          <a:noFill/>
          <a:ln w="28575">
            <a:solidFill>
              <a:srgbClr val="7A7A7A"/>
            </a:solidFill>
            <a:prstDash val="solid"/>
          </a:ln>
        </p:spPr>
      </p:sp>
      <p:sp>
        <p:nvSpPr>
          <p:cNvPr id="99" name="Text 44"/>
          <p:cNvSpPr/>
          <p:nvPr/>
        </p:nvSpPr>
        <p:spPr>
          <a:xfrm>
            <a:off x="4686300" y="992390"/>
            <a:ext cx="4000500" cy="3912691"/>
          </a:xfrm>
          <a:prstGeom prst="roundRect">
            <a:avLst>
              <a:gd name="adj" fmla="val 4134"/>
            </a:avLst>
          </a:prstGeom>
          <a:solidFill>
            <a:srgbClr val="E3F4E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0" name="Text 45"/>
          <p:cNvSpPr/>
          <p:nvPr/>
        </p:nvSpPr>
        <p:spPr>
          <a:xfrm>
            <a:off x="4784600" y="1146130"/>
            <a:ext cx="439128" cy="2838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4CAF7D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547" dirty="0"/>
          </a:p>
        </p:txBody>
      </p:sp>
      <p:sp>
        <p:nvSpPr>
          <p:cNvPr id="101" name="Text 46"/>
          <p:cNvSpPr/>
          <p:nvPr/>
        </p:nvSpPr>
        <p:spPr>
          <a:xfrm>
            <a:off x="5141786" y="1166296"/>
            <a:ext cx="3352041" cy="278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688"/>
              </a:lnSpc>
            </a:pPr>
            <a:r>
              <a:rPr lang="ru-RU" sz="1200" b="1" dirty="0" smtClean="0"/>
              <a:t>Паттерн поведения компании –</a:t>
            </a:r>
            <a:r>
              <a:rPr lang="en-US" sz="1200" b="1" dirty="0" smtClean="0"/>
              <a:t> </a:t>
            </a:r>
            <a:r>
              <a:rPr lang="ru-RU" sz="1200" b="1" dirty="0" smtClean="0"/>
              <a:t>фокус на премиум</a:t>
            </a:r>
            <a:endParaRPr lang="en-US" sz="1200" dirty="0"/>
          </a:p>
        </p:txBody>
      </p:sp>
      <p:pic>
        <p:nvPicPr>
          <p:cNvPr id="10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0435" y="1601573"/>
            <a:ext cx="3657600" cy="435769"/>
          </a:xfrm>
          <a:prstGeom prst="rect">
            <a:avLst/>
          </a:prstGeom>
        </p:spPr>
      </p:pic>
      <p:sp>
        <p:nvSpPr>
          <p:cNvPr id="103" name="Text 47"/>
          <p:cNvSpPr/>
          <p:nvPr/>
        </p:nvSpPr>
        <p:spPr>
          <a:xfrm>
            <a:off x="4950448" y="1673010"/>
            <a:ext cx="979754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EMPILS ULTRA</a:t>
            </a:r>
            <a:endParaRPr lang="en-US" sz="844" dirty="0"/>
          </a:p>
        </p:txBody>
      </p:sp>
      <p:sp>
        <p:nvSpPr>
          <p:cNvPr id="104" name="Text 48"/>
          <p:cNvSpPr/>
          <p:nvPr/>
        </p:nvSpPr>
        <p:spPr>
          <a:xfrm>
            <a:off x="5779730" y="1677368"/>
            <a:ext cx="315120" cy="152019"/>
          </a:xfrm>
          <a:prstGeom prst="roundRect">
            <a:avLst>
              <a:gd name="adj" fmla="val 7518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5" name="Text 49"/>
          <p:cNvSpPr/>
          <p:nvPr/>
        </p:nvSpPr>
        <p:spPr>
          <a:xfrm>
            <a:off x="5791401" y="1685512"/>
            <a:ext cx="291778" cy="135731"/>
          </a:xfrm>
          <a:prstGeom prst="rect">
            <a:avLst/>
          </a:prstGeom>
          <a:noFill/>
          <a:ln/>
        </p:spPr>
        <p:txBody>
          <a:bodyPr wrap="none" lIns="57150" tIns="14288" rIns="57150" bIns="14288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b="1" kern="0" spc="28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NEW</a:t>
            </a:r>
            <a:endParaRPr lang="en-US" sz="800" dirty="0"/>
          </a:p>
        </p:txBody>
      </p:sp>
      <p:sp>
        <p:nvSpPr>
          <p:cNvPr id="106" name="Text 50"/>
          <p:cNvSpPr/>
          <p:nvPr/>
        </p:nvSpPr>
        <p:spPr>
          <a:xfrm>
            <a:off x="4950448" y="1848032"/>
            <a:ext cx="3567303" cy="11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Графен · Фотокатализ · Умные покрытия</a:t>
            </a:r>
            <a:endParaRPr lang="en-US" sz="800" dirty="0"/>
          </a:p>
        </p:txBody>
      </p:sp>
      <p:sp>
        <p:nvSpPr>
          <p:cNvPr id="107" name="Text 51"/>
          <p:cNvSpPr/>
          <p:nvPr/>
        </p:nvSpPr>
        <p:spPr>
          <a:xfrm>
            <a:off x="4850435" y="2153011"/>
            <a:ext cx="3657600" cy="314325"/>
          </a:xfrm>
          <a:prstGeom prst="roundRect">
            <a:avLst>
              <a:gd name="adj" fmla="val 303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8" name="Text 52"/>
          <p:cNvSpPr/>
          <p:nvPr/>
        </p:nvSpPr>
        <p:spPr>
          <a:xfrm>
            <a:off x="4979023" y="2245880"/>
            <a:ext cx="867467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AVANTGARDE</a:t>
            </a:r>
            <a:endParaRPr lang="en-US" sz="844" dirty="0"/>
          </a:p>
        </p:txBody>
      </p:sp>
      <p:sp>
        <p:nvSpPr>
          <p:cNvPr id="109" name="Text 53"/>
          <p:cNvSpPr/>
          <p:nvPr/>
        </p:nvSpPr>
        <p:spPr>
          <a:xfrm>
            <a:off x="5808144" y="2274455"/>
            <a:ext cx="410051" cy="119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ru-RU" sz="800" dirty="0" smtClean="0">
                <a:solidFill>
                  <a:srgbClr val="7A7A7A"/>
                </a:solidFill>
                <a:ea typeface="Carlito" pitchFamily="34" charset="-122"/>
              </a:rPr>
              <a:t>Средний +</a:t>
            </a:r>
            <a:endParaRPr lang="en-US" sz="800" dirty="0"/>
          </a:p>
        </p:txBody>
      </p:sp>
      <p:sp>
        <p:nvSpPr>
          <p:cNvPr id="110" name="Text 54"/>
          <p:cNvSpPr/>
          <p:nvPr/>
        </p:nvSpPr>
        <p:spPr>
          <a:xfrm>
            <a:off x="4850435" y="2612266"/>
            <a:ext cx="3657600" cy="314325"/>
          </a:xfrm>
          <a:prstGeom prst="roundRect">
            <a:avLst>
              <a:gd name="adj" fmla="val 303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1" name="Text 55"/>
          <p:cNvSpPr/>
          <p:nvPr/>
        </p:nvSpPr>
        <p:spPr>
          <a:xfrm>
            <a:off x="4979023" y="2705135"/>
            <a:ext cx="698659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NEWTONE</a:t>
            </a:r>
            <a:endParaRPr lang="en-US" sz="844" dirty="0"/>
          </a:p>
        </p:txBody>
      </p:sp>
      <p:sp>
        <p:nvSpPr>
          <p:cNvPr id="112" name="Text 56"/>
          <p:cNvSpPr/>
          <p:nvPr/>
        </p:nvSpPr>
        <p:spPr>
          <a:xfrm>
            <a:off x="5613812" y="2733710"/>
            <a:ext cx="479455" cy="119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 err="1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средний</a:t>
            </a:r>
            <a:r>
              <a:rPr lang="en-US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endParaRPr lang="en-US" sz="800" dirty="0"/>
          </a:p>
        </p:txBody>
      </p:sp>
      <p:sp>
        <p:nvSpPr>
          <p:cNvPr id="113" name="Text 57"/>
          <p:cNvSpPr/>
          <p:nvPr/>
        </p:nvSpPr>
        <p:spPr>
          <a:xfrm>
            <a:off x="4850435" y="3064206"/>
            <a:ext cx="3657600" cy="314325"/>
          </a:xfrm>
          <a:prstGeom prst="roundRect">
            <a:avLst>
              <a:gd name="adj" fmla="val 303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4" name="Text 58"/>
          <p:cNvSpPr/>
          <p:nvPr/>
        </p:nvSpPr>
        <p:spPr>
          <a:xfrm>
            <a:off x="4979023" y="3157075"/>
            <a:ext cx="485875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844" dirty="0"/>
          </a:p>
        </p:txBody>
      </p:sp>
      <p:sp>
        <p:nvSpPr>
          <p:cNvPr id="115" name="Text 59"/>
          <p:cNvSpPr/>
          <p:nvPr/>
        </p:nvSpPr>
        <p:spPr>
          <a:xfrm>
            <a:off x="5375501" y="3185650"/>
            <a:ext cx="464915" cy="119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 err="1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116" name="Text 60"/>
          <p:cNvSpPr/>
          <p:nvPr/>
        </p:nvSpPr>
        <p:spPr>
          <a:xfrm>
            <a:off x="4850435" y="3516146"/>
            <a:ext cx="3657600" cy="314325"/>
          </a:xfrm>
          <a:prstGeom prst="roundRect">
            <a:avLst>
              <a:gd name="adj" fmla="val 303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7" name="Text 61"/>
          <p:cNvSpPr/>
          <p:nvPr/>
        </p:nvSpPr>
        <p:spPr>
          <a:xfrm>
            <a:off x="4979023" y="3609015"/>
            <a:ext cx="603861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ОРЕОЛ</a:t>
            </a:r>
            <a:endParaRPr lang="en-US" sz="844" dirty="0"/>
          </a:p>
        </p:txBody>
      </p:sp>
      <p:sp>
        <p:nvSpPr>
          <p:cNvPr id="118" name="Text 62"/>
          <p:cNvSpPr/>
          <p:nvPr/>
        </p:nvSpPr>
        <p:spPr>
          <a:xfrm>
            <a:off x="5450175" y="3637590"/>
            <a:ext cx="333042" cy="119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эконом</a:t>
            </a:r>
            <a:endParaRPr lang="en-US" sz="800" dirty="0"/>
          </a:p>
        </p:txBody>
      </p:sp>
      <p:sp>
        <p:nvSpPr>
          <p:cNvPr id="119" name="Text 63"/>
          <p:cNvSpPr/>
          <p:nvPr/>
        </p:nvSpPr>
        <p:spPr>
          <a:xfrm>
            <a:off x="4850435" y="3975401"/>
            <a:ext cx="3657600" cy="314325"/>
          </a:xfrm>
          <a:prstGeom prst="roundRect">
            <a:avLst>
              <a:gd name="adj" fmla="val 303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0" name="Text 64"/>
          <p:cNvSpPr/>
          <p:nvPr/>
        </p:nvSpPr>
        <p:spPr>
          <a:xfrm>
            <a:off x="4979023" y="4068270"/>
            <a:ext cx="2167985" cy="131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dirty="0" err="1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Расцвет</a:t>
            </a:r>
            <a:endParaRPr lang="en-US" sz="844" dirty="0"/>
          </a:p>
        </p:txBody>
      </p:sp>
      <p:sp>
        <p:nvSpPr>
          <p:cNvPr id="121" name="Text 65"/>
          <p:cNvSpPr/>
          <p:nvPr/>
        </p:nvSpPr>
        <p:spPr>
          <a:xfrm>
            <a:off x="5458359" y="4096845"/>
            <a:ext cx="333042" cy="119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эконом</a:t>
            </a:r>
            <a:endParaRPr lang="en-US" sz="800" dirty="0"/>
          </a:p>
        </p:txBody>
      </p:sp>
      <p:sp>
        <p:nvSpPr>
          <p:cNvPr id="122" name="Text 53"/>
          <p:cNvSpPr/>
          <p:nvPr/>
        </p:nvSpPr>
        <p:spPr>
          <a:xfrm>
            <a:off x="6165569" y="1693525"/>
            <a:ext cx="410051" cy="119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ru-RU" sz="800" dirty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</a:t>
            </a:r>
            <a:r>
              <a:rPr lang="en-US" sz="800" dirty="0" err="1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ремиум</a:t>
            </a:r>
            <a:r>
              <a:rPr lang="ru-RU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+  </a:t>
            </a:r>
            <a:endParaRPr lang="en-US" sz="800" dirty="0"/>
          </a:p>
        </p:txBody>
      </p:sp>
      <p:cxnSp>
        <p:nvCxnSpPr>
          <p:cNvPr id="123" name="Прямая со стрелкой 122"/>
          <p:cNvCxnSpPr/>
          <p:nvPr/>
        </p:nvCxnSpPr>
        <p:spPr>
          <a:xfrm>
            <a:off x="6086463" y="2681687"/>
            <a:ext cx="0" cy="16428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 63"/>
          <p:cNvSpPr/>
          <p:nvPr/>
        </p:nvSpPr>
        <p:spPr>
          <a:xfrm>
            <a:off x="4860151" y="4415840"/>
            <a:ext cx="3657600" cy="314325"/>
          </a:xfrm>
          <a:prstGeom prst="roundRect">
            <a:avLst>
              <a:gd name="adj" fmla="val 303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5" name="Text 64"/>
          <p:cNvSpPr/>
          <p:nvPr/>
        </p:nvSpPr>
        <p:spPr>
          <a:xfrm>
            <a:off x="4988739" y="4508709"/>
            <a:ext cx="2167985" cy="131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ru-RU" sz="844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ОРЕОЛ </a:t>
            </a:r>
            <a:r>
              <a:rPr lang="en-US" sz="844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ДИСКОНТ </a:t>
            </a:r>
            <a:r>
              <a:rPr lang="en-US" sz="844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· Простокрашено!</a:t>
            </a:r>
            <a:endParaRPr lang="en-US" sz="844" dirty="0"/>
          </a:p>
        </p:txBody>
      </p:sp>
      <p:sp>
        <p:nvSpPr>
          <p:cNvPr id="126" name="Text 65"/>
          <p:cNvSpPr/>
          <p:nvPr/>
        </p:nvSpPr>
        <p:spPr>
          <a:xfrm>
            <a:off x="6918573" y="4537284"/>
            <a:ext cx="333042" cy="119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ru-RU" sz="800" dirty="0" err="1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Суб</a:t>
            </a:r>
            <a:r>
              <a:rPr lang="ru-RU" sz="800" dirty="0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 smtClean="0">
                <a:solidFill>
                  <a:srgbClr val="7A7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эконом</a:t>
            </a:r>
            <a:endParaRPr lang="en-US" sz="800" dirty="0"/>
          </a:p>
        </p:txBody>
      </p:sp>
      <p:cxnSp>
        <p:nvCxnSpPr>
          <p:cNvPr id="127" name="Прямая со стрелкой 126"/>
          <p:cNvCxnSpPr/>
          <p:nvPr/>
        </p:nvCxnSpPr>
        <p:spPr>
          <a:xfrm>
            <a:off x="5857176" y="3160780"/>
            <a:ext cx="0" cy="16428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Прямая со стрелкой 127"/>
          <p:cNvCxnSpPr/>
          <p:nvPr/>
        </p:nvCxnSpPr>
        <p:spPr>
          <a:xfrm>
            <a:off x="5864025" y="3606858"/>
            <a:ext cx="0" cy="16428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Прямая со стрелкой 128"/>
          <p:cNvCxnSpPr/>
          <p:nvPr/>
        </p:nvCxnSpPr>
        <p:spPr>
          <a:xfrm>
            <a:off x="5874763" y="4052264"/>
            <a:ext cx="0" cy="16428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Прямая со стрелкой 129"/>
          <p:cNvCxnSpPr/>
          <p:nvPr/>
        </p:nvCxnSpPr>
        <p:spPr>
          <a:xfrm>
            <a:off x="7545303" y="4487994"/>
            <a:ext cx="0" cy="16428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Прямая со стрелкой 130"/>
          <p:cNvCxnSpPr/>
          <p:nvPr/>
        </p:nvCxnSpPr>
        <p:spPr>
          <a:xfrm>
            <a:off x="6349322" y="2230861"/>
            <a:ext cx="0" cy="16428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00882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8051118" y="285750"/>
            <a:ext cx="1017091" cy="617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4500" b="1" dirty="0">
                <a:solidFill>
                  <a:srgbClr val="F28C38">
                    <a:alpha val="12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457200" y="381000"/>
            <a:ext cx="8636000" cy="324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Маркетинг: цифровое лидерство</a:t>
            </a:r>
            <a:endParaRPr lang="en-US" sz="1575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23900"/>
            <a:ext cx="457200" cy="3571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1007269"/>
            <a:ext cx="4043363" cy="1714500"/>
          </a:xfrm>
          <a:prstGeom prst="roundRect">
            <a:avLst>
              <a:gd name="adj" fmla="val 8889"/>
            </a:avLst>
          </a:prstGeom>
          <a:solidFill>
            <a:srgbClr val="FFF0E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57225" y="1061906"/>
            <a:ext cx="314325" cy="314325"/>
          </a:xfrm>
          <a:prstGeom prst="roundRect">
            <a:avLst>
              <a:gd name="adj" fmla="val 36364"/>
            </a:avLst>
          </a:prstGeom>
          <a:solidFill>
            <a:srgbClr val="F28C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90086" y="1075717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1688" dirty="0"/>
          </a:p>
        </p:txBody>
      </p:sp>
      <p:sp>
        <p:nvSpPr>
          <p:cNvPr id="11" name="Text 8"/>
          <p:cNvSpPr/>
          <p:nvPr/>
        </p:nvSpPr>
        <p:spPr>
          <a:xfrm>
            <a:off x="1057275" y="1082146"/>
            <a:ext cx="3243263" cy="254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6"/>
              </a:lnSpc>
              <a:buNone/>
            </a:pPr>
            <a:r>
              <a:rPr lang="en-US" sz="1238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</a:t>
            </a:r>
            <a:r>
              <a:rPr lang="ru-RU" sz="1238" b="1" dirty="0" err="1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айт</a:t>
            </a:r>
            <a:r>
              <a:rPr lang="ru-RU" sz="1238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и </a:t>
            </a:r>
            <a:r>
              <a:rPr lang="en-US" sz="1238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SMM</a:t>
            </a:r>
            <a:endParaRPr lang="en-US" sz="1238" dirty="0"/>
          </a:p>
        </p:txBody>
      </p:sp>
      <p:sp>
        <p:nvSpPr>
          <p:cNvPr id="12" name="Text 9"/>
          <p:cNvSpPr/>
          <p:nvPr/>
        </p:nvSpPr>
        <p:spPr>
          <a:xfrm>
            <a:off x="657225" y="1421155"/>
            <a:ext cx="3710059" cy="122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8"/>
              </a:lnSpc>
              <a:buNone/>
            </a:pPr>
            <a:r>
              <a:rPr lang="en-US" sz="1000" b="1" dirty="0" smtClean="0">
                <a:solidFill>
                  <a:srgbClr val="2D2D2D"/>
                </a:solidFill>
                <a:ea typeface="Carlito" pitchFamily="34" charset="-122"/>
                <a:cs typeface="Carlito" pitchFamily="34" charset="-120"/>
              </a:rPr>
              <a:t>VK | Telegram</a:t>
            </a:r>
            <a:r>
              <a:rPr lang="ru-RU" sz="1000" b="1" dirty="0" smtClean="0">
                <a:solidFill>
                  <a:srgbClr val="2D2D2D"/>
                </a:solidFill>
                <a:ea typeface="Carlito" pitchFamily="34" charset="-122"/>
                <a:cs typeface="Carlito" pitchFamily="34" charset="-120"/>
              </a:rPr>
              <a:t> - </a:t>
            </a:r>
            <a:r>
              <a:rPr lang="ru-RU" sz="1000" dirty="0" smtClean="0">
                <a:solidFill>
                  <a:srgbClr val="2D2D2D"/>
                </a:solidFill>
                <a:ea typeface="Carlito" pitchFamily="34" charset="-122"/>
                <a:cs typeface="Carlito" pitchFamily="34" charset="-120"/>
              </a:rPr>
              <a:t>р</a:t>
            </a:r>
            <a:r>
              <a:rPr lang="ru-RU" sz="1000" dirty="0" smtClean="0"/>
              <a:t>азмещение </a:t>
            </a:r>
            <a:r>
              <a:rPr lang="ru-RU" sz="1000" dirty="0"/>
              <a:t>постов про технологические связки</a:t>
            </a:r>
            <a:r>
              <a:rPr lang="en-US" sz="1000" dirty="0"/>
              <a:t> + </a:t>
            </a:r>
            <a:r>
              <a:rPr lang="ru-RU" sz="1000" dirty="0"/>
              <a:t>продвижения 17,5 </a:t>
            </a:r>
            <a:r>
              <a:rPr lang="ru-RU" sz="1000" dirty="0" err="1"/>
              <a:t>тыс</a:t>
            </a:r>
            <a:r>
              <a:rPr lang="en-US" sz="1000" dirty="0"/>
              <a:t>.</a:t>
            </a:r>
            <a:r>
              <a:rPr lang="ru-RU" sz="1000" dirty="0"/>
              <a:t> человек аудитория</a:t>
            </a:r>
            <a:r>
              <a:rPr lang="en-US" sz="1000" dirty="0"/>
              <a:t> </a:t>
            </a:r>
            <a:r>
              <a:rPr lang="ru-RU" sz="1000" dirty="0" smtClean="0">
                <a:solidFill>
                  <a:srgbClr val="2D2D2D"/>
                </a:solidFill>
                <a:ea typeface="Carlito" pitchFamily="34" charset="-122"/>
                <a:cs typeface="Carlito" pitchFamily="34" charset="-120"/>
              </a:rPr>
              <a:t/>
            </a:r>
            <a:br>
              <a:rPr lang="ru-RU" sz="1000" dirty="0" smtClean="0">
                <a:solidFill>
                  <a:srgbClr val="2D2D2D"/>
                </a:solidFill>
                <a:ea typeface="Carlito" pitchFamily="34" charset="-122"/>
                <a:cs typeface="Carlito" pitchFamily="34" charset="-120"/>
              </a:rPr>
            </a:br>
            <a:r>
              <a:rPr lang="en-US" sz="1000" b="1" dirty="0" err="1" smtClean="0">
                <a:solidFill>
                  <a:srgbClr val="2D2D2D"/>
                </a:solidFill>
                <a:ea typeface="Carlito" pitchFamily="34" charset="-122"/>
                <a:cs typeface="Carlito" pitchFamily="34" charset="-120"/>
              </a:rPr>
              <a:t>RuTube</a:t>
            </a:r>
            <a:r>
              <a:rPr lang="ru-RU" sz="1000" b="1" dirty="0" smtClean="0">
                <a:solidFill>
                  <a:srgbClr val="2D2D2D"/>
                </a:solidFill>
                <a:ea typeface="Carlito" pitchFamily="34" charset="-122"/>
                <a:cs typeface="Carlito" pitchFamily="34" charset="-120"/>
              </a:rPr>
              <a:t> - </a:t>
            </a:r>
            <a:r>
              <a:rPr lang="ru-RU" sz="1000" dirty="0" smtClean="0">
                <a:solidFill>
                  <a:srgbClr val="2D2D2D"/>
                </a:solidFill>
                <a:ea typeface="Carlito" pitchFamily="34" charset="-122"/>
                <a:cs typeface="Carlito" pitchFamily="34" charset="-120"/>
              </a:rPr>
              <a:t>с</a:t>
            </a:r>
            <a:r>
              <a:rPr lang="ru-RU" sz="1000" dirty="0" smtClean="0"/>
              <a:t>оздание медиа библиотеки по технологическим связкам</a:t>
            </a:r>
          </a:p>
          <a:p>
            <a:pPr marL="0" indent="0" algn="l">
              <a:lnSpc>
                <a:spcPts val="1308"/>
              </a:lnSpc>
              <a:buNone/>
            </a:pPr>
            <a:r>
              <a:rPr lang="ru-RU" sz="1000" b="1" dirty="0" smtClean="0"/>
              <a:t>Сайт </a:t>
            </a:r>
            <a:r>
              <a:rPr lang="ru-RU" sz="1000" dirty="0" smtClean="0"/>
              <a:t>-</a:t>
            </a:r>
            <a:r>
              <a:rPr lang="ru-RU" sz="1000" b="1" dirty="0" smtClean="0"/>
              <a:t> </a:t>
            </a:r>
            <a:r>
              <a:rPr lang="ru-RU" sz="1000" dirty="0" smtClean="0"/>
              <a:t>обновление основного сайта компании. </a:t>
            </a:r>
            <a:r>
              <a:rPr lang="ru-RU" sz="1000" dirty="0"/>
              <a:t>Портфолио. </a:t>
            </a:r>
            <a:r>
              <a:rPr lang="en-US" sz="1000" dirty="0" smtClean="0"/>
              <a:t> 3D</a:t>
            </a:r>
            <a:r>
              <a:rPr lang="ru-RU" sz="1000" dirty="0" smtClean="0"/>
              <a:t>Тур.</a:t>
            </a:r>
          </a:p>
          <a:p>
            <a:pPr marL="0" indent="0" algn="l">
              <a:lnSpc>
                <a:spcPts val="1308"/>
              </a:lnSpc>
              <a:buNone/>
            </a:pPr>
            <a:r>
              <a:rPr lang="ru-RU" sz="1000" dirty="0" smtClean="0"/>
              <a:t>Постепенное обновление английской версии сайта.</a:t>
            </a:r>
            <a:br>
              <a:rPr lang="ru-RU" sz="1000" dirty="0" smtClean="0"/>
            </a:br>
            <a:r>
              <a:rPr lang="ru-RU" sz="1000" b="1" dirty="0" smtClean="0"/>
              <a:t>Кейсы применений: </a:t>
            </a:r>
            <a:r>
              <a:rPr lang="ru-RU" sz="1000" dirty="0" smtClean="0"/>
              <a:t>статьи и видеоролики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643438" y="1007269"/>
            <a:ext cx="4043363" cy="1714500"/>
          </a:xfrm>
          <a:prstGeom prst="roundRect">
            <a:avLst>
              <a:gd name="adj" fmla="val 8889"/>
            </a:avLst>
          </a:prstGeom>
          <a:solidFill>
            <a:srgbClr val="F0E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4824413" y="1207294"/>
            <a:ext cx="314325" cy="314325"/>
          </a:xfrm>
          <a:prstGeom prst="roundRect">
            <a:avLst>
              <a:gd name="adj" fmla="val 36364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4857274" y="1240155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688" dirty="0"/>
          </a:p>
        </p:txBody>
      </p:sp>
      <p:sp>
        <p:nvSpPr>
          <p:cNvPr id="18" name="Text 15"/>
          <p:cNvSpPr/>
          <p:nvPr/>
        </p:nvSpPr>
        <p:spPr>
          <a:xfrm>
            <a:off x="5199063" y="1246584"/>
            <a:ext cx="3243263" cy="254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6"/>
              </a:lnSpc>
              <a:buNone/>
            </a:pPr>
            <a:r>
              <a:rPr lang="ru-RU" sz="1238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Цифровое обучение</a:t>
            </a:r>
            <a:endParaRPr lang="en-US" sz="1238" dirty="0"/>
          </a:p>
        </p:txBody>
      </p:sp>
      <p:sp>
        <p:nvSpPr>
          <p:cNvPr id="19" name="Text 16"/>
          <p:cNvSpPr/>
          <p:nvPr/>
        </p:nvSpPr>
        <p:spPr>
          <a:xfrm>
            <a:off x="4843462" y="1585119"/>
            <a:ext cx="3643313" cy="948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ru-RU" sz="1000" dirty="0" smtClean="0">
                <a:solidFill>
                  <a:srgbClr val="2D2D2D"/>
                </a:solidFill>
                <a:ea typeface="Carlito" pitchFamily="34" charset="-122"/>
              </a:rPr>
              <a:t>Создание новых обучающих презентаций и видео скриптов</a:t>
            </a:r>
            <a:r>
              <a:rPr lang="en-US" sz="1000" dirty="0" smtClean="0">
                <a:solidFill>
                  <a:srgbClr val="2D2D2D"/>
                </a:solidFill>
                <a:ea typeface="Carlito" pitchFamily="34" charset="-122"/>
              </a:rPr>
              <a:t> </a:t>
            </a:r>
            <a:r>
              <a:rPr lang="ru-RU" sz="1000" dirty="0" smtClean="0">
                <a:solidFill>
                  <a:srgbClr val="2D2D2D"/>
                </a:solidFill>
                <a:ea typeface="Carlito" pitchFamily="34" charset="-122"/>
              </a:rPr>
              <a:t>по работе технологических связок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ru-RU" sz="1000" dirty="0" smtClean="0">
                <a:solidFill>
                  <a:srgbClr val="2D2D2D"/>
                </a:solidFill>
                <a:ea typeface="Carlito" pitchFamily="34" charset="-122"/>
              </a:rPr>
              <a:t>Выездные обучения - </a:t>
            </a:r>
            <a:r>
              <a:rPr lang="ru-RU" sz="1000" dirty="0">
                <a:solidFill>
                  <a:srgbClr val="2D2D2D"/>
                </a:solidFill>
                <a:ea typeface="Carlito" pitchFamily="34" charset="-122"/>
              </a:rPr>
              <a:t>с</a:t>
            </a:r>
            <a:r>
              <a:rPr lang="ru-RU" sz="1000" dirty="0" smtClean="0">
                <a:solidFill>
                  <a:srgbClr val="2D2D2D"/>
                </a:solidFill>
                <a:ea typeface="Carlito" pitchFamily="34" charset="-122"/>
              </a:rPr>
              <a:t>истематическая конвейерная система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ru-RU" sz="1000" dirty="0" smtClean="0">
                <a:solidFill>
                  <a:srgbClr val="2D2D2D"/>
                </a:solidFill>
                <a:ea typeface="Carlito" pitchFamily="34" charset="-122"/>
              </a:rPr>
              <a:t>Групповые онлайн конференции – разбор кейсов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57200" y="2864643"/>
            <a:ext cx="4043363" cy="1898425"/>
          </a:xfrm>
          <a:prstGeom prst="roundRect">
            <a:avLst>
              <a:gd name="adj" fmla="val 8889"/>
            </a:avLst>
          </a:prstGeom>
          <a:solidFill>
            <a:srgbClr val="E3F4E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657225" y="2969419"/>
            <a:ext cx="314325" cy="314325"/>
          </a:xfrm>
          <a:prstGeom prst="roundRect">
            <a:avLst>
              <a:gd name="adj" fmla="val 36364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90086" y="3002280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1688" dirty="0"/>
          </a:p>
        </p:txBody>
      </p:sp>
      <p:sp>
        <p:nvSpPr>
          <p:cNvPr id="25" name="Text 22"/>
          <p:cNvSpPr/>
          <p:nvPr/>
        </p:nvSpPr>
        <p:spPr>
          <a:xfrm>
            <a:off x="1044575" y="3015059"/>
            <a:ext cx="3243263" cy="254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6"/>
              </a:lnSpc>
              <a:buNone/>
            </a:pPr>
            <a:r>
              <a:rPr lang="ru-RU" sz="1238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Поддержка продаж</a:t>
            </a:r>
            <a:endParaRPr lang="en-US" sz="1238" b="1" dirty="0">
              <a:solidFill>
                <a:srgbClr val="2D2D2D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657225" y="3359944"/>
            <a:ext cx="3643313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08"/>
              </a:lnSpc>
            </a:pPr>
            <a:r>
              <a:rPr lang="ru-RU" sz="1000" b="1" dirty="0" smtClean="0">
                <a:solidFill>
                  <a:srgbClr val="2D2D2D"/>
                </a:solidFill>
                <a:ea typeface="Carlito" pitchFamily="34" charset="-122"/>
                <a:cs typeface="Carlito" pitchFamily="34" charset="-120"/>
              </a:rPr>
              <a:t>Презентация </a:t>
            </a:r>
            <a:r>
              <a:rPr lang="ru-RU" sz="1000" dirty="0" smtClean="0">
                <a:solidFill>
                  <a:srgbClr val="2D2D2D"/>
                </a:solidFill>
                <a:ea typeface="Carlito" pitchFamily="34" charset="-122"/>
                <a:cs typeface="Carlito" pitchFamily="34" charset="-120"/>
              </a:rPr>
              <a:t>- с</a:t>
            </a:r>
            <a:r>
              <a:rPr lang="ru-RU" sz="1000" dirty="0" smtClean="0"/>
              <a:t>тань </a:t>
            </a:r>
            <a:r>
              <a:rPr lang="ru-RU" sz="1000" dirty="0"/>
              <a:t>партнером </a:t>
            </a:r>
            <a:r>
              <a:rPr lang="ru-RU" sz="1000" dirty="0" err="1"/>
              <a:t>Эмпилс</a:t>
            </a:r>
            <a:r>
              <a:rPr lang="ru-RU" sz="1000" b="1" dirty="0" smtClean="0">
                <a:solidFill>
                  <a:srgbClr val="2D2D2D"/>
                </a:solidFill>
                <a:ea typeface="Carlito" pitchFamily="34" charset="-122"/>
                <a:cs typeface="Carlito" pitchFamily="34" charset="-120"/>
              </a:rPr>
              <a:t/>
            </a:r>
            <a:br>
              <a:rPr lang="ru-RU" sz="1000" b="1" dirty="0" smtClean="0">
                <a:solidFill>
                  <a:srgbClr val="2D2D2D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1000" b="1" dirty="0" err="1" smtClean="0">
                <a:solidFill>
                  <a:srgbClr val="2D2D2D"/>
                </a:solidFill>
                <a:ea typeface="Carlito" pitchFamily="34" charset="-122"/>
                <a:cs typeface="Carlito" pitchFamily="34" charset="-120"/>
              </a:rPr>
              <a:t>Планограмма</a:t>
            </a:r>
            <a:r>
              <a:rPr lang="ru-RU" sz="1000" b="1" dirty="0" smtClean="0">
                <a:solidFill>
                  <a:srgbClr val="2D2D2D"/>
                </a:solidFill>
                <a:ea typeface="Carlito" pitchFamily="34" charset="-122"/>
                <a:cs typeface="Carlito" pitchFamily="34" charset="-120"/>
              </a:rPr>
              <a:t> по выкладкам решений</a:t>
            </a:r>
          </a:p>
          <a:p>
            <a:pPr>
              <a:lnSpc>
                <a:spcPts val="1308"/>
              </a:lnSpc>
            </a:pPr>
            <a:r>
              <a:rPr lang="ru-RU" sz="1000" dirty="0"/>
              <a:t>Продуктовые технологические связки</a:t>
            </a:r>
          </a:p>
          <a:p>
            <a:pPr marL="0" indent="0" algn="l">
              <a:lnSpc>
                <a:spcPts val="1308"/>
              </a:lnSpc>
              <a:buNone/>
            </a:pPr>
            <a:r>
              <a:rPr lang="ru-RU" sz="1000" b="1" dirty="0">
                <a:solidFill>
                  <a:srgbClr val="2D2D2D"/>
                </a:solidFill>
                <a:ea typeface="Carlito" pitchFamily="34" charset="-122"/>
                <a:cs typeface="Carlito" pitchFamily="34" charset="-120"/>
              </a:rPr>
              <a:t>Материалы</a:t>
            </a:r>
          </a:p>
          <a:p>
            <a:pPr marL="0" indent="0" algn="l">
              <a:lnSpc>
                <a:spcPts val="1308"/>
              </a:lnSpc>
              <a:buNone/>
            </a:pPr>
            <a:r>
              <a:rPr lang="ru-RU" sz="1000" dirty="0"/>
              <a:t>Пригласительные </a:t>
            </a:r>
            <a:r>
              <a:rPr lang="ru-RU" sz="1000" dirty="0" smtClean="0"/>
              <a:t>письма. Коммерческие предложения. Продуктовые презентация</a:t>
            </a:r>
            <a:endParaRPr lang="ru-RU" sz="1000" dirty="0"/>
          </a:p>
          <a:p>
            <a:pPr marL="0" indent="0" algn="l">
              <a:lnSpc>
                <a:spcPts val="1308"/>
              </a:lnSpc>
              <a:buNone/>
            </a:pPr>
            <a:r>
              <a:rPr lang="ru-RU" sz="1000" dirty="0" smtClean="0"/>
              <a:t>Трейд-маркетинг – фокус на продвижение и мотивацию технологических связок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643438" y="2864644"/>
            <a:ext cx="4043363" cy="1898424"/>
          </a:xfrm>
          <a:prstGeom prst="roundRect">
            <a:avLst>
              <a:gd name="adj" fmla="val 8889"/>
            </a:avLst>
          </a:prstGeom>
          <a:solidFill>
            <a:srgbClr val="E6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4843463" y="2941837"/>
            <a:ext cx="314325" cy="314325"/>
          </a:xfrm>
          <a:prstGeom prst="roundRect">
            <a:avLst>
              <a:gd name="adj" fmla="val 36364"/>
            </a:avLst>
          </a:prstGeom>
          <a:solidFill>
            <a:srgbClr val="1565C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2"/>
          <p:cNvSpPr/>
          <p:nvPr/>
        </p:nvSpPr>
        <p:spPr>
          <a:xfrm>
            <a:off x="4876324" y="2974698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✉</a:t>
            </a:r>
            <a:endParaRPr lang="en-US" sz="1688" dirty="0"/>
          </a:p>
        </p:txBody>
      </p:sp>
      <p:sp>
        <p:nvSpPr>
          <p:cNvPr id="36" name="Text 33"/>
          <p:cNvSpPr/>
          <p:nvPr/>
        </p:nvSpPr>
        <p:spPr>
          <a:xfrm>
            <a:off x="5243513" y="2981127"/>
            <a:ext cx="3243263" cy="254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6"/>
              </a:lnSpc>
              <a:buNone/>
            </a:pPr>
            <a:r>
              <a:rPr lang="en-US" sz="1238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Email + CRM</a:t>
            </a:r>
            <a:endParaRPr lang="en-US" sz="1238" dirty="0"/>
          </a:p>
        </p:txBody>
      </p:sp>
      <p:sp>
        <p:nvSpPr>
          <p:cNvPr id="37" name="Text 34"/>
          <p:cNvSpPr/>
          <p:nvPr/>
        </p:nvSpPr>
        <p:spPr>
          <a:xfrm>
            <a:off x="4843463" y="3343166"/>
            <a:ext cx="3643313" cy="135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 err="1" smtClean="0">
                <a:solidFill>
                  <a:srgbClr val="2D2D2D"/>
                </a:solidFill>
                <a:ea typeface="Carlito" pitchFamily="34" charset="-122"/>
                <a:cs typeface="Carlito" pitchFamily="34" charset="-120"/>
              </a:rPr>
              <a:t>UniSender</a:t>
            </a:r>
            <a:endParaRPr lang="ru-RU" sz="1000" b="1" dirty="0" smtClean="0">
              <a:solidFill>
                <a:srgbClr val="2D2D2D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ru-RU" sz="1000" dirty="0" smtClean="0">
                <a:solidFill>
                  <a:srgbClr val="2D2D2D"/>
                </a:solidFill>
                <a:ea typeface="Carlito" pitchFamily="34" charset="-122"/>
                <a:cs typeface="Carlito" pitchFamily="34" charset="-120"/>
              </a:rPr>
              <a:t>Формирование систематического канала информирования и влияния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ru-RU" sz="1000" dirty="0" smtClean="0">
                <a:solidFill>
                  <a:srgbClr val="2D2D2D"/>
                </a:solidFill>
                <a:ea typeface="Carlito" pitchFamily="34" charset="-122"/>
                <a:cs typeface="Carlito" pitchFamily="34" charset="-120"/>
              </a:rPr>
              <a:t>Систематическая прямая рассылка по текущим партнерам, потенциальным и не лояльным в связке с торговой командой. Триггерные письма в зависимости от статуса клиента.</a:t>
            </a:r>
          </a:p>
          <a:p>
            <a:pPr marL="0" indent="0" algn="l">
              <a:buNone/>
            </a:pPr>
            <a:endParaRPr lang="ru-RU" sz="1000" dirty="0" smtClean="0">
              <a:solidFill>
                <a:srgbClr val="2D2D2D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74"/>
          <p:cNvSpPr/>
          <p:nvPr/>
        </p:nvSpPr>
        <p:spPr>
          <a:xfrm>
            <a:off x="3763412" y="1177561"/>
            <a:ext cx="1879939" cy="154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ru-RU" sz="1013" b="1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Ассортимент</a:t>
            </a:r>
            <a:r>
              <a:rPr lang="en-US" sz="1013" b="1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endParaRPr lang="ru-RU" sz="1013" b="1" dirty="0" smtClean="0">
              <a:solidFill>
                <a:srgbClr val="F28C3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1097"/>
              </a:lnSpc>
              <a:buNone/>
            </a:pPr>
            <a:r>
              <a:rPr lang="en-US" sz="1013" b="1" dirty="0" err="1" smtClean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для</a:t>
            </a:r>
            <a:r>
              <a:rPr lang="en-US" sz="1013" b="1" dirty="0" smtClean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1013" b="1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полных цепочек</a:t>
            </a:r>
          </a:p>
        </p:txBody>
      </p:sp>
      <p:sp>
        <p:nvSpPr>
          <p:cNvPr id="8" name="Text 79"/>
          <p:cNvSpPr/>
          <p:nvPr/>
        </p:nvSpPr>
        <p:spPr>
          <a:xfrm>
            <a:off x="3420677" y="1601208"/>
            <a:ext cx="2222674" cy="635532"/>
          </a:xfrm>
          <a:prstGeom prst="roundRect">
            <a:avLst>
              <a:gd name="adj" fmla="val 14875"/>
            </a:avLst>
          </a:prstGeom>
          <a:solidFill>
            <a:srgbClr val="F0E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81"/>
          <p:cNvSpPr/>
          <p:nvPr/>
        </p:nvSpPr>
        <p:spPr>
          <a:xfrm>
            <a:off x="3784066" y="1675820"/>
            <a:ext cx="1233636" cy="101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dirty="0" err="1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Шпатлёвки</a:t>
            </a: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endParaRPr lang="en-US" sz="800" b="1" dirty="0"/>
          </a:p>
        </p:txBody>
      </p:sp>
      <p:sp>
        <p:nvSpPr>
          <p:cNvPr id="10" name="Text 82"/>
          <p:cNvSpPr/>
          <p:nvPr/>
        </p:nvSpPr>
        <p:spPr>
          <a:xfrm>
            <a:off x="3784067" y="1836158"/>
            <a:ext cx="1789260" cy="500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6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Стартовая, финишная, влагостойкая, </a:t>
            </a:r>
            <a:r>
              <a:rPr lang="en-US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— </a:t>
            </a: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закрываем весь цикл выравнивания</a:t>
            </a:r>
            <a:endParaRPr lang="en-US" sz="800" dirty="0"/>
          </a:p>
        </p:txBody>
      </p:sp>
      <p:sp>
        <p:nvSpPr>
          <p:cNvPr id="11" name="Text 83"/>
          <p:cNvSpPr/>
          <p:nvPr/>
        </p:nvSpPr>
        <p:spPr>
          <a:xfrm>
            <a:off x="3420677" y="2282667"/>
            <a:ext cx="2222674" cy="677094"/>
          </a:xfrm>
          <a:prstGeom prst="roundRect">
            <a:avLst>
              <a:gd name="adj" fmla="val 16881"/>
            </a:avLst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85"/>
          <p:cNvSpPr/>
          <p:nvPr/>
        </p:nvSpPr>
        <p:spPr>
          <a:xfrm>
            <a:off x="3803115" y="2350930"/>
            <a:ext cx="1560661" cy="2297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Защитные покрытия (лаки, топы)</a:t>
            </a:r>
            <a:endParaRPr lang="en-US" sz="800" b="1" dirty="0"/>
          </a:p>
        </p:txBody>
      </p:sp>
      <p:sp>
        <p:nvSpPr>
          <p:cNvPr id="13" name="Text 86"/>
          <p:cNvSpPr/>
          <p:nvPr/>
        </p:nvSpPr>
        <p:spPr>
          <a:xfrm>
            <a:off x="3803115" y="2620804"/>
            <a:ext cx="1719411" cy="306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6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Финишный слой, продлевающий </a:t>
            </a:r>
            <a:r>
              <a:rPr lang="en-US" sz="800" dirty="0" err="1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срок</a:t>
            </a: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службы</a:t>
            </a:r>
            <a:r>
              <a:rPr lang="en-US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краски</a:t>
            </a:r>
            <a:endParaRPr lang="ru-RU" sz="800" dirty="0"/>
          </a:p>
        </p:txBody>
      </p:sp>
      <p:sp>
        <p:nvSpPr>
          <p:cNvPr id="14" name="Text 87"/>
          <p:cNvSpPr/>
          <p:nvPr/>
        </p:nvSpPr>
        <p:spPr>
          <a:xfrm>
            <a:off x="3420677" y="3525381"/>
            <a:ext cx="2222674" cy="696552"/>
          </a:xfrm>
          <a:prstGeom prst="roundRect">
            <a:avLst>
              <a:gd name="adj" fmla="val 17359"/>
            </a:avLst>
          </a:prstGeom>
          <a:solidFill>
            <a:srgbClr val="E3F4E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89"/>
          <p:cNvSpPr/>
          <p:nvPr/>
        </p:nvSpPr>
        <p:spPr>
          <a:xfrm>
            <a:off x="3796766" y="3593643"/>
            <a:ext cx="1233636" cy="101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Декоративные эффекты</a:t>
            </a:r>
            <a:endParaRPr lang="en-US" sz="800" b="1" dirty="0"/>
          </a:p>
        </p:txBody>
      </p:sp>
      <p:sp>
        <p:nvSpPr>
          <p:cNvPr id="16" name="Text 90"/>
          <p:cNvSpPr/>
          <p:nvPr/>
        </p:nvSpPr>
        <p:spPr>
          <a:xfrm>
            <a:off x="3796765" y="3747630"/>
            <a:ext cx="1776561" cy="4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6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Бархат, сатин, керамика, шёлкография — премиум-финиш на вершине цепочки</a:t>
            </a:r>
            <a:endParaRPr lang="en-US" sz="800" dirty="0"/>
          </a:p>
        </p:txBody>
      </p:sp>
      <p:sp>
        <p:nvSpPr>
          <p:cNvPr id="25" name="Text 38"/>
          <p:cNvSpPr/>
          <p:nvPr/>
        </p:nvSpPr>
        <p:spPr>
          <a:xfrm>
            <a:off x="438341" y="1587195"/>
            <a:ext cx="2676562" cy="2634738"/>
          </a:xfrm>
          <a:prstGeom prst="roundRect">
            <a:avLst>
              <a:gd name="adj" fmla="val 7433"/>
            </a:avLst>
          </a:prstGeom>
          <a:solidFill>
            <a:srgbClr val="FFF0E6"/>
          </a:solidFill>
          <a:ln/>
        </p:spPr>
        <p:txBody>
          <a:bodyPr wrap="square" rtlCol="0" anchor="ctr"/>
          <a:lstStyle/>
          <a:p>
            <a:endParaRPr lang="en-US" dirty="0"/>
          </a:p>
        </p:txBody>
      </p:sp>
      <p:sp>
        <p:nvSpPr>
          <p:cNvPr id="26" name="Text 39"/>
          <p:cNvSpPr/>
          <p:nvPr/>
        </p:nvSpPr>
        <p:spPr>
          <a:xfrm>
            <a:off x="3425232" y="1160872"/>
            <a:ext cx="285750" cy="285750"/>
          </a:xfrm>
          <a:prstGeom prst="roundRect">
            <a:avLst>
              <a:gd name="adj" fmla="val 33333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40"/>
          <p:cNvSpPr/>
          <p:nvPr/>
        </p:nvSpPr>
        <p:spPr>
          <a:xfrm>
            <a:off x="3454164" y="1189804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1547" dirty="0"/>
          </a:p>
        </p:txBody>
      </p:sp>
      <p:sp>
        <p:nvSpPr>
          <p:cNvPr id="29" name="Text 42"/>
          <p:cNvSpPr/>
          <p:nvPr/>
        </p:nvSpPr>
        <p:spPr>
          <a:xfrm>
            <a:off x="537669" y="1897623"/>
            <a:ext cx="2419387" cy="2781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79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 Новые продукты разрабатываются как звенья цепочки, а не standalone</a:t>
            </a:r>
            <a:endParaRPr lang="en-US" sz="1000" dirty="0"/>
          </a:p>
        </p:txBody>
      </p:sp>
      <p:sp>
        <p:nvSpPr>
          <p:cNvPr id="30" name="Text 43"/>
          <p:cNvSpPr/>
          <p:nvPr/>
        </p:nvSpPr>
        <p:spPr>
          <a:xfrm>
            <a:off x="537669" y="2354215"/>
            <a:ext cx="2419387" cy="2781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79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 Приоритет: продукты, удлиняющие TCO-выгоду (грунты, лаки, штукатурки)</a:t>
            </a:r>
            <a:endParaRPr lang="en-US" sz="1000" dirty="0"/>
          </a:p>
        </p:txBody>
      </p:sp>
      <p:sp>
        <p:nvSpPr>
          <p:cNvPr id="31" name="Text 44"/>
          <p:cNvSpPr/>
          <p:nvPr/>
        </p:nvSpPr>
        <p:spPr>
          <a:xfrm>
            <a:off x="537669" y="2910042"/>
            <a:ext cx="2529115" cy="39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979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 </a:t>
            </a:r>
            <a:r>
              <a:rPr lang="ru-RU" sz="1000" dirty="0" smtClean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Доп. тестирование</a:t>
            </a:r>
            <a:r>
              <a:rPr lang="en-US" sz="1000" dirty="0" smtClean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10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не по ГОСТ-отдельности, а в составе технологической системы</a:t>
            </a:r>
            <a:endParaRPr lang="en-US" sz="1000" dirty="0"/>
          </a:p>
        </p:txBody>
      </p:sp>
      <p:sp>
        <p:nvSpPr>
          <p:cNvPr id="32" name="Text 45"/>
          <p:cNvSpPr/>
          <p:nvPr/>
        </p:nvSpPr>
        <p:spPr>
          <a:xfrm>
            <a:off x="537669" y="3508261"/>
            <a:ext cx="2529115" cy="279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79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 </a:t>
            </a:r>
            <a:r>
              <a:rPr lang="ru-RU" sz="1000" dirty="0" smtClean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Новинка</a:t>
            </a:r>
            <a:r>
              <a:rPr lang="en-US" sz="1000" dirty="0" smtClean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10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= +1 звено к существующей цепочке</a:t>
            </a:r>
            <a:endParaRPr lang="en-US" sz="1000" dirty="0"/>
          </a:p>
        </p:txBody>
      </p:sp>
      <p:sp>
        <p:nvSpPr>
          <p:cNvPr id="42" name="Text 80"/>
          <p:cNvSpPr/>
          <p:nvPr/>
        </p:nvSpPr>
        <p:spPr>
          <a:xfrm>
            <a:off x="3347069" y="1614965"/>
            <a:ext cx="651309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7B1FA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⊕</a:t>
            </a:r>
            <a:endParaRPr lang="en-US" sz="1406" dirty="0"/>
          </a:p>
        </p:txBody>
      </p:sp>
      <p:sp>
        <p:nvSpPr>
          <p:cNvPr id="43" name="Text 84"/>
          <p:cNvSpPr/>
          <p:nvPr/>
        </p:nvSpPr>
        <p:spPr>
          <a:xfrm>
            <a:off x="3347069" y="2281795"/>
            <a:ext cx="651309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F28C3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⊕</a:t>
            </a:r>
            <a:endParaRPr lang="en-US" sz="1406" dirty="0"/>
          </a:p>
        </p:txBody>
      </p:sp>
      <p:sp>
        <p:nvSpPr>
          <p:cNvPr id="44" name="Text 88"/>
          <p:cNvSpPr/>
          <p:nvPr/>
        </p:nvSpPr>
        <p:spPr>
          <a:xfrm>
            <a:off x="3347069" y="3531823"/>
            <a:ext cx="651309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⊕</a:t>
            </a:r>
            <a:endParaRPr lang="en-US" sz="1406" dirty="0"/>
          </a:p>
        </p:txBody>
      </p:sp>
      <p:sp>
        <p:nvSpPr>
          <p:cNvPr id="45" name="Text 4"/>
          <p:cNvSpPr/>
          <p:nvPr/>
        </p:nvSpPr>
        <p:spPr>
          <a:xfrm>
            <a:off x="457200" y="400050"/>
            <a:ext cx="5533949" cy="324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63"/>
              </a:lnSpc>
              <a:buNone/>
            </a:pPr>
            <a:r>
              <a:rPr lang="en-US" sz="1575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НИЛ</a:t>
            </a:r>
            <a:r>
              <a:rPr lang="ru-RU" sz="1575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+ Маркетинг</a:t>
            </a:r>
            <a:r>
              <a:rPr lang="en-US" sz="1575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:</a:t>
            </a:r>
            <a:r>
              <a:rPr lang="ru-RU" sz="1575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фокус сил на премиум</a:t>
            </a:r>
            <a:r>
              <a:rPr lang="en-US" sz="1575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endParaRPr lang="en-US" sz="1575" dirty="0"/>
          </a:p>
        </p:txBody>
      </p:sp>
      <p:pic>
        <p:nvPicPr>
          <p:cNvPr id="46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28320"/>
            <a:ext cx="292974" cy="35719"/>
          </a:xfrm>
          <a:prstGeom prst="rect">
            <a:avLst/>
          </a:prstGeom>
        </p:spPr>
      </p:pic>
      <p:sp>
        <p:nvSpPr>
          <p:cNvPr id="48" name="Text 12"/>
          <p:cNvSpPr/>
          <p:nvPr/>
        </p:nvSpPr>
        <p:spPr>
          <a:xfrm>
            <a:off x="836679" y="1196603"/>
            <a:ext cx="1413681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9"/>
              </a:lnSpc>
              <a:buNone/>
            </a:pPr>
            <a:r>
              <a:rPr lang="ru-RU" sz="1013" b="1" dirty="0" smtClean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Последовательность</a:t>
            </a:r>
            <a:endParaRPr lang="en-US" sz="1013" dirty="0"/>
          </a:p>
        </p:txBody>
      </p:sp>
      <p:sp>
        <p:nvSpPr>
          <p:cNvPr id="61" name="Text 14"/>
          <p:cNvSpPr/>
          <p:nvPr/>
        </p:nvSpPr>
        <p:spPr>
          <a:xfrm>
            <a:off x="5981661" y="1587195"/>
            <a:ext cx="2676562" cy="2674674"/>
          </a:xfrm>
          <a:prstGeom prst="roundRect">
            <a:avLst>
              <a:gd name="adj" fmla="val 8723"/>
            </a:avLst>
          </a:prstGeom>
          <a:solidFill>
            <a:srgbClr val="FFF0E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Text 16"/>
          <p:cNvSpPr/>
          <p:nvPr/>
        </p:nvSpPr>
        <p:spPr>
          <a:xfrm>
            <a:off x="6049805" y="1911327"/>
            <a:ext cx="1885950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Графеновые грунт-эмали</a:t>
            </a:r>
            <a:endParaRPr lang="en-US" sz="1000" dirty="0"/>
          </a:p>
        </p:txBody>
      </p:sp>
      <p:sp>
        <p:nvSpPr>
          <p:cNvPr id="63" name="Text 22"/>
          <p:cNvSpPr/>
          <p:nvPr/>
        </p:nvSpPr>
        <p:spPr>
          <a:xfrm>
            <a:off x="6061441" y="2257212"/>
            <a:ext cx="1995678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Фотокаталитические краски</a:t>
            </a:r>
            <a:endParaRPr lang="en-US" sz="1000" dirty="0"/>
          </a:p>
        </p:txBody>
      </p:sp>
      <p:sp>
        <p:nvSpPr>
          <p:cNvPr id="64" name="Text 28"/>
          <p:cNvSpPr/>
          <p:nvPr/>
        </p:nvSpPr>
        <p:spPr>
          <a:xfrm>
            <a:off x="6068071" y="2575794"/>
            <a:ext cx="1885950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AI/AR колеровка</a:t>
            </a:r>
            <a:endParaRPr lang="en-US" sz="1000" dirty="0"/>
          </a:p>
        </p:txBody>
      </p:sp>
      <p:sp>
        <p:nvSpPr>
          <p:cNvPr id="65" name="Text 36"/>
          <p:cNvSpPr/>
          <p:nvPr/>
        </p:nvSpPr>
        <p:spPr>
          <a:xfrm>
            <a:off x="6057387" y="2881057"/>
            <a:ext cx="2600835" cy="27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ru-RU" sz="10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Самовосстанавливающиеся</a:t>
            </a:r>
            <a:r>
              <a:rPr lang="en-US" sz="10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10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покрытия</a:t>
            </a:r>
            <a:endParaRPr lang="en-US" sz="1000" dirty="0"/>
          </a:p>
        </p:txBody>
      </p:sp>
      <p:sp>
        <p:nvSpPr>
          <p:cNvPr id="66" name="Text 42"/>
          <p:cNvSpPr/>
          <p:nvPr/>
        </p:nvSpPr>
        <p:spPr>
          <a:xfrm>
            <a:off x="6061441" y="3209466"/>
            <a:ext cx="1885950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Bio-based продукция</a:t>
            </a:r>
            <a:endParaRPr lang="en-US" sz="1000" dirty="0"/>
          </a:p>
        </p:txBody>
      </p:sp>
      <p:sp>
        <p:nvSpPr>
          <p:cNvPr id="67" name="Text 48"/>
          <p:cNvSpPr/>
          <p:nvPr/>
        </p:nvSpPr>
        <p:spPr>
          <a:xfrm>
            <a:off x="6077101" y="3528186"/>
            <a:ext cx="1995678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Умные хромогенные покрытия</a:t>
            </a:r>
            <a:endParaRPr lang="en-US" sz="1000" dirty="0"/>
          </a:p>
        </p:txBody>
      </p:sp>
      <p:sp>
        <p:nvSpPr>
          <p:cNvPr id="68" name="Text 39"/>
          <p:cNvSpPr/>
          <p:nvPr/>
        </p:nvSpPr>
        <p:spPr>
          <a:xfrm>
            <a:off x="6011266" y="1167373"/>
            <a:ext cx="285750" cy="285750"/>
          </a:xfrm>
          <a:prstGeom prst="roundRect">
            <a:avLst>
              <a:gd name="adj" fmla="val 33333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9" name="Text 40"/>
          <p:cNvSpPr/>
          <p:nvPr/>
        </p:nvSpPr>
        <p:spPr>
          <a:xfrm>
            <a:off x="6040198" y="1196305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1547" dirty="0"/>
          </a:p>
        </p:txBody>
      </p:sp>
      <p:sp>
        <p:nvSpPr>
          <p:cNvPr id="71" name="Text 12"/>
          <p:cNvSpPr/>
          <p:nvPr/>
        </p:nvSpPr>
        <p:spPr>
          <a:xfrm>
            <a:off x="6397139" y="1204075"/>
            <a:ext cx="1662604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9"/>
              </a:lnSpc>
              <a:buNone/>
            </a:pPr>
            <a:r>
              <a:rPr lang="ru-RU" sz="1013" b="1" dirty="0" smtClean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Передовые технологии</a:t>
            </a:r>
            <a:endParaRPr lang="en-US" sz="1013" dirty="0"/>
          </a:p>
        </p:txBody>
      </p:sp>
      <p:sp>
        <p:nvSpPr>
          <p:cNvPr id="74" name="Text 39"/>
          <p:cNvSpPr/>
          <p:nvPr/>
        </p:nvSpPr>
        <p:spPr>
          <a:xfrm>
            <a:off x="479149" y="1148980"/>
            <a:ext cx="285750" cy="285750"/>
          </a:xfrm>
          <a:prstGeom prst="roundRect">
            <a:avLst>
              <a:gd name="adj" fmla="val 33333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5" name="Text 40"/>
          <p:cNvSpPr/>
          <p:nvPr/>
        </p:nvSpPr>
        <p:spPr>
          <a:xfrm>
            <a:off x="508081" y="1177912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1547" dirty="0"/>
          </a:p>
        </p:txBody>
      </p:sp>
      <p:sp>
        <p:nvSpPr>
          <p:cNvPr id="76" name="Text 75"/>
          <p:cNvSpPr/>
          <p:nvPr/>
        </p:nvSpPr>
        <p:spPr>
          <a:xfrm>
            <a:off x="3434237" y="3043461"/>
            <a:ext cx="2222674" cy="421922"/>
          </a:xfrm>
          <a:prstGeom prst="roundRect">
            <a:avLst>
              <a:gd name="adj" fmla="val 14523"/>
            </a:avLst>
          </a:prstGeom>
          <a:solidFill>
            <a:srgbClr val="E6F2FD"/>
          </a:solidFill>
          <a:ln/>
        </p:spPr>
        <p:txBody>
          <a:bodyPr wrap="square" rtlCol="0" anchor="ctr"/>
          <a:lstStyle/>
          <a:p>
            <a:endParaRPr lang="en-US" dirty="0"/>
          </a:p>
        </p:txBody>
      </p:sp>
      <p:sp>
        <p:nvSpPr>
          <p:cNvPr id="77" name="Text 76"/>
          <p:cNvSpPr/>
          <p:nvPr/>
        </p:nvSpPr>
        <p:spPr>
          <a:xfrm>
            <a:off x="3434795" y="3063365"/>
            <a:ext cx="49515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1565C0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⊕</a:t>
            </a:r>
            <a:endParaRPr lang="en-US" sz="1406" dirty="0"/>
          </a:p>
        </p:txBody>
      </p:sp>
      <p:sp>
        <p:nvSpPr>
          <p:cNvPr id="78" name="Text 77"/>
          <p:cNvSpPr/>
          <p:nvPr/>
        </p:nvSpPr>
        <p:spPr>
          <a:xfrm>
            <a:off x="3791833" y="3080890"/>
            <a:ext cx="1725761" cy="2297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1418"/>
              </a:lnSpc>
            </a:pPr>
            <a:r>
              <a:rPr lang="ru-RU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Декоративные</a:t>
            </a:r>
            <a:r>
              <a:rPr lang="en-US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штукатурки</a:t>
            </a:r>
          </a:p>
          <a:p>
            <a:pPr>
              <a:lnSpc>
                <a:spcPts val="1418"/>
              </a:lnSpc>
            </a:pPr>
            <a:r>
              <a:rPr lang="ru-RU" sz="800" dirty="0" err="1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Кароед</a:t>
            </a:r>
            <a:r>
              <a:rPr lang="ru-RU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и т. д. </a:t>
            </a:r>
          </a:p>
        </p:txBody>
      </p:sp>
    </p:spTree>
    <p:extLst>
      <p:ext uri="{BB962C8B-B14F-4D97-AF65-F5344CB8AC3E}">
        <p14:creationId xmlns:p14="http://schemas.microsoft.com/office/powerpoint/2010/main" val="35165129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20"/>
          <p:cNvSpPr/>
          <p:nvPr/>
        </p:nvSpPr>
        <p:spPr>
          <a:xfrm>
            <a:off x="3159457" y="2265275"/>
            <a:ext cx="2726993" cy="2583568"/>
          </a:xfrm>
          <a:prstGeom prst="roundRect">
            <a:avLst>
              <a:gd name="adj" fmla="val 5797"/>
            </a:avLst>
          </a:prstGeom>
          <a:solidFill>
            <a:srgbClr val="E3F4E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140738"/>
            <a:ext cx="8636000" cy="324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Продажи: программы развития партнёров</a:t>
            </a:r>
            <a:endParaRPr lang="en-US" sz="1575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39188"/>
            <a:ext cx="457200" cy="3571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52792" y="2258451"/>
            <a:ext cx="2628900" cy="2583568"/>
          </a:xfrm>
          <a:prstGeom prst="roundRect">
            <a:avLst>
              <a:gd name="adj" fmla="val 5797"/>
            </a:avLst>
          </a:prstGeom>
          <a:solidFill>
            <a:srgbClr val="FFF0E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467442" y="2292571"/>
            <a:ext cx="2228850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ru-RU" sz="1125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Академия</a:t>
            </a:r>
            <a:r>
              <a:rPr lang="en-US" sz="1125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1125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продаж </a:t>
            </a:r>
            <a:r>
              <a:rPr lang="ru-RU" sz="1125" b="1" dirty="0" err="1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Эмпилс</a:t>
            </a:r>
            <a:endParaRPr lang="ru-RU" sz="1125" dirty="0"/>
          </a:p>
        </p:txBody>
      </p:sp>
      <p:sp>
        <p:nvSpPr>
          <p:cNvPr id="12" name="Text 9"/>
          <p:cNvSpPr/>
          <p:nvPr/>
        </p:nvSpPr>
        <p:spPr>
          <a:xfrm>
            <a:off x="445681" y="3290214"/>
            <a:ext cx="91440" cy="153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3"/>
              </a:lnSpc>
              <a:buNone/>
            </a:pPr>
            <a:r>
              <a:rPr lang="en-US" sz="800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37880" y="3290214"/>
            <a:ext cx="2136651" cy="383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81"/>
              </a:lnSpc>
            </a:pP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Обучение</a:t>
            </a:r>
            <a:r>
              <a:rPr lang="en-US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продавцов</a:t>
            </a:r>
            <a:r>
              <a:rPr lang="en-US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дистрибьюторов по продаже </a:t>
            </a:r>
            <a:r>
              <a:rPr lang="en-US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B2C</a:t>
            </a:r>
            <a:r>
              <a:rPr lang="ru-RU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на базе 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дистрибьютора. 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445681" y="3894454"/>
            <a:ext cx="91440" cy="153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3"/>
              </a:lnSpc>
              <a:buNone/>
            </a:pPr>
            <a:r>
              <a:rPr lang="en-US" sz="800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37880" y="3880806"/>
            <a:ext cx="213665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800" dirty="0" err="1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Модуль</a:t>
            </a: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: 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Практика. </a:t>
            </a:r>
            <a:r>
              <a:rPr lang="en-US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TCO </a:t>
            </a: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vs конкуренты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45681" y="4123374"/>
            <a:ext cx="91440" cy="153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3"/>
              </a:lnSpc>
              <a:buNone/>
            </a:pPr>
            <a:r>
              <a:rPr lang="en-US" sz="800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537880" y="4102902"/>
            <a:ext cx="2136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800" dirty="0" err="1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Модуль</a:t>
            </a: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: продажа через ценность, а не цену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45681" y="4379480"/>
            <a:ext cx="91440" cy="153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3"/>
              </a:lnSpc>
              <a:buNone/>
            </a:pPr>
            <a:r>
              <a:rPr lang="en-US" sz="800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537880" y="4379480"/>
            <a:ext cx="213665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Сертификат Эксперт Эмпилс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3285975" y="2306219"/>
            <a:ext cx="239149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ru-RU" sz="1125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Премиум </a:t>
            </a:r>
            <a:r>
              <a:rPr lang="en-US" sz="1125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-</a:t>
            </a:r>
            <a:r>
              <a:rPr lang="ru-RU" sz="1125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лаборатория </a:t>
            </a:r>
            <a:r>
              <a:rPr lang="ru-RU" sz="1125" b="1" dirty="0" err="1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Эмпилс</a:t>
            </a:r>
            <a:endParaRPr lang="ru-RU" sz="1125" dirty="0"/>
          </a:p>
        </p:txBody>
      </p:sp>
      <p:sp>
        <p:nvSpPr>
          <p:cNvPr id="27" name="Text 24"/>
          <p:cNvSpPr/>
          <p:nvPr/>
        </p:nvSpPr>
        <p:spPr>
          <a:xfrm>
            <a:off x="3327919" y="3632076"/>
            <a:ext cx="91440" cy="153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3"/>
              </a:lnSpc>
              <a:buNone/>
            </a:pPr>
            <a:r>
              <a:rPr lang="en-US" sz="800" dirty="0" smtClean="0">
                <a:solidFill>
                  <a:srgbClr val="2E7D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6057900" y="2258451"/>
            <a:ext cx="2717610" cy="2583568"/>
          </a:xfrm>
          <a:prstGeom prst="roundRect">
            <a:avLst>
              <a:gd name="adj" fmla="val 5797"/>
            </a:avLst>
          </a:prstGeom>
          <a:solidFill>
            <a:srgbClr val="F0E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8"/>
          <p:cNvSpPr/>
          <p:nvPr/>
        </p:nvSpPr>
        <p:spPr>
          <a:xfrm>
            <a:off x="6156904" y="2305940"/>
            <a:ext cx="2228850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ru-RU" sz="1125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Экспортная экспансия</a:t>
            </a:r>
            <a:endParaRPr lang="en-US" sz="1125" dirty="0"/>
          </a:p>
        </p:txBody>
      </p:sp>
      <p:sp>
        <p:nvSpPr>
          <p:cNvPr id="42" name="Text 39"/>
          <p:cNvSpPr/>
          <p:nvPr/>
        </p:nvSpPr>
        <p:spPr>
          <a:xfrm>
            <a:off x="6158321" y="2833436"/>
            <a:ext cx="102337" cy="155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3"/>
              </a:lnSpc>
              <a:buNone/>
            </a:pPr>
            <a:r>
              <a:rPr lang="en-US" sz="800" dirty="0">
                <a:solidFill>
                  <a:srgbClr val="7B1FA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6250521" y="2820736"/>
            <a:ext cx="2391269" cy="166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Ассортиментный анализ (свойства, дизайн и т.д.) </a:t>
            </a:r>
            <a:endParaRPr lang="en-US" sz="800" dirty="0"/>
          </a:p>
        </p:txBody>
      </p:sp>
      <p:sp>
        <p:nvSpPr>
          <p:cNvPr id="53" name="Text 4"/>
          <p:cNvSpPr/>
          <p:nvPr/>
        </p:nvSpPr>
        <p:spPr>
          <a:xfrm>
            <a:off x="352792" y="764270"/>
            <a:ext cx="2733308" cy="1269245"/>
          </a:xfrm>
          <a:prstGeom prst="roundRect">
            <a:avLst>
              <a:gd name="adj" fmla="val 14512"/>
            </a:avLst>
          </a:prstGeom>
          <a:solidFill>
            <a:schemeClr val="bg1">
              <a:lumMod val="9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7"/>
          <p:cNvSpPr/>
          <p:nvPr/>
        </p:nvSpPr>
        <p:spPr>
          <a:xfrm>
            <a:off x="482955" y="899762"/>
            <a:ext cx="2444489" cy="24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9"/>
              </a:lnSpc>
              <a:buNone/>
            </a:pPr>
            <a:r>
              <a:rPr lang="en-US" sz="1013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DIY</a:t>
            </a:r>
            <a:r>
              <a:rPr lang="ru-RU" sz="1013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1013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–</a:t>
            </a:r>
            <a:r>
              <a:rPr lang="ru-RU" sz="1013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РТТ, </a:t>
            </a:r>
            <a:r>
              <a:rPr lang="en-US" sz="1013" b="1" dirty="0" err="1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ритейл</a:t>
            </a:r>
            <a:r>
              <a:rPr lang="ru-RU" sz="1013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 магазины…</a:t>
            </a:r>
            <a:r>
              <a:rPr lang="en-US" sz="1013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endParaRPr lang="en-US" sz="1013" dirty="0"/>
          </a:p>
        </p:txBody>
      </p:sp>
      <p:sp>
        <p:nvSpPr>
          <p:cNvPr id="57" name="Text 8"/>
          <p:cNvSpPr/>
          <p:nvPr/>
        </p:nvSpPr>
        <p:spPr>
          <a:xfrm>
            <a:off x="462483" y="1183273"/>
            <a:ext cx="2444489" cy="660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1. Текущие партеры - с</a:t>
            </a:r>
            <a:r>
              <a:rPr lang="en-US" sz="800" dirty="0" err="1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двиг</a:t>
            </a:r>
            <a:r>
              <a:rPr lang="en-US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от объёма к 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ценности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2. Белые пятна - соблюдения покрытия</a:t>
            </a:r>
            <a:r>
              <a:rPr lang="en-US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endParaRPr lang="ru-RU" sz="800" dirty="0" smtClean="0">
              <a:solidFill>
                <a:srgbClr val="2D2D2D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3. </a:t>
            </a:r>
            <a:r>
              <a:rPr lang="ru-RU" sz="800" dirty="0" err="1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Потеряшки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- анализ ухода партеров</a:t>
            </a:r>
          </a:p>
          <a:p>
            <a:pPr marL="0" indent="0" algn="l">
              <a:lnSpc>
                <a:spcPts val="1181"/>
              </a:lnSpc>
              <a:buNone/>
            </a:pPr>
            <a:endParaRPr lang="en-US" sz="800" dirty="0"/>
          </a:p>
        </p:txBody>
      </p:sp>
      <p:sp>
        <p:nvSpPr>
          <p:cNvPr id="58" name="Text 13"/>
          <p:cNvSpPr/>
          <p:nvPr/>
        </p:nvSpPr>
        <p:spPr>
          <a:xfrm>
            <a:off x="3159457" y="764270"/>
            <a:ext cx="2711118" cy="1269245"/>
          </a:xfrm>
          <a:prstGeom prst="roundRect">
            <a:avLst>
              <a:gd name="adj" fmla="val 14081"/>
            </a:avLst>
          </a:prstGeom>
          <a:solidFill>
            <a:schemeClr val="bg1">
              <a:lumMod val="95000"/>
            </a:schemeClr>
          </a:solidFill>
          <a:ln/>
        </p:spPr>
        <p:txBody>
          <a:bodyPr wrap="square" rtlCol="0" anchor="ctr"/>
          <a:lstStyle/>
          <a:p>
            <a:endParaRPr lang="en-US" dirty="0"/>
          </a:p>
        </p:txBody>
      </p:sp>
      <p:sp>
        <p:nvSpPr>
          <p:cNvPr id="61" name="Text 16"/>
          <p:cNvSpPr/>
          <p:nvPr/>
        </p:nvSpPr>
        <p:spPr>
          <a:xfrm>
            <a:off x="3228610" y="844566"/>
            <a:ext cx="2085873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Профессиональный канал</a:t>
            </a:r>
            <a:endParaRPr lang="en-US" sz="1013" dirty="0"/>
          </a:p>
        </p:txBody>
      </p:sp>
      <p:sp>
        <p:nvSpPr>
          <p:cNvPr id="62" name="Text 17"/>
          <p:cNvSpPr/>
          <p:nvPr/>
        </p:nvSpPr>
        <p:spPr>
          <a:xfrm>
            <a:off x="3234072" y="1056892"/>
            <a:ext cx="2531394" cy="853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1. Расширение </a:t>
            </a:r>
            <a:r>
              <a:rPr lang="ru-RU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дистрибьюторской портфеля 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за счет мотивированного поиска и </a:t>
            </a:r>
            <a:r>
              <a:rPr lang="ru-RU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региональной командой </a:t>
            </a:r>
            <a:r>
              <a:rPr lang="en-US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представителей профессионального канала.</a:t>
            </a:r>
          </a:p>
          <a:p>
            <a:pPr>
              <a:lnSpc>
                <a:spcPct val="150000"/>
              </a:lnSpc>
            </a:pP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2. Точечная работа с каждым при помощи подключения ШК.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en-US" sz="800" dirty="0"/>
          </a:p>
        </p:txBody>
      </p:sp>
      <p:sp>
        <p:nvSpPr>
          <p:cNvPr id="63" name="Text 20"/>
          <p:cNvSpPr/>
          <p:nvPr/>
        </p:nvSpPr>
        <p:spPr>
          <a:xfrm>
            <a:off x="6057900" y="764271"/>
            <a:ext cx="2717610" cy="1269244"/>
          </a:xfrm>
          <a:prstGeom prst="roundRect">
            <a:avLst>
              <a:gd name="adj" fmla="val 14270"/>
            </a:avLst>
          </a:prstGeom>
          <a:solidFill>
            <a:schemeClr val="bg1">
              <a:lumMod val="95000"/>
            </a:schemeClr>
          </a:solidFill>
          <a:ln/>
        </p:spPr>
        <p:txBody>
          <a:bodyPr wrap="square" rtlCol="0" anchor="ctr"/>
          <a:lstStyle/>
          <a:p>
            <a:endParaRPr lang="en-US" dirty="0"/>
          </a:p>
        </p:txBody>
      </p:sp>
      <p:sp>
        <p:nvSpPr>
          <p:cNvPr id="65" name="Text 22"/>
          <p:cNvSpPr/>
          <p:nvPr/>
        </p:nvSpPr>
        <p:spPr>
          <a:xfrm>
            <a:off x="6265426" y="944092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66" name="Text 23"/>
          <p:cNvSpPr/>
          <p:nvPr/>
        </p:nvSpPr>
        <p:spPr>
          <a:xfrm>
            <a:off x="6189108" y="843056"/>
            <a:ext cx="633412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9"/>
              </a:lnSpc>
              <a:buNone/>
            </a:pPr>
            <a:r>
              <a:rPr lang="ru-RU" sz="1013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Экспорт</a:t>
            </a:r>
            <a:r>
              <a:rPr lang="en-US" sz="1013" b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endParaRPr lang="en-US" sz="1013" dirty="0"/>
          </a:p>
        </p:txBody>
      </p:sp>
      <p:sp>
        <p:nvSpPr>
          <p:cNvPr id="59" name="Text 39"/>
          <p:cNvSpPr/>
          <p:nvPr/>
        </p:nvSpPr>
        <p:spPr>
          <a:xfrm>
            <a:off x="6145926" y="3047997"/>
            <a:ext cx="102337" cy="155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3"/>
              </a:lnSpc>
              <a:buNone/>
            </a:pPr>
            <a:r>
              <a:rPr lang="en-US" sz="800" dirty="0">
                <a:solidFill>
                  <a:srgbClr val="7B1FA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</a:t>
            </a:r>
            <a:endParaRPr lang="en-US" sz="800" dirty="0"/>
          </a:p>
        </p:txBody>
      </p:sp>
      <p:sp>
        <p:nvSpPr>
          <p:cNvPr id="60" name="Text 40"/>
          <p:cNvSpPr/>
          <p:nvPr/>
        </p:nvSpPr>
        <p:spPr>
          <a:xfrm>
            <a:off x="6238126" y="3035297"/>
            <a:ext cx="2391269" cy="166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Создание посадочных страниц «Стань партнером </a:t>
            </a:r>
            <a:r>
              <a:rPr lang="ru-RU" sz="800" dirty="0" err="1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Эмпилс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» </a:t>
            </a:r>
            <a:endParaRPr lang="en-US" sz="800" dirty="0"/>
          </a:p>
        </p:txBody>
      </p:sp>
      <p:sp>
        <p:nvSpPr>
          <p:cNvPr id="64" name="Text 39"/>
          <p:cNvSpPr/>
          <p:nvPr/>
        </p:nvSpPr>
        <p:spPr>
          <a:xfrm>
            <a:off x="6141374" y="3377821"/>
            <a:ext cx="102337" cy="155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3"/>
              </a:lnSpc>
              <a:buNone/>
            </a:pPr>
            <a:r>
              <a:rPr lang="en-US" sz="800" dirty="0">
                <a:solidFill>
                  <a:srgbClr val="7B1FA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</a:t>
            </a:r>
            <a:endParaRPr lang="en-US" sz="800" dirty="0"/>
          </a:p>
        </p:txBody>
      </p:sp>
      <p:sp>
        <p:nvSpPr>
          <p:cNvPr id="67" name="Text 40"/>
          <p:cNvSpPr/>
          <p:nvPr/>
        </p:nvSpPr>
        <p:spPr>
          <a:xfrm>
            <a:off x="6233574" y="3365121"/>
            <a:ext cx="2391269" cy="166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ru-RU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Рассылка приглашений 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по потенциальным партнерам</a:t>
            </a:r>
            <a:endParaRPr lang="en-US" sz="800" dirty="0">
              <a:solidFill>
                <a:srgbClr val="2D2D2D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68" name="Text 40"/>
          <p:cNvSpPr/>
          <p:nvPr/>
        </p:nvSpPr>
        <p:spPr>
          <a:xfrm>
            <a:off x="6244950" y="3693477"/>
            <a:ext cx="2391269" cy="166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РЭЦ. Субсидии</a:t>
            </a:r>
            <a:endParaRPr lang="en-US" sz="800" dirty="0">
              <a:solidFill>
                <a:srgbClr val="2D2D2D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69" name="Text 39"/>
          <p:cNvSpPr/>
          <p:nvPr/>
        </p:nvSpPr>
        <p:spPr>
          <a:xfrm>
            <a:off x="6142613" y="3693477"/>
            <a:ext cx="102337" cy="155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3"/>
              </a:lnSpc>
              <a:buNone/>
            </a:pPr>
            <a:r>
              <a:rPr lang="en-US" sz="800" dirty="0">
                <a:solidFill>
                  <a:srgbClr val="7B1FA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</a:t>
            </a:r>
            <a:endParaRPr lang="en-US" sz="800" dirty="0"/>
          </a:p>
        </p:txBody>
      </p:sp>
      <p:sp>
        <p:nvSpPr>
          <p:cNvPr id="70" name="Text 17"/>
          <p:cNvSpPr/>
          <p:nvPr/>
        </p:nvSpPr>
        <p:spPr>
          <a:xfrm>
            <a:off x="6186957" y="1071683"/>
            <a:ext cx="2273930" cy="5183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1. Расширение географии</a:t>
            </a:r>
            <a:b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</a:b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2. Выход в премиум-сегмент</a:t>
            </a:r>
            <a:endParaRPr lang="en-US" sz="800" dirty="0"/>
          </a:p>
        </p:txBody>
      </p:sp>
      <p:sp>
        <p:nvSpPr>
          <p:cNvPr id="71" name="Text 10"/>
          <p:cNvSpPr/>
          <p:nvPr/>
        </p:nvSpPr>
        <p:spPr>
          <a:xfrm>
            <a:off x="559641" y="2795275"/>
            <a:ext cx="2136651" cy="41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Дистрибьютор имеет свою розничную сеть, лоялен, наличие средний + и премиум товаров</a:t>
            </a:r>
            <a:endParaRPr lang="en-US" sz="800" dirty="0"/>
          </a:p>
        </p:txBody>
      </p:sp>
      <p:sp>
        <p:nvSpPr>
          <p:cNvPr id="72" name="Text 9"/>
          <p:cNvSpPr/>
          <p:nvPr/>
        </p:nvSpPr>
        <p:spPr>
          <a:xfrm>
            <a:off x="434305" y="2814806"/>
            <a:ext cx="91440" cy="153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3"/>
              </a:lnSpc>
              <a:buNone/>
            </a:pPr>
            <a:r>
              <a:rPr lang="en-US" sz="800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</a:t>
            </a:r>
            <a:endParaRPr lang="en-US" sz="800" dirty="0"/>
          </a:p>
        </p:txBody>
      </p:sp>
      <p:sp>
        <p:nvSpPr>
          <p:cNvPr id="73" name="Text 11"/>
          <p:cNvSpPr/>
          <p:nvPr/>
        </p:nvSpPr>
        <p:spPr>
          <a:xfrm>
            <a:off x="441129" y="3651062"/>
            <a:ext cx="91440" cy="153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3"/>
              </a:lnSpc>
              <a:buNone/>
            </a:pPr>
            <a:r>
              <a:rPr lang="en-US" sz="800" dirty="0">
                <a:solidFill>
                  <a:srgbClr val="F28C3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</a:t>
            </a:r>
            <a:endParaRPr lang="en-US" sz="800" dirty="0"/>
          </a:p>
        </p:txBody>
      </p:sp>
      <p:sp>
        <p:nvSpPr>
          <p:cNvPr id="74" name="Text 12"/>
          <p:cNvSpPr/>
          <p:nvPr/>
        </p:nvSpPr>
        <p:spPr>
          <a:xfrm>
            <a:off x="533328" y="3637414"/>
            <a:ext cx="213665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800" dirty="0" err="1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Модуль</a:t>
            </a: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: 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 компании. Теория.</a:t>
            </a:r>
            <a:endParaRPr lang="en-US" sz="800" dirty="0"/>
          </a:p>
        </p:txBody>
      </p:sp>
      <p:sp>
        <p:nvSpPr>
          <p:cNvPr id="75" name="Text 25"/>
          <p:cNvSpPr/>
          <p:nvPr/>
        </p:nvSpPr>
        <p:spPr>
          <a:xfrm>
            <a:off x="3399210" y="2794333"/>
            <a:ext cx="2366256" cy="821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ru-RU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Партнер 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работает </a:t>
            </a:r>
            <a:r>
              <a:rPr lang="ru-RU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 нами, но не закупает 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ФТМ. </a:t>
            </a:r>
          </a:p>
          <a:p>
            <a:pPr marL="0" indent="0" algn="l">
              <a:lnSpc>
                <a:spcPts val="1181"/>
              </a:lnSpc>
              <a:buNone/>
            </a:pP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 </a:t>
            </a:r>
            <a:r>
              <a:rPr lang="ru-RU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его клиентской 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базе дилеров скептические настроения по </a:t>
            </a:r>
            <a:r>
              <a:rPr lang="ru-RU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ФТМ от </a:t>
            </a:r>
            <a:r>
              <a:rPr lang="ru-RU" sz="800" dirty="0" err="1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Эмпилс</a:t>
            </a:r>
            <a:r>
              <a:rPr lang="ru-RU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спроса 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нет, либо очень маленький. </a:t>
            </a:r>
            <a:endParaRPr lang="en-US" sz="800" dirty="0">
              <a:solidFill>
                <a:srgbClr val="2D2D2D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80" name="Text 10"/>
          <p:cNvSpPr/>
          <p:nvPr/>
        </p:nvSpPr>
        <p:spPr>
          <a:xfrm>
            <a:off x="454777" y="2551637"/>
            <a:ext cx="2513610" cy="191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81"/>
              </a:lnSpc>
            </a:pPr>
            <a:r>
              <a:rPr lang="ru-RU" sz="800" b="1" i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Третичные продажи - стимуляция на клиента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 </a:t>
            </a:r>
            <a:endParaRPr lang="en-US" sz="800" dirty="0"/>
          </a:p>
        </p:txBody>
      </p:sp>
      <p:sp>
        <p:nvSpPr>
          <p:cNvPr id="81" name="Text 10"/>
          <p:cNvSpPr/>
          <p:nvPr/>
        </p:nvSpPr>
        <p:spPr>
          <a:xfrm>
            <a:off x="3285976" y="2551479"/>
            <a:ext cx="2513610" cy="191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81"/>
              </a:lnSpc>
            </a:pPr>
            <a:r>
              <a:rPr lang="ru-RU" sz="800" b="1" i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Третичные продажи - стимуляция на клиента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 </a:t>
            </a:r>
            <a:endParaRPr lang="en-US" sz="800" dirty="0"/>
          </a:p>
        </p:txBody>
      </p:sp>
      <p:sp>
        <p:nvSpPr>
          <p:cNvPr id="82" name="Text 40"/>
          <p:cNvSpPr/>
          <p:nvPr/>
        </p:nvSpPr>
        <p:spPr>
          <a:xfrm>
            <a:off x="6227894" y="3898447"/>
            <a:ext cx="2391269" cy="166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Участие в выставочных мероприятиях </a:t>
            </a:r>
            <a:endParaRPr lang="en-US" sz="800" dirty="0">
              <a:solidFill>
                <a:srgbClr val="2D2D2D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83" name="Text 39"/>
          <p:cNvSpPr/>
          <p:nvPr/>
        </p:nvSpPr>
        <p:spPr>
          <a:xfrm>
            <a:off x="6149406" y="3897664"/>
            <a:ext cx="102337" cy="155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3"/>
              </a:lnSpc>
              <a:buNone/>
            </a:pPr>
            <a:r>
              <a:rPr lang="en-US" sz="800" dirty="0">
                <a:solidFill>
                  <a:srgbClr val="7B1FA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</a:t>
            </a:r>
            <a:endParaRPr lang="en-US" sz="800" dirty="0"/>
          </a:p>
        </p:txBody>
      </p:sp>
      <p:sp>
        <p:nvSpPr>
          <p:cNvPr id="84" name="Text 10"/>
          <p:cNvSpPr/>
          <p:nvPr/>
        </p:nvSpPr>
        <p:spPr>
          <a:xfrm>
            <a:off x="6156904" y="2569125"/>
            <a:ext cx="2513610" cy="191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81"/>
              </a:lnSpc>
            </a:pPr>
            <a:r>
              <a:rPr lang="ru-RU" sz="800" b="1" i="1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Индивидуальный подход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 </a:t>
            </a:r>
            <a:endParaRPr lang="en-US" sz="800" dirty="0"/>
          </a:p>
        </p:txBody>
      </p:sp>
      <p:sp>
        <p:nvSpPr>
          <p:cNvPr id="85" name="Text 24"/>
          <p:cNvSpPr/>
          <p:nvPr/>
        </p:nvSpPr>
        <p:spPr>
          <a:xfrm>
            <a:off x="3316543" y="2822292"/>
            <a:ext cx="91440" cy="153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3"/>
              </a:lnSpc>
              <a:buNone/>
            </a:pPr>
            <a:r>
              <a:rPr lang="en-US" sz="800" dirty="0" smtClean="0">
                <a:solidFill>
                  <a:srgbClr val="2E7D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</a:t>
            </a:r>
            <a:endParaRPr lang="en-US" sz="800" dirty="0"/>
          </a:p>
        </p:txBody>
      </p:sp>
      <p:sp>
        <p:nvSpPr>
          <p:cNvPr id="87" name="Text 12"/>
          <p:cNvSpPr/>
          <p:nvPr/>
        </p:nvSpPr>
        <p:spPr>
          <a:xfrm>
            <a:off x="3399210" y="3623320"/>
            <a:ext cx="213665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800" dirty="0" err="1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Модуль</a:t>
            </a: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: 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 компании. Теория.</a:t>
            </a:r>
            <a:endParaRPr lang="en-US" sz="800" dirty="0"/>
          </a:p>
        </p:txBody>
      </p:sp>
      <p:sp>
        <p:nvSpPr>
          <p:cNvPr id="88" name="Text 12"/>
          <p:cNvSpPr/>
          <p:nvPr/>
        </p:nvSpPr>
        <p:spPr>
          <a:xfrm>
            <a:off x="3399209" y="3832857"/>
            <a:ext cx="213665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800" dirty="0" err="1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Модуль</a:t>
            </a: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: 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Последовательные технологии, </a:t>
            </a:r>
            <a:r>
              <a:rPr lang="en-US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TCO </a:t>
            </a: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vs конкуренты</a:t>
            </a:r>
            <a:endParaRPr lang="en-US" sz="800" dirty="0"/>
          </a:p>
        </p:txBody>
      </p:sp>
      <p:sp>
        <p:nvSpPr>
          <p:cNvPr id="89" name="Text 24"/>
          <p:cNvSpPr/>
          <p:nvPr/>
        </p:nvSpPr>
        <p:spPr>
          <a:xfrm>
            <a:off x="3330191" y="3852716"/>
            <a:ext cx="91440" cy="153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3"/>
              </a:lnSpc>
              <a:buNone/>
            </a:pPr>
            <a:r>
              <a:rPr lang="en-US" sz="800" dirty="0" smtClean="0">
                <a:solidFill>
                  <a:srgbClr val="2E7D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</a:t>
            </a:r>
            <a:endParaRPr lang="en-US" sz="800" dirty="0"/>
          </a:p>
        </p:txBody>
      </p:sp>
      <p:sp>
        <p:nvSpPr>
          <p:cNvPr id="90" name="Text 26"/>
          <p:cNvSpPr/>
          <p:nvPr/>
        </p:nvSpPr>
        <p:spPr>
          <a:xfrm>
            <a:off x="3313881" y="3434596"/>
            <a:ext cx="91440" cy="153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3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</a:t>
            </a:r>
            <a:endParaRPr lang="en-US" sz="800" dirty="0"/>
          </a:p>
        </p:txBody>
      </p:sp>
      <p:sp>
        <p:nvSpPr>
          <p:cNvPr id="91" name="Text 27"/>
          <p:cNvSpPr/>
          <p:nvPr/>
        </p:nvSpPr>
        <p:spPr>
          <a:xfrm>
            <a:off x="3406080" y="3427772"/>
            <a:ext cx="213665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Нелояльные вторичные партнеры</a:t>
            </a:r>
            <a:endParaRPr lang="en-US" sz="800" dirty="0"/>
          </a:p>
        </p:txBody>
      </p:sp>
      <p:sp>
        <p:nvSpPr>
          <p:cNvPr id="92" name="Text 28"/>
          <p:cNvSpPr/>
          <p:nvPr/>
        </p:nvSpPr>
        <p:spPr>
          <a:xfrm>
            <a:off x="3321196" y="4160704"/>
            <a:ext cx="91440" cy="153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3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•</a:t>
            </a:r>
            <a:endParaRPr lang="en-US" sz="800" dirty="0"/>
          </a:p>
        </p:txBody>
      </p:sp>
      <p:sp>
        <p:nvSpPr>
          <p:cNvPr id="93" name="Text 29"/>
          <p:cNvSpPr/>
          <p:nvPr/>
        </p:nvSpPr>
        <p:spPr>
          <a:xfrm>
            <a:off x="3413395" y="4147056"/>
            <a:ext cx="2136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Стартовый пакет: </a:t>
            </a:r>
            <a:r>
              <a:rPr lang="en-US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</a:t>
            </a:r>
            <a:r>
              <a:rPr lang="en-US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мерчендайзер, </a:t>
            </a:r>
            <a:r>
              <a:rPr lang="en-US" sz="800" dirty="0" err="1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сувениры</a:t>
            </a:r>
            <a:r>
              <a:rPr lang="ru-RU" sz="800" dirty="0" smtClean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 особые условия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457200" y="400050"/>
            <a:ext cx="8636000" cy="388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35"/>
              </a:lnSpc>
              <a:buNone/>
            </a:pPr>
            <a:r>
              <a:rPr lang="en-US" sz="1890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Риски и митигация</a:t>
            </a:r>
            <a:endParaRPr lang="en-US" sz="189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02891"/>
            <a:ext cx="514350" cy="35719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57200" y="1290225"/>
            <a:ext cx="8229600" cy="728770"/>
          </a:xfrm>
          <a:prstGeom prst="roundRect">
            <a:avLst>
              <a:gd name="adj" fmla="val 21506"/>
            </a:avLst>
          </a:prstGeom>
          <a:solidFill>
            <a:srgbClr val="E6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680654" y="1481618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1565C0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688" dirty="0"/>
          </a:p>
        </p:txBody>
      </p:sp>
      <p:sp>
        <p:nvSpPr>
          <p:cNvPr id="24" name="Text 21"/>
          <p:cNvSpPr/>
          <p:nvPr/>
        </p:nvSpPr>
        <p:spPr>
          <a:xfrm>
            <a:off x="1109849" y="1413832"/>
            <a:ext cx="3535996" cy="175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3"/>
              </a:lnSpc>
              <a:buNone/>
            </a:pPr>
            <a:r>
              <a:rPr lang="en-US" sz="855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Сопротивление дистрибьюторов</a:t>
            </a:r>
            <a:endParaRPr lang="en-US" sz="855" dirty="0"/>
          </a:p>
        </p:txBody>
      </p:sp>
      <p:sp>
        <p:nvSpPr>
          <p:cNvPr id="25" name="Text 22"/>
          <p:cNvSpPr/>
          <p:nvPr/>
        </p:nvSpPr>
        <p:spPr>
          <a:xfrm>
            <a:off x="1109849" y="1640981"/>
            <a:ext cx="2015730" cy="125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070"/>
              </a:lnSpc>
            </a:pPr>
            <a:r>
              <a:rPr lang="ru-RU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Нежелание менять устоявшиеся процессы</a:t>
            </a:r>
            <a:endParaRPr lang="ru-RU" sz="800" dirty="0" smtClean="0"/>
          </a:p>
          <a:p>
            <a:pPr marL="0" indent="0" algn="l">
              <a:lnSpc>
                <a:spcPts val="1070"/>
              </a:lnSpc>
              <a:buNone/>
            </a:pPr>
            <a:endParaRPr lang="ru-RU" sz="800" dirty="0"/>
          </a:p>
        </p:txBody>
      </p:sp>
      <p:sp>
        <p:nvSpPr>
          <p:cNvPr id="28" name="Text 25"/>
          <p:cNvSpPr/>
          <p:nvPr/>
        </p:nvSpPr>
        <p:spPr>
          <a:xfrm>
            <a:off x="4645845" y="1513051"/>
            <a:ext cx="3863031" cy="32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7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Программа Премиум-лаборатория. Финансовая мотивация (выше маржа). Стартовый пакет поддержки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457200" y="3196905"/>
            <a:ext cx="8229600" cy="724041"/>
          </a:xfrm>
          <a:prstGeom prst="roundRect">
            <a:avLst>
              <a:gd name="adj" fmla="val 21506"/>
            </a:avLst>
          </a:prstGeom>
          <a:solidFill>
            <a:srgbClr val="FDE8E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653759" y="3373071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DC5C5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↘</a:t>
            </a:r>
            <a:endParaRPr lang="en-US" sz="1688" dirty="0"/>
          </a:p>
        </p:txBody>
      </p:sp>
      <p:sp>
        <p:nvSpPr>
          <p:cNvPr id="31" name="Text 28"/>
          <p:cNvSpPr/>
          <p:nvPr/>
        </p:nvSpPr>
        <p:spPr>
          <a:xfrm>
            <a:off x="1116868" y="3376697"/>
            <a:ext cx="3041044" cy="175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83"/>
              </a:lnSpc>
              <a:buNone/>
            </a:pPr>
            <a:r>
              <a:rPr lang="en-US" sz="855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Падение рынка ЛКМ</a:t>
            </a:r>
            <a:endParaRPr lang="en-US" sz="855" dirty="0"/>
          </a:p>
        </p:txBody>
      </p:sp>
      <p:sp>
        <p:nvSpPr>
          <p:cNvPr id="32" name="Text 29"/>
          <p:cNvSpPr/>
          <p:nvPr/>
        </p:nvSpPr>
        <p:spPr>
          <a:xfrm>
            <a:off x="1116868" y="3633106"/>
            <a:ext cx="1225783" cy="125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Сжатие рынка на −7,8%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3543201" y="3390985"/>
            <a:ext cx="655104" cy="180491"/>
          </a:xfrm>
          <a:prstGeom prst="rect">
            <a:avLst/>
          </a:prstGeom>
          <a:noFill/>
          <a:ln/>
        </p:spPr>
        <p:txBody>
          <a:bodyPr wrap="none" lIns="100013" tIns="28575" rIns="100013" bIns="28575" rtlCol="0" anchor="ctr"/>
          <a:lstStyle/>
          <a:p>
            <a:pPr marL="0" indent="0" algn="ctr">
              <a:lnSpc>
                <a:spcPts val="972"/>
              </a:lnSpc>
              <a:buNone/>
            </a:pPr>
            <a:r>
              <a:rPr lang="en-US" sz="8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ВЫСОКАЯ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4645845" y="3342804"/>
            <a:ext cx="3863031" cy="32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7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Фокус на водные ЛКМ (+3,9%). Рост в сервисе и профессиональном канале. Экспорт в СНГ</a:t>
            </a:r>
            <a:endParaRPr lang="en-US" sz="800" dirty="0"/>
          </a:p>
        </p:txBody>
      </p:sp>
      <p:sp>
        <p:nvSpPr>
          <p:cNvPr id="41" name="Text 17"/>
          <p:cNvSpPr/>
          <p:nvPr/>
        </p:nvSpPr>
        <p:spPr>
          <a:xfrm>
            <a:off x="3540968" y="1549729"/>
            <a:ext cx="630548" cy="180491"/>
          </a:xfrm>
          <a:prstGeom prst="rect">
            <a:avLst/>
          </a:prstGeom>
          <a:noFill/>
          <a:ln/>
        </p:spPr>
        <p:txBody>
          <a:bodyPr wrap="none" lIns="100013" tIns="28575" rIns="100013" bIns="28575" rtlCol="0" anchor="ctr"/>
          <a:lstStyle/>
          <a:p>
            <a:pPr marL="0" indent="0" algn="ctr">
              <a:lnSpc>
                <a:spcPts val="972"/>
              </a:lnSpc>
              <a:buNone/>
            </a:pPr>
            <a:r>
              <a:rPr lang="en-US" sz="8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СРЕДНЯЯ</a:t>
            </a:r>
            <a:endParaRPr lang="en-US" sz="800" dirty="0"/>
          </a:p>
        </p:txBody>
      </p:sp>
      <p:sp>
        <p:nvSpPr>
          <p:cNvPr id="33" name="Text 12"/>
          <p:cNvSpPr/>
          <p:nvPr/>
        </p:nvSpPr>
        <p:spPr>
          <a:xfrm>
            <a:off x="457200" y="2250765"/>
            <a:ext cx="8229600" cy="763094"/>
          </a:xfrm>
          <a:prstGeom prst="roundRect">
            <a:avLst>
              <a:gd name="adj" fmla="val 21506"/>
            </a:avLst>
          </a:prstGeom>
          <a:solidFill>
            <a:srgbClr val="FFF0E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13"/>
          <p:cNvSpPr/>
          <p:nvPr/>
        </p:nvSpPr>
        <p:spPr>
          <a:xfrm>
            <a:off x="680654" y="2410575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F28C3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⇄</a:t>
            </a:r>
            <a:endParaRPr lang="en-US" sz="1688" dirty="0"/>
          </a:p>
        </p:txBody>
      </p:sp>
      <p:sp>
        <p:nvSpPr>
          <p:cNvPr id="42" name="Text 14"/>
          <p:cNvSpPr/>
          <p:nvPr/>
        </p:nvSpPr>
        <p:spPr>
          <a:xfrm>
            <a:off x="1132408" y="2350498"/>
            <a:ext cx="2067992" cy="175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83"/>
              </a:lnSpc>
            </a:pPr>
            <a:r>
              <a:rPr lang="ru-RU" sz="855" b="1" dirty="0" err="1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Репутационный</a:t>
            </a:r>
            <a:r>
              <a:rPr lang="ru-RU" sz="855" b="1" dirty="0">
                <a:solidFill>
                  <a:srgbClr val="2D2D2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долг</a:t>
            </a:r>
            <a:endParaRPr lang="en-US" sz="855" b="1" dirty="0">
              <a:solidFill>
                <a:srgbClr val="2D2D2D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43" name="Text 15"/>
          <p:cNvSpPr/>
          <p:nvPr/>
        </p:nvSpPr>
        <p:spPr>
          <a:xfrm>
            <a:off x="1132408" y="2548792"/>
            <a:ext cx="2296592" cy="44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070"/>
              </a:lnSpc>
            </a:pPr>
            <a:r>
              <a:rPr lang="ru-RU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Как </a:t>
            </a:r>
            <a:r>
              <a:rPr lang="ru-RU" sz="800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финансовый </a:t>
            </a:r>
            <a:r>
              <a:rPr lang="ru-RU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долг, только по доверию. Нужно «отрабатывать», чтобы вернуться к нормальным отношениям.</a:t>
            </a:r>
            <a:endParaRPr lang="en-US" sz="800" dirty="0"/>
          </a:p>
        </p:txBody>
      </p:sp>
      <p:sp>
        <p:nvSpPr>
          <p:cNvPr id="44" name="Text 17"/>
          <p:cNvSpPr/>
          <p:nvPr/>
        </p:nvSpPr>
        <p:spPr>
          <a:xfrm>
            <a:off x="3555479" y="2492491"/>
            <a:ext cx="630548" cy="180491"/>
          </a:xfrm>
          <a:prstGeom prst="rect">
            <a:avLst/>
          </a:prstGeom>
          <a:noFill/>
          <a:ln/>
        </p:spPr>
        <p:txBody>
          <a:bodyPr wrap="none" lIns="100013" tIns="28575" rIns="100013" bIns="28575" rtlCol="0" anchor="ctr"/>
          <a:lstStyle/>
          <a:p>
            <a:pPr marL="0" indent="0" algn="ctr">
              <a:lnSpc>
                <a:spcPts val="972"/>
              </a:lnSpc>
              <a:buNone/>
            </a:pPr>
            <a:r>
              <a:rPr lang="en-US" sz="8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СРЕДНЯЯ</a:t>
            </a:r>
            <a:endParaRPr lang="en-US" sz="800" dirty="0"/>
          </a:p>
        </p:txBody>
      </p:sp>
      <p:sp>
        <p:nvSpPr>
          <p:cNvPr id="45" name="Text 18"/>
          <p:cNvSpPr/>
          <p:nvPr/>
        </p:nvSpPr>
        <p:spPr>
          <a:xfrm>
            <a:off x="4645845" y="2445336"/>
            <a:ext cx="3793305" cy="32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07"/>
              </a:lnSpc>
            </a:pPr>
            <a:r>
              <a:rPr lang="ru-RU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Новые дела перебивают старые обиды: безукоризненные поставки и персональная работа с каждым партнёром.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gradFill>
          <a:gsLst>
            <a:gs pos="0">
              <a:srgbClr val="0A1628"/>
            </a:gs>
            <a:gs pos="50000">
              <a:srgbClr val="0D2137"/>
            </a:gs>
            <a:gs pos="100000">
              <a:srgbClr val="112D4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2900" y="228600"/>
            <a:ext cx="457200" cy="3810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1450"/>
            <a:ext cx="500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90E0EF"/>
                </a:solidFill>
                <a:latin typeface="Carlito"/>
              </a:rPr>
              <a:t>СЛЕДУЮЩИЕ ШАГИ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" y="400050"/>
            <a:ext cx="8458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rlito"/>
              </a:rPr>
              <a:t>Что делать прямо сейчас</a:t>
            </a:r>
            <a:r>
              <a:rPr sz="1400" b="0">
                <a:solidFill>
                  <a:srgbClr val="90E0EF"/>
                </a:solidFill>
                <a:latin typeface="Carlito"/>
              </a:rPr>
              <a:t>  ·  начать с малого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" y="838200"/>
            <a:ext cx="8458200" cy="5715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28600" y="914400"/>
            <a:ext cx="4343400" cy="3810000"/>
          </a:xfrm>
          <a:prstGeom prst="roundRect">
            <a:avLst/>
          </a:prstGeom>
          <a:solidFill>
            <a:srgbClr val="102A45"/>
          </a:solidFill>
          <a:ln w="6350">
            <a:solidFill>
              <a:srgbClr val="1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28700"/>
            <a:ext cx="57150" cy="3581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" y="971550"/>
            <a:ext cx="41148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B4D8"/>
                </a:solidFill>
                <a:latin typeface="Carlito"/>
              </a:rPr>
              <a:t>◆  Маркетинг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50" y="1314450"/>
            <a:ext cx="4000500" cy="335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48CAE4"/>
                </a:solidFill>
                <a:latin typeface="Carlito"/>
              </a:rPr>
              <a:t>▸ Каталог и инструменты</a:t>
            </a:r>
          </a:p>
          <a:p>
            <a:r>
              <a:rPr sz="700">
                <a:solidFill>
                  <a:srgbClr val="00B4D8"/>
                </a:solidFill>
                <a:latin typeface="Carlito"/>
              </a:rPr>
              <a:t>● </a:t>
            </a:r>
            <a:r>
              <a:rPr sz="750">
                <a:solidFill>
                  <a:srgbClr val="D0E8F0"/>
                </a:solidFill>
                <a:latin typeface="Carlito"/>
              </a:rPr>
              <a:t>Обновление печатного каталога – портфолио продуктов, подход от клиента. Каталог закрывает потребности клиента, точка отсчёта для технологических карт.</a:t>
            </a:r>
          </a:p>
          <a:p>
            <a:r>
              <a:rPr sz="700">
                <a:solidFill>
                  <a:srgbClr val="00B4D8"/>
                </a:solidFill>
                <a:latin typeface="Carlito"/>
              </a:rPr>
              <a:t>● </a:t>
            </a:r>
            <a:r>
              <a:rPr sz="750">
                <a:solidFill>
                  <a:srgbClr val="D0E8F0"/>
                </a:solidFill>
                <a:latin typeface="Carlito"/>
              </a:rPr>
              <a:t>TCO калькулятор на базе Excel.</a:t>
            </a:r>
          </a:p>
          <a:p>
            <a:pPr>
              <a:spcBef>
                <a:spcPts val="400"/>
              </a:spcBef>
            </a:pPr>
            <a:r>
              <a:rPr sz="900" b="1">
                <a:solidFill>
                  <a:srgbClr val="FCBF49"/>
                </a:solidFill>
                <a:latin typeface="Carlito"/>
              </a:rPr>
              <a:t>▸ Диджитал и коммуникации</a:t>
            </a:r>
          </a:p>
          <a:p>
            <a:r>
              <a:rPr sz="700">
                <a:solidFill>
                  <a:srgbClr val="FCBF49"/>
                </a:solidFill>
                <a:latin typeface="Carlito"/>
              </a:rPr>
              <a:t>● </a:t>
            </a:r>
            <a:r>
              <a:rPr sz="750">
                <a:solidFill>
                  <a:srgbClr val="D0E8F0"/>
                </a:solidFill>
                <a:latin typeface="Carlito"/>
              </a:rPr>
              <a:t>Добавить информацию о сгруппированных технологиях в каталог, на сайт, профильные посты в соцсетях.</a:t>
            </a:r>
          </a:p>
          <a:p>
            <a:r>
              <a:rPr sz="700">
                <a:solidFill>
                  <a:srgbClr val="FCBF49"/>
                </a:solidFill>
                <a:latin typeface="Carlito"/>
              </a:rPr>
              <a:t>● </a:t>
            </a:r>
            <a:r>
              <a:rPr sz="750">
                <a:solidFill>
                  <a:srgbClr val="D0E8F0"/>
                </a:solidFill>
                <a:latin typeface="Carlito"/>
              </a:rPr>
              <a:t>Рассылка по партнёрам «Присоединяйтесь к нам в социальных сетях».</a:t>
            </a:r>
          </a:p>
          <a:p>
            <a:r>
              <a:rPr sz="700">
                <a:solidFill>
                  <a:srgbClr val="FCBF49"/>
                </a:solidFill>
                <a:latin typeface="Carlito"/>
              </a:rPr>
              <a:t>● </a:t>
            </a:r>
            <a:r>
              <a:rPr sz="750">
                <a:solidFill>
                  <a:srgbClr val="D0E8F0"/>
                </a:solidFill>
                <a:latin typeface="Carlito"/>
              </a:rPr>
              <a:t>Запуск Rutube канала.</a:t>
            </a:r>
          </a:p>
          <a:p>
            <a:r>
              <a:rPr sz="700">
                <a:solidFill>
                  <a:srgbClr val="FCBF49"/>
                </a:solidFill>
                <a:latin typeface="Carlito"/>
              </a:rPr>
              <a:t>● </a:t>
            </a:r>
            <a:r>
              <a:rPr sz="750">
                <a:solidFill>
                  <a:srgbClr val="D0E8F0"/>
                </a:solidFill>
                <a:latin typeface="Carlito"/>
              </a:rPr>
              <a:t>Посадочная страница «Стань партнёром Эмпилс» (rus, eng).</a:t>
            </a:r>
          </a:p>
          <a:p>
            <a:r>
              <a:rPr sz="700">
                <a:solidFill>
                  <a:srgbClr val="FCBF49"/>
                </a:solidFill>
                <a:latin typeface="Carlito"/>
              </a:rPr>
              <a:t>● </a:t>
            </a:r>
            <a:r>
              <a:rPr sz="750">
                <a:solidFill>
                  <a:srgbClr val="D0E8F0"/>
                </a:solidFill>
                <a:latin typeface="Carlito"/>
              </a:rPr>
              <a:t>3DТур по заводу — реализация в Яндекс/Google.</a:t>
            </a:r>
          </a:p>
          <a:p>
            <a:pPr>
              <a:spcBef>
                <a:spcPts val="400"/>
              </a:spcBef>
            </a:pPr>
            <a:r>
              <a:rPr sz="900" b="1">
                <a:solidFill>
                  <a:srgbClr val="A86CFF"/>
                </a:solidFill>
                <a:latin typeface="Carlito"/>
              </a:rPr>
              <a:t>▸ Обучение и стандарты</a:t>
            </a:r>
          </a:p>
          <a:p>
            <a:r>
              <a:rPr sz="700">
                <a:solidFill>
                  <a:srgbClr val="A86CFF"/>
                </a:solidFill>
                <a:latin typeface="Carlito"/>
              </a:rPr>
              <a:t>● </a:t>
            </a:r>
            <a:r>
              <a:rPr sz="750">
                <a:solidFill>
                  <a:srgbClr val="D0E8F0"/>
                </a:solidFill>
                <a:latin typeface="Carlito"/>
              </a:rPr>
              <a:t>Подготовка трёх видов визуальных пригласительных для рассылки по партнёрам.</a:t>
            </a:r>
          </a:p>
          <a:p>
            <a:r>
              <a:rPr sz="700">
                <a:solidFill>
                  <a:srgbClr val="A86CFF"/>
                </a:solidFill>
                <a:latin typeface="Carlito"/>
              </a:rPr>
              <a:t>● </a:t>
            </a:r>
            <a:r>
              <a:rPr sz="750">
                <a:solidFill>
                  <a:srgbClr val="D0E8F0"/>
                </a:solidFill>
                <a:latin typeface="Carlito"/>
              </a:rPr>
              <a:t>Отдельная презентация по сгруппированным технологиям для рассылки дилерам.</a:t>
            </a:r>
          </a:p>
          <a:p>
            <a:r>
              <a:rPr sz="700">
                <a:solidFill>
                  <a:srgbClr val="A86CFF"/>
                </a:solidFill>
                <a:latin typeface="Carlito"/>
              </a:rPr>
              <a:t>● </a:t>
            </a:r>
            <a:r>
              <a:rPr sz="750">
                <a:solidFill>
                  <a:srgbClr val="D0E8F0"/>
                </a:solidFill>
                <a:latin typeface="Carlito"/>
              </a:rPr>
              <a:t>Создать курс по обучению презентации и продажи сгруппированных технологий.</a:t>
            </a:r>
          </a:p>
          <a:p>
            <a:r>
              <a:rPr sz="700">
                <a:solidFill>
                  <a:srgbClr val="A86CFF"/>
                </a:solidFill>
                <a:latin typeface="Carlito"/>
              </a:rPr>
              <a:t>● </a:t>
            </a:r>
            <a:r>
              <a:rPr sz="750">
                <a:solidFill>
                  <a:srgbClr val="D0E8F0"/>
                </a:solidFill>
                <a:latin typeface="Carlito"/>
              </a:rPr>
              <a:t>Стандартизация умений для полевой демонстрации ЛКМ Эмпилс.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99980" y="914400"/>
            <a:ext cx="4114800" cy="3810000"/>
          </a:xfrm>
          <a:prstGeom prst="roundRect">
            <a:avLst/>
          </a:prstGeom>
          <a:solidFill>
            <a:srgbClr val="1A2035"/>
          </a:solidFill>
          <a:ln w="6350">
            <a:solidFill>
              <a:srgbClr val="2A1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99980" y="1028700"/>
            <a:ext cx="57150" cy="3581400"/>
          </a:xfrm>
          <a:prstGeom prst="rect">
            <a:avLst/>
          </a:prstGeom>
          <a:solidFill>
            <a:srgbClr val="FF7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4280" y="971550"/>
            <a:ext cx="38862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7F3F"/>
                </a:solidFill>
                <a:latin typeface="Carlito"/>
              </a:rPr>
              <a:t>◆  Продажи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71430" y="1314450"/>
            <a:ext cx="3771900" cy="335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7F3F"/>
                </a:solidFill>
                <a:latin typeface="Carlito"/>
              </a:rPr>
              <a:t>▸ Работа с базой (CRM)</a:t>
            </a:r>
          </a:p>
          <a:p>
            <a:r>
              <a:rPr sz="700">
                <a:solidFill>
                  <a:srgbClr val="FF7F3F"/>
                </a:solidFill>
                <a:latin typeface="Carlito"/>
              </a:rPr>
              <a:t>● </a:t>
            </a:r>
            <a:r>
              <a:rPr sz="750">
                <a:solidFill>
                  <a:srgbClr val="E8DDD0"/>
                </a:solidFill>
                <a:latin typeface="Carlito"/>
              </a:rPr>
              <a:t>Создание базы потенциальных партнёров, потерянных партнёров, тех, кто не хочет с нами работать.</a:t>
            </a:r>
          </a:p>
          <a:p>
            <a:pPr>
              <a:spcBef>
                <a:spcPts val="400"/>
              </a:spcBef>
            </a:pPr>
            <a:r>
              <a:rPr sz="900" b="1">
                <a:solidFill>
                  <a:srgbClr val="FF6B6B"/>
                </a:solidFill>
                <a:latin typeface="Carlito"/>
              </a:rPr>
              <a:t>▸ Коммуникация с рынком</a:t>
            </a:r>
          </a:p>
          <a:p>
            <a:r>
              <a:rPr sz="700">
                <a:solidFill>
                  <a:srgbClr val="FF6B6B"/>
                </a:solidFill>
                <a:latin typeface="Carlito"/>
              </a:rPr>
              <a:t>● </a:t>
            </a:r>
            <a:r>
              <a:rPr sz="750">
                <a:solidFill>
                  <a:srgbClr val="E8DDD0"/>
                </a:solidFill>
                <a:latin typeface="Carlito"/>
              </a:rPr>
              <a:t>Рассылка по потенциальным партнёрам визуального пригласительного письма познакомиться с компанией Эмпилс.</a:t>
            </a:r>
          </a:p>
          <a:p>
            <a:r>
              <a:rPr sz="700">
                <a:solidFill>
                  <a:srgbClr val="FF6B6B"/>
                </a:solidFill>
                <a:latin typeface="Carlito"/>
              </a:rPr>
              <a:t>● </a:t>
            </a:r>
            <a:r>
              <a:rPr sz="750">
                <a:solidFill>
                  <a:srgbClr val="E8DDD0"/>
                </a:solidFill>
                <a:latin typeface="Carlito"/>
              </a:rPr>
              <a:t>Посыл: завод обновился не только в физическом плане — капитальный ремонт, но и обновился в своих подходах к ведению бизнеса.</a:t>
            </a:r>
          </a:p>
          <a:p>
            <a:pPr>
              <a:spcBef>
                <a:spcPts val="400"/>
              </a:spcBef>
            </a:pPr>
            <a:r>
              <a:rPr sz="900" b="1">
                <a:solidFill>
                  <a:srgbClr val="2ECC71"/>
                </a:solidFill>
                <a:latin typeface="Carlito"/>
              </a:rPr>
              <a:t>▸ Полевая работа</a:t>
            </a:r>
          </a:p>
          <a:p>
            <a:r>
              <a:rPr sz="700">
                <a:solidFill>
                  <a:srgbClr val="2ECC71"/>
                </a:solidFill>
                <a:latin typeface="Carlito"/>
              </a:rPr>
              <a:t>● </a:t>
            </a:r>
            <a:r>
              <a:rPr sz="750">
                <a:solidFill>
                  <a:srgbClr val="E8DDD0"/>
                </a:solidFill>
                <a:latin typeface="Carlito"/>
              </a:rPr>
              <a:t>Обучение региональной команды по новому формату полевой демонстрации продукции.</a:t>
            </a:r>
          </a:p>
          <a:p>
            <a:r>
              <a:rPr sz="700">
                <a:solidFill>
                  <a:srgbClr val="2ECC71"/>
                </a:solidFill>
                <a:latin typeface="Carlito"/>
              </a:rPr>
              <a:t>● </a:t>
            </a:r>
            <a:r>
              <a:rPr sz="750">
                <a:solidFill>
                  <a:srgbClr val="E8DDD0"/>
                </a:solidFill>
                <a:latin typeface="Carlito"/>
              </a:rPr>
              <a:t>План-график мероприятий встреч, полевая лаборатория у партнёров. Систематическая работа.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2000" y="994400"/>
            <a:ext cx="1050000" cy="22860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0A2540"/>
                </a:solidFill>
                <a:latin typeface="Carlito"/>
              </a:rPr>
              <a:t>11 задач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4780" y="994400"/>
            <a:ext cx="950000" cy="228600"/>
          </a:xfrm>
          <a:prstGeom prst="roundRect">
            <a:avLst/>
          </a:prstGeom>
          <a:solidFill>
            <a:srgbClr val="FF7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0A2540"/>
                </a:solidFill>
                <a:latin typeface="Carlito"/>
              </a:rPr>
              <a:t>4 задачи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76800"/>
            <a:ext cx="9144000" cy="26670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" y="4876800"/>
            <a:ext cx="8458200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" y="4905360"/>
            <a:ext cx="8458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B4D8"/>
                </a:solidFill>
                <a:latin typeface="Carlito"/>
              </a:rPr>
              <a:t>Эмпилс</a:t>
            </a:r>
            <a:r>
              <a:rPr sz="1000" b="0">
                <a:solidFill>
                  <a:srgbClr val="90E0EF"/>
                </a:solidFill>
                <a:latin typeface="Carlito"/>
              </a:rPr>
              <a:t>  —  от cheapest к chosen</a:t>
            </a:r>
          </a:p>
        </p:txBody>
      </p:sp>
      <p:sp>
        <p:nvSpPr>
          <p:cNvPr id="19" name="Oval 18"/>
          <p:cNvSpPr/>
          <p:nvPr/>
        </p:nvSpPr>
        <p:spPr>
          <a:xfrm>
            <a:off x="8572500" y="171450"/>
            <a:ext cx="57150" cy="5715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67750" y="171450"/>
            <a:ext cx="57150" cy="57150"/>
          </a:xfrm>
          <a:prstGeom prst="ellipse">
            <a:avLst/>
          </a:prstGeom>
          <a:solidFill>
            <a:srgbClr val="FCBF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63000" y="171450"/>
            <a:ext cx="57150" cy="57150"/>
          </a:xfrm>
          <a:prstGeom prst="ellipse">
            <a:avLst/>
          </a:prstGeom>
          <a:solidFill>
            <a:srgbClr val="FF7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858250" y="171450"/>
            <a:ext cx="57150" cy="57150"/>
          </a:xfrm>
          <a:prstGeom prst="ellipse">
            <a:avLst/>
          </a:prstGeom>
          <a:solidFill>
            <a:srgbClr val="A86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953500" y="171450"/>
            <a:ext cx="57150" cy="5715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48750" y="171450"/>
            <a:ext cx="57150" cy="5715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765</TotalTime>
  <Words>2566</Words>
  <Application>Microsoft Office PowerPoint</Application>
  <PresentationFormat>Экран (16:9)</PresentationFormat>
  <Paragraphs>639</Paragraphs>
  <Slides>14</Slides>
  <Notes>12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5" baseType="lpstr"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Заколодний Роман Александрович</cp:lastModifiedBy>
  <cp:revision>341</cp:revision>
  <dcterms:created xsi:type="dcterms:W3CDTF">2026-06-14T05:15:27Z</dcterms:created>
  <dcterms:modified xsi:type="dcterms:W3CDTF">2026-06-17T04:49:27Z</dcterms:modified>
</cp:coreProperties>
</file>