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9" r:id="rId2"/>
    <p:sldId id="260" r:id="rId3"/>
    <p:sldId id="261" r:id="rId9"/>
  </p:sldIdLst>
  <p:sldSz cx="9144000" cy="5715000" type="screen16x1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8" d="100"/>
          <a:sy n="128" d="100"/>
        </p:scale>
        <p:origin x="-1098" y="-90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56ACF6-D72A-43C7-BD64-440F9CCC1FA2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9ECDA-5391-45FB-BD7A-75D5C83DD9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122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CC15A-4218-4A78-913C-2917A1EC10B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176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67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626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2958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548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80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0809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275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7799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76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678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9999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737A2-72F7-41CA-9FD4-EA5E07A40655}" type="datetimeFigureOut">
              <a:rPr lang="ru-RU" smtClean="0"/>
              <a:t>21.08.2026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88E05-CEDD-4A0E-A7A6-F7C12C7212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0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" y="0"/>
            <a:ext cx="9143771" cy="571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" y="0"/>
            <a:ext cx="9143771" cy="4953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" y="495300"/>
            <a:ext cx="9143771" cy="304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2" y="56535"/>
            <a:ext cx="8595131" cy="38985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KPI И КОНТРОЛЬ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771" y="41146"/>
            <a:ext cx="3154680" cy="4206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Как измеряем успех  •  10 метрик по 3 этапам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2" y="1358901"/>
            <a:ext cx="8595131" cy="3078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2" y="1348256"/>
            <a:ext cx="8595131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ru-RU" sz="1600" b="1" i="0" dirty="0" smtClean="0">
                <a:solidFill>
                  <a:srgbClr val="1E3A5F"/>
                </a:solidFill>
                <a:latin typeface="Arial"/>
              </a:rPr>
              <a:t>Ц</a:t>
            </a:r>
            <a:r>
              <a:rPr sz="1600" b="1" i="0" dirty="0" err="1" smtClean="0">
                <a:solidFill>
                  <a:srgbClr val="1E3A5F"/>
                </a:solidFill>
                <a:latin typeface="Arial"/>
              </a:rPr>
              <a:t>ели</a:t>
            </a:r>
            <a:r>
              <a:rPr sz="1600" b="1" i="0" dirty="0" smtClean="0">
                <a:solidFill>
                  <a:srgbClr val="1E3A5F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1E3A5F"/>
                </a:solidFill>
                <a:latin typeface="Arial"/>
              </a:rPr>
              <a:t>по</a:t>
            </a:r>
            <a:r>
              <a:rPr sz="1600" b="1" i="0" dirty="0">
                <a:solidFill>
                  <a:srgbClr val="1E3A5F"/>
                </a:solidFill>
                <a:latin typeface="Arial"/>
              </a:rPr>
              <a:t> </a:t>
            </a:r>
            <a:r>
              <a:rPr lang="ru-RU" sz="1600" b="1" dirty="0" smtClean="0">
                <a:solidFill>
                  <a:srgbClr val="1E3A5F"/>
                </a:solidFill>
                <a:latin typeface="Arial"/>
              </a:rPr>
              <a:t>конкретным дистрибьюторам</a:t>
            </a:r>
            <a:endParaRPr sz="1600" b="1" i="0" dirty="0">
              <a:solidFill>
                <a:srgbClr val="1E3A5F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1946275"/>
            <a:ext cx="54864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2007439"/>
            <a:ext cx="548640" cy="2205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Этап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946275"/>
            <a:ext cx="3429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007439"/>
            <a:ext cx="3429000" cy="2205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Метрика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946275"/>
            <a:ext cx="27432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60" y="2007439"/>
            <a:ext cx="2743200" cy="2205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Целевое значение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1946275"/>
            <a:ext cx="185166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60" y="2007439"/>
            <a:ext cx="1851660" cy="2205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Периодичность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89175"/>
            <a:ext cx="548640" cy="3810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2346306"/>
            <a:ext cx="54864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289175"/>
            <a:ext cx="3429000" cy="3810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1540" y="2377084"/>
            <a:ext cx="32918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Объём закупок TITAN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289175"/>
            <a:ext cx="2743200" cy="3810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0540" y="2377084"/>
            <a:ext cx="26060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 smtClean="0">
                <a:solidFill>
                  <a:srgbClr val="C62828"/>
                </a:solidFill>
                <a:latin typeface="Arial"/>
              </a:rPr>
              <a:t>+</a:t>
            </a:r>
            <a:r>
              <a:rPr lang="ru-RU" sz="1000" b="1" i="0" dirty="0" smtClean="0">
                <a:solidFill>
                  <a:srgbClr val="C62828"/>
                </a:solidFill>
                <a:latin typeface="Arial"/>
              </a:rPr>
              <a:t>____</a:t>
            </a:r>
            <a:r>
              <a:rPr sz="1000" b="1" i="0" dirty="0" smtClean="0">
                <a:solidFill>
                  <a:srgbClr val="C62828"/>
                </a:solidFill>
                <a:latin typeface="Arial"/>
              </a:rPr>
              <a:t>% </a:t>
            </a:r>
            <a:r>
              <a:rPr sz="1000" b="1" i="0" dirty="0">
                <a:solidFill>
                  <a:srgbClr val="C62828"/>
                </a:solidFill>
                <a:latin typeface="Arial"/>
              </a:rPr>
              <a:t>к </a:t>
            </a:r>
            <a:r>
              <a:rPr sz="1000" b="1" i="0" dirty="0" err="1">
                <a:solidFill>
                  <a:srgbClr val="C62828"/>
                </a:solidFill>
                <a:latin typeface="Arial"/>
              </a:rPr>
              <a:t>базовому</a:t>
            </a:r>
            <a:r>
              <a:rPr sz="1000" b="1" i="0" dirty="0">
                <a:solidFill>
                  <a:srgbClr val="C62828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C62828"/>
                </a:solidFill>
                <a:latin typeface="Arial"/>
              </a:rPr>
              <a:t>периоду</a:t>
            </a:r>
            <a:endParaRPr sz="1000" b="1" i="0" dirty="0">
              <a:solidFill>
                <a:srgbClr val="C62828"/>
              </a:solidFill>
              <a:latin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995160" y="2289175"/>
            <a:ext cx="1851660" cy="3810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63740" y="2384778"/>
            <a:ext cx="1714500" cy="1897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670175"/>
            <a:ext cx="548640" cy="3810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2727306"/>
            <a:ext cx="54864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2670175"/>
            <a:ext cx="342900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1540" y="2758084"/>
            <a:ext cx="32918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Доля TITAN в ассортименте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2670175"/>
            <a:ext cx="274320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0540" y="2681140"/>
            <a:ext cx="2606040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 err="1" smtClean="0">
                <a:solidFill>
                  <a:srgbClr val="C62828"/>
                </a:solidFill>
                <a:latin typeface="Arial"/>
              </a:rPr>
              <a:t>Не</a:t>
            </a:r>
            <a:r>
              <a:rPr sz="1000" b="1" i="0" dirty="0" smtClean="0">
                <a:solidFill>
                  <a:srgbClr val="C62828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C62828"/>
                </a:solidFill>
                <a:latin typeface="Arial"/>
              </a:rPr>
              <a:t>менее</a:t>
            </a:r>
            <a:r>
              <a:rPr sz="1000" b="1" i="0" dirty="0" smtClean="0">
                <a:solidFill>
                  <a:srgbClr val="C62828"/>
                </a:solidFill>
                <a:latin typeface="Arial"/>
              </a:rPr>
              <a:t> </a:t>
            </a:r>
            <a:r>
              <a:rPr lang="ru-RU" sz="1000" b="1" i="0" dirty="0" smtClean="0">
                <a:solidFill>
                  <a:srgbClr val="C62828"/>
                </a:solidFill>
                <a:latin typeface="Arial"/>
              </a:rPr>
              <a:t>____</a:t>
            </a:r>
            <a:r>
              <a:rPr sz="1000" b="1" i="0" dirty="0" smtClean="0">
                <a:solidFill>
                  <a:srgbClr val="C62828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C62828"/>
                </a:solidFill>
                <a:latin typeface="Arial"/>
              </a:rPr>
              <a:t>цветов</a:t>
            </a:r>
            <a:r>
              <a:rPr sz="1000" b="1" i="0" dirty="0" smtClean="0">
                <a:solidFill>
                  <a:srgbClr val="C62828"/>
                </a:solidFill>
                <a:latin typeface="Arial"/>
              </a:rPr>
              <a:t> RAL</a:t>
            </a:r>
            <a:r>
              <a:rPr lang="ru-RU" sz="1000" b="1" i="0" dirty="0" smtClean="0">
                <a:solidFill>
                  <a:srgbClr val="C62828"/>
                </a:solidFill>
                <a:latin typeface="Arial"/>
              </a:rPr>
              <a:t> в __ категориях</a:t>
            </a:r>
            <a:endParaRPr sz="1000" b="1" i="0" dirty="0">
              <a:solidFill>
                <a:srgbClr val="C62828"/>
              </a:solidFill>
              <a:latin typeface="Aria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995160" y="2670175"/>
            <a:ext cx="185166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63740" y="2765778"/>
            <a:ext cx="1714500" cy="1897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 dirty="0" err="1">
                <a:solidFill>
                  <a:srgbClr val="9CA3AF"/>
                </a:solidFill>
                <a:latin typeface="Arial"/>
              </a:rPr>
              <a:t>Ежеквартально</a:t>
            </a:r>
            <a:endParaRPr sz="900" b="0" i="1" dirty="0">
              <a:solidFill>
                <a:srgbClr val="9CA3AF"/>
              </a:solidFill>
              <a:latin typeface="Arial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74320" y="3051175"/>
            <a:ext cx="548640" cy="3810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4320" y="3108306"/>
            <a:ext cx="54864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3051175"/>
            <a:ext cx="3429000" cy="3810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1540" y="3139084"/>
            <a:ext cx="32918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Количество активных РТТ с TITAN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3051175"/>
            <a:ext cx="2743200" cy="3810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20540" y="3139084"/>
            <a:ext cx="26060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 smtClean="0">
                <a:solidFill>
                  <a:srgbClr val="F47920"/>
                </a:solidFill>
                <a:latin typeface="Arial"/>
              </a:rPr>
              <a:t>+</a:t>
            </a:r>
            <a:r>
              <a:rPr lang="ru-RU" sz="1000" b="1" dirty="0" smtClean="0">
                <a:solidFill>
                  <a:srgbClr val="F47920"/>
                </a:solidFill>
                <a:latin typeface="Arial"/>
              </a:rPr>
              <a:t>__</a:t>
            </a:r>
            <a:r>
              <a:rPr sz="1000" b="1" i="0" dirty="0" smtClean="0">
                <a:solidFill>
                  <a:srgbClr val="F47920"/>
                </a:solidFill>
                <a:latin typeface="Arial"/>
              </a:rPr>
              <a:t>% </a:t>
            </a:r>
            <a:r>
              <a:rPr sz="1000" b="1" i="0" dirty="0">
                <a:solidFill>
                  <a:srgbClr val="F47920"/>
                </a:solidFill>
                <a:latin typeface="Arial"/>
              </a:rPr>
              <a:t>к </a:t>
            </a:r>
            <a:r>
              <a:rPr sz="1000" b="1" i="0" dirty="0" err="1">
                <a:solidFill>
                  <a:srgbClr val="F47920"/>
                </a:solidFill>
                <a:latin typeface="Arial"/>
              </a:rPr>
              <a:t>базовому</a:t>
            </a:r>
            <a:r>
              <a:rPr sz="1000" b="1" i="0" dirty="0">
                <a:solidFill>
                  <a:srgbClr val="F47920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F47920"/>
                </a:solidFill>
                <a:latin typeface="Arial"/>
              </a:rPr>
              <a:t>периоду</a:t>
            </a:r>
            <a:endParaRPr sz="1000" b="1" i="0" dirty="0">
              <a:solidFill>
                <a:srgbClr val="F47920"/>
              </a:solidFill>
              <a:latin typeface="Arial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995160" y="3051175"/>
            <a:ext cx="1851660" cy="3810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63740" y="3146778"/>
            <a:ext cx="1714500" cy="1897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432175"/>
            <a:ext cx="548640" cy="381000"/>
          </a:xfrm>
          <a:prstGeom prst="rect">
            <a:avLst/>
          </a:prstGeom>
          <a:solidFill>
            <a:srgbClr val="F479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3489305"/>
            <a:ext cx="54864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3432175"/>
            <a:ext cx="342900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91540" y="3520083"/>
            <a:ext cx="32918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 err="1">
                <a:solidFill>
                  <a:srgbClr val="1A1F36"/>
                </a:solidFill>
                <a:latin typeface="Arial"/>
              </a:rPr>
              <a:t>Охват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ТП 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обучением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3432175"/>
            <a:ext cx="274320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20540" y="3520083"/>
            <a:ext cx="26060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1000" b="1" dirty="0" smtClean="0">
                <a:solidFill>
                  <a:srgbClr val="F47920"/>
                </a:solidFill>
                <a:latin typeface="Arial"/>
              </a:rPr>
              <a:t>___</a:t>
            </a:r>
            <a:r>
              <a:rPr sz="1000" b="1" i="0" dirty="0" smtClean="0">
                <a:solidFill>
                  <a:srgbClr val="F47920"/>
                </a:solidFill>
                <a:latin typeface="Arial"/>
              </a:rPr>
              <a:t>% ТП</a:t>
            </a:r>
            <a:r>
              <a:rPr lang="ru-RU" sz="1000" b="1" i="0" dirty="0" smtClean="0">
                <a:solidFill>
                  <a:srgbClr val="F47920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F47920"/>
                </a:solidFill>
                <a:latin typeface="Arial"/>
              </a:rPr>
              <a:t>дистрибьютор</a:t>
            </a:r>
            <a:r>
              <a:rPr lang="ru-RU" sz="1000" b="1" i="0" dirty="0" err="1" smtClean="0">
                <a:solidFill>
                  <a:srgbClr val="F47920"/>
                </a:solidFill>
                <a:latin typeface="Arial"/>
              </a:rPr>
              <a:t>ов</a:t>
            </a:r>
            <a:endParaRPr sz="1000" b="1" i="0" dirty="0">
              <a:solidFill>
                <a:srgbClr val="F47920"/>
              </a:solidFill>
              <a:latin typeface="Arial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995160" y="3432175"/>
            <a:ext cx="185166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063740" y="3527777"/>
            <a:ext cx="1714500" cy="1897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 dirty="0">
                <a:solidFill>
                  <a:srgbClr val="9CA3AF"/>
                </a:solidFill>
                <a:latin typeface="Arial"/>
              </a:rPr>
              <a:t>К </a:t>
            </a:r>
            <a:r>
              <a:rPr lang="en-US" sz="900" b="0" i="1" dirty="0" smtClean="0">
                <a:solidFill>
                  <a:srgbClr val="9CA3AF"/>
                </a:solidFill>
                <a:latin typeface="Arial"/>
              </a:rPr>
              <a:t>2</a:t>
            </a:r>
            <a:r>
              <a:rPr sz="900" b="0" i="1" dirty="0" smtClean="0">
                <a:solidFill>
                  <a:srgbClr val="9CA3AF"/>
                </a:solidFill>
                <a:latin typeface="Arial"/>
              </a:rPr>
              <a:t>-му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месяцу</a:t>
            </a:r>
            <a:endParaRPr sz="900" b="0" i="1" dirty="0">
              <a:solidFill>
                <a:srgbClr val="9CA3AF"/>
              </a:solidFill>
              <a:latin typeface="Aria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74320" y="3813175"/>
            <a:ext cx="548640" cy="3810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4320" y="3870306"/>
            <a:ext cx="54864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2960" y="3813175"/>
            <a:ext cx="342900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1540" y="3901084"/>
            <a:ext cx="32918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 dirty="0" err="1">
                <a:solidFill>
                  <a:srgbClr val="1A1F36"/>
                </a:solidFill>
                <a:latin typeface="Arial"/>
              </a:rPr>
              <a:t>Точки</a:t>
            </a:r>
            <a:r>
              <a:rPr sz="1000" b="1" i="0" dirty="0">
                <a:solidFill>
                  <a:srgbClr val="1A1F36"/>
                </a:solidFill>
                <a:latin typeface="Arial"/>
              </a:rPr>
              <a:t> с POS-</a:t>
            </a:r>
            <a:r>
              <a:rPr sz="1000" b="1" i="0" dirty="0" err="1">
                <a:solidFill>
                  <a:srgbClr val="1A1F36"/>
                </a:solidFill>
                <a:latin typeface="Arial"/>
              </a:rPr>
              <a:t>материалами</a:t>
            </a:r>
            <a:endParaRPr sz="1000" b="1" i="0" dirty="0">
              <a:solidFill>
                <a:srgbClr val="1A1F36"/>
              </a:solidFill>
              <a:latin typeface="Arial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4251960" y="3813175"/>
            <a:ext cx="274320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320540" y="3901084"/>
            <a:ext cx="26060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1000" b="1" i="0" dirty="0" smtClean="0">
                <a:solidFill>
                  <a:srgbClr val="16A34A"/>
                </a:solidFill>
                <a:latin typeface="Arial"/>
              </a:rPr>
              <a:t>____</a:t>
            </a:r>
            <a:r>
              <a:rPr sz="1000" b="1" i="0" dirty="0" smtClean="0">
                <a:solidFill>
                  <a:srgbClr val="16A34A"/>
                </a:solidFill>
                <a:latin typeface="Arial"/>
              </a:rPr>
              <a:t>% </a:t>
            </a:r>
            <a:r>
              <a:rPr sz="1000" b="1" i="0" dirty="0" err="1">
                <a:solidFill>
                  <a:srgbClr val="16A34A"/>
                </a:solidFill>
                <a:latin typeface="Arial"/>
              </a:rPr>
              <a:t>точек</a:t>
            </a:r>
            <a:r>
              <a:rPr sz="1000" b="1" i="0" dirty="0">
                <a:solidFill>
                  <a:srgbClr val="16A34A"/>
                </a:solidFill>
                <a:latin typeface="Arial"/>
              </a:rPr>
              <a:t> с TITAN </a:t>
            </a:r>
            <a:r>
              <a:rPr sz="1000" b="1" i="0" dirty="0" err="1">
                <a:solidFill>
                  <a:srgbClr val="16A34A"/>
                </a:solidFill>
                <a:latin typeface="Arial"/>
              </a:rPr>
              <a:t>на</a:t>
            </a:r>
            <a:r>
              <a:rPr sz="1000" b="1" i="0" dirty="0">
                <a:solidFill>
                  <a:srgbClr val="16A34A"/>
                </a:solidFill>
                <a:latin typeface="Arial"/>
              </a:rPr>
              <a:t> </a:t>
            </a:r>
            <a:r>
              <a:rPr sz="1000" b="1" i="0" dirty="0" err="1">
                <a:solidFill>
                  <a:srgbClr val="16A34A"/>
                </a:solidFill>
                <a:latin typeface="Arial"/>
              </a:rPr>
              <a:t>полке</a:t>
            </a:r>
            <a:endParaRPr sz="1000" b="1" i="0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995160" y="3813175"/>
            <a:ext cx="185166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063740" y="3908778"/>
            <a:ext cx="1714500" cy="1897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 dirty="0">
                <a:solidFill>
                  <a:srgbClr val="9CA3AF"/>
                </a:solidFill>
                <a:latin typeface="Arial"/>
              </a:rPr>
              <a:t>К </a:t>
            </a:r>
            <a:r>
              <a:rPr lang="en-US" sz="900" i="1" dirty="0">
                <a:solidFill>
                  <a:srgbClr val="9CA3AF"/>
                </a:solidFill>
                <a:latin typeface="Arial"/>
              </a:rPr>
              <a:t>3</a:t>
            </a:r>
            <a:r>
              <a:rPr sz="900" b="0" i="1" dirty="0" smtClean="0">
                <a:solidFill>
                  <a:srgbClr val="9CA3AF"/>
                </a:solidFill>
                <a:latin typeface="Arial"/>
              </a:rPr>
              <a:t>-му </a:t>
            </a:r>
            <a:r>
              <a:rPr sz="900" b="0" i="1" dirty="0" err="1">
                <a:solidFill>
                  <a:srgbClr val="9CA3AF"/>
                </a:solidFill>
                <a:latin typeface="Arial"/>
              </a:rPr>
              <a:t>месяцу</a:t>
            </a:r>
            <a:endParaRPr sz="900" b="0" i="1" dirty="0">
              <a:solidFill>
                <a:srgbClr val="9CA3AF"/>
              </a:solidFill>
              <a:latin typeface="Arial"/>
            </a:endParaRPr>
          </a:p>
        </p:txBody>
      </p:sp>
      <p:sp>
        <p:nvSpPr>
          <p:cNvPr id="99" name="Rectangle 80"/>
          <p:cNvSpPr/>
          <p:nvPr/>
        </p:nvSpPr>
        <p:spPr>
          <a:xfrm>
            <a:off x="274320" y="4194175"/>
            <a:ext cx="548640" cy="3810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74320" y="4251306"/>
            <a:ext cx="54864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1" name="Rectangle 82"/>
          <p:cNvSpPr/>
          <p:nvPr/>
        </p:nvSpPr>
        <p:spPr>
          <a:xfrm>
            <a:off x="822960" y="4194175"/>
            <a:ext cx="3429000" cy="3810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91540" y="4282084"/>
            <a:ext cx="32918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Сканирования QR-кода</a:t>
            </a:r>
          </a:p>
        </p:txBody>
      </p:sp>
      <p:sp>
        <p:nvSpPr>
          <p:cNvPr id="103" name="Rectangle 84"/>
          <p:cNvSpPr/>
          <p:nvPr/>
        </p:nvSpPr>
        <p:spPr>
          <a:xfrm>
            <a:off x="4251960" y="4194175"/>
            <a:ext cx="2743200" cy="3810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320540" y="4282084"/>
            <a:ext cx="260604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ru-RU" sz="1000" b="1" i="0" dirty="0" smtClean="0">
                <a:solidFill>
                  <a:srgbClr val="16A34A"/>
                </a:solidFill>
                <a:latin typeface="Arial"/>
              </a:rPr>
              <a:t>____</a:t>
            </a:r>
            <a:r>
              <a:rPr sz="1000" b="1" i="0" dirty="0" err="1" smtClean="0">
                <a:solidFill>
                  <a:srgbClr val="16A34A"/>
                </a:solidFill>
                <a:latin typeface="Arial"/>
              </a:rPr>
              <a:t>сканов</a:t>
            </a:r>
            <a:r>
              <a:rPr sz="1000" b="1" i="0" dirty="0" smtClean="0">
                <a:solidFill>
                  <a:srgbClr val="16A34A"/>
                </a:solidFill>
                <a:latin typeface="Arial"/>
              </a:rPr>
              <a:t>/</a:t>
            </a:r>
            <a:r>
              <a:rPr sz="1000" b="1" i="0" dirty="0" err="1" smtClean="0">
                <a:solidFill>
                  <a:srgbClr val="16A34A"/>
                </a:solidFill>
                <a:latin typeface="Arial"/>
              </a:rPr>
              <a:t>мес</a:t>
            </a:r>
            <a:endParaRPr sz="1000" b="1" i="0" dirty="0">
              <a:solidFill>
                <a:srgbClr val="16A34A"/>
              </a:solidFill>
              <a:latin typeface="Arial"/>
            </a:endParaRPr>
          </a:p>
        </p:txBody>
      </p:sp>
      <p:sp>
        <p:nvSpPr>
          <p:cNvPr id="105" name="Rectangle 86"/>
          <p:cNvSpPr/>
          <p:nvPr/>
        </p:nvSpPr>
        <p:spPr>
          <a:xfrm>
            <a:off x="6995160" y="4194175"/>
            <a:ext cx="1851660" cy="38100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7063740" y="4289778"/>
            <a:ext cx="1714500" cy="18979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</p:spTree>
    <p:extLst>
      <p:ext uri="{BB962C8B-B14F-4D97-AF65-F5344CB8AC3E}">
        <p14:creationId xmlns:p14="http://schemas.microsoft.com/office/powerpoint/2010/main" val="3125658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938"/>
            <a:ext cx="9143771" cy="571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" y="0"/>
            <a:ext cx="9143771" cy="4953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" y="495300"/>
            <a:ext cx="9143771" cy="304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1" y="108344"/>
            <a:ext cx="8595131" cy="286232"/>
          </a:xfrm>
          <a:prstGeom prst="rect">
            <a:avLst/>
          </a:prstGeom>
          <a:noFill/>
        </p:spPr>
        <p:txBody>
          <a:bodyPr wrap="square" lIns="19812" tIns="19812" rIns="19812" bIns="19812" anchor="ctr">
            <a:spAutoFit/>
          </a:bodyPr>
          <a:lstStyle/>
          <a:p>
            <a:pPr algn="l"/>
            <a:r>
              <a:rPr lang="ru-RU" sz="1600" b="1" dirty="0">
                <a:solidFill>
                  <a:srgbClr val="FFFFFF"/>
                </a:solidFill>
                <a:latin typeface="Arial"/>
              </a:rPr>
              <a:t>ФЕДЕРАЛЬНЫЕ </a:t>
            </a:r>
            <a:r>
              <a:rPr sz="1600" b="1" dirty="0">
                <a:solidFill>
                  <a:srgbClr val="FFFFFF"/>
                </a:solidFill>
                <a:latin typeface="Arial"/>
              </a:rPr>
              <a:t>СЕТИ </a:t>
            </a:r>
            <a:r>
              <a:rPr sz="1600" b="1" dirty="0">
                <a:solidFill>
                  <a:srgbClr val="FFFFFF"/>
                </a:solidFill>
                <a:latin typeface="Arial"/>
              </a:rPr>
              <a:t>«ЛЕМАНА ПРО</a:t>
            </a:r>
            <a:r>
              <a:rPr sz="1600" b="1" dirty="0">
                <a:solidFill>
                  <a:srgbClr val="FFFFFF"/>
                </a:solidFill>
                <a:latin typeface="Arial"/>
              </a:rPr>
              <a:t>»</a:t>
            </a:r>
            <a:endParaRPr sz="16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" y="943245"/>
            <a:ext cx="4076224" cy="224677"/>
          </a:xfrm>
          <a:prstGeom prst="rect">
            <a:avLst/>
          </a:prstGeom>
          <a:noFill/>
        </p:spPr>
        <p:txBody>
          <a:bodyPr wrap="square" lIns="19812" tIns="19812" rIns="19812" bIns="19812" anchor="t">
            <a:spAutoFit/>
          </a:bodyPr>
          <a:lstStyle/>
          <a:p>
            <a:r>
              <a:rPr lang="ru-RU" sz="1200" b="1" dirty="0">
                <a:solidFill>
                  <a:srgbClr val="C62828"/>
                </a:solidFill>
                <a:latin typeface="Arial"/>
              </a:rPr>
              <a:t>11 </a:t>
            </a:r>
            <a:r>
              <a:rPr lang="ru-RU" sz="1200" b="1" dirty="0">
                <a:solidFill>
                  <a:srgbClr val="C62828"/>
                </a:solidFill>
                <a:latin typeface="Arial"/>
              </a:rPr>
              <a:t>ТОРГОВЫХ ТОЧЕК </a:t>
            </a:r>
            <a:r>
              <a:rPr lang="ru-RU" sz="1200" b="1" dirty="0" err="1">
                <a:solidFill>
                  <a:srgbClr val="C62828"/>
                </a:solidFill>
                <a:latin typeface="Arial"/>
              </a:rPr>
              <a:t>Лемана</a:t>
            </a:r>
            <a:r>
              <a:rPr lang="ru-RU" sz="1200" b="1" dirty="0">
                <a:solidFill>
                  <a:srgbClr val="C62828"/>
                </a:solidFill>
                <a:latin typeface="Arial"/>
              </a:rPr>
              <a:t> Про в </a:t>
            </a:r>
            <a:r>
              <a:rPr lang="ru-RU" sz="1200" b="1" dirty="0">
                <a:solidFill>
                  <a:srgbClr val="C62828"/>
                </a:solidFill>
                <a:latin typeface="Arial"/>
              </a:rPr>
              <a:t>ЮФО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44373"/>
            <a:ext cx="4076224" cy="48006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2900" y="1435813"/>
            <a:ext cx="246888" cy="2743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" y="1483718"/>
            <a:ext cx="246888" cy="178510"/>
          </a:xfrm>
          <a:prstGeom prst="rect">
            <a:avLst/>
          </a:prstGeom>
          <a:noFill/>
        </p:spPr>
        <p:txBody>
          <a:bodyPr wrap="square" lIns="19812" tIns="19812" rIns="19812" bIns="1981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" y="1427000"/>
            <a:ext cx="3634740" cy="290678"/>
          </a:xfrm>
          <a:prstGeom prst="rect">
            <a:avLst/>
          </a:prstGeom>
          <a:noFill/>
        </p:spPr>
        <p:txBody>
          <a:bodyPr wrap="square" lIns="9906" tIns="9906" rIns="9906" bIns="9906" anchor="ctr">
            <a:spAutoFit/>
          </a:bodyPr>
          <a:lstStyle/>
          <a:p>
            <a:pPr algn="l"/>
            <a:r>
              <a:rPr sz="900" b="1" dirty="0">
                <a:solidFill>
                  <a:srgbClr val="1A1F36"/>
                </a:solidFill>
                <a:latin typeface="Arial"/>
              </a:rPr>
              <a:t>РК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экранах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Ростова-на-Дону</a:t>
            </a:r>
            <a:endParaRPr sz="900" b="1" dirty="0">
              <a:solidFill>
                <a:srgbClr val="1A1F36"/>
              </a:solidFill>
              <a:latin typeface="Arial"/>
            </a:endParaRPr>
          </a:p>
          <a:p>
            <a:pPr algn="l"/>
            <a:r>
              <a:rPr sz="800" dirty="0">
                <a:solidFill>
                  <a:srgbClr val="9CA3AF"/>
                </a:solidFill>
                <a:latin typeface="Arial"/>
              </a:rPr>
              <a:t>6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топовых</a:t>
            </a:r>
            <a:r>
              <a:rPr sz="800" dirty="0">
                <a:solidFill>
                  <a:srgbClr val="9CA3AF"/>
                </a:solidFill>
                <a:latin typeface="Arial"/>
              </a:rPr>
              <a:t>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экранов</a:t>
            </a:r>
            <a:r>
              <a:rPr sz="800" dirty="0">
                <a:solidFill>
                  <a:srgbClr val="9CA3AF"/>
                </a:solidFill>
                <a:latin typeface="Arial"/>
              </a:rPr>
              <a:t>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города</a:t>
            </a:r>
            <a:r>
              <a:rPr sz="800" dirty="0">
                <a:solidFill>
                  <a:srgbClr val="9CA3AF"/>
                </a:solidFill>
                <a:latin typeface="Arial"/>
              </a:rPr>
              <a:t> · с 01.07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на</a:t>
            </a:r>
            <a:r>
              <a:rPr sz="800" dirty="0">
                <a:solidFill>
                  <a:srgbClr val="9CA3AF"/>
                </a:solidFill>
                <a:latin typeface="Arial"/>
              </a:rPr>
              <a:t> 1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месяц</a:t>
            </a:r>
            <a:endParaRPr sz="800" dirty="0">
              <a:solidFill>
                <a:srgbClr val="9CA3AF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4320" y="1871106"/>
            <a:ext cx="4076224" cy="48006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2900" y="1962546"/>
            <a:ext cx="246888" cy="2743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" y="2010451"/>
            <a:ext cx="246888" cy="178510"/>
          </a:xfrm>
          <a:prstGeom prst="rect">
            <a:avLst/>
          </a:prstGeom>
          <a:noFill/>
        </p:spPr>
        <p:txBody>
          <a:bodyPr wrap="square" lIns="19812" tIns="19812" rIns="19812" bIns="1981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" y="1953733"/>
            <a:ext cx="3634740" cy="290678"/>
          </a:xfrm>
          <a:prstGeom prst="rect">
            <a:avLst/>
          </a:prstGeom>
          <a:noFill/>
        </p:spPr>
        <p:txBody>
          <a:bodyPr wrap="square" lIns="9906" tIns="9906" rIns="9906" bIns="9906" anchor="ctr">
            <a:spAutoFit/>
          </a:bodyPr>
          <a:lstStyle/>
          <a:p>
            <a:pPr algn="l"/>
            <a:r>
              <a:rPr sz="900" b="1" dirty="0" err="1">
                <a:solidFill>
                  <a:srgbClr val="1A1F36"/>
                </a:solidFill>
                <a:latin typeface="Arial"/>
              </a:rPr>
              <a:t>Таргетированная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реклама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в </a:t>
            </a:r>
            <a:r>
              <a:rPr lang="ru-RU" sz="900" b="1" dirty="0">
                <a:solidFill>
                  <a:srgbClr val="1A1F36"/>
                </a:solidFill>
                <a:latin typeface="Arial"/>
              </a:rPr>
              <a:t>сети контакте</a:t>
            </a:r>
            <a:endParaRPr sz="900" b="1" dirty="0">
              <a:solidFill>
                <a:srgbClr val="1A1F36"/>
              </a:solidFill>
              <a:latin typeface="Arial"/>
            </a:endParaRPr>
          </a:p>
          <a:p>
            <a:pPr algn="l"/>
            <a:r>
              <a:rPr sz="800" dirty="0">
                <a:solidFill>
                  <a:srgbClr val="9CA3AF"/>
                </a:solidFill>
                <a:latin typeface="Arial"/>
              </a:rPr>
              <a:t>ГЕО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800" dirty="0">
                <a:solidFill>
                  <a:srgbClr val="9CA3AF"/>
                </a:solidFill>
                <a:latin typeface="Arial"/>
              </a:rPr>
              <a:t> 11 ТТ ·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ВКонтакте</a:t>
            </a:r>
            <a:r>
              <a:rPr sz="800" dirty="0">
                <a:solidFill>
                  <a:srgbClr val="9CA3AF"/>
                </a:solidFill>
                <a:latin typeface="Arial"/>
              </a:rPr>
              <a:t> · с 07.07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800" dirty="0">
                <a:solidFill>
                  <a:srgbClr val="9CA3AF"/>
                </a:solidFill>
                <a:latin typeface="Arial"/>
              </a:rPr>
              <a:t> 31.08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381963"/>
            <a:ext cx="4076224" cy="48006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42900" y="2473403"/>
            <a:ext cx="246888" cy="2743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2900" y="2521308"/>
            <a:ext cx="246888" cy="178510"/>
          </a:xfrm>
          <a:prstGeom prst="rect">
            <a:avLst/>
          </a:prstGeom>
          <a:noFill/>
        </p:spPr>
        <p:txBody>
          <a:bodyPr wrap="square" lIns="19812" tIns="19812" rIns="19812" bIns="1981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10" y="2408407"/>
            <a:ext cx="3634740" cy="418918"/>
          </a:xfrm>
          <a:prstGeom prst="rect">
            <a:avLst/>
          </a:prstGeom>
          <a:noFill/>
        </p:spPr>
        <p:txBody>
          <a:bodyPr wrap="square" lIns="9906" tIns="9906" rIns="9906" bIns="9906" anchor="ctr">
            <a:spAutoFit/>
          </a:bodyPr>
          <a:lstStyle/>
          <a:p>
            <a:pPr algn="l"/>
            <a:r>
              <a:rPr sz="900" b="1" dirty="0" err="1">
                <a:solidFill>
                  <a:srgbClr val="1A1F36"/>
                </a:solidFill>
                <a:latin typeface="Arial"/>
              </a:rPr>
              <a:t>Промо-акция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«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Подарок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за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покупку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»</a:t>
            </a:r>
          </a:p>
          <a:p>
            <a:pPr algn="l"/>
            <a:r>
              <a:rPr sz="800" dirty="0" err="1">
                <a:solidFill>
                  <a:srgbClr val="9CA3AF"/>
                </a:solidFill>
                <a:latin typeface="Arial"/>
              </a:rPr>
              <a:t>Ростов</a:t>
            </a:r>
            <a:r>
              <a:rPr sz="800" dirty="0">
                <a:solidFill>
                  <a:srgbClr val="9CA3AF"/>
                </a:solidFill>
                <a:latin typeface="Arial"/>
              </a:rPr>
              <a:t>: 17-18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июля</a:t>
            </a:r>
            <a:r>
              <a:rPr sz="800" dirty="0">
                <a:solidFill>
                  <a:srgbClr val="9CA3AF"/>
                </a:solidFill>
                <a:latin typeface="Arial"/>
              </a:rPr>
              <a:t> ·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Краснодар</a:t>
            </a:r>
            <a:r>
              <a:rPr sz="800" dirty="0">
                <a:solidFill>
                  <a:srgbClr val="9CA3AF"/>
                </a:solidFill>
                <a:latin typeface="Arial"/>
              </a:rPr>
              <a:t>: 18-19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июля</a:t>
            </a:r>
            <a:r>
              <a:rPr sz="800" dirty="0">
                <a:solidFill>
                  <a:srgbClr val="9CA3AF"/>
                </a:solidFill>
                <a:latin typeface="Arial"/>
              </a:rPr>
              <a:t> ·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от</a:t>
            </a:r>
            <a:r>
              <a:rPr sz="800" dirty="0">
                <a:solidFill>
                  <a:srgbClr val="9CA3AF"/>
                </a:solidFill>
                <a:latin typeface="Arial"/>
              </a:rPr>
              <a:t> 1900₽ —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кисть+перчатки</a:t>
            </a:r>
            <a:r>
              <a:rPr sz="800" dirty="0">
                <a:solidFill>
                  <a:srgbClr val="9CA3AF"/>
                </a:solidFill>
                <a:latin typeface="Arial"/>
              </a:rPr>
              <a:t>,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от</a:t>
            </a:r>
            <a:r>
              <a:rPr sz="800" dirty="0">
                <a:solidFill>
                  <a:srgbClr val="9CA3AF"/>
                </a:solidFill>
                <a:latin typeface="Arial"/>
              </a:rPr>
              <a:t> 3900₽ —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сертификат</a:t>
            </a:r>
            <a:r>
              <a:rPr sz="800" dirty="0">
                <a:solidFill>
                  <a:srgbClr val="9CA3AF"/>
                </a:solidFill>
                <a:latin typeface="Arial"/>
              </a:rPr>
              <a:t> 500₽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932508"/>
            <a:ext cx="4076224" cy="48006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42900" y="3023948"/>
            <a:ext cx="246888" cy="2743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2900" y="3071853"/>
            <a:ext cx="246888" cy="178510"/>
          </a:xfrm>
          <a:prstGeom prst="rect">
            <a:avLst/>
          </a:prstGeom>
          <a:noFill/>
        </p:spPr>
        <p:txBody>
          <a:bodyPr wrap="square" lIns="19812" tIns="19812" rIns="19812" bIns="1981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510" y="3031010"/>
            <a:ext cx="3634740" cy="290678"/>
          </a:xfrm>
          <a:prstGeom prst="rect">
            <a:avLst/>
          </a:prstGeom>
          <a:noFill/>
        </p:spPr>
        <p:txBody>
          <a:bodyPr wrap="square" lIns="9906" tIns="9906" rIns="9906" bIns="9906" anchor="ctr">
            <a:spAutoFit/>
          </a:bodyPr>
          <a:lstStyle/>
          <a:p>
            <a:pPr algn="l"/>
            <a:r>
              <a:rPr sz="900" b="1" dirty="0" err="1">
                <a:solidFill>
                  <a:srgbClr val="1A1F36"/>
                </a:solidFill>
                <a:latin typeface="Arial"/>
              </a:rPr>
              <a:t>Кэшбек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5%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на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TITAN</a:t>
            </a:r>
          </a:p>
          <a:p>
            <a:pPr algn="l"/>
            <a:r>
              <a:rPr sz="800" dirty="0" err="1">
                <a:solidFill>
                  <a:srgbClr val="9CA3AF"/>
                </a:solidFill>
                <a:latin typeface="Arial"/>
              </a:rPr>
              <a:t>Во</a:t>
            </a:r>
            <a:r>
              <a:rPr sz="800" dirty="0">
                <a:solidFill>
                  <a:srgbClr val="9CA3AF"/>
                </a:solidFill>
                <a:latin typeface="Arial"/>
              </a:rPr>
              <a:t>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всех</a:t>
            </a:r>
            <a:r>
              <a:rPr sz="800" dirty="0">
                <a:solidFill>
                  <a:srgbClr val="9CA3AF"/>
                </a:solidFill>
                <a:latin typeface="Arial"/>
              </a:rPr>
              <a:t> 11 ТТ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Лемана</a:t>
            </a:r>
            <a:r>
              <a:rPr sz="800" dirty="0">
                <a:solidFill>
                  <a:srgbClr val="9CA3AF"/>
                </a:solidFill>
                <a:latin typeface="Arial"/>
              </a:rPr>
              <a:t> ПРО · с 01.07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по</a:t>
            </a:r>
            <a:r>
              <a:rPr sz="800" dirty="0">
                <a:solidFill>
                  <a:srgbClr val="9CA3AF"/>
                </a:solidFill>
                <a:latin typeface="Arial"/>
              </a:rPr>
              <a:t> 31.08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459241"/>
            <a:ext cx="4076224" cy="48006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342900" y="3550681"/>
            <a:ext cx="246888" cy="2743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2900" y="3598586"/>
            <a:ext cx="246888" cy="178510"/>
          </a:xfrm>
          <a:prstGeom prst="rect">
            <a:avLst/>
          </a:prstGeom>
          <a:noFill/>
        </p:spPr>
        <p:txBody>
          <a:bodyPr wrap="square" lIns="19812" tIns="19812" rIns="19812" bIns="1981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510" y="3492781"/>
            <a:ext cx="3634740" cy="404726"/>
          </a:xfrm>
          <a:prstGeom prst="rect">
            <a:avLst/>
          </a:prstGeom>
          <a:noFill/>
        </p:spPr>
        <p:txBody>
          <a:bodyPr wrap="square" lIns="9906" tIns="9906" rIns="9906" bIns="9906" anchor="ctr">
            <a:spAutoFit/>
          </a:bodyPr>
          <a:lstStyle/>
          <a:p>
            <a:pPr algn="l"/>
            <a:r>
              <a:rPr sz="900" b="1" dirty="0" err="1">
                <a:solidFill>
                  <a:srgbClr val="1A1F36"/>
                </a:solidFill>
                <a:latin typeface="Arial"/>
              </a:rPr>
              <a:t>Мастер-классы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силами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Эмпилс</a:t>
            </a:r>
            <a:endParaRPr sz="900" b="1" dirty="0">
              <a:solidFill>
                <a:srgbClr val="1A1F36"/>
              </a:solidFill>
              <a:latin typeface="Arial"/>
            </a:endParaRPr>
          </a:p>
          <a:p>
            <a:pPr algn="l"/>
            <a:r>
              <a:rPr sz="800" dirty="0">
                <a:solidFill>
                  <a:srgbClr val="9CA3AF"/>
                </a:solidFill>
                <a:latin typeface="Arial"/>
              </a:rPr>
              <a:t>3 ТТ в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Ростове-на-Дону</a:t>
            </a:r>
            <a:r>
              <a:rPr sz="800" dirty="0">
                <a:solidFill>
                  <a:srgbClr val="9CA3AF"/>
                </a:solidFill>
                <a:latin typeface="Arial"/>
              </a:rPr>
              <a:t> · 17 и 24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июля</a:t>
            </a:r>
            <a:r>
              <a:rPr sz="800" dirty="0">
                <a:solidFill>
                  <a:srgbClr val="9CA3AF"/>
                </a:solidFill>
                <a:latin typeface="Arial"/>
              </a:rPr>
              <a:t> ·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выкрасы</a:t>
            </a:r>
            <a:r>
              <a:rPr sz="800" dirty="0">
                <a:solidFill>
                  <a:srgbClr val="9CA3AF"/>
                </a:solidFill>
                <a:latin typeface="Arial"/>
              </a:rPr>
              <a:t> с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покупателем</a:t>
            </a:r>
            <a:r>
              <a:rPr sz="800" dirty="0">
                <a:solidFill>
                  <a:srgbClr val="9CA3AF"/>
                </a:solidFill>
                <a:latin typeface="Arial"/>
              </a:rPr>
              <a:t> +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презентация</a:t>
            </a:r>
            <a:endParaRPr sz="800" dirty="0">
              <a:solidFill>
                <a:srgbClr val="9CA3AF"/>
              </a:solidFill>
              <a:latin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74320" y="4020581"/>
            <a:ext cx="4076224" cy="48006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42900" y="4112021"/>
            <a:ext cx="246888" cy="2743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2900" y="4159925"/>
            <a:ext cx="246888" cy="178510"/>
          </a:xfrm>
          <a:prstGeom prst="rect">
            <a:avLst/>
          </a:prstGeom>
          <a:noFill/>
        </p:spPr>
        <p:txBody>
          <a:bodyPr wrap="square" lIns="19812" tIns="19812" rIns="19812" bIns="19812" anchor="ctr">
            <a:spAutoFit/>
          </a:bodyPr>
          <a:lstStyle/>
          <a:p>
            <a:pPr algn="ctr"/>
            <a:r>
              <a:rPr lang="ru-RU" sz="900" b="1" dirty="0">
                <a:solidFill>
                  <a:srgbClr val="FFFFFF"/>
                </a:solidFill>
                <a:latin typeface="Arial"/>
              </a:rPr>
              <a:t>6</a:t>
            </a:r>
            <a:endParaRPr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51510" y="4103208"/>
            <a:ext cx="3634740" cy="290678"/>
          </a:xfrm>
          <a:prstGeom prst="rect">
            <a:avLst/>
          </a:prstGeom>
          <a:noFill/>
        </p:spPr>
        <p:txBody>
          <a:bodyPr wrap="square" lIns="9906" tIns="9906" rIns="9906" bIns="9906" anchor="ctr">
            <a:spAutoFit/>
          </a:bodyPr>
          <a:lstStyle/>
          <a:p>
            <a:pPr algn="l"/>
            <a:r>
              <a:rPr lang="ru-RU" sz="900" b="1" dirty="0">
                <a:solidFill>
                  <a:srgbClr val="1A1F36"/>
                </a:solidFill>
                <a:latin typeface="Arial"/>
              </a:rPr>
              <a:t>Обеспечение в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еерны</a:t>
            </a:r>
            <a:r>
              <a:rPr lang="ru-RU" sz="900" b="1" dirty="0">
                <a:solidFill>
                  <a:srgbClr val="1A1F36"/>
                </a:solidFill>
                <a:latin typeface="Arial"/>
              </a:rPr>
              <a:t>ми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выкрас</a:t>
            </a:r>
            <a:r>
              <a:rPr lang="ru-RU" sz="900" b="1" dirty="0" err="1">
                <a:solidFill>
                  <a:srgbClr val="1A1F36"/>
                </a:solidFill>
                <a:latin typeface="Arial"/>
              </a:rPr>
              <a:t>ами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B2B </a:t>
            </a:r>
            <a:r>
              <a:rPr sz="900" b="1" dirty="0" err="1">
                <a:solidFill>
                  <a:srgbClr val="1A1F36"/>
                </a:solidFill>
                <a:latin typeface="Arial"/>
              </a:rPr>
              <a:t>Лемана</a:t>
            </a:r>
            <a:r>
              <a:rPr sz="900" b="1" dirty="0">
                <a:solidFill>
                  <a:srgbClr val="1A1F36"/>
                </a:solidFill>
                <a:latin typeface="Arial"/>
              </a:rPr>
              <a:t> ПРО</a:t>
            </a:r>
          </a:p>
          <a:p>
            <a:pPr algn="l"/>
            <a:r>
              <a:rPr sz="800" dirty="0">
                <a:solidFill>
                  <a:srgbClr val="9CA3AF"/>
                </a:solidFill>
                <a:latin typeface="Arial"/>
              </a:rPr>
              <a:t>13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веерных</a:t>
            </a:r>
            <a:r>
              <a:rPr sz="800" dirty="0">
                <a:solidFill>
                  <a:srgbClr val="9CA3AF"/>
                </a:solidFill>
                <a:latin typeface="Arial"/>
              </a:rPr>
              <a:t>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выкрасов</a:t>
            </a:r>
            <a:r>
              <a:rPr sz="800" dirty="0">
                <a:solidFill>
                  <a:srgbClr val="9CA3AF"/>
                </a:solidFill>
                <a:latin typeface="Arial"/>
              </a:rPr>
              <a:t> ·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изготовление</a:t>
            </a:r>
            <a:r>
              <a:rPr sz="800" dirty="0">
                <a:solidFill>
                  <a:srgbClr val="9CA3AF"/>
                </a:solidFill>
                <a:latin typeface="Arial"/>
              </a:rPr>
              <a:t>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до</a:t>
            </a:r>
            <a:r>
              <a:rPr sz="800" dirty="0">
                <a:solidFill>
                  <a:srgbClr val="9CA3AF"/>
                </a:solidFill>
                <a:latin typeface="Arial"/>
              </a:rPr>
              <a:t> 14.07,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распределение</a:t>
            </a:r>
            <a:r>
              <a:rPr sz="800" dirty="0">
                <a:solidFill>
                  <a:srgbClr val="9CA3AF"/>
                </a:solidFill>
                <a:latin typeface="Arial"/>
              </a:rPr>
              <a:t> </a:t>
            </a:r>
            <a:r>
              <a:rPr sz="800" dirty="0" err="1">
                <a:solidFill>
                  <a:srgbClr val="9CA3AF"/>
                </a:solidFill>
                <a:latin typeface="Arial"/>
              </a:rPr>
              <a:t>до</a:t>
            </a:r>
            <a:r>
              <a:rPr sz="800" dirty="0">
                <a:solidFill>
                  <a:srgbClr val="9CA3AF"/>
                </a:solidFill>
                <a:latin typeface="Arial"/>
              </a:rPr>
              <a:t> 22.07</a:t>
            </a:r>
          </a:p>
        </p:txBody>
      </p:sp>
      <p:pic>
        <p:nvPicPr>
          <p:cNvPr id="128" name="Picture 6" descr="C:\Users\zakolodniy\Desktop\Empils\16._Federal_networks\Lemana_Pro\Master-klass_iyul\Лемана Про мастер класс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982646" y="950370"/>
            <a:ext cx="1461017" cy="2138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Picture 38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75"/>
          <a:stretch/>
        </p:blipFill>
        <p:spPr bwMode="auto">
          <a:xfrm>
            <a:off x="6722372" y="974510"/>
            <a:ext cx="1734322" cy="2065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0" name="Picture 3" descr="C:\Users\zakolodniy\Desktop\IMG_20260811_123502_203.jpg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982646" y="3137218"/>
            <a:ext cx="1461017" cy="217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Picture 4" descr="C:\Users\zakolodniy\Desktop\IMG_20260811_123504_690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84" t="33682" r="5788" b="22427"/>
          <a:stretch/>
        </p:blipFill>
        <p:spPr bwMode="auto">
          <a:xfrm>
            <a:off x="6722371" y="3094096"/>
            <a:ext cx="1734322" cy="2236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45"/>
          <p:cNvSpPr/>
          <p:nvPr/>
        </p:nvSpPr>
        <p:spPr>
          <a:xfrm>
            <a:off x="274320" y="4572059"/>
            <a:ext cx="4076224" cy="48006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39" name="Oval 46"/>
          <p:cNvSpPr/>
          <p:nvPr/>
        </p:nvSpPr>
        <p:spPr>
          <a:xfrm>
            <a:off x="342900" y="4663499"/>
            <a:ext cx="246888" cy="27432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2900" y="4711404"/>
            <a:ext cx="246888" cy="178510"/>
          </a:xfrm>
          <a:prstGeom prst="rect">
            <a:avLst/>
          </a:prstGeom>
          <a:noFill/>
        </p:spPr>
        <p:txBody>
          <a:bodyPr wrap="square" lIns="19812" tIns="19812" rIns="19812" bIns="19812" anchor="ctr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</a:rPr>
              <a:t>7</a:t>
            </a:r>
            <a:endParaRPr sz="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1510" y="4654686"/>
            <a:ext cx="3634740" cy="290678"/>
          </a:xfrm>
          <a:prstGeom prst="rect">
            <a:avLst/>
          </a:prstGeom>
          <a:noFill/>
        </p:spPr>
        <p:txBody>
          <a:bodyPr wrap="square" lIns="9906" tIns="9906" rIns="9906" bIns="9906" anchor="ctr">
            <a:spAutoFit/>
          </a:bodyPr>
          <a:lstStyle/>
          <a:p>
            <a:pPr algn="l"/>
            <a:r>
              <a:rPr lang="ru-RU" sz="900" b="1" dirty="0">
                <a:solidFill>
                  <a:srgbClr val="1A1F36"/>
                </a:solidFill>
                <a:latin typeface="Arial"/>
              </a:rPr>
              <a:t>Скидка </a:t>
            </a:r>
            <a:r>
              <a:rPr lang="en-US" sz="900" b="1" dirty="0">
                <a:solidFill>
                  <a:srgbClr val="1A1F36"/>
                </a:solidFill>
                <a:latin typeface="Arial"/>
              </a:rPr>
              <a:t>20% c 01</a:t>
            </a:r>
            <a:r>
              <a:rPr lang="ru-RU" sz="900" b="1" dirty="0">
                <a:solidFill>
                  <a:srgbClr val="1A1F36"/>
                </a:solidFill>
                <a:latin typeface="Arial"/>
              </a:rPr>
              <a:t>.08.2026 по 31.08.2026</a:t>
            </a:r>
          </a:p>
          <a:p>
            <a:r>
              <a:rPr lang="ru-RU" sz="800" dirty="0">
                <a:solidFill>
                  <a:srgbClr val="9CA3AF"/>
                </a:solidFill>
                <a:latin typeface="Arial"/>
              </a:rPr>
              <a:t>Желтый ценник</a:t>
            </a:r>
            <a:endParaRPr sz="800" dirty="0">
              <a:solidFill>
                <a:srgbClr val="9CA3A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1736943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9144000" cy="2743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54864"/>
            <a:ext cx="5486400" cy="3931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KPI МАГАЗИНА СЕТИ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36576"/>
            <a:ext cx="4251960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Arial"/>
              </a:rPr>
              <a:t>9 метрик по 3 этапам  •  для одной ТТ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8595360" cy="310896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987552"/>
            <a:ext cx="8595360" cy="3017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Arial"/>
              </a:rPr>
              <a:t>Параметры оценки одного магазина Лемана Про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859536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Arial"/>
              </a:rPr>
              <a:t>Метрики применяются к одной торговой точке Лемана Про (не к сети в целом). Не включают показатели дистрибьютора: объём закупок, кол-во РТТ, охват ТП — они на отдельном слайде.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548640" cy="34747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828800"/>
            <a:ext cx="5486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Этап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1828800"/>
            <a:ext cx="3429000" cy="34747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34290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Метрика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828800"/>
            <a:ext cx="2743200" cy="34747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828800"/>
            <a:ext cx="27432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Целевое значение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1828800"/>
            <a:ext cx="1847088" cy="34747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1828800"/>
            <a:ext cx="1847088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Периодичность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12848"/>
            <a:ext cx="548640" cy="3840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212848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2212848"/>
            <a:ext cx="3429000" cy="38404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2304288"/>
            <a:ext cx="329184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Соблюдение планограммы TITAN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2212848"/>
            <a:ext cx="2743200" cy="38404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5968" y="2304288"/>
            <a:ext cx="260604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95% SKU по эталону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5160" y="2212848"/>
            <a:ext cx="1847088" cy="38404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9168" y="2304288"/>
            <a:ext cx="1719072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Еженедельно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596896"/>
            <a:ext cx="548640" cy="3840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596896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2596896"/>
            <a:ext cx="3429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2688336"/>
            <a:ext cx="329184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Наличие топ-5 цветов RAL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2596896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5968" y="2688336"/>
            <a:ext cx="260604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5 из 5 SKU в наличии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60" y="2596896"/>
            <a:ext cx="1847088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59168" y="2688336"/>
            <a:ext cx="1719072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Еженедельно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980944"/>
            <a:ext cx="548640" cy="3840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2980944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2980944"/>
            <a:ext cx="3429000" cy="38404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" y="3072384"/>
            <a:ext cx="329184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Out-of-Stock по топ-SKU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60" y="2980944"/>
            <a:ext cx="2743200" cy="38404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15968" y="3072384"/>
            <a:ext cx="260604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Arial"/>
              </a:rPr>
              <a:t>0 SKU отсутствует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95160" y="2980944"/>
            <a:ext cx="1847088" cy="38404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59168" y="3072384"/>
            <a:ext cx="1719072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Ежедневно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364991"/>
            <a:ext cx="548640" cy="38404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3364991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3364991"/>
            <a:ext cx="3429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" y="3456432"/>
            <a:ext cx="329184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Комплект POSm на полке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60" y="3364991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15968" y="3456432"/>
            <a:ext cx="260604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5 из 5 видов POSm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95160" y="3364991"/>
            <a:ext cx="1847088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59168" y="3456432"/>
            <a:ext cx="1719072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749039"/>
            <a:ext cx="548640" cy="38404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3749039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" y="3749039"/>
            <a:ext cx="3429000" cy="38404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6968" y="3840479"/>
            <a:ext cx="329184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Соблюдение РРЦ (±10%)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51960" y="3749039"/>
            <a:ext cx="2743200" cy="38404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15968" y="3840479"/>
            <a:ext cx="260604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100% SKU в коридоре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95160" y="3749039"/>
            <a:ext cx="1847088" cy="38404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59168" y="3840479"/>
            <a:ext cx="1719072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Ежедневно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133087"/>
            <a:ext cx="548640" cy="384048"/>
          </a:xfrm>
          <a:prstGeom prst="rect">
            <a:avLst/>
          </a:prstGeom>
          <a:solidFill>
            <a:srgbClr val="F47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4133087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" y="4133087"/>
            <a:ext cx="3429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6968" y="4224527"/>
            <a:ext cx="329184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Внедрение промо сети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51960" y="4133087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15968" y="4224527"/>
            <a:ext cx="260604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Arial"/>
              </a:rPr>
              <a:t>100% акций в срок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95160" y="4133087"/>
            <a:ext cx="1847088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59168" y="4224527"/>
            <a:ext cx="1719072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По акциям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517136"/>
            <a:ext cx="54864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4517136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" y="4517136"/>
            <a:ext cx="3429000" cy="38404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6968" y="4608575"/>
            <a:ext cx="329184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Сканирования QR с шелфтокера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51960" y="4517136"/>
            <a:ext cx="2743200" cy="38404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15968" y="4608575"/>
            <a:ext cx="260604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___ сканов / мес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995160" y="4517136"/>
            <a:ext cx="1847088" cy="38404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059168" y="4608575"/>
            <a:ext cx="1719072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4901183"/>
            <a:ext cx="54864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4320" y="4901183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2960" y="4901183"/>
            <a:ext cx="34290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86968" y="4992623"/>
            <a:ext cx="329184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Оборот TITAN в магазине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1960" y="4901183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15968" y="4992623"/>
            <a:ext cx="260604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+__ % к базовому периоду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995160" y="4901183"/>
            <a:ext cx="1847088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059168" y="4992623"/>
            <a:ext cx="1719072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Ежемесячно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5285231"/>
            <a:ext cx="54864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4320" y="5285231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2960" y="5285231"/>
            <a:ext cx="3429000" cy="38404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86968" y="5376671"/>
            <a:ext cx="329184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A1F36"/>
                </a:solidFill>
                <a:latin typeface="Arial"/>
              </a:rPr>
              <a:t>Обученность продавца TITAN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51960" y="5285231"/>
            <a:ext cx="2743200" cy="38404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315968" y="5376671"/>
            <a:ext cx="260604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  <a:latin typeface="Arial"/>
              </a:rPr>
              <a:t>100 % тест сдан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995160" y="5285231"/>
            <a:ext cx="1847088" cy="38404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059168" y="5376671"/>
            <a:ext cx="1719072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К 2-му месяцу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" y="5687568"/>
            <a:ext cx="85953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Arial"/>
              </a:rPr>
              <a:t>Источник данных: фотоотчёт ТП по графику  ·  CIS-Link по SKU  ·  отчёт Лемана Про по кэшбеку и промо  ·  тест продавца в LMS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238</Words>
  <Application>Microsoft Office PowerPoint</Application>
  <PresentationFormat>Экран (16:10)</PresentationFormat>
  <Paragraphs>55</Paragraphs>
  <Slides>2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Тема Office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Заколодний Роман Александрович</dc:creator>
  <cp:lastModifiedBy>Заколодний Роман Александрович</cp:lastModifiedBy>
  <cp:revision>2</cp:revision>
  <dcterms:created xsi:type="dcterms:W3CDTF">2026-08-21T05:52:12Z</dcterms:created>
  <dcterms:modified xsi:type="dcterms:W3CDTF">2026-08-21T05:54:07Z</dcterms:modified>
</cp:coreProperties>
</file>