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sldIdLst>
    <p:sldId id="324" r:id="rId2"/>
    <p:sldId id="325" r:id="rId3"/>
  </p:sldIdLst>
  <p:sldSz cx="18288000" cy="10287000"/>
  <p:notesSz cx="10287000" cy="18288000"/>
  <p:embeddedFontLst>
    <p:embeddedFont>
      <p:font typeface="Calibri" pitchFamily="34" charset="0"/>
      <p:regular r:id="rId5"/>
      <p:bold r:id="rId6"/>
      <p:italic r:id="rId7"/>
      <p:boldItalic r:id="rId8"/>
    </p:embeddedFont>
    <p:embeddedFont>
      <p:font typeface="Arimo" charset="0"/>
      <p:regular r:id="rId9"/>
      <p:bold r:id="rId10"/>
      <p:italic r:id="rId11"/>
      <p:boldItalic r:id="rId12"/>
    </p:embeddedFont>
    <p:embeddedFont>
      <p:font typeface="Calibri Light" pitchFamily="34" charset="0"/>
      <p:regular r:id="rId13"/>
      <p:italic r:id="rId14"/>
    </p:embeddedFont>
  </p:embeddedFontLst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3921"/>
    <a:srgbClr val="DED09F"/>
    <a:srgbClr val="154889"/>
    <a:srgbClr val="A5A8A6"/>
    <a:srgbClr val="F18324"/>
    <a:srgbClr val="F47629"/>
    <a:srgbClr val="C0C0C0"/>
    <a:srgbClr val="313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966" autoAdjust="0"/>
  </p:normalViewPr>
  <p:slideViewPr>
    <p:cSldViewPr snapToGrid="0" snapToObjects="1">
      <p:cViewPr>
        <p:scale>
          <a:sx n="50" d="100"/>
          <a:sy n="50" d="100"/>
        </p:scale>
        <p:origin x="-1908" y="-870"/>
      </p:cViewPr>
      <p:guideLst>
        <p:guide orient="horz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presProps" Target="presProps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F17830-2477-4335-8DB0-602C35195905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C65B5EA8-1452-4118-8991-D3D4613C155E}">
      <dgm:prSet phldrT="[Текст]" custT="1"/>
      <dgm:spPr>
        <a:solidFill>
          <a:schemeClr val="bg2">
            <a:lumMod val="90000"/>
          </a:schemeClr>
        </a:solidFill>
      </dgm:spPr>
      <dgm:t>
        <a:bodyPr anchor="b"/>
        <a:lstStyle/>
        <a:p>
          <a:r>
            <a:rPr lang="ru-RU" sz="1400" b="1" spc="43" dirty="0">
              <a:solidFill>
                <a:schemeClr val="bg2">
                  <a:lumMod val="25000"/>
                </a:schemeClr>
              </a:solidFill>
              <a:latin typeface="Arimo" pitchFamily="34" charset="0"/>
              <a:ea typeface="Arimo"/>
              <a:cs typeface="Arimo" pitchFamily="34" charset="-120"/>
            </a:rPr>
            <a:t>Очистить поверхность от загрязнений </a:t>
          </a:r>
          <a:endParaRPr lang="ru-RU" sz="1400" dirty="0">
            <a:solidFill>
              <a:schemeClr val="bg2">
                <a:lumMod val="25000"/>
              </a:schemeClr>
            </a:solidFill>
            <a:ea typeface="Arimo"/>
          </a:endParaRPr>
        </a:p>
      </dgm:t>
    </dgm:pt>
    <dgm:pt modelId="{969AC629-580F-4DE1-8B97-5199D0B69E47}" type="parTrans" cxnId="{C60970E3-8B2B-4E4A-86ED-5D17342D5E45}">
      <dgm:prSet/>
      <dgm:spPr/>
      <dgm:t>
        <a:bodyPr/>
        <a:lstStyle/>
        <a:p>
          <a:endParaRPr lang="ru-RU"/>
        </a:p>
      </dgm:t>
    </dgm:pt>
    <dgm:pt modelId="{FB2EBF1F-7333-4B59-964E-963D1D4E80C8}" type="sibTrans" cxnId="{C60970E3-8B2B-4E4A-86ED-5D17342D5E45}">
      <dgm:prSet/>
      <dgm:spPr/>
      <dgm:t>
        <a:bodyPr/>
        <a:lstStyle/>
        <a:p>
          <a:endParaRPr lang="ru-RU"/>
        </a:p>
      </dgm:t>
    </dgm:pt>
    <dgm:pt modelId="{F247C5C6-75D9-49ED-8E5D-D21758361774}">
      <dgm:prSet custT="1"/>
      <dgm:spPr>
        <a:solidFill>
          <a:schemeClr val="bg2">
            <a:lumMod val="90000"/>
          </a:schemeClr>
        </a:solidFill>
      </dgm:spPr>
      <dgm:t>
        <a:bodyPr anchor="b"/>
        <a:lstStyle/>
        <a:p>
          <a:r>
            <a:rPr lang="ru-RU" sz="1400" b="1" spc="43" dirty="0">
              <a:solidFill>
                <a:schemeClr val="bg2">
                  <a:lumMod val="25000"/>
                </a:schemeClr>
              </a:solidFill>
              <a:latin typeface="Arimo" pitchFamily="34" charset="0"/>
              <a:ea typeface="Arimo"/>
              <a:cs typeface="Arimo" pitchFamily="34" charset="-120"/>
            </a:rPr>
            <a:t>Если поверхность была окрашена ранее – непрочные слои краски удалить и зашлифовать поверхность </a:t>
          </a:r>
        </a:p>
      </dgm:t>
    </dgm:pt>
    <dgm:pt modelId="{65BCBA6F-AC32-43BC-AC0B-ABD49A217446}" type="parTrans" cxnId="{FE21FBD8-436C-4603-8687-C52E236D504E}">
      <dgm:prSet/>
      <dgm:spPr/>
      <dgm:t>
        <a:bodyPr/>
        <a:lstStyle/>
        <a:p>
          <a:endParaRPr lang="ru-RU"/>
        </a:p>
      </dgm:t>
    </dgm:pt>
    <dgm:pt modelId="{1C356BD0-66D1-4BFF-88AD-D38811999B3E}" type="sibTrans" cxnId="{FE21FBD8-436C-4603-8687-C52E236D504E}">
      <dgm:prSet/>
      <dgm:spPr/>
      <dgm:t>
        <a:bodyPr/>
        <a:lstStyle/>
        <a:p>
          <a:endParaRPr lang="ru-RU"/>
        </a:p>
      </dgm:t>
    </dgm:pt>
    <dgm:pt modelId="{EC0069BB-27A7-4B85-A21D-FBE64BFAC479}">
      <dgm:prSet custT="1"/>
      <dgm:spPr>
        <a:solidFill>
          <a:schemeClr val="bg2">
            <a:lumMod val="90000"/>
          </a:schemeClr>
        </a:solidFill>
      </dgm:spPr>
      <dgm:t>
        <a:bodyPr anchor="b"/>
        <a:lstStyle/>
        <a:p>
          <a:r>
            <a:rPr lang="ru-RU" sz="1400" b="1" spc="43" dirty="0">
              <a:solidFill>
                <a:schemeClr val="bg2">
                  <a:lumMod val="25000"/>
                </a:schemeClr>
              </a:solidFill>
              <a:latin typeface="Arimo" pitchFamily="34" charset="0"/>
              <a:ea typeface="Arimo"/>
              <a:cs typeface="Arimo" pitchFamily="34" charset="-120"/>
            </a:rPr>
            <a:t>Выровнять впадины и неровности </a:t>
          </a:r>
        </a:p>
      </dgm:t>
    </dgm:pt>
    <dgm:pt modelId="{D8328085-8B7F-4E42-A4BB-249FB42B67D9}" type="parTrans" cxnId="{9B62F79F-A719-49D5-AEE6-123CD1F9C23B}">
      <dgm:prSet/>
      <dgm:spPr/>
      <dgm:t>
        <a:bodyPr/>
        <a:lstStyle/>
        <a:p>
          <a:endParaRPr lang="ru-RU"/>
        </a:p>
      </dgm:t>
    </dgm:pt>
    <dgm:pt modelId="{E7567AAF-402C-4C89-9CDE-E03EA2C6F8A7}" type="sibTrans" cxnId="{9B62F79F-A719-49D5-AEE6-123CD1F9C23B}">
      <dgm:prSet/>
      <dgm:spPr/>
      <dgm:t>
        <a:bodyPr/>
        <a:lstStyle/>
        <a:p>
          <a:endParaRPr lang="ru-RU"/>
        </a:p>
      </dgm:t>
    </dgm:pt>
    <dgm:pt modelId="{3F40FB02-649B-4AFA-A237-AE56B3708DD8}">
      <dgm:prSet custT="1"/>
      <dgm:spPr>
        <a:solidFill>
          <a:schemeClr val="bg2">
            <a:lumMod val="90000"/>
          </a:schemeClr>
        </a:solidFill>
      </dgm:spPr>
      <dgm:t>
        <a:bodyPr anchor="b"/>
        <a:lstStyle/>
        <a:p>
          <a:r>
            <a:rPr lang="ru-RU" sz="1400" b="1" spc="43" dirty="0">
              <a:solidFill>
                <a:schemeClr val="bg2">
                  <a:lumMod val="25000"/>
                </a:schemeClr>
              </a:solidFill>
              <a:latin typeface="Arimo" pitchFamily="34" charset="0"/>
              <a:ea typeface="Arimo"/>
              <a:cs typeface="Arimo" pitchFamily="34" charset="-120"/>
            </a:rPr>
            <a:t>Грунт-эмаль тщательно перемешать до однородности </a:t>
          </a:r>
        </a:p>
      </dgm:t>
    </dgm:pt>
    <dgm:pt modelId="{85D6068D-0E2A-4AB2-878B-FB8A6F39944A}" type="parTrans" cxnId="{48E7F667-0F0B-41C8-A2C9-0B7A071294C7}">
      <dgm:prSet/>
      <dgm:spPr/>
      <dgm:t>
        <a:bodyPr/>
        <a:lstStyle/>
        <a:p>
          <a:endParaRPr lang="ru-RU"/>
        </a:p>
      </dgm:t>
    </dgm:pt>
    <dgm:pt modelId="{7715FEBC-9F47-4580-BC56-21ED98799A96}" type="sibTrans" cxnId="{48E7F667-0F0B-41C8-A2C9-0B7A071294C7}">
      <dgm:prSet/>
      <dgm:spPr/>
      <dgm:t>
        <a:bodyPr/>
        <a:lstStyle/>
        <a:p>
          <a:endParaRPr lang="ru-RU"/>
        </a:p>
      </dgm:t>
    </dgm:pt>
    <dgm:pt modelId="{8B057CB8-D8E3-43E8-8589-A51C4CB3E576}">
      <dgm:prSet custT="1"/>
      <dgm:spPr>
        <a:solidFill>
          <a:schemeClr val="bg2">
            <a:lumMod val="90000"/>
          </a:schemeClr>
        </a:solidFill>
      </dgm:spPr>
      <dgm:t>
        <a:bodyPr anchor="b"/>
        <a:lstStyle/>
        <a:p>
          <a:r>
            <a:rPr lang="ru-RU" sz="1400" b="1" spc="43" dirty="0">
              <a:solidFill>
                <a:schemeClr val="bg2">
                  <a:lumMod val="25000"/>
                </a:schemeClr>
              </a:solidFill>
              <a:latin typeface="Arimo" pitchFamily="34" charset="0"/>
              <a:ea typeface="Arimo"/>
              <a:cs typeface="Arimo" pitchFamily="34" charset="-120"/>
            </a:rPr>
            <a:t>В случае необходимости разбавить ксилолом или сольвентом, не более 10% по массе </a:t>
          </a:r>
        </a:p>
      </dgm:t>
    </dgm:pt>
    <dgm:pt modelId="{02060394-97FA-43A3-8EB6-F9C8885179F3}" type="parTrans" cxnId="{7AAC9756-9DC4-443F-A7CB-98E0CA96BA26}">
      <dgm:prSet/>
      <dgm:spPr/>
      <dgm:t>
        <a:bodyPr/>
        <a:lstStyle/>
        <a:p>
          <a:endParaRPr lang="ru-RU"/>
        </a:p>
      </dgm:t>
    </dgm:pt>
    <dgm:pt modelId="{0DFDDA45-9A38-45A2-9392-25C002BD3162}" type="sibTrans" cxnId="{7AAC9756-9DC4-443F-A7CB-98E0CA96BA26}">
      <dgm:prSet/>
      <dgm:spPr/>
      <dgm:t>
        <a:bodyPr/>
        <a:lstStyle/>
        <a:p>
          <a:endParaRPr lang="ru-RU"/>
        </a:p>
      </dgm:t>
    </dgm:pt>
    <dgm:pt modelId="{78E91E8E-A90B-43AA-9DF8-9B7614478D16}" type="pres">
      <dgm:prSet presAssocID="{6BF17830-2477-4335-8DB0-602C35195905}" presName="CompostProcess" presStyleCnt="0">
        <dgm:presLayoutVars>
          <dgm:dir/>
          <dgm:resizeHandles val="exact"/>
        </dgm:presLayoutVars>
      </dgm:prSet>
      <dgm:spPr/>
    </dgm:pt>
    <dgm:pt modelId="{293883A6-628F-4DCC-8933-410E8D2D3344}" type="pres">
      <dgm:prSet presAssocID="{6BF17830-2477-4335-8DB0-602C35195905}" presName="arrow" presStyleLbl="bgShp" presStyleIdx="0" presStyleCnt="1" custLinFactNeighborX="608" custLinFactNeighborY="-3975"/>
      <dgm:spPr>
        <a:solidFill>
          <a:schemeClr val="accent2"/>
        </a:solidFill>
        <a:ln>
          <a:solidFill>
            <a:schemeClr val="accent2"/>
          </a:solidFill>
        </a:ln>
      </dgm:spPr>
    </dgm:pt>
    <dgm:pt modelId="{848FD9E3-15AB-4AC8-89B8-FDA641005EA8}" type="pres">
      <dgm:prSet presAssocID="{6BF17830-2477-4335-8DB0-602C35195905}" presName="linearProcess" presStyleCnt="0"/>
      <dgm:spPr/>
    </dgm:pt>
    <dgm:pt modelId="{73DC5044-EE4A-43CF-8B24-70885EA45243}" type="pres">
      <dgm:prSet presAssocID="{C65B5EA8-1452-4118-8991-D3D4613C155E}" presName="textNode" presStyleLbl="node1" presStyleIdx="0" presStyleCnt="5" custScaleX="19174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194A6DA-56F3-4D65-81A2-EB4692588AE4}" type="pres">
      <dgm:prSet presAssocID="{FB2EBF1F-7333-4B59-964E-963D1D4E80C8}" presName="sibTrans" presStyleCnt="0"/>
      <dgm:spPr/>
    </dgm:pt>
    <dgm:pt modelId="{927E1352-B200-44EB-B0A5-170C99C69DE0}" type="pres">
      <dgm:prSet presAssocID="{F247C5C6-75D9-49ED-8E5D-D21758361774}" presName="textNode" presStyleLbl="node1" presStyleIdx="1" presStyleCnt="5" custScaleX="267655" custScaleY="9711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8C1B5B9-8E33-4673-9453-7F9F7099E742}" type="pres">
      <dgm:prSet presAssocID="{1C356BD0-66D1-4BFF-88AD-D38811999B3E}" presName="sibTrans" presStyleCnt="0"/>
      <dgm:spPr/>
    </dgm:pt>
    <dgm:pt modelId="{B8CA4E6E-0157-4B6D-A111-CCDD132DA593}" type="pres">
      <dgm:prSet presAssocID="{EC0069BB-27A7-4B85-A21D-FBE64BFAC479}" presName="textNode" presStyleLbl="node1" presStyleIdx="2" presStyleCnt="5" custScaleX="17079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C838D10-B9D7-44DE-A778-40D09A9FE6A6}" type="pres">
      <dgm:prSet presAssocID="{E7567AAF-402C-4C89-9CDE-E03EA2C6F8A7}" presName="sibTrans" presStyleCnt="0"/>
      <dgm:spPr/>
    </dgm:pt>
    <dgm:pt modelId="{55585340-C522-4B0E-9C5E-B429F0410A1A}" type="pres">
      <dgm:prSet presAssocID="{3F40FB02-649B-4AFA-A237-AE56B3708DD8}" presName="textNode" presStyleLbl="node1" presStyleIdx="3" presStyleCnt="5" custScaleX="18625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30BCFFF-C1AC-4FE8-8E07-D42E8DCB2ADB}" type="pres">
      <dgm:prSet presAssocID="{7715FEBC-9F47-4580-BC56-21ED98799A96}" presName="sibTrans" presStyleCnt="0"/>
      <dgm:spPr/>
    </dgm:pt>
    <dgm:pt modelId="{5F438927-8E75-433E-8264-EDC9DF014B85}" type="pres">
      <dgm:prSet presAssocID="{8B057CB8-D8E3-43E8-8589-A51C4CB3E576}" presName="textNode" presStyleLbl="node1" presStyleIdx="4" presStyleCnt="5" custScaleX="25204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A0FB666-DE5B-47D0-ABEE-434293562372}" type="presOf" srcId="{C65B5EA8-1452-4118-8991-D3D4613C155E}" destId="{73DC5044-EE4A-43CF-8B24-70885EA45243}" srcOrd="0" destOrd="0" presId="urn:microsoft.com/office/officeart/2005/8/layout/hProcess9"/>
    <dgm:cxn modelId="{9B62F79F-A719-49D5-AEE6-123CD1F9C23B}" srcId="{6BF17830-2477-4335-8DB0-602C35195905}" destId="{EC0069BB-27A7-4B85-A21D-FBE64BFAC479}" srcOrd="2" destOrd="0" parTransId="{D8328085-8B7F-4E42-A4BB-249FB42B67D9}" sibTransId="{E7567AAF-402C-4C89-9CDE-E03EA2C6F8A7}"/>
    <dgm:cxn modelId="{0C8DC88F-E955-4376-8FCF-887EC2EA00D6}" type="presOf" srcId="{F247C5C6-75D9-49ED-8E5D-D21758361774}" destId="{927E1352-B200-44EB-B0A5-170C99C69DE0}" srcOrd="0" destOrd="0" presId="urn:microsoft.com/office/officeart/2005/8/layout/hProcess9"/>
    <dgm:cxn modelId="{7AAC9756-9DC4-443F-A7CB-98E0CA96BA26}" srcId="{6BF17830-2477-4335-8DB0-602C35195905}" destId="{8B057CB8-D8E3-43E8-8589-A51C4CB3E576}" srcOrd="4" destOrd="0" parTransId="{02060394-97FA-43A3-8EB6-F9C8885179F3}" sibTransId="{0DFDDA45-9A38-45A2-9392-25C002BD3162}"/>
    <dgm:cxn modelId="{B907A043-6B9E-4301-AD5B-C389377128CF}" type="presOf" srcId="{8B057CB8-D8E3-43E8-8589-A51C4CB3E576}" destId="{5F438927-8E75-433E-8264-EDC9DF014B85}" srcOrd="0" destOrd="0" presId="urn:microsoft.com/office/officeart/2005/8/layout/hProcess9"/>
    <dgm:cxn modelId="{9BD8D34C-0750-42BB-8D07-7C477F6F79AF}" type="presOf" srcId="{EC0069BB-27A7-4B85-A21D-FBE64BFAC479}" destId="{B8CA4E6E-0157-4B6D-A111-CCDD132DA593}" srcOrd="0" destOrd="0" presId="urn:microsoft.com/office/officeart/2005/8/layout/hProcess9"/>
    <dgm:cxn modelId="{820C2558-D27B-45F6-BA82-C0DF81E68A7E}" type="presOf" srcId="{6BF17830-2477-4335-8DB0-602C35195905}" destId="{78E91E8E-A90B-43AA-9DF8-9B7614478D16}" srcOrd="0" destOrd="0" presId="urn:microsoft.com/office/officeart/2005/8/layout/hProcess9"/>
    <dgm:cxn modelId="{C21AD31A-984C-4B39-962D-17638A68A68C}" type="presOf" srcId="{3F40FB02-649B-4AFA-A237-AE56B3708DD8}" destId="{55585340-C522-4B0E-9C5E-B429F0410A1A}" srcOrd="0" destOrd="0" presId="urn:microsoft.com/office/officeart/2005/8/layout/hProcess9"/>
    <dgm:cxn modelId="{FE21FBD8-436C-4603-8687-C52E236D504E}" srcId="{6BF17830-2477-4335-8DB0-602C35195905}" destId="{F247C5C6-75D9-49ED-8E5D-D21758361774}" srcOrd="1" destOrd="0" parTransId="{65BCBA6F-AC32-43BC-AC0B-ABD49A217446}" sibTransId="{1C356BD0-66D1-4BFF-88AD-D38811999B3E}"/>
    <dgm:cxn modelId="{C60970E3-8B2B-4E4A-86ED-5D17342D5E45}" srcId="{6BF17830-2477-4335-8DB0-602C35195905}" destId="{C65B5EA8-1452-4118-8991-D3D4613C155E}" srcOrd="0" destOrd="0" parTransId="{969AC629-580F-4DE1-8B97-5199D0B69E47}" sibTransId="{FB2EBF1F-7333-4B59-964E-963D1D4E80C8}"/>
    <dgm:cxn modelId="{48E7F667-0F0B-41C8-A2C9-0B7A071294C7}" srcId="{6BF17830-2477-4335-8DB0-602C35195905}" destId="{3F40FB02-649B-4AFA-A237-AE56B3708DD8}" srcOrd="3" destOrd="0" parTransId="{85D6068D-0E2A-4AB2-878B-FB8A6F39944A}" sibTransId="{7715FEBC-9F47-4580-BC56-21ED98799A96}"/>
    <dgm:cxn modelId="{AA87A198-F039-4D80-8512-C0F9AC45B2CC}" type="presParOf" srcId="{78E91E8E-A90B-43AA-9DF8-9B7614478D16}" destId="{293883A6-628F-4DCC-8933-410E8D2D3344}" srcOrd="0" destOrd="0" presId="urn:microsoft.com/office/officeart/2005/8/layout/hProcess9"/>
    <dgm:cxn modelId="{0D4EDE43-36E6-4749-B5CE-A8427F6FBC4F}" type="presParOf" srcId="{78E91E8E-A90B-43AA-9DF8-9B7614478D16}" destId="{848FD9E3-15AB-4AC8-89B8-FDA641005EA8}" srcOrd="1" destOrd="0" presId="urn:microsoft.com/office/officeart/2005/8/layout/hProcess9"/>
    <dgm:cxn modelId="{1AD60729-4726-4B69-BB81-64720189B14F}" type="presParOf" srcId="{848FD9E3-15AB-4AC8-89B8-FDA641005EA8}" destId="{73DC5044-EE4A-43CF-8B24-70885EA45243}" srcOrd="0" destOrd="0" presId="urn:microsoft.com/office/officeart/2005/8/layout/hProcess9"/>
    <dgm:cxn modelId="{9DA6B2EB-0ACD-486E-80F0-AAF9244BBD90}" type="presParOf" srcId="{848FD9E3-15AB-4AC8-89B8-FDA641005EA8}" destId="{8194A6DA-56F3-4D65-81A2-EB4692588AE4}" srcOrd="1" destOrd="0" presId="urn:microsoft.com/office/officeart/2005/8/layout/hProcess9"/>
    <dgm:cxn modelId="{927D09AC-E868-4EEE-8BDF-FE0C663C88EB}" type="presParOf" srcId="{848FD9E3-15AB-4AC8-89B8-FDA641005EA8}" destId="{927E1352-B200-44EB-B0A5-170C99C69DE0}" srcOrd="2" destOrd="0" presId="urn:microsoft.com/office/officeart/2005/8/layout/hProcess9"/>
    <dgm:cxn modelId="{9160A3FA-FC56-43E6-90B6-24D1CBC93682}" type="presParOf" srcId="{848FD9E3-15AB-4AC8-89B8-FDA641005EA8}" destId="{98C1B5B9-8E33-4673-9453-7F9F7099E742}" srcOrd="3" destOrd="0" presId="urn:microsoft.com/office/officeart/2005/8/layout/hProcess9"/>
    <dgm:cxn modelId="{320D9C7C-306C-4E6B-B847-16002990BB64}" type="presParOf" srcId="{848FD9E3-15AB-4AC8-89B8-FDA641005EA8}" destId="{B8CA4E6E-0157-4B6D-A111-CCDD132DA593}" srcOrd="4" destOrd="0" presId="urn:microsoft.com/office/officeart/2005/8/layout/hProcess9"/>
    <dgm:cxn modelId="{F51AEFB5-EEC7-4830-98AB-B23FEA561301}" type="presParOf" srcId="{848FD9E3-15AB-4AC8-89B8-FDA641005EA8}" destId="{BC838D10-B9D7-44DE-A778-40D09A9FE6A6}" srcOrd="5" destOrd="0" presId="urn:microsoft.com/office/officeart/2005/8/layout/hProcess9"/>
    <dgm:cxn modelId="{C9A538F3-5D15-4E7D-95AB-4A7E53AAB921}" type="presParOf" srcId="{848FD9E3-15AB-4AC8-89B8-FDA641005EA8}" destId="{55585340-C522-4B0E-9C5E-B429F0410A1A}" srcOrd="6" destOrd="0" presId="urn:microsoft.com/office/officeart/2005/8/layout/hProcess9"/>
    <dgm:cxn modelId="{7B97D372-9DD5-48B8-A2B1-4BD29460FE18}" type="presParOf" srcId="{848FD9E3-15AB-4AC8-89B8-FDA641005EA8}" destId="{F30BCFFF-C1AC-4FE8-8E07-D42E8DCB2ADB}" srcOrd="7" destOrd="0" presId="urn:microsoft.com/office/officeart/2005/8/layout/hProcess9"/>
    <dgm:cxn modelId="{E0FF5371-7DD9-431C-97E5-09E81FF1F974}" type="presParOf" srcId="{848FD9E3-15AB-4AC8-89B8-FDA641005EA8}" destId="{5F438927-8E75-433E-8264-EDC9DF014B85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3883A6-628F-4DCC-8933-410E8D2D3344}">
      <dsp:nvSpPr>
        <dsp:cNvPr id="0" name=""/>
        <dsp:cNvSpPr/>
      </dsp:nvSpPr>
      <dsp:spPr>
        <a:xfrm>
          <a:off x="1147345" y="0"/>
          <a:ext cx="12164995" cy="5678222"/>
        </a:xfrm>
        <a:prstGeom prst="rightArrow">
          <a:avLst/>
        </a:prstGeom>
        <a:solidFill>
          <a:schemeClr val="accent2"/>
        </a:solidFill>
        <a:ln>
          <a:solidFill>
            <a:schemeClr val="accent2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DC5044-EE4A-43CF-8B24-70885EA45243}">
      <dsp:nvSpPr>
        <dsp:cNvPr id="0" name=""/>
        <dsp:cNvSpPr/>
      </dsp:nvSpPr>
      <dsp:spPr>
        <a:xfrm>
          <a:off x="4630" y="1703466"/>
          <a:ext cx="2415858" cy="2271288"/>
        </a:xfrm>
        <a:prstGeom prst="roundRect">
          <a:avLst/>
        </a:prstGeom>
        <a:solidFill>
          <a:schemeClr val="bg2">
            <a:lumMod val="9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spc="43" dirty="0">
              <a:solidFill>
                <a:schemeClr val="bg2">
                  <a:lumMod val="25000"/>
                </a:schemeClr>
              </a:solidFill>
              <a:latin typeface="Arimo" pitchFamily="34" charset="0"/>
              <a:ea typeface="Arimo"/>
              <a:cs typeface="Arimo" pitchFamily="34" charset="-120"/>
            </a:rPr>
            <a:t>Очистить поверхность от загрязнений </a:t>
          </a:r>
          <a:endParaRPr lang="ru-RU" sz="1400" kern="1200" dirty="0">
            <a:solidFill>
              <a:schemeClr val="bg2">
                <a:lumMod val="25000"/>
              </a:schemeClr>
            </a:solidFill>
            <a:ea typeface="Arimo"/>
          </a:endParaRPr>
        </a:p>
      </dsp:txBody>
      <dsp:txXfrm>
        <a:off x="115505" y="1814341"/>
        <a:ext cx="2194108" cy="2049538"/>
      </dsp:txXfrm>
    </dsp:sp>
    <dsp:sp modelId="{927E1352-B200-44EB-B0A5-170C99C69DE0}">
      <dsp:nvSpPr>
        <dsp:cNvPr id="0" name=""/>
        <dsp:cNvSpPr/>
      </dsp:nvSpPr>
      <dsp:spPr>
        <a:xfrm>
          <a:off x="2630483" y="1736184"/>
          <a:ext cx="3372361" cy="2205852"/>
        </a:xfrm>
        <a:prstGeom prst="roundRect">
          <a:avLst/>
        </a:prstGeom>
        <a:solidFill>
          <a:schemeClr val="bg2">
            <a:lumMod val="9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spc="43" dirty="0">
              <a:solidFill>
                <a:schemeClr val="bg2">
                  <a:lumMod val="25000"/>
                </a:schemeClr>
              </a:solidFill>
              <a:latin typeface="Arimo" pitchFamily="34" charset="0"/>
              <a:ea typeface="Arimo"/>
              <a:cs typeface="Arimo" pitchFamily="34" charset="-120"/>
            </a:rPr>
            <a:t>Если поверхность была окрашена ранее – непрочные слои краски удалить и зашлифовать поверхность </a:t>
          </a:r>
        </a:p>
      </dsp:txBody>
      <dsp:txXfrm>
        <a:off x="2738164" y="1843865"/>
        <a:ext cx="3156999" cy="1990490"/>
      </dsp:txXfrm>
    </dsp:sp>
    <dsp:sp modelId="{B8CA4E6E-0157-4B6D-A111-CCDD132DA593}">
      <dsp:nvSpPr>
        <dsp:cNvPr id="0" name=""/>
        <dsp:cNvSpPr/>
      </dsp:nvSpPr>
      <dsp:spPr>
        <a:xfrm>
          <a:off x="6212839" y="1703466"/>
          <a:ext cx="2151933" cy="2271288"/>
        </a:xfrm>
        <a:prstGeom prst="roundRect">
          <a:avLst/>
        </a:prstGeom>
        <a:solidFill>
          <a:schemeClr val="bg2">
            <a:lumMod val="9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spc="43" dirty="0">
              <a:solidFill>
                <a:schemeClr val="bg2">
                  <a:lumMod val="25000"/>
                </a:schemeClr>
              </a:solidFill>
              <a:latin typeface="Arimo" pitchFamily="34" charset="0"/>
              <a:ea typeface="Arimo"/>
              <a:cs typeface="Arimo" pitchFamily="34" charset="-120"/>
            </a:rPr>
            <a:t>Выровнять впадины и неровности </a:t>
          </a:r>
        </a:p>
      </dsp:txBody>
      <dsp:txXfrm>
        <a:off x="6317888" y="1808515"/>
        <a:ext cx="1941835" cy="2061190"/>
      </dsp:txXfrm>
    </dsp:sp>
    <dsp:sp modelId="{55585340-C522-4B0E-9C5E-B429F0410A1A}">
      <dsp:nvSpPr>
        <dsp:cNvPr id="0" name=""/>
        <dsp:cNvSpPr/>
      </dsp:nvSpPr>
      <dsp:spPr>
        <a:xfrm>
          <a:off x="8574766" y="1703466"/>
          <a:ext cx="2346749" cy="2271288"/>
        </a:xfrm>
        <a:prstGeom prst="roundRect">
          <a:avLst/>
        </a:prstGeom>
        <a:solidFill>
          <a:schemeClr val="bg2">
            <a:lumMod val="9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spc="43" dirty="0">
              <a:solidFill>
                <a:schemeClr val="bg2">
                  <a:lumMod val="25000"/>
                </a:schemeClr>
              </a:solidFill>
              <a:latin typeface="Arimo" pitchFamily="34" charset="0"/>
              <a:ea typeface="Arimo"/>
              <a:cs typeface="Arimo" pitchFamily="34" charset="-120"/>
            </a:rPr>
            <a:t>Грунт-эмаль тщательно перемешать до однородности </a:t>
          </a:r>
        </a:p>
      </dsp:txBody>
      <dsp:txXfrm>
        <a:off x="8685641" y="1814341"/>
        <a:ext cx="2124999" cy="2049538"/>
      </dsp:txXfrm>
    </dsp:sp>
    <dsp:sp modelId="{5F438927-8E75-433E-8264-EDC9DF014B85}">
      <dsp:nvSpPr>
        <dsp:cNvPr id="0" name=""/>
        <dsp:cNvSpPr/>
      </dsp:nvSpPr>
      <dsp:spPr>
        <a:xfrm>
          <a:off x="11131510" y="1703466"/>
          <a:ext cx="3175618" cy="2271288"/>
        </a:xfrm>
        <a:prstGeom prst="roundRect">
          <a:avLst/>
        </a:prstGeom>
        <a:solidFill>
          <a:schemeClr val="bg2">
            <a:lumMod val="9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spc="43" dirty="0">
              <a:solidFill>
                <a:schemeClr val="bg2">
                  <a:lumMod val="25000"/>
                </a:schemeClr>
              </a:solidFill>
              <a:latin typeface="Arimo" pitchFamily="34" charset="0"/>
              <a:ea typeface="Arimo"/>
              <a:cs typeface="Arimo" pitchFamily="34" charset="-120"/>
            </a:rPr>
            <a:t>В случае необходимости разбавить ксилолом или сольвентом, не более 10% по массе </a:t>
          </a:r>
        </a:p>
      </dsp:txBody>
      <dsp:txXfrm>
        <a:off x="11242385" y="1814341"/>
        <a:ext cx="2953868" cy="20495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8224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Образ слайда 1">
            <a:extLst>
              <a:ext uri="{FF2B5EF4-FFF2-40B4-BE49-F238E27FC236}">
                <a16:creationId xmlns="" xmlns:a16="http://schemas.microsoft.com/office/drawing/2014/main" id="{18A1BBA7-467E-466D-8266-800DD12131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952500" y="1371600"/>
            <a:ext cx="12192000" cy="6858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23" name="Заметки 2">
            <a:extLst>
              <a:ext uri="{FF2B5EF4-FFF2-40B4-BE49-F238E27FC236}">
                <a16:creationId xmlns="" xmlns:a16="http://schemas.microsoft.com/office/drawing/2014/main" id="{7D6D609F-DA00-4A17-B7AA-DD5C16B00F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28700" y="8686800"/>
            <a:ext cx="8229600" cy="8229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/>
          <a:lstStyle/>
          <a:p>
            <a:r>
              <a:rPr lang="ru-RU" altLang="ru-RU"/>
              <a:t>Добавить минималистичные картинки ( пиктограммки/ ассоциации) к процессу нанесения материала для визуализации процесса</a:t>
            </a:r>
            <a:endParaRPr lang="ru-RU" altLang="ru-RU">
              <a:solidFill>
                <a:schemeClr val="bg1"/>
              </a:solidFill>
              <a:cs typeface="Arimo" panose="020B0604020202020204" pitchFamily="34" charset="0"/>
            </a:endParaRPr>
          </a:p>
          <a:p>
            <a:endParaRPr lang="ru-RU" altLang="ru-RU"/>
          </a:p>
        </p:txBody>
      </p:sp>
      <p:sp>
        <p:nvSpPr>
          <p:cNvPr id="30724" name="Номер слайда 3">
            <a:extLst>
              <a:ext uri="{FF2B5EF4-FFF2-40B4-BE49-F238E27FC236}">
                <a16:creationId xmlns="" xmlns:a16="http://schemas.microsoft.com/office/drawing/2014/main" id="{93098EF7-65B5-4D0A-9F26-C0D4EA337C3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5827713" y="17370425"/>
            <a:ext cx="44577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0D3FF2D-0AD7-454D-A05F-01EDBA15862F}" type="slidenum">
              <a:rPr lang="ru-RU" altLang="ru-RU"/>
              <a:pPr eaLnBrk="1" hangingPunct="1"/>
              <a:t>1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Образ слайда 1">
            <a:extLst>
              <a:ext uri="{FF2B5EF4-FFF2-40B4-BE49-F238E27FC236}">
                <a16:creationId xmlns="" xmlns:a16="http://schemas.microsoft.com/office/drawing/2014/main" id="{52EF75C1-64D7-47EA-8E0E-C35B262F6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952500" y="1371600"/>
            <a:ext cx="12192000" cy="6858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2771" name="Заметки 2">
            <a:extLst>
              <a:ext uri="{FF2B5EF4-FFF2-40B4-BE49-F238E27FC236}">
                <a16:creationId xmlns="" xmlns:a16="http://schemas.microsoft.com/office/drawing/2014/main" id="{A49DA61C-C269-4722-8B7C-1218FEE2AC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28700" y="8686800"/>
            <a:ext cx="8229600" cy="8229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/>
          <a:lstStyle/>
          <a:p>
            <a:endParaRPr lang="ru-RU" altLang="ru-RU"/>
          </a:p>
        </p:txBody>
      </p:sp>
      <p:sp>
        <p:nvSpPr>
          <p:cNvPr id="32772" name="Номер слайда 3">
            <a:extLst>
              <a:ext uri="{FF2B5EF4-FFF2-40B4-BE49-F238E27FC236}">
                <a16:creationId xmlns="" xmlns:a16="http://schemas.microsoft.com/office/drawing/2014/main" id="{B692AFD0-FC39-438E-A320-58DB60D2C13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5827713" y="17370425"/>
            <a:ext cx="44577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952877F-6F8A-4C10-AE75-3BD37E19C94A}" type="slidenum">
              <a:rPr lang="ru-RU" altLang="ru-RU"/>
              <a:pPr eaLnBrk="1" hangingPunct="1"/>
              <a:t>2</a:t>
            </a:fld>
            <a:endParaRPr lang="ru-RU" alt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567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277" y="-320710"/>
            <a:ext cx="14808502" cy="2264695"/>
          </a:xfrm>
          <a:prstGeom prst="rect">
            <a:avLst/>
          </a:prstGeom>
        </p:spPr>
        <p:txBody>
          <a:bodyPr lIns="0" tIns="0" rIns="0" bIns="0"/>
          <a:lstStyle>
            <a:lvl1pPr>
              <a:defRPr sz="5800" b="1" i="0">
                <a:solidFill>
                  <a:srgbClr val="F08327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="" xmlns:a16="http://schemas.microsoft.com/office/drawing/2014/main" id="{65A7A8FD-098C-4397-BE20-812DFE7142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18238" y="9566275"/>
            <a:ext cx="5851525" cy="514350"/>
          </a:xfrm>
          <a:prstGeom prst="rect">
            <a:avLst/>
          </a:prstGeom>
        </p:spPr>
        <p:txBody>
          <a:bodyPr lIns="0" tIns="0" rIns="0" bIns="0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="" xmlns:a16="http://schemas.microsoft.com/office/drawing/2014/main" id="{E96FDCAF-9E88-43C9-A58A-AADE49E3C03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14400" y="9566275"/>
            <a:ext cx="4206875" cy="514350"/>
          </a:xfrm>
          <a:prstGeom prst="rect">
            <a:avLst/>
          </a:prstGeom>
        </p:spPr>
        <p:txBody>
          <a:bodyPr lIns="0" tIns="0" rIns="0" bIns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92CFB7-B6AB-44C7-B3A7-8D7A29C6EFC8}" type="datetimeFigureOut">
              <a:rPr lang="en-US"/>
              <a:pPr>
                <a:defRPr/>
              </a:pPr>
              <a:t>8/4/2026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="" xmlns:a16="http://schemas.microsoft.com/office/drawing/2014/main" id="{3458804A-7DDC-4022-8C7B-97901A1D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66725" y="9566275"/>
            <a:ext cx="4206875" cy="51435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3776C29-A00A-4D7E-A9DC-6B22C44C607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57424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700" r:id="rId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diagramQuickStyle" Target="../diagrams/quickStyle1.xml"/><Relationship Id="rId18" Type="http://schemas.openxmlformats.org/officeDocument/2006/relationships/image" Target="../media/image9.png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12.png"/><Relationship Id="rId7" Type="http://schemas.openxmlformats.org/officeDocument/2006/relationships/image" Target="../media/image5.png"/><Relationship Id="rId12" Type="http://schemas.openxmlformats.org/officeDocument/2006/relationships/diagramLayout" Target="../diagrams/layout1.xml"/><Relationship Id="rId1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png"/><Relationship Id="rId20" Type="http://schemas.openxmlformats.org/officeDocument/2006/relationships/image" Target="../media/image11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11" Type="http://schemas.openxmlformats.org/officeDocument/2006/relationships/diagramData" Target="../diagrams/data1.xml"/><Relationship Id="rId5" Type="http://schemas.openxmlformats.org/officeDocument/2006/relationships/image" Target="../media/image3.png"/><Relationship Id="rId15" Type="http://schemas.microsoft.com/office/2007/relationships/diagramDrawing" Target="../diagrams/drawing1.xml"/><Relationship Id="rId10" Type="http://schemas.openxmlformats.org/officeDocument/2006/relationships/image" Target="../media/image6.png"/><Relationship Id="rId19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1.emf"/><Relationship Id="rId14" Type="http://schemas.openxmlformats.org/officeDocument/2006/relationships/diagramColors" Target="../diagrams/colors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>
            <a:extLst>
              <a:ext uri="{FF2B5EF4-FFF2-40B4-BE49-F238E27FC236}">
                <a16:creationId xmlns="" xmlns:a16="http://schemas.microsoft.com/office/drawing/2014/main" id="{F34F8276-BFD3-423C-8F68-1CC6053E0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3099" r="43352" b="68044"/>
          <a:stretch>
            <a:fillRect/>
          </a:stretch>
        </p:blipFill>
        <p:spPr bwMode="auto">
          <a:xfrm>
            <a:off x="0" y="3175"/>
            <a:ext cx="18288000" cy="1028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699" name="Image 0" descr="preencoded.png">
            <a:extLst>
              <a:ext uri="{FF2B5EF4-FFF2-40B4-BE49-F238E27FC236}">
                <a16:creationId xmlns="" xmlns:a16="http://schemas.microsoft.com/office/drawing/2014/main" id="{86D9F025-EDD7-44B2-8C6F-78F19CCCCD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7113" y="6402388"/>
            <a:ext cx="2747962" cy="236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Text 15">
            <a:extLst>
              <a:ext uri="{FF2B5EF4-FFF2-40B4-BE49-F238E27FC236}">
                <a16:creationId xmlns="" xmlns:a16="http://schemas.microsoft.com/office/drawing/2014/main" id="{8E8ED893-71B0-489D-97C3-C6C4307F7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7288" y="3067050"/>
            <a:ext cx="277812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838"/>
              </a:lnSpc>
            </a:pPr>
            <a:r>
              <a:rPr lang="en-US" altLang="ru-RU" sz="200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Инструмент нанесения</a:t>
            </a:r>
            <a:endParaRPr lang="en-US" altLang="ru-RU" sz="2000"/>
          </a:p>
        </p:txBody>
      </p:sp>
      <p:sp>
        <p:nvSpPr>
          <p:cNvPr id="29701" name="Text 16">
            <a:extLst>
              <a:ext uri="{FF2B5EF4-FFF2-40B4-BE49-F238E27FC236}">
                <a16:creationId xmlns="" xmlns:a16="http://schemas.microsoft.com/office/drawing/2014/main" id="{CBB8EBF6-EC57-4D71-A8C3-8D904F49C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6175" y="5811838"/>
            <a:ext cx="25304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838"/>
              </a:lnSpc>
            </a:pPr>
            <a:r>
              <a:rPr lang="en-US" altLang="ru-RU" sz="200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Область применения</a:t>
            </a:r>
            <a:endParaRPr lang="en-US" altLang="ru-RU" sz="2000"/>
          </a:p>
        </p:txBody>
      </p:sp>
      <p:pic>
        <p:nvPicPr>
          <p:cNvPr id="17414" name="Image 1" descr="preencoded.png">
            <a:extLst>
              <a:ext uri="{FF2B5EF4-FFF2-40B4-BE49-F238E27FC236}">
                <a16:creationId xmlns="" xmlns:a16="http://schemas.microsoft.com/office/drawing/2014/main" id="{BC3C3895-52EB-41A6-9A6D-8ED617B39D0E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144750" y="1524000"/>
            <a:ext cx="2600325" cy="146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15" name="Image 2" descr="preencoded.png">
            <a:extLst>
              <a:ext uri="{FF2B5EF4-FFF2-40B4-BE49-F238E27FC236}">
                <a16:creationId xmlns="" xmlns:a16="http://schemas.microsoft.com/office/drawing/2014/main" id="{D7071B95-CF3B-446F-84EF-BF6ECCF112C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427325" y="4140200"/>
            <a:ext cx="2406650" cy="1401763"/>
          </a:xfrm>
          <a:prstGeom prst="rect">
            <a:avLst/>
          </a:prstGeom>
          <a:noFill/>
          <a:ln>
            <a:noFill/>
          </a:ln>
        </p:spPr>
      </p:pic>
      <p:sp>
        <p:nvSpPr>
          <p:cNvPr id="29704" name="object 32">
            <a:extLst>
              <a:ext uri="{FF2B5EF4-FFF2-40B4-BE49-F238E27FC236}">
                <a16:creationId xmlns="" xmlns:a16="http://schemas.microsoft.com/office/drawing/2014/main" id="{AE77A98D-F76D-4796-8366-F3D7A614C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088" y="344488"/>
            <a:ext cx="956468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0818" rIns="0" bIns="0">
            <a:spAutoFit/>
          </a:bodyPr>
          <a:lstStyle>
            <a:lvl1pPr marL="34925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13"/>
              </a:spcBef>
            </a:pPr>
            <a:r>
              <a:rPr lang="ru-RU" altLang="ru-RU" sz="3600" b="1">
                <a:solidFill>
                  <a:srgbClr val="7F7F7F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ЭКСПЛУАТАЦИЯ </a:t>
            </a:r>
          </a:p>
        </p:txBody>
      </p:sp>
      <p:graphicFrame>
        <p:nvGraphicFramePr>
          <p:cNvPr id="29705" name="Объект 65">
            <a:extLst>
              <a:ext uri="{FF2B5EF4-FFF2-40B4-BE49-F238E27FC236}">
                <a16:creationId xmlns="" xmlns:a16="http://schemas.microsoft.com/office/drawing/2014/main" id="{2AA701C0-2007-49A1-890B-E580F1B26F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01763" y="390525"/>
          <a:ext cx="3827462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5" name="CorelDRAW" r:id="rId8" imgW="3876120" imgH="797040" progId="CorelDraw.Graphic.23">
                  <p:embed/>
                </p:oleObj>
              </mc:Choice>
              <mc:Fallback>
                <p:oleObj name="CorelDRAW" r:id="rId8" imgW="3876120" imgH="797040" progId="CorelDraw.Graphic.23">
                  <p:embed/>
                  <p:pic>
                    <p:nvPicPr>
                      <p:cNvPr id="0" name="Объект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01763" y="390525"/>
                        <a:ext cx="3827462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Line 1" descr="preencoded.png">
            <a:extLst>
              <a:ext uri="{FF2B5EF4-FFF2-40B4-BE49-F238E27FC236}">
                <a16:creationId xmlns="" xmlns:a16="http://schemas.microsoft.com/office/drawing/2014/main" id="{5522B104-DEF9-47D5-B682-CCD36542C46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20488" t="-130527" r="33652" b="-273784"/>
          <a:stretch/>
        </p:blipFill>
        <p:spPr>
          <a:xfrm>
            <a:off x="6695729" y="543741"/>
            <a:ext cx="6846718" cy="249618"/>
          </a:xfrm>
          <a:prstGeom prst="rect">
            <a:avLst/>
          </a:prstGeom>
          <a:noFill/>
          <a:ln>
            <a:noFill/>
          </a:ln>
        </p:spPr>
      </p:pic>
      <p:sp>
        <p:nvSpPr>
          <p:cNvPr id="29707" name="TextBox 13">
            <a:extLst>
              <a:ext uri="{FF2B5EF4-FFF2-40B4-BE49-F238E27FC236}">
                <a16:creationId xmlns="" xmlns:a16="http://schemas.microsoft.com/office/drawing/2014/main" id="{4F6771C5-385F-491D-82CC-C1C3BF111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38" y="2363788"/>
            <a:ext cx="11512550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>
            <a:spAutoFit/>
          </a:bodyPr>
          <a:lstStyle>
            <a:lvl1pPr marL="509588" indent="-5095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ru-RU" altLang="ru-RU" sz="3600" b="1">
                <a:solidFill>
                  <a:srgbClr val="7F7F7F"/>
                </a:solidFill>
                <a:cs typeface="Arimo" panose="020B0604020202020204" pitchFamily="34" charset="0"/>
              </a:rPr>
              <a:t>Цветные металлы ( цинк, медь, алюминий)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ru-RU" altLang="ru-RU" sz="3600" b="1">
                <a:solidFill>
                  <a:srgbClr val="7F7F7F"/>
                </a:solidFill>
                <a:cs typeface="Arimo" panose="020B0604020202020204" pitchFamily="34" charset="0"/>
              </a:rPr>
              <a:t>Поверхности из оцинкованного металла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ru-RU" altLang="ru-RU" sz="3600" b="1">
                <a:solidFill>
                  <a:srgbClr val="7F7F7F"/>
                </a:solidFill>
                <a:cs typeface="Arimo" panose="020B0604020202020204" pitchFamily="34" charset="0"/>
              </a:rPr>
              <a:t>Поверхности из нержавеющей стали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ru-RU" altLang="ru-RU" sz="3600" b="1">
                <a:solidFill>
                  <a:srgbClr val="7F7F7F"/>
                </a:solidFill>
                <a:cs typeface="Arimo" panose="020B0604020202020204" pitchFamily="34" charset="0"/>
              </a:rPr>
              <a:t>Деревянные поверхности </a:t>
            </a:r>
          </a:p>
        </p:txBody>
      </p:sp>
      <p:sp>
        <p:nvSpPr>
          <p:cNvPr id="29708" name="Прямоугольник 14">
            <a:extLst>
              <a:ext uri="{FF2B5EF4-FFF2-40B4-BE49-F238E27FC236}">
                <a16:creationId xmlns="" xmlns:a16="http://schemas.microsoft.com/office/drawing/2014/main" id="{36D3011D-A1A2-4B73-BF74-1D9402FD8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3" y="1708150"/>
            <a:ext cx="12265025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3600" b="1">
                <a:solidFill>
                  <a:schemeClr val="accent2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НА КАКИЕ ПОВЕРХНОСТИ МОЖНО НАНОСИТЬ</a:t>
            </a:r>
            <a:r>
              <a:rPr lang="en-US" altLang="ru-RU" sz="3600" b="1">
                <a:solidFill>
                  <a:schemeClr val="accent2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?</a:t>
            </a:r>
            <a:endParaRPr lang="ru-RU" altLang="ru-RU" sz="3600" b="1">
              <a:solidFill>
                <a:schemeClr val="accent2"/>
              </a:solidFill>
              <a:latin typeface="Arimo" panose="020B0604020202020204" pitchFamily="34" charset="0"/>
              <a:cs typeface="Arimo" panose="020B0604020202020204" pitchFamily="34" charset="0"/>
            </a:endParaRPr>
          </a:p>
        </p:txBody>
      </p:sp>
      <p:graphicFrame>
        <p:nvGraphicFramePr>
          <p:cNvPr id="18" name="Схема 17">
            <a:extLst>
              <a:ext uri="{FF2B5EF4-FFF2-40B4-BE49-F238E27FC236}">
                <a16:creationId xmlns="" xmlns:a16="http://schemas.microsoft.com/office/drawing/2014/main" id="{B2479611-BF15-4F70-B23C-F7EA3894A621}"/>
              </a:ext>
            </a:extLst>
          </p:cNvPr>
          <p:cNvGraphicFramePr/>
          <p:nvPr/>
        </p:nvGraphicFramePr>
        <p:xfrm>
          <a:off x="70991" y="4139465"/>
          <a:ext cx="14311759" cy="5678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pic>
        <p:nvPicPr>
          <p:cNvPr id="29711" name="Рисунок 2">
            <a:extLst>
              <a:ext uri="{FF2B5EF4-FFF2-40B4-BE49-F238E27FC236}">
                <a16:creationId xmlns="" xmlns:a16="http://schemas.microsoft.com/office/drawing/2014/main" id="{A02BE01B-4257-466A-BD76-F7B0FEB6D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" y="5972175"/>
            <a:ext cx="1717675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12" name="Рисунок 8">
            <a:extLst>
              <a:ext uri="{FF2B5EF4-FFF2-40B4-BE49-F238E27FC236}">
                <a16:creationId xmlns="" xmlns:a16="http://schemas.microsoft.com/office/drawing/2014/main" id="{259C667E-7B5A-4AD0-98B2-7B01B821C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750" y="5961063"/>
            <a:ext cx="1014413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13" name="Рисунок 11">
            <a:extLst>
              <a:ext uri="{FF2B5EF4-FFF2-40B4-BE49-F238E27FC236}">
                <a16:creationId xmlns="" xmlns:a16="http://schemas.microsoft.com/office/drawing/2014/main" id="{08E2BC4C-8BC9-4878-92D5-2101C6C0C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163" y="6005513"/>
            <a:ext cx="1355725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14" name="Рисунок 18">
            <a:extLst>
              <a:ext uri="{FF2B5EF4-FFF2-40B4-BE49-F238E27FC236}">
                <a16:creationId xmlns="" xmlns:a16="http://schemas.microsoft.com/office/drawing/2014/main" id="{D2F22D77-200A-47D9-A313-FC1ECE88C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775" y="5972175"/>
            <a:ext cx="1581150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15" name="Рисунок 20">
            <a:extLst>
              <a:ext uri="{FF2B5EF4-FFF2-40B4-BE49-F238E27FC236}">
                <a16:creationId xmlns="" xmlns:a16="http://schemas.microsoft.com/office/drawing/2014/main" id="{A64C007A-F13D-4126-9BF4-6B0933BD0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4813" y="5400675"/>
            <a:ext cx="1014412" cy="174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16" name="Рисунок 22">
            <a:extLst>
              <a:ext uri="{FF2B5EF4-FFF2-40B4-BE49-F238E27FC236}">
                <a16:creationId xmlns="" xmlns:a16="http://schemas.microsoft.com/office/drawing/2014/main" id="{DE1168E3-CA6D-4597-AB6A-CCC7119D0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4025" y="5246688"/>
            <a:ext cx="2030413" cy="187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>
            <a:extLst>
              <a:ext uri="{FF2B5EF4-FFF2-40B4-BE49-F238E27FC236}">
                <a16:creationId xmlns="" xmlns:a16="http://schemas.microsoft.com/office/drawing/2014/main" id="{CC293602-7083-42C8-BD8B-5C1071273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3099" r="43352" b="68044"/>
          <a:stretch>
            <a:fillRect/>
          </a:stretch>
        </p:blipFill>
        <p:spPr bwMode="auto">
          <a:xfrm>
            <a:off x="0" y="3175"/>
            <a:ext cx="18288000" cy="1028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Прямоугольник 29">
            <a:extLst>
              <a:ext uri="{FF2B5EF4-FFF2-40B4-BE49-F238E27FC236}">
                <a16:creationId xmlns="" xmlns:a16="http://schemas.microsoft.com/office/drawing/2014/main" id="{E845D70E-9069-4A55-8EB3-F61AF3C30052}"/>
              </a:ext>
            </a:extLst>
          </p:cNvPr>
          <p:cNvSpPr/>
          <p:nvPr/>
        </p:nvSpPr>
        <p:spPr>
          <a:xfrm>
            <a:off x="3856038" y="3292475"/>
            <a:ext cx="12223750" cy="939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ru-RU"/>
          </a:p>
        </p:txBody>
      </p:sp>
      <p:sp>
        <p:nvSpPr>
          <p:cNvPr id="31" name="Прямоугольник 30">
            <a:extLst>
              <a:ext uri="{FF2B5EF4-FFF2-40B4-BE49-F238E27FC236}">
                <a16:creationId xmlns="" xmlns:a16="http://schemas.microsoft.com/office/drawing/2014/main" id="{1FB1C5D1-38D7-49C0-A043-1F7CA46CA30E}"/>
              </a:ext>
            </a:extLst>
          </p:cNvPr>
          <p:cNvSpPr/>
          <p:nvPr/>
        </p:nvSpPr>
        <p:spPr>
          <a:xfrm>
            <a:off x="3856038" y="4610100"/>
            <a:ext cx="12223750" cy="10890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ru-RU"/>
          </a:p>
        </p:txBody>
      </p:sp>
      <p:sp>
        <p:nvSpPr>
          <p:cNvPr id="32" name="Прямоугольник 31">
            <a:extLst>
              <a:ext uri="{FF2B5EF4-FFF2-40B4-BE49-F238E27FC236}">
                <a16:creationId xmlns="" xmlns:a16="http://schemas.microsoft.com/office/drawing/2014/main" id="{DDDD2B42-99CC-486F-B25A-C0252C18209E}"/>
              </a:ext>
            </a:extLst>
          </p:cNvPr>
          <p:cNvSpPr/>
          <p:nvPr/>
        </p:nvSpPr>
        <p:spPr>
          <a:xfrm>
            <a:off x="3856038" y="6596063"/>
            <a:ext cx="12223750" cy="7302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="" xmlns:a16="http://schemas.microsoft.com/office/drawing/2014/main" id="{583560FE-3CDF-4B40-A196-57030EAAE69A}"/>
              </a:ext>
            </a:extLst>
          </p:cNvPr>
          <p:cNvSpPr/>
          <p:nvPr/>
        </p:nvSpPr>
        <p:spPr>
          <a:xfrm>
            <a:off x="3856038" y="7767638"/>
            <a:ext cx="12223750" cy="15668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D7B67139-2FD4-4B15-B5E0-36F6D013B5BC}"/>
              </a:ext>
            </a:extLst>
          </p:cNvPr>
          <p:cNvSpPr/>
          <p:nvPr/>
        </p:nvSpPr>
        <p:spPr>
          <a:xfrm>
            <a:off x="3856038" y="1541463"/>
            <a:ext cx="12223750" cy="13906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ru-RU"/>
          </a:p>
        </p:txBody>
      </p:sp>
      <p:sp>
        <p:nvSpPr>
          <p:cNvPr id="31752" name="Text 1">
            <a:extLst>
              <a:ext uri="{FF2B5EF4-FFF2-40B4-BE49-F238E27FC236}">
                <a16:creationId xmlns="" xmlns:a16="http://schemas.microsoft.com/office/drawing/2014/main" id="{C14ACD6A-5A24-4348-834E-3B1FBAF8D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888" y="1666875"/>
            <a:ext cx="116967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920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788"/>
              </a:lnSpc>
            </a:pPr>
            <a:r>
              <a:rPr lang="en-US" altLang="ru-RU" sz="210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Применяется для защиты и окраски стальных и чугунных поверхностей с остатками плотно держащейся ржавчины, эксплуатируемых в атмосферных условиях (металлические конструкции, садовая мебель, гаражи, ограды, решётки и т. д.), и внутри помещений. Подходит для цветных металлов (цинк, медь, алюминий), поверхностей из оцинкованного металла и нержавеющей стали. Возможно нанесение на деревянную поверхность</a:t>
            </a:r>
            <a:endParaRPr lang="en-US" altLang="ru-RU" sz="2100">
              <a:latin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31753" name="Text 22">
            <a:extLst>
              <a:ext uri="{FF2B5EF4-FFF2-40B4-BE49-F238E27FC236}">
                <a16:creationId xmlns="" xmlns:a16="http://schemas.microsoft.com/office/drawing/2014/main" id="{14D067A3-CA43-4FC9-82B2-C3793E5ED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50" y="2144713"/>
            <a:ext cx="2038350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920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788"/>
              </a:lnSpc>
            </a:pPr>
            <a:r>
              <a:rPr lang="en-US" altLang="ru-RU" sz="2100" b="1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Назначение</a:t>
            </a:r>
            <a:endParaRPr lang="en-US" altLang="ru-RU" sz="2100">
              <a:latin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31754" name="Text 23">
            <a:extLst>
              <a:ext uri="{FF2B5EF4-FFF2-40B4-BE49-F238E27FC236}">
                <a16:creationId xmlns="" xmlns:a16="http://schemas.microsoft.com/office/drawing/2014/main" id="{D7833EB3-8D1A-42AC-AE62-267BCE680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50" y="2806700"/>
            <a:ext cx="2517775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920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788"/>
              </a:lnSpc>
            </a:pPr>
            <a:r>
              <a:rPr lang="en-US" altLang="ru-RU" sz="2100" b="1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Степень блеска</a:t>
            </a:r>
            <a:endParaRPr lang="en-US" altLang="ru-RU" sz="2100">
              <a:latin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31755" name="Text 24">
            <a:extLst>
              <a:ext uri="{FF2B5EF4-FFF2-40B4-BE49-F238E27FC236}">
                <a16:creationId xmlns="" xmlns:a16="http://schemas.microsoft.com/office/drawing/2014/main" id="{F3F87A60-5D13-403A-8F07-BB29EB901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50" y="3705225"/>
            <a:ext cx="2190750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920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788"/>
              </a:lnSpc>
            </a:pPr>
            <a:r>
              <a:rPr lang="en-US" altLang="ru-RU" sz="2100" b="1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Время высыхания</a:t>
            </a:r>
            <a:endParaRPr lang="en-US" altLang="ru-RU" sz="2100">
              <a:latin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31756" name="Text 25">
            <a:extLst>
              <a:ext uri="{FF2B5EF4-FFF2-40B4-BE49-F238E27FC236}">
                <a16:creationId xmlns="" xmlns:a16="http://schemas.microsoft.com/office/drawing/2014/main" id="{1AB96DD2-0981-4194-AC9C-2670E4485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50" y="4362450"/>
            <a:ext cx="2190750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920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788"/>
              </a:lnSpc>
            </a:pPr>
            <a:r>
              <a:rPr lang="en-US" altLang="ru-RU" sz="2100" b="1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Связующее</a:t>
            </a:r>
            <a:endParaRPr lang="en-US" altLang="ru-RU" sz="2100">
              <a:latin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31757" name="Text 26">
            <a:extLst>
              <a:ext uri="{FF2B5EF4-FFF2-40B4-BE49-F238E27FC236}">
                <a16:creationId xmlns="" xmlns:a16="http://schemas.microsoft.com/office/drawing/2014/main" id="{B4E2CD6E-57A0-495D-9F50-D83713016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50" y="5091113"/>
            <a:ext cx="2190750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920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788"/>
              </a:lnSpc>
            </a:pPr>
            <a:r>
              <a:rPr lang="en-US" altLang="ru-RU" sz="2100" b="1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Разбавление</a:t>
            </a:r>
            <a:endParaRPr lang="en-US" altLang="ru-RU" sz="2100">
              <a:latin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31758" name="Text 27">
            <a:extLst>
              <a:ext uri="{FF2B5EF4-FFF2-40B4-BE49-F238E27FC236}">
                <a16:creationId xmlns="" xmlns:a16="http://schemas.microsoft.com/office/drawing/2014/main" id="{437BBE64-2314-4DBD-B137-FEFCFC362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50" y="6078538"/>
            <a:ext cx="2190750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920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788"/>
              </a:lnSpc>
            </a:pPr>
            <a:r>
              <a:rPr lang="en-US" altLang="ru-RU" sz="2100" b="1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Расход</a:t>
            </a:r>
            <a:endParaRPr lang="en-US" altLang="ru-RU" sz="2100">
              <a:latin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31759" name="Text 28">
            <a:extLst>
              <a:ext uri="{FF2B5EF4-FFF2-40B4-BE49-F238E27FC236}">
                <a16:creationId xmlns="" xmlns:a16="http://schemas.microsoft.com/office/drawing/2014/main" id="{57FA508B-8AAD-4907-9C20-C0CEBAE1C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50" y="6908800"/>
            <a:ext cx="2190750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920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788"/>
              </a:lnSpc>
            </a:pPr>
            <a:r>
              <a:rPr lang="en-US" altLang="ru-RU" sz="2100" b="1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Условия нанесения</a:t>
            </a:r>
            <a:endParaRPr lang="en-US" altLang="ru-RU" sz="2100">
              <a:latin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31760" name="Text 29">
            <a:extLst>
              <a:ext uri="{FF2B5EF4-FFF2-40B4-BE49-F238E27FC236}">
                <a16:creationId xmlns="" xmlns:a16="http://schemas.microsoft.com/office/drawing/2014/main" id="{F32833DA-EF9A-4C09-9929-857E576A2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50" y="7539038"/>
            <a:ext cx="2190750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920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788"/>
              </a:lnSpc>
            </a:pPr>
            <a:r>
              <a:rPr lang="en-US" altLang="ru-RU" sz="2100" b="1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Температура нанесения</a:t>
            </a:r>
            <a:endParaRPr lang="en-US" altLang="ru-RU" sz="2100">
              <a:latin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31761" name="Text 30">
            <a:extLst>
              <a:ext uri="{FF2B5EF4-FFF2-40B4-BE49-F238E27FC236}">
                <a16:creationId xmlns="" xmlns:a16="http://schemas.microsoft.com/office/drawing/2014/main" id="{5A6EF5AB-ACC3-4679-BB36-6BDC110DE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50" y="8226425"/>
            <a:ext cx="34639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920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788"/>
              </a:lnSpc>
            </a:pPr>
            <a:r>
              <a:rPr lang="en-US" altLang="ru-RU" sz="2100" b="1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Эксплуатация поверхности</a:t>
            </a:r>
            <a:endParaRPr lang="en-US" altLang="ru-RU" sz="2100">
              <a:latin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31762" name="Text 31">
            <a:extLst>
              <a:ext uri="{FF2B5EF4-FFF2-40B4-BE49-F238E27FC236}">
                <a16:creationId xmlns="" xmlns:a16="http://schemas.microsoft.com/office/drawing/2014/main" id="{0B312B56-4DD0-4F5A-8899-FAEB6B223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50" y="9455150"/>
            <a:ext cx="2190750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920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788"/>
              </a:lnSpc>
            </a:pPr>
            <a:r>
              <a:rPr lang="en-US" altLang="ru-RU" sz="2100" b="1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Фасовка</a:t>
            </a:r>
            <a:endParaRPr lang="en-US" altLang="ru-RU" sz="2100">
              <a:latin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31763" name="Text 33">
            <a:extLst>
              <a:ext uri="{FF2B5EF4-FFF2-40B4-BE49-F238E27FC236}">
                <a16:creationId xmlns="" xmlns:a16="http://schemas.microsoft.com/office/drawing/2014/main" id="{06F6D0A7-15AA-4060-A69D-6BA7263C7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1600" y="3071813"/>
            <a:ext cx="7153275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920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788"/>
              </a:lnSpc>
            </a:pPr>
            <a:r>
              <a:rPr lang="en-US" altLang="ru-RU" sz="210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Глянцевая</a:t>
            </a:r>
            <a:endParaRPr lang="en-US" altLang="ru-RU" sz="2100">
              <a:latin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31764" name="Text 35">
            <a:extLst>
              <a:ext uri="{FF2B5EF4-FFF2-40B4-BE49-F238E27FC236}">
                <a16:creationId xmlns="" xmlns:a16="http://schemas.microsoft.com/office/drawing/2014/main" id="{55CD88E8-488A-44A5-88DA-9E51AB6A6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3516313"/>
            <a:ext cx="9439275" cy="55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920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788"/>
              </a:lnSpc>
            </a:pPr>
            <a:r>
              <a:rPr lang="en-US" altLang="ru-RU" sz="210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«От пыли» — 1,5 ч. </a:t>
            </a:r>
            <a:r>
              <a:rPr lang="ru-RU" altLang="ru-RU" sz="210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До ст.3 – не более 5 часов.</a:t>
            </a:r>
          </a:p>
          <a:p>
            <a:pPr eaLnBrk="1" hangingPunct="1">
              <a:lnSpc>
                <a:spcPts val="1788"/>
              </a:lnSpc>
            </a:pPr>
            <a:r>
              <a:rPr lang="ru-RU" altLang="ru-RU" sz="210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Каждый последующий слой наносить не ранее 10 часов от нанесения предыдущего слоя, для исключения дефекта покрытия "сморщивание". </a:t>
            </a:r>
            <a:endParaRPr lang="en-US" altLang="ru-RU" sz="2100">
              <a:latin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31765" name="Text 37">
            <a:extLst>
              <a:ext uri="{FF2B5EF4-FFF2-40B4-BE49-F238E27FC236}">
                <a16:creationId xmlns="" xmlns:a16="http://schemas.microsoft.com/office/drawing/2014/main" id="{BE8878AC-4991-4941-A97D-703D122B0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4362450"/>
            <a:ext cx="7153275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920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788"/>
              </a:lnSpc>
            </a:pPr>
            <a:r>
              <a:rPr lang="en-US" altLang="ru-RU" sz="210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Модифицированный алкид.</a:t>
            </a:r>
            <a:endParaRPr lang="en-US" altLang="ru-RU" sz="2100">
              <a:latin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31766" name="Text 39">
            <a:extLst>
              <a:ext uri="{FF2B5EF4-FFF2-40B4-BE49-F238E27FC236}">
                <a16:creationId xmlns="" xmlns:a16="http://schemas.microsoft.com/office/drawing/2014/main" id="{193CA374-EBDB-46E3-892B-972724E50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4713288"/>
            <a:ext cx="11696700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920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788"/>
              </a:lnSpc>
            </a:pPr>
            <a:r>
              <a:rPr lang="ru-RU" altLang="ru-RU" sz="210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При необходимости, разбавить ксилолом до 5% по объему при нанесении кистью или валиком </a:t>
            </a:r>
            <a:br>
              <a:rPr lang="ru-RU" altLang="ru-RU" sz="210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</a:br>
            <a:r>
              <a:rPr lang="ru-RU" altLang="ru-RU" sz="210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Для нанесении пневмораспылителем разбавить до 15% по объему. </a:t>
            </a:r>
            <a:br>
              <a:rPr lang="ru-RU" altLang="ru-RU" sz="210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</a:br>
            <a:r>
              <a:rPr lang="ru-RU" altLang="ru-RU" sz="210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При  безвоздушном распылении разбавление не требуется. </a:t>
            </a:r>
            <a:endParaRPr lang="en-US" altLang="ru-RU" sz="2100">
              <a:latin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31767" name="Text 40">
            <a:extLst>
              <a:ext uri="{FF2B5EF4-FFF2-40B4-BE49-F238E27FC236}">
                <a16:creationId xmlns="" xmlns:a16="http://schemas.microsoft.com/office/drawing/2014/main" id="{127DBDEF-A830-4EF1-A5DE-953839122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5700713"/>
            <a:ext cx="9858375" cy="92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920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788"/>
              </a:lnSpc>
            </a:pPr>
            <a:r>
              <a:rPr lang="en-US" altLang="ru-RU" sz="210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При однослойном покрытии в зависимости от цвета, основания и требуемой фактуры поверхности — 50–120 г/м².</a:t>
            </a:r>
            <a:r>
              <a:rPr lang="ru-RU" altLang="ru-RU" sz="210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 </a:t>
            </a:r>
            <a:r>
              <a:rPr lang="ru-RU" altLang="ru-RU" sz="2100" i="1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Рекомендуемая толщина однослойного сухого покрытия 30-40 мкм, двухслойного - 60-80 мкм.</a:t>
            </a:r>
            <a:endParaRPr lang="en-US" altLang="ru-RU" sz="2100" i="1">
              <a:latin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31768" name="Text 42">
            <a:extLst>
              <a:ext uri="{FF2B5EF4-FFF2-40B4-BE49-F238E27FC236}">
                <a16:creationId xmlns="" xmlns:a16="http://schemas.microsoft.com/office/drawing/2014/main" id="{899F18DF-1D92-44DD-85B3-011AF6F02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6600825"/>
            <a:ext cx="11953875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920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788"/>
              </a:lnSpc>
            </a:pPr>
            <a:r>
              <a:rPr lang="en-US" altLang="ru-RU" sz="210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Рекомендуется наносить в 2–3 слоя. Рекомендованная толщина одного слоя: 30–40 мкм сухой плёнки.   </a:t>
            </a:r>
            <a:endParaRPr lang="en-US" altLang="ru-RU" sz="2100">
              <a:latin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31769" name="Text 43">
            <a:extLst>
              <a:ext uri="{FF2B5EF4-FFF2-40B4-BE49-F238E27FC236}">
                <a16:creationId xmlns="" xmlns:a16="http://schemas.microsoft.com/office/drawing/2014/main" id="{0BBE8173-A449-477B-9820-9A3E2D669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7539038"/>
            <a:ext cx="7153275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920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788"/>
              </a:lnSpc>
            </a:pPr>
            <a:r>
              <a:rPr lang="en-US" altLang="ru-RU" sz="210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От +10°C до +30°C.</a:t>
            </a:r>
            <a:endParaRPr lang="en-US" altLang="ru-RU" sz="2100">
              <a:latin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31770" name="Text 45">
            <a:extLst>
              <a:ext uri="{FF2B5EF4-FFF2-40B4-BE49-F238E27FC236}">
                <a16:creationId xmlns="" xmlns:a16="http://schemas.microsoft.com/office/drawing/2014/main" id="{5C67DA7B-9EE9-4D08-A82D-BA6DA1880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7832725"/>
            <a:ext cx="12106275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920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788"/>
              </a:lnSpc>
            </a:pPr>
            <a:r>
              <a:rPr lang="en-US" altLang="ru-RU" sz="210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Через 48 ч после окраски можно применить только лёгкую очистку влажной мягкой тканью. </a:t>
            </a:r>
            <a:endParaRPr lang="en-US" altLang="ru-RU" sz="2100">
              <a:latin typeface="Arimo" panose="020B0604020202020204" pitchFamily="34" charset="0"/>
              <a:cs typeface="Arimo" panose="020B0604020202020204" pitchFamily="34" charset="0"/>
            </a:endParaRPr>
          </a:p>
          <a:p>
            <a:pPr eaLnBrk="1" hangingPunct="1">
              <a:lnSpc>
                <a:spcPts val="1788"/>
              </a:lnSpc>
            </a:pPr>
            <a:r>
              <a:rPr lang="en-US" altLang="ru-RU" sz="210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Через 7 дней после окраски готовое покрытие можно очищать моющими средствами (рН 6–8) с помощью мягкой ткани или губки. </a:t>
            </a:r>
            <a:endParaRPr lang="en-US" altLang="ru-RU" sz="2100">
              <a:latin typeface="Arimo" panose="020B0604020202020204" pitchFamily="34" charset="0"/>
              <a:cs typeface="Arimo" panose="020B0604020202020204" pitchFamily="34" charset="0"/>
            </a:endParaRPr>
          </a:p>
          <a:p>
            <a:pPr eaLnBrk="1" hangingPunct="1">
              <a:lnSpc>
                <a:spcPts val="1788"/>
              </a:lnSpc>
            </a:pPr>
            <a:r>
              <a:rPr lang="en-US" altLang="ru-RU" sz="210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Покрытие достигает своей окончательной твёрдости и стойкости в течение одного месяца после окраски (при 20°C окружающей среды). Максимальный промежуток времени между подготовкой поверхности и окраской — 16 часов.</a:t>
            </a:r>
            <a:endParaRPr lang="en-US" altLang="ru-RU" sz="2100">
              <a:latin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31771" name="Text 46">
            <a:extLst>
              <a:ext uri="{FF2B5EF4-FFF2-40B4-BE49-F238E27FC236}">
                <a16:creationId xmlns="" xmlns:a16="http://schemas.microsoft.com/office/drawing/2014/main" id="{E3E2F3B1-18BB-4013-AE2E-73ABFEB75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9455150"/>
            <a:ext cx="5067300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920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788"/>
              </a:lnSpc>
            </a:pPr>
            <a:r>
              <a:rPr lang="ru-RU" altLang="ru-RU" sz="2100" dirty="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0.5 / </a:t>
            </a:r>
            <a:r>
              <a:rPr lang="en-US" altLang="ru-RU" sz="2100" dirty="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0,75 / 2 /</a:t>
            </a:r>
            <a:r>
              <a:rPr lang="ru-RU" altLang="ru-RU" sz="2100" dirty="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 5 </a:t>
            </a:r>
            <a:r>
              <a:rPr lang="en-US" altLang="ru-RU" sz="2100" dirty="0" smtClean="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л</a:t>
            </a:r>
            <a:r>
              <a:rPr lang="en-US" altLang="ru-RU" sz="2100" dirty="0">
                <a:solidFill>
                  <a:srgbClr val="000000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.</a:t>
            </a:r>
            <a:endParaRPr lang="en-US" altLang="ru-RU" sz="2100" dirty="0">
              <a:latin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31772" name="object 32">
            <a:extLst>
              <a:ext uri="{FF2B5EF4-FFF2-40B4-BE49-F238E27FC236}">
                <a16:creationId xmlns="" xmlns:a16="http://schemas.microsoft.com/office/drawing/2014/main" id="{A599699B-1A4B-4EF7-AFAC-29062B017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" y="377825"/>
            <a:ext cx="1123315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0818" rIns="0" bIns="0">
            <a:spAutoFit/>
          </a:bodyPr>
          <a:lstStyle>
            <a:lvl1pPr marL="1920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788"/>
              </a:lnSpc>
              <a:spcBef>
                <a:spcPts val="313"/>
              </a:spcBef>
            </a:pPr>
            <a:r>
              <a:rPr lang="ru-RU" altLang="ru-RU" sz="3600" b="1">
                <a:solidFill>
                  <a:srgbClr val="7F7F7F"/>
                </a:solidFill>
                <a:latin typeface="Arimo" panose="020B0604020202020204" pitchFamily="34" charset="0"/>
                <a:cs typeface="Arimo" panose="020B0604020202020204" pitchFamily="34" charset="0"/>
              </a:rPr>
              <a:t>ТЕХНИЧЕСКИЕ ХАРАКТЕРИСТИКИ</a:t>
            </a:r>
          </a:p>
        </p:txBody>
      </p:sp>
      <p:graphicFrame>
        <p:nvGraphicFramePr>
          <p:cNvPr id="31773" name="Объект 65">
            <a:extLst>
              <a:ext uri="{FF2B5EF4-FFF2-40B4-BE49-F238E27FC236}">
                <a16:creationId xmlns="" xmlns:a16="http://schemas.microsoft.com/office/drawing/2014/main" id="{BD63F227-C504-4B5F-A656-A217D6192C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01763" y="390525"/>
          <a:ext cx="3827462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5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01763" y="390525"/>
                        <a:ext cx="3827462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" name="Line 1" descr="preencoded.png">
            <a:extLst>
              <a:ext uri="{FF2B5EF4-FFF2-40B4-BE49-F238E27FC236}">
                <a16:creationId xmlns="" xmlns:a16="http://schemas.microsoft.com/office/drawing/2014/main" id="{789375F2-3E2E-4BBF-B9E3-5321E2F4679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20488" t="-130527" r="33652" b="-273784"/>
          <a:stretch/>
        </p:blipFill>
        <p:spPr>
          <a:xfrm>
            <a:off x="9687589" y="557693"/>
            <a:ext cx="4097398" cy="14938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DD153BD6-571F-4D9F-9293-7B092B23DA3D}"/>
              </a:ext>
            </a:extLst>
          </p:cNvPr>
          <p:cNvSpPr/>
          <p:nvPr/>
        </p:nvSpPr>
        <p:spPr>
          <a:xfrm>
            <a:off x="1214438" y="1328738"/>
            <a:ext cx="14865350" cy="122237"/>
          </a:xfrm>
          <a:prstGeom prst="rect">
            <a:avLst/>
          </a:prstGeom>
          <a:solidFill>
            <a:srgbClr val="F183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2447</TotalTime>
  <Words>352</Words>
  <Application>Microsoft Office PowerPoint</Application>
  <PresentationFormat>Произвольный</PresentationFormat>
  <Paragraphs>40</Paragraphs>
  <Slides>2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9" baseType="lpstr">
      <vt:lpstr>Arial</vt:lpstr>
      <vt:lpstr>Calibri</vt:lpstr>
      <vt:lpstr>Arimo</vt:lpstr>
      <vt:lpstr>Roboto</vt:lpstr>
      <vt:lpstr>Calibri Light</vt:lpstr>
      <vt:lpstr>Office Theme</vt:lpstr>
      <vt:lpstr>CorelDRAW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167</cp:revision>
  <dcterms:created xsi:type="dcterms:W3CDTF">2026-04-13T22:25:45Z</dcterms:created>
  <dcterms:modified xsi:type="dcterms:W3CDTF">2026-08-04T10:41:16Z</dcterms:modified>
</cp:coreProperties>
</file>