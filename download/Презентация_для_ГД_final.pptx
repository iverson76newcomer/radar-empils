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67" r:id="rId2"/>
    <p:sldId id="256" r:id="rId3"/>
    <p:sldId id="261" r:id="rId4"/>
    <p:sldId id="259" r:id="rId5"/>
    <p:sldId id="269" r:id="rId6"/>
    <p:sldId id="257" r:id="rId7"/>
    <p:sldId id="264" r:id="rId8"/>
    <p:sldId id="268" r:id="rId9"/>
    <p:sldId id="258" r:id="rId10"/>
    <p:sldId id="260" r:id="rId11"/>
  </p:sldIdLst>
  <p:sldSz cx="9144000" cy="5143500" type="screen16x9"/>
  <p:notesSz cx="6797675" cy="9926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84439" autoAdjust="0"/>
  </p:normalViewPr>
  <p:slideViewPr>
    <p:cSldViewPr snapToGrid="0" snapToObjects="1">
      <p:cViewPr varScale="1">
        <p:scale>
          <a:sx n="126" d="100"/>
          <a:sy n="126" d="100"/>
        </p:scale>
        <p:origin x="-1110" y="-9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/>
          <a:lstStyle>
            <a:lvl1pPr algn="l">
              <a:defRPr sz="14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49919" y="0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/>
          <a:lstStyle>
            <a:lvl1pPr algn="r">
              <a:defRPr sz="1400"/>
            </a:lvl1pPr>
          </a:lstStyle>
          <a:p>
            <a:fld id="{D5FBEEA3-D4FA-4FB4-A72C-31DD37E08AF9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7031" tIns="53515" rIns="107031" bIns="53515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107031" tIns="53515" rIns="107031" bIns="53515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 anchor="b"/>
          <a:lstStyle>
            <a:lvl1pPr algn="l">
              <a:defRPr sz="14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49919" y="9428583"/>
            <a:ext cx="2945659" cy="496332"/>
          </a:xfrm>
          <a:prstGeom prst="rect">
            <a:avLst/>
          </a:prstGeom>
        </p:spPr>
        <p:txBody>
          <a:bodyPr vert="horz" lIns="107031" tIns="53515" rIns="107031" bIns="53515" rtlCol="0" anchor="b"/>
          <a:lstStyle>
            <a:lvl1pPr algn="r">
              <a:defRPr sz="14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400" b="1" dirty="0">
                <a:solidFill>
                  <a:srgbClr val="6B7280"/>
                </a:solidFill>
                <a:latin typeface="Arial"/>
              </a:rPr>
              <a:t>Рейтинг по бренду компании: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API, сентябрь 2026. Метод: брендовые запросы по компаниям (название + «краска» / «компания» / «производитель»). Для каждой компании взят максимальный показатель.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Эмпилс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= 2 966 запросов/мес.</a:t>
            </a:r>
          </a:p>
          <a:p>
            <a:pPr defTabSz="1070305">
              <a:defRPr/>
            </a:pPr>
            <a:r>
              <a:rPr lang="ru-RU" sz="1400" b="1" dirty="0">
                <a:solidFill>
                  <a:srgbClr val="6B7280"/>
                </a:solidFill>
                <a:latin typeface="Arial"/>
              </a:rPr>
              <a:t>Рейтинг по бренду </a:t>
            </a:r>
            <a:r>
              <a:rPr lang="en-US" sz="1400" b="1" dirty="0">
                <a:solidFill>
                  <a:srgbClr val="6B7280"/>
                </a:solidFill>
                <a:latin typeface="Arial"/>
              </a:rPr>
              <a:t>TITAN</a:t>
            </a:r>
            <a:r>
              <a:rPr lang="ru-RU" sz="1400" b="1" dirty="0">
                <a:solidFill>
                  <a:srgbClr val="6B7280"/>
                </a:solidFill>
                <a:latin typeface="Arial"/>
              </a:rPr>
              <a:t>: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Сумма 7 одинаковых запросов |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Yandex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</a:t>
            </a:r>
            <a:r>
              <a:rPr lang="ru-RU" sz="1400" i="1" dirty="0" err="1">
                <a:solidFill>
                  <a:srgbClr val="6B7280"/>
                </a:solidFill>
                <a:latin typeface="Arial"/>
              </a:rPr>
              <a:t>Wordstat</a:t>
            </a:r>
            <a:r>
              <a:rPr lang="ru-RU" sz="1400" i="1" dirty="0">
                <a:solidFill>
                  <a:srgbClr val="6B7280"/>
                </a:solidFill>
                <a:latin typeface="Arial"/>
              </a:rPr>
              <a:t> API, сентябрь 2026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5"/>
          <p:cNvSpPr/>
          <p:nvPr/>
        </p:nvSpPr>
        <p:spPr>
          <a:xfrm>
            <a:off x="280800" y="1219328"/>
            <a:ext cx="79200" cy="23004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1600" y="1391966"/>
            <a:ext cx="7498799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dirty="0" err="1">
                <a:latin typeface="Inter"/>
              </a:rPr>
              <a:t>Дорога</a:t>
            </a:r>
            <a:r>
              <a:rPr sz="4400" b="1" dirty="0">
                <a:latin typeface="Inter"/>
              </a:rPr>
              <a:t> к </a:t>
            </a:r>
            <a:r>
              <a:rPr sz="4400" b="1" dirty="0" err="1">
                <a:latin typeface="Inter"/>
              </a:rPr>
              <a:t>лидерству</a:t>
            </a:r>
            <a:endParaRPr sz="4400" b="1" dirty="0">
              <a:latin typeface="Inter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61600" y="2309966"/>
            <a:ext cx="7498799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0" dirty="0" smtClean="0">
                <a:latin typeface="Inter"/>
              </a:rPr>
              <a:t>Q3-Q4</a:t>
            </a:r>
          </a:p>
          <a:p>
            <a:pPr algn="l"/>
            <a:r>
              <a:rPr sz="1800" b="0" dirty="0" err="1" smtClean="0">
                <a:latin typeface="Inter"/>
              </a:rPr>
              <a:t>Про</a:t>
            </a:r>
            <a:r>
              <a:rPr lang="ru-RU" sz="1800" b="0" dirty="0" err="1" smtClean="0">
                <a:latin typeface="Inter"/>
              </a:rPr>
              <a:t>екты</a:t>
            </a:r>
            <a:r>
              <a:rPr lang="ru-RU" sz="1800" b="0" dirty="0" smtClean="0">
                <a:latin typeface="Inter"/>
              </a:rPr>
              <a:t> развития</a:t>
            </a:r>
            <a:endParaRPr sz="1800" b="0" dirty="0">
              <a:latin typeface="Inter"/>
            </a:endParaRPr>
          </a:p>
        </p:txBody>
      </p:sp>
      <p:sp>
        <p:nvSpPr>
          <p:cNvPr id="88" name="Rectangle 9"/>
          <p:cNvSpPr/>
          <p:nvPr/>
        </p:nvSpPr>
        <p:spPr>
          <a:xfrm>
            <a:off x="0" y="4500000"/>
            <a:ext cx="9144000" cy="14400"/>
          </a:xfrm>
          <a:prstGeom prst="rect">
            <a:avLst/>
          </a:prstGeom>
          <a:solidFill>
            <a:srgbClr val="44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01600" y="4615362"/>
            <a:ext cx="450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8A95A3"/>
                </a:solidFill>
                <a:latin typeface="Inter"/>
              </a:rPr>
              <a:t>ЗАО «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Эмпилс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» </a:t>
            </a:r>
            <a:endParaRPr lang="en-US" sz="900" b="0" dirty="0" smtClean="0">
              <a:solidFill>
                <a:srgbClr val="8A95A3"/>
              </a:solidFill>
              <a:latin typeface="Inter"/>
            </a:endParaRPr>
          </a:p>
          <a:p>
            <a:pPr algn="l"/>
            <a:r>
              <a:rPr sz="900" b="0" dirty="0" err="1" smtClean="0">
                <a:solidFill>
                  <a:srgbClr val="8A95A3"/>
                </a:solidFill>
                <a:latin typeface="Inter"/>
              </a:rPr>
              <a:t>Ростов-на-Дону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22557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868831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1851318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1736147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236558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  <p:txBody>
          <a:bodyPr/>
          <a:p/>
        </p:txBody>
      </p:sp>
      <p:sp>
        <p:nvSpPr>
          <p:cNvPr id="139" name="Text 38"/>
          <p:cNvSpPr/>
          <p:nvPr/>
        </p:nvSpPr>
        <p:spPr>
          <a:xfrm>
            <a:off x="1980940" y="13350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1384100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16080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1745135"/>
            <a:ext cx="1642990" cy="590079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Видеоролики</a:t>
            </a:r>
            <a:r>
              <a:rPr lang="ru-RU" sz="700" dirty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106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ТП ОП</a:t>
            </a:r>
            <a:r>
              <a:rPr lang="en-US" sz="700" dirty="0" smtClean="0">
                <a:solidFill>
                  <a:srgbClr val="5A6776"/>
                </a:solidFill>
                <a:latin typeface="+mj-lt"/>
                <a:ea typeface="Carlito" pitchFamily="34" charset="-122"/>
                <a:cs typeface="Carlito" pitchFamily="34" charset="-120"/>
              </a:rPr>
              <a:t>, </a:t>
            </a:r>
            <a:endParaRPr lang="ru-RU" sz="700" dirty="0" smtClean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 Запуск второго углубленного модуля 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обучения</a:t>
            </a:r>
          </a:p>
          <a:p>
            <a:pPr>
              <a:lnSpc>
                <a:spcPts val="900"/>
              </a:lnSpc>
            </a:pPr>
            <a:endParaRPr lang="en-US" sz="700" dirty="0">
              <a:solidFill>
                <a:srgbClr val="5A6776"/>
              </a:solidFill>
              <a:latin typeface="+mj-lt"/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127437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138578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16894" y="1944865"/>
            <a:ext cx="1684474" cy="1388735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06191" y="1993951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06191" y="2205216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61334" y="2332758"/>
            <a:ext cx="1626351" cy="957642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Запуск видеоканала 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идео) </a:t>
            </a:r>
            <a:endParaRPr lang="en-US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6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и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06191" y="2744658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06191" y="2874473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1347714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1396800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1620765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1757836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257793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25969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261164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1347714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1396800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1620765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1778456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2092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45924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60249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06883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31887" y="4911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212" y="5090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492846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17849" y="4911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32174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478808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03812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18137" y="5090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64771" y="4661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489774" y="4911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1364395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1382092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1382621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1400318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07767" y="1976980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01117" y="1994677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1391627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1387330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1377095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1399128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22418" y="654341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11715" y="703427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11715" y="889292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6858" y="1013434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Специализированные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стойки для размещения в РТТ</a:t>
            </a: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Трейд – маркетинговая поддержка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11715" y="1425334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11715" y="1555149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13291" y="686456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6641" y="704153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98" y="2668158"/>
            <a:ext cx="3197920" cy="235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7495" y="2673449"/>
            <a:ext cx="2950907" cy="235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Тройная стрелка влево/вправо/вверх 5"/>
          <p:cNvSpPr/>
          <p:nvPr/>
        </p:nvSpPr>
        <p:spPr>
          <a:xfrm>
            <a:off x="3701745" y="3458850"/>
            <a:ext cx="1756575" cy="676800"/>
          </a:xfrm>
          <a:prstGeom prst="leftRightUp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547591" y="4332700"/>
            <a:ext cx="20405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Влияние на новых дилеров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15994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4" name="Text 34"/>
          <p:cNvSpPr/>
          <p:nvPr/>
        </p:nvSpPr>
        <p:spPr>
          <a:xfrm>
            <a:off x="276901" y="870000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55479" y="881395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41217" y="874589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57717" y="1732201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>
              <a:latin typeface="+mj-lt"/>
            </a:endParaRPr>
          </a:p>
        </p:txBody>
      </p:sp>
      <p:sp>
        <p:nvSpPr>
          <p:cNvPr id="9" name="Text 39"/>
          <p:cNvSpPr/>
          <p:nvPr/>
        </p:nvSpPr>
        <p:spPr>
          <a:xfrm>
            <a:off x="257717" y="190253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04357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ru-RU" sz="900" b="1" dirty="0" smtClean="0">
                <a:latin typeface="+mj-lt"/>
                <a:ea typeface="Carlito" pitchFamily="34" charset="-122"/>
                <a:cs typeface="Carlito" pitchFamily="34" charset="-120"/>
              </a:rPr>
              <a:t>6 экранов</a:t>
            </a:r>
            <a:endParaRPr lang="en-US" sz="900" b="1" dirty="0">
              <a:latin typeface="+mj-lt"/>
            </a:endParaRPr>
          </a:p>
        </p:txBody>
      </p:sp>
      <p:sp>
        <p:nvSpPr>
          <p:cNvPr id="12" name="Text 42"/>
          <p:cNvSpPr/>
          <p:nvPr/>
        </p:nvSpPr>
        <p:spPr>
          <a:xfrm>
            <a:off x="257717" y="207926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81540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>
              <a:latin typeface="+mj-lt"/>
            </a:endParaRPr>
          </a:p>
        </p:txBody>
      </p:sp>
      <p:sp>
        <p:nvSpPr>
          <p:cNvPr id="14" name="Text 44"/>
          <p:cNvSpPr/>
          <p:nvPr/>
        </p:nvSpPr>
        <p:spPr>
          <a:xfrm>
            <a:off x="257717" y="225599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59617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>
              <a:latin typeface="+mj-lt"/>
            </a:endParaRPr>
          </a:p>
        </p:txBody>
      </p:sp>
      <p:sp>
        <p:nvSpPr>
          <p:cNvPr id="16" name="Text 46"/>
          <p:cNvSpPr/>
          <p:nvPr/>
        </p:nvSpPr>
        <p:spPr>
          <a:xfrm>
            <a:off x="257717" y="241918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27852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+mj-lt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>
              <a:latin typeface="+mj-lt"/>
            </a:endParaRPr>
          </a:p>
        </p:txBody>
      </p:sp>
      <p:sp>
        <p:nvSpPr>
          <p:cNvPr id="18" name="Text 48"/>
          <p:cNvSpPr/>
          <p:nvPr/>
        </p:nvSpPr>
        <p:spPr>
          <a:xfrm>
            <a:off x="257717" y="260230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61097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20" name="Text 50"/>
          <p:cNvSpPr/>
          <p:nvPr/>
        </p:nvSpPr>
        <p:spPr>
          <a:xfrm>
            <a:off x="257717" y="279181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80852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>
              <a:latin typeface="+mj-lt"/>
            </a:endParaRPr>
          </a:p>
        </p:txBody>
      </p:sp>
      <p:sp>
        <p:nvSpPr>
          <p:cNvPr id="23" name="Text 53"/>
          <p:cNvSpPr/>
          <p:nvPr/>
        </p:nvSpPr>
        <p:spPr>
          <a:xfrm>
            <a:off x="257717" y="297494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411879" y="2970823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+mj-lt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>
              <a:latin typeface="+mj-lt"/>
            </a:endParaRPr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9" name="Text 54"/>
          <p:cNvSpPr/>
          <p:nvPr/>
        </p:nvSpPr>
        <p:spPr>
          <a:xfrm>
            <a:off x="290423" y="1186514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9011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РК на экранах </a:t>
            </a:r>
            <a:r>
              <a:rPr lang="en-US" sz="900" dirty="0" err="1">
                <a:latin typeface="+mj-lt"/>
                <a:ea typeface="Carlito" pitchFamily="34" charset="-122"/>
                <a:cs typeface="Carlito" pitchFamily="34" charset="-120"/>
              </a:rPr>
              <a:t>Ростова</a:t>
            </a:r>
            <a:r>
              <a:rPr lang="en-US" sz="900" dirty="0" smtClean="0">
                <a:latin typeface="+mj-lt"/>
                <a:ea typeface="Carlito" pitchFamily="34" charset="-122"/>
                <a:cs typeface="Carlito" pitchFamily="34" charset="-120"/>
              </a:rPr>
              <a:t>:</a:t>
            </a:r>
            <a:r>
              <a:rPr lang="ru-RU" sz="900" dirty="0" smtClean="0">
                <a:latin typeface="+mj-lt"/>
                <a:ea typeface="Carlito" pitchFamily="34" charset="-122"/>
                <a:cs typeface="Carlito" pitchFamily="34" charset="-120"/>
              </a:rPr>
              <a:t> 2 экрана</a:t>
            </a:r>
            <a:endParaRPr lang="en-US" sz="900" dirty="0">
              <a:latin typeface="+mj-lt"/>
            </a:endParaRPr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+mj-lt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+mj-lt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>
              <a:latin typeface="+mj-lt"/>
            </a:endParaRPr>
          </a:p>
        </p:txBody>
      </p:sp>
      <p:sp>
        <p:nvSpPr>
          <p:cNvPr id="35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8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39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6"/>
          <p:cNvSpPr/>
          <p:nvPr/>
        </p:nvSpPr>
        <p:spPr>
          <a:xfrm>
            <a:off x="7676511" y="94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94742" y="163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86341" y="182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1"/>
          <p:cNvSpPr/>
          <p:nvPr/>
        </p:nvSpPr>
        <p:spPr>
          <a:xfrm>
            <a:off x="233763" y="5299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8960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25" name="Text 13"/>
          <p:cNvSpPr/>
          <p:nvPr/>
        </p:nvSpPr>
        <p:spPr>
          <a:xfrm>
            <a:off x="385762" y="7085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7013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6960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0106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9964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2672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2656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ru-RU" sz="800" b="1" dirty="0" smtClean="0">
                <a:latin typeface="Courier New" pitchFamily="34" charset="0"/>
                <a:ea typeface="Carlito" pitchFamily="34" charset="-122"/>
                <a:cs typeface="Courier New" pitchFamily="34" charset="-120"/>
              </a:rPr>
              <a:t>106 </a:t>
            </a:r>
            <a:r>
              <a:rPr lang="en-US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ТП</a:t>
            </a:r>
            <a:r>
              <a:rPr lang="ru-RU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ОП</a:t>
            </a:r>
            <a:endParaRPr lang="en-US" sz="800" b="1" dirty="0"/>
          </a:p>
        </p:txBody>
      </p:sp>
      <p:sp>
        <p:nvSpPr>
          <p:cNvPr id="32" name="Text 24"/>
          <p:cNvSpPr/>
          <p:nvPr/>
        </p:nvSpPr>
        <p:spPr>
          <a:xfrm>
            <a:off x="385760" y="14502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4359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7337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7194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0065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  <p:txBody>
          <a:bodyPr/>
          <a:p/>
        </p:txBody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  <p:txBody>
          <a:bodyPr/>
          <a:p/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2717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БРОЗЭКС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Рыгалов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БРОЗЭКС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rgbClr val="00B050"/>
                </a:solidFill>
                <a:effectLst/>
                <a:latin typeface="Arial" charset="0"/>
                <a:cs typeface="Arial" charset="0"/>
              </a:rPr>
              <a:t>Рыгалов</a:t>
            </a: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  <p:sp>
        <p:nvSpPr>
          <p:cNvPr id="38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9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kern="0" spc="56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АНАЛИТИКА</a:t>
            </a:r>
            <a:endParaRPr lang="en-US" sz="1200" dirty="0"/>
          </a:p>
        </p:txBody>
      </p:sp>
      <p:sp>
        <p:nvSpPr>
          <p:cNvPr id="41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873716"/>
              </p:ext>
            </p:extLst>
          </p:nvPr>
        </p:nvGraphicFramePr>
        <p:xfrm>
          <a:off x="3277310" y="2504240"/>
          <a:ext cx="5683541" cy="24707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8723"/>
                <a:gridCol w="2242030"/>
                <a:gridCol w="594138"/>
                <a:gridCol w="829550"/>
                <a:gridCol w="829550"/>
                <a:gridCol w="829550"/>
              </a:tblGrid>
              <a:tr h="193015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№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Магазин (адрес)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SKU TITAN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 smtClean="0">
                          <a:effectLst/>
                        </a:rPr>
                        <a:t>Средние продажи в месяц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Остаток, шт.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u="none" strike="noStrike" dirty="0">
                          <a:effectLst/>
                        </a:rPr>
                        <a:t>Продано, шт.</a:t>
                      </a:r>
                      <a:endParaRPr lang="ru-RU" sz="11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 dirty="0" smtClean="0">
                          <a:effectLst/>
                        </a:rPr>
                        <a:t>Аксай, </a:t>
                      </a:r>
                      <a:r>
                        <a:rPr lang="ru-RU" sz="1000" u="none" strike="noStrike" dirty="0" err="1" smtClean="0">
                          <a:effectLst/>
                        </a:rPr>
                        <a:t>Вартанова</a:t>
                      </a:r>
                      <a:r>
                        <a:rPr lang="ru-RU" sz="1000" u="none" strike="noStrike" dirty="0" smtClean="0">
                          <a:effectLst/>
                        </a:rPr>
                        <a:t> </a:t>
                      </a:r>
                      <a:r>
                        <a:rPr lang="ru-RU" sz="1000" u="none" strike="noStrike" dirty="0">
                          <a:effectLst/>
                        </a:rPr>
                        <a:t>11</a:t>
                      </a:r>
                      <a:endParaRPr lang="ru-RU" sz="1000" b="1" i="0" u="none" strike="noStrike" dirty="0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 smtClean="0">
                          <a:effectLst/>
                        </a:rPr>
                        <a:t>16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u="none" strike="noStrike" dirty="0">
                          <a:solidFill>
                            <a:srgbClr val="00B050"/>
                          </a:solidFill>
                          <a:effectLst/>
                        </a:rPr>
                        <a:t>146</a:t>
                      </a:r>
                      <a:endParaRPr lang="ru-RU" sz="1100" b="1" i="0" u="none" strike="noStrike" dirty="0">
                        <a:solidFill>
                          <a:srgbClr val="00B05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 dirty="0" smtClean="0">
                          <a:effectLst/>
                        </a:rPr>
                        <a:t>Батайск, </a:t>
                      </a:r>
                      <a:r>
                        <a:rPr lang="ru-RU" sz="1000" u="none" strike="noStrike" dirty="0">
                          <a:effectLst/>
                        </a:rPr>
                        <a:t>Ленина 168 а</a:t>
                      </a:r>
                      <a:endParaRPr lang="ru-RU" sz="1000" b="1" i="0" u="none" strike="noStrike" dirty="0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 smtClean="0">
                          <a:effectLst/>
                        </a:rPr>
                        <a:t>8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32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77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3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М.Горького 285Е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72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Королева 30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56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5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40 лет Победы 270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45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Малиновского 48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3,5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24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32</a:t>
                      </a:r>
                      <a:endParaRPr lang="ru-RU" sz="1000" b="1" i="0" u="none" strike="noStrike" dirty="0">
                        <a:solidFill>
                          <a:srgbClr val="C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Портовая 532 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21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40 Лет Победы 264/110а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9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Портовая 70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13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17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Базарная 11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10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12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16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75990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11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u="none" strike="noStrike">
                          <a:effectLst/>
                        </a:rPr>
                        <a:t>Таганрогская, 175 Ваш Дом</a:t>
                      </a:r>
                      <a:endParaRPr lang="ru-RU" sz="1000" b="1" i="0" u="none" strike="noStrike">
                        <a:solidFill>
                          <a:srgbClr val="1E3A5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8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ru-RU" sz="1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</a:t>
                      </a:r>
                      <a:endParaRPr lang="ru-RU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0</a:t>
                      </a:r>
                      <a:endParaRPr lang="ru-RU" sz="1000" b="0" i="0" u="none" strike="noStrike" dirty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13</a:t>
                      </a:r>
                      <a:endParaRPr lang="ru-RU" sz="10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  <a:tr h="121464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 </a:t>
                      </a:r>
                      <a:endParaRPr lang="ru-RU" sz="10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000" b="1" u="none" strike="noStrike" dirty="0">
                          <a:effectLst/>
                        </a:rPr>
                        <a:t>ИТОГО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 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>
                          <a:effectLst/>
                        </a:rPr>
                        <a:t>174</a:t>
                      </a:r>
                      <a:endParaRPr lang="ru-RU" sz="10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000" u="none" strike="noStrike" dirty="0">
                          <a:effectLst/>
                        </a:rPr>
                        <a:t>514</a:t>
                      </a:r>
                      <a:endParaRPr lang="ru-RU" sz="1000" b="1" i="0" u="none" strike="noStrike" dirty="0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31151" y="2258019"/>
            <a:ext cx="28174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1" dirty="0" smtClean="0">
                <a:solidFill>
                  <a:srgbClr val="00B050"/>
                </a:solidFill>
                <a:latin typeface="Arial" charset="0"/>
                <a:cs typeface="Arial" charset="0"/>
              </a:rPr>
              <a:t>Региональная сеть Ваш </a:t>
            </a:r>
            <a:r>
              <a:rPr lang="ru-RU" sz="1000" b="1" dirty="0">
                <a:solidFill>
                  <a:srgbClr val="00B050"/>
                </a:solidFill>
                <a:latin typeface="Arial" charset="0"/>
                <a:cs typeface="Arial" charset="0"/>
              </a:rPr>
              <a:t>дом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4703" y="159902"/>
            <a:ext cx="2504174" cy="48563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01"/>
          <a:stretch/>
        </p:blipFill>
        <p:spPr bwMode="auto">
          <a:xfrm>
            <a:off x="133375" y="3326400"/>
            <a:ext cx="5714830" cy="1668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ounded Rectangle 35"/>
          <p:cNvSpPr/>
          <p:nvPr/>
        </p:nvSpPr>
        <p:spPr>
          <a:xfrm>
            <a:off x="89950" y="519000"/>
            <a:ext cx="5526050" cy="252592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39"/>
          <p:cNvSpPr/>
          <p:nvPr/>
        </p:nvSpPr>
        <p:spPr>
          <a:xfrm>
            <a:off x="233950" y="605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40"/>
          <p:cNvSpPr/>
          <p:nvPr/>
        </p:nvSpPr>
        <p:spPr>
          <a:xfrm>
            <a:off x="233949" y="605400"/>
            <a:ext cx="45719" cy="558000"/>
          </a:xfrm>
          <a:prstGeom prst="rect">
            <a:avLst/>
          </a:prstGeom>
          <a:solidFill>
            <a:srgbClr val="7B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41"/>
          <p:cNvSpPr/>
          <p:nvPr/>
        </p:nvSpPr>
        <p:spPr>
          <a:xfrm>
            <a:off x="323949" y="713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3949" y="767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7B6FA8"/>
                </a:solidFill>
                <a:latin typeface="Roboto Mon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149" y="695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 dirty="0">
                <a:solidFill>
                  <a:srgbClr val="2F3A48"/>
                </a:solidFill>
                <a:latin typeface="Inter"/>
              </a:rPr>
              <a:t>ПЕРВОЕ КАСАНИЕ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149" y="857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#1: знакомство с брендом Эмпилс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49" y="983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7B6FA8"/>
                </a:solidFill>
                <a:latin typeface="Roboto Mono"/>
              </a:rPr>
              <a:t>День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150" y="749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1200" b="1" dirty="0" smtClean="0">
                <a:solidFill>
                  <a:srgbClr val="7B6FA8"/>
                </a:solidFill>
                <a:latin typeface="Roboto Mono"/>
              </a:rPr>
              <a:t>5</a:t>
            </a:r>
            <a:r>
              <a:rPr sz="1200" b="1" dirty="0" smtClean="0">
                <a:solidFill>
                  <a:srgbClr val="7B6FA8"/>
                </a:solidFill>
                <a:latin typeface="Roboto Mono"/>
              </a:rPr>
              <a:t>%</a:t>
            </a:r>
            <a:endParaRPr sz="1200" b="1" dirty="0">
              <a:solidFill>
                <a:srgbClr val="7B6FA8"/>
              </a:solidFill>
              <a:latin typeface="Roboto Mon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89150" y="911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dirty="0" err="1">
                <a:solidFill>
                  <a:srgbClr val="8A95A3"/>
                </a:solidFill>
                <a:latin typeface="Inter"/>
              </a:rPr>
              <a:t>узнаваемость</a:t>
            </a:r>
            <a:endParaRPr sz="7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48"/>
          <p:cNvSpPr/>
          <p:nvPr/>
        </p:nvSpPr>
        <p:spPr>
          <a:xfrm>
            <a:off x="233950" y="1199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49"/>
          <p:cNvSpPr/>
          <p:nvPr/>
        </p:nvSpPr>
        <p:spPr>
          <a:xfrm>
            <a:off x="233949" y="1199400"/>
            <a:ext cx="45719" cy="558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50"/>
          <p:cNvSpPr/>
          <p:nvPr/>
        </p:nvSpPr>
        <p:spPr>
          <a:xfrm>
            <a:off x="323949" y="1307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B8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3949" y="1361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6B8FA8"/>
                </a:solidFill>
                <a:latin typeface="Roboto Mon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149" y="1289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ИНФОРМАЦИОННОЕ ПРИСУТСТВИЕ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149" y="1451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#2-3: каталог, кейсы, преимущества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149" y="1577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6B8FA8"/>
                </a:solidFill>
                <a:latin typeface="Roboto Mono"/>
              </a:rPr>
              <a:t>Месяц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150" y="1343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6B8FA8"/>
                </a:solidFill>
                <a:latin typeface="Roboto Mono"/>
              </a:rPr>
              <a:t>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150" y="1505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26" name="Rounded Rectangle 57"/>
          <p:cNvSpPr/>
          <p:nvPr/>
        </p:nvSpPr>
        <p:spPr>
          <a:xfrm>
            <a:off x="233950" y="1793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58"/>
          <p:cNvSpPr/>
          <p:nvPr/>
        </p:nvSpPr>
        <p:spPr>
          <a:xfrm>
            <a:off x="233949" y="1793400"/>
            <a:ext cx="45719" cy="558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59"/>
          <p:cNvSpPr/>
          <p:nvPr/>
        </p:nvSpPr>
        <p:spPr>
          <a:xfrm>
            <a:off x="323949" y="1901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3949" y="1955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149" y="1883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spc="50">
                <a:solidFill>
                  <a:srgbClr val="2F3A48"/>
                </a:solidFill>
                <a:latin typeface="Inter"/>
              </a:rPr>
              <a:t>УЗНАВАЕМОСТЬ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1149" y="2045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#4-6: отраслевые новости, продукт года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149" y="2171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C9A77C"/>
                </a:solidFill>
                <a:latin typeface="Roboto Mono"/>
              </a:rPr>
              <a:t>Месяц 2-3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150" y="1937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C9A77C"/>
                </a:solidFill>
                <a:latin typeface="Roboto Mono"/>
              </a:rPr>
              <a:t>35%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150" y="2099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35" name="Rounded Rectangle 66"/>
          <p:cNvSpPr/>
          <p:nvPr/>
        </p:nvSpPr>
        <p:spPr>
          <a:xfrm>
            <a:off x="233950" y="2387400"/>
            <a:ext cx="5274050" cy="558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67"/>
          <p:cNvSpPr/>
          <p:nvPr/>
        </p:nvSpPr>
        <p:spPr>
          <a:xfrm>
            <a:off x="233949" y="2387400"/>
            <a:ext cx="45719" cy="558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68"/>
          <p:cNvSpPr/>
          <p:nvPr/>
        </p:nvSpPr>
        <p:spPr>
          <a:xfrm>
            <a:off x="323949" y="2495400"/>
            <a:ext cx="396235" cy="32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3949" y="2549400"/>
            <a:ext cx="396235" cy="21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4A574"/>
                </a:solidFill>
                <a:latin typeface="Roboto Mono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1149" y="2477400"/>
            <a:ext cx="330196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000" b="1" spc="50" dirty="0" smtClean="0">
                <a:solidFill>
                  <a:srgbClr val="2F3A48"/>
                </a:solidFill>
                <a:latin typeface="Inter"/>
              </a:rPr>
              <a:t>ПЕРВИЧНОЕ </a:t>
            </a:r>
            <a:r>
              <a:rPr sz="1000" b="1" spc="50" dirty="0" smtClean="0">
                <a:solidFill>
                  <a:srgbClr val="2F3A48"/>
                </a:solidFill>
                <a:latin typeface="Inter"/>
              </a:rPr>
              <a:t>ДОВЕРИЕ</a:t>
            </a:r>
            <a:endParaRPr sz="1000" b="1" spc="5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1149" y="2639399"/>
            <a:ext cx="3301961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Email #7-9: отзывы, рейтинги, сертификаты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149" y="2765400"/>
            <a:ext cx="330196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D4A574"/>
                </a:solidFill>
                <a:latin typeface="Roboto Mono"/>
              </a:rPr>
              <a:t>Месяц 4-5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9150" y="2531400"/>
            <a:ext cx="74844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1200" b="1" dirty="0" smtClean="0">
                <a:solidFill>
                  <a:srgbClr val="D4A574"/>
                </a:solidFill>
                <a:latin typeface="Roboto Mono"/>
              </a:rPr>
              <a:t>5</a:t>
            </a:r>
            <a:r>
              <a:rPr sz="1200" b="1" dirty="0" smtClean="0">
                <a:solidFill>
                  <a:srgbClr val="D4A574"/>
                </a:solidFill>
                <a:latin typeface="Roboto Mono"/>
              </a:rPr>
              <a:t>0</a:t>
            </a:r>
            <a:r>
              <a:rPr sz="1200" b="1" dirty="0">
                <a:solidFill>
                  <a:srgbClr val="D4A574"/>
                </a:solidFill>
                <a:latin typeface="Roboto Mono"/>
              </a:rPr>
              <a:t>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150" y="2693400"/>
            <a:ext cx="748444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>
                <a:solidFill>
                  <a:srgbClr val="8A95A3"/>
                </a:solidFill>
                <a:latin typeface="Inter"/>
              </a:rPr>
              <a:t>узнаваемость</a:t>
            </a:r>
          </a:p>
        </p:txBody>
      </p:sp>
      <p:sp>
        <p:nvSpPr>
          <p:cNvPr id="44" name="Text 5"/>
          <p:cNvSpPr/>
          <p:nvPr/>
        </p:nvSpPr>
        <p:spPr>
          <a:xfrm>
            <a:off x="187340" y="3080925"/>
            <a:ext cx="3376660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ru-RU" sz="1200" b="1" dirty="0" smtClean="0"/>
              <a:t>Пример статистики рассылки по региону «Центр» </a:t>
            </a:r>
            <a:endParaRPr lang="en-US" sz="1200" b="1" dirty="0"/>
          </a:p>
        </p:txBody>
      </p:sp>
      <p:sp>
        <p:nvSpPr>
          <p:cNvPr id="45" name="Rectangle 2"/>
          <p:cNvSpPr/>
          <p:nvPr/>
        </p:nvSpPr>
        <p:spPr>
          <a:xfrm>
            <a:off x="2571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807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029" name="TextBox 1028"/>
          <p:cNvSpPr txBox="1"/>
          <p:nvPr/>
        </p:nvSpPr>
        <p:spPr>
          <a:xfrm>
            <a:off x="180000" y="4446000"/>
            <a:ext cx="576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200">
                <a:solidFill>
                  <a:srgbClr val="C9A77C"/>
                </a:solidFill>
                <a:latin typeface="Inter"/>
              </a:rPr>
              <a:t>НОВЫЕ РЕГИОНЫ (потенциальные партнёры)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180000" y="4590000"/>
            <a:ext cx="288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D60A"/>
                </a:solidFill>
                <a:latin typeface="Roboto Mono"/>
              </a:rPr>
              <a:t>06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503999" y="4590000"/>
            <a:ext cx="162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Московская обл.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2160000" y="4590000"/>
            <a:ext cx="378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ООО Вертикаль, ООО Стройтерминал центр красок</a:t>
            </a:r>
          </a:p>
        </p:txBody>
      </p:sp>
      <p:sp>
        <p:nvSpPr>
          <p:cNvPr id="1033" name="Rectangle 1032"/>
          <p:cNvSpPr/>
          <p:nvPr/>
        </p:nvSpPr>
        <p:spPr>
          <a:xfrm>
            <a:off x="180000" y="4744800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180000" y="4752000"/>
            <a:ext cx="288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D60A"/>
                </a:solidFill>
                <a:latin typeface="Roboto Mono"/>
              </a:rPr>
              <a:t>07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503999" y="4752000"/>
            <a:ext cx="162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Воронежская обл.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2160000" y="4752000"/>
            <a:ext cx="378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ООО Вертикаль</a:t>
            </a:r>
          </a:p>
        </p:txBody>
      </p:sp>
      <p:sp>
        <p:nvSpPr>
          <p:cNvPr id="1037" name="Rectangle 1036"/>
          <p:cNvSpPr/>
          <p:nvPr/>
        </p:nvSpPr>
        <p:spPr>
          <a:xfrm>
            <a:off x="180000" y="4906800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180000" y="4914000"/>
            <a:ext cx="288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D60A"/>
                </a:solidFill>
                <a:latin typeface="Roboto Mono"/>
              </a:rPr>
              <a:t>08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503999" y="4914000"/>
            <a:ext cx="162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Липецкая обл.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2160000" y="4914000"/>
            <a:ext cx="378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ООО Стройбаза-спектр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80000" y="5068800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56688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3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7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0000" y="4446000"/>
            <a:ext cx="5760000" cy="12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200">
                <a:solidFill>
                  <a:srgbClr val="C9A77C"/>
                </a:solidFill>
                <a:latin typeface="Inter"/>
              </a:rPr>
              <a:t>НОВЫЕ РЕГИОНЫ (потенциальные партнёры)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000" y="4590000"/>
            <a:ext cx="288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D60A"/>
                </a:solidFill>
                <a:latin typeface="Roboto Mono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3999" y="4590000"/>
            <a:ext cx="162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Московская обл.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60000" y="4590000"/>
            <a:ext cx="378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ООО Вертикаль, ООО Стройтерминал центр красок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0000" y="4744800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0000" y="4752000"/>
            <a:ext cx="288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D60A"/>
                </a:solidFill>
                <a:latin typeface="Roboto Mono"/>
              </a:rPr>
              <a:t>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3999" y="4752000"/>
            <a:ext cx="162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Воронежская обл.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60000" y="4752000"/>
            <a:ext cx="378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ООО Вертикаль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0000" y="4906800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0000" y="4914000"/>
            <a:ext cx="288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D60A"/>
                </a:solidFill>
                <a:latin typeface="Roboto Mono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3999" y="4914000"/>
            <a:ext cx="162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Липецкая обл.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0000" y="4914000"/>
            <a:ext cx="3780000" cy="1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ООО Стройбаза-спектр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0000" y="5068800"/>
            <a:ext cx="5760000" cy="5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588998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7200" y="900000"/>
            <a:ext cx="6642000" cy="3689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1599" y="1220431"/>
            <a:ext cx="640727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599" y="1451265"/>
            <a:ext cx="6407279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8A95A3"/>
                </a:solidFill>
                <a:latin typeface="Inter"/>
              </a:rPr>
              <a:t>От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подписания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договора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до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первых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продаж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в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новом</a:t>
            </a:r>
            <a:r>
              <a:rPr sz="10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1000" b="0" dirty="0" err="1">
                <a:solidFill>
                  <a:srgbClr val="8A95A3"/>
                </a:solidFill>
                <a:latin typeface="Inter"/>
              </a:rPr>
              <a:t>регионе</a:t>
            </a:r>
            <a:endParaRPr sz="10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7199" y="1642691"/>
            <a:ext cx="6204087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7200" y="2155025"/>
            <a:ext cx="6028922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0570" y="1879598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570" y="2071941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20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9" y="3194095"/>
            <a:ext cx="1364909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50" dirty="0" smtClean="0">
                <a:solidFill>
                  <a:srgbClr val="8A95A3"/>
                </a:solidFill>
                <a:latin typeface="Inter"/>
              </a:rPr>
              <a:t>Согласование и подписание договора</a:t>
            </a:r>
            <a:endParaRPr sz="9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41910" y="1878810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241910" y="2071153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50680" y="25655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394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15- 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30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963939" y="3176575"/>
            <a:ext cx="1364909" cy="449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4050" y="1873292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34050" y="2065635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5854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dirty="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068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—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9</a:t>
            </a:r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410679" y="3176575"/>
            <a:ext cx="1364909" cy="449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00790" y="1879598"/>
            <a:ext cx="613078" cy="590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00790" y="2071941"/>
            <a:ext cx="613078" cy="2210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7420" y="2578248"/>
            <a:ext cx="1452492" cy="157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7420" y="288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900" b="1" dirty="0">
                <a:solidFill>
                  <a:srgbClr val="C9A77C"/>
                </a:solidFill>
                <a:latin typeface="Roboto Mono"/>
              </a:rPr>
              <a:t>0—90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7419" y="3180380"/>
            <a:ext cx="1364909" cy="299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7199" y="4090813"/>
            <a:ext cx="6204087" cy="4690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84397" y="2892432"/>
            <a:ext cx="1452492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 smtClean="0">
                <a:solidFill>
                  <a:srgbClr val="C9A77C"/>
                </a:solidFill>
                <a:latin typeface="Roboto Mono"/>
              </a:rPr>
              <a:t>0</a:t>
            </a:r>
            <a:r>
              <a:rPr lang="ru-RU" sz="900" b="1" dirty="0" smtClean="0">
                <a:solidFill>
                  <a:srgbClr val="C9A77C"/>
                </a:solidFill>
                <a:latin typeface="Roboto Mono"/>
              </a:rPr>
              <a:t>-15 дней</a:t>
            </a:r>
            <a:endParaRPr sz="900" b="1" dirty="0">
              <a:solidFill>
                <a:srgbClr val="C9A77C"/>
              </a:solidFill>
              <a:latin typeface="Roboto Mono"/>
            </a:endParaRPr>
          </a:p>
        </p:txBody>
      </p:sp>
      <p:sp>
        <p:nvSpPr>
          <p:cNvPr id="54" name="Rounded Rectangle 6"/>
          <p:cNvSpPr/>
          <p:nvPr/>
        </p:nvSpPr>
        <p:spPr>
          <a:xfrm>
            <a:off x="7034400" y="921600"/>
            <a:ext cx="1747668" cy="3689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127034" y="1488803"/>
            <a:ext cx="15624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000" dirty="0" smtClean="0">
                <a:latin typeface="Inter"/>
              </a:rPr>
              <a:t>Возможные выставки</a:t>
            </a:r>
            <a:endParaRPr sz="1000" b="0" dirty="0">
              <a:latin typeface="Inter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127034" y="1939245"/>
            <a:ext cx="15624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000" dirty="0" smtClean="0">
                <a:latin typeface="Inter"/>
              </a:rPr>
              <a:t>1. Казань</a:t>
            </a:r>
            <a:r>
              <a:rPr lang="ru-RU" sz="1000" dirty="0">
                <a:latin typeface="Inter"/>
              </a:rPr>
              <a:t>, Казань </a:t>
            </a:r>
            <a:r>
              <a:rPr lang="ru-RU" sz="1000" dirty="0" smtClean="0">
                <a:latin typeface="Inter"/>
              </a:rPr>
              <a:t>Экспо</a:t>
            </a:r>
          </a:p>
          <a:p>
            <a:endParaRPr lang="ru-RU" sz="1000" dirty="0" smtClean="0">
              <a:latin typeface="Inter"/>
            </a:endParaRPr>
          </a:p>
          <a:p>
            <a:r>
              <a:rPr lang="ru-RU" sz="1000" dirty="0" smtClean="0">
                <a:latin typeface="Inter"/>
              </a:rPr>
              <a:t>2. Новосибирск</a:t>
            </a:r>
            <a:r>
              <a:rPr lang="ru-RU" sz="1000" dirty="0">
                <a:latin typeface="Inter"/>
              </a:rPr>
              <a:t>, Сибирская строительная </a:t>
            </a:r>
            <a:r>
              <a:rPr lang="ru-RU" sz="1000" dirty="0" smtClean="0">
                <a:latin typeface="Inter"/>
              </a:rPr>
              <a:t>неделя</a:t>
            </a:r>
          </a:p>
          <a:p>
            <a:endParaRPr lang="ru-RU" sz="1000" b="0" dirty="0">
              <a:latin typeface="Inter"/>
            </a:endParaRPr>
          </a:p>
          <a:p>
            <a:r>
              <a:rPr lang="ru-RU" sz="1000" dirty="0">
                <a:latin typeface="Inter"/>
              </a:rPr>
              <a:t>3. Нижний Новгород, Российские Дни Дизайна и Архитектуры </a:t>
            </a:r>
            <a:endParaRPr sz="1000" b="0" dirty="0"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7887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80000"/>
            <a:ext cx="7200000" cy="34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 вывода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2000"/>
            <a:ext cx="1800000" cy="280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8800"/>
            <a:ext cx="1800000" cy="23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" y="547200"/>
            <a:ext cx="8820000" cy="28800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2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264482"/>
              </p:ext>
            </p:extLst>
          </p:nvPr>
        </p:nvGraphicFramePr>
        <p:xfrm>
          <a:off x="180000" y="728700"/>
          <a:ext cx="8819999" cy="2367180"/>
        </p:xfrm>
        <a:graphic>
          <a:graphicData uri="http://schemas.openxmlformats.org/drawingml/2006/table">
            <a:tbl>
              <a:tblPr/>
              <a:tblGrid>
                <a:gridCol w="324000"/>
                <a:gridCol w="1612800"/>
                <a:gridCol w="756000"/>
                <a:gridCol w="561600"/>
                <a:gridCol w="1216800"/>
                <a:gridCol w="1729892"/>
                <a:gridCol w="872969"/>
                <a:gridCol w="872969"/>
                <a:gridCol w="872969"/>
              </a:tblGrid>
              <a:tr h="251999"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Inter"/>
                        </a:rPr>
                        <a:t>#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FFFFFF"/>
                          </a:solidFill>
                          <a:latin typeface="Inter"/>
                        </a:rPr>
                        <a:t>Новинка</a:t>
                      </a:r>
                      <a:endParaRPr sz="95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50" b="1" dirty="0" smtClean="0">
                          <a:solidFill>
                            <a:srgbClr val="FFFFFF"/>
                          </a:solidFill>
                          <a:latin typeface="Inter"/>
                        </a:rPr>
                        <a:t>Дата выхода</a:t>
                      </a:r>
                      <a:endParaRPr sz="95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>
                          <a:solidFill>
                            <a:srgbClr val="FFFFFF"/>
                          </a:solidFill>
                          <a:latin typeface="Inter"/>
                        </a:rPr>
                        <a:t>SKU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Фасовки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Цвета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Первичка (кг)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Вторичка (кг)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АКБ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01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PROFIWOOD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антисептик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кроющий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ВД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10.06.2026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14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0.8 л, 2.1 л, 2.4 л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база С, бежевый, белый, горький шоколад, серый туман, сканд. серый, шоколад. мусс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1 774.6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F3A48"/>
                          </a:solidFill>
                          <a:latin typeface="Roboto Mono"/>
                        </a:rPr>
                        <a:t>193.6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24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Ореол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краска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для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</a:t>
                      </a:r>
                      <a:r>
                        <a:rPr sz="950" b="1" dirty="0" err="1">
                          <a:solidFill>
                            <a:srgbClr val="2F3A48"/>
                          </a:solidFill>
                          <a:latin typeface="Inter"/>
                        </a:rPr>
                        <a:t>плит</a:t>
                      </a:r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 OSB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22.04.2026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3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1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, 12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, 6 </a:t>
                      </a:r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кг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база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 А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7 746.0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1 994.0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143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03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>
                          <a:solidFill>
                            <a:srgbClr val="2F3A48"/>
                          </a:solidFill>
                          <a:latin typeface="Inter"/>
                        </a:rPr>
                        <a:t>NEWTONE ABSOLUTE BLACK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dirty="0" smtClean="0">
                          <a:solidFill>
                            <a:srgbClr val="2F3A48"/>
                          </a:solidFill>
                          <a:latin typeface="Inter"/>
                        </a:rPr>
                        <a:t>21.07.2026</a:t>
                      </a:r>
                      <a:endParaRPr sz="950" b="1" dirty="0">
                        <a:solidFill>
                          <a:srgbClr val="2F3A48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10 л, 2.5 л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чёрный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692.9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04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NEWTONE SKY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потолочная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30.06.2026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2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2.5 л, 9 л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ультрабелый</a:t>
                      </a:r>
                      <a:endParaRPr sz="850" b="0" dirty="0">
                        <a:solidFill>
                          <a:schemeClr val="tx1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236.5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A95A3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0</a:t>
                      </a:r>
                    </a:p>
                  </a:txBody>
                  <a:tcPr marL="50000" marR="50000" marT="20000" marB="20000" anchor="ctr">
                    <a:solidFill>
                      <a:srgbClr val="FFFFFF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algn="ctr"/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05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Ореол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краска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sz="950" b="1" kern="1200" dirty="0" err="1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резиновая</a:t>
                      </a:r>
                      <a:r>
                        <a:rPr sz="950" b="1" kern="1200" dirty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950" b="1" kern="1200" dirty="0" smtClean="0">
                          <a:solidFill>
                            <a:srgbClr val="2F3A48"/>
                          </a:solidFill>
                          <a:latin typeface="Inter"/>
                          <a:ea typeface="+mn-ea"/>
                          <a:cs typeface="+mn-cs"/>
                        </a:rPr>
                        <a:t>21.08.2026</a:t>
                      </a:r>
                      <a:endParaRPr sz="950" b="1" kern="1200" dirty="0">
                        <a:solidFill>
                          <a:srgbClr val="2F3A48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chemeClr val="tx1"/>
                          </a:solidFill>
                          <a:latin typeface="Inter"/>
                        </a:rPr>
                        <a:t>1.3 кг, 12 кг, 3 кг, 6 кг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 err="1">
                          <a:solidFill>
                            <a:schemeClr val="tx1"/>
                          </a:solidFill>
                          <a:latin typeface="Inter"/>
                        </a:rPr>
                        <a:t>база</a:t>
                      </a:r>
                      <a:r>
                        <a:rPr sz="850" b="0" dirty="0">
                          <a:solidFill>
                            <a:schemeClr val="tx1"/>
                          </a:solidFill>
                          <a:latin typeface="Inter"/>
                        </a:rPr>
                        <a:t> А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kern="1200" dirty="0">
                          <a:solidFill>
                            <a:srgbClr val="2F3A48"/>
                          </a:solidFill>
                          <a:latin typeface="Roboto Mono"/>
                          <a:ea typeface="+mn-ea"/>
                          <a:cs typeface="+mn-cs"/>
                        </a:rPr>
                        <a:t>4 276.8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F3A48"/>
                          </a:solidFill>
                          <a:latin typeface="Roboto Mono"/>
                        </a:rPr>
                        <a:t>70.6</a:t>
                      </a: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 smtClean="0">
                          <a:solidFill>
                            <a:srgbClr val="2F3A48"/>
                          </a:solidFill>
                          <a:latin typeface="Roboto Mono"/>
                        </a:rPr>
                        <a:t>4</a:t>
                      </a:r>
                      <a:endParaRPr sz="1000" b="1" dirty="0">
                        <a:solidFill>
                          <a:srgbClr val="2F3A48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F5F2EC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ИТОГО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000" b="1" dirty="0">
                        <a:solidFill>
                          <a:srgbClr val="FFFFFF"/>
                        </a:solidFill>
                        <a:latin typeface="Inter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14 727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Roboto Mono"/>
                        </a:rPr>
                        <a:t>2 258</a:t>
                      </a: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00" b="1" dirty="0">
                        <a:solidFill>
                          <a:srgbClr val="FFFFFF"/>
                        </a:solidFill>
                        <a:latin typeface="Roboto Mono"/>
                      </a:endParaRPr>
                    </a:p>
                  </a:txBody>
                  <a:tcPr marL="50000" marR="50000" marT="20000" marB="20000" anchor="ctr">
                    <a:solidFill>
                      <a:srgbClr val="2F3A48"/>
                    </a:solidFill>
                  </a:tcPr>
                </a:tc>
              </a:tr>
            </a:tbl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180000" y="3206174"/>
            <a:ext cx="882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СТАНДАРТ ВЫВОДА · 3 ФАЗЫ</a:t>
            </a:r>
          </a:p>
        </p:txBody>
      </p:sp>
      <p:sp>
        <p:nvSpPr>
          <p:cNvPr id="64" name="Rounded Rectangle 9"/>
          <p:cNvSpPr/>
          <p:nvPr/>
        </p:nvSpPr>
        <p:spPr>
          <a:xfrm>
            <a:off x="180000" y="3466500"/>
            <a:ext cx="2808000" cy="15491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10"/>
          <p:cNvSpPr/>
          <p:nvPr/>
        </p:nvSpPr>
        <p:spPr>
          <a:xfrm>
            <a:off x="180000" y="3466500"/>
            <a:ext cx="2808000" cy="2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24000" y="3550044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dirty="0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00" y="3596843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69" name="Rectangle 14"/>
          <p:cNvSpPr/>
          <p:nvPr/>
        </p:nvSpPr>
        <p:spPr>
          <a:xfrm>
            <a:off x="324000" y="3843816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24000" y="3914031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4000" y="3921231"/>
            <a:ext cx="241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2F3A48"/>
                </a:solidFill>
                <a:latin typeface="Inter"/>
              </a:rPr>
              <a:t>Анализ рынка и конкурентов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4000" y="4050831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4000" y="4080702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>
                <a:solidFill>
                  <a:srgbClr val="2F3A48"/>
                </a:solidFill>
                <a:latin typeface="Inter"/>
              </a:rPr>
              <a:t>Ценообразование и прогноз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24000" y="4187631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Inter"/>
              </a:rPr>
              <a:t>·</a:t>
            </a:r>
          </a:p>
        </p:txBody>
      </p:sp>
      <p:sp>
        <p:nvSpPr>
          <p:cNvPr id="76" name="Rectangle 21"/>
          <p:cNvSpPr/>
          <p:nvPr/>
        </p:nvSpPr>
        <p:spPr>
          <a:xfrm>
            <a:off x="324000" y="4783653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25"/>
          <p:cNvSpPr/>
          <p:nvPr/>
        </p:nvSpPr>
        <p:spPr>
          <a:xfrm>
            <a:off x="3096000" y="3466500"/>
            <a:ext cx="2808000" cy="15491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26"/>
          <p:cNvSpPr/>
          <p:nvPr/>
        </p:nvSpPr>
        <p:spPr>
          <a:xfrm>
            <a:off x="3096000" y="3466500"/>
            <a:ext cx="2808000" cy="216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240000" y="3514044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dirty="0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16000" y="3596843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85" name="Rectangle 30"/>
          <p:cNvSpPr/>
          <p:nvPr/>
        </p:nvSpPr>
        <p:spPr>
          <a:xfrm>
            <a:off x="3240000" y="3843816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240000" y="3946044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C9A77C"/>
                </a:solidFill>
                <a:latin typeface="Inter"/>
              </a:rPr>
              <a:t>·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48000" y="3911095"/>
            <a:ext cx="24120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dirty="0" smtClean="0">
                <a:solidFill>
                  <a:srgbClr val="2F3A48"/>
                </a:solidFill>
                <a:latin typeface="Inter"/>
              </a:rPr>
              <a:t>Дорожная карта: к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лассификация РТТ для дистрибуции, региональные квоты по директорам 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240000" y="4332999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smtClean="0">
                <a:solidFill>
                  <a:srgbClr val="C9A77C"/>
                </a:solidFill>
                <a:latin typeface="Inter"/>
              </a:rPr>
              <a:t>·</a:t>
            </a:r>
            <a:endParaRPr sz="1200" b="1" dirty="0">
              <a:solidFill>
                <a:srgbClr val="C9A77C"/>
              </a:solidFill>
              <a:latin typeface="Inter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14000" y="4230819"/>
            <a:ext cx="24120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Подготовка </a:t>
            </a:r>
            <a:r>
              <a:rPr sz="900" b="0" dirty="0" smtClean="0">
                <a:solidFill>
                  <a:srgbClr val="2F3A48"/>
                </a:solidFill>
                <a:latin typeface="Inter"/>
              </a:rPr>
              <a:t>POSM 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в 100% 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(</a:t>
            </a:r>
            <a:r>
              <a:rPr lang="ru-RU" sz="900" b="0" dirty="0" err="1" smtClean="0">
                <a:solidFill>
                  <a:srgbClr val="2F3A48"/>
                </a:solidFill>
                <a:latin typeface="Inter"/>
              </a:rPr>
              <a:t>выкрасы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, руководство по продажам, </a:t>
            </a:r>
            <a:r>
              <a:rPr lang="ru-RU" sz="900" b="0" dirty="0" err="1" smtClean="0">
                <a:solidFill>
                  <a:srgbClr val="2F3A48"/>
                </a:solidFill>
                <a:latin typeface="Inter"/>
              </a:rPr>
              <a:t>планограмма</a:t>
            </a:r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, УТП и т.д.) 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2" name="Rectangle 37"/>
          <p:cNvSpPr/>
          <p:nvPr/>
        </p:nvSpPr>
        <p:spPr>
          <a:xfrm>
            <a:off x="3240000" y="4813881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41"/>
          <p:cNvSpPr/>
          <p:nvPr/>
        </p:nvSpPr>
        <p:spPr>
          <a:xfrm>
            <a:off x="6012000" y="3466500"/>
            <a:ext cx="2808000" cy="15491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42"/>
          <p:cNvSpPr/>
          <p:nvPr/>
        </p:nvSpPr>
        <p:spPr>
          <a:xfrm>
            <a:off x="6012000" y="3466500"/>
            <a:ext cx="2808000" cy="216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156000" y="3514044"/>
            <a:ext cx="540000" cy="251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6B8FA8"/>
                </a:solidFill>
                <a:latin typeface="Roboto Mono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32000" y="3582443"/>
            <a:ext cx="1980000" cy="14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00" dirty="0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101" name="Rectangle 46"/>
          <p:cNvSpPr/>
          <p:nvPr/>
        </p:nvSpPr>
        <p:spPr>
          <a:xfrm>
            <a:off x="6156000" y="3843816"/>
            <a:ext cx="2520000" cy="144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6156000" y="3931704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56000" y="4113846"/>
            <a:ext cx="7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6B8FA8"/>
                </a:solidFill>
                <a:latin typeface="Inter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53557" y="4105932"/>
            <a:ext cx="2412000" cy="1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 err="1">
                <a:solidFill>
                  <a:srgbClr val="2F3A48"/>
                </a:solidFill>
                <a:latin typeface="Inter"/>
              </a:rPr>
              <a:t>Аналитика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продаж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по</a:t>
            </a:r>
            <a:r>
              <a:rPr sz="900" b="0" dirty="0">
                <a:solidFill>
                  <a:srgbClr val="2F3A48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2F3A48"/>
                </a:solidFill>
                <a:latin typeface="Inter"/>
              </a:rPr>
              <a:t>неделе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8" name="Rectangle 53"/>
          <p:cNvSpPr/>
          <p:nvPr/>
        </p:nvSpPr>
        <p:spPr>
          <a:xfrm>
            <a:off x="6156000" y="4806324"/>
            <a:ext cx="2520000" cy="108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46000" y="3938572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900" b="0" dirty="0" smtClean="0">
                <a:solidFill>
                  <a:srgbClr val="2F3A48"/>
                </a:solidFill>
                <a:latin typeface="Inter"/>
              </a:rPr>
              <a:t>Трейд-маркетинговая поддержка</a:t>
            </a:r>
            <a:endParaRPr sz="90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346155" y="4347756"/>
            <a:ext cx="2412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dirty="0" err="1">
                <a:solidFill>
                  <a:srgbClr val="2F3A48"/>
                </a:solidFill>
                <a:latin typeface="Inter"/>
              </a:rPr>
              <a:t>Обучение</a:t>
            </a:r>
            <a:r>
              <a:rPr sz="900" dirty="0">
                <a:solidFill>
                  <a:srgbClr val="2F3A48"/>
                </a:solidFill>
                <a:latin typeface="Inter"/>
              </a:rPr>
              <a:t> ТП</a:t>
            </a:r>
            <a:r>
              <a:rPr lang="ru-RU" sz="900" dirty="0">
                <a:solidFill>
                  <a:srgbClr val="2F3A48"/>
                </a:solidFill>
                <a:latin typeface="Inter"/>
              </a:rPr>
              <a:t> ОП</a:t>
            </a:r>
            <a:r>
              <a:rPr sz="900" dirty="0">
                <a:solidFill>
                  <a:srgbClr val="2F3A48"/>
                </a:solidFill>
                <a:latin typeface="Inter"/>
              </a:rPr>
              <a:t>: 350 </a:t>
            </a:r>
            <a:r>
              <a:rPr sz="900" dirty="0" err="1">
                <a:solidFill>
                  <a:srgbClr val="2F3A48"/>
                </a:solidFill>
                <a:latin typeface="Inter"/>
              </a:rPr>
              <a:t>человек</a:t>
            </a:r>
            <a:endParaRPr sz="900" dirty="0">
              <a:solidFill>
                <a:srgbClr val="2F3A48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34007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217915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457915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657915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90269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90269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49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77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30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45269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90269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90269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99269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201269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223269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43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48158" y="249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77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305269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40269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44269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8623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54338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704338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3548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04851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/ портфолио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36820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34688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98228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748</TotalTime>
  <Words>1423</Words>
  <Application>Microsoft Office PowerPoint</Application>
  <PresentationFormat>Экран (16:9)</PresentationFormat>
  <Paragraphs>503</Paragraphs>
  <Slides>10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149</cp:revision>
  <cp:lastPrinted>2026-10-07T10:44:29Z</cp:lastPrinted>
  <dcterms:created xsi:type="dcterms:W3CDTF">2026-10-01T12:44:52Z</dcterms:created>
  <dcterms:modified xsi:type="dcterms:W3CDTF">2026-10-07T10:44:30Z</dcterms:modified>
</cp:coreProperties>
</file>