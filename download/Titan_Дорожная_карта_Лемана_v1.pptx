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87" r:id="rId28"/>
    <p:sldId id="288" r:id="rId29"/>
    <p:sldId id="289" r:id="rId30"/>
    <p:sldId id="259" r:id="rId6"/>
    <p:sldId id="261" r:id="rId7"/>
    <p:sldId id="262" r:id="rId8"/>
    <p:sldId id="263" r:id="rId9"/>
    <p:sldId id="265" r:id="rId10"/>
    <p:sldId id="266" r:id="rId11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TITAN — Аналитика 1 полугодия: 2025 vs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Без «СтройТерминала» и «Технологии, ресурсы строительства» (не предоставляли статистику в 2025-2026 гг). Источник: NEW TITAN_анализ_дистрибьюторов.xlsx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АКБ розничных клиентов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6 006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5 255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−12.5%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Розница СЖИМАЕТСЯ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234440"/>
            <a:ext cx="27889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РТТ, продающие TITAN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465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7D32"/>
                </a:solidFill>
                <a:latin typeface="Calibri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469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+0.9%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Розничная база стабильна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1234440"/>
            <a:ext cx="2788920" cy="4572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(вторичка)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35 575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57C00"/>
                </a:solidFill>
                <a:latin typeface="Calibri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32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7C00"/>
                </a:solidFill>
                <a:latin typeface="Calibri"/>
              </a:rPr>
              <a:t>32 719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91656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7C00"/>
                </a:solidFill>
                <a:latin typeface="Calibri"/>
              </a:rPr>
              <a:t>−8%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Берут реже и меньше — проблема глубины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3144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53144" y="1234440"/>
            <a:ext cx="27889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4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(первичка)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104 812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87584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19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7D32"/>
                </a:solidFill>
                <a:latin typeface="Calibri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19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119 217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0304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+13.7%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7584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Рост отгрузок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749039"/>
            <a:ext cx="11274552" cy="1828800"/>
          </a:xfrm>
          <a:prstGeom prst="roundRect">
            <a:avLst>
              <a:gd name="adj" fmla="val 6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8861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55E0A"/>
                </a:solidFill>
                <a:latin typeface="Calibri"/>
              </a:rPr>
              <a:t>⚠ ПАРАДОКС СЕЗОНА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25195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13131"/>
                </a:solidFill>
                <a:latin typeface="Calibri"/>
              </a:rPr>
              <a:t>первичка растёт (+13.7%), вторичка падает (−8%). Дистрибьюторы закупают TITAN на склад, но не продают в розницу.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62828"/>
                </a:solidFill>
                <a:latin typeface="Calibri"/>
              </a:rPr>
              <a:t>🚨 Тревожные сигналы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АКБ −12.5% (розница сжимается)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Вторичка −8% — берут реже, чем закупают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47 из 109 договоров (44%) — «спящие», без закупок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</a:rPr>
              <a:t>✅ Позитивные сигналы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РТТ +0.9% (465→469) — розничная база СТАБИЛИЗИРОВАЛАСЬ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Первичка +13.7% (104 812→119 217 кг) — сильный рост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Уралстройсервис +55%, Держава Трейд (KZ) +11%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760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ВЫВОД: тренд улучшается (−35% → −8% по вторичке, +1.8% → +13.7% по первичке). Нужна программа активации розницы и работы с «спящими» договорами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90989F"/>
                </a:solidFill>
                <a:latin typeface="Calibri"/>
              </a:rPr>
              <a:t>Empils  •  TITAN  •  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ПИЛОТНЫЕ ДИСТРИБЬЮТОРЫ ПРОГРАММЫ 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3 региона · 3 пилота · отработка программы перед масштабированием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033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ПАЛИТРА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629"/>
                </a:solidFill>
                <a:latin typeface="Calibri"/>
              </a:rPr>
              <a:t>Краснодарский край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Краснодар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3246120" cy="127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Крупнейший сельскохозяйственный регион Юга России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Высокая концентрация металлоконструкций: фермы, ангары, заборы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Активная стройка в Краснодаре и Сочи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Сильная розничная база DIY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3703320" cy="50292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И.П. РЫГАЛОВ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55E0A"/>
                </a:solidFill>
                <a:latin typeface="Calibri"/>
              </a:rPr>
              <a:t>Пензенская область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Пенза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063240"/>
            <a:ext cx="3246120" cy="1270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55E0A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Промышленный регион Поволжья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Производство металлических изделий и конструкций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Дача и частный сектор — высокий спрос на ЛКМ по металлу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Удобная логистика из Ростова-на-Дону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188720"/>
            <a:ext cx="3703320" cy="5029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БРОЗЕКС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Свердловская область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Екатеринбург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063240"/>
            <a:ext cx="3246120" cy="127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Крупнейший промышленный хаб Урала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Тяжёлая промышленность: металлургия, машиностроение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30+ городов присутствия Brozex от Москвы до Новосибирска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Собственный автопарк — развитая логистика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Эталонный кейс для других партнёров Эмпилс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74552" cy="73152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897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🎯 СТРАТЕГИЯ ПИЛОТИРОВАНИЯ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7220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3 региона (Юг · Поволжье · Урал) — покрытие 3 федеральных округов · 3 разных профиля дистрибьютора (сеть DIY · ИП · крупный оптовик) · отработка программы TITAN перед масштабированием на 109 партнёров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965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925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3365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1125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2565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25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965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925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3365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1125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2565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25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965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1925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3365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1125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2565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525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965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925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3365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1125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2565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525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2965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1925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63365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1125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2565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1525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965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1925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63365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1125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2565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5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ПРОДВИЖЕНИЕ TITAN В ФЕДЕРАЛЬНОЙ СЕТИ «ЛЕМАНА ПРО»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11 торговых точек · 6 регионов ЮФО · 7 активностей · Цель: показать уходимость грунт-эмалей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A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887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ТОРГОВЫХ ТОЧЕК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35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ЮФО: Ростовская, Краснодарский, Волгоградская, Ставропольский, Сев.Осетия, Адыгея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A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1887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АКТИВНОСТЕЙ ПРОДВИЖЕНИЯ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35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РК на экранах · Таргет · Промо · Кешбэк · Мастер-классы · Выкрасы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3444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A"/>
                </a:solidFill>
                <a:latin typeface="Calibri"/>
              </a:rPr>
              <a:t>2 мес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1887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ДЛИТЕЛЬНОСТЬ ПРОГРАММЫ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435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1 июля — 31 августа 2026 г.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011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7 АКТИВНОСТЕЙ ПРОДВИЖЕНИЯ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31720"/>
            <a:ext cx="6858000" cy="2743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317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Активность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39" y="23317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Срок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Статус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651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РК ТМ TITAN на 6 топовых экранах Ростова-на-Дону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39" y="26060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с 01.07 на 1 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6060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РК запущена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68580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10896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154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Таргетированная реклама в интернете. ГЕО по 11 ТТ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39" y="31089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с 01.07 по 31.08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1089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РК с 07.07 по 31.07 и с 01.08 по 30.08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11880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61188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657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Промо-акция «Подарок за покупку» в трафиковые дни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39" y="36118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17-26 июля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36118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Ростов + Краснодар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14800"/>
            <a:ext cx="68580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11480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160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Кешбэк 5% на TITAN во всех 11 ТТ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39" y="41148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с 01.07 по 31.08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1148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Запущен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617720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61772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663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Мастер-классы силами Эмпилс (3 ТТ Ростова)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39" y="46177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17 и 24 июля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6177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Проведены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120640"/>
            <a:ext cx="68580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12064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166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Обеспечение выкрасами 11 ТТ (EPL + TITAN)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39" y="51206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до 16.07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0" y="51206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В работе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623560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62356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669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Веерные выкрасы B2B Лемана Про (13 шт)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39" y="56235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до 22.07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56235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Распределение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20116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11 ТОРГОВЫХ ТОЧЕК — ЮФО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2331720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23317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9560" y="23317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Ростов-на-Дону, ул. Доватора, 158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01400" y="233172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2532888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35240" y="253288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09560" y="253288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Аксай, Аксайский пр-т, 23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01400" y="253288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0" y="2734056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35240" y="273405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09560" y="273405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Верхнетемерницкий, ул. Обсерваторная, 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01400" y="273405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0" y="2935224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35240" y="293522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293522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Волгоград, Университетский пр-т, 107 (Акварель)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01400" y="2935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0" y="3136392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35240" y="313639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09560" y="313639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Краснодар, ул. Покрышкина,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01400" y="31363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92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89520" y="3337560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35240" y="3337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09560" y="33375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Краснодар, ул. Новороссийская, 234/1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0" y="3538728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35240" y="35387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09560" y="353872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Новороссийск, ул. Ленина, 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01400" y="35387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165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89520" y="3739896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35240" y="373989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09560" y="373989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Ставропольский край, с. Татарка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01400" y="373989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69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589520" y="3941064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35240" y="394106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09560" y="394106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Владикавказ, Архонское шоссе, 1А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01400" y="39410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150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89520" y="4142232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35240" y="414223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09560" y="414223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Адыгея, Тургеневское шоссе, 27/1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01400" y="414223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147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520" y="4343400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35240" y="434340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09560" y="43434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Волжский, пр-т Ленина, 2Ж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01400" y="434340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70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589520" y="4681728"/>
            <a:ext cx="4160520" cy="169164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26680" y="477316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🎁 МЕХАНИКА «ПОДАРОК ЗА ПОКУПКУ»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26680" y="5093208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13131"/>
                </a:solidFill>
                <a:latin typeface="Calibri"/>
              </a:rPr>
              <a:t>• от 2 000 ₽ — кисть + перчатки в подарок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13131"/>
                </a:solidFill>
                <a:latin typeface="Calibri"/>
              </a:rPr>
              <a:t>• от 4 000 ₽ — сертификат Лемана ПРО 500 ₽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13131"/>
                </a:solidFill>
                <a:latin typeface="Calibri"/>
              </a:rPr>
              <a:t>• + 5% кешбэк на TITAN во всех 11 ТТ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13131"/>
                </a:solidFill>
                <a:latin typeface="Calibri"/>
              </a:rPr>
              <a:t>• Мастер-классы: 17 и 24 июля, 3 ТТ Ростова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Empils  •  TITAN  •  Продвижение в федеральных сетях  •  2026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90989F"/>
                </a:solidFill>
                <a:latin typeface="Calibri"/>
              </a:rPr>
              <a:t>6 / 22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