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517922"/>
            <a:ext cx="8686800" cy="0"/>
          </a:xfrm>
          <a:prstGeom prst="line">
            <a:avLst/>
          </a:prstGeom>
          <a:noFill/>
          <a:ln w="7144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716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E639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47" dirty="0"/>
          </a:p>
        </p:txBody>
      </p:sp>
      <p:sp>
        <p:nvSpPr>
          <p:cNvPr id="4" name="Text 2"/>
          <p:cNvSpPr/>
          <p:nvPr/>
        </p:nvSpPr>
        <p:spPr>
          <a:xfrm>
            <a:off x="442913" y="178594"/>
            <a:ext cx="77045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spc="113" kern="0" dirty="0">
                <a:solidFill>
                  <a:srgbClr val="E6394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TITAN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038746" y="171450"/>
            <a:ext cx="7144" cy="2286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60190" y="142875"/>
            <a:ext cx="15623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69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ПРОГРАММА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60190" y="250031"/>
            <a:ext cx="138051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b="1" spc="5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СДЕЛАНО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7155493" y="169736"/>
            <a:ext cx="1047966" cy="232029"/>
          </a:xfrm>
          <a:prstGeom prst="roundRect">
            <a:avLst>
              <a:gd name="adj" fmla="val 24631"/>
            </a:avLst>
          </a:prstGeom>
          <a:solidFill>
            <a:srgbClr val="161616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71221" y="257175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2ECC71">
              <a:alpha val="7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85521" y="232172"/>
            <a:ext cx="70220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28" kern="0" dirty="0">
                <a:solidFill>
                  <a:srgbClr val="D1D5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1 · АКТИВЕН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8156733" y="157163"/>
            <a:ext cx="7704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59"/>
              </a:lnSpc>
              <a:buNone/>
            </a:pPr>
            <a:r>
              <a:rPr lang="en-US" sz="800" spc="25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БЮДЖЕТ ЭТАПА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121158" y="253603"/>
            <a:ext cx="794242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D6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344 200 ₽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232172" y="610791"/>
            <a:ext cx="2831269" cy="3350419"/>
          </a:xfrm>
          <a:prstGeom prst="roundRect">
            <a:avLst>
              <a:gd name="adj" fmla="val 3364"/>
            </a:avLst>
          </a:prstGeom>
          <a:solidFill>
            <a:srgbClr val="161616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1469" y="900113"/>
            <a:ext cx="2652675" cy="0"/>
          </a:xfrm>
          <a:prstGeom prst="line">
            <a:avLst/>
          </a:prstGeom>
          <a:noFill/>
          <a:ln w="7144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469" y="712589"/>
            <a:ext cx="21431" cy="114300"/>
          </a:xfrm>
          <a:prstGeom prst="roundRect">
            <a:avLst>
              <a:gd name="adj" fmla="val 88890"/>
            </a:avLst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0050" y="70544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E639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85788" y="700088"/>
            <a:ext cx="238835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84" kern="0" dirty="0">
                <a:solidFill>
                  <a:srgbClr val="E6394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ДИСТРИБЬЮТОРСКИЙ КАНАЛ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1469" y="100369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450056" y="996553"/>
            <a:ext cx="324152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MML: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7094" y="996553"/>
            <a:ext cx="610013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 → 41 SKU</a:t>
            </a:r>
            <a:endParaRPr lang="en-US" sz="619" dirty="0"/>
          </a:p>
        </p:txBody>
      </p:sp>
      <p:sp>
        <p:nvSpPr>
          <p:cNvPr id="21" name="Text 19"/>
          <p:cNvSpPr/>
          <p:nvPr/>
        </p:nvSpPr>
        <p:spPr>
          <a:xfrm>
            <a:off x="1219460" y="996553"/>
            <a:ext cx="378619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(+11)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1469" y="117403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844" dirty="0"/>
          </a:p>
        </p:txBody>
      </p:sp>
      <p:sp>
        <p:nvSpPr>
          <p:cNvPr id="23" name="Text 21"/>
          <p:cNvSpPr/>
          <p:nvPr/>
        </p:nvSpPr>
        <p:spPr>
          <a:xfrm>
            <a:off x="450056" y="1159743"/>
            <a:ext cx="2524088" cy="29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Пилоты: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Палитра (Краснодар), И.П. Рыгалов (Пенза), Брозекс (Екатеринбург)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1469" y="144326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844" dirty="0"/>
          </a:p>
        </p:txBody>
      </p:sp>
      <p:sp>
        <p:nvSpPr>
          <p:cNvPr id="25" name="Text 23"/>
          <p:cNvSpPr/>
          <p:nvPr/>
        </p:nvSpPr>
        <p:spPr>
          <a:xfrm>
            <a:off x="450056" y="1428973"/>
            <a:ext cx="2524088" cy="15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Обучение: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регионов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РМ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~350 ТП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1469" y="161359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844" dirty="0"/>
          </a:p>
        </p:txBody>
      </p:sp>
      <p:sp>
        <p:nvSpPr>
          <p:cNvPr id="27" name="Text 25"/>
          <p:cNvSpPr/>
          <p:nvPr/>
        </p:nvSpPr>
        <p:spPr>
          <a:xfrm>
            <a:off x="450056" y="1599307"/>
            <a:ext cx="2524088" cy="316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POSM: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шелфтокеры </a:t>
            </a:r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2000 шт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воблеры </a:t>
            </a:r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1000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ценники </a:t>
            </a:r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1000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листовки </a:t>
            </a:r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1469" y="189711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844" dirty="0"/>
          </a:p>
        </p:txBody>
      </p:sp>
      <p:sp>
        <p:nvSpPr>
          <p:cNvPr id="29" name="Text 27"/>
          <p:cNvSpPr/>
          <p:nvPr/>
        </p:nvSpPr>
        <p:spPr>
          <a:xfrm>
            <a:off x="450056" y="1882825"/>
            <a:ext cx="2524088" cy="316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Контент: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видеоинструкция </a:t>
            </a:r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35 865 ₽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видеопортфолио </a:t>
            </a:r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71 724 ₽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видео для ТП </a:t>
            </a:r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41 611 ₽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1469" y="2169914"/>
            <a:ext cx="2652675" cy="0"/>
          </a:xfrm>
          <a:prstGeom prst="line">
            <a:avLst/>
          </a:prstGeom>
          <a:noFill/>
          <a:ln w="7144">
            <a:solidFill>
              <a:srgbClr val="333333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321469" y="224492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844" dirty="0"/>
          </a:p>
        </p:txBody>
      </p:sp>
      <p:sp>
        <p:nvSpPr>
          <p:cNvPr id="32" name="Text 30"/>
          <p:cNvSpPr/>
          <p:nvPr/>
        </p:nvSpPr>
        <p:spPr>
          <a:xfrm>
            <a:off x="450056" y="2237780"/>
            <a:ext cx="747243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Бюджет этапа 1:</a:t>
            </a:r>
            <a:endParaRPr lang="en-US" sz="619" dirty="0"/>
          </a:p>
        </p:txBody>
      </p:sp>
      <p:sp>
        <p:nvSpPr>
          <p:cNvPr id="33" name="Text 31"/>
          <p:cNvSpPr/>
          <p:nvPr/>
        </p:nvSpPr>
        <p:spPr>
          <a:xfrm>
            <a:off x="1080733" y="2237780"/>
            <a:ext cx="602630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344 200 ₽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156310" y="610791"/>
            <a:ext cx="2831269" cy="3350419"/>
          </a:xfrm>
          <a:prstGeom prst="roundRect">
            <a:avLst>
              <a:gd name="adj" fmla="val 3364"/>
            </a:avLst>
          </a:prstGeom>
          <a:solidFill>
            <a:srgbClr val="161616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245607" y="900113"/>
            <a:ext cx="2652675" cy="0"/>
          </a:xfrm>
          <a:prstGeom prst="line">
            <a:avLst/>
          </a:prstGeom>
          <a:noFill/>
          <a:ln w="7144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45607" y="712589"/>
            <a:ext cx="21431" cy="114300"/>
          </a:xfrm>
          <a:prstGeom prst="roundRect">
            <a:avLst>
              <a:gd name="adj" fmla="val 88890"/>
            </a:avLst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324188" y="70544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E639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🛒</a:t>
            </a:r>
            <a:endParaRPr lang="en-US" sz="1266" dirty="0"/>
          </a:p>
        </p:txBody>
      </p:sp>
      <p:sp>
        <p:nvSpPr>
          <p:cNvPr id="38" name="Text 36"/>
          <p:cNvSpPr/>
          <p:nvPr/>
        </p:nvSpPr>
        <p:spPr>
          <a:xfrm>
            <a:off x="3509925" y="700088"/>
            <a:ext cx="238835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84" kern="0" dirty="0">
                <a:solidFill>
                  <a:srgbClr val="E6394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СЕТЕВОЙ КАНАЛ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245607" y="100369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844" dirty="0"/>
          </a:p>
        </p:txBody>
      </p:sp>
      <p:sp>
        <p:nvSpPr>
          <p:cNvPr id="40" name="Text 38"/>
          <p:cNvSpPr/>
          <p:nvPr/>
        </p:nvSpPr>
        <p:spPr>
          <a:xfrm>
            <a:off x="3374194" y="989409"/>
            <a:ext cx="2524088" cy="158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Лемана Про: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ТТ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в ЮФО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45607" y="117403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844" dirty="0"/>
          </a:p>
        </p:txBody>
      </p:sp>
      <p:sp>
        <p:nvSpPr>
          <p:cNvPr id="42" name="Text 40"/>
          <p:cNvSpPr/>
          <p:nvPr/>
        </p:nvSpPr>
        <p:spPr>
          <a:xfrm>
            <a:off x="3374194" y="1166887"/>
            <a:ext cx="1001174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РК на экранах Ростова:</a:t>
            </a:r>
            <a:endParaRPr lang="en-US" sz="619" dirty="0"/>
          </a:p>
        </p:txBody>
      </p:sp>
      <p:sp>
        <p:nvSpPr>
          <p:cNvPr id="43" name="Text 41"/>
          <p:cNvSpPr/>
          <p:nvPr/>
        </p:nvSpPr>
        <p:spPr>
          <a:xfrm>
            <a:off x="4306230" y="1166887"/>
            <a:ext cx="545068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экранов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245607" y="134436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☞</a:t>
            </a:r>
            <a:endParaRPr lang="en-US" sz="844" dirty="0"/>
          </a:p>
        </p:txBody>
      </p:sp>
      <p:sp>
        <p:nvSpPr>
          <p:cNvPr id="45" name="Text 43"/>
          <p:cNvSpPr/>
          <p:nvPr/>
        </p:nvSpPr>
        <p:spPr>
          <a:xfrm>
            <a:off x="3374194" y="1330077"/>
            <a:ext cx="2524088" cy="158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Таргет ВКонтакте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по </a:t>
            </a:r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ТТ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245607" y="151469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47" name="Text 45"/>
          <p:cNvSpPr/>
          <p:nvPr/>
        </p:nvSpPr>
        <p:spPr>
          <a:xfrm>
            <a:off x="3374194" y="1500411"/>
            <a:ext cx="2524088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Промо «Подарок за покупку»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(Ростов + Краснодар)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245607" y="167788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←</a:t>
            </a:r>
            <a:endParaRPr lang="en-US" sz="844" dirty="0"/>
          </a:p>
        </p:txBody>
      </p:sp>
      <p:sp>
        <p:nvSpPr>
          <p:cNvPr id="49" name="Text 47"/>
          <p:cNvSpPr/>
          <p:nvPr/>
        </p:nvSpPr>
        <p:spPr>
          <a:xfrm>
            <a:off x="3374194" y="1663601"/>
            <a:ext cx="2524088" cy="15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Кэшбек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5%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на TITAN (все </a:t>
            </a:r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ТТ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245607" y="184822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844" dirty="0"/>
          </a:p>
        </p:txBody>
      </p:sp>
      <p:sp>
        <p:nvSpPr>
          <p:cNvPr id="51" name="Text 49"/>
          <p:cNvSpPr/>
          <p:nvPr/>
        </p:nvSpPr>
        <p:spPr>
          <a:xfrm>
            <a:off x="3374194" y="1833935"/>
            <a:ext cx="2524088" cy="15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Мастер-классы: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ТТ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в Ростове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245607" y="201855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53" name="Text 51"/>
          <p:cNvSpPr/>
          <p:nvPr/>
        </p:nvSpPr>
        <p:spPr>
          <a:xfrm>
            <a:off x="3374194" y="2011412"/>
            <a:ext cx="1095617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Веерные выкрасы B2B: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330898" y="2011412"/>
            <a:ext cx="373886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шт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245607" y="218889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⌧</a:t>
            </a:r>
            <a:endParaRPr lang="en-US" sz="844" dirty="0"/>
          </a:p>
        </p:txBody>
      </p:sp>
      <p:sp>
        <p:nvSpPr>
          <p:cNvPr id="56" name="Text 54"/>
          <p:cNvSpPr/>
          <p:nvPr/>
        </p:nvSpPr>
        <p:spPr>
          <a:xfrm>
            <a:off x="3374194" y="2174602"/>
            <a:ext cx="2524088" cy="15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Скидка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(жёлтый ценник) с </a:t>
            </a:r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01.08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245607" y="2348508"/>
            <a:ext cx="2652675" cy="0"/>
          </a:xfrm>
          <a:prstGeom prst="line">
            <a:avLst/>
          </a:prstGeom>
          <a:noFill/>
          <a:ln w="7144">
            <a:solidFill>
              <a:srgbClr val="333333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3245607" y="242351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＋</a:t>
            </a:r>
            <a:endParaRPr lang="en-US" sz="844" dirty="0"/>
          </a:p>
        </p:txBody>
      </p:sp>
      <p:sp>
        <p:nvSpPr>
          <p:cNvPr id="59" name="Text 57"/>
          <p:cNvSpPr/>
          <p:nvPr/>
        </p:nvSpPr>
        <p:spPr>
          <a:xfrm>
            <a:off x="3370959" y="2416373"/>
            <a:ext cx="521106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Петрович: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798131" y="2416373"/>
            <a:ext cx="373886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 ТТ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056645" y="2416373"/>
            <a:ext cx="771183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(план входа 2027)</a:t>
            </a:r>
            <a:endParaRPr lang="en-US" sz="619" dirty="0"/>
          </a:p>
        </p:txBody>
      </p:sp>
      <p:sp>
        <p:nvSpPr>
          <p:cNvPr id="62" name="Text 60"/>
          <p:cNvSpPr/>
          <p:nvPr/>
        </p:nvSpPr>
        <p:spPr>
          <a:xfrm>
            <a:off x="3245607" y="259385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＋</a:t>
            </a:r>
            <a:endParaRPr lang="en-US" sz="844" dirty="0"/>
          </a:p>
        </p:txBody>
      </p:sp>
      <p:sp>
        <p:nvSpPr>
          <p:cNvPr id="63" name="Text 61"/>
          <p:cNvSpPr/>
          <p:nvPr/>
        </p:nvSpPr>
        <p:spPr>
          <a:xfrm>
            <a:off x="3374194" y="2586707"/>
            <a:ext cx="539639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Максидом: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817665" y="2586707"/>
            <a:ext cx="373886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ТТ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076179" y="2586707"/>
            <a:ext cx="291751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(план)</a:t>
            </a:r>
            <a:endParaRPr lang="en-US" sz="619" dirty="0"/>
          </a:p>
        </p:txBody>
      </p:sp>
      <p:sp>
        <p:nvSpPr>
          <p:cNvPr id="66" name="Text 64"/>
          <p:cNvSpPr/>
          <p:nvPr/>
        </p:nvSpPr>
        <p:spPr>
          <a:xfrm>
            <a:off x="3245607" y="276418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＋</a:t>
            </a:r>
            <a:endParaRPr lang="en-US" sz="844" dirty="0"/>
          </a:p>
        </p:txBody>
      </p:sp>
      <p:sp>
        <p:nvSpPr>
          <p:cNvPr id="67" name="Text 65"/>
          <p:cNvSpPr/>
          <p:nvPr/>
        </p:nvSpPr>
        <p:spPr>
          <a:xfrm>
            <a:off x="3374194" y="2757041"/>
            <a:ext cx="262249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OBI:</a:t>
            </a:r>
            <a:endParaRPr lang="en-US" sz="619" dirty="0"/>
          </a:p>
        </p:txBody>
      </p:sp>
      <p:sp>
        <p:nvSpPr>
          <p:cNvPr id="68" name="Text 66"/>
          <p:cNvSpPr/>
          <p:nvPr/>
        </p:nvSpPr>
        <p:spPr>
          <a:xfrm>
            <a:off x="3562052" y="2757041"/>
            <a:ext cx="373886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ТТ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820567" y="2757041"/>
            <a:ext cx="291751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(план)</a:t>
            </a:r>
            <a:endParaRPr lang="en-US" sz="619" dirty="0"/>
          </a:p>
        </p:txBody>
      </p:sp>
      <p:sp>
        <p:nvSpPr>
          <p:cNvPr id="70" name="Text 68"/>
          <p:cNvSpPr/>
          <p:nvPr/>
        </p:nvSpPr>
        <p:spPr>
          <a:xfrm>
            <a:off x="6080447" y="610791"/>
            <a:ext cx="2831381" cy="3350419"/>
          </a:xfrm>
          <a:prstGeom prst="roundRect">
            <a:avLst>
              <a:gd name="adj" fmla="val 3364"/>
            </a:avLst>
          </a:prstGeom>
          <a:solidFill>
            <a:srgbClr val="161616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Shape 69"/>
          <p:cNvSpPr/>
          <p:nvPr/>
        </p:nvSpPr>
        <p:spPr>
          <a:xfrm>
            <a:off x="6169744" y="900113"/>
            <a:ext cx="2652787" cy="0"/>
          </a:xfrm>
          <a:prstGeom prst="line">
            <a:avLst/>
          </a:prstGeom>
          <a:noFill/>
          <a:ln w="7144">
            <a:solidFill>
              <a:srgbClr val="3333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69744" y="712589"/>
            <a:ext cx="21431" cy="114300"/>
          </a:xfrm>
          <a:prstGeom prst="roundRect">
            <a:avLst>
              <a:gd name="adj" fmla="val 88890"/>
            </a:avLst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6248326" y="70544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E639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74" name="Text 72"/>
          <p:cNvSpPr/>
          <p:nvPr/>
        </p:nvSpPr>
        <p:spPr>
          <a:xfrm>
            <a:off x="6434063" y="700088"/>
            <a:ext cx="238846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84" kern="0" dirty="0">
                <a:solidFill>
                  <a:srgbClr val="E6394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B2B КАНАЛ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169744" y="100369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844" dirty="0"/>
          </a:p>
        </p:txBody>
      </p:sp>
      <p:sp>
        <p:nvSpPr>
          <p:cNvPr id="76" name="Text 74"/>
          <p:cNvSpPr/>
          <p:nvPr/>
        </p:nvSpPr>
        <p:spPr>
          <a:xfrm>
            <a:off x="6298332" y="989409"/>
            <a:ext cx="2524199" cy="15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Тест-образец: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пробник </a:t>
            </a:r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0,4 л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веерные выкрасы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169744" y="117403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844" dirty="0"/>
          </a:p>
        </p:txBody>
      </p:sp>
      <p:sp>
        <p:nvSpPr>
          <p:cNvPr id="78" name="Text 76"/>
          <p:cNvSpPr/>
          <p:nvPr/>
        </p:nvSpPr>
        <p:spPr>
          <a:xfrm>
            <a:off x="6298332" y="1159743"/>
            <a:ext cx="2524199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Листовка B2B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с расчётом ССВ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169744" y="133722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844" dirty="0"/>
          </a:p>
        </p:txBody>
      </p:sp>
      <p:sp>
        <p:nvSpPr>
          <p:cNvPr id="80" name="Text 78"/>
          <p:cNvSpPr/>
          <p:nvPr/>
        </p:nvSpPr>
        <p:spPr>
          <a:xfrm>
            <a:off x="6298332" y="1322933"/>
            <a:ext cx="2524199" cy="29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 инструментов: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тест-образец, листовка, инфлюенсер, маржа, портфолио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6169744" y="160645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844" dirty="0"/>
          </a:p>
        </p:txBody>
      </p:sp>
      <p:sp>
        <p:nvSpPr>
          <p:cNvPr id="82" name="Text 80"/>
          <p:cNvSpPr/>
          <p:nvPr/>
        </p:nvSpPr>
        <p:spPr>
          <a:xfrm>
            <a:off x="6298332" y="1592163"/>
            <a:ext cx="2524199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маржинальности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по фасовкам 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(8,5 л выгоднее)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169744" y="1816075"/>
            <a:ext cx="2652787" cy="0"/>
          </a:xfrm>
          <a:prstGeom prst="line">
            <a:avLst/>
          </a:prstGeom>
          <a:noFill/>
          <a:ln w="7144">
            <a:solidFill>
              <a:srgbClr val="333333"/>
            </a:solidFill>
            <a:prstDash val="dash"/>
          </a:ln>
        </p:spPr>
      </p:sp>
      <p:sp>
        <p:nvSpPr>
          <p:cNvPr id="84" name="Text 82"/>
          <p:cNvSpPr/>
          <p:nvPr/>
        </p:nvSpPr>
        <p:spPr>
          <a:xfrm>
            <a:off x="6169744" y="1905372"/>
            <a:ext cx="265278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25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АКТИВНОСТЬ B2B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173316" y="2062535"/>
            <a:ext cx="1290675" cy="375047"/>
          </a:xfrm>
          <a:prstGeom prst="roundRect">
            <a:avLst>
              <a:gd name="adj" fmla="val 15238"/>
            </a:avLst>
          </a:prstGeom>
          <a:solidFill>
            <a:srgbClr val="0E0E0E"/>
          </a:solidFill>
          <a:ln w="7144">
            <a:solidFill>
              <a:srgbClr val="22222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6234038" y="2123256"/>
            <a:ext cx="11692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ИНСТРУМЕНТОВ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234038" y="2219697"/>
            <a:ext cx="116923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1238" dirty="0"/>
          </a:p>
        </p:txBody>
      </p:sp>
      <p:sp>
        <p:nvSpPr>
          <p:cNvPr id="88" name="Text 86"/>
          <p:cNvSpPr/>
          <p:nvPr/>
        </p:nvSpPr>
        <p:spPr>
          <a:xfrm>
            <a:off x="7528285" y="2062535"/>
            <a:ext cx="1290675" cy="375047"/>
          </a:xfrm>
          <a:prstGeom prst="roundRect">
            <a:avLst>
              <a:gd name="adj" fmla="val 15238"/>
            </a:avLst>
          </a:prstGeom>
          <a:solidFill>
            <a:srgbClr val="0E0E0E"/>
          </a:solidFill>
          <a:ln w="7144">
            <a:solidFill>
              <a:srgbClr val="22222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7589007" y="2123256"/>
            <a:ext cx="11692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ФАСОВКА ВЫГОДЫ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7589007" y="2219697"/>
            <a:ext cx="116923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8,5 л</a:t>
            </a:r>
            <a:endParaRPr lang="en-US" sz="1238" dirty="0"/>
          </a:p>
        </p:txBody>
      </p:sp>
      <p:pic>
        <p:nvPicPr>
          <p:cNvPr id="9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4050506"/>
            <a:ext cx="2107406" cy="653653"/>
          </a:xfrm>
          <a:prstGeom prst="rect">
            <a:avLst/>
          </a:prstGeom>
        </p:spPr>
      </p:pic>
      <p:sp>
        <p:nvSpPr>
          <p:cNvPr id="92" name="Text 89"/>
          <p:cNvSpPr/>
          <p:nvPr/>
        </p:nvSpPr>
        <p:spPr>
          <a:xfrm>
            <a:off x="232172" y="4054078"/>
            <a:ext cx="2100263" cy="646509"/>
          </a:xfrm>
          <a:prstGeom prst="roundRect">
            <a:avLst>
              <a:gd name="adj" fmla="val 14733"/>
            </a:avLst>
          </a:prstGeom>
          <a:noFill/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90"/>
          <p:cNvSpPr/>
          <p:nvPr/>
        </p:nvSpPr>
        <p:spPr>
          <a:xfrm>
            <a:off x="335756" y="4143375"/>
            <a:ext cx="17787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ПЕРВИЧКА, Т</a:t>
            </a:r>
            <a:endParaRPr lang="en-US" sz="800" dirty="0"/>
          </a:p>
        </p:txBody>
      </p:sp>
      <p:sp>
        <p:nvSpPr>
          <p:cNvPr id="94" name="Text 91"/>
          <p:cNvSpPr/>
          <p:nvPr/>
        </p:nvSpPr>
        <p:spPr>
          <a:xfrm>
            <a:off x="2128838" y="414694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ECC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984" dirty="0"/>
          </a:p>
        </p:txBody>
      </p:sp>
      <p:sp>
        <p:nvSpPr>
          <p:cNvPr id="95" name="Text 92"/>
          <p:cNvSpPr/>
          <p:nvPr/>
        </p:nvSpPr>
        <p:spPr>
          <a:xfrm>
            <a:off x="335756" y="4279106"/>
            <a:ext cx="1893094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104,8 → 119,2</a:t>
            </a:r>
            <a:endParaRPr lang="en-US" sz="1463" dirty="0"/>
          </a:p>
        </p:txBody>
      </p:sp>
      <p:sp>
        <p:nvSpPr>
          <p:cNvPr id="96" name="Text 93"/>
          <p:cNvSpPr/>
          <p:nvPr/>
        </p:nvSpPr>
        <p:spPr>
          <a:xfrm>
            <a:off x="335756" y="4493419"/>
            <a:ext cx="189309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+13,7%</a:t>
            </a:r>
            <a:endParaRPr lang="en-US" sz="800" dirty="0"/>
          </a:p>
        </p:txBody>
      </p:sp>
      <p:pic>
        <p:nvPicPr>
          <p:cNvPr id="9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731" y="4050506"/>
            <a:ext cx="2107406" cy="653653"/>
          </a:xfrm>
          <a:prstGeom prst="rect">
            <a:avLst/>
          </a:prstGeom>
        </p:spPr>
      </p:pic>
      <p:sp>
        <p:nvSpPr>
          <p:cNvPr id="98" name="Text 94"/>
          <p:cNvSpPr/>
          <p:nvPr/>
        </p:nvSpPr>
        <p:spPr>
          <a:xfrm>
            <a:off x="2425303" y="4054078"/>
            <a:ext cx="2100263" cy="646509"/>
          </a:xfrm>
          <a:prstGeom prst="roundRect">
            <a:avLst>
              <a:gd name="adj" fmla="val 14733"/>
            </a:avLst>
          </a:prstGeom>
          <a:noFill/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Text 95"/>
          <p:cNvSpPr/>
          <p:nvPr/>
        </p:nvSpPr>
        <p:spPr>
          <a:xfrm>
            <a:off x="2528888" y="4143375"/>
            <a:ext cx="17787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РТТ С TITAN</a:t>
            </a:r>
            <a:endParaRPr lang="en-US" sz="800" dirty="0"/>
          </a:p>
        </p:txBody>
      </p:sp>
      <p:sp>
        <p:nvSpPr>
          <p:cNvPr id="100" name="Text 96"/>
          <p:cNvSpPr/>
          <p:nvPr/>
        </p:nvSpPr>
        <p:spPr>
          <a:xfrm>
            <a:off x="4321969" y="414694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ECC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984" dirty="0"/>
          </a:p>
        </p:txBody>
      </p:sp>
      <p:sp>
        <p:nvSpPr>
          <p:cNvPr id="101" name="Text 97"/>
          <p:cNvSpPr/>
          <p:nvPr/>
        </p:nvSpPr>
        <p:spPr>
          <a:xfrm>
            <a:off x="2528888" y="4279106"/>
            <a:ext cx="1893094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465 → 469</a:t>
            </a:r>
            <a:endParaRPr lang="en-US" sz="1463" dirty="0"/>
          </a:p>
        </p:txBody>
      </p:sp>
      <p:sp>
        <p:nvSpPr>
          <p:cNvPr id="102" name="Text 98"/>
          <p:cNvSpPr/>
          <p:nvPr/>
        </p:nvSpPr>
        <p:spPr>
          <a:xfrm>
            <a:off x="2528888" y="4493419"/>
            <a:ext cx="189309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+0,9%</a:t>
            </a:r>
            <a:endParaRPr lang="en-US" sz="800" dirty="0"/>
          </a:p>
        </p:txBody>
      </p:sp>
      <p:pic>
        <p:nvPicPr>
          <p:cNvPr id="10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863" y="4050506"/>
            <a:ext cx="2107406" cy="653653"/>
          </a:xfrm>
          <a:prstGeom prst="rect">
            <a:avLst/>
          </a:prstGeom>
        </p:spPr>
      </p:pic>
      <p:sp>
        <p:nvSpPr>
          <p:cNvPr id="104" name="Text 99"/>
          <p:cNvSpPr/>
          <p:nvPr/>
        </p:nvSpPr>
        <p:spPr>
          <a:xfrm>
            <a:off x="4618434" y="4054078"/>
            <a:ext cx="2100263" cy="646509"/>
          </a:xfrm>
          <a:prstGeom prst="roundRect">
            <a:avLst>
              <a:gd name="adj" fmla="val 14733"/>
            </a:avLst>
          </a:prstGeom>
          <a:noFill/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Text 100"/>
          <p:cNvSpPr/>
          <p:nvPr/>
        </p:nvSpPr>
        <p:spPr>
          <a:xfrm>
            <a:off x="4722019" y="4143375"/>
            <a:ext cx="17787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АКБ В ТОЧКАХ B</a:t>
            </a:r>
            <a:endParaRPr lang="en-US" sz="800" dirty="0"/>
          </a:p>
        </p:txBody>
      </p:sp>
      <p:sp>
        <p:nvSpPr>
          <p:cNvPr id="106" name="Text 101"/>
          <p:cNvSpPr/>
          <p:nvPr/>
        </p:nvSpPr>
        <p:spPr>
          <a:xfrm>
            <a:off x="6515100" y="414694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ECC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984" dirty="0"/>
          </a:p>
        </p:txBody>
      </p:sp>
      <p:sp>
        <p:nvSpPr>
          <p:cNvPr id="107" name="Text 102"/>
          <p:cNvSpPr/>
          <p:nvPr/>
        </p:nvSpPr>
        <p:spPr>
          <a:xfrm>
            <a:off x="4722019" y="4279106"/>
            <a:ext cx="1893094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33% → 50%</a:t>
            </a:r>
            <a:endParaRPr lang="en-US" sz="1463" dirty="0"/>
          </a:p>
        </p:txBody>
      </p:sp>
      <p:sp>
        <p:nvSpPr>
          <p:cNvPr id="108" name="Text 103"/>
          <p:cNvSpPr/>
          <p:nvPr/>
        </p:nvSpPr>
        <p:spPr>
          <a:xfrm>
            <a:off x="4722019" y="4493419"/>
            <a:ext cx="189309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+17 п.п.</a:t>
            </a:r>
            <a:endParaRPr lang="en-US" sz="800" dirty="0"/>
          </a:p>
        </p:txBody>
      </p:sp>
      <p:pic>
        <p:nvPicPr>
          <p:cNvPr id="10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7994" y="4050506"/>
            <a:ext cx="2107406" cy="653653"/>
          </a:xfrm>
          <a:prstGeom prst="rect">
            <a:avLst/>
          </a:prstGeom>
        </p:spPr>
      </p:pic>
      <p:sp>
        <p:nvSpPr>
          <p:cNvPr id="110" name="Text 104"/>
          <p:cNvSpPr/>
          <p:nvPr/>
        </p:nvSpPr>
        <p:spPr>
          <a:xfrm>
            <a:off x="6811566" y="4054078"/>
            <a:ext cx="2100263" cy="646509"/>
          </a:xfrm>
          <a:prstGeom prst="roundRect">
            <a:avLst>
              <a:gd name="adj" fmla="val 14733"/>
            </a:avLst>
          </a:prstGeom>
          <a:noFill/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1" name="Text 105"/>
          <p:cNvSpPr/>
          <p:nvPr/>
        </p:nvSpPr>
        <p:spPr>
          <a:xfrm>
            <a:off x="6915150" y="4143375"/>
            <a:ext cx="17787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БЮДЖЕТ ПРОГРАММЫ</a:t>
            </a:r>
            <a:endParaRPr lang="en-US" sz="800" dirty="0"/>
          </a:p>
        </p:txBody>
      </p:sp>
      <p:sp>
        <p:nvSpPr>
          <p:cNvPr id="112" name="Text 106"/>
          <p:cNvSpPr/>
          <p:nvPr/>
        </p:nvSpPr>
        <p:spPr>
          <a:xfrm>
            <a:off x="8708231" y="414694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D6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984" dirty="0"/>
          </a:p>
        </p:txBody>
      </p:sp>
      <p:sp>
        <p:nvSpPr>
          <p:cNvPr id="113" name="Text 107"/>
          <p:cNvSpPr/>
          <p:nvPr/>
        </p:nvSpPr>
        <p:spPr>
          <a:xfrm>
            <a:off x="6915150" y="4279106"/>
            <a:ext cx="1893094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FFD6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344 200 ₽</a:t>
            </a:r>
            <a:endParaRPr lang="en-US" sz="1463" dirty="0"/>
          </a:p>
        </p:txBody>
      </p:sp>
      <p:sp>
        <p:nvSpPr>
          <p:cNvPr id="114" name="Text 108"/>
          <p:cNvSpPr/>
          <p:nvPr/>
        </p:nvSpPr>
        <p:spPr>
          <a:xfrm>
            <a:off x="6915150" y="4493419"/>
            <a:ext cx="189309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517922"/>
            <a:ext cx="8686800" cy="0"/>
          </a:xfrm>
          <a:prstGeom prst="line">
            <a:avLst/>
          </a:prstGeom>
          <a:noFill/>
          <a:ln w="7144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716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E639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47" dirty="0"/>
          </a:p>
        </p:txBody>
      </p:sp>
      <p:sp>
        <p:nvSpPr>
          <p:cNvPr id="4" name="Text 2"/>
          <p:cNvSpPr/>
          <p:nvPr/>
        </p:nvSpPr>
        <p:spPr>
          <a:xfrm>
            <a:off x="442913" y="178594"/>
            <a:ext cx="77045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spc="113" kern="0" dirty="0">
                <a:solidFill>
                  <a:srgbClr val="E6394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TITAN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038746" y="171450"/>
            <a:ext cx="7144" cy="2286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60190" y="142875"/>
            <a:ext cx="319689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69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ДОРОЖНАЯ КАРТА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60190" y="250031"/>
            <a:ext cx="265842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b="1" spc="5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ЭТАПЫ И СЛЕДУЮЩИЕ ШАГИ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662440" y="215741"/>
            <a:ext cx="945766" cy="140018"/>
          </a:xfrm>
          <a:prstGeom prst="roundRect">
            <a:avLst>
              <a:gd name="adj" fmla="val 68027"/>
            </a:avLst>
          </a:prstGeom>
          <a:solidFill>
            <a:srgbClr val="2ECC7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12446" y="264319"/>
            <a:ext cx="42863" cy="42863"/>
          </a:xfrm>
          <a:prstGeom prst="roundRect">
            <a:avLst>
              <a:gd name="adj" fmla="val 222197408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62440" y="223242"/>
            <a:ext cx="945766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2ECC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ЭТАПА ЗАВЕРШЕНО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693930" y="215741"/>
            <a:ext cx="587127" cy="140018"/>
          </a:xfrm>
          <a:prstGeom prst="roundRect">
            <a:avLst>
              <a:gd name="adj" fmla="val 68027"/>
            </a:avLst>
          </a:prstGeom>
          <a:solidFill>
            <a:srgbClr val="FF8C00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43937" y="264319"/>
            <a:ext cx="42863" cy="42863"/>
          </a:xfrm>
          <a:prstGeom prst="roundRect">
            <a:avLst>
              <a:gd name="adj" fmla="val 222197408"/>
            </a:avLst>
          </a:prstGeom>
          <a:solidFill>
            <a:srgbClr val="FF8C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93930" y="223242"/>
            <a:ext cx="587127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FF8C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В РАБОТЕ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366782" y="215741"/>
            <a:ext cx="548618" cy="140018"/>
          </a:xfrm>
          <a:prstGeom prst="roundRect">
            <a:avLst>
              <a:gd name="adj" fmla="val 68027"/>
            </a:avLst>
          </a:prstGeom>
          <a:solidFill>
            <a:srgbClr val="88888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416789" y="264319"/>
            <a:ext cx="42863" cy="42863"/>
          </a:xfrm>
          <a:prstGeom prst="roundRect">
            <a:avLst>
              <a:gd name="adj" fmla="val 222197408"/>
            </a:avLst>
          </a:prstGeom>
          <a:solidFill>
            <a:srgbClr val="8888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366782" y="223242"/>
            <a:ext cx="54861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В ПЛАНЕ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6497" y="617934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2ECC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1500" y="642938"/>
            <a:ext cx="57150" cy="57150"/>
          </a:xfrm>
          <a:prstGeom prst="ellipse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85825" y="660797"/>
            <a:ext cx="1414463" cy="21431"/>
          </a:xfrm>
          <a:prstGeom prst="roundRect">
            <a:avLst>
              <a:gd name="adj" fmla="val 88890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532459" y="617934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2ECC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557463" y="642938"/>
            <a:ext cx="57150" cy="57150"/>
          </a:xfrm>
          <a:prstGeom prst="ellipse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1788" y="660797"/>
            <a:ext cx="1414463" cy="21431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518422" y="617934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FF8C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543425" y="642938"/>
            <a:ext cx="57150" cy="57150"/>
          </a:xfrm>
          <a:prstGeom prst="ellipse">
            <a:avLst/>
          </a:prstGeom>
          <a:solidFill>
            <a:srgbClr val="FF8C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857750" y="660797"/>
            <a:ext cx="1414463" cy="21431"/>
          </a:xfrm>
          <a:prstGeom prst="roundRect">
            <a:avLst>
              <a:gd name="adj" fmla="val 88890"/>
            </a:avLst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504384" y="617934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88888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529388" y="642938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843713" y="660797"/>
            <a:ext cx="1414463" cy="21431"/>
          </a:xfrm>
          <a:prstGeom prst="roundRect">
            <a:avLst>
              <a:gd name="adj" fmla="val 88890"/>
            </a:avLst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8490347" y="617934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88888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8515350" y="642938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232172" y="796528"/>
            <a:ext cx="1684474" cy="1061182"/>
          </a:xfrm>
          <a:prstGeom prst="roundRect">
            <a:avLst>
              <a:gd name="adj" fmla="val 7181"/>
            </a:avLst>
          </a:prstGeom>
          <a:solidFill>
            <a:srgbClr val="161616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321469" y="875109"/>
            <a:ext cx="11914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6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1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515194" y="864037"/>
            <a:ext cx="324161" cy="140018"/>
          </a:xfrm>
          <a:prstGeom prst="roundRect">
            <a:avLst>
              <a:gd name="adj" fmla="val 68027"/>
            </a:avLst>
          </a:prstGeom>
          <a:solidFill>
            <a:srgbClr val="2ECC7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1510833" y="871538"/>
            <a:ext cx="332882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2ECC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DONE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321469" y="1025128"/>
            <a:ext cx="1505880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spc="2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POS-МАТЕРИАЛЫ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21469" y="1162199"/>
            <a:ext cx="1596233" cy="102383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Шелфтокеры, воблеры, ценники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321469" y="1292014"/>
            <a:ext cx="1596233" cy="18990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Листовки, MML+планограмма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21469" y="1482551"/>
            <a:ext cx="1505880" cy="0"/>
          </a:xfrm>
          <a:prstGeom prst="line">
            <a:avLst/>
          </a:prstGeom>
          <a:noFill/>
          <a:ln w="7144">
            <a:solidFill>
              <a:srgbClr val="22222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21469" y="154863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D6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28625" y="1528986"/>
            <a:ext cx="139872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D6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344 200 ₽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1980940" y="796528"/>
            <a:ext cx="1684474" cy="1061182"/>
          </a:xfrm>
          <a:prstGeom prst="roundRect">
            <a:avLst>
              <a:gd name="adj" fmla="val 7181"/>
            </a:avLst>
          </a:prstGeom>
          <a:solidFill>
            <a:srgbClr val="161616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2070236" y="875109"/>
            <a:ext cx="11914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6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1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3263962" y="864037"/>
            <a:ext cx="324161" cy="140018"/>
          </a:xfrm>
          <a:prstGeom prst="roundRect">
            <a:avLst>
              <a:gd name="adj" fmla="val 68027"/>
            </a:avLst>
          </a:prstGeom>
          <a:solidFill>
            <a:srgbClr val="2ECC7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3259601" y="871538"/>
            <a:ext cx="332882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2ECC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DONE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2070236" y="1025128"/>
            <a:ext cx="1505880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spc="2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КОНТЕНТ И ОБУЧЕНИЕ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2070236" y="1162199"/>
            <a:ext cx="1596233" cy="203624"/>
          </a:xfrm>
          <a:prstGeom prst="rect">
            <a:avLst/>
          </a:prstGeom>
          <a:noFill/>
          <a:ln/>
        </p:spPr>
        <p:txBody>
          <a:bodyPr wrap="square" lIns="0" tIns="14288" rIns="0" bIns="14288" rtlCol="0" anchor="t">
            <a:normAutofit/>
          </a:bodyPr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Видеоинструкция, видеопортфолио, видео для ТП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2070236" y="1393254"/>
            <a:ext cx="1596233" cy="102383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QR-коды, облако с материалами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2134155" y="1544501"/>
            <a:ext cx="521106" cy="125403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Обучение: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2526990" y="1537357"/>
            <a:ext cx="1049127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6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регионов, ~350 ТП</a:t>
            </a:r>
            <a:endParaRPr lang="en-US" sz="600" dirty="0"/>
          </a:p>
        </p:txBody>
      </p:sp>
      <p:sp>
        <p:nvSpPr>
          <p:cNvPr id="50" name="Text 47"/>
          <p:cNvSpPr/>
          <p:nvPr/>
        </p:nvSpPr>
        <p:spPr>
          <a:xfrm>
            <a:off x="3729707" y="796528"/>
            <a:ext cx="1684474" cy="1061182"/>
          </a:xfrm>
          <a:prstGeom prst="roundRect">
            <a:avLst>
              <a:gd name="adj" fmla="val 7181"/>
            </a:avLst>
          </a:prstGeom>
          <a:solidFill>
            <a:srgbClr val="161616"/>
          </a:solidFill>
          <a:ln w="7144">
            <a:solidFill>
              <a:srgbClr val="FF8C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3819004" y="875109"/>
            <a:ext cx="9056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6" kern="0" dirty="0">
                <a:solidFill>
                  <a:srgbClr val="FF8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2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4716125" y="864037"/>
            <a:ext cx="631619" cy="140018"/>
          </a:xfrm>
          <a:prstGeom prst="roundRect">
            <a:avLst>
              <a:gd name="adj" fmla="val 68027"/>
            </a:avLst>
          </a:prstGeom>
          <a:solidFill>
            <a:srgbClr val="FF8C00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4625718" y="871538"/>
            <a:ext cx="812434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FF8C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3819004" y="1025128"/>
            <a:ext cx="1505880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spc="2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ПРОДВИЖЕНИЕ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3819004" y="1162199"/>
            <a:ext cx="1626351" cy="102383"/>
          </a:xfrm>
          <a:prstGeom prst="rect">
            <a:avLst/>
          </a:prstGeom>
          <a:noFill/>
          <a:ln/>
        </p:spPr>
        <p:txBody>
          <a:bodyPr wrap="square" lIns="0" tIns="14288" rIns="0" bIns="14288" rtlCol="0" anchor="t">
            <a:normAutofit/>
          </a:bodyPr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600" dirty="0">
                <a:solidFill>
                  <a:srgbClr val="CCCCC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🔥</a:t>
            </a:r>
            <a:pPr algn="l" indent="0" marL="0">
              <a:lnSpc>
                <a:spcPts val="797"/>
              </a:lnSpc>
              <a:buNone/>
            </a:pPr>
            <a:r>
              <a:rPr lang="en-US" sz="600" dirty="0">
                <a:solidFill>
                  <a:srgbClr val="CCCC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Экстремальный тест </a:t>
            </a:r>
            <a:pPr algn="l" indent="0" marL="0">
              <a:lnSpc>
                <a:spcPts val="797"/>
              </a:lnSpc>
              <a:buNone/>
            </a:pPr>
            <a:r>
              <a:rPr lang="en-US" sz="600" dirty="0">
                <a:solidFill>
                  <a:srgbClr val="CCCC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365</a:t>
            </a:r>
            <a:pPr algn="l" indent="0" marL="0">
              <a:lnSpc>
                <a:spcPts val="797"/>
              </a:lnSpc>
              <a:buNone/>
            </a:pPr>
            <a:r>
              <a:rPr lang="en-US" sz="600" dirty="0">
                <a:solidFill>
                  <a:srgbClr val="CCCC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дней (</a:t>
            </a:r>
            <a:pPr algn="l" indent="0" marL="0">
              <a:lnSpc>
                <a:spcPts val="797"/>
              </a:lnSpc>
              <a:buNone/>
            </a:pPr>
            <a:r>
              <a:rPr lang="en-US" sz="600" dirty="0">
                <a:solidFill>
                  <a:srgbClr val="CCCC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24/7</a:t>
            </a:r>
            <a:pPr algn="l" indent="0" marL="0">
              <a:lnSpc>
                <a:spcPts val="797"/>
              </a:lnSpc>
              <a:buNone/>
            </a:pPr>
            <a:r>
              <a:rPr lang="en-US" sz="600" dirty="0">
                <a:solidFill>
                  <a:srgbClr val="CCCC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600" dirty="0"/>
          </a:p>
        </p:txBody>
      </p:sp>
      <p:sp>
        <p:nvSpPr>
          <p:cNvPr id="56" name="Text 53"/>
          <p:cNvSpPr/>
          <p:nvPr/>
        </p:nvSpPr>
        <p:spPr>
          <a:xfrm>
            <a:off x="3819004" y="1292014"/>
            <a:ext cx="1596233" cy="203624"/>
          </a:xfrm>
          <a:prstGeom prst="rect">
            <a:avLst/>
          </a:prstGeom>
          <a:noFill/>
          <a:ln/>
        </p:spPr>
        <p:txBody>
          <a:bodyPr wrap="square" lIns="0" tIns="14288" rIns="0" bIns="14288" rtlCol="0" anchor="t">
            <a:normAutofit/>
          </a:bodyPr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Контекстная реклама (Яндекс.Директ, VK)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3819004" y="1523070"/>
            <a:ext cx="1505880" cy="102383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Видеореклама (RuTube)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3819004" y="1652885"/>
            <a:ext cx="1505880" cy="129815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Блогер-инфлюенсер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5478475" y="796528"/>
            <a:ext cx="1684474" cy="1061182"/>
          </a:xfrm>
          <a:prstGeom prst="roundRect">
            <a:avLst>
              <a:gd name="adj" fmla="val 7181"/>
            </a:avLst>
          </a:prstGeom>
          <a:solidFill>
            <a:srgbClr val="161616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5567772" y="875109"/>
            <a:ext cx="11485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6" kern="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ПЛАН «Б»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6716920" y="864037"/>
            <a:ext cx="370453" cy="140018"/>
          </a:xfrm>
          <a:prstGeom prst="roundRect">
            <a:avLst>
              <a:gd name="adj" fmla="val 68027"/>
            </a:avLst>
          </a:prstGeom>
          <a:solidFill>
            <a:srgbClr val="88888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6698540" y="871538"/>
            <a:ext cx="40721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READY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5567772" y="1025128"/>
            <a:ext cx="1505880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spc="2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УПРАВЛЕНИЕ РИСКАМИ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5567772" y="1162199"/>
            <a:ext cx="1596233" cy="304864"/>
          </a:xfrm>
          <a:prstGeom prst="rect">
            <a:avLst/>
          </a:prstGeom>
          <a:noFill/>
          <a:ln/>
        </p:spPr>
        <p:txBody>
          <a:bodyPr wrap="square" lIns="0" tIns="14288" rIns="0" bIns="14288" rtlCol="0" anchor="t">
            <a:normAutofit/>
          </a:bodyPr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инструментов: доп.обучение, корректировка ассортимента, трейд-промо, мастер-классы, куратор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5620447" y="1508782"/>
            <a:ext cx="528300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🟢 70-85%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6035566" y="1508782"/>
            <a:ext cx="528300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🟡 50-70%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6476591" y="1508782"/>
            <a:ext cx="597061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E639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🔴</a:t>
            </a:r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E6394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&lt;</a:t>
            </a:r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E6394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50%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7227243" y="796528"/>
            <a:ext cx="1684586" cy="1061182"/>
          </a:xfrm>
          <a:prstGeom prst="roundRect">
            <a:avLst>
              <a:gd name="adj" fmla="val 7181"/>
            </a:avLst>
          </a:prstGeom>
          <a:solidFill>
            <a:srgbClr val="161616"/>
          </a:solidFill>
          <a:ln w="7144">
            <a:solidFill>
              <a:srgbClr val="33333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6"/>
          <p:cNvSpPr/>
          <p:nvPr/>
        </p:nvSpPr>
        <p:spPr>
          <a:xfrm>
            <a:off x="7316539" y="875109"/>
            <a:ext cx="12023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6" kern="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3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8521637" y="864037"/>
            <a:ext cx="312468" cy="140018"/>
          </a:xfrm>
          <a:prstGeom prst="roundRect">
            <a:avLst>
              <a:gd name="adj" fmla="val 68027"/>
            </a:avLst>
          </a:prstGeom>
          <a:solidFill>
            <a:srgbClr val="88888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8"/>
          <p:cNvSpPr/>
          <p:nvPr/>
        </p:nvSpPr>
        <p:spPr>
          <a:xfrm>
            <a:off x="8511429" y="871538"/>
            <a:ext cx="332882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</a:t>
            </a:r>
            <a:endParaRPr lang="en-US" sz="800" dirty="0"/>
          </a:p>
        </p:txBody>
      </p:sp>
      <p:sp>
        <p:nvSpPr>
          <p:cNvPr id="72" name="Text 69"/>
          <p:cNvSpPr/>
          <p:nvPr/>
        </p:nvSpPr>
        <p:spPr>
          <a:xfrm>
            <a:off x="7316539" y="1025128"/>
            <a:ext cx="1505992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spc="2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МАСШТАБИРОВАНИЕ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7380833" y="1183630"/>
            <a:ext cx="1426919" cy="182192"/>
          </a:xfrm>
          <a:prstGeom prst="rect">
            <a:avLst/>
          </a:prstGeom>
          <a:noFill/>
          <a:ln/>
        </p:spPr>
        <p:txBody>
          <a:bodyPr wrap="square" lIns="0" tIns="14288" rIns="0" bIns="14288" rtlCol="0" anchor="t">
            <a:normAutofit/>
          </a:bodyPr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Цель: (DIY 850, Сетевой 100, B2B 50)</a:t>
            </a:r>
            <a:endParaRPr lang="en-US" sz="800" dirty="0"/>
          </a:p>
        </p:txBody>
      </p:sp>
      <p:sp>
        <p:nvSpPr>
          <p:cNvPr id="74" name="Text 71"/>
          <p:cNvSpPr/>
          <p:nvPr/>
        </p:nvSpPr>
        <p:spPr>
          <a:xfrm>
            <a:off x="7607871" y="1176486"/>
            <a:ext cx="1214661" cy="2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 РТТ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7380833" y="1414686"/>
            <a:ext cx="1285875" cy="273504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Цель: (DIY 650, СК 250, B2B 100)</a:t>
            </a:r>
            <a:endParaRPr lang="en-US" sz="800" dirty="0"/>
          </a:p>
        </p:txBody>
      </p:sp>
      <p:sp>
        <p:nvSpPr>
          <p:cNvPr id="76" name="Text 73"/>
          <p:cNvSpPr/>
          <p:nvPr/>
        </p:nvSpPr>
        <p:spPr>
          <a:xfrm>
            <a:off x="7607871" y="1407542"/>
            <a:ext cx="1214661" cy="2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1000 т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228600" y="195593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D6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78" name="Text 75"/>
          <p:cNvSpPr/>
          <p:nvPr/>
        </p:nvSpPr>
        <p:spPr>
          <a:xfrm>
            <a:off x="385763" y="1947007"/>
            <a:ext cx="13861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3" kern="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СЛЕДУЮЩИЕ ШАГИ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1439689" y="2002371"/>
            <a:ext cx="7475711" cy="7144"/>
          </a:xfrm>
          <a:prstGeom prst="rect">
            <a:avLst/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7"/>
          <p:cNvSpPr/>
          <p:nvPr/>
        </p:nvSpPr>
        <p:spPr>
          <a:xfrm>
            <a:off x="232172" y="2125600"/>
            <a:ext cx="2831269" cy="1635919"/>
          </a:xfrm>
          <a:prstGeom prst="roundRect">
            <a:avLst>
              <a:gd name="adj" fmla="val 5822"/>
            </a:avLst>
          </a:prstGeom>
          <a:solidFill>
            <a:srgbClr val="161616"/>
          </a:solidFill>
          <a:ln w="7144">
            <a:solidFill>
              <a:srgbClr val="FF8C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8"/>
          <p:cNvSpPr/>
          <p:nvPr/>
        </p:nvSpPr>
        <p:spPr>
          <a:xfrm>
            <a:off x="2665218" y="2186322"/>
            <a:ext cx="362685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FF8C00">
                    <a:alpha val="1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575" dirty="0"/>
          </a:p>
        </p:txBody>
      </p:sp>
      <p:sp>
        <p:nvSpPr>
          <p:cNvPr id="82" name="Text 79"/>
          <p:cNvSpPr/>
          <p:nvPr/>
        </p:nvSpPr>
        <p:spPr>
          <a:xfrm>
            <a:off x="335756" y="224168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8C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83" name="Text 80"/>
          <p:cNvSpPr/>
          <p:nvPr/>
        </p:nvSpPr>
        <p:spPr>
          <a:xfrm>
            <a:off x="507206" y="2229185"/>
            <a:ext cx="2452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28" kern="0" dirty="0">
                <a:solidFill>
                  <a:srgbClr val="FF8C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ЭКСТРЕМАЛЬНЫЙ ТЕСТ 365</a:t>
            </a:r>
            <a:endParaRPr lang="en-US" sz="800" dirty="0"/>
          </a:p>
        </p:txBody>
      </p:sp>
      <p:sp>
        <p:nvSpPr>
          <p:cNvPr id="84" name="Text 81"/>
          <p:cNvSpPr/>
          <p:nvPr/>
        </p:nvSpPr>
        <p:spPr>
          <a:xfrm>
            <a:off x="335756" y="243278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844" dirty="0"/>
          </a:p>
        </p:txBody>
      </p:sp>
      <p:sp>
        <p:nvSpPr>
          <p:cNvPr id="85" name="Text 82"/>
          <p:cNvSpPr/>
          <p:nvPr/>
        </p:nvSpPr>
        <p:spPr>
          <a:xfrm>
            <a:off x="464344" y="2425638"/>
            <a:ext cx="2495513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6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Что:</a:t>
            </a:r>
            <a:pPr algn="l" indent="0" marL="0">
              <a:lnSpc>
                <a:spcPts val="797"/>
              </a:lnSpc>
              <a:buNone/>
            </a:pPr>
            <a:r>
              <a:rPr lang="en-US" sz="6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объект окрашен TITAN 3в1, выставлен на улице 365 дней</a:t>
            </a:r>
            <a:endParaRPr lang="en-US" sz="600" dirty="0"/>
          </a:p>
        </p:txBody>
      </p:sp>
      <p:sp>
        <p:nvSpPr>
          <p:cNvPr id="86" name="Text 83"/>
          <p:cNvSpPr/>
          <p:nvPr/>
        </p:nvSpPr>
        <p:spPr>
          <a:xfrm>
            <a:off x="335756" y="259117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844" dirty="0"/>
          </a:p>
        </p:txBody>
      </p:sp>
      <p:sp>
        <p:nvSpPr>
          <p:cNvPr id="87" name="Text 84"/>
          <p:cNvSpPr/>
          <p:nvPr/>
        </p:nvSpPr>
        <p:spPr>
          <a:xfrm>
            <a:off x="464344" y="2584028"/>
            <a:ext cx="2495513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Трансляция:</a:t>
            </a:r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онлайн-камера на titanpaints.ru</a:t>
            </a:r>
            <a:endParaRPr lang="en-US" sz="800" dirty="0"/>
          </a:p>
        </p:txBody>
      </p:sp>
      <p:sp>
        <p:nvSpPr>
          <p:cNvPr id="88" name="Text 85"/>
          <p:cNvSpPr/>
          <p:nvPr/>
        </p:nvSpPr>
        <p:spPr>
          <a:xfrm>
            <a:off x="335756" y="274956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844" dirty="0"/>
          </a:p>
        </p:txBody>
      </p:sp>
      <p:sp>
        <p:nvSpPr>
          <p:cNvPr id="89" name="Text 86"/>
          <p:cNvSpPr/>
          <p:nvPr/>
        </p:nvSpPr>
        <p:spPr>
          <a:xfrm>
            <a:off x="464344" y="2742419"/>
            <a:ext cx="2495513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Контроль:</a:t>
            </a:r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ежемесячные фото + экспертиза</a:t>
            </a:r>
            <a:endParaRPr lang="en-US" sz="800" dirty="0"/>
          </a:p>
        </p:txBody>
      </p:sp>
      <p:sp>
        <p:nvSpPr>
          <p:cNvPr id="90" name="Text 87"/>
          <p:cNvSpPr/>
          <p:nvPr/>
        </p:nvSpPr>
        <p:spPr>
          <a:xfrm>
            <a:off x="335756" y="290795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844" dirty="0"/>
          </a:p>
        </p:txBody>
      </p:sp>
      <p:sp>
        <p:nvSpPr>
          <p:cNvPr id="91" name="Text 88"/>
          <p:cNvSpPr/>
          <p:nvPr/>
        </p:nvSpPr>
        <p:spPr>
          <a:xfrm>
            <a:off x="464344" y="2900809"/>
            <a:ext cx="2495513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Цель:</a:t>
            </a:r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доказать «10 лет без перекраски» публично</a:t>
            </a:r>
            <a:endParaRPr lang="en-US" sz="800" dirty="0"/>
          </a:p>
        </p:txBody>
      </p:sp>
      <p:sp>
        <p:nvSpPr>
          <p:cNvPr id="92" name="Text 89"/>
          <p:cNvSpPr/>
          <p:nvPr/>
        </p:nvSpPr>
        <p:spPr>
          <a:xfrm>
            <a:off x="3156310" y="2125600"/>
            <a:ext cx="2831269" cy="1635919"/>
          </a:xfrm>
          <a:prstGeom prst="roundRect">
            <a:avLst>
              <a:gd name="adj" fmla="val 5822"/>
            </a:avLst>
          </a:prstGeom>
          <a:solidFill>
            <a:srgbClr val="161616"/>
          </a:solidFill>
          <a:ln w="7144">
            <a:solidFill>
              <a:srgbClr val="E6394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90"/>
          <p:cNvSpPr/>
          <p:nvPr/>
        </p:nvSpPr>
        <p:spPr>
          <a:xfrm>
            <a:off x="5589356" y="2186322"/>
            <a:ext cx="362685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E63946">
                    <a:alpha val="1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575" dirty="0"/>
          </a:p>
        </p:txBody>
      </p:sp>
      <p:sp>
        <p:nvSpPr>
          <p:cNvPr id="94" name="Text 91"/>
          <p:cNvSpPr/>
          <p:nvPr/>
        </p:nvSpPr>
        <p:spPr>
          <a:xfrm>
            <a:off x="3259894" y="224168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E639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125" dirty="0"/>
          </a:p>
        </p:txBody>
      </p:sp>
      <p:sp>
        <p:nvSpPr>
          <p:cNvPr id="95" name="Text 92"/>
          <p:cNvSpPr/>
          <p:nvPr/>
        </p:nvSpPr>
        <p:spPr>
          <a:xfrm>
            <a:off x="3431344" y="2229185"/>
            <a:ext cx="2452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28" kern="0" dirty="0">
                <a:solidFill>
                  <a:srgbClr val="E6394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DIGITAL-ПРОДВИЖЕНИЕ</a:t>
            </a:r>
            <a:endParaRPr lang="en-US" sz="800" dirty="0"/>
          </a:p>
        </p:txBody>
      </p:sp>
      <p:sp>
        <p:nvSpPr>
          <p:cNvPr id="96" name="Text 93"/>
          <p:cNvSpPr/>
          <p:nvPr/>
        </p:nvSpPr>
        <p:spPr>
          <a:xfrm>
            <a:off x="3259894" y="243278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844" dirty="0"/>
          </a:p>
        </p:txBody>
      </p:sp>
      <p:sp>
        <p:nvSpPr>
          <p:cNvPr id="97" name="Text 94"/>
          <p:cNvSpPr/>
          <p:nvPr/>
        </p:nvSpPr>
        <p:spPr>
          <a:xfrm>
            <a:off x="3388482" y="2425638"/>
            <a:ext cx="2495513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Яндекс.Директ:</a:t>
            </a:r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«краска по ржавчине» → TITAN</a:t>
            </a:r>
            <a:endParaRPr lang="en-US" sz="800" dirty="0"/>
          </a:p>
        </p:txBody>
      </p:sp>
      <p:sp>
        <p:nvSpPr>
          <p:cNvPr id="98" name="Text 95"/>
          <p:cNvSpPr/>
          <p:nvPr/>
        </p:nvSpPr>
        <p:spPr>
          <a:xfrm>
            <a:off x="3259894" y="259117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▢</a:t>
            </a:r>
            <a:endParaRPr lang="en-US" sz="844" dirty="0"/>
          </a:p>
        </p:txBody>
      </p:sp>
      <p:sp>
        <p:nvSpPr>
          <p:cNvPr id="99" name="Text 96"/>
          <p:cNvSpPr/>
          <p:nvPr/>
        </p:nvSpPr>
        <p:spPr>
          <a:xfrm>
            <a:off x="3388482" y="2584028"/>
            <a:ext cx="2495513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RuTube:</a:t>
            </a:r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пре-роллы 15-30 сек</a:t>
            </a:r>
            <a:endParaRPr lang="en-US" sz="800" dirty="0"/>
          </a:p>
        </p:txBody>
      </p:sp>
      <p:sp>
        <p:nvSpPr>
          <p:cNvPr id="100" name="Text 97"/>
          <p:cNvSpPr/>
          <p:nvPr/>
        </p:nvSpPr>
        <p:spPr>
          <a:xfrm>
            <a:off x="3259894" y="274956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844" dirty="0"/>
          </a:p>
        </p:txBody>
      </p:sp>
      <p:sp>
        <p:nvSpPr>
          <p:cNvPr id="101" name="Text 98"/>
          <p:cNvSpPr/>
          <p:nvPr/>
        </p:nvSpPr>
        <p:spPr>
          <a:xfrm>
            <a:off x="3388482" y="2742419"/>
            <a:ext cx="2495513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VK Геотаргетинг</a:t>
            </a:r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по ТТ</a:t>
            </a:r>
            <a:endParaRPr lang="en-US" sz="800" dirty="0"/>
          </a:p>
        </p:txBody>
      </p:sp>
      <p:sp>
        <p:nvSpPr>
          <p:cNvPr id="102" name="Text 99"/>
          <p:cNvSpPr/>
          <p:nvPr/>
        </p:nvSpPr>
        <p:spPr>
          <a:xfrm>
            <a:off x="3259894" y="290795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844" dirty="0"/>
          </a:p>
        </p:txBody>
      </p:sp>
      <p:sp>
        <p:nvSpPr>
          <p:cNvPr id="103" name="Text 100"/>
          <p:cNvSpPr/>
          <p:nvPr/>
        </p:nvSpPr>
        <p:spPr>
          <a:xfrm>
            <a:off x="3388482" y="2900809"/>
            <a:ext cx="2495513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Блогер:</a:t>
            </a:r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обзор TITAN vs ПФ-115</a:t>
            </a:r>
            <a:endParaRPr lang="en-US" sz="800" dirty="0"/>
          </a:p>
        </p:txBody>
      </p:sp>
      <p:sp>
        <p:nvSpPr>
          <p:cNvPr id="104" name="Text 101"/>
          <p:cNvSpPr/>
          <p:nvPr/>
        </p:nvSpPr>
        <p:spPr>
          <a:xfrm>
            <a:off x="6080447" y="2125600"/>
            <a:ext cx="2831381" cy="1635919"/>
          </a:xfrm>
          <a:prstGeom prst="roundRect">
            <a:avLst>
              <a:gd name="adj" fmla="val 5822"/>
            </a:avLst>
          </a:prstGeom>
          <a:solidFill>
            <a:srgbClr val="161616"/>
          </a:solidFill>
          <a:ln w="7144">
            <a:solidFill>
              <a:srgbClr val="2ECC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Text 102"/>
          <p:cNvSpPr/>
          <p:nvPr/>
        </p:nvSpPr>
        <p:spPr>
          <a:xfrm>
            <a:off x="8513606" y="2186322"/>
            <a:ext cx="362685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2ECC71">
                    <a:alpha val="1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575" dirty="0"/>
          </a:p>
        </p:txBody>
      </p:sp>
      <p:sp>
        <p:nvSpPr>
          <p:cNvPr id="106" name="Text 103"/>
          <p:cNvSpPr/>
          <p:nvPr/>
        </p:nvSpPr>
        <p:spPr>
          <a:xfrm>
            <a:off x="6184032" y="224168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ECC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125" dirty="0"/>
          </a:p>
        </p:txBody>
      </p:sp>
      <p:sp>
        <p:nvSpPr>
          <p:cNvPr id="107" name="Text 104"/>
          <p:cNvSpPr/>
          <p:nvPr/>
        </p:nvSpPr>
        <p:spPr>
          <a:xfrm>
            <a:off x="6355482" y="2229185"/>
            <a:ext cx="245276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28" kern="0" dirty="0">
                <a:solidFill>
                  <a:srgbClr val="2ECC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РАСШИРЕНИЕ В СЕТИ</a:t>
            </a:r>
            <a:endParaRPr lang="en-US" sz="800" dirty="0"/>
          </a:p>
        </p:txBody>
      </p:sp>
      <p:sp>
        <p:nvSpPr>
          <p:cNvPr id="108" name="Text 105"/>
          <p:cNvSpPr/>
          <p:nvPr/>
        </p:nvSpPr>
        <p:spPr>
          <a:xfrm>
            <a:off x="6184032" y="243278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＋</a:t>
            </a:r>
            <a:endParaRPr lang="en-US" sz="844" dirty="0"/>
          </a:p>
        </p:txBody>
      </p:sp>
      <p:sp>
        <p:nvSpPr>
          <p:cNvPr id="109" name="Text 106"/>
          <p:cNvSpPr/>
          <p:nvPr/>
        </p:nvSpPr>
        <p:spPr>
          <a:xfrm>
            <a:off x="6312619" y="2425638"/>
            <a:ext cx="2495624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Петрович:</a:t>
            </a:r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797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 ТТ</a:t>
            </a:r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(СЗФО+ЦФО+УФО) — план 2027</a:t>
            </a:r>
            <a:endParaRPr lang="en-US" sz="800" dirty="0"/>
          </a:p>
        </p:txBody>
      </p:sp>
      <p:sp>
        <p:nvSpPr>
          <p:cNvPr id="110" name="Text 107"/>
          <p:cNvSpPr/>
          <p:nvPr/>
        </p:nvSpPr>
        <p:spPr>
          <a:xfrm>
            <a:off x="6184032" y="259117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＋</a:t>
            </a:r>
            <a:endParaRPr lang="en-US" sz="844" dirty="0"/>
          </a:p>
        </p:txBody>
      </p:sp>
      <p:sp>
        <p:nvSpPr>
          <p:cNvPr id="111" name="Text 108"/>
          <p:cNvSpPr/>
          <p:nvPr/>
        </p:nvSpPr>
        <p:spPr>
          <a:xfrm>
            <a:off x="6312619" y="2584028"/>
            <a:ext cx="2495624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Максидом:</a:t>
            </a:r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797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ТТ</a:t>
            </a:r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(12 регионов)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6184032" y="274956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＋</a:t>
            </a:r>
            <a:endParaRPr lang="en-US" sz="844" dirty="0"/>
          </a:p>
        </p:txBody>
      </p:sp>
      <p:sp>
        <p:nvSpPr>
          <p:cNvPr id="113" name="Text 110"/>
          <p:cNvSpPr/>
          <p:nvPr/>
        </p:nvSpPr>
        <p:spPr>
          <a:xfrm>
            <a:off x="6312619" y="2742419"/>
            <a:ext cx="2495624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OBI:</a:t>
            </a:r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797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ТТ</a:t>
            </a:r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(восстановление)</a:t>
            </a:r>
            <a:endParaRPr lang="en-US" sz="800" dirty="0"/>
          </a:p>
        </p:txBody>
      </p:sp>
      <p:sp>
        <p:nvSpPr>
          <p:cNvPr id="114" name="Text 111"/>
          <p:cNvSpPr/>
          <p:nvPr/>
        </p:nvSpPr>
        <p:spPr>
          <a:xfrm>
            <a:off x="6184032" y="290795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888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＋</a:t>
            </a:r>
            <a:endParaRPr lang="en-US" sz="844" dirty="0"/>
          </a:p>
        </p:txBody>
      </p:sp>
      <p:sp>
        <p:nvSpPr>
          <p:cNvPr id="115" name="Text 112"/>
          <p:cNvSpPr/>
          <p:nvPr/>
        </p:nvSpPr>
        <p:spPr>
          <a:xfrm>
            <a:off x="6312619" y="2900809"/>
            <a:ext cx="2495624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FFD6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Мегаполис:</a:t>
            </a:r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797"/>
              </a:lnSpc>
              <a:buNone/>
            </a:pPr>
            <a:r>
              <a:rPr lang="en-US" sz="8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ТТ</a:t>
            </a:r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(Калининград)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2026-10-01T12:44:52Z</dcterms:created>
  <dcterms:modified xsi:type="dcterms:W3CDTF">2026-10-01T12:44:52Z</dcterms:modified>
</cp:coreProperties>
</file>