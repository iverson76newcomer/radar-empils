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67" r:id="rId2"/>
    <p:sldId id="256" r:id="rId3"/>
    <p:sldId id="261" r:id="rId4"/>
    <p:sldId id="259" r:id="rId5"/>
    <p:sldId id="269" r:id="rId6"/>
    <p:sldId id="257" r:id="rId7"/>
    <p:sldId id="264" r:id="rId8"/>
    <p:sldId id="268" r:id="rId9"/>
    <p:sldId id="258" r:id="rId10"/>
    <p:sldId id="260" r:id="rId11"/>
  </p:sldIdLst>
  <p:sldSz cx="9144000" cy="5143500" type="screen16x9"/>
  <p:notesSz cx="6797675" cy="9926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6897" autoAdjust="0"/>
    <p:restoredTop sz="84439" autoAdjust="0"/>
  </p:normalViewPr>
  <p:slideViewPr>
    <p:cSldViewPr snapToGrid="0" snapToObjects="1">
      <p:cViewPr varScale="1">
        <p:scale>
          <a:sx n="126" d="100"/>
          <a:sy n="126" d="100"/>
        </p:scale>
        <p:origin x="-1110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107031" tIns="53515" rIns="107031" bIns="53515" rtlCol="0"/>
          <a:lstStyle>
            <a:lvl1pPr algn="l">
              <a:defRPr sz="14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919" y="0"/>
            <a:ext cx="2945659" cy="496332"/>
          </a:xfrm>
          <a:prstGeom prst="rect">
            <a:avLst/>
          </a:prstGeom>
        </p:spPr>
        <p:txBody>
          <a:bodyPr vert="horz" lIns="107031" tIns="53515" rIns="107031" bIns="53515" rtlCol="0"/>
          <a:lstStyle>
            <a:lvl1pPr algn="r">
              <a:defRPr sz="1400"/>
            </a:lvl1pPr>
          </a:lstStyle>
          <a:p>
            <a:fld id="{D5FBEEA3-D4FA-4FB4-A72C-31DD37E08AF9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7031" tIns="53515" rIns="107031" bIns="53515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107031" tIns="53515" rIns="107031" bIns="53515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107031" tIns="53515" rIns="107031" bIns="53515" rtlCol="0" anchor="b"/>
          <a:lstStyle>
            <a:lvl1pPr algn="l">
              <a:defRPr sz="14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919" y="9428583"/>
            <a:ext cx="2945659" cy="496332"/>
          </a:xfrm>
          <a:prstGeom prst="rect">
            <a:avLst/>
          </a:prstGeom>
        </p:spPr>
        <p:txBody>
          <a:bodyPr vert="horz" lIns="107031" tIns="53515" rIns="107031" bIns="53515" rtlCol="0" anchor="b"/>
          <a:lstStyle>
            <a:lvl1pPr algn="r">
              <a:defRPr sz="1400"/>
            </a:lvl1pPr>
          </a:lstStyle>
          <a:p>
            <a:fld id="{6DD9E918-18D3-4753-90A0-47B16382A5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91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400" b="1" dirty="0">
                <a:solidFill>
                  <a:srgbClr val="6B7280"/>
                </a:solidFill>
                <a:latin typeface="Arial"/>
              </a:rPr>
              <a:t>Рейтинг по бренду компании: </a:t>
            </a:r>
            <a:r>
              <a:rPr lang="ru-RU" sz="1400" i="1" dirty="0" err="1">
                <a:solidFill>
                  <a:srgbClr val="6B7280"/>
                </a:solidFill>
                <a:latin typeface="Arial"/>
              </a:rPr>
              <a:t>Yandex</a:t>
            </a:r>
            <a:r>
              <a:rPr lang="ru-RU" sz="1400" i="1" dirty="0">
                <a:solidFill>
                  <a:srgbClr val="6B7280"/>
                </a:solidFill>
                <a:latin typeface="Arial"/>
              </a:rPr>
              <a:t> </a:t>
            </a:r>
            <a:r>
              <a:rPr lang="ru-RU" sz="1400" i="1" dirty="0" err="1">
                <a:solidFill>
                  <a:srgbClr val="6B7280"/>
                </a:solidFill>
                <a:latin typeface="Arial"/>
              </a:rPr>
              <a:t>Wordstat</a:t>
            </a:r>
            <a:r>
              <a:rPr lang="ru-RU" sz="1400" i="1" dirty="0">
                <a:solidFill>
                  <a:srgbClr val="6B7280"/>
                </a:solidFill>
                <a:latin typeface="Arial"/>
              </a:rPr>
              <a:t> API, сентябрь 2026. Метод: брендовые запросы по компаниям (название + «краска» / «компания» / «производитель»). Для каждой компании взят максимальный показатель. </a:t>
            </a:r>
            <a:r>
              <a:rPr lang="ru-RU" sz="1400" i="1" dirty="0" err="1">
                <a:solidFill>
                  <a:srgbClr val="6B7280"/>
                </a:solidFill>
                <a:latin typeface="Arial"/>
              </a:rPr>
              <a:t>Эмпилс</a:t>
            </a:r>
            <a:r>
              <a:rPr lang="ru-RU" sz="1400" i="1" dirty="0">
                <a:solidFill>
                  <a:srgbClr val="6B7280"/>
                </a:solidFill>
                <a:latin typeface="Arial"/>
              </a:rPr>
              <a:t> = 2 966 запросов/мес.</a:t>
            </a:r>
          </a:p>
          <a:p>
            <a:pPr defTabSz="1070305">
              <a:defRPr/>
            </a:pPr>
            <a:r>
              <a:rPr lang="ru-RU" sz="1400" b="1" dirty="0">
                <a:solidFill>
                  <a:srgbClr val="6B7280"/>
                </a:solidFill>
                <a:latin typeface="Arial"/>
              </a:rPr>
              <a:t>Рейтинг по бренду </a:t>
            </a:r>
            <a:r>
              <a:rPr lang="en-US" sz="1400" b="1" dirty="0">
                <a:solidFill>
                  <a:srgbClr val="6B7280"/>
                </a:solidFill>
                <a:latin typeface="Arial"/>
              </a:rPr>
              <a:t>TITAN</a:t>
            </a:r>
            <a:r>
              <a:rPr lang="ru-RU" sz="1400" b="1" dirty="0">
                <a:solidFill>
                  <a:srgbClr val="6B7280"/>
                </a:solidFill>
                <a:latin typeface="Arial"/>
              </a:rPr>
              <a:t>:</a:t>
            </a:r>
            <a:r>
              <a:rPr lang="ru-RU" sz="1400" i="1" dirty="0">
                <a:solidFill>
                  <a:srgbClr val="6B7280"/>
                </a:solidFill>
                <a:latin typeface="Arial"/>
              </a:rPr>
              <a:t>Сумма 7 одинаковых запросов | </a:t>
            </a:r>
            <a:r>
              <a:rPr lang="ru-RU" sz="1400" i="1" dirty="0" err="1">
                <a:solidFill>
                  <a:srgbClr val="6B7280"/>
                </a:solidFill>
                <a:latin typeface="Arial"/>
              </a:rPr>
              <a:t>Yandex</a:t>
            </a:r>
            <a:r>
              <a:rPr lang="ru-RU" sz="1400" i="1" dirty="0">
                <a:solidFill>
                  <a:srgbClr val="6B7280"/>
                </a:solidFill>
                <a:latin typeface="Arial"/>
              </a:rPr>
              <a:t> </a:t>
            </a:r>
            <a:r>
              <a:rPr lang="ru-RU" sz="1400" i="1" dirty="0" err="1">
                <a:solidFill>
                  <a:srgbClr val="6B7280"/>
                </a:solidFill>
                <a:latin typeface="Arial"/>
              </a:rPr>
              <a:t>Wordstat</a:t>
            </a:r>
            <a:r>
              <a:rPr lang="ru-RU" sz="1400" i="1" dirty="0">
                <a:solidFill>
                  <a:srgbClr val="6B7280"/>
                </a:solidFill>
                <a:latin typeface="Arial"/>
              </a:rPr>
              <a:t> API, сентябрь 2026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277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8442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1969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1134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326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5400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7715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0115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7292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1539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69769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5345F-A3DA-4B28-9AA6-0DFD2257C5D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D9788-A7C0-4418-8F83-0AB10D031E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30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5"/>
          <p:cNvSpPr/>
          <p:nvPr/>
        </p:nvSpPr>
        <p:spPr>
          <a:xfrm>
            <a:off x="280800" y="1219328"/>
            <a:ext cx="79200" cy="2300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61600" y="1391966"/>
            <a:ext cx="7498799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dirty="0" err="1">
                <a:latin typeface="Inter"/>
              </a:rPr>
              <a:t>Дорога</a:t>
            </a:r>
            <a:r>
              <a:rPr sz="4400" b="1" dirty="0">
                <a:latin typeface="Inter"/>
              </a:rPr>
              <a:t> к </a:t>
            </a:r>
            <a:r>
              <a:rPr sz="4400" b="1" dirty="0" err="1">
                <a:latin typeface="Inter"/>
              </a:rPr>
              <a:t>лидерству</a:t>
            </a:r>
            <a:endParaRPr sz="4400" b="1" dirty="0">
              <a:latin typeface="Inter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61600" y="2309966"/>
            <a:ext cx="749879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0" dirty="0" smtClean="0">
                <a:latin typeface="Inter"/>
              </a:rPr>
              <a:t>Q3-Q4</a:t>
            </a:r>
          </a:p>
          <a:p>
            <a:pPr algn="l"/>
            <a:r>
              <a:rPr sz="1800" b="0" dirty="0" err="1" smtClean="0">
                <a:latin typeface="Inter"/>
              </a:rPr>
              <a:t>Про</a:t>
            </a:r>
            <a:r>
              <a:rPr lang="ru-RU" sz="1800" b="0" dirty="0" err="1" smtClean="0">
                <a:latin typeface="Inter"/>
              </a:rPr>
              <a:t>екты</a:t>
            </a:r>
            <a:r>
              <a:rPr lang="ru-RU" sz="1800" b="0" dirty="0" smtClean="0">
                <a:latin typeface="Inter"/>
              </a:rPr>
              <a:t> развития</a:t>
            </a:r>
            <a:endParaRPr sz="1800" b="0" dirty="0">
              <a:latin typeface="Inter"/>
            </a:endParaRPr>
          </a:p>
        </p:txBody>
      </p:sp>
      <p:sp>
        <p:nvSpPr>
          <p:cNvPr id="88" name="Rectangle 9"/>
          <p:cNvSpPr/>
          <p:nvPr/>
        </p:nvSpPr>
        <p:spPr>
          <a:xfrm>
            <a:off x="0" y="4500000"/>
            <a:ext cx="9144000" cy="14400"/>
          </a:xfrm>
          <a:prstGeom prst="rect">
            <a:avLst/>
          </a:prstGeom>
          <a:solidFill>
            <a:srgbClr val="44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01600" y="4615362"/>
            <a:ext cx="4500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8A95A3"/>
                </a:solidFill>
                <a:latin typeface="Inter"/>
              </a:rPr>
              <a:t>ЗАО «</a:t>
            </a:r>
            <a:r>
              <a:rPr sz="900" b="0" dirty="0" err="1">
                <a:solidFill>
                  <a:srgbClr val="8A95A3"/>
                </a:solidFill>
                <a:latin typeface="Inter"/>
              </a:rPr>
              <a:t>Эмпилс</a:t>
            </a:r>
            <a:r>
              <a:rPr sz="900" b="0" dirty="0">
                <a:solidFill>
                  <a:srgbClr val="8A95A3"/>
                </a:solidFill>
                <a:latin typeface="Inter"/>
              </a:rPr>
              <a:t>» </a:t>
            </a:r>
            <a:endParaRPr lang="en-US" sz="900" b="0" dirty="0" smtClean="0">
              <a:solidFill>
                <a:srgbClr val="8A95A3"/>
              </a:solidFill>
              <a:latin typeface="Inter"/>
            </a:endParaRPr>
          </a:p>
          <a:p>
            <a:pPr algn="l"/>
            <a:r>
              <a:rPr sz="900" b="0" dirty="0" err="1" smtClean="0">
                <a:solidFill>
                  <a:srgbClr val="8A95A3"/>
                </a:solidFill>
                <a:latin typeface="Inter"/>
              </a:rPr>
              <a:t>Ростов-на-Дону</a:t>
            </a:r>
            <a:endParaRPr sz="900" b="0" dirty="0">
              <a:solidFill>
                <a:srgbClr val="8A95A3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2255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68831"/>
            <a:ext cx="8686800" cy="0"/>
          </a:xfrm>
          <a:prstGeom prst="line">
            <a:avLst/>
          </a:prstGeom>
          <a:noFill/>
          <a:ln w="7144">
            <a:solidFill>
              <a:srgbClr val="EFE9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2" y="2071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547" dirty="0"/>
          </a:p>
        </p:txBody>
      </p:sp>
      <p:sp>
        <p:nvSpPr>
          <p:cNvPr id="4" name="Text 2"/>
          <p:cNvSpPr/>
          <p:nvPr/>
        </p:nvSpPr>
        <p:spPr>
          <a:xfrm>
            <a:off x="305885" y="196742"/>
            <a:ext cx="77045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00" b="1" kern="0" spc="113" dirty="0">
                <a:solidFill>
                  <a:schemeClr val="tx1">
                    <a:lumMod val="50000"/>
                    <a:lumOff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18897" y="208739"/>
            <a:ext cx="13805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СДЕЛАНО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3311" y="169736"/>
            <a:ext cx="1139029" cy="232029"/>
          </a:xfrm>
          <a:prstGeom prst="roundRect">
            <a:avLst>
              <a:gd name="adj" fmla="val 2463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51542" y="238072"/>
            <a:ext cx="702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АКТИВЕН</a:t>
            </a:r>
            <a:endParaRPr lang="en-US" sz="600" b="1" dirty="0"/>
          </a:p>
        </p:txBody>
      </p:sp>
      <p:sp>
        <p:nvSpPr>
          <p:cNvPr id="129" name="Text 28"/>
          <p:cNvSpPr/>
          <p:nvPr/>
        </p:nvSpPr>
        <p:spPr>
          <a:xfrm>
            <a:off x="232172" y="1335014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29"/>
          <p:cNvSpPr/>
          <p:nvPr/>
        </p:nvSpPr>
        <p:spPr>
          <a:xfrm>
            <a:off x="321469" y="1384100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133" name="Text 32"/>
          <p:cNvSpPr/>
          <p:nvPr/>
        </p:nvSpPr>
        <p:spPr>
          <a:xfrm>
            <a:off x="321469" y="1608065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POS-МАТЕРИАЛЫ</a:t>
            </a:r>
            <a:endParaRPr lang="en-US" sz="800" dirty="0"/>
          </a:p>
        </p:txBody>
      </p:sp>
      <p:sp>
        <p:nvSpPr>
          <p:cNvPr id="134" name="Text 33"/>
          <p:cNvSpPr/>
          <p:nvPr/>
        </p:nvSpPr>
        <p:spPr>
          <a:xfrm>
            <a:off x="321471" y="1851318"/>
            <a:ext cx="1596233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35" name="Text 34"/>
          <p:cNvSpPr/>
          <p:nvPr/>
        </p:nvSpPr>
        <p:spPr>
          <a:xfrm>
            <a:off x="302185" y="1736147"/>
            <a:ext cx="1536773" cy="53508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>
              <a:lnSpc>
                <a:spcPts val="900"/>
              </a:lnSpc>
            </a:pP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Руководство по продажам</a:t>
            </a:r>
            <a:b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2.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Шелфтокеры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воблеры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ценники</a:t>
            </a:r>
            <a:endParaRPr lang="en-US" sz="700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Листовк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а</a:t>
            </a:r>
            <a:b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4.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П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ланограмма</a:t>
            </a:r>
            <a:endParaRPr lang="en-US" sz="700" dirty="0"/>
          </a:p>
        </p:txBody>
      </p:sp>
      <p:sp>
        <p:nvSpPr>
          <p:cNvPr id="136" name="Shape 35"/>
          <p:cNvSpPr/>
          <p:nvPr/>
        </p:nvSpPr>
        <p:spPr>
          <a:xfrm>
            <a:off x="321469" y="2236558"/>
            <a:ext cx="1505880" cy="0"/>
          </a:xfrm>
          <a:prstGeom prst="line">
            <a:avLst/>
          </a:prstGeom>
          <a:noFill/>
          <a:ln w="7144">
            <a:solidFill>
              <a:srgbClr val="EFE9DD"/>
            </a:solidFill>
            <a:prstDash val="solid"/>
          </a:ln>
        </p:spPr>
        <p:txBody>
          <a:bodyPr/>
          <a:p/>
        </p:txBody>
      </p:sp>
      <p:sp>
        <p:nvSpPr>
          <p:cNvPr id="139" name="Text 38"/>
          <p:cNvSpPr/>
          <p:nvPr/>
        </p:nvSpPr>
        <p:spPr>
          <a:xfrm>
            <a:off x="1980940" y="1335014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0" name="Text 39"/>
          <p:cNvSpPr/>
          <p:nvPr/>
        </p:nvSpPr>
        <p:spPr>
          <a:xfrm>
            <a:off x="2070236" y="1384100"/>
            <a:ext cx="11914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1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143" name="Text 42"/>
          <p:cNvSpPr/>
          <p:nvPr/>
        </p:nvSpPr>
        <p:spPr>
          <a:xfrm>
            <a:off x="2070236" y="1608065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 И ОБУЧЕНИЕ</a:t>
            </a:r>
            <a:endParaRPr lang="en-US" sz="800" dirty="0"/>
          </a:p>
        </p:txBody>
      </p:sp>
      <p:sp>
        <p:nvSpPr>
          <p:cNvPr id="144" name="Text 43"/>
          <p:cNvSpPr/>
          <p:nvPr/>
        </p:nvSpPr>
        <p:spPr>
          <a:xfrm>
            <a:off x="2023480" y="1745135"/>
            <a:ext cx="1642990" cy="590079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</a:t>
            </a:r>
            <a:r>
              <a:rPr lang="ru-RU" sz="700" dirty="0" smtClean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Видеоролики</a:t>
            </a:r>
            <a:r>
              <a:rPr lang="ru-RU" sz="700" dirty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: 5 штук</a:t>
            </a: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2. О</a:t>
            </a:r>
            <a:r>
              <a:rPr lang="en-US" sz="700" dirty="0" err="1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блако</a:t>
            </a:r>
            <a:r>
              <a:rPr lang="en-US" sz="700" dirty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 с </a:t>
            </a:r>
            <a:r>
              <a:rPr lang="en-US" sz="700" dirty="0" err="1" smtClean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материалами</a:t>
            </a:r>
            <a:endParaRPr lang="ru-RU" sz="700" dirty="0" smtClean="0">
              <a:solidFill>
                <a:srgbClr val="5A6776"/>
              </a:solidFill>
              <a:latin typeface="+mj-lt"/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Обучение</a:t>
            </a:r>
            <a:r>
              <a:rPr lang="en-US" sz="700" dirty="0" smtClean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:</a:t>
            </a:r>
            <a:r>
              <a:rPr lang="ru-RU" sz="700" dirty="0" smtClean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 106</a:t>
            </a:r>
            <a:r>
              <a:rPr lang="en-US" sz="700" dirty="0" smtClean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 smtClean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ТП ОП</a:t>
            </a:r>
            <a:r>
              <a:rPr lang="en-US" sz="700" dirty="0" smtClean="0">
                <a:solidFill>
                  <a:srgbClr val="5A6776"/>
                </a:solidFill>
                <a:latin typeface="+mj-lt"/>
                <a:ea typeface="Carlito" pitchFamily="34" charset="-122"/>
                <a:cs typeface="Carlito" pitchFamily="34" charset="-120"/>
              </a:rPr>
              <a:t>, </a:t>
            </a:r>
            <a:endParaRPr lang="ru-RU" sz="700" dirty="0" smtClean="0">
              <a:solidFill>
                <a:srgbClr val="5A6776"/>
              </a:solidFill>
              <a:latin typeface="+mj-lt"/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900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4. Запуск второго углубленного модуля  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обучения</a:t>
            </a:r>
          </a:p>
          <a:p>
            <a:pPr>
              <a:lnSpc>
                <a:spcPts val="900"/>
              </a:lnSpc>
            </a:pPr>
            <a:endParaRPr lang="en-US" sz="700" dirty="0">
              <a:solidFill>
                <a:srgbClr val="5A6776"/>
              </a:solidFill>
              <a:latin typeface="+mj-lt"/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500" dirty="0">
              <a:solidFill>
                <a:srgbClr val="5A6776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46" name="Text 45"/>
          <p:cNvSpPr/>
          <p:nvPr/>
        </p:nvSpPr>
        <p:spPr>
          <a:xfrm>
            <a:off x="2070236" y="2127437"/>
            <a:ext cx="521106" cy="12540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47" name="Text 46"/>
          <p:cNvSpPr/>
          <p:nvPr/>
        </p:nvSpPr>
        <p:spPr>
          <a:xfrm>
            <a:off x="2569390" y="2138578"/>
            <a:ext cx="1049127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48" name="Text 47"/>
          <p:cNvSpPr/>
          <p:nvPr/>
        </p:nvSpPr>
        <p:spPr>
          <a:xfrm>
            <a:off x="3716894" y="1944865"/>
            <a:ext cx="1684474" cy="1388735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4A57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9" name="Text 48"/>
          <p:cNvSpPr/>
          <p:nvPr/>
        </p:nvSpPr>
        <p:spPr>
          <a:xfrm>
            <a:off x="3806191" y="1993951"/>
            <a:ext cx="9056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</a:t>
            </a:r>
            <a:endParaRPr lang="en-US" sz="800" dirty="0"/>
          </a:p>
        </p:txBody>
      </p:sp>
      <p:sp>
        <p:nvSpPr>
          <p:cNvPr id="152" name="Text 51"/>
          <p:cNvSpPr/>
          <p:nvPr/>
        </p:nvSpPr>
        <p:spPr>
          <a:xfrm>
            <a:off x="3806191" y="2205216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742"/>
              </a:lnSpc>
            </a:pPr>
            <a:r>
              <a:rPr lang="ru-RU" sz="800" b="1" kern="0" spc="28" dirty="0" smtClean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ШК </a:t>
            </a:r>
            <a:r>
              <a:rPr lang="en-US" sz="800" b="1" kern="0" spc="28" dirty="0" smtClean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153" name="Text 52"/>
          <p:cNvSpPr/>
          <p:nvPr/>
        </p:nvSpPr>
        <p:spPr>
          <a:xfrm>
            <a:off x="3761334" y="2332758"/>
            <a:ext cx="1626351" cy="957642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Доработка 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сайта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Empils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посадочной страницы</a:t>
            </a:r>
            <a:b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2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.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Запуск видеоканала (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VK 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В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идео) </a:t>
            </a:r>
            <a:endParaRPr lang="en-US" sz="700" dirty="0" smtClean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3.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Видеореклама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пре-роллы 15-30 сек</a:t>
            </a:r>
          </a:p>
          <a:p>
            <a:pPr>
              <a:lnSpc>
                <a:spcPts val="797"/>
              </a:lnSpc>
            </a:pP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(VK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Видео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)</a:t>
            </a:r>
            <a:endParaRPr lang="ru-RU" sz="700" dirty="0" smtClean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5.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Блогер-инфлюенсер</a:t>
            </a:r>
            <a:endParaRPr lang="ru-RU" sz="700" dirty="0" smtClean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6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. 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Контекстная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и </a:t>
            </a:r>
            <a:r>
              <a:rPr lang="ru-RU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таргетированная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реклама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(</a:t>
            </a: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Яндекс.Директ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)</a:t>
            </a:r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700" dirty="0"/>
          </a:p>
        </p:txBody>
      </p:sp>
      <p:sp>
        <p:nvSpPr>
          <p:cNvPr id="155" name="Text 54"/>
          <p:cNvSpPr/>
          <p:nvPr/>
        </p:nvSpPr>
        <p:spPr>
          <a:xfrm>
            <a:off x="3806191" y="2744658"/>
            <a:ext cx="1505880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56" name="Text 55"/>
          <p:cNvSpPr/>
          <p:nvPr/>
        </p:nvSpPr>
        <p:spPr>
          <a:xfrm>
            <a:off x="3806191" y="2874473"/>
            <a:ext cx="1505880" cy="129815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57" name="Text 56"/>
          <p:cNvSpPr/>
          <p:nvPr/>
        </p:nvSpPr>
        <p:spPr>
          <a:xfrm>
            <a:off x="5478475" y="1347714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8" name="Text 57"/>
          <p:cNvSpPr/>
          <p:nvPr/>
        </p:nvSpPr>
        <p:spPr>
          <a:xfrm>
            <a:off x="5567774" y="1396800"/>
            <a:ext cx="1148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ПЛАН «Б»</a:t>
            </a:r>
            <a:endParaRPr lang="en-US" sz="800" dirty="0"/>
          </a:p>
        </p:txBody>
      </p:sp>
      <p:sp>
        <p:nvSpPr>
          <p:cNvPr id="161" name="Text 60"/>
          <p:cNvSpPr/>
          <p:nvPr/>
        </p:nvSpPr>
        <p:spPr>
          <a:xfrm>
            <a:off x="5567772" y="1620765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РИСКАМИ</a:t>
            </a:r>
            <a:endParaRPr lang="en-US" sz="800" dirty="0"/>
          </a:p>
        </p:txBody>
      </p:sp>
      <p:sp>
        <p:nvSpPr>
          <p:cNvPr id="162" name="Text 61"/>
          <p:cNvSpPr/>
          <p:nvPr/>
        </p:nvSpPr>
        <p:spPr>
          <a:xfrm>
            <a:off x="5567774" y="1757836"/>
            <a:ext cx="1596233" cy="304864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5 инструментов: </a:t>
            </a:r>
            <a:endParaRPr lang="ru-RU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r>
              <a:rPr lang="en-US" sz="700" dirty="0" err="1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доп.обучение</a:t>
            </a:r>
            <a:r>
              <a:rPr lang="en-US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корректировка ассортимента, трейд-промо, мастер-классы, куратор</a:t>
            </a:r>
          </a:p>
        </p:txBody>
      </p:sp>
      <p:sp>
        <p:nvSpPr>
          <p:cNvPr id="163" name="Text 62"/>
          <p:cNvSpPr/>
          <p:nvPr/>
        </p:nvSpPr>
        <p:spPr>
          <a:xfrm>
            <a:off x="5507706" y="2257793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ru-RU" sz="800" dirty="0" smtClean="0">
                <a:solidFill>
                  <a:srgbClr val="8BAA8A"/>
                </a:solidFill>
                <a:ea typeface="Liberation Sans Narrow" pitchFamily="34" charset="-122"/>
                <a:cs typeface="Liberation Sans Narrow" pitchFamily="34" charset="-120"/>
              </a:rPr>
              <a:t> </a:t>
            </a:r>
            <a:r>
              <a:rPr lang="en-US" sz="800" dirty="0" smtClean="0">
                <a:solidFill>
                  <a:srgbClr val="8BAA8A"/>
                </a:solidFill>
                <a:ea typeface="Liberation Sans Narrow" pitchFamily="34" charset="-122"/>
                <a:cs typeface="Liberation Sans Narrow" pitchFamily="34" charset="-120"/>
              </a:rPr>
              <a:t>🟢70-85</a:t>
            </a:r>
            <a:r>
              <a:rPr lang="en-US" sz="800" dirty="0">
                <a:solidFill>
                  <a:srgbClr val="8BAA8A"/>
                </a:solidFill>
                <a:ea typeface="Liberation Sans Narrow" pitchFamily="34" charset="-122"/>
                <a:cs typeface="Liberation Sans Narrow" pitchFamily="34" charset="-120"/>
              </a:rPr>
              <a:t>%</a:t>
            </a:r>
            <a:endParaRPr lang="en-US" sz="800" dirty="0"/>
          </a:p>
        </p:txBody>
      </p:sp>
      <p:sp>
        <p:nvSpPr>
          <p:cNvPr id="164" name="Text 63"/>
          <p:cNvSpPr/>
          <p:nvPr/>
        </p:nvSpPr>
        <p:spPr>
          <a:xfrm>
            <a:off x="6083240" y="2259695"/>
            <a:ext cx="528300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 smtClean="0">
                <a:solidFill>
                  <a:srgbClr val="C9A77C"/>
                </a:solidFill>
                <a:ea typeface="Liberation Sans Narrow" pitchFamily="34" charset="-122"/>
                <a:cs typeface="Liberation Sans Narrow" pitchFamily="34" charset="-120"/>
              </a:rPr>
              <a:t>🟡50-70</a:t>
            </a:r>
            <a:r>
              <a:rPr lang="en-US" sz="800" dirty="0">
                <a:solidFill>
                  <a:srgbClr val="C9A77C"/>
                </a:solidFill>
                <a:ea typeface="Liberation Sans Narrow" pitchFamily="34" charset="-122"/>
                <a:cs typeface="Liberation Sans Narrow" pitchFamily="34" charset="-120"/>
              </a:rPr>
              <a:t>%</a:t>
            </a:r>
            <a:endParaRPr lang="en-US" sz="800" dirty="0"/>
          </a:p>
        </p:txBody>
      </p:sp>
      <p:sp>
        <p:nvSpPr>
          <p:cNvPr id="165" name="Text 64"/>
          <p:cNvSpPr/>
          <p:nvPr/>
        </p:nvSpPr>
        <p:spPr>
          <a:xfrm>
            <a:off x="6697540" y="2261164"/>
            <a:ext cx="597061" cy="1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B5614A"/>
                </a:solidFill>
                <a:ea typeface="Segoe UI Symbol" pitchFamily="34" charset="-122"/>
                <a:cs typeface="Segoe UI Symbol" pitchFamily="34" charset="-120"/>
              </a:rPr>
              <a:t>🔴</a:t>
            </a:r>
            <a:r>
              <a:rPr lang="en-US" sz="800" dirty="0">
                <a:solidFill>
                  <a:srgbClr val="B5614A"/>
                </a:solidFill>
                <a:ea typeface="Carlito" pitchFamily="34" charset="-122"/>
                <a:cs typeface="Carlito" pitchFamily="34" charset="-120"/>
              </a:rPr>
              <a:t> &lt;</a:t>
            </a:r>
            <a:r>
              <a:rPr lang="en-US" sz="800" dirty="0">
                <a:solidFill>
                  <a:srgbClr val="B5614A"/>
                </a:solidFill>
                <a:ea typeface="Liberation Sans Narrow" pitchFamily="34" charset="-122"/>
                <a:cs typeface="Liberation Sans Narrow" pitchFamily="34" charset="-120"/>
              </a:rPr>
              <a:t>50%</a:t>
            </a:r>
            <a:endParaRPr lang="en-US" sz="800" dirty="0"/>
          </a:p>
        </p:txBody>
      </p:sp>
      <p:sp>
        <p:nvSpPr>
          <p:cNvPr id="166" name="Text 65"/>
          <p:cNvSpPr/>
          <p:nvPr/>
        </p:nvSpPr>
        <p:spPr>
          <a:xfrm>
            <a:off x="7227243" y="1347714"/>
            <a:ext cx="1684586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7" name="Text 66"/>
          <p:cNvSpPr/>
          <p:nvPr/>
        </p:nvSpPr>
        <p:spPr>
          <a:xfrm>
            <a:off x="7316539" y="1396800"/>
            <a:ext cx="12023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3</a:t>
            </a:r>
            <a:endParaRPr lang="en-US" sz="800" dirty="0"/>
          </a:p>
        </p:txBody>
      </p:sp>
      <p:sp>
        <p:nvSpPr>
          <p:cNvPr id="170" name="Text 69"/>
          <p:cNvSpPr/>
          <p:nvPr/>
        </p:nvSpPr>
        <p:spPr>
          <a:xfrm>
            <a:off x="7316539" y="1620765"/>
            <a:ext cx="1505992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8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МАСШТАБИРОВАНИЕ</a:t>
            </a:r>
            <a:endParaRPr lang="en-US" sz="800" dirty="0"/>
          </a:p>
        </p:txBody>
      </p:sp>
      <p:sp>
        <p:nvSpPr>
          <p:cNvPr id="173" name="Text 72"/>
          <p:cNvSpPr/>
          <p:nvPr/>
        </p:nvSpPr>
        <p:spPr>
          <a:xfrm>
            <a:off x="7274794" y="1778456"/>
            <a:ext cx="1285875" cy="2735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800" dirty="0">
                <a:solidFill>
                  <a:srgbClr val="5A677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Цель: (DIY 650, СК 250, B2B 100)</a:t>
            </a:r>
            <a:endParaRPr lang="en-US" sz="800" dirty="0"/>
          </a:p>
        </p:txBody>
      </p:sp>
      <p:sp>
        <p:nvSpPr>
          <p:cNvPr id="182" name="Text 15"/>
          <p:cNvSpPr/>
          <p:nvPr/>
        </p:nvSpPr>
        <p:spPr>
          <a:xfrm>
            <a:off x="520921" y="4661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3" name="Text 16"/>
          <p:cNvSpPr/>
          <p:nvPr/>
        </p:nvSpPr>
        <p:spPr>
          <a:xfrm>
            <a:off x="545924" y="491166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4" name="Text 17"/>
          <p:cNvSpPr/>
          <p:nvPr/>
        </p:nvSpPr>
        <p:spPr>
          <a:xfrm>
            <a:off x="860249" y="509025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5" name="Text 18"/>
          <p:cNvSpPr/>
          <p:nvPr/>
        </p:nvSpPr>
        <p:spPr>
          <a:xfrm>
            <a:off x="2506883" y="4661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2ECC7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6" name="Text 19"/>
          <p:cNvSpPr/>
          <p:nvPr/>
        </p:nvSpPr>
        <p:spPr>
          <a:xfrm>
            <a:off x="2531887" y="491166"/>
            <a:ext cx="57150" cy="57150"/>
          </a:xfrm>
          <a:prstGeom prst="ellipse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212" y="509025"/>
            <a:ext cx="1414463" cy="21431"/>
          </a:xfrm>
          <a:prstGeom prst="rect">
            <a:avLst/>
          </a:prstGeom>
        </p:spPr>
      </p:pic>
      <p:sp>
        <p:nvSpPr>
          <p:cNvPr id="188" name="Text 20"/>
          <p:cNvSpPr/>
          <p:nvPr/>
        </p:nvSpPr>
        <p:spPr>
          <a:xfrm>
            <a:off x="4492846" y="4661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FF8C0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9" name="Text 21"/>
          <p:cNvSpPr/>
          <p:nvPr/>
        </p:nvSpPr>
        <p:spPr>
          <a:xfrm>
            <a:off x="4517849" y="491166"/>
            <a:ext cx="57150" cy="57150"/>
          </a:xfrm>
          <a:prstGeom prst="ellipse">
            <a:avLst/>
          </a:prstGeom>
          <a:solidFill>
            <a:srgbClr val="FF8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0" name="Text 22"/>
          <p:cNvSpPr/>
          <p:nvPr/>
        </p:nvSpPr>
        <p:spPr>
          <a:xfrm>
            <a:off x="4832174" y="509025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1" name="Text 23"/>
          <p:cNvSpPr/>
          <p:nvPr/>
        </p:nvSpPr>
        <p:spPr>
          <a:xfrm>
            <a:off x="6478808" y="4661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2" name="Text 24"/>
          <p:cNvSpPr/>
          <p:nvPr/>
        </p:nvSpPr>
        <p:spPr>
          <a:xfrm>
            <a:off x="6503812" y="491166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3" name="Text 25"/>
          <p:cNvSpPr/>
          <p:nvPr/>
        </p:nvSpPr>
        <p:spPr>
          <a:xfrm>
            <a:off x="6818137" y="509025"/>
            <a:ext cx="1414463" cy="21431"/>
          </a:xfrm>
          <a:prstGeom prst="roundRect">
            <a:avLst>
              <a:gd name="adj" fmla="val 88890"/>
            </a:avLst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4" name="Text 26"/>
          <p:cNvSpPr/>
          <p:nvPr/>
        </p:nvSpPr>
        <p:spPr>
          <a:xfrm>
            <a:off x="8464771" y="466162"/>
            <a:ext cx="107156" cy="107156"/>
          </a:xfrm>
          <a:prstGeom prst="ellipse">
            <a:avLst/>
          </a:prstGeom>
          <a:solidFill>
            <a:srgbClr val="0A0A0A"/>
          </a:solidFill>
          <a:ln w="21431">
            <a:solidFill>
              <a:srgbClr val="88888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5" name="Text 27"/>
          <p:cNvSpPr/>
          <p:nvPr/>
        </p:nvSpPr>
        <p:spPr>
          <a:xfrm>
            <a:off x="8489774" y="491166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6" name="Text 30"/>
          <p:cNvSpPr/>
          <p:nvPr/>
        </p:nvSpPr>
        <p:spPr>
          <a:xfrm>
            <a:off x="1455807" y="1364395"/>
            <a:ext cx="394640" cy="148652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7" name="Text 31"/>
          <p:cNvSpPr/>
          <p:nvPr/>
        </p:nvSpPr>
        <p:spPr>
          <a:xfrm>
            <a:off x="1420413" y="1382092"/>
            <a:ext cx="4492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198" name="Text 30"/>
          <p:cNvSpPr/>
          <p:nvPr/>
        </p:nvSpPr>
        <p:spPr>
          <a:xfrm>
            <a:off x="3199263" y="1382621"/>
            <a:ext cx="394640" cy="148652"/>
          </a:xfrm>
          <a:prstGeom prst="roundRect">
            <a:avLst>
              <a:gd name="adj" fmla="val 68027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9" name="Text 31"/>
          <p:cNvSpPr/>
          <p:nvPr/>
        </p:nvSpPr>
        <p:spPr>
          <a:xfrm>
            <a:off x="3163869" y="1400318"/>
            <a:ext cx="44922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2ECC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200" name="Text 49"/>
          <p:cNvSpPr/>
          <p:nvPr/>
        </p:nvSpPr>
        <p:spPr>
          <a:xfrm>
            <a:off x="4507767" y="1976980"/>
            <a:ext cx="850423" cy="169513"/>
          </a:xfrm>
          <a:prstGeom prst="roundRect">
            <a:avLst>
              <a:gd name="adj" fmla="val 68027"/>
            </a:avLst>
          </a:prstGeom>
          <a:solidFill>
            <a:srgbClr val="FF8C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1" name="Text 50"/>
          <p:cNvSpPr/>
          <p:nvPr/>
        </p:nvSpPr>
        <p:spPr>
          <a:xfrm>
            <a:off x="4501117" y="1994677"/>
            <a:ext cx="894727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FF8C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02" name="Text 58"/>
          <p:cNvSpPr/>
          <p:nvPr/>
        </p:nvSpPr>
        <p:spPr>
          <a:xfrm>
            <a:off x="6635136" y="1391627"/>
            <a:ext cx="475833" cy="128220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3" name="Text 59"/>
          <p:cNvSpPr/>
          <p:nvPr/>
        </p:nvSpPr>
        <p:spPr>
          <a:xfrm>
            <a:off x="6654968" y="1387330"/>
            <a:ext cx="519215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READY</a:t>
            </a:r>
            <a:endParaRPr lang="en-US" sz="800" dirty="0"/>
          </a:p>
        </p:txBody>
      </p:sp>
      <p:sp>
        <p:nvSpPr>
          <p:cNvPr id="204" name="Text 67"/>
          <p:cNvSpPr/>
          <p:nvPr/>
        </p:nvSpPr>
        <p:spPr>
          <a:xfrm>
            <a:off x="8465573" y="1377095"/>
            <a:ext cx="392128" cy="166348"/>
          </a:xfrm>
          <a:prstGeom prst="roundRect">
            <a:avLst>
              <a:gd name="adj" fmla="val 68027"/>
            </a:avLst>
          </a:prstGeom>
          <a:solidFill>
            <a:srgbClr val="88888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5" name="Text 68"/>
          <p:cNvSpPr/>
          <p:nvPr/>
        </p:nvSpPr>
        <p:spPr>
          <a:xfrm>
            <a:off x="8511429" y="1399128"/>
            <a:ext cx="332882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888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</a:t>
            </a:r>
            <a:endParaRPr lang="en-US" sz="800" dirty="0"/>
          </a:p>
        </p:txBody>
      </p:sp>
      <p:sp>
        <p:nvSpPr>
          <p:cNvPr id="206" name="Text 7"/>
          <p:cNvSpPr/>
          <p:nvPr/>
        </p:nvSpPr>
        <p:spPr>
          <a:xfrm>
            <a:off x="7743141" y="2571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2ECC71">
              <a:alpha val="7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7" name="Rectangle 2"/>
          <p:cNvSpPr/>
          <p:nvPr/>
        </p:nvSpPr>
        <p:spPr>
          <a:xfrm>
            <a:off x="1021010" y="154607"/>
            <a:ext cx="28000" cy="25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 47"/>
          <p:cNvSpPr/>
          <p:nvPr/>
        </p:nvSpPr>
        <p:spPr>
          <a:xfrm>
            <a:off x="3722418" y="654341"/>
            <a:ext cx="1684474" cy="1162058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7144">
            <a:solidFill>
              <a:srgbClr val="D4A57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48"/>
          <p:cNvSpPr/>
          <p:nvPr/>
        </p:nvSpPr>
        <p:spPr>
          <a:xfrm>
            <a:off x="3811715" y="703427"/>
            <a:ext cx="9056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56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</a:t>
            </a:r>
            <a:endParaRPr lang="en-US" sz="800" dirty="0"/>
          </a:p>
        </p:txBody>
      </p:sp>
      <p:sp>
        <p:nvSpPr>
          <p:cNvPr id="116" name="Text 51"/>
          <p:cNvSpPr/>
          <p:nvPr/>
        </p:nvSpPr>
        <p:spPr>
          <a:xfrm>
            <a:off x="3811715" y="889292"/>
            <a:ext cx="1505880" cy="109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ru-RU" sz="800" b="1" kern="0" spc="28" dirty="0" smtClean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РТТ </a:t>
            </a:r>
            <a:r>
              <a:rPr lang="en-US" sz="800" b="1" kern="0" spc="28" dirty="0" smtClean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ПРОДВИЖЕНИЕ</a:t>
            </a:r>
            <a:endParaRPr lang="en-US" sz="800" dirty="0"/>
          </a:p>
        </p:txBody>
      </p:sp>
      <p:sp>
        <p:nvSpPr>
          <p:cNvPr id="117" name="Text 52"/>
          <p:cNvSpPr/>
          <p:nvPr/>
        </p:nvSpPr>
        <p:spPr>
          <a:xfrm>
            <a:off x="3766858" y="1013434"/>
            <a:ext cx="1626351" cy="722943"/>
          </a:xfrm>
          <a:prstGeom prst="rect">
            <a:avLst/>
          </a:prstGeom>
          <a:noFill/>
          <a:ln/>
        </p:spPr>
        <p:txBody>
          <a:bodyPr wrap="square" lIns="0" tIns="14288" rIns="0" bIns="14288" rtlCol="0" anchor="t">
            <a:noAutofit/>
          </a:bodyPr>
          <a:lstStyle/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1. </a:t>
            </a:r>
            <a:r>
              <a:rPr lang="ru-RU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Брендированные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зоны 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TITAN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в РТТ Палитра, </a:t>
            </a:r>
            <a:r>
              <a:rPr lang="ru-RU" sz="700" dirty="0" err="1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Брозекс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, И.П. Рыгалов. – </a:t>
            </a:r>
            <a:r>
              <a:rPr lang="en-US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(февраль – май 2027)</a:t>
            </a: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/>
            </a:r>
            <a:b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</a:br>
            <a:r>
              <a:rPr lang="ru-RU" sz="700" dirty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2. Специализированные </a:t>
            </a: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стойки для размещения в РТТ</a:t>
            </a:r>
          </a:p>
          <a:p>
            <a:pPr>
              <a:lnSpc>
                <a:spcPts val="797"/>
              </a:lnSpc>
            </a:pPr>
            <a:r>
              <a:rPr lang="ru-RU" sz="700" dirty="0" smtClean="0">
                <a:solidFill>
                  <a:srgbClr val="5A6776"/>
                </a:solidFill>
                <a:ea typeface="Carlito" pitchFamily="34" charset="-122"/>
                <a:cs typeface="Carlito" pitchFamily="34" charset="-120"/>
              </a:rPr>
              <a:t>3. Трейд – маркетинговая поддержка</a:t>
            </a: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>
              <a:lnSpc>
                <a:spcPts val="797"/>
              </a:lnSpc>
            </a:pPr>
            <a:endParaRPr lang="en-US" sz="700" dirty="0"/>
          </a:p>
          <a:p>
            <a:pPr>
              <a:lnSpc>
                <a:spcPts val="797"/>
              </a:lnSpc>
            </a:pPr>
            <a:endParaRPr lang="en-US" sz="700" dirty="0">
              <a:solidFill>
                <a:srgbClr val="5A6776"/>
              </a:solidFill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797"/>
              </a:lnSpc>
              <a:buNone/>
            </a:pPr>
            <a:endParaRPr lang="en-US" sz="700" dirty="0"/>
          </a:p>
        </p:txBody>
      </p:sp>
      <p:sp>
        <p:nvSpPr>
          <p:cNvPr id="118" name="Text 54"/>
          <p:cNvSpPr/>
          <p:nvPr/>
        </p:nvSpPr>
        <p:spPr>
          <a:xfrm>
            <a:off x="3811715" y="1425334"/>
            <a:ext cx="1505880" cy="102383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797"/>
              </a:lnSpc>
              <a:buNone/>
            </a:pPr>
            <a:endParaRPr lang="en-US" sz="600" dirty="0"/>
          </a:p>
        </p:txBody>
      </p:sp>
      <p:sp>
        <p:nvSpPr>
          <p:cNvPr id="119" name="Text 55"/>
          <p:cNvSpPr/>
          <p:nvPr/>
        </p:nvSpPr>
        <p:spPr>
          <a:xfrm>
            <a:off x="3811715" y="1555149"/>
            <a:ext cx="1505880" cy="129815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marL="0" indent="0" algn="l">
              <a:lnSpc>
                <a:spcPts val="797"/>
              </a:lnSpc>
              <a:buNone/>
            </a:pPr>
            <a:endParaRPr lang="en-US" sz="800" dirty="0"/>
          </a:p>
        </p:txBody>
      </p:sp>
      <p:sp>
        <p:nvSpPr>
          <p:cNvPr id="120" name="Text 49"/>
          <p:cNvSpPr/>
          <p:nvPr/>
        </p:nvSpPr>
        <p:spPr>
          <a:xfrm>
            <a:off x="4513291" y="686456"/>
            <a:ext cx="850423" cy="169513"/>
          </a:xfrm>
          <a:prstGeom prst="roundRect">
            <a:avLst>
              <a:gd name="adj" fmla="val 68027"/>
            </a:avLst>
          </a:prstGeom>
          <a:solidFill>
            <a:srgbClr val="FF8C00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1" name="Text 50"/>
          <p:cNvSpPr/>
          <p:nvPr/>
        </p:nvSpPr>
        <p:spPr>
          <a:xfrm>
            <a:off x="4506641" y="704153"/>
            <a:ext cx="894727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8" dirty="0">
                <a:solidFill>
                  <a:srgbClr val="FF8C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PROGRESS</a:t>
            </a:r>
            <a:endParaRPr lang="en-US" sz="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98" y="2668158"/>
            <a:ext cx="3197920" cy="2358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495" y="2673449"/>
            <a:ext cx="2950907" cy="2353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Тройная стрелка влево/вправо/вверх 5"/>
          <p:cNvSpPr/>
          <p:nvPr/>
        </p:nvSpPr>
        <p:spPr>
          <a:xfrm>
            <a:off x="3701745" y="3458850"/>
            <a:ext cx="1756575" cy="676800"/>
          </a:xfrm>
          <a:prstGeom prst="leftRight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3547591" y="4332700"/>
            <a:ext cx="20405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b="1" kern="0" spc="28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Влияние на новых дилеров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2"/>
          <p:cNvSpPr/>
          <p:nvPr/>
        </p:nvSpPr>
        <p:spPr>
          <a:xfrm>
            <a:off x="181210" y="615994"/>
            <a:ext cx="3438289" cy="3352709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hape 33"/>
          <p:cNvSpPr/>
          <p:nvPr/>
        </p:nvSpPr>
        <p:spPr>
          <a:xfrm>
            <a:off x="270508" y="1660171"/>
            <a:ext cx="3221404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  <p:txBody>
          <a:bodyPr/>
          <a:p/>
        </p:txBody>
      </p:sp>
      <p:sp>
        <p:nvSpPr>
          <p:cNvPr id="4" name="Text 34"/>
          <p:cNvSpPr/>
          <p:nvPr/>
        </p:nvSpPr>
        <p:spPr>
          <a:xfrm>
            <a:off x="276901" y="870000"/>
            <a:ext cx="51771" cy="129765"/>
          </a:xfrm>
          <a:prstGeom prst="roundRect">
            <a:avLst>
              <a:gd name="adj" fmla="val 88890"/>
            </a:avLst>
          </a:prstGeom>
          <a:solidFill>
            <a:srgbClr val="B561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35"/>
          <p:cNvSpPr/>
          <p:nvPr/>
        </p:nvSpPr>
        <p:spPr>
          <a:xfrm>
            <a:off x="355479" y="881395"/>
            <a:ext cx="156157" cy="145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561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400" dirty="0"/>
          </a:p>
        </p:txBody>
      </p:sp>
      <p:sp>
        <p:nvSpPr>
          <p:cNvPr id="6" name="Text 36"/>
          <p:cNvSpPr/>
          <p:nvPr/>
        </p:nvSpPr>
        <p:spPr>
          <a:xfrm>
            <a:off x="541217" y="874589"/>
            <a:ext cx="2900418" cy="158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1050" b="1" kern="0" spc="8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СЕТЕВОЙ </a:t>
            </a:r>
            <a:r>
              <a:rPr lang="en-US" sz="1050" b="1" kern="0" spc="84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КАНАЛ</a:t>
            </a:r>
            <a:r>
              <a:rPr lang="ru-RU" sz="1050" b="1" kern="0" spc="84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– </a:t>
            </a:r>
            <a:r>
              <a:rPr lang="ru-RU" sz="1050" b="1" kern="0" spc="84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Лемана</a:t>
            </a:r>
            <a:r>
              <a:rPr lang="ru-RU" sz="1050" b="1" kern="0" spc="84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Про</a:t>
            </a:r>
            <a:endParaRPr lang="en-US" sz="1050" dirty="0"/>
          </a:p>
        </p:txBody>
      </p:sp>
      <p:sp>
        <p:nvSpPr>
          <p:cNvPr id="7" name="Text 37"/>
          <p:cNvSpPr/>
          <p:nvPr/>
        </p:nvSpPr>
        <p:spPr>
          <a:xfrm>
            <a:off x="257717" y="1732201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900" dirty="0"/>
          </a:p>
        </p:txBody>
      </p:sp>
      <p:sp>
        <p:nvSpPr>
          <p:cNvPr id="8" name="Text 38"/>
          <p:cNvSpPr/>
          <p:nvPr/>
        </p:nvSpPr>
        <p:spPr>
          <a:xfrm>
            <a:off x="399091" y="1728084"/>
            <a:ext cx="3065249" cy="17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Лемана Про: </a:t>
            </a:r>
            <a:r>
              <a:rPr lang="en-US" sz="900" b="1" dirty="0">
                <a:latin typeface="+mj-lt"/>
                <a:ea typeface="Courier New" pitchFamily="34" charset="-122"/>
                <a:cs typeface="Courier New" pitchFamily="34" charset="-120"/>
              </a:rPr>
              <a:t>11 ТТ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 в ЮФО</a:t>
            </a:r>
            <a:endParaRPr lang="en-US" sz="900" dirty="0">
              <a:latin typeface="+mj-lt"/>
            </a:endParaRPr>
          </a:p>
        </p:txBody>
      </p:sp>
      <p:sp>
        <p:nvSpPr>
          <p:cNvPr id="9" name="Text 39"/>
          <p:cNvSpPr/>
          <p:nvPr/>
        </p:nvSpPr>
        <p:spPr>
          <a:xfrm>
            <a:off x="257717" y="1902535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900" dirty="0"/>
          </a:p>
        </p:txBody>
      </p:sp>
      <p:sp>
        <p:nvSpPr>
          <p:cNvPr id="10" name="Text 40"/>
          <p:cNvSpPr/>
          <p:nvPr/>
        </p:nvSpPr>
        <p:spPr>
          <a:xfrm>
            <a:off x="399092" y="1904357"/>
            <a:ext cx="1215824" cy="13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РК на экранах </a:t>
            </a:r>
            <a:r>
              <a:rPr lang="en-US" sz="900" dirty="0" err="1">
                <a:latin typeface="+mj-lt"/>
                <a:ea typeface="Carlito" pitchFamily="34" charset="-122"/>
                <a:cs typeface="Carlito" pitchFamily="34" charset="-120"/>
              </a:rPr>
              <a:t>Ростова</a:t>
            </a:r>
            <a:r>
              <a:rPr lang="en-US" sz="900" dirty="0" smtClean="0">
                <a:latin typeface="+mj-lt"/>
                <a:ea typeface="Carlito" pitchFamily="34" charset="-122"/>
                <a:cs typeface="Carlito" pitchFamily="34" charset="-120"/>
              </a:rPr>
              <a:t>:</a:t>
            </a:r>
            <a:r>
              <a:rPr lang="ru-RU" sz="900" dirty="0" smtClean="0">
                <a:latin typeface="+mj-lt"/>
                <a:ea typeface="Carlito" pitchFamily="34" charset="-122"/>
                <a:cs typeface="Carlito" pitchFamily="34" charset="-120"/>
              </a:rPr>
              <a:t> </a:t>
            </a:r>
            <a:r>
              <a:rPr lang="ru-RU" sz="900" b="1" dirty="0" smtClean="0">
                <a:latin typeface="+mj-lt"/>
                <a:ea typeface="Carlito" pitchFamily="34" charset="-122"/>
                <a:cs typeface="Carlito" pitchFamily="34" charset="-120"/>
              </a:rPr>
              <a:t>6 экранов</a:t>
            </a:r>
            <a:endParaRPr lang="en-US" sz="900" b="1" dirty="0">
              <a:latin typeface="+mj-lt"/>
            </a:endParaRPr>
          </a:p>
        </p:txBody>
      </p:sp>
      <p:sp>
        <p:nvSpPr>
          <p:cNvPr id="12" name="Text 42"/>
          <p:cNvSpPr/>
          <p:nvPr/>
        </p:nvSpPr>
        <p:spPr>
          <a:xfrm>
            <a:off x="257717" y="2079262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900" dirty="0"/>
          </a:p>
        </p:txBody>
      </p:sp>
      <p:sp>
        <p:nvSpPr>
          <p:cNvPr id="13" name="Text 43"/>
          <p:cNvSpPr/>
          <p:nvPr/>
        </p:nvSpPr>
        <p:spPr>
          <a:xfrm>
            <a:off x="399091" y="2081540"/>
            <a:ext cx="3065249" cy="17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Таргет ВКонтакте по </a:t>
            </a:r>
            <a:r>
              <a:rPr lang="en-US" sz="900" b="1" dirty="0">
                <a:latin typeface="+mj-lt"/>
                <a:ea typeface="Courier New" pitchFamily="34" charset="-122"/>
                <a:cs typeface="Courier New" pitchFamily="34" charset="-120"/>
              </a:rPr>
              <a:t>11 ТТ</a:t>
            </a:r>
            <a:endParaRPr lang="en-US" sz="900" dirty="0">
              <a:latin typeface="+mj-lt"/>
            </a:endParaRPr>
          </a:p>
        </p:txBody>
      </p:sp>
      <p:sp>
        <p:nvSpPr>
          <p:cNvPr id="14" name="Text 44"/>
          <p:cNvSpPr/>
          <p:nvPr/>
        </p:nvSpPr>
        <p:spPr>
          <a:xfrm>
            <a:off x="257717" y="2255990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00" dirty="0"/>
          </a:p>
        </p:txBody>
      </p:sp>
      <p:sp>
        <p:nvSpPr>
          <p:cNvPr id="15" name="Text 45"/>
          <p:cNvSpPr/>
          <p:nvPr/>
        </p:nvSpPr>
        <p:spPr>
          <a:xfrm>
            <a:off x="399091" y="2259617"/>
            <a:ext cx="3065249" cy="16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Промо «Подарок за покупку» (Ростов + Краснодар)</a:t>
            </a:r>
            <a:endParaRPr lang="en-US" sz="900" dirty="0">
              <a:latin typeface="+mj-lt"/>
            </a:endParaRPr>
          </a:p>
        </p:txBody>
      </p:sp>
      <p:sp>
        <p:nvSpPr>
          <p:cNvPr id="16" name="Text 46"/>
          <p:cNvSpPr/>
          <p:nvPr/>
        </p:nvSpPr>
        <p:spPr>
          <a:xfrm>
            <a:off x="257717" y="2419180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900" dirty="0"/>
          </a:p>
        </p:txBody>
      </p:sp>
      <p:sp>
        <p:nvSpPr>
          <p:cNvPr id="17" name="Text 47"/>
          <p:cNvSpPr/>
          <p:nvPr/>
        </p:nvSpPr>
        <p:spPr>
          <a:xfrm>
            <a:off x="399091" y="2427852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Кэшбек </a:t>
            </a:r>
            <a:r>
              <a:rPr lang="en-US" sz="900" b="1" dirty="0">
                <a:latin typeface="+mj-lt"/>
                <a:ea typeface="Liberation Sans Narrow" pitchFamily="34" charset="-122"/>
                <a:cs typeface="Liberation Sans Narrow" pitchFamily="34" charset="-120"/>
              </a:rPr>
              <a:t>5%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 на TITAN (все </a:t>
            </a:r>
            <a:r>
              <a:rPr lang="en-US" sz="900" b="1" dirty="0">
                <a:latin typeface="+mj-lt"/>
                <a:ea typeface="Courier New" pitchFamily="34" charset="-122"/>
                <a:cs typeface="Courier New" pitchFamily="34" charset="-120"/>
              </a:rPr>
              <a:t>11 ТТ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)</a:t>
            </a:r>
            <a:endParaRPr lang="en-US" sz="900" dirty="0">
              <a:latin typeface="+mj-lt"/>
            </a:endParaRPr>
          </a:p>
        </p:txBody>
      </p:sp>
      <p:sp>
        <p:nvSpPr>
          <p:cNvPr id="18" name="Text 48"/>
          <p:cNvSpPr/>
          <p:nvPr/>
        </p:nvSpPr>
        <p:spPr>
          <a:xfrm>
            <a:off x="257717" y="2602302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900" dirty="0"/>
          </a:p>
        </p:txBody>
      </p:sp>
      <p:sp>
        <p:nvSpPr>
          <p:cNvPr id="19" name="Text 49"/>
          <p:cNvSpPr/>
          <p:nvPr/>
        </p:nvSpPr>
        <p:spPr>
          <a:xfrm>
            <a:off x="399091" y="2610974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Мастер-классы: </a:t>
            </a:r>
            <a:r>
              <a:rPr lang="en-US" sz="900" b="1" dirty="0">
                <a:latin typeface="+mj-lt"/>
                <a:ea typeface="Courier New" pitchFamily="34" charset="-122"/>
                <a:cs typeface="Courier New" pitchFamily="34" charset="-120"/>
              </a:rPr>
              <a:t>3 ТТ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 в Ростове</a:t>
            </a:r>
            <a:endParaRPr lang="en-US" sz="900" dirty="0">
              <a:latin typeface="+mj-lt"/>
            </a:endParaRPr>
          </a:p>
        </p:txBody>
      </p:sp>
      <p:sp>
        <p:nvSpPr>
          <p:cNvPr id="20" name="Text 50"/>
          <p:cNvSpPr/>
          <p:nvPr/>
        </p:nvSpPr>
        <p:spPr>
          <a:xfrm>
            <a:off x="257717" y="2791818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00" dirty="0"/>
          </a:p>
        </p:txBody>
      </p:sp>
      <p:sp>
        <p:nvSpPr>
          <p:cNvPr id="21" name="Text 51"/>
          <p:cNvSpPr/>
          <p:nvPr/>
        </p:nvSpPr>
        <p:spPr>
          <a:xfrm>
            <a:off x="399094" y="2780852"/>
            <a:ext cx="1330516" cy="13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Веерные выкрасы B2B:</a:t>
            </a:r>
            <a:endParaRPr lang="en-US" sz="900" dirty="0">
              <a:latin typeface="+mj-lt"/>
            </a:endParaRPr>
          </a:p>
        </p:txBody>
      </p:sp>
      <p:sp>
        <p:nvSpPr>
          <p:cNvPr id="23" name="Text 53"/>
          <p:cNvSpPr/>
          <p:nvPr/>
        </p:nvSpPr>
        <p:spPr>
          <a:xfrm>
            <a:off x="257717" y="2974940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lang="en-US" sz="900" dirty="0"/>
          </a:p>
        </p:txBody>
      </p:sp>
      <p:sp>
        <p:nvSpPr>
          <p:cNvPr id="24" name="Text 54"/>
          <p:cNvSpPr/>
          <p:nvPr/>
        </p:nvSpPr>
        <p:spPr>
          <a:xfrm>
            <a:off x="411879" y="2970823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 err="1">
                <a:latin typeface="+mj-lt"/>
                <a:ea typeface="Carlito" pitchFamily="34" charset="-122"/>
                <a:cs typeface="Carlito" pitchFamily="34" charset="-120"/>
              </a:rPr>
              <a:t>Скидка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 </a:t>
            </a:r>
            <a:r>
              <a:rPr lang="en-US" sz="900" dirty="0" smtClean="0">
                <a:latin typeface="+mj-lt"/>
                <a:ea typeface="Carlito" pitchFamily="34" charset="-122"/>
                <a:cs typeface="Carlito" pitchFamily="34" charset="-120"/>
              </a:rPr>
              <a:t>10% + 10% (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жёлтый ценник) с </a:t>
            </a:r>
            <a:r>
              <a:rPr lang="en-US" sz="900" b="1" dirty="0" smtClean="0">
                <a:latin typeface="+mj-lt"/>
                <a:ea typeface="Liberation Sans Narrow" pitchFamily="34" charset="-122"/>
                <a:cs typeface="Liberation Sans Narrow" pitchFamily="34" charset="-120"/>
              </a:rPr>
              <a:t>01.08 - 30.09</a:t>
            </a:r>
            <a:endParaRPr lang="en-US" sz="900" dirty="0">
              <a:latin typeface="+mj-lt"/>
            </a:endParaRPr>
          </a:p>
        </p:txBody>
      </p:sp>
      <p:pic>
        <p:nvPicPr>
          <p:cNvPr id="25" name="Picture 2" descr="C:\Users\zakolodniy\Downloads\Анализ статистики Лемана ПРо за 02.10.2026\01_monthly_tren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245" y="132311"/>
            <a:ext cx="5083791" cy="230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zakolodniy\Downloads\Анализ статистики Лемана ПРо за 02.10.2026\05_shop_performance_stock_transi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245" y="2531602"/>
            <a:ext cx="5083791" cy="243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hape 33"/>
          <p:cNvSpPr/>
          <p:nvPr/>
        </p:nvSpPr>
        <p:spPr>
          <a:xfrm>
            <a:off x="248636" y="3284254"/>
            <a:ext cx="3221404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  <p:txBody>
          <a:bodyPr/>
          <a:p/>
        </p:txBody>
      </p:sp>
      <p:sp>
        <p:nvSpPr>
          <p:cNvPr id="29" name="Text 54"/>
          <p:cNvSpPr/>
          <p:nvPr/>
        </p:nvSpPr>
        <p:spPr>
          <a:xfrm>
            <a:off x="290423" y="1186514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35"/>
              </a:lnSpc>
              <a:buNone/>
            </a:pPr>
            <a:r>
              <a:rPr lang="ru-RU" sz="1050" b="1" dirty="0" smtClean="0"/>
              <a:t>Запуск продаж 01.06.2026 – 30.09.2026</a:t>
            </a:r>
            <a:endParaRPr lang="en-US" sz="1050" b="1" dirty="0"/>
          </a:p>
        </p:txBody>
      </p:sp>
      <p:sp>
        <p:nvSpPr>
          <p:cNvPr id="32" name="Text 54"/>
          <p:cNvSpPr/>
          <p:nvPr/>
        </p:nvSpPr>
        <p:spPr>
          <a:xfrm>
            <a:off x="316224" y="3336358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35"/>
              </a:lnSpc>
              <a:buNone/>
            </a:pPr>
            <a:r>
              <a:rPr lang="ru-RU" sz="1050" b="1" dirty="0" smtClean="0"/>
              <a:t>Поддержка 01.010.2026 – 30.10.2026</a:t>
            </a:r>
            <a:endParaRPr lang="en-US" sz="1050" b="1" dirty="0"/>
          </a:p>
        </p:txBody>
      </p:sp>
      <p:sp>
        <p:nvSpPr>
          <p:cNvPr id="33" name="Text 39"/>
          <p:cNvSpPr/>
          <p:nvPr/>
        </p:nvSpPr>
        <p:spPr>
          <a:xfrm>
            <a:off x="284030" y="3696917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900" dirty="0"/>
          </a:p>
        </p:txBody>
      </p:sp>
      <p:sp>
        <p:nvSpPr>
          <p:cNvPr id="34" name="Text 40"/>
          <p:cNvSpPr/>
          <p:nvPr/>
        </p:nvSpPr>
        <p:spPr>
          <a:xfrm>
            <a:off x="419011" y="3685951"/>
            <a:ext cx="1215824" cy="13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РК на экранах </a:t>
            </a:r>
            <a:r>
              <a:rPr lang="en-US" sz="900" dirty="0" err="1">
                <a:latin typeface="+mj-lt"/>
                <a:ea typeface="Carlito" pitchFamily="34" charset="-122"/>
                <a:cs typeface="Carlito" pitchFamily="34" charset="-120"/>
              </a:rPr>
              <a:t>Ростова</a:t>
            </a:r>
            <a:r>
              <a:rPr lang="en-US" sz="900" dirty="0" smtClean="0">
                <a:latin typeface="+mj-lt"/>
                <a:ea typeface="Carlito" pitchFamily="34" charset="-122"/>
                <a:cs typeface="Carlito" pitchFamily="34" charset="-120"/>
              </a:rPr>
              <a:t>:</a:t>
            </a:r>
            <a:r>
              <a:rPr lang="ru-RU" sz="900" dirty="0" smtClean="0">
                <a:latin typeface="+mj-lt"/>
                <a:ea typeface="Carlito" pitchFamily="34" charset="-122"/>
                <a:cs typeface="Carlito" pitchFamily="34" charset="-120"/>
              </a:rPr>
              <a:t> 2 экрана</a:t>
            </a:r>
            <a:endParaRPr lang="en-US" sz="900" dirty="0">
              <a:latin typeface="+mj-lt"/>
            </a:endParaRPr>
          </a:p>
        </p:txBody>
      </p:sp>
      <p:sp>
        <p:nvSpPr>
          <p:cNvPr id="36" name="Text 48"/>
          <p:cNvSpPr/>
          <p:nvPr/>
        </p:nvSpPr>
        <p:spPr>
          <a:xfrm>
            <a:off x="276884" y="3546015"/>
            <a:ext cx="111044" cy="103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900" dirty="0"/>
          </a:p>
        </p:txBody>
      </p:sp>
      <p:sp>
        <p:nvSpPr>
          <p:cNvPr id="37" name="Text 49"/>
          <p:cNvSpPr/>
          <p:nvPr/>
        </p:nvSpPr>
        <p:spPr>
          <a:xfrm>
            <a:off x="405470" y="3529541"/>
            <a:ext cx="3065249" cy="179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Мастер-классы: </a:t>
            </a:r>
            <a:r>
              <a:rPr lang="en-US" sz="900" b="1" dirty="0">
                <a:latin typeface="+mj-lt"/>
                <a:ea typeface="Courier New" pitchFamily="34" charset="-122"/>
                <a:cs typeface="Courier New" pitchFamily="34" charset="-120"/>
              </a:rPr>
              <a:t>3 ТТ</a:t>
            </a:r>
            <a:r>
              <a:rPr lang="en-US" sz="900" dirty="0">
                <a:latin typeface="+mj-lt"/>
                <a:ea typeface="Carlito" pitchFamily="34" charset="-122"/>
                <a:cs typeface="Carlito" pitchFamily="34" charset="-120"/>
              </a:rPr>
              <a:t> в Ростове</a:t>
            </a:r>
            <a:endParaRPr lang="en-US" sz="900" dirty="0">
              <a:latin typeface="+mj-lt"/>
            </a:endParaRPr>
          </a:p>
        </p:txBody>
      </p:sp>
      <p:sp>
        <p:nvSpPr>
          <p:cNvPr id="35" name="Text 2"/>
          <p:cNvSpPr/>
          <p:nvPr/>
        </p:nvSpPr>
        <p:spPr>
          <a:xfrm>
            <a:off x="305885" y="196742"/>
            <a:ext cx="77045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00" b="1" kern="0" spc="113" dirty="0">
                <a:solidFill>
                  <a:schemeClr val="tx1">
                    <a:lumMod val="50000"/>
                    <a:lumOff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 5"/>
          <p:cNvSpPr/>
          <p:nvPr/>
        </p:nvSpPr>
        <p:spPr>
          <a:xfrm>
            <a:off x="1118897" y="208739"/>
            <a:ext cx="13805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ru-RU" sz="1200" b="1" kern="0" spc="56" dirty="0" smtClean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АНАЛИТИКА</a:t>
            </a:r>
            <a:endParaRPr lang="en-US" sz="1200" dirty="0"/>
          </a:p>
        </p:txBody>
      </p:sp>
      <p:sp>
        <p:nvSpPr>
          <p:cNvPr id="39" name="Rectangle 2"/>
          <p:cNvSpPr/>
          <p:nvPr/>
        </p:nvSpPr>
        <p:spPr>
          <a:xfrm>
            <a:off x="1021010" y="154607"/>
            <a:ext cx="28000" cy="25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29298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6"/>
          <p:cNvSpPr/>
          <p:nvPr/>
        </p:nvSpPr>
        <p:spPr>
          <a:xfrm>
            <a:off x="7676511" y="94736"/>
            <a:ext cx="1139029" cy="232029"/>
          </a:xfrm>
          <a:prstGeom prst="roundRect">
            <a:avLst>
              <a:gd name="adj" fmla="val 24631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8"/>
          <p:cNvSpPr/>
          <p:nvPr/>
        </p:nvSpPr>
        <p:spPr>
          <a:xfrm>
            <a:off x="7894742" y="163072"/>
            <a:ext cx="702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b="1" kern="0" spc="28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АКТИВЕН</a:t>
            </a:r>
            <a:endParaRPr lang="en-US" sz="600" b="1" dirty="0"/>
          </a:p>
        </p:txBody>
      </p:sp>
      <p:sp>
        <p:nvSpPr>
          <p:cNvPr id="21" name="Text 7"/>
          <p:cNvSpPr/>
          <p:nvPr/>
        </p:nvSpPr>
        <p:spPr>
          <a:xfrm>
            <a:off x="7786341" y="1821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2ECC71">
              <a:alpha val="79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1"/>
          <p:cNvSpPr/>
          <p:nvPr/>
        </p:nvSpPr>
        <p:spPr>
          <a:xfrm>
            <a:off x="233763" y="529922"/>
            <a:ext cx="2831269" cy="1721858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2"/>
          <p:cNvSpPr/>
          <p:nvPr/>
        </p:nvSpPr>
        <p:spPr>
          <a:xfrm>
            <a:off x="385762" y="896043"/>
            <a:ext cx="2652675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  <p:txBody>
          <a:bodyPr/>
          <a:p/>
        </p:txBody>
      </p:sp>
      <p:sp>
        <p:nvSpPr>
          <p:cNvPr id="25" name="Text 13"/>
          <p:cNvSpPr/>
          <p:nvPr/>
        </p:nvSpPr>
        <p:spPr>
          <a:xfrm>
            <a:off x="385762" y="708519"/>
            <a:ext cx="21431" cy="114300"/>
          </a:xfrm>
          <a:prstGeom prst="roundRect">
            <a:avLst>
              <a:gd name="adj" fmla="val 88890"/>
            </a:avLst>
          </a:prstGeom>
          <a:solidFill>
            <a:srgbClr val="B561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4"/>
          <p:cNvSpPr/>
          <p:nvPr/>
        </p:nvSpPr>
        <p:spPr>
          <a:xfrm>
            <a:off x="464341" y="7013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B561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27" name="Text 15"/>
          <p:cNvSpPr/>
          <p:nvPr/>
        </p:nvSpPr>
        <p:spPr>
          <a:xfrm>
            <a:off x="650081" y="696019"/>
            <a:ext cx="23883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ДИСТРИБЬЮТОРСКИЙ КАНАЛ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385760" y="101068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844" dirty="0"/>
          </a:p>
        </p:txBody>
      </p:sp>
      <p:sp>
        <p:nvSpPr>
          <p:cNvPr id="29" name="Text 21"/>
          <p:cNvSpPr/>
          <p:nvPr/>
        </p:nvSpPr>
        <p:spPr>
          <a:xfrm>
            <a:off x="514347" y="996401"/>
            <a:ext cx="2524088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Пилоты: Палитра (Краснодар), И.П. Рыгалов (Пенза), Брозекс (Екатеринбург)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366710" y="126721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514347" y="1265630"/>
            <a:ext cx="2524088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Обучение: </a:t>
            </a:r>
            <a:r>
              <a:rPr lang="en-US" sz="8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регионов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ru-RU" sz="800" b="1" dirty="0" smtClean="0">
                <a:latin typeface="Courier New" pitchFamily="34" charset="0"/>
                <a:ea typeface="Carlito" pitchFamily="34" charset="-122"/>
                <a:cs typeface="Courier New" pitchFamily="34" charset="-120"/>
              </a:rPr>
              <a:t>106 </a:t>
            </a:r>
            <a:r>
              <a:rPr lang="en-US" sz="800" b="1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ТП</a:t>
            </a:r>
            <a:r>
              <a:rPr lang="ru-RU" sz="800" b="1" dirty="0" smtClean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ОП</a:t>
            </a:r>
            <a:endParaRPr lang="en-US" sz="800" b="1" dirty="0"/>
          </a:p>
        </p:txBody>
      </p:sp>
      <p:sp>
        <p:nvSpPr>
          <p:cNvPr id="32" name="Text 24"/>
          <p:cNvSpPr/>
          <p:nvPr/>
        </p:nvSpPr>
        <p:spPr>
          <a:xfrm>
            <a:off x="385760" y="145025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33" name="Text 25"/>
          <p:cNvSpPr/>
          <p:nvPr/>
        </p:nvSpPr>
        <p:spPr>
          <a:xfrm>
            <a:off x="514347" y="1435964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POSM: </a:t>
            </a:r>
            <a:r>
              <a:rPr lang="en-US" sz="800" dirty="0" err="1">
                <a:latin typeface="Carlito" pitchFamily="34" charset="0"/>
                <a:ea typeface="Carlito" pitchFamily="34" charset="-122"/>
                <a:cs typeface="Carlito" pitchFamily="34" charset="-120"/>
              </a:rPr>
              <a:t>шелфтокеры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b="1" dirty="0" smtClean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шт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воблеры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ценники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 листовки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385760" y="173376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844" dirty="0"/>
          </a:p>
        </p:txBody>
      </p:sp>
      <p:sp>
        <p:nvSpPr>
          <p:cNvPr id="35" name="Text 27"/>
          <p:cNvSpPr/>
          <p:nvPr/>
        </p:nvSpPr>
        <p:spPr>
          <a:xfrm>
            <a:off x="514347" y="1719483"/>
            <a:ext cx="2524088" cy="3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Контент: </a:t>
            </a:r>
            <a:r>
              <a:rPr lang="en-US" sz="800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видеоинструкция</a:t>
            </a:r>
            <a:r>
              <a:rPr lang="en-US" sz="800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портфолио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r>
              <a:rPr lang="en-US" sz="800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видео</a:t>
            </a:r>
            <a:r>
              <a:rPr lang="en-US" sz="800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err="1">
                <a:latin typeface="Carlito" pitchFamily="34" charset="0"/>
                <a:ea typeface="Carlito" pitchFamily="34" charset="-122"/>
                <a:cs typeface="Carlito" pitchFamily="34" charset="-120"/>
              </a:rPr>
              <a:t>для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800" dirty="0" smtClean="0">
                <a:latin typeface="Carlito" pitchFamily="34" charset="0"/>
                <a:ea typeface="Carlito" pitchFamily="34" charset="-122"/>
                <a:cs typeface="Carlito" pitchFamily="34" charset="-120"/>
              </a:rPr>
              <a:t>ТП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385762" y="2006571"/>
            <a:ext cx="2652675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dash"/>
          </a:ln>
        </p:spPr>
        <p:txBody>
          <a:bodyPr/>
          <a:p/>
        </p:txBody>
      </p:sp>
      <p:sp>
        <p:nvSpPr>
          <p:cNvPr id="60" name="Text 68"/>
          <p:cNvSpPr/>
          <p:nvPr/>
        </p:nvSpPr>
        <p:spPr>
          <a:xfrm>
            <a:off x="296465" y="2693476"/>
            <a:ext cx="2831381" cy="1721857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7144">
            <a:solidFill>
              <a:srgbClr val="D9D2C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69"/>
          <p:cNvSpPr/>
          <p:nvPr/>
        </p:nvSpPr>
        <p:spPr>
          <a:xfrm>
            <a:off x="385762" y="2982798"/>
            <a:ext cx="2652787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solid"/>
          </a:ln>
        </p:spPr>
        <p:txBody>
          <a:bodyPr/>
          <a:p/>
        </p:txBody>
      </p:sp>
      <p:sp>
        <p:nvSpPr>
          <p:cNvPr id="62" name="Text 70"/>
          <p:cNvSpPr/>
          <p:nvPr/>
        </p:nvSpPr>
        <p:spPr>
          <a:xfrm>
            <a:off x="385762" y="2795274"/>
            <a:ext cx="21431" cy="114300"/>
          </a:xfrm>
          <a:prstGeom prst="roundRect">
            <a:avLst>
              <a:gd name="adj" fmla="val 88890"/>
            </a:avLst>
          </a:prstGeom>
          <a:solidFill>
            <a:srgbClr val="B561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71"/>
          <p:cNvSpPr/>
          <p:nvPr/>
        </p:nvSpPr>
        <p:spPr>
          <a:xfrm>
            <a:off x="464342" y="27881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B561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64" name="Text 72"/>
          <p:cNvSpPr/>
          <p:nvPr/>
        </p:nvSpPr>
        <p:spPr>
          <a:xfrm>
            <a:off x="650079" y="2782774"/>
            <a:ext cx="238846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84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B2B КАНАЛ</a:t>
            </a:r>
            <a:endParaRPr lang="en-US" sz="800" dirty="0"/>
          </a:p>
        </p:txBody>
      </p:sp>
      <p:sp>
        <p:nvSpPr>
          <p:cNvPr id="65" name="Text 73"/>
          <p:cNvSpPr/>
          <p:nvPr/>
        </p:nvSpPr>
        <p:spPr>
          <a:xfrm>
            <a:off x="385760" y="308638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844" dirty="0"/>
          </a:p>
        </p:txBody>
      </p:sp>
      <p:sp>
        <p:nvSpPr>
          <p:cNvPr id="66" name="Text 74"/>
          <p:cNvSpPr/>
          <p:nvPr/>
        </p:nvSpPr>
        <p:spPr>
          <a:xfrm>
            <a:off x="514350" y="3072094"/>
            <a:ext cx="2524199" cy="15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Тест-образец: пробник </a:t>
            </a:r>
            <a:r>
              <a:rPr lang="en-US" sz="800" b="1" dirty="0"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0,4 л</a:t>
            </a: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 + веерные выкрасы</a:t>
            </a:r>
            <a:endParaRPr lang="en-US" sz="800" dirty="0"/>
          </a:p>
        </p:txBody>
      </p:sp>
      <p:sp>
        <p:nvSpPr>
          <p:cNvPr id="67" name="Text 75"/>
          <p:cNvSpPr/>
          <p:nvPr/>
        </p:nvSpPr>
        <p:spPr>
          <a:xfrm>
            <a:off x="385760" y="325671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68" name="Text 76"/>
          <p:cNvSpPr/>
          <p:nvPr/>
        </p:nvSpPr>
        <p:spPr>
          <a:xfrm>
            <a:off x="514350" y="3242429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Листовка B2B с расчётом ССВ</a:t>
            </a:r>
            <a:endParaRPr lang="en-US" sz="800" dirty="0"/>
          </a:p>
        </p:txBody>
      </p:sp>
      <p:sp>
        <p:nvSpPr>
          <p:cNvPr id="69" name="Text 77"/>
          <p:cNvSpPr/>
          <p:nvPr/>
        </p:nvSpPr>
        <p:spPr>
          <a:xfrm>
            <a:off x="385760" y="341990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844" dirty="0"/>
          </a:p>
        </p:txBody>
      </p:sp>
      <p:sp>
        <p:nvSpPr>
          <p:cNvPr id="70" name="Text 78"/>
          <p:cNvSpPr/>
          <p:nvPr/>
        </p:nvSpPr>
        <p:spPr>
          <a:xfrm>
            <a:off x="514350" y="3405619"/>
            <a:ext cx="2524199" cy="29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6 инструментов: тест-образец, листовка, инфлюенсер, маржа, портфолио</a:t>
            </a:r>
            <a:endParaRPr lang="en-US" sz="800" dirty="0"/>
          </a:p>
        </p:txBody>
      </p:sp>
      <p:sp>
        <p:nvSpPr>
          <p:cNvPr id="71" name="Text 79"/>
          <p:cNvSpPr/>
          <p:nvPr/>
        </p:nvSpPr>
        <p:spPr>
          <a:xfrm>
            <a:off x="385760" y="368913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44" dirty="0"/>
          </a:p>
        </p:txBody>
      </p:sp>
      <p:sp>
        <p:nvSpPr>
          <p:cNvPr id="72" name="Text 80"/>
          <p:cNvSpPr/>
          <p:nvPr/>
        </p:nvSpPr>
        <p:spPr>
          <a:xfrm>
            <a:off x="514350" y="3674849"/>
            <a:ext cx="2524199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800" dirty="0"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маржинальности по фасовкам (8,5 л выгоднее)</a:t>
            </a:r>
            <a:endParaRPr lang="en-US" sz="800" dirty="0"/>
          </a:p>
        </p:txBody>
      </p:sp>
      <p:sp>
        <p:nvSpPr>
          <p:cNvPr id="73" name="Shape 81"/>
          <p:cNvSpPr/>
          <p:nvPr/>
        </p:nvSpPr>
        <p:spPr>
          <a:xfrm>
            <a:off x="385762" y="3898760"/>
            <a:ext cx="2652787" cy="0"/>
          </a:xfrm>
          <a:prstGeom prst="line">
            <a:avLst/>
          </a:prstGeom>
          <a:noFill/>
          <a:ln w="7144">
            <a:solidFill>
              <a:srgbClr val="D9D2C2"/>
            </a:solidFill>
            <a:prstDash val="dash"/>
          </a:ln>
        </p:spPr>
        <p:txBody>
          <a:bodyPr/>
          <a:p/>
        </p:txBody>
      </p:sp>
      <p:sp>
        <p:nvSpPr>
          <p:cNvPr id="40" name="Rectangle 1"/>
          <p:cNvSpPr>
            <a:spLocks noChangeArrowheads="1"/>
          </p:cNvSpPr>
          <p:nvPr/>
        </p:nvSpPr>
        <p:spPr bwMode="auto">
          <a:xfrm>
            <a:off x="3200784" y="271754"/>
            <a:ext cx="5695566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100" b="1" dirty="0" smtClean="0">
                <a:latin typeface="Arial" charset="0"/>
                <a:cs typeface="Arial" charset="0"/>
              </a:rPr>
              <a:t>9 месяцев 2025 </a:t>
            </a:r>
            <a:r>
              <a:rPr lang="en-US" sz="1100" b="1" dirty="0" err="1" smtClean="0">
                <a:latin typeface="Arial" charset="0"/>
                <a:cs typeface="Arial" charset="0"/>
              </a:rPr>
              <a:t>vs</a:t>
            </a:r>
            <a:r>
              <a:rPr lang="en-US" sz="1100" b="1" dirty="0" smtClean="0">
                <a:latin typeface="Arial" charset="0"/>
                <a:cs typeface="Arial" charset="0"/>
              </a:rPr>
              <a:t> 9 </a:t>
            </a:r>
            <a:r>
              <a:rPr lang="ru-RU" sz="1100" b="1" dirty="0" smtClean="0">
                <a:latin typeface="Arial" charset="0"/>
                <a:cs typeface="Arial" charset="0"/>
              </a:rPr>
              <a:t>месяцев 2026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100" b="1" dirty="0" smtClean="0">
                <a:latin typeface="Arial" charset="0"/>
                <a:cs typeface="Arial" charset="0"/>
              </a:rPr>
              <a:t> </a:t>
            </a:r>
            <a:endParaRPr kumimoji="0" lang="ru-RU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charset="0"/>
                <a:cs typeface="Arial" charset="0"/>
              </a:rPr>
              <a:t>БРОЗЭКС</a:t>
            </a: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— АКБ: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108 → 125 клиентов (+15.7%)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charset="0"/>
                <a:cs typeface="Arial" charset="0"/>
              </a:rPr>
              <a:t>Рыгалов</a:t>
            </a: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— АКБ: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82 → 100 клиентов (+22.0%)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charset="0"/>
                <a:cs typeface="Arial" charset="0"/>
              </a:rPr>
              <a:t>БРОЗЭКС</a:t>
            </a: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— Товарооборот: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2 014 796 ₽ → 3 439 931 ₽ (+70.7%)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charset="0"/>
                <a:cs typeface="Arial" charset="0"/>
              </a:rPr>
              <a:t>Рыгалов</a:t>
            </a: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— Товарооборот: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2 555 783 ₽ → 2 690 942 ₽ (+5.3%)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💡 Вывод по БРОЗЭКС: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Товарооборот растёт быстрее АКБ (+70,7%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vs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+15,7%) — означает рост среднего чека на клиента. Эффективная работа с существующей базой + расширение.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💡 Вывод по Рыгалову: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АКБ растёт быстрее товарооборота (+22,0%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vs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+5,3%) — новые клиенты дают меньший чек. Требуется работа по увеличению среднего объёма закупок. </a:t>
            </a:r>
          </a:p>
        </p:txBody>
      </p:sp>
      <p:sp>
        <p:nvSpPr>
          <p:cNvPr id="38" name="Text 2"/>
          <p:cNvSpPr/>
          <p:nvPr/>
        </p:nvSpPr>
        <p:spPr>
          <a:xfrm>
            <a:off x="305885" y="196742"/>
            <a:ext cx="77045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00" b="1" kern="0" spc="113" dirty="0">
                <a:solidFill>
                  <a:schemeClr val="tx1">
                    <a:lumMod val="50000"/>
                    <a:lumOff val="50000"/>
                  </a:scheme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TITAN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 5"/>
          <p:cNvSpPr/>
          <p:nvPr/>
        </p:nvSpPr>
        <p:spPr>
          <a:xfrm>
            <a:off x="1118897" y="208739"/>
            <a:ext cx="13805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ru-RU" sz="1200" b="1" kern="0" spc="56" dirty="0" smtClean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АНАЛИТИКА</a:t>
            </a:r>
            <a:endParaRPr lang="en-US" sz="1200" dirty="0"/>
          </a:p>
        </p:txBody>
      </p:sp>
      <p:sp>
        <p:nvSpPr>
          <p:cNvPr id="41" name="Rectangle 2"/>
          <p:cNvSpPr/>
          <p:nvPr/>
        </p:nvSpPr>
        <p:spPr>
          <a:xfrm>
            <a:off x="1021010" y="154607"/>
            <a:ext cx="28000" cy="25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873716"/>
              </p:ext>
            </p:extLst>
          </p:nvPr>
        </p:nvGraphicFramePr>
        <p:xfrm>
          <a:off x="3277310" y="2504240"/>
          <a:ext cx="5683541" cy="24707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723"/>
                <a:gridCol w="2242030"/>
                <a:gridCol w="594138"/>
                <a:gridCol w="829550"/>
                <a:gridCol w="829550"/>
                <a:gridCol w="829550"/>
              </a:tblGrid>
              <a:tr h="19301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effectLst/>
                        </a:rPr>
                        <a:t>№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effectLst/>
                        </a:rPr>
                        <a:t>Магазин (адрес)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SKU TITAN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 smtClean="0">
                          <a:effectLst/>
                        </a:rPr>
                        <a:t>Средние продажи в месяц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effectLst/>
                        </a:rPr>
                        <a:t>Остаток, шт.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u="none" strike="noStrike" dirty="0">
                          <a:effectLst/>
                        </a:rPr>
                        <a:t>Продано, шт.</a:t>
                      </a:r>
                      <a:endParaRPr lang="ru-RU" sz="11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Аксай, </a:t>
                      </a:r>
                      <a:r>
                        <a:rPr lang="ru-RU" sz="1000" u="none" strike="noStrike" dirty="0" err="1" smtClean="0">
                          <a:effectLst/>
                        </a:rPr>
                        <a:t>Вартанова</a:t>
                      </a:r>
                      <a:r>
                        <a:rPr lang="ru-RU" sz="1000" u="none" strike="noStrike" dirty="0" smtClean="0">
                          <a:effectLst/>
                        </a:rPr>
                        <a:t> </a:t>
                      </a:r>
                      <a:r>
                        <a:rPr lang="ru-RU" sz="1000" u="none" strike="noStrike" dirty="0">
                          <a:effectLst/>
                        </a:rPr>
                        <a:t>11</a:t>
                      </a:r>
                      <a:endParaRPr lang="ru-RU" sz="1000" b="1" i="0" u="none" strike="noStrike" dirty="0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 smtClean="0">
                          <a:effectLst/>
                        </a:rPr>
                        <a:t>16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24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146</a:t>
                      </a:r>
                      <a:endParaRPr lang="ru-RU" sz="1100" b="1" i="0" u="none" strike="noStrike" dirty="0">
                        <a:solidFill>
                          <a:srgbClr val="00B05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 smtClean="0">
                          <a:effectLst/>
                        </a:rPr>
                        <a:t>Батайск, </a:t>
                      </a:r>
                      <a:r>
                        <a:rPr lang="ru-RU" sz="1000" u="none" strike="noStrike" dirty="0">
                          <a:effectLst/>
                        </a:rPr>
                        <a:t>Ленина 168 а</a:t>
                      </a:r>
                      <a:endParaRPr lang="ru-RU" sz="1000" b="1" i="0" u="none" strike="noStrike" dirty="0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 smtClean="0">
                          <a:effectLst/>
                        </a:rPr>
                        <a:t>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32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77</a:t>
                      </a:r>
                      <a:endParaRPr lang="ru-RU" sz="1000" b="1" i="0" u="none" strike="noStrike" dirty="0">
                        <a:solidFill>
                          <a:srgbClr val="C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М.Горького 285Е</a:t>
                      </a:r>
                      <a:endParaRPr lang="ru-RU" sz="1000" b="1" i="0" u="none" strike="noStrike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20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72</a:t>
                      </a:r>
                      <a:endParaRPr lang="ru-RU" sz="1000" b="1" i="0" u="none" strike="noStrike" dirty="0">
                        <a:solidFill>
                          <a:srgbClr val="C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Королева 30 а</a:t>
                      </a:r>
                      <a:endParaRPr lang="ru-RU" sz="1000" b="1" i="0" u="none" strike="noStrike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21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56</a:t>
                      </a:r>
                      <a:endParaRPr lang="ru-RU" sz="1000" b="1" i="0" u="none" strike="noStrike" dirty="0">
                        <a:solidFill>
                          <a:srgbClr val="C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5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40 лет Победы 270</a:t>
                      </a:r>
                      <a:endParaRPr lang="ru-RU" sz="1000" b="1" i="0" u="none" strike="noStrike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45</a:t>
                      </a:r>
                      <a:endParaRPr lang="ru-RU" sz="1000" b="1" i="0" u="none" strike="noStrike" dirty="0">
                        <a:solidFill>
                          <a:srgbClr val="C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6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Малиновского 48 а</a:t>
                      </a:r>
                      <a:endParaRPr lang="ru-RU" sz="1000" b="1" i="0" u="none" strike="noStrike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3,5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24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32</a:t>
                      </a:r>
                      <a:endParaRPr lang="ru-RU" sz="1000" b="1" i="0" u="none" strike="noStrike" dirty="0">
                        <a:solidFill>
                          <a:srgbClr val="C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Портовая 532 а</a:t>
                      </a:r>
                      <a:endParaRPr lang="ru-RU" sz="1000" b="1" i="0" u="none" strike="noStrike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16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21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40 Лет Победы 264/110а</a:t>
                      </a:r>
                      <a:endParaRPr lang="ru-RU" sz="1000" b="1" i="0" u="none" strike="noStrike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Портовая 70</a:t>
                      </a:r>
                      <a:endParaRPr lang="ru-RU" sz="1000" b="1" i="0" u="none" strike="noStrike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effectLst/>
                        </a:rPr>
                        <a:t>13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Базарная 11</a:t>
                      </a:r>
                      <a:endParaRPr lang="ru-RU" sz="1000" b="1" i="0" u="none" strike="noStrike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10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16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7599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effectLst/>
                        </a:rPr>
                        <a:t>Таганрогская, 175 Ваш Дом</a:t>
                      </a:r>
                      <a:endParaRPr lang="ru-RU" sz="1000" b="1" i="0" u="none" strike="noStrike">
                        <a:solidFill>
                          <a:srgbClr val="1E3A5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RU" sz="1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effectLst/>
                        </a:rPr>
                        <a:t>0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12146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 </a:t>
                      </a:r>
                      <a:endParaRPr lang="ru-RU" sz="1000" b="1" i="0" u="none" strike="noStrike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b="1" u="none" strike="noStrike" dirty="0">
                          <a:effectLst/>
                        </a:rPr>
                        <a:t>ИТОГО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effectLst/>
                        </a:rPr>
                        <a:t> 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effectLst/>
                        </a:rPr>
                        <a:t>174</a:t>
                      </a:r>
                      <a:endParaRPr lang="ru-RU" sz="1000" b="1" i="0" u="none" strike="noStrike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effectLst/>
                        </a:rPr>
                        <a:t>514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231151" y="2258019"/>
            <a:ext cx="2817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 smtClean="0">
                <a:solidFill>
                  <a:srgbClr val="00B050"/>
                </a:solidFill>
                <a:latin typeface="Arial" charset="0"/>
                <a:cs typeface="Arial" charset="0"/>
              </a:rPr>
              <a:t>Региональная сеть Ваш </a:t>
            </a:r>
            <a:r>
              <a:rPr lang="ru-RU" sz="1000" b="1" dirty="0">
                <a:solidFill>
                  <a:srgbClr val="00B050"/>
                </a:solidFill>
                <a:latin typeface="Arial" charset="0"/>
                <a:cs typeface="Arial" charset="0"/>
              </a:rPr>
              <a:t>дом</a:t>
            </a:r>
          </a:p>
        </p:txBody>
      </p:sp>
    </p:spTree>
    <p:extLst>
      <p:ext uri="{BB962C8B-B14F-4D97-AF65-F5344CB8AC3E}">
        <p14:creationId xmlns:p14="http://schemas.microsoft.com/office/powerpoint/2010/main" val="241240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703" y="159902"/>
            <a:ext cx="2504174" cy="4856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1"/>
          <a:stretch/>
        </p:blipFill>
        <p:spPr bwMode="auto">
          <a:xfrm>
            <a:off x="133375" y="3326400"/>
            <a:ext cx="5714830" cy="166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ounded Rectangle 35"/>
          <p:cNvSpPr/>
          <p:nvPr/>
        </p:nvSpPr>
        <p:spPr>
          <a:xfrm>
            <a:off x="89950" y="519000"/>
            <a:ext cx="5526050" cy="252592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39"/>
          <p:cNvSpPr/>
          <p:nvPr/>
        </p:nvSpPr>
        <p:spPr>
          <a:xfrm>
            <a:off x="233950" y="605400"/>
            <a:ext cx="5274050" cy="5580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0"/>
          <p:cNvSpPr/>
          <p:nvPr/>
        </p:nvSpPr>
        <p:spPr>
          <a:xfrm>
            <a:off x="233949" y="605400"/>
            <a:ext cx="45719" cy="558000"/>
          </a:xfrm>
          <a:prstGeom prst="rect">
            <a:avLst/>
          </a:prstGeom>
          <a:solidFill>
            <a:srgbClr val="7B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41"/>
          <p:cNvSpPr/>
          <p:nvPr/>
        </p:nvSpPr>
        <p:spPr>
          <a:xfrm>
            <a:off x="323949" y="713400"/>
            <a:ext cx="396235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B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3949" y="767400"/>
            <a:ext cx="396235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7B6FA8"/>
                </a:solidFill>
                <a:latin typeface="Roboto Mon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149" y="695400"/>
            <a:ext cx="330196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50" dirty="0">
                <a:solidFill>
                  <a:srgbClr val="2F3A48"/>
                </a:solidFill>
                <a:latin typeface="Inter"/>
              </a:rPr>
              <a:t>ПЕРВОЕ КАСАНИЕ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149" y="857399"/>
            <a:ext cx="3301961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Email #1: знакомство с брендом Эмпилс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149" y="983400"/>
            <a:ext cx="3301961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B6FA8"/>
                </a:solidFill>
                <a:latin typeface="Roboto Mono"/>
              </a:rPr>
              <a:t>День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150" y="749400"/>
            <a:ext cx="7484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ru-RU" sz="1200" b="1" dirty="0" smtClean="0">
                <a:solidFill>
                  <a:srgbClr val="7B6FA8"/>
                </a:solidFill>
                <a:latin typeface="Roboto Mono"/>
              </a:rPr>
              <a:t>5</a:t>
            </a:r>
            <a:r>
              <a:rPr sz="1200" b="1" dirty="0" smtClean="0">
                <a:solidFill>
                  <a:srgbClr val="7B6FA8"/>
                </a:solidFill>
                <a:latin typeface="Roboto Mono"/>
              </a:rPr>
              <a:t>%</a:t>
            </a:r>
            <a:endParaRPr sz="1200" b="1" dirty="0">
              <a:solidFill>
                <a:srgbClr val="7B6FA8"/>
              </a:solidFill>
              <a:latin typeface="Roboto Mon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9150" y="911400"/>
            <a:ext cx="748444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dirty="0" err="1">
                <a:solidFill>
                  <a:srgbClr val="8A95A3"/>
                </a:solidFill>
                <a:latin typeface="Inter"/>
              </a:rPr>
              <a:t>узнаваемость</a:t>
            </a:r>
            <a:endParaRPr sz="750" b="0" dirty="0">
              <a:solidFill>
                <a:srgbClr val="8A95A3"/>
              </a:solidFill>
              <a:latin typeface="Inter"/>
            </a:endParaRPr>
          </a:p>
        </p:txBody>
      </p:sp>
      <p:sp>
        <p:nvSpPr>
          <p:cNvPr id="17" name="Rounded Rectangle 48"/>
          <p:cNvSpPr/>
          <p:nvPr/>
        </p:nvSpPr>
        <p:spPr>
          <a:xfrm>
            <a:off x="233950" y="1199400"/>
            <a:ext cx="5274050" cy="5580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49"/>
          <p:cNvSpPr/>
          <p:nvPr/>
        </p:nvSpPr>
        <p:spPr>
          <a:xfrm>
            <a:off x="233949" y="1199400"/>
            <a:ext cx="45719" cy="558000"/>
          </a:xfrm>
          <a:prstGeom prst="rect">
            <a:avLst/>
          </a:prstGeom>
          <a:solidFill>
            <a:srgbClr val="6B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50"/>
          <p:cNvSpPr/>
          <p:nvPr/>
        </p:nvSpPr>
        <p:spPr>
          <a:xfrm>
            <a:off x="323949" y="1307400"/>
            <a:ext cx="396235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8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3949" y="1361400"/>
            <a:ext cx="396235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B8FA8"/>
                </a:solidFill>
                <a:latin typeface="Roboto Mon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149" y="1289400"/>
            <a:ext cx="330196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50">
                <a:solidFill>
                  <a:srgbClr val="2F3A48"/>
                </a:solidFill>
                <a:latin typeface="Inter"/>
              </a:rPr>
              <a:t>ИНФОРМАЦИОННОЕ ПРИСУТСТВИЕ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149" y="1451399"/>
            <a:ext cx="3301961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Email #2-3: каталог, кейсы, преимущества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149" y="1577400"/>
            <a:ext cx="3301961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B8FA8"/>
                </a:solidFill>
                <a:latin typeface="Roboto Mono"/>
              </a:rPr>
              <a:t>Месяц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150" y="1343400"/>
            <a:ext cx="7484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6B8FA8"/>
                </a:solidFill>
                <a:latin typeface="Roboto Mono"/>
              </a:rP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150" y="1505400"/>
            <a:ext cx="748444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8A95A3"/>
                </a:solidFill>
                <a:latin typeface="Inter"/>
              </a:rPr>
              <a:t>узнаваемость</a:t>
            </a:r>
          </a:p>
        </p:txBody>
      </p:sp>
      <p:sp>
        <p:nvSpPr>
          <p:cNvPr id="26" name="Rounded Rectangle 57"/>
          <p:cNvSpPr/>
          <p:nvPr/>
        </p:nvSpPr>
        <p:spPr>
          <a:xfrm>
            <a:off x="233950" y="1793400"/>
            <a:ext cx="5274050" cy="5580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58"/>
          <p:cNvSpPr/>
          <p:nvPr/>
        </p:nvSpPr>
        <p:spPr>
          <a:xfrm>
            <a:off x="233949" y="1793400"/>
            <a:ext cx="45719" cy="5580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59"/>
          <p:cNvSpPr/>
          <p:nvPr/>
        </p:nvSpPr>
        <p:spPr>
          <a:xfrm>
            <a:off x="323949" y="1901400"/>
            <a:ext cx="396235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3949" y="1955400"/>
            <a:ext cx="396235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9A77C"/>
                </a:solidFill>
                <a:latin typeface="Roboto Mono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149" y="1883400"/>
            <a:ext cx="330196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50">
                <a:solidFill>
                  <a:srgbClr val="2F3A48"/>
                </a:solidFill>
                <a:latin typeface="Inter"/>
              </a:rPr>
              <a:t>УЗНАВАЕМОСТЬ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149" y="2045399"/>
            <a:ext cx="3301961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Email #4-6: отраслевые новости, продукт года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149" y="2171400"/>
            <a:ext cx="3301961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C9A77C"/>
                </a:solidFill>
                <a:latin typeface="Roboto Mono"/>
              </a:rPr>
              <a:t>Месяц 2-3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150" y="1937400"/>
            <a:ext cx="7484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C9A77C"/>
                </a:solidFill>
                <a:latin typeface="Roboto Mono"/>
              </a:rPr>
              <a:t>35%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9150" y="2099400"/>
            <a:ext cx="748444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8A95A3"/>
                </a:solidFill>
                <a:latin typeface="Inter"/>
              </a:rPr>
              <a:t>узнаваемость</a:t>
            </a:r>
          </a:p>
        </p:txBody>
      </p:sp>
      <p:sp>
        <p:nvSpPr>
          <p:cNvPr id="35" name="Rounded Rectangle 66"/>
          <p:cNvSpPr/>
          <p:nvPr/>
        </p:nvSpPr>
        <p:spPr>
          <a:xfrm>
            <a:off x="233950" y="2387400"/>
            <a:ext cx="5274050" cy="5580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67"/>
          <p:cNvSpPr/>
          <p:nvPr/>
        </p:nvSpPr>
        <p:spPr>
          <a:xfrm>
            <a:off x="233949" y="2387400"/>
            <a:ext cx="45719" cy="5580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68"/>
          <p:cNvSpPr/>
          <p:nvPr/>
        </p:nvSpPr>
        <p:spPr>
          <a:xfrm>
            <a:off x="323949" y="2495400"/>
            <a:ext cx="396235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4A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3949" y="2549400"/>
            <a:ext cx="396235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D4A574"/>
                </a:solidFill>
                <a:latin typeface="Roboto Mono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1149" y="2477400"/>
            <a:ext cx="330196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000" b="1" spc="50" dirty="0" smtClean="0">
                <a:solidFill>
                  <a:srgbClr val="2F3A48"/>
                </a:solidFill>
                <a:latin typeface="Inter"/>
              </a:rPr>
              <a:t>ПЕРВИЧНОЕ </a:t>
            </a:r>
            <a:r>
              <a:rPr sz="1000" b="1" spc="50" dirty="0" smtClean="0">
                <a:solidFill>
                  <a:srgbClr val="2F3A48"/>
                </a:solidFill>
                <a:latin typeface="Inter"/>
              </a:rPr>
              <a:t>ДОВЕРИЕ</a:t>
            </a:r>
            <a:endParaRPr sz="1000" b="1" spc="5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1149" y="2639399"/>
            <a:ext cx="3301961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Email #7-9: отзывы, рейтинги, сертификаты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1149" y="2765400"/>
            <a:ext cx="3301961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D4A574"/>
                </a:solidFill>
                <a:latin typeface="Roboto Mono"/>
              </a:rPr>
              <a:t>Месяц 4-5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9150" y="2531400"/>
            <a:ext cx="7484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ru-RU" sz="1200" b="1" dirty="0" smtClean="0">
                <a:solidFill>
                  <a:srgbClr val="D4A574"/>
                </a:solidFill>
                <a:latin typeface="Roboto Mono"/>
              </a:rPr>
              <a:t>5</a:t>
            </a:r>
            <a:r>
              <a:rPr sz="1200" b="1" dirty="0" smtClean="0">
                <a:solidFill>
                  <a:srgbClr val="D4A574"/>
                </a:solidFill>
                <a:latin typeface="Roboto Mono"/>
              </a:rPr>
              <a:t>0</a:t>
            </a:r>
            <a:r>
              <a:rPr sz="1200" b="1" dirty="0">
                <a:solidFill>
                  <a:srgbClr val="D4A574"/>
                </a:solidFill>
                <a:latin typeface="Roboto Mono"/>
              </a:rPr>
              <a:t>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9150" y="2693400"/>
            <a:ext cx="748444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8A95A3"/>
                </a:solidFill>
                <a:latin typeface="Inter"/>
              </a:rPr>
              <a:t>узнаваемость</a:t>
            </a:r>
          </a:p>
        </p:txBody>
      </p:sp>
      <p:sp>
        <p:nvSpPr>
          <p:cNvPr id="44" name="Text 5"/>
          <p:cNvSpPr/>
          <p:nvPr/>
        </p:nvSpPr>
        <p:spPr>
          <a:xfrm>
            <a:off x="187340" y="3080925"/>
            <a:ext cx="337666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ru-RU" sz="1200" b="1" dirty="0" smtClean="0"/>
              <a:t>Пример статистики рассылки по региону «Центр» </a:t>
            </a:r>
            <a:endParaRPr lang="en-US" sz="1200" b="1" dirty="0"/>
          </a:p>
        </p:txBody>
      </p:sp>
      <p:sp>
        <p:nvSpPr>
          <p:cNvPr id="45" name="Rectangle 2"/>
          <p:cNvSpPr/>
          <p:nvPr/>
        </p:nvSpPr>
        <p:spPr>
          <a:xfrm>
            <a:off x="257115" y="190001"/>
            <a:ext cx="28000" cy="25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0711" y="233564"/>
            <a:ext cx="3698766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06"/>
              </a:lnSpc>
            </a:pPr>
            <a:r>
              <a:rPr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ПРОЕКТ</a:t>
            </a:r>
            <a:r>
              <a:rPr lang="ru-RU"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БЕЛЫЕ ПЯТНА </a:t>
            </a:r>
            <a:endParaRPr sz="1200" b="1" kern="0" spc="56" dirty="0">
              <a:solidFill>
                <a:srgbClr val="2F3A48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1029" name="TextBox 1028"/>
          <p:cNvSpPr txBox="1"/>
          <p:nvPr/>
        </p:nvSpPr>
        <p:spPr>
          <a:xfrm>
            <a:off x="180000" y="4446000"/>
            <a:ext cx="5760000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C9A77C"/>
                </a:solidFill>
                <a:latin typeface="Inter"/>
              </a:rPr>
              <a:t>НОВЫЕ РЕГИОНЫ (потенциальные партнёры)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180000" y="4590000"/>
            <a:ext cx="288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D60A"/>
                </a:solidFill>
                <a:latin typeface="Roboto Mono"/>
              </a:rPr>
              <a:t>06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503999" y="4590000"/>
            <a:ext cx="162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Московская обл.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2160000" y="4590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ООО Вертикаль, ООО Стройтерминал центр красок</a:t>
            </a:r>
          </a:p>
        </p:txBody>
      </p:sp>
      <p:sp>
        <p:nvSpPr>
          <p:cNvPr id="1033" name="Rectangle 1032"/>
          <p:cNvSpPr/>
          <p:nvPr/>
        </p:nvSpPr>
        <p:spPr>
          <a:xfrm>
            <a:off x="180000" y="4744800"/>
            <a:ext cx="5760000" cy="5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180000" y="4752000"/>
            <a:ext cx="288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D60A"/>
                </a:solidFill>
                <a:latin typeface="Roboto Mono"/>
              </a:rPr>
              <a:t>07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503999" y="4752000"/>
            <a:ext cx="162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Воронежская обл.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2160000" y="4752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ООО Вертикаль</a:t>
            </a:r>
          </a:p>
        </p:txBody>
      </p:sp>
      <p:sp>
        <p:nvSpPr>
          <p:cNvPr id="1037" name="Rectangle 1036"/>
          <p:cNvSpPr/>
          <p:nvPr/>
        </p:nvSpPr>
        <p:spPr>
          <a:xfrm>
            <a:off x="180000" y="4906800"/>
            <a:ext cx="5760000" cy="5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180000" y="4914000"/>
            <a:ext cx="288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D60A"/>
                </a:solidFill>
                <a:latin typeface="Roboto Mono"/>
              </a:rPr>
              <a:t>08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503999" y="4914000"/>
            <a:ext cx="162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Липецкая обл.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2160000" y="4914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ООО Стройбаза-спектр</a:t>
            </a:r>
          </a:p>
        </p:txBody>
      </p:sp>
      <p:sp>
        <p:nvSpPr>
          <p:cNvPr id="1041" name="Rectangle 1040"/>
          <p:cNvSpPr/>
          <p:nvPr/>
        </p:nvSpPr>
        <p:spPr>
          <a:xfrm>
            <a:off x="180000" y="5068800"/>
            <a:ext cx="5760000" cy="5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5668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3515" y="190001"/>
            <a:ext cx="28000" cy="250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7111" y="233564"/>
            <a:ext cx="3698766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06"/>
              </a:lnSpc>
            </a:pPr>
            <a:r>
              <a:rPr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ПРОЕКТ</a:t>
            </a:r>
            <a:r>
              <a:rPr lang="ru-RU" sz="1200" b="1" kern="0" spc="56" dirty="0">
                <a:solidFill>
                  <a:srgbClr val="2F3A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БЕЛЫЕ ПЯТНА </a:t>
            </a:r>
            <a:endParaRPr sz="1200" b="1" kern="0" spc="56" dirty="0">
              <a:solidFill>
                <a:srgbClr val="2F3A48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99151" y="172304"/>
            <a:ext cx="1605960" cy="2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48141" y="241798"/>
            <a:ext cx="15459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 dirty="0"/>
              <a:t>Q4 2026 · В РАБОТЕ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014" y="554767"/>
            <a:ext cx="8686800" cy="2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115" y="778715"/>
            <a:ext cx="6071400" cy="36125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0505" y="778715"/>
            <a:ext cx="2860000" cy="3594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0505" y="922736"/>
            <a:ext cx="27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 dirty="0">
                <a:latin typeface="Inter"/>
              </a:rPr>
              <a:t>ГРАФИК ВСТРЕЧ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0505" y="1132737"/>
            <a:ext cx="2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latin typeface="Inter"/>
              </a:rPr>
              <a:t>5 </a:t>
            </a:r>
            <a:r>
              <a:rPr sz="900" b="0" dirty="0" err="1">
                <a:latin typeface="Inter"/>
              </a:rPr>
              <a:t>регионов</a:t>
            </a:r>
            <a:r>
              <a:rPr sz="900" b="0" dirty="0">
                <a:latin typeface="Inter"/>
              </a:rPr>
              <a:t> · 5+ </a:t>
            </a:r>
            <a:r>
              <a:rPr sz="900" b="0" dirty="0" err="1">
                <a:latin typeface="Inter"/>
              </a:rPr>
              <a:t>дистрибьюторов</a:t>
            </a:r>
            <a:endParaRPr sz="900" b="0" dirty="0">
              <a:latin typeface="Int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70505" y="13133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1010" y="1419605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1010" y="14727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0505" y="14227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F3A48"/>
                </a:solidFill>
                <a:latin typeface="Inter"/>
              </a:rPr>
              <a:t>Барнаул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0505" y="16227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Алтайский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край</a:t>
            </a:r>
            <a:endParaRPr sz="850" b="0" dirty="0"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40505" y="1782736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 err="1">
                <a:solidFill>
                  <a:srgbClr val="C00000"/>
                </a:solidFill>
                <a:latin typeface="Inter"/>
              </a:rPr>
              <a:t>Олимп</a:t>
            </a:r>
            <a:endParaRPr sz="900" b="0" spc="20" dirty="0">
              <a:solidFill>
                <a:srgbClr val="C00000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40506" y="1422736"/>
            <a:ext cx="15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2F3A48"/>
                </a:solidFill>
                <a:latin typeface="Roboto Mono"/>
              </a:rPr>
              <a:t>13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-16.10.2026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70505" y="19507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41010" y="2017706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1010" y="20708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0505" y="2020835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F3A48"/>
                </a:solidFill>
                <a:latin typeface="Inter"/>
              </a:rPr>
              <a:t>Красноярск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0505" y="22208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Красноярский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край</a:t>
            </a:r>
            <a:endParaRPr sz="850" b="0" dirty="0"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40505" y="2386735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>
                <a:solidFill>
                  <a:srgbClr val="C00000"/>
                </a:solidFill>
                <a:latin typeface="Inter"/>
              </a:rPr>
              <a:t>ООО «ОЧАГ»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1826" y="2020836"/>
            <a:ext cx="95868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2F3A48"/>
                </a:solidFill>
                <a:latin typeface="Roboto Mono"/>
              </a:rPr>
              <a:t>05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-</a:t>
            </a:r>
            <a:r>
              <a:rPr sz="900" b="1" dirty="0" smtClean="0">
                <a:solidFill>
                  <a:srgbClr val="2F3A48"/>
                </a:solidFill>
                <a:latin typeface="Roboto Mono"/>
              </a:rPr>
              <a:t>11.11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.2026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70505" y="252981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41010" y="2603106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41010" y="26562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0505" y="26062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latin typeface="Inter"/>
              </a:rPr>
              <a:t>Улан-Удэ</a:t>
            </a:r>
            <a:endParaRPr sz="1100" b="1" dirty="0"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40505" y="28062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Республика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Бурятия</a:t>
            </a:r>
            <a:endParaRPr sz="850" b="0" dirty="0">
              <a:latin typeface="Inte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40505" y="2959887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 err="1">
                <a:solidFill>
                  <a:srgbClr val="C00000"/>
                </a:solidFill>
                <a:latin typeface="Inter"/>
              </a:rPr>
              <a:t>Вегос</a:t>
            </a:r>
            <a:r>
              <a:rPr sz="900" b="0" spc="20" dirty="0">
                <a:solidFill>
                  <a:srgbClr val="C00000"/>
                </a:solidFill>
                <a:latin typeface="Inter"/>
              </a:rPr>
              <a:t>-М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547" y="2606237"/>
            <a:ext cx="117695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dirty="0" smtClean="0">
                <a:solidFill>
                  <a:srgbClr val="2F3A48"/>
                </a:solidFill>
                <a:latin typeface="Roboto Mono"/>
              </a:rPr>
              <a:t>19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-</a:t>
            </a:r>
            <a:r>
              <a:rPr sz="900" b="1" dirty="0" smtClean="0">
                <a:solidFill>
                  <a:srgbClr val="2F3A48"/>
                </a:solidFill>
                <a:latin typeface="Roboto Mono"/>
              </a:rPr>
              <a:t>25.11</a:t>
            </a:r>
            <a:r>
              <a:rPr lang="en-US" sz="900" b="1" dirty="0" smtClean="0">
                <a:solidFill>
                  <a:srgbClr val="2F3A48"/>
                </a:solidFill>
                <a:latin typeface="Roboto Mono"/>
              </a:rPr>
              <a:t>.2026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70505" y="31342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41010" y="3201205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1010" y="32543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0505" y="32043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latin typeface="Inter"/>
              </a:rPr>
              <a:t>Омск</a:t>
            </a:r>
            <a:endParaRPr sz="1100" b="1" dirty="0">
              <a:latin typeface="Inte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40505" y="34043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latin typeface="Inter"/>
              </a:rPr>
              <a:t>Омская</a:t>
            </a:r>
            <a:r>
              <a:rPr sz="850" b="0" dirty="0">
                <a:latin typeface="Inter"/>
              </a:rPr>
              <a:t> </a:t>
            </a:r>
            <a:r>
              <a:rPr sz="850" b="0" dirty="0" err="1">
                <a:latin typeface="Inter"/>
              </a:rPr>
              <a:t>область</a:t>
            </a:r>
            <a:endParaRPr sz="850" b="0" dirty="0">
              <a:latin typeface="Inte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40505" y="3564336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>
                <a:solidFill>
                  <a:srgbClr val="C00000"/>
                </a:solidFill>
                <a:latin typeface="Inter"/>
              </a:rPr>
              <a:t>ИП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Шишков</a:t>
            </a:r>
            <a:endParaRPr sz="900" b="0" spc="20" dirty="0">
              <a:solidFill>
                <a:srgbClr val="C00000"/>
              </a:solidFill>
              <a:latin typeface="Inter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20505" y="3204336"/>
            <a:ext cx="72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ru-RU" sz="900" b="1" dirty="0" smtClean="0">
                <a:solidFill>
                  <a:srgbClr val="2F3A48"/>
                </a:solidFill>
                <a:latin typeface="Roboto Mono"/>
              </a:rPr>
              <a:t>уточняется</a:t>
            </a:r>
            <a:endParaRPr sz="900" b="1" dirty="0">
              <a:solidFill>
                <a:srgbClr val="2F3A48"/>
              </a:solidFill>
              <a:latin typeface="Roboto Mono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70505" y="3745066"/>
            <a:ext cx="2700000" cy="4571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241010" y="3812006"/>
            <a:ext cx="320000" cy="32313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41010" y="3865135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0505" y="3815136"/>
            <a:ext cx="16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 err="1">
                <a:latin typeface="Inter"/>
              </a:rPr>
              <a:t>Казань</a:t>
            </a:r>
            <a:endParaRPr sz="1100" b="1" dirty="0"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40505" y="4015136"/>
            <a:ext cx="1600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Республика Татарстан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0505" y="4169237"/>
            <a:ext cx="17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20" dirty="0">
                <a:solidFill>
                  <a:srgbClr val="C00000"/>
                </a:solidFill>
                <a:latin typeface="Inter"/>
              </a:rPr>
              <a:t>ТС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Агава</a:t>
            </a:r>
            <a:r>
              <a:rPr sz="900" b="0" spc="20" dirty="0">
                <a:solidFill>
                  <a:srgbClr val="C00000"/>
                </a:solidFill>
                <a:latin typeface="Inter"/>
              </a:rPr>
              <a:t>,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Карат</a:t>
            </a:r>
            <a:r>
              <a:rPr sz="900" b="0" spc="20" dirty="0">
                <a:solidFill>
                  <a:srgbClr val="C00000"/>
                </a:solidFill>
                <a:latin typeface="Inter"/>
              </a:rPr>
              <a:t>, </a:t>
            </a:r>
            <a:r>
              <a:rPr sz="900" b="0" spc="20" dirty="0" err="1">
                <a:solidFill>
                  <a:srgbClr val="C00000"/>
                </a:solidFill>
                <a:latin typeface="Inter"/>
              </a:rPr>
              <a:t>Колорит</a:t>
            </a:r>
            <a:endParaRPr sz="900" b="0" spc="20" dirty="0">
              <a:solidFill>
                <a:srgbClr val="C00000"/>
              </a:solidFill>
              <a:latin typeface="Inter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20505" y="3815136"/>
            <a:ext cx="72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ru-RU" sz="900" b="1" dirty="0">
                <a:solidFill>
                  <a:srgbClr val="2F3A48"/>
                </a:solidFill>
                <a:latin typeface="Roboto Mono"/>
              </a:rPr>
              <a:t>уточняется</a:t>
            </a:r>
          </a:p>
        </p:txBody>
      </p:sp>
      <p:pic>
        <p:nvPicPr>
          <p:cNvPr id="51" name="Picture 10" descr="white_spot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14" y="919468"/>
            <a:ext cx="5800000" cy="3400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80000" y="4446000"/>
            <a:ext cx="5760000" cy="12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C9A77C"/>
                </a:solidFill>
                <a:latin typeface="Inter"/>
              </a:rPr>
              <a:t>НОВЫЕ РЕГИОНЫ (потенциальные партнёры)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000" y="4590000"/>
            <a:ext cx="288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D60A"/>
                </a:solidFill>
                <a:latin typeface="Roboto Mono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3999" y="4590000"/>
            <a:ext cx="162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Московская обл.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60000" y="4590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ООО Вертикаль, ООО Стройтерминал центр красок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0000" y="4744800"/>
            <a:ext cx="5760000" cy="5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0000" y="4752000"/>
            <a:ext cx="288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D60A"/>
                </a:solidFill>
                <a:latin typeface="Roboto Mono"/>
              </a:rPr>
              <a:t>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3999" y="4752000"/>
            <a:ext cx="162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Воронежская обл.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60000" y="4752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ООО Вертикаль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0000" y="4906800"/>
            <a:ext cx="5760000" cy="5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0000" y="4914000"/>
            <a:ext cx="288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D60A"/>
                </a:solidFill>
                <a:latin typeface="Roboto Mono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3999" y="4914000"/>
            <a:ext cx="162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Липецкая обл.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60000" y="4914000"/>
            <a:ext cx="37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ООО Стройбаза-спектр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0000" y="5068800"/>
            <a:ext cx="5760000" cy="5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000" y="180000"/>
            <a:ext cx="8800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F3A48"/>
                </a:solidFill>
                <a:latin typeface="Inter"/>
              </a:rPr>
              <a:t>Поддержка новых дистрибьюторов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0" y="160000"/>
            <a:ext cx="1800000" cy="2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0" y="205000"/>
            <a:ext cx="1800000" cy="23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>
                <a:solidFill>
                  <a:srgbClr val="C9A77C"/>
                </a:solidFill>
                <a:latin typeface="Inter"/>
              </a:rPr>
              <a:t>ПРОГРАММА ·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40000" y="588998"/>
            <a:ext cx="8855724" cy="28575"/>
          </a:xfrm>
          <a:prstGeom prst="rect">
            <a:avLst/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7200" y="900000"/>
            <a:ext cx="6642000" cy="3689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1599" y="1220431"/>
            <a:ext cx="640727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 dirty="0">
                <a:solidFill>
                  <a:srgbClr val="C00000"/>
                </a:solidFill>
                <a:latin typeface="Inter"/>
              </a:rPr>
              <a:t>4 ЭТАПА ПОДДЕРЖКИ НОВОГО ДИСТРИБЬЮТОРА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599" y="1451265"/>
            <a:ext cx="6407279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8A95A3"/>
                </a:solidFill>
                <a:latin typeface="Inter"/>
              </a:rPr>
              <a:t>От</a:t>
            </a:r>
            <a:r>
              <a:rPr sz="10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1000" b="0" dirty="0" err="1">
                <a:solidFill>
                  <a:srgbClr val="8A95A3"/>
                </a:solidFill>
                <a:latin typeface="Inter"/>
              </a:rPr>
              <a:t>подписания</a:t>
            </a:r>
            <a:r>
              <a:rPr sz="10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1000" b="0" dirty="0" err="1">
                <a:solidFill>
                  <a:srgbClr val="8A95A3"/>
                </a:solidFill>
                <a:latin typeface="Inter"/>
              </a:rPr>
              <a:t>договора</a:t>
            </a:r>
            <a:r>
              <a:rPr sz="10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1000" b="0" dirty="0" err="1">
                <a:solidFill>
                  <a:srgbClr val="8A95A3"/>
                </a:solidFill>
                <a:latin typeface="Inter"/>
              </a:rPr>
              <a:t>до</a:t>
            </a:r>
            <a:r>
              <a:rPr sz="10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1000" b="0" dirty="0" err="1">
                <a:solidFill>
                  <a:srgbClr val="8A95A3"/>
                </a:solidFill>
                <a:latin typeface="Inter"/>
              </a:rPr>
              <a:t>первых</a:t>
            </a:r>
            <a:r>
              <a:rPr sz="10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1000" b="0" dirty="0" err="1">
                <a:solidFill>
                  <a:srgbClr val="8A95A3"/>
                </a:solidFill>
                <a:latin typeface="Inter"/>
              </a:rPr>
              <a:t>продаж</a:t>
            </a:r>
            <a:r>
              <a:rPr sz="1000" b="0" dirty="0">
                <a:solidFill>
                  <a:srgbClr val="8A95A3"/>
                </a:solidFill>
                <a:latin typeface="Inter"/>
              </a:rPr>
              <a:t> в </a:t>
            </a:r>
            <a:r>
              <a:rPr sz="1000" b="0" dirty="0" err="1">
                <a:solidFill>
                  <a:srgbClr val="8A95A3"/>
                </a:solidFill>
                <a:latin typeface="Inter"/>
              </a:rPr>
              <a:t>новом</a:t>
            </a:r>
            <a:r>
              <a:rPr sz="10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1000" b="0" dirty="0" err="1">
                <a:solidFill>
                  <a:srgbClr val="8A95A3"/>
                </a:solidFill>
                <a:latin typeface="Inter"/>
              </a:rPr>
              <a:t>регионе</a:t>
            </a:r>
            <a:endParaRPr sz="1000" b="0" dirty="0">
              <a:solidFill>
                <a:srgbClr val="8A95A3"/>
              </a:solidFill>
              <a:latin typeface="Int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7199" y="1642691"/>
            <a:ext cx="6204087" cy="4690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7200" y="2155025"/>
            <a:ext cx="6028922" cy="4690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0570" y="1879598"/>
            <a:ext cx="613078" cy="590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570" y="2071941"/>
            <a:ext cx="613078" cy="221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Roboto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200" y="2578248"/>
            <a:ext cx="1452492" cy="157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2F3A48"/>
                </a:solidFill>
                <a:latin typeface="Inter"/>
              </a:rPr>
              <a:t>ПОДГОТОВКА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199" y="3194095"/>
            <a:ext cx="1364909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950" dirty="0" smtClean="0">
                <a:solidFill>
                  <a:srgbClr val="8A95A3"/>
                </a:solidFill>
                <a:latin typeface="Inter"/>
              </a:rPr>
              <a:t>Согласование и подписание договора</a:t>
            </a:r>
            <a:endParaRPr sz="950" b="0" dirty="0">
              <a:solidFill>
                <a:srgbClr val="8A95A3"/>
              </a:solidFill>
              <a:latin typeface="Inter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41910" y="1878810"/>
            <a:ext cx="613078" cy="590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41910" y="2071153"/>
            <a:ext cx="613078" cy="221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C9A77C"/>
                </a:solidFill>
                <a:latin typeface="Roboto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0680" y="2565548"/>
            <a:ext cx="1452492" cy="157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2F3A48"/>
                </a:solidFill>
                <a:latin typeface="Inter"/>
              </a:rPr>
              <a:t>ВЫСТАВКА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3940" y="2882432"/>
            <a:ext cx="145249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15- </a:t>
            </a:r>
            <a:r>
              <a:rPr sz="900" b="1" dirty="0" smtClean="0">
                <a:solidFill>
                  <a:srgbClr val="C9A77C"/>
                </a:solidFill>
                <a:latin typeface="Roboto Mono"/>
              </a:rPr>
              <a:t>30</a:t>
            </a:r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 дней</a:t>
            </a:r>
            <a:endParaRPr sz="900" b="1" dirty="0">
              <a:solidFill>
                <a:srgbClr val="C9A77C"/>
              </a:solidFill>
              <a:latin typeface="Roboto Mon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63939" y="3176575"/>
            <a:ext cx="1364909" cy="449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5A3"/>
                </a:solidFill>
                <a:latin typeface="Inter"/>
              </a:rPr>
              <a:t>Совместное участие Дистрибьютор + Эмпилс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4050" y="1873292"/>
            <a:ext cx="613078" cy="590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34050" y="2065635"/>
            <a:ext cx="613078" cy="221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C9A77C"/>
                </a:solidFill>
                <a:latin typeface="Roboto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8540" y="2578248"/>
            <a:ext cx="1452492" cy="157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2F3A48"/>
                </a:solidFill>
                <a:latin typeface="Inter"/>
              </a:rPr>
              <a:t>ОБУЧЕНИЕ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0680" y="2882432"/>
            <a:ext cx="145249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0</a:t>
            </a:r>
            <a:r>
              <a:rPr sz="900" b="1" dirty="0" smtClean="0">
                <a:solidFill>
                  <a:srgbClr val="C9A77C"/>
                </a:solidFill>
                <a:latin typeface="Roboto Mono"/>
              </a:rPr>
              <a:t>—</a:t>
            </a:r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9</a:t>
            </a:r>
            <a:r>
              <a:rPr sz="900" b="1" dirty="0" smtClean="0">
                <a:solidFill>
                  <a:srgbClr val="C9A77C"/>
                </a:solidFill>
                <a:latin typeface="Roboto Mono"/>
              </a:rPr>
              <a:t>0</a:t>
            </a:r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 дней</a:t>
            </a:r>
            <a:endParaRPr sz="900" b="1" dirty="0">
              <a:solidFill>
                <a:srgbClr val="C9A77C"/>
              </a:solidFill>
              <a:latin typeface="Roboto Mon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10679" y="3176575"/>
            <a:ext cx="1364909" cy="449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5A3"/>
                </a:solidFill>
                <a:latin typeface="Inter"/>
              </a:rPr>
              <a:t>Выездное обучение с упором на продажи ФТМ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0790" y="1879598"/>
            <a:ext cx="613078" cy="590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00790" y="2071941"/>
            <a:ext cx="613078" cy="221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F3A48"/>
                </a:solidFill>
                <a:latin typeface="Roboto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7420" y="2578248"/>
            <a:ext cx="1452492" cy="157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2F3A48"/>
                </a:solidFill>
                <a:latin typeface="Inter"/>
              </a:rPr>
              <a:t>СОПРОВОЖДЕНИЕ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7420" y="2882432"/>
            <a:ext cx="145249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900" b="1" dirty="0">
                <a:solidFill>
                  <a:srgbClr val="C9A77C"/>
                </a:solidFill>
                <a:latin typeface="Roboto Mono"/>
              </a:rPr>
              <a:t>0—90 дней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7419" y="3180380"/>
            <a:ext cx="1364909" cy="299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8A95A3"/>
                </a:solidFill>
                <a:latin typeface="Inter"/>
              </a:rPr>
              <a:t>Мониторинг · KPI · Корректировка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199" y="4090813"/>
            <a:ext cx="6204087" cy="46909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4397" y="2892432"/>
            <a:ext cx="145249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 smtClean="0">
                <a:solidFill>
                  <a:srgbClr val="C9A77C"/>
                </a:solidFill>
                <a:latin typeface="Roboto Mono"/>
              </a:rPr>
              <a:t>0</a:t>
            </a:r>
            <a:r>
              <a:rPr lang="ru-RU" sz="900" b="1" dirty="0" smtClean="0">
                <a:solidFill>
                  <a:srgbClr val="C9A77C"/>
                </a:solidFill>
                <a:latin typeface="Roboto Mono"/>
              </a:rPr>
              <a:t>-15 дней</a:t>
            </a:r>
            <a:endParaRPr sz="900" b="1" dirty="0">
              <a:solidFill>
                <a:srgbClr val="C9A77C"/>
              </a:solidFill>
              <a:latin typeface="Roboto Mono"/>
            </a:endParaRPr>
          </a:p>
        </p:txBody>
      </p:sp>
      <p:sp>
        <p:nvSpPr>
          <p:cNvPr id="54" name="Rounded Rectangle 6"/>
          <p:cNvSpPr/>
          <p:nvPr/>
        </p:nvSpPr>
        <p:spPr>
          <a:xfrm>
            <a:off x="7034400" y="921600"/>
            <a:ext cx="1747668" cy="3689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27034" y="1488803"/>
            <a:ext cx="1562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000" dirty="0" smtClean="0">
                <a:latin typeface="Inter"/>
              </a:rPr>
              <a:t>Возможные выставки</a:t>
            </a:r>
            <a:endParaRPr sz="1000" b="0" dirty="0">
              <a:latin typeface="Inte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127034" y="1939245"/>
            <a:ext cx="15624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000" dirty="0" smtClean="0">
                <a:latin typeface="Inter"/>
              </a:rPr>
              <a:t>1. Казань</a:t>
            </a:r>
            <a:r>
              <a:rPr lang="ru-RU" sz="1000" dirty="0">
                <a:latin typeface="Inter"/>
              </a:rPr>
              <a:t>, Казань </a:t>
            </a:r>
            <a:r>
              <a:rPr lang="ru-RU" sz="1000" dirty="0" smtClean="0">
                <a:latin typeface="Inter"/>
              </a:rPr>
              <a:t>Экспо</a:t>
            </a:r>
          </a:p>
          <a:p>
            <a:endParaRPr lang="ru-RU" sz="1000" dirty="0" smtClean="0">
              <a:latin typeface="Inter"/>
            </a:endParaRPr>
          </a:p>
          <a:p>
            <a:r>
              <a:rPr lang="ru-RU" sz="1000" dirty="0" smtClean="0">
                <a:latin typeface="Inter"/>
              </a:rPr>
              <a:t>2. Новосибирск</a:t>
            </a:r>
            <a:r>
              <a:rPr lang="ru-RU" sz="1000" dirty="0">
                <a:latin typeface="Inter"/>
              </a:rPr>
              <a:t>, Сибирская строительная </a:t>
            </a:r>
            <a:r>
              <a:rPr lang="ru-RU" sz="1000" dirty="0" smtClean="0">
                <a:latin typeface="Inter"/>
              </a:rPr>
              <a:t>неделя</a:t>
            </a:r>
          </a:p>
          <a:p>
            <a:endParaRPr lang="ru-RU" sz="1000" b="0" dirty="0">
              <a:latin typeface="Inter"/>
            </a:endParaRPr>
          </a:p>
          <a:p>
            <a:r>
              <a:rPr lang="ru-RU" sz="1000" dirty="0">
                <a:latin typeface="Inter"/>
              </a:rPr>
              <a:t>3. Нижний Новгород, Российские Дни Дизайна и Архитектуры </a:t>
            </a:r>
            <a:endParaRPr sz="1000" b="0" dirty="0"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788782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80000"/>
            <a:ext cx="7200000" cy="34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F3A48"/>
                </a:solidFill>
                <a:latin typeface="Inter"/>
              </a:rPr>
              <a:t>Запуск новинок · Стандарт вывода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0" y="162000"/>
            <a:ext cx="1800000" cy="280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0" y="208800"/>
            <a:ext cx="1800000" cy="23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>
                <a:solidFill>
                  <a:srgbClr val="C9A77C"/>
                </a:solidFill>
                <a:latin typeface="Inter"/>
              </a:rPr>
              <a:t>СТАНДАРТ ·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47200"/>
            <a:ext cx="8820000" cy="28800"/>
          </a:xfrm>
          <a:prstGeom prst="rect">
            <a:avLst/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264482"/>
              </p:ext>
            </p:extLst>
          </p:nvPr>
        </p:nvGraphicFramePr>
        <p:xfrm>
          <a:off x="180000" y="728700"/>
          <a:ext cx="8819999" cy="2367180"/>
        </p:xfrm>
        <a:graphic>
          <a:graphicData uri="http://schemas.openxmlformats.org/drawingml/2006/table">
            <a:tbl>
              <a:tblPr/>
              <a:tblGrid>
                <a:gridCol w="324000"/>
                <a:gridCol w="1612800"/>
                <a:gridCol w="756000"/>
                <a:gridCol w="561600"/>
                <a:gridCol w="1216800"/>
                <a:gridCol w="1729892"/>
                <a:gridCol w="872969"/>
                <a:gridCol w="872969"/>
                <a:gridCol w="872969"/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FFFFFF"/>
                          </a:solidFill>
                          <a:latin typeface="Inter"/>
                        </a:rPr>
                        <a:t>#</a:t>
                      </a: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 err="1">
                          <a:solidFill>
                            <a:srgbClr val="FFFFFF"/>
                          </a:solidFill>
                          <a:latin typeface="Inter"/>
                        </a:rPr>
                        <a:t>Новинка</a:t>
                      </a:r>
                      <a:endParaRPr sz="950" b="1" dirty="0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50" b="1" dirty="0" smtClean="0">
                          <a:solidFill>
                            <a:srgbClr val="FFFFFF"/>
                          </a:solidFill>
                          <a:latin typeface="Inter"/>
                        </a:rPr>
                        <a:t>Дата выхода</a:t>
                      </a:r>
                      <a:endParaRPr sz="950" b="1" dirty="0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FFFFFF"/>
                          </a:solidFill>
                          <a:latin typeface="Inter"/>
                        </a:rPr>
                        <a:t>SKU</a:t>
                      </a: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Фасовки</a:t>
                      </a: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Цвета</a:t>
                      </a: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Первичка (кг)</a:t>
                      </a: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Вторичка (кг)</a:t>
                      </a: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АКБ</a:t>
                      </a: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50" b="1" kern="1200" dirty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2F3A48"/>
                          </a:solidFill>
                          <a:latin typeface="Inter"/>
                        </a:rPr>
                        <a:t>PROFIWOOD </a:t>
                      </a:r>
                      <a:r>
                        <a:rPr sz="950" b="1" dirty="0" err="1">
                          <a:solidFill>
                            <a:srgbClr val="2F3A48"/>
                          </a:solidFill>
                          <a:latin typeface="Inter"/>
                        </a:rPr>
                        <a:t>антисептик</a:t>
                      </a:r>
                      <a:r>
                        <a:rPr sz="950" b="1" dirty="0">
                          <a:solidFill>
                            <a:srgbClr val="2F3A48"/>
                          </a:solidFill>
                          <a:latin typeface="Inter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F3A48"/>
                          </a:solidFill>
                          <a:latin typeface="Inter"/>
                        </a:rPr>
                        <a:t>кроющий</a:t>
                      </a:r>
                      <a:r>
                        <a:rPr sz="950" b="1" dirty="0">
                          <a:solidFill>
                            <a:srgbClr val="2F3A48"/>
                          </a:solidFill>
                          <a:latin typeface="Inter"/>
                        </a:rPr>
                        <a:t> ВД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50" b="1" dirty="0" smtClean="0">
                          <a:solidFill>
                            <a:srgbClr val="2F3A48"/>
                          </a:solidFill>
                          <a:latin typeface="Inter"/>
                        </a:rPr>
                        <a:t>10.06.2026</a:t>
                      </a:r>
                      <a:endParaRPr sz="950" b="1" dirty="0">
                        <a:solidFill>
                          <a:srgbClr val="2F3A48"/>
                        </a:solidFill>
                        <a:latin typeface="Inter"/>
                      </a:endParaRP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3A48"/>
                          </a:solidFill>
                          <a:latin typeface="Roboto Mono"/>
                        </a:rPr>
                        <a:t>14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chemeClr val="tx1"/>
                          </a:solidFill>
                          <a:latin typeface="Inter"/>
                        </a:rPr>
                        <a:t>0.8 л, 2.1 л, 2.4 л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chemeClr val="tx1"/>
                          </a:solidFill>
                          <a:latin typeface="Inter"/>
                        </a:rPr>
                        <a:t>база С, бежевый, белый, горький шоколад, серый туман, сканд. серый, шоколад. мусс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kern="1200" dirty="0">
                          <a:solidFill>
                            <a:srgbClr val="2F3A48"/>
                          </a:solidFill>
                          <a:latin typeface="Roboto Mono"/>
                          <a:ea typeface="+mn-ea"/>
                          <a:cs typeface="+mn-cs"/>
                        </a:rPr>
                        <a:t>1 774.6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dirty="0">
                          <a:solidFill>
                            <a:srgbClr val="2F3A48"/>
                          </a:solidFill>
                          <a:latin typeface="Roboto Mono"/>
                        </a:rPr>
                        <a:t>193.6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rgbClr val="2F3A48"/>
                          </a:solidFill>
                          <a:latin typeface="Roboto Mono"/>
                        </a:rPr>
                        <a:t>24</a:t>
                      </a:r>
                      <a:endParaRPr sz="1000" b="1" dirty="0">
                        <a:solidFill>
                          <a:srgbClr val="2F3A48"/>
                        </a:solidFill>
                        <a:latin typeface="Roboto Mono"/>
                      </a:endParaRP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50" b="1" kern="1200" dirty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 err="1">
                          <a:solidFill>
                            <a:srgbClr val="2F3A48"/>
                          </a:solidFill>
                          <a:latin typeface="Inter"/>
                        </a:rPr>
                        <a:t>Ореол</a:t>
                      </a:r>
                      <a:r>
                        <a:rPr sz="950" b="1" dirty="0">
                          <a:solidFill>
                            <a:srgbClr val="2F3A48"/>
                          </a:solidFill>
                          <a:latin typeface="Inter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F3A48"/>
                          </a:solidFill>
                          <a:latin typeface="Inter"/>
                        </a:rPr>
                        <a:t>краска</a:t>
                      </a:r>
                      <a:r>
                        <a:rPr sz="950" b="1" dirty="0">
                          <a:solidFill>
                            <a:srgbClr val="2F3A48"/>
                          </a:solidFill>
                          <a:latin typeface="Inter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F3A48"/>
                          </a:solidFill>
                          <a:latin typeface="Inter"/>
                        </a:rPr>
                        <a:t>для</a:t>
                      </a:r>
                      <a:r>
                        <a:rPr sz="950" b="1" dirty="0">
                          <a:solidFill>
                            <a:srgbClr val="2F3A48"/>
                          </a:solidFill>
                          <a:latin typeface="Inter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2F3A48"/>
                          </a:solidFill>
                          <a:latin typeface="Inter"/>
                        </a:rPr>
                        <a:t>плит</a:t>
                      </a:r>
                      <a:r>
                        <a:rPr sz="950" b="1" dirty="0">
                          <a:solidFill>
                            <a:srgbClr val="2F3A48"/>
                          </a:solidFill>
                          <a:latin typeface="Inter"/>
                        </a:rPr>
                        <a:t> OSB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50" b="1" dirty="0" smtClean="0">
                          <a:solidFill>
                            <a:srgbClr val="2F3A48"/>
                          </a:solidFill>
                          <a:latin typeface="Inter"/>
                        </a:rPr>
                        <a:t>22.04.2026</a:t>
                      </a:r>
                      <a:endParaRPr sz="950" b="1" dirty="0">
                        <a:solidFill>
                          <a:srgbClr val="2F3A48"/>
                        </a:solidFill>
                        <a:latin typeface="Inter"/>
                      </a:endParaRP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3A48"/>
                          </a:solidFill>
                          <a:latin typeface="Roboto Mono"/>
                        </a:rPr>
                        <a:t>3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chemeClr val="tx1"/>
                          </a:solidFill>
                          <a:latin typeface="Inter"/>
                        </a:rPr>
                        <a:t>1 </a:t>
                      </a:r>
                      <a:r>
                        <a:rPr sz="850" b="0" dirty="0" err="1">
                          <a:solidFill>
                            <a:schemeClr val="tx1"/>
                          </a:solidFill>
                          <a:latin typeface="Inter"/>
                        </a:rPr>
                        <a:t>кг</a:t>
                      </a:r>
                      <a:r>
                        <a:rPr sz="850" b="0" dirty="0">
                          <a:solidFill>
                            <a:schemeClr val="tx1"/>
                          </a:solidFill>
                          <a:latin typeface="Inter"/>
                        </a:rPr>
                        <a:t>, 12 </a:t>
                      </a:r>
                      <a:r>
                        <a:rPr sz="850" b="0" dirty="0" err="1">
                          <a:solidFill>
                            <a:schemeClr val="tx1"/>
                          </a:solidFill>
                          <a:latin typeface="Inter"/>
                        </a:rPr>
                        <a:t>кг</a:t>
                      </a:r>
                      <a:r>
                        <a:rPr sz="850" b="0" dirty="0">
                          <a:solidFill>
                            <a:schemeClr val="tx1"/>
                          </a:solidFill>
                          <a:latin typeface="Inter"/>
                        </a:rPr>
                        <a:t>, 6 </a:t>
                      </a:r>
                      <a:r>
                        <a:rPr sz="850" b="0" dirty="0" err="1">
                          <a:solidFill>
                            <a:schemeClr val="tx1"/>
                          </a:solidFill>
                          <a:latin typeface="Inter"/>
                        </a:rPr>
                        <a:t>кг</a:t>
                      </a:r>
                      <a:endParaRPr sz="850" b="0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chemeClr val="tx1"/>
                          </a:solidFill>
                          <a:latin typeface="Inter"/>
                        </a:rPr>
                        <a:t>база</a:t>
                      </a:r>
                      <a:r>
                        <a:rPr sz="850" b="0" dirty="0">
                          <a:solidFill>
                            <a:schemeClr val="tx1"/>
                          </a:solidFill>
                          <a:latin typeface="Inter"/>
                        </a:rPr>
                        <a:t> А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kern="1200" dirty="0">
                          <a:solidFill>
                            <a:srgbClr val="2F3A48"/>
                          </a:solidFill>
                          <a:latin typeface="Roboto Mono"/>
                          <a:ea typeface="+mn-ea"/>
                          <a:cs typeface="+mn-cs"/>
                        </a:rPr>
                        <a:t>7 746.0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F3A48"/>
                          </a:solidFill>
                          <a:latin typeface="Roboto Mono"/>
                        </a:rPr>
                        <a:t>1 994.0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rgbClr val="2F3A48"/>
                          </a:solidFill>
                          <a:latin typeface="Roboto Mono"/>
                        </a:rPr>
                        <a:t>143</a:t>
                      </a:r>
                      <a:endParaRPr sz="1000" b="1" dirty="0">
                        <a:solidFill>
                          <a:srgbClr val="2F3A48"/>
                        </a:solidFill>
                        <a:latin typeface="Roboto Mono"/>
                      </a:endParaRP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50" b="1" kern="1200" dirty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2F3A48"/>
                          </a:solidFill>
                          <a:latin typeface="Inter"/>
                        </a:rPr>
                        <a:t>NEWTONE ABSOLUTE BLACK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50" b="1" dirty="0" smtClean="0">
                          <a:solidFill>
                            <a:srgbClr val="2F3A48"/>
                          </a:solidFill>
                          <a:latin typeface="Inter"/>
                        </a:rPr>
                        <a:t>21.07.2026</a:t>
                      </a:r>
                      <a:endParaRPr sz="950" b="1" dirty="0">
                        <a:solidFill>
                          <a:srgbClr val="2F3A48"/>
                        </a:solidFill>
                        <a:latin typeface="Inter"/>
                      </a:endParaRP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3A48"/>
                          </a:solidFill>
                          <a:latin typeface="Roboto Mono"/>
                        </a:rPr>
                        <a:t>2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chemeClr val="tx1"/>
                          </a:solidFill>
                          <a:latin typeface="Inter"/>
                        </a:rPr>
                        <a:t>10 л, 2.5 л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chemeClr val="tx1"/>
                          </a:solidFill>
                          <a:latin typeface="Inter"/>
                        </a:rPr>
                        <a:t>чёрный</a:t>
                      </a:r>
                      <a:endParaRPr sz="850" b="0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kern="1200" dirty="0">
                          <a:solidFill>
                            <a:srgbClr val="2F3A48"/>
                          </a:solidFill>
                          <a:latin typeface="Roboto Mono"/>
                          <a:ea typeface="+mn-ea"/>
                          <a:cs typeface="+mn-cs"/>
                        </a:rPr>
                        <a:t>692.9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A95A3"/>
                          </a:solidFill>
                          <a:latin typeface="Roboto Mono"/>
                        </a:rPr>
                        <a:t>—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3A48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50" b="1" kern="1200" dirty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kern="1200" dirty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NEWTONE SKY </a:t>
                      </a:r>
                      <a:r>
                        <a:rPr sz="950" b="1" kern="1200" dirty="0" err="1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потолочная</a:t>
                      </a:r>
                      <a:endParaRPr sz="950" b="1" kern="1200" dirty="0">
                        <a:solidFill>
                          <a:srgbClr val="2F3A48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50" b="1" kern="1200" dirty="0" smtClean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30.06.2026</a:t>
                      </a:r>
                      <a:endParaRPr sz="950" b="1" kern="1200" dirty="0">
                        <a:solidFill>
                          <a:srgbClr val="2F3A48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3A48"/>
                          </a:solidFill>
                          <a:latin typeface="Roboto Mono"/>
                        </a:rPr>
                        <a:t>2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chemeClr val="tx1"/>
                          </a:solidFill>
                          <a:latin typeface="Inter"/>
                        </a:rPr>
                        <a:t>2.5 л, 9 л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chemeClr val="tx1"/>
                          </a:solidFill>
                          <a:latin typeface="Inter"/>
                        </a:rPr>
                        <a:t>ультрабелый</a:t>
                      </a:r>
                      <a:endParaRPr sz="850" b="0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kern="1200" dirty="0">
                          <a:solidFill>
                            <a:srgbClr val="2F3A48"/>
                          </a:solidFill>
                          <a:latin typeface="Roboto Mono"/>
                          <a:ea typeface="+mn-ea"/>
                          <a:cs typeface="+mn-cs"/>
                        </a:rPr>
                        <a:t>236.5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A95A3"/>
                          </a:solidFill>
                          <a:latin typeface="Roboto Mono"/>
                        </a:rPr>
                        <a:t>—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3A48"/>
                          </a:solidFill>
                          <a:latin typeface="Roboto Mono"/>
                        </a:rPr>
                        <a:t>0</a:t>
                      </a:r>
                    </a:p>
                  </a:txBody>
                  <a:tcPr marL="50000" marR="50000" marT="20000" marB="20000" anchor="ctr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950" b="1" kern="1200" dirty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kern="1200" dirty="0" err="1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Ореол</a:t>
                      </a:r>
                      <a:r>
                        <a:rPr sz="950" b="1" kern="1200" dirty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 </a:t>
                      </a:r>
                      <a:r>
                        <a:rPr sz="950" b="1" kern="1200" dirty="0" err="1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краска</a:t>
                      </a:r>
                      <a:r>
                        <a:rPr sz="950" b="1" kern="1200" dirty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 </a:t>
                      </a:r>
                      <a:r>
                        <a:rPr sz="950" b="1" kern="1200" dirty="0" err="1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резиновая</a:t>
                      </a:r>
                      <a:r>
                        <a:rPr sz="950" b="1" kern="1200" dirty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950" b="1" kern="1200" dirty="0" smtClean="0">
                          <a:solidFill>
                            <a:srgbClr val="2F3A48"/>
                          </a:solidFill>
                          <a:latin typeface="Inter"/>
                          <a:ea typeface="+mn-ea"/>
                          <a:cs typeface="+mn-cs"/>
                        </a:rPr>
                        <a:t>21.08.2026</a:t>
                      </a:r>
                      <a:endParaRPr sz="950" b="1" kern="1200" dirty="0">
                        <a:solidFill>
                          <a:srgbClr val="2F3A48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3A48"/>
                          </a:solidFill>
                          <a:latin typeface="Roboto Mono"/>
                        </a:rPr>
                        <a:t>4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chemeClr val="tx1"/>
                          </a:solidFill>
                          <a:latin typeface="Inter"/>
                        </a:rPr>
                        <a:t>1.3 кг, 12 кг, 3 кг, 6 кг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 err="1">
                          <a:solidFill>
                            <a:schemeClr val="tx1"/>
                          </a:solidFill>
                          <a:latin typeface="Inter"/>
                        </a:rPr>
                        <a:t>база</a:t>
                      </a:r>
                      <a:r>
                        <a:rPr sz="850" b="0" dirty="0">
                          <a:solidFill>
                            <a:schemeClr val="tx1"/>
                          </a:solidFill>
                          <a:latin typeface="Inter"/>
                        </a:rPr>
                        <a:t> А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kern="1200" dirty="0">
                          <a:solidFill>
                            <a:srgbClr val="2F3A48"/>
                          </a:solidFill>
                          <a:latin typeface="Roboto Mono"/>
                          <a:ea typeface="+mn-ea"/>
                          <a:cs typeface="+mn-cs"/>
                        </a:rPr>
                        <a:t>4 276.8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F3A48"/>
                          </a:solidFill>
                          <a:latin typeface="Roboto Mono"/>
                        </a:rPr>
                        <a:t>70.6</a:t>
                      </a: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rgbClr val="2F3A48"/>
                          </a:solidFill>
                          <a:latin typeface="Roboto Mono"/>
                        </a:rPr>
                        <a:t>4</a:t>
                      </a:r>
                      <a:endParaRPr sz="1000" b="1" dirty="0">
                        <a:solidFill>
                          <a:srgbClr val="2F3A48"/>
                        </a:solidFill>
                        <a:latin typeface="Roboto Mono"/>
                      </a:endParaRPr>
                    </a:p>
                  </a:txBody>
                  <a:tcPr marL="50000" marR="50000" marT="20000" marB="20000" anchor="ctr">
                    <a:solidFill>
                      <a:srgbClr val="F5F2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/>
                      <a:endParaRPr sz="1000" b="1" dirty="0">
                        <a:solidFill>
                          <a:srgbClr val="FFFFFF"/>
                        </a:solidFill>
                        <a:latin typeface="Roboto Mono"/>
                      </a:endParaRP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ИТОГО</a:t>
                      </a: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 b="1" dirty="0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00" b="1" dirty="0">
                        <a:solidFill>
                          <a:srgbClr val="FFFFFF"/>
                        </a:solidFill>
                        <a:latin typeface="Roboto Mono"/>
                      </a:endParaRP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Roboto Mono"/>
                        </a:rPr>
                        <a:t>14 727</a:t>
                      </a: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Roboto Mono"/>
                        </a:rPr>
                        <a:t>2 258</a:t>
                      </a: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00" b="1" dirty="0">
                        <a:solidFill>
                          <a:srgbClr val="FFFFFF"/>
                        </a:solidFill>
                        <a:latin typeface="Roboto Mono"/>
                      </a:endParaRPr>
                    </a:p>
                  </a:txBody>
                  <a:tcPr marL="50000" marR="50000" marT="20000" marB="20000" anchor="ctr">
                    <a:solidFill>
                      <a:srgbClr val="2F3A48"/>
                    </a:solidFill>
                  </a:tcPr>
                </a:tc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180000" y="3206174"/>
            <a:ext cx="8820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 dirty="0">
                <a:solidFill>
                  <a:srgbClr val="C00000"/>
                </a:solidFill>
                <a:latin typeface="Inter"/>
              </a:rPr>
              <a:t>СТАНДАРТ ВЫВОДА · 3 ФАЗЫ</a:t>
            </a:r>
          </a:p>
        </p:txBody>
      </p:sp>
      <p:sp>
        <p:nvSpPr>
          <p:cNvPr id="64" name="Rounded Rectangle 9"/>
          <p:cNvSpPr/>
          <p:nvPr/>
        </p:nvSpPr>
        <p:spPr>
          <a:xfrm>
            <a:off x="180000" y="3466500"/>
            <a:ext cx="2808000" cy="154916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10"/>
          <p:cNvSpPr/>
          <p:nvPr/>
        </p:nvSpPr>
        <p:spPr>
          <a:xfrm>
            <a:off x="180000" y="3466500"/>
            <a:ext cx="2808000" cy="21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24000" y="3550044"/>
            <a:ext cx="540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  <a:latin typeface="Roboto Mono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000" y="3596843"/>
            <a:ext cx="1980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00" dirty="0">
                <a:solidFill>
                  <a:srgbClr val="2F3A48"/>
                </a:solidFill>
                <a:latin typeface="Inter"/>
              </a:rPr>
              <a:t>ПОДГОТОВКА</a:t>
            </a:r>
          </a:p>
        </p:txBody>
      </p:sp>
      <p:sp>
        <p:nvSpPr>
          <p:cNvPr id="69" name="Rectangle 14"/>
          <p:cNvSpPr/>
          <p:nvPr/>
        </p:nvSpPr>
        <p:spPr>
          <a:xfrm>
            <a:off x="324000" y="3843816"/>
            <a:ext cx="2520000" cy="14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4000" y="3914031"/>
            <a:ext cx="72000" cy="1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Inter"/>
              </a:rPr>
              <a:t>·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4000" y="3921231"/>
            <a:ext cx="2412000" cy="1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F3A48"/>
                </a:solidFill>
                <a:latin typeface="Inter"/>
              </a:rPr>
              <a:t>Анализ рынка и конкурентов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4000" y="4050831"/>
            <a:ext cx="72000" cy="1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Inter"/>
              </a:rPr>
              <a:t>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4000" y="4080702"/>
            <a:ext cx="2412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900" dirty="0">
                <a:solidFill>
                  <a:srgbClr val="2F3A48"/>
                </a:solidFill>
                <a:latin typeface="Inter"/>
              </a:rPr>
              <a:t>Ценообразование и прогноз</a:t>
            </a:r>
            <a:endParaRPr sz="90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24000" y="4187631"/>
            <a:ext cx="72000" cy="1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Inter"/>
              </a:rPr>
              <a:t>·</a:t>
            </a:r>
          </a:p>
        </p:txBody>
      </p:sp>
      <p:sp>
        <p:nvSpPr>
          <p:cNvPr id="76" name="Rectangle 21"/>
          <p:cNvSpPr/>
          <p:nvPr/>
        </p:nvSpPr>
        <p:spPr>
          <a:xfrm>
            <a:off x="324000" y="4783653"/>
            <a:ext cx="2520000" cy="108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25"/>
          <p:cNvSpPr/>
          <p:nvPr/>
        </p:nvSpPr>
        <p:spPr>
          <a:xfrm>
            <a:off x="3096000" y="3466500"/>
            <a:ext cx="2808000" cy="154916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26"/>
          <p:cNvSpPr/>
          <p:nvPr/>
        </p:nvSpPr>
        <p:spPr>
          <a:xfrm>
            <a:off x="3096000" y="3466500"/>
            <a:ext cx="2808000" cy="216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240000" y="3514044"/>
            <a:ext cx="540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dirty="0">
                <a:solidFill>
                  <a:srgbClr val="C9A77C"/>
                </a:solidFill>
                <a:latin typeface="Roboto Mono"/>
              </a:rPr>
              <a:t>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16000" y="3596843"/>
            <a:ext cx="1980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00" dirty="0">
                <a:solidFill>
                  <a:srgbClr val="2F3A48"/>
                </a:solidFill>
                <a:latin typeface="Inter"/>
              </a:rPr>
              <a:t>ЗАПУСК</a:t>
            </a:r>
          </a:p>
        </p:txBody>
      </p:sp>
      <p:sp>
        <p:nvSpPr>
          <p:cNvPr id="85" name="Rectangle 30"/>
          <p:cNvSpPr/>
          <p:nvPr/>
        </p:nvSpPr>
        <p:spPr>
          <a:xfrm>
            <a:off x="3240000" y="3843816"/>
            <a:ext cx="2520000" cy="14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240000" y="3946044"/>
            <a:ext cx="72000" cy="1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C9A77C"/>
                </a:solidFill>
                <a:latin typeface="Inter"/>
              </a:rPr>
              <a:t>·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48000" y="3911095"/>
            <a:ext cx="24120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2F3A48"/>
                </a:solidFill>
                <a:latin typeface="Inter"/>
              </a:rPr>
              <a:t>Дорожная карта: к</a:t>
            </a:r>
            <a:r>
              <a:rPr lang="ru-RU" sz="900" b="0" dirty="0" smtClean="0">
                <a:solidFill>
                  <a:srgbClr val="2F3A48"/>
                </a:solidFill>
                <a:latin typeface="Inter"/>
              </a:rPr>
              <a:t>лассификация РТТ для дистрибуции, региональные квоты по директорам </a:t>
            </a:r>
            <a:endParaRPr sz="90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240000" y="4332999"/>
            <a:ext cx="72000" cy="1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smtClean="0">
                <a:solidFill>
                  <a:srgbClr val="C9A77C"/>
                </a:solidFill>
                <a:latin typeface="Inter"/>
              </a:rPr>
              <a:t>·</a:t>
            </a:r>
            <a:endParaRPr sz="1200" b="1" dirty="0">
              <a:solidFill>
                <a:srgbClr val="C9A77C"/>
              </a:solidFill>
              <a:latin typeface="Inter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14000" y="4230819"/>
            <a:ext cx="24120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900" b="0" dirty="0" smtClean="0">
                <a:solidFill>
                  <a:srgbClr val="2F3A48"/>
                </a:solidFill>
                <a:latin typeface="Inter"/>
              </a:rPr>
              <a:t>Подготовка </a:t>
            </a:r>
            <a:r>
              <a:rPr sz="900" b="0" dirty="0" smtClean="0">
                <a:solidFill>
                  <a:srgbClr val="2F3A48"/>
                </a:solidFill>
                <a:latin typeface="Inter"/>
              </a:rPr>
              <a:t>POSM </a:t>
            </a:r>
            <a:r>
              <a:rPr sz="900" b="0" dirty="0">
                <a:solidFill>
                  <a:srgbClr val="2F3A48"/>
                </a:solidFill>
                <a:latin typeface="Inter"/>
              </a:rPr>
              <a:t>в 100% </a:t>
            </a:r>
            <a:r>
              <a:rPr lang="ru-RU" sz="900" b="0" dirty="0" smtClean="0">
                <a:solidFill>
                  <a:srgbClr val="2F3A48"/>
                </a:solidFill>
                <a:latin typeface="Inter"/>
              </a:rPr>
              <a:t>(</a:t>
            </a:r>
            <a:r>
              <a:rPr lang="ru-RU" sz="900" b="0" dirty="0" err="1" smtClean="0">
                <a:solidFill>
                  <a:srgbClr val="2F3A48"/>
                </a:solidFill>
                <a:latin typeface="Inter"/>
              </a:rPr>
              <a:t>выкрасы</a:t>
            </a:r>
            <a:r>
              <a:rPr lang="ru-RU" sz="900" b="0" dirty="0" smtClean="0">
                <a:solidFill>
                  <a:srgbClr val="2F3A48"/>
                </a:solidFill>
                <a:latin typeface="Inter"/>
              </a:rPr>
              <a:t>, руководство по продажам, </a:t>
            </a:r>
            <a:r>
              <a:rPr lang="ru-RU" sz="900" b="0" dirty="0" err="1" smtClean="0">
                <a:solidFill>
                  <a:srgbClr val="2F3A48"/>
                </a:solidFill>
                <a:latin typeface="Inter"/>
              </a:rPr>
              <a:t>планограмма</a:t>
            </a:r>
            <a:r>
              <a:rPr lang="ru-RU" sz="900" b="0" dirty="0" smtClean="0">
                <a:solidFill>
                  <a:srgbClr val="2F3A48"/>
                </a:solidFill>
                <a:latin typeface="Inter"/>
              </a:rPr>
              <a:t>, УТП и т.д.) </a:t>
            </a:r>
            <a:endParaRPr sz="90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92" name="Rectangle 37"/>
          <p:cNvSpPr/>
          <p:nvPr/>
        </p:nvSpPr>
        <p:spPr>
          <a:xfrm>
            <a:off x="3240000" y="4813881"/>
            <a:ext cx="2520000" cy="108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41"/>
          <p:cNvSpPr/>
          <p:nvPr/>
        </p:nvSpPr>
        <p:spPr>
          <a:xfrm>
            <a:off x="6012000" y="3466500"/>
            <a:ext cx="2808000" cy="154916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42"/>
          <p:cNvSpPr/>
          <p:nvPr/>
        </p:nvSpPr>
        <p:spPr>
          <a:xfrm>
            <a:off x="6012000" y="3466500"/>
            <a:ext cx="2808000" cy="21600"/>
          </a:xfrm>
          <a:prstGeom prst="rect">
            <a:avLst/>
          </a:prstGeom>
          <a:solidFill>
            <a:srgbClr val="6B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156000" y="3514044"/>
            <a:ext cx="540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6B8FA8"/>
                </a:solidFill>
                <a:latin typeface="Roboto Mono"/>
              </a:rPr>
              <a:t>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32000" y="3582443"/>
            <a:ext cx="1980000" cy="14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00" dirty="0">
                <a:solidFill>
                  <a:srgbClr val="2F3A48"/>
                </a:solidFill>
                <a:latin typeface="Inter"/>
              </a:rPr>
              <a:t>СОПРОВОЖДЕНИЕ</a:t>
            </a:r>
          </a:p>
        </p:txBody>
      </p:sp>
      <p:sp>
        <p:nvSpPr>
          <p:cNvPr id="101" name="Rectangle 46"/>
          <p:cNvSpPr/>
          <p:nvPr/>
        </p:nvSpPr>
        <p:spPr>
          <a:xfrm>
            <a:off x="6156000" y="3843816"/>
            <a:ext cx="2520000" cy="144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156000" y="3931704"/>
            <a:ext cx="72000" cy="1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6B8FA8"/>
                </a:solidFill>
                <a:latin typeface="Inter"/>
              </a:rPr>
              <a:t>·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56000" y="4113846"/>
            <a:ext cx="72000" cy="1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6B8FA8"/>
                </a:solidFill>
                <a:latin typeface="Inter"/>
              </a:rPr>
              <a:t>·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53557" y="4105932"/>
            <a:ext cx="2412000" cy="1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 err="1">
                <a:solidFill>
                  <a:srgbClr val="2F3A48"/>
                </a:solidFill>
                <a:latin typeface="Inter"/>
              </a:rPr>
              <a:t>Аналитика</a:t>
            </a:r>
            <a:r>
              <a:rPr sz="900" b="0" dirty="0">
                <a:solidFill>
                  <a:srgbClr val="2F3A48"/>
                </a:solidFill>
                <a:latin typeface="Inter"/>
              </a:rPr>
              <a:t> </a:t>
            </a:r>
            <a:r>
              <a:rPr sz="900" b="0" dirty="0" err="1">
                <a:solidFill>
                  <a:srgbClr val="2F3A48"/>
                </a:solidFill>
                <a:latin typeface="Inter"/>
              </a:rPr>
              <a:t>продаж</a:t>
            </a:r>
            <a:r>
              <a:rPr sz="900" b="0" dirty="0">
                <a:solidFill>
                  <a:srgbClr val="2F3A48"/>
                </a:solidFill>
                <a:latin typeface="Inter"/>
              </a:rPr>
              <a:t> </a:t>
            </a:r>
            <a:r>
              <a:rPr sz="900" b="0" dirty="0" err="1">
                <a:solidFill>
                  <a:srgbClr val="2F3A48"/>
                </a:solidFill>
                <a:latin typeface="Inter"/>
              </a:rPr>
              <a:t>по</a:t>
            </a:r>
            <a:r>
              <a:rPr sz="900" b="0" dirty="0">
                <a:solidFill>
                  <a:srgbClr val="2F3A48"/>
                </a:solidFill>
                <a:latin typeface="Inter"/>
              </a:rPr>
              <a:t> </a:t>
            </a:r>
            <a:r>
              <a:rPr sz="900" b="0" dirty="0" err="1">
                <a:solidFill>
                  <a:srgbClr val="2F3A48"/>
                </a:solidFill>
                <a:latin typeface="Inter"/>
              </a:rPr>
              <a:t>неделе</a:t>
            </a:r>
            <a:endParaRPr sz="90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108" name="Rectangle 53"/>
          <p:cNvSpPr/>
          <p:nvPr/>
        </p:nvSpPr>
        <p:spPr>
          <a:xfrm>
            <a:off x="6156000" y="4806324"/>
            <a:ext cx="2520000" cy="108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46000" y="3938572"/>
            <a:ext cx="2412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900" b="0" dirty="0" smtClean="0">
                <a:solidFill>
                  <a:srgbClr val="2F3A48"/>
                </a:solidFill>
                <a:latin typeface="Inter"/>
              </a:rPr>
              <a:t>Трейд-маркетинговая поддержка</a:t>
            </a:r>
            <a:endParaRPr sz="90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346155" y="4347756"/>
            <a:ext cx="2412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 err="1">
                <a:solidFill>
                  <a:srgbClr val="2F3A48"/>
                </a:solidFill>
                <a:latin typeface="Inter"/>
              </a:rPr>
              <a:t>Обучение</a:t>
            </a:r>
            <a:r>
              <a:rPr sz="900" dirty="0">
                <a:solidFill>
                  <a:srgbClr val="2F3A48"/>
                </a:solidFill>
                <a:latin typeface="Inter"/>
              </a:rPr>
              <a:t> ТП</a:t>
            </a:r>
            <a:r>
              <a:rPr lang="ru-RU" sz="900" dirty="0">
                <a:solidFill>
                  <a:srgbClr val="2F3A48"/>
                </a:solidFill>
                <a:latin typeface="Inter"/>
              </a:rPr>
              <a:t> ОП</a:t>
            </a:r>
            <a:r>
              <a:rPr sz="900" dirty="0">
                <a:solidFill>
                  <a:srgbClr val="2F3A48"/>
                </a:solidFill>
                <a:latin typeface="Inter"/>
              </a:rPr>
              <a:t>: 350 </a:t>
            </a:r>
            <a:r>
              <a:rPr sz="900" dirty="0" err="1">
                <a:solidFill>
                  <a:srgbClr val="2F3A48"/>
                </a:solidFill>
                <a:latin typeface="Inter"/>
              </a:rPr>
              <a:t>человек</a:t>
            </a:r>
            <a:endParaRPr sz="900" dirty="0">
              <a:solidFill>
                <a:srgbClr val="2F3A4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33400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0650" y="520700"/>
            <a:ext cx="72263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2200" b="1" dirty="0" smtClean="0">
                <a:solidFill>
                  <a:srgbClr val="2F3A48"/>
                </a:solidFill>
                <a:latin typeface="Inter"/>
              </a:rPr>
              <a:t>Выход в сегмент </a:t>
            </a:r>
            <a:r>
              <a:rPr sz="2200" b="1" dirty="0" err="1" smtClean="0">
                <a:solidFill>
                  <a:srgbClr val="2F3A48"/>
                </a:solidFill>
                <a:latin typeface="Inter"/>
              </a:rPr>
              <a:t>жилищного</a:t>
            </a:r>
            <a:r>
              <a:rPr sz="2200" b="1" dirty="0" smtClean="0">
                <a:solidFill>
                  <a:srgbClr val="2F3A48"/>
                </a:solidFill>
                <a:latin typeface="Inter"/>
              </a:rPr>
              <a:t> </a:t>
            </a:r>
            <a:r>
              <a:rPr sz="2200" b="1" dirty="0" err="1">
                <a:solidFill>
                  <a:srgbClr val="2F3A48"/>
                </a:solidFill>
                <a:latin typeface="Inter"/>
              </a:rPr>
              <a:t>строительства</a:t>
            </a:r>
            <a:endParaRPr sz="2200" b="1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70750" y="139065"/>
            <a:ext cx="1601590" cy="2686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97750" y="190649"/>
            <a:ext cx="13689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 dirty="0" smtClean="0">
                <a:solidFill>
                  <a:srgbClr val="C9A77C"/>
                </a:solidFill>
                <a:latin typeface="Inter"/>
              </a:rPr>
              <a:t>В </a:t>
            </a:r>
            <a:r>
              <a:rPr sz="1000" b="1" spc="150" dirty="0">
                <a:solidFill>
                  <a:srgbClr val="C9A77C"/>
                </a:solidFill>
                <a:latin typeface="Inter"/>
              </a:rPr>
              <a:t>РАБОТЕ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143256" y="453390"/>
            <a:ext cx="8855724" cy="28575"/>
          </a:xfrm>
          <a:prstGeom prst="rect">
            <a:avLst/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200" y="962590"/>
            <a:ext cx="6066960" cy="39754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200" y="1217915"/>
            <a:ext cx="55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 dirty="0">
                <a:solidFill>
                  <a:srgbClr val="C00000"/>
                </a:solidFill>
                <a:latin typeface="Inter"/>
              </a:rPr>
              <a:t>АССОРТИМЕНТ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200" y="1457915"/>
            <a:ext cx="55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dirty="0">
                <a:solidFill>
                  <a:srgbClr val="8A95A3"/>
                </a:solidFill>
                <a:latin typeface="Inter"/>
              </a:rPr>
              <a:t>25 SKU · 3 </a:t>
            </a:r>
            <a:r>
              <a:rPr sz="900" b="0" dirty="0" err="1">
                <a:solidFill>
                  <a:srgbClr val="8A95A3"/>
                </a:solidFill>
                <a:latin typeface="Inter"/>
              </a:rPr>
              <a:t>уровня</a:t>
            </a:r>
            <a:r>
              <a:rPr sz="9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900" b="0" dirty="0" err="1">
                <a:solidFill>
                  <a:srgbClr val="8A95A3"/>
                </a:solidFill>
                <a:latin typeface="Inter"/>
              </a:rPr>
              <a:t>цен</a:t>
            </a:r>
            <a:r>
              <a:rPr sz="900" b="0" dirty="0">
                <a:solidFill>
                  <a:srgbClr val="8A95A3"/>
                </a:solidFill>
                <a:latin typeface="Inter"/>
              </a:rPr>
              <a:t> · 9 </a:t>
            </a:r>
            <a:r>
              <a:rPr sz="900" b="0" dirty="0" err="1">
                <a:solidFill>
                  <a:srgbClr val="8A95A3"/>
                </a:solidFill>
                <a:latin typeface="Inter"/>
              </a:rPr>
              <a:t>зон</a:t>
            </a:r>
            <a:r>
              <a:rPr sz="9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900" b="0" dirty="0" err="1">
                <a:solidFill>
                  <a:srgbClr val="8A95A3"/>
                </a:solidFill>
                <a:latin typeface="Inter"/>
              </a:rPr>
              <a:t>жилого</a:t>
            </a:r>
            <a:r>
              <a:rPr sz="900" b="0" dirty="0">
                <a:solidFill>
                  <a:srgbClr val="8A95A3"/>
                </a:solidFill>
                <a:latin typeface="Inter"/>
              </a:rPr>
              <a:t> </a:t>
            </a:r>
            <a:r>
              <a:rPr sz="900" b="0" dirty="0" err="1" smtClean="0">
                <a:solidFill>
                  <a:srgbClr val="8A95A3"/>
                </a:solidFill>
                <a:latin typeface="Inter"/>
              </a:rPr>
              <a:t>здания</a:t>
            </a:r>
            <a:r>
              <a:rPr lang="ru-RU" sz="900" dirty="0">
                <a:solidFill>
                  <a:srgbClr val="8A95A3"/>
                </a:solidFill>
                <a:latin typeface="Inter"/>
              </a:rPr>
              <a:t>. Все продукты сертифицированы по ФЗ-123 </a:t>
            </a:r>
            <a:endParaRPr sz="900" b="0" dirty="0">
              <a:solidFill>
                <a:srgbClr val="8A95A3"/>
              </a:solidFill>
              <a:latin typeface="Inte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1200" y="1657915"/>
            <a:ext cx="5906960" cy="20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41200" y="1902690"/>
            <a:ext cx="1888986" cy="20000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1200" y="1902690"/>
            <a:ext cx="1888986" cy="5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1200" y="199269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Roboto Mon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200" y="2012690"/>
            <a:ext cx="146898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2F3A48"/>
                </a:solidFill>
                <a:latin typeface="Inter"/>
              </a:rPr>
              <a:t>БЮДЖЕТ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00" y="2232690"/>
            <a:ext cx="176898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80">
                <a:solidFill>
                  <a:srgbClr val="8A95A3"/>
                </a:solidFill>
                <a:latin typeface="Inter"/>
              </a:rPr>
              <a:t>ОРЕОЛ ДИСКОНТ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200" y="243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1200" y="249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Краски и эмали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0186" y="249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00" y="277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Шпатлёвки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0186" y="277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00" y="305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Грунтовки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186" y="305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1200" y="340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1200" y="345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Итого: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0186" y="3442690"/>
            <a:ext cx="62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C00000"/>
                </a:solidFill>
                <a:latin typeface="Roboto Mono"/>
              </a:rPr>
              <a:t>11 SKU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50186" y="1902690"/>
            <a:ext cx="1888986" cy="20000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50186" y="1902690"/>
            <a:ext cx="1888986" cy="500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30186" y="199269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77C"/>
                </a:solidFill>
                <a:latin typeface="Roboto Mono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0186" y="2012690"/>
            <a:ext cx="146898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2F3A48"/>
                </a:solidFill>
                <a:latin typeface="Inter"/>
              </a:rPr>
              <a:t>СРЕДНИЙ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0186" y="2232690"/>
            <a:ext cx="176898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80">
                <a:solidFill>
                  <a:srgbClr val="8A95A3"/>
                </a:solidFill>
                <a:latin typeface="Inter"/>
              </a:rPr>
              <a:t>ОРЕОЛ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30186" y="243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30186" y="249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Краски и эмали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9172" y="249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30186" y="277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Шпатлёвки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9172" y="277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0186" y="305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Грунтовки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9172" y="305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30186" y="340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30186" y="345269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Итого: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9172" y="3442690"/>
            <a:ext cx="62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C9A77C"/>
                </a:solidFill>
                <a:latin typeface="Roboto Mono"/>
              </a:rPr>
              <a:t>8 SKU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9172" y="1902690"/>
            <a:ext cx="1888986" cy="20000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59172" y="1902690"/>
            <a:ext cx="1888986" cy="50000"/>
          </a:xfrm>
          <a:prstGeom prst="rect">
            <a:avLst/>
          </a:prstGeom>
          <a:solidFill>
            <a:srgbClr val="2F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39172" y="199269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F3A48"/>
                </a:solidFill>
                <a:latin typeface="Roboto Mono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9172" y="2012690"/>
            <a:ext cx="1468986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2F3A48"/>
                </a:solidFill>
                <a:latin typeface="Inter"/>
              </a:rPr>
              <a:t>ПРЕМИУМ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172" y="2232690"/>
            <a:ext cx="1768986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80">
                <a:solidFill>
                  <a:srgbClr val="8A95A3"/>
                </a:solidFill>
                <a:latin typeface="Inter"/>
              </a:rPr>
              <a:t>NEWTONE · AVANTGARDE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39172" y="243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48158" y="249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39172" y="248694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Шпатлёвки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48158" y="277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39172" y="276694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A95A3"/>
                </a:solidFill>
                <a:latin typeface="Inter"/>
              </a:rPr>
              <a:t>Грунтовки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8158" y="3052690"/>
            <a:ext cx="62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2F3A48"/>
                </a:solidFill>
                <a:latin typeface="Roboto Mono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39172" y="3402690"/>
            <a:ext cx="1728986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39172" y="3166940"/>
            <a:ext cx="20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Итого: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8158" y="3442690"/>
            <a:ext cx="62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2F3A48"/>
                </a:solidFill>
                <a:latin typeface="Roboto Mono"/>
              </a:rPr>
              <a:t>6 SKU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94040" y="962590"/>
            <a:ext cx="2860320" cy="39457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254040" y="110259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54040" y="1152590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74040" y="1586238"/>
            <a:ext cx="270032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254040" y="1654338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54040" y="1704338"/>
            <a:ext cx="32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latin typeface="Inter"/>
              </a:rPr>
              <a:t>02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74040" y="2435488"/>
            <a:ext cx="270032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254040" y="250264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254040" y="255264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F3A48"/>
                </a:solidFill>
                <a:latin typeface="Inter"/>
              </a:rPr>
              <a:t>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74040" y="3258390"/>
            <a:ext cx="270032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6254040" y="3366486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54040" y="3416486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2F3A48"/>
                </a:solidFill>
                <a:latin typeface="Inter"/>
              </a:rPr>
              <a:t>04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14040" y="1004851"/>
            <a:ext cx="2300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100" b="1" dirty="0" smtClean="0">
                <a:latin typeface="Inter"/>
              </a:rPr>
              <a:t>Каталог / портфолио - ц</a:t>
            </a:r>
            <a:r>
              <a:rPr sz="1100" b="1" dirty="0" err="1" smtClean="0">
                <a:latin typeface="Inter"/>
              </a:rPr>
              <a:t>елевая</a:t>
            </a:r>
            <a:r>
              <a:rPr sz="1100" b="1" dirty="0" smtClean="0">
                <a:latin typeface="Inter"/>
              </a:rPr>
              <a:t> </a:t>
            </a:r>
            <a:r>
              <a:rPr sz="1100" b="1" dirty="0" err="1">
                <a:latin typeface="Inter"/>
              </a:rPr>
              <a:t>аудитория</a:t>
            </a:r>
            <a:endParaRPr sz="1100" b="1" dirty="0">
              <a:latin typeface="Inter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614040" y="1368201"/>
            <a:ext cx="23603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850" b="0" dirty="0" smtClean="0">
                <a:solidFill>
                  <a:srgbClr val="2F3A48"/>
                </a:solidFill>
                <a:latin typeface="Inter"/>
              </a:rPr>
              <a:t>П</a:t>
            </a:r>
            <a:r>
              <a:rPr sz="850" b="0" dirty="0" err="1" smtClean="0">
                <a:solidFill>
                  <a:srgbClr val="2F3A48"/>
                </a:solidFill>
                <a:latin typeface="Inter"/>
              </a:rPr>
              <a:t>рорабы</a:t>
            </a:r>
            <a:r>
              <a:rPr sz="850" b="0" dirty="0" smtClean="0">
                <a:solidFill>
                  <a:srgbClr val="2F3A48"/>
                </a:solidFill>
                <a:latin typeface="Inter"/>
              </a:rPr>
              <a:t> </a:t>
            </a:r>
            <a:r>
              <a:rPr sz="850" b="0" dirty="0">
                <a:solidFill>
                  <a:srgbClr val="2F3A48"/>
                </a:solidFill>
                <a:latin typeface="Inter"/>
              </a:rPr>
              <a:t>· ИТР · </a:t>
            </a:r>
            <a:r>
              <a:rPr sz="850" b="0" dirty="0" err="1">
                <a:solidFill>
                  <a:srgbClr val="2F3A48"/>
                </a:solidFill>
                <a:latin typeface="Inter"/>
              </a:rPr>
              <a:t>технадзор</a:t>
            </a:r>
            <a:endParaRPr sz="85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614040" y="1634688"/>
            <a:ext cx="23000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100" b="1" dirty="0" smtClean="0">
                <a:latin typeface="Inter"/>
              </a:rPr>
              <a:t>Анализ создания специализированной линейки </a:t>
            </a:r>
            <a:r>
              <a:rPr lang="en-US" sz="1100" b="1" dirty="0">
                <a:latin typeface="Inter"/>
              </a:rPr>
              <a:t>Professional</a:t>
            </a:r>
            <a:endParaRPr sz="1100" b="1" dirty="0">
              <a:latin typeface="Inter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274040" y="2198228"/>
            <a:ext cx="27249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850" b="0" dirty="0" smtClean="0">
                <a:solidFill>
                  <a:srgbClr val="2F3A48"/>
                </a:solidFill>
                <a:latin typeface="Inter"/>
              </a:rPr>
              <a:t>Цена – характеристики – выгоды преимущество</a:t>
            </a:r>
            <a:endParaRPr sz="85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614040" y="2473313"/>
            <a:ext cx="2300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100" b="1" dirty="0">
                <a:latin typeface="Inter"/>
              </a:rPr>
              <a:t>Гранд-Смета и Смета </a:t>
            </a:r>
            <a:r>
              <a:rPr lang="ru-RU" sz="1100" b="1" dirty="0" err="1">
                <a:latin typeface="Inter"/>
              </a:rPr>
              <a:t>Визард</a:t>
            </a:r>
            <a:r>
              <a:rPr lang="ru-RU" sz="1100" b="1" dirty="0">
                <a:latin typeface="Inter"/>
              </a:rPr>
              <a:t> (</a:t>
            </a:r>
            <a:r>
              <a:rPr lang="ru-RU" sz="1100" b="1" dirty="0" err="1">
                <a:latin typeface="Inter"/>
              </a:rPr>
              <a:t>SmetaWIZARD</a:t>
            </a:r>
            <a:r>
              <a:rPr lang="ru-RU" sz="1100" b="1" dirty="0">
                <a:latin typeface="Inter"/>
              </a:rPr>
              <a:t>) </a:t>
            </a:r>
            <a:endParaRPr sz="1100" b="1" dirty="0">
              <a:latin typeface="Inter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274740" y="2902490"/>
            <a:ext cx="26393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900" dirty="0" smtClean="0"/>
              <a:t>Комплексы </a:t>
            </a:r>
            <a:r>
              <a:rPr lang="ru-RU" sz="900" dirty="0"/>
              <a:t>для автоматизации сметных расчётов в строительстве.</a:t>
            </a:r>
            <a:endParaRPr sz="85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638660" y="3321537"/>
            <a:ext cx="23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100" b="1" dirty="0" smtClean="0">
                <a:latin typeface="Inter"/>
              </a:rPr>
              <a:t>Сертификация систем </a:t>
            </a:r>
            <a:endParaRPr sz="1100" b="1" dirty="0">
              <a:latin typeface="Inter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38660" y="3551537"/>
            <a:ext cx="236032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850" b="0" dirty="0" smtClean="0">
                <a:solidFill>
                  <a:srgbClr val="2F3A48"/>
                </a:solidFill>
                <a:latin typeface="Inter"/>
              </a:rPr>
              <a:t>Получение сертификатов подтверждения срока служб использования систем для застройщиков</a:t>
            </a:r>
            <a:endParaRPr sz="850" b="0" dirty="0">
              <a:solidFill>
                <a:srgbClr val="2F3A48"/>
              </a:solidFill>
              <a:latin typeface="Inter"/>
            </a:endParaRPr>
          </a:p>
        </p:txBody>
      </p:sp>
      <p:sp>
        <p:nvSpPr>
          <p:cNvPr id="80" name="Rectangle 90"/>
          <p:cNvSpPr/>
          <p:nvPr/>
        </p:nvSpPr>
        <p:spPr>
          <a:xfrm>
            <a:off x="6286350" y="4222418"/>
            <a:ext cx="270032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86350" y="4006554"/>
            <a:ext cx="27249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850" dirty="0" smtClean="0">
                <a:solidFill>
                  <a:srgbClr val="2F3A48"/>
                </a:solidFill>
                <a:latin typeface="Inter"/>
              </a:rPr>
              <a:t>Грунт – Шпатлевка – Грунт – Краска / Эмаль</a:t>
            </a:r>
            <a:endParaRPr sz="850" b="0" dirty="0">
              <a:solidFill>
                <a:srgbClr val="2F3A48"/>
              </a:solidFill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306" y="140000"/>
            <a:ext cx="628629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2F3A48"/>
                </a:solidFill>
                <a:latin typeface="Inter"/>
              </a:rPr>
              <a:t>Развитие</a:t>
            </a:r>
            <a:r>
              <a:rPr sz="2000" b="1" dirty="0">
                <a:solidFill>
                  <a:srgbClr val="2F3A48"/>
                </a:solidFill>
                <a:latin typeface="Inter"/>
              </a:rPr>
              <a:t> </a:t>
            </a:r>
            <a:r>
              <a:rPr sz="2000" b="1" dirty="0" err="1">
                <a:solidFill>
                  <a:srgbClr val="2F3A48"/>
                </a:solidFill>
                <a:latin typeface="Inter"/>
              </a:rPr>
              <a:t>категории</a:t>
            </a:r>
            <a:r>
              <a:rPr sz="2000" b="1" dirty="0">
                <a:solidFill>
                  <a:srgbClr val="2F3A48"/>
                </a:solidFill>
                <a:latin typeface="Inter"/>
              </a:rPr>
              <a:t> ВД-ЛКМ в </a:t>
            </a:r>
            <a:r>
              <a:rPr sz="2000" b="1" dirty="0" err="1">
                <a:solidFill>
                  <a:srgbClr val="2F3A48"/>
                </a:solidFill>
                <a:latin typeface="Inter"/>
              </a:rPr>
              <a:t>дистрибуции</a:t>
            </a:r>
            <a:r>
              <a:rPr sz="2000" b="1" dirty="0">
                <a:solidFill>
                  <a:srgbClr val="2F3A48"/>
                </a:solidFill>
                <a:latin typeface="Inter"/>
              </a:rPr>
              <a:t>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000" y="1100000"/>
            <a:ext cx="190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95A3"/>
                </a:solidFill>
                <a:latin typeface="Inter"/>
              </a:rPr>
              <a:t>Проект расширения ассортимента и роста водно-дисперсионных материалов в дистрибуционном канале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16450" y="159050"/>
            <a:ext cx="2098950" cy="2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A7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1850" y="223100"/>
            <a:ext cx="20100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50" dirty="0">
                <a:solidFill>
                  <a:srgbClr val="C9A77C"/>
                </a:solidFill>
                <a:latin typeface="Inter"/>
              </a:rPr>
              <a:t>2027 · ПЛАН · ПРОЕКТ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256" y="1164250"/>
            <a:ext cx="8855724" cy="28575"/>
          </a:xfrm>
          <a:prstGeom prst="rect">
            <a:avLst/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200" y="675450"/>
            <a:ext cx="6066000" cy="397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200" y="815450"/>
            <a:ext cx="55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C00000"/>
                </a:solidFill>
                <a:latin typeface="Inter"/>
              </a:rPr>
              <a:t>ПЛАН ДЕЙСТВИЙ · 6 НАПРАВЛЕНИЙ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200" y="1045450"/>
            <a:ext cx="55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Ассортимент · Ценообразование · Промо · Обучение · Контент · Контроль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200" y="1265450"/>
            <a:ext cx="5786000" cy="20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1200" y="13754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200" y="1375450"/>
            <a:ext cx="1862000" cy="4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1200" y="14454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Roboto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200" y="14654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АССОРТИМЕНТ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200" y="16654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Расширение SKU · новые сегменты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200" y="18554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200" y="190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Новые позиции ВД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3200" y="190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+8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200" y="212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Грунтовки deep-wood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3200" y="212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200" y="234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Архит. покрытия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3200" y="234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200" y="256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Спец. средства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3200" y="256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200" y="243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1200" y="24726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Inter"/>
              </a:rPr>
              <a:t>+8 SKU к концу 2027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63200" y="13754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63200" y="1375450"/>
            <a:ext cx="1862000" cy="40000"/>
          </a:xfrm>
          <a:prstGeom prst="rect">
            <a:avLst/>
          </a:prstGeom>
          <a:solidFill>
            <a:srgbClr val="C9A7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43200" y="14454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77C"/>
                </a:solidFill>
                <a:latin typeface="Roboto Mono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33200" y="14654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МОТИВАЦИЯ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3200" y="16654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Программа для дистрибьюторов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3200" y="18554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43200" y="190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Ретро-бонус ВД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5200" y="190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3200" y="212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Кэшбек на NEWTONE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5200" y="212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3200" y="234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Бонус за MML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45200" y="234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3200" y="256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Стартовый набор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45200" y="256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3200" y="243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3200" y="24726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C9A77C"/>
                </a:solidFill>
                <a:latin typeface="Inter"/>
              </a:rPr>
              <a:t>До 10% совокупно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25200" y="13754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25200" y="1375450"/>
            <a:ext cx="1862000" cy="40000"/>
          </a:xfrm>
          <a:prstGeom prst="rect">
            <a:avLst/>
          </a:prstGeom>
          <a:solidFill>
            <a:srgbClr val="2F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05200" y="14454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3A48"/>
                </a:solidFill>
                <a:latin typeface="Roboto Mono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5200" y="14654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ОБУЧЕНИЕ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5200" y="16654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Сертификация ТП и РМ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5200" y="18554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05200" y="190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Регионов в плане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7200" y="190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5200" y="212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ТП обучено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7200" y="212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500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5200" y="234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РМ сертифиц.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7200" y="234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5200" y="25654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Вебинаров/год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7200" y="25654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5200" y="243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05200" y="24726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A48"/>
                </a:solidFill>
                <a:latin typeface="Inter"/>
              </a:rPr>
              <a:t>+150% к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01200" y="29726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01200" y="2972650"/>
            <a:ext cx="1862000" cy="40000"/>
          </a:xfrm>
          <a:prstGeom prst="rect">
            <a:avLst/>
          </a:prstGeom>
          <a:solidFill>
            <a:srgbClr val="6B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1200" y="30426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B8FA8"/>
                </a:solidFill>
                <a:latin typeface="Roboto Mono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200" y="30626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POSM·МЕРЧАНД.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1200" y="32626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Брендированные зоны ВД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1200" y="345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81200" y="350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РТТ с зоной ВД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83200" y="350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120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1200" y="372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Стойки на 8 SKU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83200" y="372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200" y="394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dirty="0" err="1">
                <a:solidFill>
                  <a:srgbClr val="8A95A3"/>
                </a:solidFill>
                <a:latin typeface="Inter"/>
              </a:rPr>
              <a:t>Шелфтокеры</a:t>
            </a:r>
            <a:endParaRPr sz="850" b="0" dirty="0">
              <a:solidFill>
                <a:srgbClr val="8A95A3"/>
              </a:solidFill>
              <a:latin typeface="Inter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383200" y="394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1500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1200" y="416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Тестеры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83200" y="416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300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1200" y="40298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81200" y="40698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B8FA8"/>
                </a:solidFill>
                <a:latin typeface="Inter"/>
              </a:rPr>
              <a:t>120 РТТ · 2027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163200" y="29726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163200" y="2972650"/>
            <a:ext cx="1862000" cy="40000"/>
          </a:xfrm>
          <a:prstGeom prst="rect">
            <a:avLst/>
          </a:prstGeom>
          <a:solidFill>
            <a:srgbClr val="8BA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243200" y="30426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AA8A"/>
                </a:solidFill>
                <a:latin typeface="Roboto Mono"/>
              </a:rPr>
              <a:t>05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33200" y="30626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КОНТЕНТ·РК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43200" y="32626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Продвижение ВД-категории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43200" y="345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243200" y="350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Видео для ТП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45200" y="350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43200" y="372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VK·Яндекс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45200" y="372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да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43200" y="394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Блогеры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45200" y="394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43200" y="416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SEO·контент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45200" y="416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43200" y="40298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243200" y="40698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BAA8A"/>
                </a:solidFill>
                <a:latin typeface="Inter"/>
              </a:rPr>
              <a:t>Охват 2M+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125200" y="2972650"/>
            <a:ext cx="1862000" cy="1477200"/>
          </a:xfrm>
          <a:prstGeom prst="roundRect">
            <a:avLst>
              <a:gd name="adj" fmla="val 4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125200" y="2972650"/>
            <a:ext cx="1862000" cy="40000"/>
          </a:xfrm>
          <a:prstGeom prst="rect">
            <a:avLst/>
          </a:prstGeom>
          <a:solidFill>
            <a:srgbClr val="8BA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205200" y="304265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BAA8A"/>
                </a:solidFill>
                <a:latin typeface="Roboto Mono"/>
              </a:rPr>
              <a:t>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95200" y="3062650"/>
            <a:ext cx="142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2F3A48"/>
                </a:solidFill>
                <a:latin typeface="Inter"/>
              </a:rPr>
              <a:t>ТРЕЙД-МАРКЕТИНГ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5200" y="3262650"/>
            <a:ext cx="174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Промоакции и акции в точках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05200" y="34526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205200" y="350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Промо/квартал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07200" y="350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205200" y="372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Скидка при входе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07200" y="372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20%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05200" y="394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Подарок за покупку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07200" y="394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да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05200" y="4162650"/>
            <a:ext cx="1162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Кросс-промо TITAN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07200" y="4162650"/>
            <a:ext cx="6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F3A48"/>
                </a:solidFill>
                <a:latin typeface="Roboto Mono"/>
              </a:rPr>
              <a:t>да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5200" y="4029850"/>
            <a:ext cx="1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05200" y="4069850"/>
            <a:ext cx="174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BAA8A"/>
                </a:solidFill>
                <a:latin typeface="Inter"/>
              </a:rPr>
              <a:t>8 промо · 2027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1200" y="4269850"/>
            <a:ext cx="5786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Бюджет проекта 2027 — 1,8 млн ₽ · ROI 3,2× · срок окупаемости 14 месяцев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195600" y="675450"/>
            <a:ext cx="2862000" cy="3945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35600" y="815450"/>
            <a:ext cx="258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C00000"/>
                </a:solidFill>
                <a:latin typeface="Inter"/>
              </a:rPr>
              <a:t>KPI · 2027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35600" y="1045450"/>
            <a:ext cx="2582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95A3"/>
                </a:solidFill>
                <a:latin typeface="Inter"/>
              </a:rPr>
              <a:t>Целевые метрики ВД-категории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35600" y="1265450"/>
            <a:ext cx="2582000" cy="20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6255600" y="141545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55600" y="146545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Inter"/>
              </a:rPr>
              <a:t>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15600" y="1425450"/>
            <a:ext cx="2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Доля ВД в MML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15600" y="1645450"/>
            <a:ext cx="23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Roboto Mono"/>
              </a:rPr>
              <a:t>28% → 42%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237600" y="1423450"/>
            <a:ext cx="700000" cy="220000"/>
          </a:xfrm>
          <a:prstGeom prst="roundRect">
            <a:avLst>
              <a:gd name="adj" fmla="val 30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237600" y="1450450"/>
            <a:ext cx="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Inter"/>
              </a:rPr>
              <a:t>+14 п.п.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75600" y="1925450"/>
            <a:ext cx="270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255600" y="195545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255600" y="200545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Inter"/>
              </a:rPr>
              <a:t>02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15600" y="1965450"/>
            <a:ext cx="2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Первичка ВД (т)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15600" y="2185450"/>
            <a:ext cx="23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Roboto Mono"/>
              </a:rPr>
              <a:t>1 200 → 2 000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237600" y="1963450"/>
            <a:ext cx="700000" cy="220000"/>
          </a:xfrm>
          <a:prstGeom prst="roundRect">
            <a:avLst>
              <a:gd name="adj" fmla="val 30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237600" y="1990450"/>
            <a:ext cx="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Inter"/>
              </a:rPr>
              <a:t>+67%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75600" y="2465450"/>
            <a:ext cx="270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6255600" y="249545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255600" y="254545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9A77C"/>
                </a:solidFill>
                <a:latin typeface="Inter"/>
              </a:rPr>
              <a:t>03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615600" y="2505450"/>
            <a:ext cx="2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РТТ с ВД-зоной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15600" y="2725450"/>
            <a:ext cx="23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77C"/>
                </a:solidFill>
                <a:latin typeface="Roboto Mono"/>
              </a:rPr>
              <a:t>180 → 350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237600" y="2503450"/>
            <a:ext cx="700000" cy="220000"/>
          </a:xfrm>
          <a:prstGeom prst="roundRect">
            <a:avLst>
              <a:gd name="adj" fmla="val 30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237600" y="2530450"/>
            <a:ext cx="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9A77C"/>
                </a:solidFill>
                <a:latin typeface="Inter"/>
              </a:rPr>
              <a:t>+94%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5600" y="3005450"/>
            <a:ext cx="270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6255600" y="303545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255600" y="308545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F3A48"/>
                </a:solidFill>
                <a:latin typeface="Inter"/>
              </a:rPr>
              <a:t>04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615600" y="3045450"/>
            <a:ext cx="2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АКБ ВД в точках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15600" y="3265450"/>
            <a:ext cx="23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3A48"/>
                </a:solidFill>
                <a:latin typeface="Roboto Mono"/>
              </a:rPr>
              <a:t>32% → 58%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237600" y="3043450"/>
            <a:ext cx="700000" cy="220000"/>
          </a:xfrm>
          <a:prstGeom prst="roundRect">
            <a:avLst>
              <a:gd name="adj" fmla="val 30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237600" y="3070450"/>
            <a:ext cx="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F3A48"/>
                </a:solidFill>
                <a:latin typeface="Inter"/>
              </a:rPr>
              <a:t>+26 п.п.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75600" y="3545450"/>
            <a:ext cx="2702000" cy="12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6255600" y="3575450"/>
            <a:ext cx="320000" cy="320000"/>
          </a:xfrm>
          <a:prstGeom prst="roundRect">
            <a:avLst>
              <a:gd name="adj" fmla="val 18000"/>
            </a:avLst>
          </a:prstGeom>
          <a:solidFill>
            <a:srgbClr val="D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255600" y="3625450"/>
            <a:ext cx="32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F3A48"/>
                </a:solidFill>
                <a:latin typeface="Inter"/>
              </a:rPr>
              <a:t>05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615600" y="3585450"/>
            <a:ext cx="22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A48"/>
                </a:solidFill>
                <a:latin typeface="Inter"/>
              </a:rPr>
              <a:t>MML ВД SKU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615600" y="3805450"/>
            <a:ext cx="2362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3A48"/>
                </a:solidFill>
                <a:latin typeface="Roboto Mono"/>
              </a:rPr>
              <a:t>33 → 41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237600" y="3583450"/>
            <a:ext cx="700000" cy="220000"/>
          </a:xfrm>
          <a:prstGeom prst="roundRect">
            <a:avLst>
              <a:gd name="adj" fmla="val 30000"/>
            </a:avLst>
          </a:prstGeom>
          <a:solidFill>
            <a:srgbClr val="F5F2EC"/>
          </a:solidFill>
          <a:ln w="6350">
            <a:solidFill>
              <a:srgbClr val="D9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237600" y="3610450"/>
            <a:ext cx="7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F3A48"/>
                </a:solidFill>
                <a:latin typeface="Inter"/>
              </a:rPr>
              <a:t>+8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275600" y="4041050"/>
            <a:ext cx="2702000" cy="15000"/>
          </a:xfrm>
          <a:prstGeom prst="rect">
            <a:avLst/>
          </a:prstGeom>
          <a:solidFill>
            <a:srgbClr val="EF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6335600" y="4101050"/>
            <a:ext cx="2582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95A3"/>
                </a:solidFill>
                <a:latin typeface="Inter"/>
              </a:rPr>
              <a:t>Цель — удвоение доли ВД-ЛКМ в дистрибуционном канале к концу 2027 года</a:t>
            </a:r>
          </a:p>
        </p:txBody>
      </p:sp>
    </p:spTree>
    <p:extLst>
      <p:ext uri="{BB962C8B-B14F-4D97-AF65-F5344CB8AC3E}">
        <p14:creationId xmlns:p14="http://schemas.microsoft.com/office/powerpoint/2010/main" val="176966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F3A48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F3A48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F3A48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</TotalTime>
  <Words>1423</Words>
  <Application>Microsoft Office PowerPoint</Application>
  <PresentationFormat>Экран (16:9)</PresentationFormat>
  <Paragraphs>503</Paragraphs>
  <Slides>10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149</cp:revision>
  <cp:lastPrinted>2026-10-07T10:44:29Z</cp:lastPrinted>
  <dcterms:created xsi:type="dcterms:W3CDTF">2026-10-01T12:44:52Z</dcterms:created>
  <dcterms:modified xsi:type="dcterms:W3CDTF">2026-10-07T10:44:30Z</dcterms:modified>
</cp:coreProperties>
</file>