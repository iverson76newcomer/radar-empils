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80000"/>
            <a:ext cx="11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E3A5F"/>
                </a:solidFill>
                <a:latin typeface="Arial"/>
              </a:rPr>
              <a:t>TITAN vs конкуренты — ценовое сравнение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576000"/>
            <a:ext cx="1116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i="1">
                <a:solidFill>
                  <a:srgbClr val="6B7280"/>
                </a:solidFill>
                <a:latin typeface="Arial"/>
              </a:rPr>
              <a:t>Источник: ВсеИнструменты.ру. Цены 10.06.2026 (из презентации TITAN) vs актуальные на сегодня. 16 SKU в 3 категориях.</a:t>
            </a:r>
          </a:p>
        </p:txBody>
      </p:sp>
      <p:pic>
        <p:nvPicPr>
          <p:cNvPr id="4" name="Picture 3" descr="price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900000"/>
            <a:ext cx="8100000" cy="486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60000" y="900000"/>
            <a:ext cx="342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7920"/>
                </a:solidFill>
                <a:latin typeface="Arial"/>
              </a:rPr>
              <a:t>TITAN (3 SKU)</a:t>
            </a:r>
          </a:p>
          <a:p>
            <a:pPr algn="l"/>
            <a:r>
              <a:rPr sz="1100">
                <a:solidFill>
                  <a:srgbClr val="1A1F36"/>
                </a:solidFill>
                <a:latin typeface="Arial"/>
              </a:rPr>
              <a:t>Средняя цена: 982 → 1 052 ₽</a:t>
            </a:r>
            <a:r>
              <a:rPr sz="1100" b="1">
                <a:solidFill>
                  <a:srgbClr val="C62828"/>
                </a:solidFill>
                <a:latin typeface="Arial"/>
              </a:rPr>
              <a:t>  (+7%)</a:t>
            </a:r>
          </a:p>
          <a:p>
            <a:pPr algn="l"/>
            <a:r>
              <a:rPr sz="1000">
                <a:solidFill>
                  <a:srgbClr val="1A1F36"/>
                </a:solidFill>
                <a:latin typeface="Arial"/>
              </a:rPr>
              <a:t>• 3в1: 872 → 905 (+4%)</a:t>
            </a:r>
          </a:p>
          <a:p>
            <a:pPr algn="l"/>
            <a:r>
              <a:rPr sz="1000">
                <a:solidFill>
                  <a:srgbClr val="1A1F36"/>
                </a:solidFill>
                <a:latin typeface="Arial"/>
              </a:rPr>
              <a:t>• Быстр.: 765 → 956 (+25%) ↑↑</a:t>
            </a:r>
          </a:p>
          <a:p>
            <a:pPr algn="l"/>
            <a:r>
              <a:rPr sz="1000">
                <a:solidFill>
                  <a:srgbClr val="1A1F36"/>
                </a:solidFill>
                <a:latin typeface="Arial"/>
              </a:rPr>
              <a:t>• Молот.: 1 308 → 1 294 (−1%)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60000" y="2160000"/>
            <a:ext cx="342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6A34A"/>
                </a:solidFill>
                <a:latin typeface="Arial"/>
              </a:rPr>
              <a:t>⚠️ Конкуренты демпингуют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• HUSKY 3в1: −17% (1 153→953)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• Tikkurila METALLISTA: −23%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  (2 085→1 599)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• Dufa HAMMERLACK: −27%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  (1 653→1 210)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• Лакра молотковая: −15%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60000" y="3960000"/>
            <a:ext cx="342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62828"/>
                </a:solidFill>
                <a:latin typeface="Arial"/>
              </a:rPr>
              <a:t>📈 Подорожали вместе с TITAN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• Новбытхим: +53% (765→1 168)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• HUSKY молотковая: +44%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  (1 196→1 719)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• Elcon молотковая: +23%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  (1 097→1 344)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• Dali: +8-9%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5940000"/>
            <a:ext cx="113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7920"/>
                </a:solidFill>
                <a:latin typeface="Arial"/>
              </a:rPr>
              <a:t>ВЫВОД: </a:t>
            </a:r>
            <a:r>
              <a:rPr sz="1100">
                <a:solidFill>
                  <a:srgbClr val="1A1F36"/>
                </a:solidFill>
                <a:latin typeface="Arial"/>
              </a:rPr>
              <a:t>TITAN подорожал на +7% (быстрее рынка +3%) — теряет ценовое преимущество. HUSKY, Tikkurila и Dufa снизили цены на 15-27% — теперь дешевле TITAN в своих категориях. Рекомендация: точечные акции против HUSKY и Tikkurila, удержание цены на 3в1 (рост всего +4%).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6588000"/>
            <a:ext cx="111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i="1">
                <a:solidFill>
                  <a:srgbClr val="6B7280"/>
                </a:solidFill>
                <a:latin typeface="Arial"/>
              </a:rPr>
              <a:t>15 из 16 SKU найдены на vseinstrumenti.ru. SKU 10 (Лакра PROF IT быстросохнущая) — нет в наличии или цена не отображается.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