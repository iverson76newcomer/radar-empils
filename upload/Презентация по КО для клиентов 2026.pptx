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8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9.xml" ContentType="application/vnd.openxmlformats-officedocument.theme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theme/theme10.xml" ContentType="application/vnd.openxmlformats-officedocument.theme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theme/theme11.xml" ContentType="application/vnd.openxmlformats-officedocument.theme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97" r:id="rId3"/>
    <p:sldMasterId id="2147483710" r:id="rId4"/>
    <p:sldMasterId id="2147483722" r:id="rId5"/>
    <p:sldMasterId id="2147483735" r:id="rId6"/>
    <p:sldMasterId id="2147483748" r:id="rId7"/>
    <p:sldMasterId id="2147483762" r:id="rId8"/>
    <p:sldMasterId id="2147483774" r:id="rId9"/>
    <p:sldMasterId id="2147483788" r:id="rId10"/>
    <p:sldMasterId id="2147483800" r:id="rId11"/>
    <p:sldMasterId id="2147483814" r:id="rId12"/>
  </p:sldMasterIdLst>
  <p:notesMasterIdLst>
    <p:notesMasterId r:id="rId22"/>
  </p:notesMasterIdLst>
  <p:sldIdLst>
    <p:sldId id="256" r:id="rId13"/>
    <p:sldId id="313" r:id="rId14"/>
    <p:sldId id="310" r:id="rId15"/>
    <p:sldId id="311" r:id="rId16"/>
    <p:sldId id="315" r:id="rId17"/>
    <p:sldId id="290" r:id="rId18"/>
    <p:sldId id="317" r:id="rId19"/>
    <p:sldId id="318" r:id="rId20"/>
    <p:sldId id="316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Светлый стиль 2 -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Средний стиль 1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9" autoAdjust="0"/>
    <p:restoredTop sz="94660"/>
  </p:normalViewPr>
  <p:slideViewPr>
    <p:cSldViewPr>
      <p:cViewPr>
        <p:scale>
          <a:sx n="100" d="100"/>
          <a:sy n="100" d="100"/>
        </p:scale>
        <p:origin x="-1980" y="-2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FB021-6FC2-4016-B865-F8E290F790C1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D95B6-904A-4657-B0A5-F603C8E47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651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D95B6-904A-4657-B0A5-F603C8E47D2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3060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DD95B6-904A-4657-B0A5-F603C8E47D2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306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23528" y="1556792"/>
            <a:ext cx="5040560" cy="147002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4725144"/>
            <a:ext cx="4392488" cy="1752600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854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1723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9237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131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1189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954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76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112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67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8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1"/>
            <a:ext cx="7488832" cy="620688"/>
          </a:xfrm>
        </p:spPr>
        <p:txBody>
          <a:bodyPr/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92736" y="6325443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0E5C3-EA82-41F4-B727-4D0730C7D1F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683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2D0B6-7E46-4BC6-9CAD-6A4B926DF6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8818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C52CF-38A9-4A4E-A81A-E6CEB4ADBC2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066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70D8A-C772-4AC0-9F51-E62955FC8EE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606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AAA7B-B54A-4A83-8338-86B40C83ED5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154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691B16-44D1-4400-8A37-1895FD2711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2780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388424" y="6329640"/>
            <a:ext cx="56047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756FA-F260-4F2B-A89A-B6E893D305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cxnSp>
        <p:nvCxnSpPr>
          <p:cNvPr id="10" name="Прямая соединительная линия 9"/>
          <p:cNvCxnSpPr/>
          <p:nvPr userDrawn="1"/>
        </p:nvCxnSpPr>
        <p:spPr>
          <a:xfrm>
            <a:off x="179512" y="6381328"/>
            <a:ext cx="82089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377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BAE6-06BB-4631-A62F-7F0F93580CA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3071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ED434-BE15-4D92-B49B-26C4BAEDAC4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7678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CF6DA-23DC-4C67-A08D-385659AE932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95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D5AD5-EE07-449F-A8B4-514CCB94EB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86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23528" y="1556792"/>
            <a:ext cx="5040560" cy="147002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4725144"/>
            <a:ext cx="4392488" cy="1752600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854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4139952" y="1412776"/>
            <a:ext cx="5004048" cy="2304603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Tahoma" pitchFamily="34" charset="0"/>
                <a:cs typeface="Tahoma" pitchFamily="34" charset="0"/>
              </a:defRPr>
            </a:lvl1pPr>
            <a:lvl2pPr marL="457119" indent="0">
              <a:buNone/>
              <a:defRPr>
                <a:solidFill>
                  <a:schemeClr val="bg1"/>
                </a:solidFill>
                <a:latin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333960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93221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566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183" y="4407380"/>
            <a:ext cx="7772943" cy="1362097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183" y="2907058"/>
            <a:ext cx="7772943" cy="1500322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05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11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1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237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29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356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416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475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89584" y="6481933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3480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474" y="1599673"/>
            <a:ext cx="4049369" cy="452688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37159" y="1599673"/>
            <a:ext cx="4049370" cy="452688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038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4520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474" y="1534880"/>
            <a:ext cx="4039867" cy="639293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0596" indent="0">
              <a:buNone/>
              <a:defRPr sz="1800" b="1"/>
            </a:lvl2pPr>
            <a:lvl3pPr marL="801188" indent="0">
              <a:buNone/>
              <a:defRPr sz="1600" b="1"/>
            </a:lvl3pPr>
            <a:lvl4pPr marL="1201783" indent="0">
              <a:buNone/>
              <a:defRPr sz="1400" b="1"/>
            </a:lvl4pPr>
            <a:lvl5pPr marL="1602377" indent="0">
              <a:buNone/>
              <a:defRPr sz="1400" b="1"/>
            </a:lvl5pPr>
            <a:lvl6pPr marL="2002973" indent="0">
              <a:buNone/>
              <a:defRPr sz="1400" b="1"/>
            </a:lvl6pPr>
            <a:lvl7pPr marL="2403567" indent="0">
              <a:buNone/>
              <a:defRPr sz="1400" b="1"/>
            </a:lvl7pPr>
            <a:lvl8pPr marL="2804161" indent="0">
              <a:buNone/>
              <a:defRPr sz="1400" b="1"/>
            </a:lvl8pPr>
            <a:lvl9pPr marL="3204755" indent="0">
              <a:buNone/>
              <a:defRPr sz="14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474" y="2174174"/>
            <a:ext cx="4039867" cy="395238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306" y="1534880"/>
            <a:ext cx="4041225" cy="639293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0596" indent="0">
              <a:buNone/>
              <a:defRPr sz="1800" b="1"/>
            </a:lvl2pPr>
            <a:lvl3pPr marL="801188" indent="0">
              <a:buNone/>
              <a:defRPr sz="1600" b="1"/>
            </a:lvl3pPr>
            <a:lvl4pPr marL="1201783" indent="0">
              <a:buNone/>
              <a:defRPr sz="1400" b="1"/>
            </a:lvl4pPr>
            <a:lvl5pPr marL="1602377" indent="0">
              <a:buNone/>
              <a:defRPr sz="1400" b="1"/>
            </a:lvl5pPr>
            <a:lvl6pPr marL="2002973" indent="0">
              <a:buNone/>
              <a:defRPr sz="1400" b="1"/>
            </a:lvl6pPr>
            <a:lvl7pPr marL="2403567" indent="0">
              <a:buNone/>
              <a:defRPr sz="1400" b="1"/>
            </a:lvl7pPr>
            <a:lvl8pPr marL="2804161" indent="0">
              <a:buNone/>
              <a:defRPr sz="1400" b="1"/>
            </a:lvl8pPr>
            <a:lvl9pPr marL="3204755" indent="0">
              <a:buNone/>
              <a:defRPr sz="14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306" y="2174174"/>
            <a:ext cx="4041225" cy="395238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010038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774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01247" y="6493721"/>
            <a:ext cx="2133962" cy="364281"/>
          </a:xfrm>
        </p:spPr>
        <p:txBody>
          <a:bodyPr vert="horz" lIns="80119" tIns="40060" rIns="80119" bIns="40060" rtlCol="0" anchor="ctr"/>
          <a:lstStyle>
            <a:lvl1pPr>
              <a:defRPr lang="ru-RU" sz="1200" b="1" smtClean="0">
                <a:latin typeface="Tahoma" pitchFamily="34" charset="0"/>
                <a:cs typeface="Tahoma" pitchFamily="34" charset="0"/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9893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95416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29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474" y="273574"/>
            <a:ext cx="3008181" cy="116195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610" y="273571"/>
            <a:ext cx="5110921" cy="5852986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474" y="1435532"/>
            <a:ext cx="3008181" cy="4691027"/>
          </a:xfrm>
        </p:spPr>
        <p:txBody>
          <a:bodyPr/>
          <a:lstStyle>
            <a:lvl1pPr marL="0" indent="0">
              <a:buNone/>
              <a:defRPr sz="1200"/>
            </a:lvl1pPr>
            <a:lvl2pPr marL="400596" indent="0">
              <a:buNone/>
              <a:defRPr sz="1100"/>
            </a:lvl2pPr>
            <a:lvl3pPr marL="801188" indent="0">
              <a:buNone/>
              <a:defRPr sz="900"/>
            </a:lvl3pPr>
            <a:lvl4pPr marL="1201783" indent="0">
              <a:buNone/>
              <a:defRPr sz="800"/>
            </a:lvl4pPr>
            <a:lvl5pPr marL="1602377" indent="0">
              <a:buNone/>
              <a:defRPr sz="800"/>
            </a:lvl5pPr>
            <a:lvl6pPr marL="2002973" indent="0">
              <a:buNone/>
              <a:defRPr sz="800"/>
            </a:lvl6pPr>
            <a:lvl7pPr marL="2403567" indent="0">
              <a:buNone/>
              <a:defRPr sz="800"/>
            </a:lvl7pPr>
            <a:lvl8pPr marL="2804161" indent="0">
              <a:buNone/>
              <a:defRPr sz="800"/>
            </a:lvl8pPr>
            <a:lvl9pPr marL="3204755" indent="0">
              <a:buNone/>
              <a:defRPr sz="8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038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5662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1879" y="4800456"/>
            <a:ext cx="5486943" cy="56730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1879" y="613376"/>
            <a:ext cx="5486943" cy="4113648"/>
          </a:xfrm>
        </p:spPr>
        <p:txBody>
          <a:bodyPr/>
          <a:lstStyle>
            <a:lvl1pPr marL="0" indent="0">
              <a:buNone/>
              <a:defRPr sz="2800"/>
            </a:lvl1pPr>
            <a:lvl2pPr marL="400596" indent="0">
              <a:buNone/>
              <a:defRPr sz="2500"/>
            </a:lvl2pPr>
            <a:lvl3pPr marL="801188" indent="0">
              <a:buNone/>
              <a:defRPr sz="2100"/>
            </a:lvl3pPr>
            <a:lvl4pPr marL="1201783" indent="0">
              <a:buNone/>
              <a:defRPr sz="1800"/>
            </a:lvl4pPr>
            <a:lvl5pPr marL="1602377" indent="0">
              <a:buNone/>
              <a:defRPr sz="1800"/>
            </a:lvl5pPr>
            <a:lvl6pPr marL="2002973" indent="0">
              <a:buNone/>
              <a:defRPr sz="1800"/>
            </a:lvl6pPr>
            <a:lvl7pPr marL="2403567" indent="0">
              <a:buNone/>
              <a:defRPr sz="1800"/>
            </a:lvl7pPr>
            <a:lvl8pPr marL="2804161" indent="0">
              <a:buNone/>
              <a:defRPr sz="1800"/>
            </a:lvl8pPr>
            <a:lvl9pPr marL="3204755" indent="0">
              <a:buNone/>
              <a:defRPr sz="18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1879" y="5367757"/>
            <a:ext cx="5486943" cy="804876"/>
          </a:xfrm>
        </p:spPr>
        <p:txBody>
          <a:bodyPr/>
          <a:lstStyle>
            <a:lvl1pPr marL="0" indent="0">
              <a:buNone/>
              <a:defRPr sz="1200"/>
            </a:lvl1pPr>
            <a:lvl2pPr marL="400596" indent="0">
              <a:buNone/>
              <a:defRPr sz="1100"/>
            </a:lvl2pPr>
            <a:lvl3pPr marL="801188" indent="0">
              <a:buNone/>
              <a:defRPr sz="900"/>
            </a:lvl3pPr>
            <a:lvl4pPr marL="1201783" indent="0">
              <a:buNone/>
              <a:defRPr sz="800"/>
            </a:lvl4pPr>
            <a:lvl5pPr marL="1602377" indent="0">
              <a:buNone/>
              <a:defRPr sz="800"/>
            </a:lvl5pPr>
            <a:lvl6pPr marL="2002973" indent="0">
              <a:buNone/>
              <a:defRPr sz="800"/>
            </a:lvl6pPr>
            <a:lvl7pPr marL="2403567" indent="0">
              <a:buNone/>
              <a:defRPr sz="800"/>
            </a:lvl7pPr>
            <a:lvl8pPr marL="2804161" indent="0">
              <a:buNone/>
              <a:defRPr sz="800"/>
            </a:lvl8pPr>
            <a:lvl9pPr marL="3204755" indent="0">
              <a:buNone/>
              <a:defRPr sz="8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03819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604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038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5046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943" y="275014"/>
            <a:ext cx="2056586" cy="585154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474" y="275014"/>
            <a:ext cx="6042153" cy="585154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23131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216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23528" y="1556792"/>
            <a:ext cx="5040560" cy="147002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4725144"/>
            <a:ext cx="4392488" cy="1752600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854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23528" y="1556792"/>
            <a:ext cx="5040560" cy="147002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4725144"/>
            <a:ext cx="4392488" cy="1752600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854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1723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9237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131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1189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95439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7693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11231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67005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81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85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23528" y="1556792"/>
            <a:ext cx="5040560" cy="147002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4725144"/>
            <a:ext cx="4392488" cy="1752600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854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62D0B6-7E46-4BC6-9CAD-6A4B926DF6B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1723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F6C52CF-38A9-4A4E-A81A-E6CEB4ADBC2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9237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370D8A-C772-4AC0-9F51-E62955FC8EE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131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5AAA7B-B54A-4A83-8338-86B40C83ED5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1189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7691B16-44D1-4400-8A37-1895FD27116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9543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D756FA-F260-4F2B-A89A-B6E893D305D3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cxnSp>
        <p:nvCxnSpPr>
          <p:cNvPr id="5" name="Прямая соединительная линия 4"/>
          <p:cNvCxnSpPr/>
          <p:nvPr userDrawn="1"/>
        </p:nvCxnSpPr>
        <p:spPr>
          <a:xfrm>
            <a:off x="179512" y="6381328"/>
            <a:ext cx="82089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7693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BFBAE6-06BB-4631-A62F-7F0F93580CA2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11231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DED434-BE15-4D92-B49B-26C4BAEDAC4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6700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F6DA-23DC-4C67-A08D-385659AE932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81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3D5AD5-EE07-449F-A8B4-514CCB94EB8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855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1"/>
            <a:ext cx="7488832" cy="620688"/>
          </a:xfrm>
        </p:spPr>
        <p:txBody>
          <a:bodyPr/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92736" y="6325443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0E5C3-EA82-41F4-B727-4D0730C7D1F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683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1"/>
            <a:ext cx="7488832" cy="620688"/>
          </a:xfrm>
        </p:spPr>
        <p:txBody>
          <a:bodyPr/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92736" y="6325443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10E5C3-EA82-41F4-B727-4D0730C7D1F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683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2D0B6-7E46-4BC6-9CAD-6A4B926DF6B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8818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C52CF-38A9-4A4E-A81A-E6CEB4ADBC2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06647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70D8A-C772-4AC0-9F51-E62955FC8EE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6067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5AAA7B-B54A-4A83-8338-86B40C83ED5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715481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691B16-44D1-4400-8A37-1895FD27116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627803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388424" y="6329640"/>
            <a:ext cx="56047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D756FA-F260-4F2B-A89A-B6E893D305D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cxnSp>
        <p:nvCxnSpPr>
          <p:cNvPr id="10" name="Прямая соединительная линия 9"/>
          <p:cNvCxnSpPr/>
          <p:nvPr userDrawn="1"/>
        </p:nvCxnSpPr>
        <p:spPr>
          <a:xfrm>
            <a:off x="179512" y="6381328"/>
            <a:ext cx="82089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3776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FBAE6-06BB-4631-A62F-7F0F93580CA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3071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 smtClean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ED434-BE15-4D92-B49B-26C4BAEDAC4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76785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CF6DA-23DC-4C67-A08D-385659AE932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9597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D5AD5-EE07-449F-A8B4-514CCB94EB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86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Титульный слай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7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79388" y="1989138"/>
            <a:ext cx="8748712" cy="1727200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7577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140200" y="4076700"/>
            <a:ext cx="4752975" cy="936625"/>
          </a:xfrm>
        </p:spPr>
        <p:txBody>
          <a:bodyPr anchor="ctr"/>
          <a:lstStyle>
            <a:lvl1pPr algn="r">
              <a:defRPr sz="2000" b="1"/>
            </a:lvl1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72023"/>
      </p:ext>
    </p:extLst>
  </p:cSld>
  <p:clrMapOvr>
    <a:masterClrMapping/>
  </p:clrMapOvr>
  <p:transition>
    <p:randomBar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091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9257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45591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1758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47759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73921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179512" y="6381328"/>
            <a:ext cx="820891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573243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47439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445406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434387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55275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ыч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51999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1"/>
            <a:ext cx="7488832" cy="620688"/>
          </a:xfrm>
        </p:spPr>
        <p:txBody>
          <a:bodyPr/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92736" y="6325443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683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323528" y="1556792"/>
            <a:ext cx="5040560" cy="1470025"/>
          </a:xfrm>
        </p:spPr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3528" y="4725144"/>
            <a:ext cx="4392488" cy="1752600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854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F76AE-F144-4C00-8627-AD0468BCD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81723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F76AE-F144-4C00-8627-AD0468BCD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9237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F76AE-F144-4C00-8627-AD0468BCD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21317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F76AE-F144-4C00-8627-AD0468BCD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31189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F76AE-F144-4C00-8627-AD0468BCD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795439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F76AE-F144-4C00-8627-AD0468BCD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376938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F76AE-F144-4C00-8627-AD0468BCD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911231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F76AE-F144-4C00-8627-AD0468BCD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67005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F76AE-F144-4C00-8627-AD0468BCD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810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1F76AE-F144-4C00-8627-AD0468BCDD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855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/>
        </p:nvSpPr>
        <p:spPr>
          <a:xfrm>
            <a:off x="3586808" y="1404370"/>
            <a:ext cx="5400600" cy="2448272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50"/>
              </a:spcBef>
            </a:pPr>
            <a:r>
              <a:rPr lang="ru-RU" sz="42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ЗАО «</a:t>
            </a:r>
            <a:r>
              <a:rPr lang="ru-RU" sz="4200" b="1" dirty="0" err="1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Эмпилс</a:t>
            </a:r>
            <a:r>
              <a:rPr lang="ru-RU" sz="42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»</a:t>
            </a:r>
            <a:br>
              <a:rPr lang="ru-RU" sz="42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I квартал 2016 года</a:t>
            </a:r>
            <a:br>
              <a:rPr lang="ru-RU" sz="28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Итоги</a:t>
            </a:r>
          </a:p>
          <a:p>
            <a:pPr algn="r"/>
            <a:endParaRPr lang="ru-RU" sz="4200" b="1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663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466789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D3F2B770-F2B0-45A3-AEA0-F0A587C1D9E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11560" y="-211630"/>
            <a:ext cx="5400600" cy="1224136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50"/>
              </a:spcBef>
            </a:pPr>
            <a:r>
              <a:rPr lang="ru-RU" sz="3600" b="1" dirty="0">
                <a:solidFill>
                  <a:srgbClr val="7E858B"/>
                </a:solidFill>
                <a:latin typeface="Tahoma" pitchFamily="34" charset="0"/>
                <a:cs typeface="Tahoma" pitchFamily="34" charset="0"/>
              </a:rPr>
              <a:t>ПРОДАЖИ</a:t>
            </a:r>
          </a:p>
        </p:txBody>
      </p:sp>
    </p:spTree>
    <p:extLst>
      <p:ext uri="{BB962C8B-B14F-4D97-AF65-F5344CB8AC3E}">
        <p14:creationId xmlns:p14="http://schemas.microsoft.com/office/powerpoint/2010/main" val="1525370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1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3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9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7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9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611560" y="-211630"/>
            <a:ext cx="5400600" cy="1224136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50"/>
              </a:spcBef>
            </a:pPr>
            <a:r>
              <a:rPr lang="ru-RU" sz="3600" b="1" dirty="0">
                <a:solidFill>
                  <a:srgbClr val="7E858B"/>
                </a:solidFill>
                <a:latin typeface="Tahoma" pitchFamily="34" charset="0"/>
                <a:cs typeface="Tahoma" pitchFamily="34" charset="0"/>
              </a:rPr>
              <a:t>ПРОДАЖИ</a:t>
            </a:r>
          </a:p>
        </p:txBody>
      </p:sp>
    </p:spTree>
    <p:extLst>
      <p:ext uri="{BB962C8B-B14F-4D97-AF65-F5344CB8AC3E}">
        <p14:creationId xmlns:p14="http://schemas.microsoft.com/office/powerpoint/2010/main" val="99536473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05246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D3F2B770-F2B0-45A3-AEA0-F0A587C1D9E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11560" y="-211630"/>
            <a:ext cx="5400600" cy="1224136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50"/>
              </a:spcBef>
            </a:pPr>
            <a:r>
              <a:rPr lang="ru-RU" sz="3600" b="1" dirty="0">
                <a:solidFill>
                  <a:srgbClr val="7E858B"/>
                </a:solidFill>
                <a:latin typeface="Tahoma" pitchFamily="34" charset="0"/>
                <a:cs typeface="Tahoma" pitchFamily="34" charset="0"/>
              </a:rPr>
              <a:t>ПРОДАЖИ</a:t>
            </a:r>
          </a:p>
        </p:txBody>
      </p:sp>
    </p:spTree>
    <p:extLst>
      <p:ext uri="{BB962C8B-B14F-4D97-AF65-F5344CB8AC3E}">
        <p14:creationId xmlns:p14="http://schemas.microsoft.com/office/powerpoint/2010/main" val="14817788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4" y="1535115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19" indent="0">
              <a:buNone/>
              <a:defRPr sz="2000" b="1"/>
            </a:lvl2pPr>
            <a:lvl3pPr marL="914239" indent="0">
              <a:buNone/>
              <a:defRPr sz="1800" b="1"/>
            </a:lvl3pPr>
            <a:lvl4pPr marL="1371358" indent="0">
              <a:buNone/>
              <a:defRPr sz="1600" b="1"/>
            </a:lvl4pPr>
            <a:lvl5pPr marL="1828477" indent="0">
              <a:buNone/>
              <a:defRPr sz="1600" b="1"/>
            </a:lvl5pPr>
            <a:lvl6pPr marL="2285596" indent="0">
              <a:buNone/>
              <a:defRPr sz="1600" b="1"/>
            </a:lvl6pPr>
            <a:lvl7pPr marL="2742716" indent="0">
              <a:buNone/>
              <a:defRPr sz="1600" b="1"/>
            </a:lvl7pPr>
            <a:lvl8pPr marL="3199835" indent="0">
              <a:buNone/>
              <a:defRPr sz="1600" b="1"/>
            </a:lvl8pPr>
            <a:lvl9pPr marL="3656954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4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9" y="1535115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19" indent="0">
              <a:buNone/>
              <a:defRPr sz="2000" b="1"/>
            </a:lvl2pPr>
            <a:lvl3pPr marL="914239" indent="0">
              <a:buNone/>
              <a:defRPr sz="1800" b="1"/>
            </a:lvl3pPr>
            <a:lvl4pPr marL="1371358" indent="0">
              <a:buNone/>
              <a:defRPr sz="1600" b="1"/>
            </a:lvl4pPr>
            <a:lvl5pPr marL="1828477" indent="0">
              <a:buNone/>
              <a:defRPr sz="1600" b="1"/>
            </a:lvl5pPr>
            <a:lvl6pPr marL="2285596" indent="0">
              <a:buNone/>
              <a:defRPr sz="1600" b="1"/>
            </a:lvl6pPr>
            <a:lvl7pPr marL="2742716" indent="0">
              <a:buNone/>
              <a:defRPr sz="1600" b="1"/>
            </a:lvl7pPr>
            <a:lvl8pPr marL="3199835" indent="0">
              <a:buNone/>
              <a:defRPr sz="1600" b="1"/>
            </a:lvl8pPr>
            <a:lvl9pPr marL="3656954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004181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D3F2B770-F2B0-45A3-AEA0-F0A587C1D9EA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611560" y="-211630"/>
            <a:ext cx="5400600" cy="1224136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50"/>
              </a:spcBef>
            </a:pPr>
            <a:r>
              <a:rPr lang="ru-RU" sz="3600" b="1" dirty="0">
                <a:solidFill>
                  <a:srgbClr val="7E858B"/>
                </a:solidFill>
                <a:latin typeface="Tahoma" pitchFamily="34" charset="0"/>
                <a:cs typeface="Tahoma" pitchFamily="34" charset="0"/>
              </a:rPr>
              <a:t>ПРОДАЖИ</a:t>
            </a:r>
          </a:p>
        </p:txBody>
      </p:sp>
    </p:spTree>
    <p:extLst>
      <p:ext uri="{BB962C8B-B14F-4D97-AF65-F5344CB8AC3E}">
        <p14:creationId xmlns:p14="http://schemas.microsoft.com/office/powerpoint/2010/main" val="5151020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10400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D3F2B770-F2B0-45A3-AEA0-F0A587C1D9EA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611560" y="-211630"/>
            <a:ext cx="5400600" cy="1224136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50"/>
              </a:spcBef>
            </a:pPr>
            <a:r>
              <a:rPr lang="ru-RU" sz="3600" b="1" dirty="0">
                <a:solidFill>
                  <a:srgbClr val="7E858B"/>
                </a:solidFill>
                <a:latin typeface="Tahoma" pitchFamily="34" charset="0"/>
                <a:cs typeface="Tahoma" pitchFamily="34" charset="0"/>
              </a:rPr>
              <a:t>ПРОДАЖИ</a:t>
            </a:r>
          </a:p>
        </p:txBody>
      </p:sp>
    </p:spTree>
    <p:extLst>
      <p:ext uri="{BB962C8B-B14F-4D97-AF65-F5344CB8AC3E}">
        <p14:creationId xmlns:p14="http://schemas.microsoft.com/office/powerpoint/2010/main" val="1801876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80855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11560" y="-211630"/>
            <a:ext cx="5400600" cy="1224136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50"/>
              </a:spcBef>
            </a:pPr>
            <a:r>
              <a:rPr lang="ru-RU" sz="3600" b="1" dirty="0">
                <a:solidFill>
                  <a:srgbClr val="7E858B"/>
                </a:solidFill>
                <a:latin typeface="Tahoma" pitchFamily="34" charset="0"/>
                <a:cs typeface="Tahoma" pitchFamily="34" charset="0"/>
              </a:rPr>
              <a:t>ПРОДАЖИ</a:t>
            </a:r>
          </a:p>
        </p:txBody>
      </p:sp>
    </p:spTree>
    <p:extLst>
      <p:ext uri="{BB962C8B-B14F-4D97-AF65-F5344CB8AC3E}">
        <p14:creationId xmlns:p14="http://schemas.microsoft.com/office/powerpoint/2010/main" val="405476360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5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19" indent="0">
              <a:buNone/>
              <a:defRPr sz="1200"/>
            </a:lvl2pPr>
            <a:lvl3pPr marL="914239" indent="0">
              <a:buNone/>
              <a:defRPr sz="1000"/>
            </a:lvl3pPr>
            <a:lvl4pPr marL="1371358" indent="0">
              <a:buNone/>
              <a:defRPr sz="900"/>
            </a:lvl4pPr>
            <a:lvl5pPr marL="1828477" indent="0">
              <a:buNone/>
              <a:defRPr sz="900"/>
            </a:lvl5pPr>
            <a:lvl6pPr marL="2285596" indent="0">
              <a:buNone/>
              <a:defRPr sz="900"/>
            </a:lvl6pPr>
            <a:lvl7pPr marL="2742716" indent="0">
              <a:buNone/>
              <a:defRPr sz="900"/>
            </a:lvl7pPr>
            <a:lvl8pPr marL="3199835" indent="0">
              <a:buNone/>
              <a:defRPr sz="900"/>
            </a:lvl8pPr>
            <a:lvl9pPr marL="3656954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400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D3F2B770-F2B0-45A3-AEA0-F0A587C1D9EA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11560" y="-211630"/>
            <a:ext cx="5400600" cy="1224136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50"/>
              </a:spcBef>
            </a:pPr>
            <a:r>
              <a:rPr lang="ru-RU" sz="3600" b="1" dirty="0">
                <a:solidFill>
                  <a:srgbClr val="7E858B"/>
                </a:solidFill>
                <a:latin typeface="Tahoma" pitchFamily="34" charset="0"/>
                <a:cs typeface="Tahoma" pitchFamily="34" charset="0"/>
              </a:rPr>
              <a:t>ПРОДАЖИ</a:t>
            </a:r>
          </a:p>
        </p:txBody>
      </p:sp>
    </p:spTree>
    <p:extLst>
      <p:ext uri="{BB962C8B-B14F-4D97-AF65-F5344CB8AC3E}">
        <p14:creationId xmlns:p14="http://schemas.microsoft.com/office/powerpoint/2010/main" val="29645284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19" indent="0">
              <a:buNone/>
              <a:defRPr sz="2800"/>
            </a:lvl2pPr>
            <a:lvl3pPr marL="914239" indent="0">
              <a:buNone/>
              <a:defRPr sz="2400"/>
            </a:lvl3pPr>
            <a:lvl4pPr marL="1371358" indent="0">
              <a:buNone/>
              <a:defRPr sz="2000"/>
            </a:lvl4pPr>
            <a:lvl5pPr marL="1828477" indent="0">
              <a:buNone/>
              <a:defRPr sz="2000"/>
            </a:lvl5pPr>
            <a:lvl6pPr marL="2285596" indent="0">
              <a:buNone/>
              <a:defRPr sz="2000"/>
            </a:lvl6pPr>
            <a:lvl7pPr marL="2742716" indent="0">
              <a:buNone/>
              <a:defRPr sz="2000"/>
            </a:lvl7pPr>
            <a:lvl8pPr marL="3199835" indent="0">
              <a:buNone/>
              <a:defRPr sz="2000"/>
            </a:lvl8pPr>
            <a:lvl9pPr marL="3656954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19" indent="0">
              <a:buNone/>
              <a:defRPr sz="1200"/>
            </a:lvl2pPr>
            <a:lvl3pPr marL="914239" indent="0">
              <a:buNone/>
              <a:defRPr sz="1000"/>
            </a:lvl3pPr>
            <a:lvl4pPr marL="1371358" indent="0">
              <a:buNone/>
              <a:defRPr sz="900"/>
            </a:lvl4pPr>
            <a:lvl5pPr marL="1828477" indent="0">
              <a:buNone/>
              <a:defRPr sz="900"/>
            </a:lvl5pPr>
            <a:lvl6pPr marL="2285596" indent="0">
              <a:buNone/>
              <a:defRPr sz="900"/>
            </a:lvl6pPr>
            <a:lvl7pPr marL="2742716" indent="0">
              <a:buNone/>
              <a:defRPr sz="900"/>
            </a:lvl7pPr>
            <a:lvl8pPr marL="3199835" indent="0">
              <a:buNone/>
              <a:defRPr sz="900"/>
            </a:lvl8pPr>
            <a:lvl9pPr marL="3656954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400" y="6466789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11560" y="-211630"/>
            <a:ext cx="5400600" cy="1224136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50"/>
              </a:spcBef>
            </a:pPr>
            <a:r>
              <a:rPr lang="ru-RU" sz="3600" b="1" dirty="0">
                <a:solidFill>
                  <a:srgbClr val="7E858B"/>
                </a:solidFill>
                <a:latin typeface="Tahoma" pitchFamily="34" charset="0"/>
                <a:cs typeface="Tahoma" pitchFamily="34" charset="0"/>
              </a:rPr>
              <a:t>ПРОДАЖИ</a:t>
            </a:r>
          </a:p>
        </p:txBody>
      </p:sp>
    </p:spTree>
    <p:extLst>
      <p:ext uri="{BB962C8B-B14F-4D97-AF65-F5344CB8AC3E}">
        <p14:creationId xmlns:p14="http://schemas.microsoft.com/office/powerpoint/2010/main" val="2268137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вертикальный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1454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D3F2B770-F2B0-45A3-AEA0-F0A587C1D9EA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611560" y="-211630"/>
            <a:ext cx="5400600" cy="1224136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50"/>
              </a:spcBef>
            </a:pPr>
            <a:r>
              <a:rPr lang="ru-RU" sz="3600" b="1" dirty="0">
                <a:solidFill>
                  <a:srgbClr val="7E858B"/>
                </a:solidFill>
                <a:latin typeface="Tahoma" pitchFamily="34" charset="0"/>
                <a:cs typeface="Tahoma" pitchFamily="34" charset="0"/>
              </a:rPr>
              <a:t>ПРОДАЖИ</a:t>
            </a:r>
          </a:p>
        </p:txBody>
      </p:sp>
    </p:spTree>
    <p:extLst>
      <p:ext uri="{BB962C8B-B14F-4D97-AF65-F5344CB8AC3E}">
        <p14:creationId xmlns:p14="http://schemas.microsoft.com/office/powerpoint/2010/main" val="26073370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4" y="274640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611560" y="-211630"/>
            <a:ext cx="5400600" cy="1224136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50"/>
              </a:spcBef>
            </a:pPr>
            <a:r>
              <a:rPr lang="ru-RU" sz="3600" b="1" dirty="0">
                <a:solidFill>
                  <a:srgbClr val="7E858B"/>
                </a:solidFill>
                <a:latin typeface="Tahoma" pitchFamily="34" charset="0"/>
                <a:cs typeface="Tahoma" pitchFamily="34" charset="0"/>
              </a:rPr>
              <a:t>ПРОДАЖИ</a:t>
            </a:r>
          </a:p>
        </p:txBody>
      </p:sp>
    </p:spTree>
    <p:extLst>
      <p:ext uri="{BB962C8B-B14F-4D97-AF65-F5344CB8AC3E}">
        <p14:creationId xmlns:p14="http://schemas.microsoft.com/office/powerpoint/2010/main" val="202447228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2B770-F2B0-45A3-AEA0-F0A587C1D9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387573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2B770-F2B0-45A3-AEA0-F0A587C1D9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13056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/>
          <p:cNvSpPr txBox="1">
            <a:spLocks/>
          </p:cNvSpPr>
          <p:nvPr userDrawn="1"/>
        </p:nvSpPr>
        <p:spPr>
          <a:xfrm>
            <a:off x="3586808" y="1404370"/>
            <a:ext cx="5400600" cy="2448272"/>
          </a:xfrm>
          <a:prstGeom prst="rect">
            <a:avLst/>
          </a:prstGeom>
        </p:spPr>
        <p:txBody>
          <a:bodyPr vert="horz" lIns="91392" tIns="45696" rIns="91392" bIns="45696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Bef>
                <a:spcPts val="50"/>
              </a:spcBef>
            </a:pPr>
            <a:r>
              <a:rPr lang="ru-RU" sz="42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ЗАО «</a:t>
            </a:r>
            <a:r>
              <a:rPr lang="ru-RU" sz="4200" b="1" dirty="0" err="1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Эмпилс</a:t>
            </a:r>
            <a:r>
              <a:rPr lang="ru-RU" sz="42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»</a:t>
            </a:r>
            <a:br>
              <a:rPr lang="ru-RU" sz="4200" b="1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I квартал 2016 года</a:t>
            </a:r>
            <a:br>
              <a:rPr lang="ru-RU" sz="28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</a:br>
            <a:r>
              <a:rPr lang="ru-RU" sz="2800" dirty="0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Итоги</a:t>
            </a:r>
          </a:p>
          <a:p>
            <a:pPr algn="r"/>
            <a:endParaRPr lang="ru-RU" sz="4200" b="1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3960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93221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8FF0422A-D71E-4DF4-802D-B1DB99857F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566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183" y="4407380"/>
            <a:ext cx="7772943" cy="1362097"/>
          </a:xfrm>
        </p:spPr>
        <p:txBody>
          <a:bodyPr anchor="t"/>
          <a:lstStyle>
            <a:lvl1pPr algn="l">
              <a:defRPr sz="35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183" y="2907058"/>
            <a:ext cx="7772943" cy="1500322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0059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0118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201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60237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20029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40356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80416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20475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89584" y="6481933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8FF0422A-D71E-4DF4-802D-B1DB99857F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23480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474" y="1599673"/>
            <a:ext cx="4049369" cy="452688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37159" y="1599673"/>
            <a:ext cx="4049370" cy="4526884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038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8FF0422A-D71E-4DF4-802D-B1DB99857F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4520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474" y="1534880"/>
            <a:ext cx="4039867" cy="639293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0596" indent="0">
              <a:buNone/>
              <a:defRPr sz="1800" b="1"/>
            </a:lvl2pPr>
            <a:lvl3pPr marL="801188" indent="0">
              <a:buNone/>
              <a:defRPr sz="1600" b="1"/>
            </a:lvl3pPr>
            <a:lvl4pPr marL="1201783" indent="0">
              <a:buNone/>
              <a:defRPr sz="1400" b="1"/>
            </a:lvl4pPr>
            <a:lvl5pPr marL="1602377" indent="0">
              <a:buNone/>
              <a:defRPr sz="1400" b="1"/>
            </a:lvl5pPr>
            <a:lvl6pPr marL="2002973" indent="0">
              <a:buNone/>
              <a:defRPr sz="1400" b="1"/>
            </a:lvl6pPr>
            <a:lvl7pPr marL="2403567" indent="0">
              <a:buNone/>
              <a:defRPr sz="1400" b="1"/>
            </a:lvl7pPr>
            <a:lvl8pPr marL="2804161" indent="0">
              <a:buNone/>
              <a:defRPr sz="1400" b="1"/>
            </a:lvl8pPr>
            <a:lvl9pPr marL="3204755" indent="0">
              <a:buNone/>
              <a:defRPr sz="14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474" y="2174174"/>
            <a:ext cx="4039867" cy="395238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306" y="1534880"/>
            <a:ext cx="4041225" cy="639293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400596" indent="0">
              <a:buNone/>
              <a:defRPr sz="1800" b="1"/>
            </a:lvl2pPr>
            <a:lvl3pPr marL="801188" indent="0">
              <a:buNone/>
              <a:defRPr sz="1600" b="1"/>
            </a:lvl3pPr>
            <a:lvl4pPr marL="1201783" indent="0">
              <a:buNone/>
              <a:defRPr sz="1400" b="1"/>
            </a:lvl4pPr>
            <a:lvl5pPr marL="1602377" indent="0">
              <a:buNone/>
              <a:defRPr sz="1400" b="1"/>
            </a:lvl5pPr>
            <a:lvl6pPr marL="2002973" indent="0">
              <a:buNone/>
              <a:defRPr sz="1400" b="1"/>
            </a:lvl6pPr>
            <a:lvl7pPr marL="2403567" indent="0">
              <a:buNone/>
              <a:defRPr sz="1400" b="1"/>
            </a:lvl7pPr>
            <a:lvl8pPr marL="2804161" indent="0">
              <a:buNone/>
              <a:defRPr sz="1400" b="1"/>
            </a:lvl8pPr>
            <a:lvl9pPr marL="3204755" indent="0">
              <a:buNone/>
              <a:defRPr sz="14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306" y="2174174"/>
            <a:ext cx="4041225" cy="3952385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010038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8FF0422A-D71E-4DF4-802D-B1DB99857F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7742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01247" y="6493721"/>
            <a:ext cx="2133962" cy="364281"/>
          </a:xfrm>
        </p:spPr>
        <p:txBody>
          <a:bodyPr vert="horz" lIns="80119" tIns="40060" rIns="80119" bIns="40060" rtlCol="0" anchor="ctr"/>
          <a:lstStyle>
            <a:lvl1pPr>
              <a:defRPr lang="ru-RU" sz="1200" b="1" smtClean="0">
                <a:latin typeface="Tahoma" pitchFamily="34" charset="0"/>
                <a:cs typeface="Tahoma" pitchFamily="34" charset="0"/>
              </a:defRPr>
            </a:lvl1pPr>
          </a:lstStyle>
          <a:p>
            <a:fld id="{8FF0422A-D71E-4DF4-802D-B1DB99857F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49893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95416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8FF0422A-D71E-4DF4-802D-B1DB99857F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29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474" y="273574"/>
            <a:ext cx="3008181" cy="1161958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610" y="273571"/>
            <a:ext cx="5110921" cy="5852986"/>
          </a:xfrm>
        </p:spPr>
        <p:txBody>
          <a:bodyPr/>
          <a:lstStyle>
            <a:lvl1pPr>
              <a:defRPr sz="2800"/>
            </a:lvl1pPr>
            <a:lvl2pPr>
              <a:defRPr sz="25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474" y="1435532"/>
            <a:ext cx="3008181" cy="4691027"/>
          </a:xfrm>
        </p:spPr>
        <p:txBody>
          <a:bodyPr/>
          <a:lstStyle>
            <a:lvl1pPr marL="0" indent="0">
              <a:buNone/>
              <a:defRPr sz="1200"/>
            </a:lvl1pPr>
            <a:lvl2pPr marL="400596" indent="0">
              <a:buNone/>
              <a:defRPr sz="1100"/>
            </a:lvl2pPr>
            <a:lvl3pPr marL="801188" indent="0">
              <a:buNone/>
              <a:defRPr sz="900"/>
            </a:lvl3pPr>
            <a:lvl4pPr marL="1201783" indent="0">
              <a:buNone/>
              <a:defRPr sz="800"/>
            </a:lvl4pPr>
            <a:lvl5pPr marL="1602377" indent="0">
              <a:buNone/>
              <a:defRPr sz="800"/>
            </a:lvl5pPr>
            <a:lvl6pPr marL="2002973" indent="0">
              <a:buNone/>
              <a:defRPr sz="800"/>
            </a:lvl6pPr>
            <a:lvl7pPr marL="2403567" indent="0">
              <a:buNone/>
              <a:defRPr sz="800"/>
            </a:lvl7pPr>
            <a:lvl8pPr marL="2804161" indent="0">
              <a:buNone/>
              <a:defRPr sz="800"/>
            </a:lvl8pPr>
            <a:lvl9pPr marL="3204755" indent="0">
              <a:buNone/>
              <a:defRPr sz="8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038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8FF0422A-D71E-4DF4-802D-B1DB99857F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5662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1879" y="4800456"/>
            <a:ext cx="5486943" cy="56730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1879" y="613376"/>
            <a:ext cx="5486943" cy="4113648"/>
          </a:xfrm>
        </p:spPr>
        <p:txBody>
          <a:bodyPr/>
          <a:lstStyle>
            <a:lvl1pPr marL="0" indent="0">
              <a:buNone/>
              <a:defRPr sz="2800"/>
            </a:lvl1pPr>
            <a:lvl2pPr marL="400596" indent="0">
              <a:buNone/>
              <a:defRPr sz="2500"/>
            </a:lvl2pPr>
            <a:lvl3pPr marL="801188" indent="0">
              <a:buNone/>
              <a:defRPr sz="2100"/>
            </a:lvl3pPr>
            <a:lvl4pPr marL="1201783" indent="0">
              <a:buNone/>
              <a:defRPr sz="1800"/>
            </a:lvl4pPr>
            <a:lvl5pPr marL="1602377" indent="0">
              <a:buNone/>
              <a:defRPr sz="1800"/>
            </a:lvl5pPr>
            <a:lvl6pPr marL="2002973" indent="0">
              <a:buNone/>
              <a:defRPr sz="1800"/>
            </a:lvl6pPr>
            <a:lvl7pPr marL="2403567" indent="0">
              <a:buNone/>
              <a:defRPr sz="1800"/>
            </a:lvl7pPr>
            <a:lvl8pPr marL="2804161" indent="0">
              <a:buNone/>
              <a:defRPr sz="1800"/>
            </a:lvl8pPr>
            <a:lvl9pPr marL="3204755" indent="0">
              <a:buNone/>
              <a:defRPr sz="18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1879" y="5367757"/>
            <a:ext cx="5486943" cy="804876"/>
          </a:xfrm>
        </p:spPr>
        <p:txBody>
          <a:bodyPr/>
          <a:lstStyle>
            <a:lvl1pPr marL="0" indent="0">
              <a:buNone/>
              <a:defRPr sz="1200"/>
            </a:lvl1pPr>
            <a:lvl2pPr marL="400596" indent="0">
              <a:buNone/>
              <a:defRPr sz="1100"/>
            </a:lvl2pPr>
            <a:lvl3pPr marL="801188" indent="0">
              <a:buNone/>
              <a:defRPr sz="900"/>
            </a:lvl3pPr>
            <a:lvl4pPr marL="1201783" indent="0">
              <a:buNone/>
              <a:defRPr sz="800"/>
            </a:lvl4pPr>
            <a:lvl5pPr marL="1602377" indent="0">
              <a:buNone/>
              <a:defRPr sz="800"/>
            </a:lvl5pPr>
            <a:lvl6pPr marL="2002973" indent="0">
              <a:buNone/>
              <a:defRPr sz="800"/>
            </a:lvl6pPr>
            <a:lvl7pPr marL="2403567" indent="0">
              <a:buNone/>
              <a:defRPr sz="800"/>
            </a:lvl7pPr>
            <a:lvl8pPr marL="2804161" indent="0">
              <a:buNone/>
              <a:defRPr sz="800"/>
            </a:lvl8pPr>
            <a:lvl9pPr marL="3204755" indent="0">
              <a:buNone/>
              <a:defRPr sz="8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03819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8FF0422A-D71E-4DF4-802D-B1DB99857F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604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038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8FF0422A-D71E-4DF4-802D-B1DB99857F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5046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943" y="275014"/>
            <a:ext cx="2056586" cy="585154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474" y="275014"/>
            <a:ext cx="6042153" cy="585154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23131" y="6493721"/>
            <a:ext cx="2133962" cy="364281"/>
          </a:xfrm>
        </p:spPr>
        <p:txBody>
          <a:bodyPr/>
          <a:lstStyle>
            <a:lvl1pPr>
              <a:defRPr sz="1200" b="1">
                <a:latin typeface="Tahoma" pitchFamily="34" charset="0"/>
                <a:cs typeface="Tahoma" pitchFamily="34" charset="0"/>
              </a:defRPr>
            </a:lvl1pPr>
          </a:lstStyle>
          <a:p>
            <a:fld id="{8FF0422A-D71E-4DF4-802D-B1DB99857FA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2167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0" hasCustomPrompt="1"/>
          </p:nvPr>
        </p:nvSpPr>
        <p:spPr>
          <a:xfrm>
            <a:off x="4139952" y="1412776"/>
            <a:ext cx="5004048" cy="2304603"/>
          </a:xfrm>
        </p:spPr>
        <p:txBody>
          <a:bodyPr/>
          <a:lstStyle>
            <a:lvl1pPr marL="0" indent="0">
              <a:buNone/>
              <a:defRPr sz="4000" b="1">
                <a:solidFill>
                  <a:schemeClr val="bg1"/>
                </a:solidFill>
                <a:latin typeface="Tahoma" pitchFamily="34" charset="0"/>
                <a:cs typeface="Tahoma" pitchFamily="34" charset="0"/>
              </a:defRPr>
            </a:lvl1pPr>
            <a:lvl2pPr marL="457119" indent="0">
              <a:buNone/>
              <a:defRPr>
                <a:solidFill>
                  <a:schemeClr val="bg1"/>
                </a:solidFill>
                <a:latin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16663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466789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25370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раздел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5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1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23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35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4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59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71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83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9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953647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05246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817788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4" y="1535115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19" indent="0">
              <a:buNone/>
              <a:defRPr sz="2000" b="1"/>
            </a:lvl2pPr>
            <a:lvl3pPr marL="914239" indent="0">
              <a:buNone/>
              <a:defRPr sz="1800" b="1"/>
            </a:lvl3pPr>
            <a:lvl4pPr marL="1371358" indent="0">
              <a:buNone/>
              <a:defRPr sz="1600" b="1"/>
            </a:lvl4pPr>
            <a:lvl5pPr marL="1828477" indent="0">
              <a:buNone/>
              <a:defRPr sz="1600" b="1"/>
            </a:lvl5pPr>
            <a:lvl6pPr marL="2285596" indent="0">
              <a:buNone/>
              <a:defRPr sz="1600" b="1"/>
            </a:lvl6pPr>
            <a:lvl7pPr marL="2742716" indent="0">
              <a:buNone/>
              <a:defRPr sz="1600" b="1"/>
            </a:lvl7pPr>
            <a:lvl8pPr marL="3199835" indent="0">
              <a:buNone/>
              <a:defRPr sz="1600" b="1"/>
            </a:lvl8pPr>
            <a:lvl9pPr marL="3656954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4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9" y="1535115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19" indent="0">
              <a:buNone/>
              <a:defRPr sz="2000" b="1"/>
            </a:lvl2pPr>
            <a:lvl3pPr marL="914239" indent="0">
              <a:buNone/>
              <a:defRPr sz="1800" b="1"/>
            </a:lvl3pPr>
            <a:lvl4pPr marL="1371358" indent="0">
              <a:buNone/>
              <a:defRPr sz="1600" b="1"/>
            </a:lvl4pPr>
            <a:lvl5pPr marL="1828477" indent="0">
              <a:buNone/>
              <a:defRPr sz="1600" b="1"/>
            </a:lvl5pPr>
            <a:lvl6pPr marL="2285596" indent="0">
              <a:buNone/>
              <a:defRPr sz="1600" b="1"/>
            </a:lvl6pPr>
            <a:lvl7pPr marL="2742716" indent="0">
              <a:buNone/>
              <a:defRPr sz="1600" b="1"/>
            </a:lvl7pPr>
            <a:lvl8pPr marL="3199835" indent="0">
              <a:buNone/>
              <a:defRPr sz="1600" b="1"/>
            </a:lvl8pPr>
            <a:lvl9pPr marL="3656954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004181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5151020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7010400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8018762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80855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547636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5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19" indent="0">
              <a:buNone/>
              <a:defRPr sz="1200"/>
            </a:lvl2pPr>
            <a:lvl3pPr marL="914239" indent="0">
              <a:buNone/>
              <a:defRPr sz="1000"/>
            </a:lvl3pPr>
            <a:lvl4pPr marL="1371358" indent="0">
              <a:buNone/>
              <a:defRPr sz="900"/>
            </a:lvl4pPr>
            <a:lvl5pPr marL="1828477" indent="0">
              <a:buNone/>
              <a:defRPr sz="900"/>
            </a:lvl5pPr>
            <a:lvl6pPr marL="2285596" indent="0">
              <a:buNone/>
              <a:defRPr sz="900"/>
            </a:lvl6pPr>
            <a:lvl7pPr marL="2742716" indent="0">
              <a:buNone/>
              <a:defRPr sz="900"/>
            </a:lvl7pPr>
            <a:lvl8pPr marL="3199835" indent="0">
              <a:buNone/>
              <a:defRPr sz="900"/>
            </a:lvl8pPr>
            <a:lvl9pPr marL="3656954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400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645284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2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6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19" indent="0">
              <a:buNone/>
              <a:defRPr sz="2800"/>
            </a:lvl2pPr>
            <a:lvl3pPr marL="914239" indent="0">
              <a:buNone/>
              <a:defRPr sz="2400"/>
            </a:lvl3pPr>
            <a:lvl4pPr marL="1371358" indent="0">
              <a:buNone/>
              <a:defRPr sz="2000"/>
            </a:lvl4pPr>
            <a:lvl5pPr marL="1828477" indent="0">
              <a:buNone/>
              <a:defRPr sz="2000"/>
            </a:lvl5pPr>
            <a:lvl6pPr marL="2285596" indent="0">
              <a:buNone/>
              <a:defRPr sz="2000"/>
            </a:lvl6pPr>
            <a:lvl7pPr marL="2742716" indent="0">
              <a:buNone/>
              <a:defRPr sz="2000"/>
            </a:lvl7pPr>
            <a:lvl8pPr marL="3199835" indent="0">
              <a:buNone/>
              <a:defRPr sz="2000"/>
            </a:lvl8pPr>
            <a:lvl9pPr marL="3656954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19" indent="0">
              <a:buNone/>
              <a:defRPr sz="1200"/>
            </a:lvl2pPr>
            <a:lvl3pPr marL="914239" indent="0">
              <a:buNone/>
              <a:defRPr sz="1000"/>
            </a:lvl3pPr>
            <a:lvl4pPr marL="1371358" indent="0">
              <a:buNone/>
              <a:defRPr sz="900"/>
            </a:lvl4pPr>
            <a:lvl5pPr marL="1828477" indent="0">
              <a:buNone/>
              <a:defRPr sz="900"/>
            </a:lvl5pPr>
            <a:lvl6pPr marL="2285596" indent="0">
              <a:buNone/>
              <a:defRPr sz="900"/>
            </a:lvl6pPr>
            <a:lvl7pPr marL="2742716" indent="0">
              <a:buNone/>
              <a:defRPr sz="900"/>
            </a:lvl7pPr>
            <a:lvl8pPr marL="3199835" indent="0">
              <a:buNone/>
              <a:defRPr sz="900"/>
            </a:lvl8pPr>
            <a:lvl9pPr marL="3656954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7010400" y="6466789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268137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вертикальный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1454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073370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ертикальный заголовок и текс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4" y="274640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10400" y="6492876"/>
            <a:ext cx="2133600" cy="365125"/>
          </a:xfr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244722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2B770-F2B0-45A3-AEA0-F0A587C1D9EA}" type="slidenum">
              <a:rPr lang="ru-RU" smtClean="0"/>
              <a:t>‹#›</a:t>
            </a:fld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17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07888"/>
            <a:ext cx="7772400" cy="1470025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2B770-F2B0-45A3-AEA0-F0A587C1D9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130564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1796234"/>
            <a:ext cx="6400800" cy="653106"/>
          </a:xfrm>
          <a:prstGeom prst="rect">
            <a:avLst/>
          </a:prstGeom>
        </p:spPr>
        <p:txBody>
          <a:bodyPr lIns="80147" tIns="40074" rIns="80147" bIns="40074"/>
          <a:lstStyle>
            <a:lvl1pPr marL="0" indent="0" algn="ctr">
              <a:buNone/>
              <a:defRPr>
                <a:solidFill>
                  <a:srgbClr val="7E858B"/>
                </a:solidFill>
              </a:defRPr>
            </a:lvl1pPr>
            <a:lvl2pPr marL="4571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4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5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7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  <p:sp>
        <p:nvSpPr>
          <p:cNvPr id="8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95416" y="6493721"/>
            <a:ext cx="2133962" cy="364281"/>
          </a:xfrm>
          <a:prstGeom prst="rect">
            <a:avLst/>
          </a:prstGeom>
        </p:spPr>
        <p:txBody>
          <a:bodyPr vert="horz" lIns="80133" tIns="40067" rIns="80133" bIns="40067" rtlCol="0" anchor="ctr"/>
          <a:lstStyle>
            <a:lvl1pPr>
              <a:defRPr lang="ru-RU" sz="1200" b="1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pPr algn="r"/>
            <a:fld id="{8FF0422A-D71E-4DF4-802D-B1DB99857FAA}" type="slidenum">
              <a:rPr lang="ru-RU" smtClean="0"/>
              <a:pPr algn="r"/>
              <a:t>‹#›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467544" y="116632"/>
            <a:ext cx="8229600" cy="1143000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>
            <a:lvl1pPr>
              <a:defRPr lang="ru-RU" sz="3600" b="1">
                <a:solidFill>
                  <a:srgbClr val="7E858B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pPr marL="0" lvl="0" algn="l" defTabSz="914400">
              <a:spcBef>
                <a:spcPts val="50"/>
              </a:spcBef>
            </a:pPr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9" name="Дата 1"/>
          <p:cNvSpPr>
            <a:spLocks noGrp="1"/>
          </p:cNvSpPr>
          <p:nvPr>
            <p:ph type="dt" sz="half" idx="10"/>
          </p:nvPr>
        </p:nvSpPr>
        <p:spPr>
          <a:xfrm>
            <a:off x="457472" y="6356934"/>
            <a:ext cx="2133962" cy="364281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66639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2804" y="947196"/>
            <a:ext cx="8127839" cy="5094229"/>
          </a:xfrm>
          <a:prstGeom prst="rect">
            <a:avLst/>
          </a:prstGeom>
        </p:spPr>
        <p:txBody>
          <a:bodyPr lIns="80147" tIns="40074" rIns="80147" bIns="40074"/>
          <a:lstStyle>
            <a:lvl1pPr>
              <a:defRPr sz="3200" b="1">
                <a:latin typeface="Tahoma" pitchFamily="34" charset="0"/>
                <a:cs typeface="Tahoma" pitchFamily="34" charset="0"/>
              </a:defRPr>
            </a:lvl1pPr>
            <a:lvl2pPr>
              <a:defRPr>
                <a:latin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</p:txBody>
      </p:sp>
      <p:sp>
        <p:nvSpPr>
          <p:cNvPr id="5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95416" y="6493721"/>
            <a:ext cx="2133962" cy="364281"/>
          </a:xfrm>
          <a:prstGeom prst="rect">
            <a:avLst/>
          </a:prstGeom>
        </p:spPr>
        <p:txBody>
          <a:bodyPr vert="horz" lIns="80133" tIns="40067" rIns="80133" bIns="40067" rtlCol="0" anchor="ctr"/>
          <a:lstStyle>
            <a:lvl1pPr>
              <a:defRPr lang="ru-RU" sz="1200" b="1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pPr algn="r"/>
            <a:fld id="{8FF0422A-D71E-4DF4-802D-B1DB99857FAA}" type="slidenum">
              <a:rPr lang="ru-RU" smtClean="0"/>
              <a:pPr algn="r"/>
              <a:t>‹#›</a:t>
            </a:fld>
            <a:endParaRPr lang="ru-RU"/>
          </a:p>
        </p:txBody>
      </p:sp>
      <p:sp>
        <p:nvSpPr>
          <p:cNvPr id="6" name="Дата 1"/>
          <p:cNvSpPr>
            <a:spLocks noGrp="1"/>
          </p:cNvSpPr>
          <p:nvPr>
            <p:ph type="dt" sz="half" idx="10"/>
          </p:nvPr>
        </p:nvSpPr>
        <p:spPr>
          <a:xfrm>
            <a:off x="457472" y="6356934"/>
            <a:ext cx="2133962" cy="364281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3707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2804" y="947196"/>
            <a:ext cx="8127839" cy="5094229"/>
          </a:xfrm>
          <a:prstGeom prst="rect">
            <a:avLst/>
          </a:prstGeom>
        </p:spPr>
        <p:txBody>
          <a:bodyPr lIns="80147" tIns="40074" rIns="80147" bIns="40074"/>
          <a:lstStyle>
            <a:lvl1pPr>
              <a:defRPr sz="3200" b="1">
                <a:latin typeface="Tahoma" pitchFamily="34" charset="0"/>
                <a:cs typeface="Tahoma" pitchFamily="34" charset="0"/>
              </a:defRPr>
            </a:lvl1pPr>
            <a:lvl2pPr>
              <a:defRPr>
                <a:latin typeface="Tahoma" pitchFamily="34" charset="0"/>
                <a:cs typeface="Tahoma" pitchFamily="34" charset="0"/>
              </a:defRPr>
            </a:lvl2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95416" y="6493721"/>
            <a:ext cx="2133962" cy="364281"/>
          </a:xfrm>
          <a:prstGeom prst="rect">
            <a:avLst/>
          </a:prstGeom>
        </p:spPr>
        <p:txBody>
          <a:bodyPr vert="horz" lIns="80133" tIns="40067" rIns="80133" bIns="40067" rtlCol="0" anchor="ctr"/>
          <a:lstStyle>
            <a:lvl1pPr>
              <a:defRPr lang="ru-RU" sz="1200" b="1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pPr algn="r"/>
            <a:fld id="{8FF0422A-D71E-4DF4-802D-B1DB99857FAA}" type="slidenum">
              <a:rPr lang="ru-RU" smtClean="0"/>
              <a:pPr algn="r"/>
              <a:t>‹#›</a:t>
            </a:fld>
            <a:endParaRPr lang="ru-RU"/>
          </a:p>
        </p:txBody>
      </p:sp>
      <p:sp>
        <p:nvSpPr>
          <p:cNvPr id="5" name="Дата 1"/>
          <p:cNvSpPr>
            <a:spLocks noGrp="1"/>
          </p:cNvSpPr>
          <p:nvPr>
            <p:ph type="dt" sz="half" idx="10"/>
          </p:nvPr>
        </p:nvSpPr>
        <p:spPr>
          <a:xfrm>
            <a:off x="457472" y="6356934"/>
            <a:ext cx="2133962" cy="364281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3962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472" y="6356934"/>
            <a:ext cx="2133962" cy="364281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3568" y="6356934"/>
            <a:ext cx="2896867" cy="364281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95416" y="6493721"/>
            <a:ext cx="2133962" cy="364281"/>
          </a:xfrm>
          <a:prstGeom prst="rect">
            <a:avLst/>
          </a:prstGeom>
        </p:spPr>
        <p:txBody>
          <a:bodyPr vert="horz" lIns="80133" tIns="40067" rIns="80133" bIns="40067" rtlCol="0" anchor="ctr"/>
          <a:lstStyle>
            <a:lvl1pPr>
              <a:defRPr lang="ru-RU" sz="1200" b="1" smtClean="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pPr algn="r"/>
            <a:fld id="{8FF0422A-D71E-4DF4-802D-B1DB99857FAA}" type="slidenum">
              <a:rPr lang="ru-RU" smtClean="0"/>
              <a:pPr algn="r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29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6426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457201" y="6356353"/>
            <a:ext cx="2133600" cy="365125"/>
          </a:xfrm>
          <a:prstGeom prst="rect">
            <a:avLst/>
          </a:prstGeom>
        </p:spPr>
        <p:txBody>
          <a:bodyPr/>
          <a:lstStyle/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124204" y="6356353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980855" y="6492876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6"/>
          <p:cNvSpPr>
            <a:spLocks noGrp="1"/>
          </p:cNvSpPr>
          <p:nvPr>
            <p:ph sz="quarter" idx="13" hasCustomPrompt="1"/>
          </p:nvPr>
        </p:nvSpPr>
        <p:spPr>
          <a:xfrm>
            <a:off x="539552" y="260648"/>
            <a:ext cx="4465637" cy="1152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latin typeface="Tahoma" pitchFamily="34" charset="0"/>
                <a:cs typeface="Tahoma" pitchFamily="34" charset="0"/>
              </a:defRPr>
            </a:lvl1pPr>
          </a:lstStyle>
          <a:p>
            <a:pPr lvl="0"/>
            <a:r>
              <a:rPr lang="ru-RU" dirty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94740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1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image" Target="../media/image2.jpe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3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82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5" Type="http://schemas.openxmlformats.org/officeDocument/2006/relationships/image" Target="../media/image7.jpg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Relationship Id="rId1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image" Target="../media/image7.jpg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image" Target="../media/image1.jpe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Relationship Id="rId1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5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4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6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6.xml"/><Relationship Id="rId13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21.xml"/><Relationship Id="rId7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9.xml"/><Relationship Id="rId5" Type="http://schemas.openxmlformats.org/officeDocument/2006/relationships/slideLayout" Target="../slideLayouts/slideLayout123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28.xml"/><Relationship Id="rId4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7.xml"/><Relationship Id="rId1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slideLayout" Target="../slideLayouts/slideLayout134.xml"/><Relationship Id="rId7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32.xml"/><Relationship Id="rId6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36.xml"/><Relationship Id="rId4" Type="http://schemas.openxmlformats.org/officeDocument/2006/relationships/slideLayout" Target="../slideLayouts/slideLayout1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27384"/>
            <a:ext cx="9244264" cy="688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549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93A0BAA-312A-4178-B1CD-D8724F85D7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9180512" cy="688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27384"/>
            <a:ext cx="9244264" cy="688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473" y="275013"/>
            <a:ext cx="8229057" cy="1143240"/>
          </a:xfrm>
          <a:prstGeom prst="rect">
            <a:avLst/>
          </a:prstGeom>
        </p:spPr>
        <p:txBody>
          <a:bodyPr vert="horz" lIns="80133" tIns="40067" rIns="80133" bIns="40067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473" y="1599673"/>
            <a:ext cx="8229057" cy="4526884"/>
          </a:xfrm>
          <a:prstGeom prst="rect">
            <a:avLst/>
          </a:prstGeom>
        </p:spPr>
        <p:txBody>
          <a:bodyPr vert="horz" lIns="80133" tIns="40067" rIns="80133" bIns="40067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472" y="6356934"/>
            <a:ext cx="2133962" cy="364281"/>
          </a:xfrm>
          <a:prstGeom prst="rect">
            <a:avLst/>
          </a:prstGeom>
        </p:spPr>
        <p:txBody>
          <a:bodyPr vert="horz" lIns="80133" tIns="40067" rIns="80133" bIns="40067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3568" y="6356934"/>
            <a:ext cx="2896867" cy="364281"/>
          </a:xfrm>
          <a:prstGeom prst="rect">
            <a:avLst/>
          </a:prstGeom>
        </p:spPr>
        <p:txBody>
          <a:bodyPr vert="horz" lIns="80133" tIns="40067" rIns="80133" bIns="40067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2567" y="6356934"/>
            <a:ext cx="2133962" cy="364281"/>
          </a:xfrm>
          <a:prstGeom prst="rect">
            <a:avLst/>
          </a:prstGeom>
        </p:spPr>
        <p:txBody>
          <a:bodyPr vert="horz" lIns="80133" tIns="40067" rIns="80133" bIns="40067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19D15-D027-4FE4-8CAE-41F683BA78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96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80133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499" indent="-300499" algn="l" defTabSz="80133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1081" indent="-250416" algn="l" defTabSz="80133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01663" indent="-200333" algn="l" defTabSz="80133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02327" indent="-200333" algn="l" defTabSz="80133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2993" indent="-200333" algn="l" defTabSz="80133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3658" indent="-200333" algn="l" defTabSz="80133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4323" indent="-200333" algn="l" defTabSz="80133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4989" indent="-200333" algn="l" defTabSz="80133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5653" indent="-200333" algn="l" defTabSz="80133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0666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1330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1995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660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3326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3991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4656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5320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27384"/>
            <a:ext cx="9244264" cy="688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549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20.04.2016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F76AE-F144-4C00-8627-AD0468BCDDB4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27384"/>
            <a:ext cx="9244264" cy="688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549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93A0BAA-312A-4178-B1CD-D8724F85D75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7384"/>
            <a:ext cx="9180512" cy="688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27384"/>
            <a:ext cx="9244264" cy="688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444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20.04.2016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1F76AE-F144-4C00-8627-AD0468BCDDB4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27384"/>
            <a:ext cx="9244264" cy="6885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5496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24" tIns="45712" rIns="91424" bIns="45712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353"/>
            <a:ext cx="2133600" cy="365125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4" y="6356353"/>
            <a:ext cx="2895600" cy="365125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4" y="6356353"/>
            <a:ext cx="2133600" cy="365125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13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</p:sldLayoutIdLst>
  <p:transition spd="slow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23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9" indent="-342839" algn="l" defTabSz="914239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19" indent="-285700" algn="l" defTabSz="914239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98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18" indent="-228560" algn="l" defTabSz="91423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7" indent="-228560" algn="l" defTabSz="91423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56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5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5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4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5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4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473" y="275013"/>
            <a:ext cx="8229057" cy="1143240"/>
          </a:xfrm>
          <a:prstGeom prst="rect">
            <a:avLst/>
          </a:prstGeom>
        </p:spPr>
        <p:txBody>
          <a:bodyPr vert="horz" lIns="80133" tIns="40067" rIns="80133" bIns="40067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473" y="1599673"/>
            <a:ext cx="8229057" cy="4526884"/>
          </a:xfrm>
          <a:prstGeom prst="rect">
            <a:avLst/>
          </a:prstGeom>
        </p:spPr>
        <p:txBody>
          <a:bodyPr vert="horz" lIns="80133" tIns="40067" rIns="80133" bIns="40067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472" y="6356934"/>
            <a:ext cx="2133962" cy="364281"/>
          </a:xfrm>
          <a:prstGeom prst="rect">
            <a:avLst/>
          </a:prstGeom>
        </p:spPr>
        <p:txBody>
          <a:bodyPr vert="horz" lIns="80133" tIns="40067" rIns="80133" bIns="40067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3568" y="6356934"/>
            <a:ext cx="2896867" cy="364281"/>
          </a:xfrm>
          <a:prstGeom prst="rect">
            <a:avLst/>
          </a:prstGeom>
        </p:spPr>
        <p:txBody>
          <a:bodyPr vert="horz" lIns="80133" tIns="40067" rIns="80133" bIns="40067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2567" y="6356934"/>
            <a:ext cx="2133962" cy="364281"/>
          </a:xfrm>
          <a:prstGeom prst="rect">
            <a:avLst/>
          </a:prstGeom>
        </p:spPr>
        <p:txBody>
          <a:bodyPr vert="horz" lIns="80133" tIns="40067" rIns="80133" bIns="40067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F0422A-D71E-4DF4-802D-B1DB99857F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96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801330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0499" indent="-300499" algn="l" defTabSz="80133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1081" indent="-250416" algn="l" defTabSz="801330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001663" indent="-200333" algn="l" defTabSz="801330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402327" indent="-200333" algn="l" defTabSz="80133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2993" indent="-200333" algn="l" defTabSz="80133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03658" indent="-200333" algn="l" defTabSz="80133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04323" indent="-200333" algn="l" defTabSz="80133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04989" indent="-200333" algn="l" defTabSz="80133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05653" indent="-200333" algn="l" defTabSz="80133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00666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1330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01995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660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03326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03991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04656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05320" algn="l" defTabSz="80133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24" tIns="45712" rIns="91424" bIns="45712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24" tIns="45712" rIns="91424" bIns="45712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1" y="6356353"/>
            <a:ext cx="2133600" cy="365125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20.04.2016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4" y="6356353"/>
            <a:ext cx="2895600" cy="365125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4" y="6356353"/>
            <a:ext cx="2133600" cy="365125"/>
          </a:xfrm>
          <a:prstGeom prst="rect">
            <a:avLst/>
          </a:prstGeom>
        </p:spPr>
        <p:txBody>
          <a:bodyPr vert="horz" lIns="91424" tIns="45712" rIns="91424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DECA8-22F7-4FC7-8BCE-46F55481FBB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413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</p:sldLayoutIdLst>
  <p:transition spd="slow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ctr" defTabSz="91423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9" indent="-342839" algn="l" defTabSz="914239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19" indent="-285700" algn="l" defTabSz="914239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98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18" indent="-228560" algn="l" defTabSz="91423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7" indent="-228560" algn="l" defTabSz="91423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56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5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5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4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5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4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13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</p:sldLayoutIdLst>
  <p:hf hdr="0" ftr="0" dt="0"/>
  <p:txStyles>
    <p:titleStyle>
      <a:lvl1pPr algn="ctr" defTabSz="91423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39" indent="-342839" algn="l" defTabSz="914239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19" indent="-285700" algn="l" defTabSz="914239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98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918" indent="-228560" algn="l" defTabSz="914239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037" indent="-228560" algn="l" defTabSz="914239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56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75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95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14" indent="-228560" algn="l" defTabSz="91423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39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58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77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9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16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35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54" algn="l" defTabSz="91423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5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karetin@empils.ru" TargetMode="External"/><Relationship Id="rId2" Type="http://schemas.openxmlformats.org/officeDocument/2006/relationships/hyperlink" Target="mailto:nikolaenko@empils.ru" TargetMode="External"/><Relationship Id="rId1" Type="http://schemas.openxmlformats.org/officeDocument/2006/relationships/slideLayout" Target="../slideLayouts/slideLayout1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4211960" y="1412776"/>
            <a:ext cx="4932040" cy="1440160"/>
          </a:xfrm>
        </p:spPr>
        <p:txBody>
          <a:bodyPr>
            <a:normAutofit/>
          </a:bodyPr>
          <a:lstStyle/>
          <a:p>
            <a:pPr algn="ctr"/>
            <a:r>
              <a:rPr lang="ru-RU" sz="2800" b="0" dirty="0" smtClean="0">
                <a:latin typeface="Tahoma" pitchFamily="34" charset="0"/>
                <a:ea typeface="+mn-ea"/>
                <a:cs typeface="Tahoma" pitchFamily="34" charset="0"/>
              </a:rPr>
              <a:t>Презентация по </a:t>
            </a:r>
            <a:r>
              <a:rPr lang="ru-RU" sz="2800" b="0" dirty="0" err="1" smtClean="0">
                <a:latin typeface="Tahoma" pitchFamily="34" charset="0"/>
                <a:ea typeface="+mn-ea"/>
                <a:cs typeface="Tahoma" pitchFamily="34" charset="0"/>
              </a:rPr>
              <a:t>колеровочному</a:t>
            </a:r>
            <a:r>
              <a:rPr lang="ru-RU" sz="2800" b="0" dirty="0" smtClean="0">
                <a:latin typeface="Tahoma" pitchFamily="34" charset="0"/>
                <a:ea typeface="+mn-ea"/>
                <a:cs typeface="Tahoma" pitchFamily="34" charset="0"/>
              </a:rPr>
              <a:t> оборудованию</a:t>
            </a:r>
            <a:endParaRPr lang="ru-RU" sz="2800" b="0" dirty="0">
              <a:latin typeface="Tahoma" pitchFamily="34" charset="0"/>
              <a:ea typeface="+mn-ea"/>
              <a:cs typeface="Tahoma" pitchFamily="34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4139952" y="3861048"/>
            <a:ext cx="4392488" cy="1752600"/>
          </a:xfrm>
        </p:spPr>
        <p:txBody>
          <a:bodyPr>
            <a:normAutofit/>
          </a:bodyPr>
          <a:lstStyle/>
          <a:p>
            <a:r>
              <a:rPr lang="ru-RU" sz="2200" b="1" dirty="0">
                <a:solidFill>
                  <a:schemeClr val="bg1">
                    <a:lumMod val="65000"/>
                  </a:schemeClr>
                </a:solidFill>
                <a:latin typeface="Tahoma" pitchFamily="34" charset="0"/>
                <a:cs typeface="Tahoma" pitchFamily="34" charset="0"/>
              </a:rPr>
              <a:t>СЛУЖБА ДИРЕКТОРА ПО </a:t>
            </a:r>
            <a:r>
              <a:rPr lang="ru-RU" sz="2200" b="1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cs typeface="Tahoma" pitchFamily="34" charset="0"/>
              </a:rPr>
              <a:t>ПРОДАЖАМ, </a:t>
            </a:r>
            <a:r>
              <a:rPr lang="ru-RU" sz="2200" b="1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cs typeface="Tahoma" pitchFamily="34" charset="0"/>
              </a:rPr>
              <a:t>2026 </a:t>
            </a:r>
            <a:r>
              <a:rPr lang="ru-RU" sz="2200" b="1" dirty="0" smtClean="0">
                <a:solidFill>
                  <a:schemeClr val="bg1">
                    <a:lumMod val="65000"/>
                  </a:schemeClr>
                </a:solidFill>
                <a:latin typeface="Tahoma" pitchFamily="34" charset="0"/>
                <a:cs typeface="Tahoma" pitchFamily="34" charset="0"/>
              </a:rPr>
              <a:t>г.</a:t>
            </a:r>
            <a:endParaRPr lang="ru-RU" sz="2200" b="1" dirty="0">
              <a:solidFill>
                <a:schemeClr val="bg1">
                  <a:lumMod val="65000"/>
                </a:schemeClr>
              </a:solidFill>
              <a:latin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4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2</a:t>
            </a:fld>
            <a:endParaRPr lang="ru-RU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539552" y="260648"/>
            <a:ext cx="7056784" cy="864096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ctr" defTabSz="914239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 smtClean="0"/>
              <a:t/>
            </a:r>
            <a:br>
              <a:rPr lang="ru-RU" sz="3600" dirty="0" smtClean="0"/>
            </a:br>
            <a:r>
              <a:rPr lang="ru-RU" sz="8000" b="1" dirty="0">
                <a:solidFill>
                  <a:schemeClr val="bg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Условия установки </a:t>
            </a:r>
            <a:r>
              <a:rPr lang="ru-RU" sz="8000" b="1" dirty="0" err="1">
                <a:solidFill>
                  <a:schemeClr val="bg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колеровочного</a:t>
            </a:r>
            <a:r>
              <a:rPr lang="ru-RU" sz="8000" b="1" dirty="0">
                <a:solidFill>
                  <a:schemeClr val="bg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 оборудования в торговой </a:t>
            </a:r>
            <a:r>
              <a:rPr lang="ru-RU" sz="8000" b="1" dirty="0" smtClean="0">
                <a:solidFill>
                  <a:schemeClr val="bg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точке</a:t>
            </a:r>
            <a:r>
              <a:rPr lang="ru-RU" sz="8000" b="1" dirty="0">
                <a:solidFill>
                  <a:schemeClr val="bg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/>
            </a:r>
            <a:br>
              <a:rPr lang="ru-RU" sz="8000" b="1" dirty="0">
                <a:solidFill>
                  <a:schemeClr val="bg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</a:br>
            <a:endParaRPr lang="ru-RU" sz="8000" b="1" dirty="0">
              <a:solidFill>
                <a:schemeClr val="bg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8" name="Объект 2"/>
          <p:cNvSpPr txBox="1">
            <a:spLocks/>
          </p:cNvSpPr>
          <p:nvPr/>
        </p:nvSpPr>
        <p:spPr>
          <a:xfrm>
            <a:off x="671233" y="1133153"/>
            <a:ext cx="8219256" cy="223224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ru-RU" sz="2100" dirty="0" smtClean="0"/>
              <a:t>Наличие в ассортименте всего ассортимента  Базовых продуктов (колеруемой продукции).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100" dirty="0" smtClean="0"/>
              <a:t>Выход </a:t>
            </a:r>
            <a:r>
              <a:rPr lang="ru-RU" sz="2100" dirty="0"/>
              <a:t>во втором сезоне на объемы колеровки не меньше 24 тонны/год (2 тонны/месяц), с одной </a:t>
            </a:r>
            <a:r>
              <a:rPr lang="ru-RU" sz="2100" dirty="0" smtClean="0"/>
              <a:t>машины. Обязательное наличие торговых  марок </a:t>
            </a:r>
            <a:r>
              <a:rPr lang="ru-RU" sz="2100" dirty="0"/>
              <a:t>«</a:t>
            </a:r>
            <a:r>
              <a:rPr lang="en-US" sz="2100" dirty="0" err="1"/>
              <a:t>AvantGarde</a:t>
            </a:r>
            <a:r>
              <a:rPr lang="ru-RU" sz="2100" dirty="0" smtClean="0"/>
              <a:t>», </a:t>
            </a:r>
            <a:r>
              <a:rPr lang="ru-RU" sz="2100" dirty="0"/>
              <a:t>«</a:t>
            </a:r>
            <a:r>
              <a:rPr lang="ru-RU" sz="2100" dirty="0" smtClean="0"/>
              <a:t>N</a:t>
            </a:r>
            <a:r>
              <a:rPr lang="en-US" sz="2100" dirty="0" err="1" smtClean="0"/>
              <a:t>ew</a:t>
            </a:r>
            <a:r>
              <a:rPr lang="ru-RU" sz="2100" dirty="0" smtClean="0"/>
              <a:t>T</a:t>
            </a:r>
            <a:r>
              <a:rPr lang="en-US" sz="2100" dirty="0" smtClean="0"/>
              <a:t>one</a:t>
            </a:r>
            <a:r>
              <a:rPr lang="ru-RU" sz="2100" dirty="0" smtClean="0"/>
              <a:t>» и «ОРЕОЛ».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100" dirty="0" smtClean="0"/>
              <a:t>Предоставление оборудования за условную плату </a:t>
            </a:r>
            <a:r>
              <a:rPr lang="ru-RU" sz="2100" dirty="0" smtClean="0"/>
              <a:t>700 </a:t>
            </a:r>
            <a:r>
              <a:rPr lang="ru-RU" sz="2100" dirty="0" smtClean="0"/>
              <a:t>рублей в месяц. </a:t>
            </a:r>
          </a:p>
          <a:p>
            <a:pPr marL="514350" indent="-514350">
              <a:buFont typeface="Arial" pitchFamily="34" charset="0"/>
              <a:buAutoNum type="arabicPeriod" startAt="3"/>
            </a:pPr>
            <a:endParaRPr lang="ru-RU" sz="2400" dirty="0" smtClean="0"/>
          </a:p>
          <a:p>
            <a:endParaRPr lang="ru-RU" sz="2400" dirty="0"/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671233" y="3580309"/>
            <a:ext cx="8219256" cy="223224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100" dirty="0" smtClean="0"/>
              <a:t>Рекомендованный объем колеровки в месяц:</a:t>
            </a:r>
          </a:p>
          <a:p>
            <a:pPr marL="0" indent="0">
              <a:buNone/>
            </a:pPr>
            <a:r>
              <a:rPr lang="ru-RU" sz="2100" dirty="0" smtClean="0"/>
              <a:t>«N</a:t>
            </a:r>
            <a:r>
              <a:rPr lang="en-US" sz="2100" dirty="0" err="1" smtClean="0"/>
              <a:t>ew</a:t>
            </a:r>
            <a:r>
              <a:rPr lang="ru-RU" sz="2100" dirty="0" smtClean="0"/>
              <a:t>T</a:t>
            </a:r>
            <a:r>
              <a:rPr lang="en-US" sz="2100" dirty="0" smtClean="0"/>
              <a:t>one</a:t>
            </a:r>
            <a:r>
              <a:rPr lang="ru-RU" sz="2100" dirty="0" smtClean="0"/>
              <a:t>» </a:t>
            </a:r>
          </a:p>
          <a:p>
            <a:pPr marL="0" indent="0">
              <a:buNone/>
            </a:pPr>
            <a:r>
              <a:rPr lang="ru-RU" sz="2100" dirty="0" smtClean="0"/>
              <a:t>                                    1 500 кг.</a:t>
            </a:r>
          </a:p>
          <a:p>
            <a:pPr marL="0" indent="0">
              <a:buNone/>
            </a:pPr>
            <a:r>
              <a:rPr lang="ru-RU" sz="2100" dirty="0" smtClean="0"/>
              <a:t>«</a:t>
            </a:r>
            <a:r>
              <a:rPr lang="en-US" sz="2100" dirty="0" err="1" smtClean="0"/>
              <a:t>AvantGarde</a:t>
            </a:r>
            <a:r>
              <a:rPr lang="ru-RU" sz="2100" dirty="0" smtClean="0"/>
              <a:t>»                                   2 000 кг.      </a:t>
            </a:r>
          </a:p>
          <a:p>
            <a:pPr marL="0" indent="0">
              <a:buNone/>
            </a:pPr>
            <a:endParaRPr lang="ru-RU" sz="2100" dirty="0"/>
          </a:p>
          <a:p>
            <a:pPr marL="0" indent="0">
              <a:buNone/>
            </a:pPr>
            <a:r>
              <a:rPr lang="ru-RU" sz="2100" dirty="0" smtClean="0"/>
              <a:t>«ОРЕОЛ».</a:t>
            </a:r>
          </a:p>
          <a:p>
            <a:pPr marL="0" indent="0">
              <a:buNone/>
            </a:pPr>
            <a:endParaRPr lang="ru-RU" sz="2400" dirty="0" smtClean="0"/>
          </a:p>
          <a:p>
            <a:endParaRPr lang="ru-RU" sz="2400" dirty="0"/>
          </a:p>
        </p:txBody>
      </p:sp>
      <p:sp>
        <p:nvSpPr>
          <p:cNvPr id="3" name="Правая фигурная скобка 2"/>
          <p:cNvSpPr/>
          <p:nvPr/>
        </p:nvSpPr>
        <p:spPr>
          <a:xfrm>
            <a:off x="2552050" y="4077072"/>
            <a:ext cx="155448" cy="839316"/>
          </a:xfrm>
          <a:prstGeom prst="rightBrac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авая фигурная скобка 10"/>
          <p:cNvSpPr/>
          <p:nvPr/>
        </p:nvSpPr>
        <p:spPr>
          <a:xfrm>
            <a:off x="4097393" y="4097052"/>
            <a:ext cx="155448" cy="1492188"/>
          </a:xfrm>
          <a:prstGeom prst="rightBrac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343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3</a:t>
            </a:fld>
            <a:endParaRPr lang="ru-RU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855069"/>
              </p:ext>
            </p:extLst>
          </p:nvPr>
        </p:nvGraphicFramePr>
        <p:xfrm>
          <a:off x="827584" y="692696"/>
          <a:ext cx="7920879" cy="4364483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448272"/>
                <a:gridCol w="5472607"/>
              </a:tblGrid>
              <a:tr h="422815">
                <a:tc>
                  <a:txBody>
                    <a:bodyPr/>
                    <a:lstStyle/>
                    <a:p>
                      <a:pPr marL="0" marR="0" indent="0" algn="ctr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 smtClean="0"/>
                        <a:t>Изображение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Наименование / фасовка</a:t>
                      </a:r>
                      <a:endParaRPr lang="ru-RU" sz="1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20093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Краска интерьерная моющаяся </a:t>
                      </a:r>
                      <a:r>
                        <a:rPr lang="en-US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AvantGarde</a:t>
                      </a: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База А</a:t>
                      </a:r>
                      <a:r>
                        <a:rPr lang="ru-RU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и С:</a:t>
                      </a:r>
                    </a:p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0,7/</a:t>
                      </a:r>
                      <a:r>
                        <a:rPr lang="ru-RU" sz="1400" kern="1200" dirty="0" smtClean="0"/>
                        <a:t>4,5 </a:t>
                      </a:r>
                      <a:r>
                        <a:rPr lang="ru-RU" sz="1400" kern="1200" dirty="0" smtClean="0"/>
                        <a:t>л/ 8,5 л</a:t>
                      </a:r>
                      <a:endParaRPr lang="ru-RU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820093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Краска фасадная </a:t>
                      </a:r>
                      <a:r>
                        <a:rPr lang="ru-RU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AvantGarde</a:t>
                      </a: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База А</a:t>
                      </a:r>
                      <a:r>
                        <a:rPr lang="ru-RU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и С:</a:t>
                      </a:r>
                    </a:p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kern="1200" dirty="0" smtClean="0"/>
                        <a:t>4,5 л/ 8,5 л</a:t>
                      </a:r>
                      <a:endParaRPr lang="ru-RU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761309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Краска «NEWTONE INTERIO» </a:t>
                      </a:r>
                      <a:r>
                        <a:rPr lang="ru-RU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суперстойкая</a:t>
                      </a: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интерьерная латексная База А и С: 0,8л/ 4,5 л/ 8,5 л</a:t>
                      </a:r>
                    </a:p>
                  </a:txBody>
                  <a:tcPr anchor="ctr"/>
                </a:tc>
              </a:tr>
              <a:tr h="72008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Краска «</a:t>
                      </a:r>
                      <a:r>
                        <a:rPr lang="it-IT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NEWTONE M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ODERN</a:t>
                      </a:r>
                      <a:r>
                        <a:rPr lang="en-US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PRO</a:t>
                      </a:r>
                      <a:r>
                        <a:rPr lang="ru-RU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»</a:t>
                      </a:r>
                      <a:r>
                        <a:rPr lang="it-IT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фасадная силиконовая </a:t>
                      </a:r>
                    </a:p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База А и С: 0,8л/ 4,5 л/ 8,5 л</a:t>
                      </a:r>
                    </a:p>
                  </a:txBody>
                  <a:tcPr anchor="ctr"/>
                </a:tc>
              </a:tr>
              <a:tr h="820093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Краска «</a:t>
                      </a:r>
                      <a:r>
                        <a:rPr 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NEWTONE LOTUS 3</a:t>
                      </a: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/7/20» моющаяся интерьерная </a:t>
                      </a:r>
                    </a:p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База А и С: 0,8л/ 4,5 л/ 8,5 л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2" name="Заголовок 3"/>
          <p:cNvSpPr txBox="1">
            <a:spLocks/>
          </p:cNvSpPr>
          <p:nvPr/>
        </p:nvSpPr>
        <p:spPr>
          <a:xfrm>
            <a:off x="827584" y="188640"/>
            <a:ext cx="6624736" cy="50405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239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000" b="1" dirty="0">
              <a:solidFill>
                <a:schemeClr val="bg1">
                  <a:lumMod val="50000"/>
                </a:schemeClr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4" name="Заголовок 3"/>
          <p:cNvSpPr txBox="1">
            <a:spLocks/>
          </p:cNvSpPr>
          <p:nvPr/>
        </p:nvSpPr>
        <p:spPr>
          <a:xfrm>
            <a:off x="827584" y="188640"/>
            <a:ext cx="6696744" cy="504056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239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 sz="1600" b="1" dirty="0">
                <a:solidFill>
                  <a:schemeClr val="bg1">
                    <a:lumMod val="50000"/>
                  </a:schemeClr>
                </a:solidFill>
                <a:latin typeface="Tahoma" pitchFamily="34" charset="0"/>
                <a:cs typeface="Tahoma" pitchFamily="34" charset="0"/>
              </a:rPr>
              <a:t>Продукты предназначенные под автоматическую колеровку</a:t>
            </a:r>
          </a:p>
        </p:txBody>
      </p:sp>
      <p:pic>
        <p:nvPicPr>
          <p:cNvPr id="5" name="Picture 3" descr="C:\Users\kozlovskiy\Downloads\3D\3D\NEWTONE\81595_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891" y="3581329"/>
            <a:ext cx="649942" cy="649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C:\Users\kozlovskiy\Downloads\3D\3D\NEWTONE\81574_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883" y="2766409"/>
            <a:ext cx="688557" cy="68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kozlovskiy\Downloads\3D\3D\NEWTONE\81577_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589" y="4365105"/>
            <a:ext cx="667386" cy="641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kozlovskiy\Downloads\3D\3D\NEWTONE\81586_1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16" y="4365104"/>
            <a:ext cx="631455" cy="631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kozlovskiy\Downloads\3D\3D\NEWTONE\81592_1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135" y="4365105"/>
            <a:ext cx="631454" cy="631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U:\10-0 Маркетинг\8_Планы_тайминги_сет_графики\КОЛЕРОВКА\Каретин\Фото\Продукты\Фото\optim\AG INTERIOR MOYKA 5L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1663" y="1156589"/>
            <a:ext cx="633791" cy="777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U:\10-0 Маркетинг\8_Планы_тайминги_сет_графики\КОЛЕРОВКА\Каретин\Фото\Продукты\Фото\optim\AG FASAD 5L_выкрас_БАЗА А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891" y="1988840"/>
            <a:ext cx="618291" cy="75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158110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4</a:t>
            </a:fld>
            <a:endParaRPr lang="ru-RU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067851"/>
              </p:ext>
            </p:extLst>
          </p:nvPr>
        </p:nvGraphicFramePr>
        <p:xfrm>
          <a:off x="827584" y="782954"/>
          <a:ext cx="7920879" cy="5493814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835629"/>
                <a:gridCol w="6085250"/>
              </a:tblGrid>
              <a:tr h="425410">
                <a:tc>
                  <a:txBody>
                    <a:bodyPr/>
                    <a:lstStyle/>
                    <a:p>
                      <a:pPr marL="0" marR="0" indent="0" algn="ctr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 smtClean="0"/>
                        <a:t>Изображение</a:t>
                      </a:r>
                      <a:endParaRPr lang="ru-RU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Наименование / фасовка</a:t>
                      </a:r>
                      <a:endParaRPr lang="ru-RU" sz="16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825128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/>
                        <a:t>Краска «ОРЕОЛ» для интерьеров моющаяся</a:t>
                      </a:r>
                      <a:r>
                        <a:rPr lang="ru-RU" sz="1400" kern="1200" baseline="0" dirty="0" smtClean="0"/>
                        <a:t> </a:t>
                      </a:r>
                      <a:r>
                        <a:rPr lang="ru-RU" sz="1400" kern="1200" dirty="0" smtClean="0"/>
                        <a:t>База А и С: </a:t>
                      </a:r>
                    </a:p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/>
                        <a:t>2,2л/ 9 л</a:t>
                      </a:r>
                      <a:endParaRPr lang="ru-RU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825128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/>
                        <a:t>Краска «ОРЕОЛ» для фасадов База А и С: </a:t>
                      </a:r>
                    </a:p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/>
                        <a:t>4,5 л/ 9 л </a:t>
                      </a:r>
                      <a:endParaRPr lang="ru-RU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825128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Эмаль акриловая «ОРЕОЛ» База А и С: </a:t>
                      </a:r>
                    </a:p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0,9 (0,8) кг / 1,9 кг</a:t>
                      </a:r>
                    </a:p>
                  </a:txBody>
                  <a:tcPr anchor="ctr"/>
                </a:tc>
              </a:tr>
              <a:tr h="86434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Эмаль по пластику «ОРЕОЛ» (белая): </a:t>
                      </a:r>
                    </a:p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0,9 кг</a:t>
                      </a:r>
                    </a:p>
                  </a:txBody>
                  <a:tcPr anchor="ctr"/>
                </a:tc>
              </a:tr>
              <a:tr h="86434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Эмаль «РАСЦВЕТ»</a:t>
                      </a:r>
                      <a:r>
                        <a:rPr lang="ru-RU" sz="14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ПФ-115 Универсальная (белая)</a:t>
                      </a: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</a:p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0,9 кг / 1,9 кг /2,7 кг</a:t>
                      </a:r>
                    </a:p>
                  </a:txBody>
                  <a:tcPr anchor="ctr"/>
                </a:tc>
              </a:tr>
              <a:tr h="864340">
                <a:tc>
                  <a:txBody>
                    <a:bodyPr/>
                    <a:lstStyle/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Эмаль «ПРОСТОКРАШЕНО» ПФ-115 для наружных и внутренних работ (белая) : </a:t>
                      </a:r>
                    </a:p>
                    <a:p>
                      <a:pPr marL="0" marR="0" indent="0" algn="l" defTabSz="80133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0,9 кг / 1,9 кг /2,7 кг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16" y="2931418"/>
            <a:ext cx="849720" cy="70810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966039"/>
            <a:ext cx="1024681" cy="7081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6175" y="3674139"/>
            <a:ext cx="1036915" cy="864096"/>
          </a:xfrm>
          <a:prstGeom prst="rect">
            <a:avLst/>
          </a:prstGeom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142" y="5517232"/>
            <a:ext cx="469900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C:\Users\kozlovskiy\Desktop\11_ФОТОГРАФИИ ДЛЯ КОЛЕРОВОЧНОЙ МАШИНЫ\Расцвет эмаль ПФ-115 глянцевая 0,9 кг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212" y="4509326"/>
            <a:ext cx="1276840" cy="1007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U:\10-0 Маркетинг\8_Планы_тайминги_сет_графики\КОЛЕРОВКА\Каретин\Фото\Продукты\Фото\optim\85910_Краска ВД Ореол для интерьеров моющаяся глубокоматовая (база С) 0,9 л 1,2 кг (2)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184" y="1272212"/>
            <a:ext cx="525804" cy="71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3" descr="U:\10-0 Маркетинг\8_Планы_тайминги_сет_графики\КОЛЕРОВКА\Каретин\Фото\Продукты\Фото\optim\67265_Краска ВД ОРЕОЛ для фасадов (база А) 9 л 12,96 кг_F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758" y="2132856"/>
            <a:ext cx="824656" cy="72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54558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DECA8-22F7-4FC7-8BCE-46F55481FBBB}" type="slidenum">
              <a:rPr lang="ru-RU" smtClean="0"/>
              <a:t>5</a:t>
            </a:fld>
            <a:endParaRPr lang="ru-RU"/>
          </a:p>
        </p:txBody>
      </p:sp>
      <p:sp>
        <p:nvSpPr>
          <p:cNvPr id="4" name="Объект 2"/>
          <p:cNvSpPr>
            <a:spLocks noGrp="1"/>
          </p:cNvSpPr>
          <p:nvPr>
            <p:ph idx="4294967295"/>
          </p:nvPr>
        </p:nvSpPr>
        <p:spPr>
          <a:xfrm>
            <a:off x="1115616" y="1196752"/>
            <a:ext cx="2160240" cy="46590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100" b="1" dirty="0" smtClean="0"/>
              <a:t>Дозатор </a:t>
            </a:r>
            <a:r>
              <a:rPr lang="en-US" sz="1100" b="1" dirty="0"/>
              <a:t>COROB D </a:t>
            </a:r>
            <a:r>
              <a:rPr lang="en-US" sz="1100" b="1" dirty="0" smtClean="0"/>
              <a:t>180</a:t>
            </a:r>
            <a:endParaRPr lang="ru-RU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844824"/>
            <a:ext cx="2088232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611560" y="332656"/>
            <a:ext cx="62646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01330">
              <a:spcBef>
                <a:spcPct val="0"/>
              </a:spcBef>
            </a:pPr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  <a:latin typeface="Tahoma" pitchFamily="34" charset="0"/>
                <a:ea typeface="+mj-ea"/>
                <a:cs typeface="Tahoma" pitchFamily="34" charset="0"/>
              </a:rPr>
              <a:t>Предоставляемое оборудование:</a:t>
            </a:r>
            <a:endParaRPr lang="ru-RU" sz="2000" b="1" dirty="0">
              <a:solidFill>
                <a:schemeClr val="bg1">
                  <a:lumMod val="50000"/>
                </a:schemeClr>
              </a:solidFill>
              <a:latin typeface="Tahoma" pitchFamily="34" charset="0"/>
              <a:ea typeface="+mj-ea"/>
              <a:cs typeface="Tahoma" pitchFamily="34" charset="0"/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1844824"/>
            <a:ext cx="2738007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Объект 2"/>
          <p:cNvSpPr>
            <a:spLocks noGrp="1"/>
          </p:cNvSpPr>
          <p:nvPr>
            <p:ph idx="4294967295"/>
          </p:nvPr>
        </p:nvSpPr>
        <p:spPr>
          <a:xfrm>
            <a:off x="3563888" y="1124744"/>
            <a:ext cx="2088232" cy="864096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100" b="1" dirty="0" smtClean="0"/>
              <a:t>Автоматический </a:t>
            </a:r>
            <a:r>
              <a:rPr lang="ru-RU" sz="1100" b="1" dirty="0"/>
              <a:t>миксер для перемешивания </a:t>
            </a:r>
            <a:r>
              <a:rPr lang="ru-RU" sz="1100" b="1" dirty="0" smtClean="0"/>
              <a:t>краски </a:t>
            </a:r>
            <a:r>
              <a:rPr lang="ru-RU" sz="1100" b="1" dirty="0" err="1" smtClean="0"/>
              <a:t>MultiSpeed</a:t>
            </a:r>
            <a:r>
              <a:rPr lang="ru-RU" sz="1100" b="1" dirty="0" smtClean="0"/>
              <a:t> </a:t>
            </a:r>
            <a:r>
              <a:rPr lang="en-US" sz="1100" b="1" dirty="0" smtClean="0"/>
              <a:t>CABO</a:t>
            </a:r>
            <a:endParaRPr lang="ru-RU" sz="1100" b="1" dirty="0"/>
          </a:p>
          <a:p>
            <a:pPr marL="0" indent="0">
              <a:buNone/>
            </a:pPr>
            <a:endParaRPr lang="ru-RU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ru-RU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ru-RU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855" y="1588169"/>
            <a:ext cx="2845318" cy="324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Объект 2"/>
          <p:cNvSpPr>
            <a:spLocks noGrp="1"/>
          </p:cNvSpPr>
          <p:nvPr>
            <p:ph idx="4294967295"/>
          </p:nvPr>
        </p:nvSpPr>
        <p:spPr>
          <a:xfrm>
            <a:off x="6156176" y="1196752"/>
            <a:ext cx="2160240" cy="46590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100" b="1" dirty="0" smtClean="0"/>
              <a:t>Рекламная стойка </a:t>
            </a:r>
            <a:r>
              <a:rPr lang="en-US" sz="1100" b="1" dirty="0" smtClean="0"/>
              <a:t>NEWTONE</a:t>
            </a:r>
            <a:endParaRPr lang="ru-RU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27" y="5013176"/>
            <a:ext cx="1067892" cy="1067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Объект 2"/>
          <p:cNvSpPr>
            <a:spLocks noGrp="1"/>
          </p:cNvSpPr>
          <p:nvPr>
            <p:ph idx="4294967295"/>
          </p:nvPr>
        </p:nvSpPr>
        <p:spPr>
          <a:xfrm>
            <a:off x="1099826" y="4547272"/>
            <a:ext cx="3832213" cy="46590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1100" b="1" dirty="0" smtClean="0"/>
              <a:t>Веера</a:t>
            </a:r>
          </a:p>
          <a:p>
            <a:pPr marL="0" indent="0">
              <a:buNone/>
            </a:pPr>
            <a:r>
              <a: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   RAL </a:t>
            </a: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K7                               </a:t>
            </a:r>
            <a:r>
              <a:rPr lang="en-US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  </a:t>
            </a:r>
            <a:r>
              <a:rPr lang="en-US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NCS index </a:t>
            </a:r>
            <a:r>
              <a:rPr lang="ru-RU" sz="11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ru-RU" sz="11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1950 </a:t>
            </a:r>
            <a:endParaRPr lang="ru-RU" sz="11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4977172"/>
            <a:ext cx="1152128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5142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/>
          <p:cNvSpPr/>
          <p:nvPr/>
        </p:nvSpPr>
        <p:spPr>
          <a:xfrm>
            <a:off x="581869" y="560874"/>
            <a:ext cx="80648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  <a:latin typeface="Tahoma" pitchFamily="34" charset="0"/>
                <a:ea typeface="+mj-ea"/>
                <a:cs typeface="Tahoma" pitchFamily="34" charset="0"/>
              </a:rPr>
              <a:t>Используемое программное </a:t>
            </a:r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Tahoma" pitchFamily="34" charset="0"/>
                <a:ea typeface="+mj-ea"/>
                <a:cs typeface="Tahoma" pitchFamily="34" charset="0"/>
              </a:rPr>
              <a:t>обеспечение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438" y="1340768"/>
            <a:ext cx="4968552" cy="3532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Объект 2"/>
          <p:cNvSpPr txBox="1">
            <a:spLocks/>
          </p:cNvSpPr>
          <p:nvPr/>
        </p:nvSpPr>
        <p:spPr>
          <a:xfrm>
            <a:off x="671233" y="1133152"/>
            <a:ext cx="2892655" cy="2799903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100" dirty="0" smtClean="0"/>
              <a:t>Программное обеспечение для колеровочного оборудования – </a:t>
            </a:r>
            <a:r>
              <a:rPr lang="en-US" sz="2100" dirty="0" err="1" smtClean="0"/>
              <a:t>Innovatint</a:t>
            </a:r>
            <a:r>
              <a:rPr lang="en-US" sz="2100" dirty="0" smtClean="0"/>
              <a:t> ver. 3, 4</a:t>
            </a:r>
            <a:endParaRPr lang="ru-RU" sz="2100" dirty="0" smtClean="0"/>
          </a:p>
          <a:p>
            <a:pPr marL="0" indent="0">
              <a:buNone/>
            </a:pPr>
            <a:r>
              <a:rPr lang="ru-RU" sz="2100" dirty="0" smtClean="0"/>
              <a:t>Цветовые веера по которым возможна колеровка: </a:t>
            </a:r>
            <a:endParaRPr lang="en-US" sz="2100" dirty="0" smtClean="0"/>
          </a:p>
          <a:p>
            <a:pPr marL="0" indent="0">
              <a:buNone/>
            </a:pPr>
            <a:r>
              <a:rPr lang="en-US" sz="2100" dirty="0" smtClean="0"/>
              <a:t> - </a:t>
            </a:r>
            <a:r>
              <a:rPr lang="en-US" sz="2100" dirty="0" err="1" smtClean="0"/>
              <a:t>Caparol</a:t>
            </a:r>
            <a:r>
              <a:rPr lang="en-US" sz="2100" dirty="0" smtClean="0"/>
              <a:t> 3D PLUS </a:t>
            </a:r>
          </a:p>
          <a:p>
            <a:pPr marL="0" indent="0">
              <a:buNone/>
            </a:pPr>
            <a:r>
              <a:rPr lang="en-US" sz="2100" dirty="0" smtClean="0"/>
              <a:t> - </a:t>
            </a:r>
            <a:r>
              <a:rPr lang="en-US" sz="2100" dirty="0" err="1" smtClean="0"/>
              <a:t>Colorgrain</a:t>
            </a:r>
            <a:r>
              <a:rPr lang="en-US" sz="2100" dirty="0" smtClean="0"/>
              <a:t> 2016</a:t>
            </a:r>
          </a:p>
          <a:p>
            <a:pPr marL="0" indent="0">
              <a:buNone/>
            </a:pPr>
            <a:r>
              <a:rPr lang="en-US" sz="2100" dirty="0"/>
              <a:t> </a:t>
            </a:r>
            <a:r>
              <a:rPr lang="en-US" sz="2100" dirty="0" smtClean="0"/>
              <a:t>- </a:t>
            </a:r>
            <a:r>
              <a:rPr lang="en-US" sz="2100" dirty="0" err="1" smtClean="0"/>
              <a:t>Dulux</a:t>
            </a:r>
            <a:r>
              <a:rPr lang="en-US" sz="2100" dirty="0" smtClean="0"/>
              <a:t> Trade Color </a:t>
            </a:r>
            <a:r>
              <a:rPr lang="en-US" sz="2100" dirty="0" err="1" smtClean="0"/>
              <a:t>Palete</a:t>
            </a:r>
            <a:r>
              <a:rPr lang="en-US" sz="2100" dirty="0" smtClean="0"/>
              <a:t> 5</a:t>
            </a:r>
          </a:p>
          <a:p>
            <a:pPr marL="0" indent="0">
              <a:buNone/>
            </a:pPr>
            <a:r>
              <a:rPr lang="en-US" sz="2100" dirty="0"/>
              <a:t> </a:t>
            </a:r>
            <a:r>
              <a:rPr lang="en-US" sz="2100" dirty="0" smtClean="0"/>
              <a:t>- </a:t>
            </a:r>
            <a:r>
              <a:rPr lang="en-US" sz="2100" dirty="0" err="1" smtClean="0"/>
              <a:t>Monicolor</a:t>
            </a:r>
            <a:r>
              <a:rPr lang="en-US" sz="2100" dirty="0" smtClean="0"/>
              <a:t> Nova 2024</a:t>
            </a:r>
          </a:p>
          <a:p>
            <a:pPr marL="0" indent="0">
              <a:buNone/>
            </a:pPr>
            <a:r>
              <a:rPr lang="en-US" sz="2100" dirty="0"/>
              <a:t> </a:t>
            </a:r>
            <a:r>
              <a:rPr lang="en-US" sz="2100" dirty="0" smtClean="0"/>
              <a:t>- NCS second Edition 2009</a:t>
            </a:r>
          </a:p>
          <a:p>
            <a:pPr marL="0" indent="0">
              <a:buNone/>
            </a:pPr>
            <a:r>
              <a:rPr lang="en-US" sz="2100" dirty="0"/>
              <a:t> </a:t>
            </a:r>
            <a:r>
              <a:rPr lang="en-US" sz="2100" dirty="0" smtClean="0"/>
              <a:t>- RAL 840 HR</a:t>
            </a:r>
          </a:p>
          <a:p>
            <a:pPr marL="0" indent="0">
              <a:buNone/>
            </a:pPr>
            <a:r>
              <a:rPr lang="en-US" sz="2100" dirty="0"/>
              <a:t> </a:t>
            </a:r>
            <a:r>
              <a:rPr lang="en-US" sz="2100" dirty="0" smtClean="0"/>
              <a:t>- RAL Design D2</a:t>
            </a:r>
          </a:p>
          <a:p>
            <a:pPr marL="0" indent="0">
              <a:buNone/>
            </a:pPr>
            <a:r>
              <a:rPr lang="en-US" sz="2100" dirty="0" smtClean="0"/>
              <a:t> - Symphony I and II</a:t>
            </a:r>
          </a:p>
          <a:p>
            <a:pPr marL="0" indent="0">
              <a:buNone/>
            </a:pPr>
            <a:endParaRPr lang="ru-RU" sz="2400" dirty="0" smtClean="0"/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92101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/>
          <p:cNvSpPr/>
          <p:nvPr/>
        </p:nvSpPr>
        <p:spPr>
          <a:xfrm>
            <a:off x="581869" y="560874"/>
            <a:ext cx="80648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  <a:latin typeface="Tahoma" pitchFamily="34" charset="0"/>
                <a:ea typeface="+mj-ea"/>
                <a:cs typeface="Tahoma" pitchFamily="34" charset="0"/>
              </a:rPr>
              <a:t>Используемые </a:t>
            </a:r>
            <a:r>
              <a:rPr lang="ru-RU" sz="2000" b="1" dirty="0" err="1" smtClean="0">
                <a:solidFill>
                  <a:schemeClr val="bg1">
                    <a:lumMod val="50000"/>
                  </a:schemeClr>
                </a:solidFill>
                <a:latin typeface="Tahoma" pitchFamily="34" charset="0"/>
                <a:ea typeface="+mj-ea"/>
                <a:cs typeface="Tahoma" pitchFamily="34" charset="0"/>
              </a:rPr>
              <a:t>колоранты</a:t>
            </a:r>
            <a:endParaRPr lang="ru-RU" sz="2000" b="1" dirty="0">
              <a:solidFill>
                <a:schemeClr val="bg1">
                  <a:lumMod val="50000"/>
                </a:schemeClr>
              </a:solidFill>
              <a:latin typeface="Tahoma" pitchFamily="34" charset="0"/>
              <a:ea typeface="+mj-ea"/>
              <a:cs typeface="Tahoma" pitchFamily="34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92165"/>
              </p:ext>
            </p:extLst>
          </p:nvPr>
        </p:nvGraphicFramePr>
        <p:xfrm>
          <a:off x="755576" y="1268760"/>
          <a:ext cx="3564890" cy="3238500"/>
        </p:xfrm>
        <a:graphic>
          <a:graphicData uri="http://schemas.openxmlformats.org/drawingml/2006/table">
            <a:tbl>
              <a:tblPr/>
              <a:tblGrid>
                <a:gridCol w="2359496"/>
                <a:gridCol w="1205394"/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MONICOLOR PRO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% пигмента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FFFFFF"/>
                          </a:solidFill>
                          <a:effectLst/>
                          <a:latin typeface="Times New Roman"/>
                        </a:rPr>
                        <a:t>MONICOLOR PRO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8D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65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14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15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9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MONICOLOR PRO 16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470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50" name="Picture 2" descr="U:\10-0 Маркетинг\8_Планы_тайминги_сет_графики\КОЛЕРОВКА\Колоранты\Monicolor\Monicolor PRO\PRO 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7" y="1311209"/>
            <a:ext cx="1262048" cy="2150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U:\10-0 Маркетинг\8_Планы_тайминги_сет_графики\КОЛЕРОВКА\Колоранты\Monicolor\Monicolor PRO\PRO 8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2276872"/>
            <a:ext cx="1213422" cy="2053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5887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/>
          <p:cNvSpPr/>
          <p:nvPr/>
        </p:nvSpPr>
        <p:spPr>
          <a:xfrm>
            <a:off x="581869" y="560874"/>
            <a:ext cx="80648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solidFill>
                  <a:schemeClr val="bg1">
                    <a:lumMod val="50000"/>
                  </a:schemeClr>
                </a:solidFill>
                <a:latin typeface="Tahoma" pitchFamily="34" charset="0"/>
                <a:ea typeface="+mj-ea"/>
                <a:cs typeface="Tahoma" pitchFamily="34" charset="0"/>
              </a:rPr>
              <a:t>Техническое обслуживания и вопросы эксплуатации :</a:t>
            </a:r>
            <a:endParaRPr lang="ru-RU" sz="2000" b="1" dirty="0">
              <a:solidFill>
                <a:schemeClr val="bg1">
                  <a:lumMod val="50000"/>
                </a:schemeClr>
              </a:solidFill>
              <a:latin typeface="Tahoma" pitchFamily="34" charset="0"/>
              <a:ea typeface="+mj-ea"/>
              <a:cs typeface="Tahoma" pitchFamily="34" charset="0"/>
            </a:endParaRPr>
          </a:p>
        </p:txBody>
      </p:sp>
      <p:sp>
        <p:nvSpPr>
          <p:cNvPr id="6" name="Объект 2"/>
          <p:cNvSpPr txBox="1">
            <a:spLocks/>
          </p:cNvSpPr>
          <p:nvPr/>
        </p:nvSpPr>
        <p:spPr>
          <a:xfrm>
            <a:off x="539552" y="1133152"/>
            <a:ext cx="8107213" cy="4312072"/>
          </a:xfrm>
          <a:prstGeom prst="rect">
            <a:avLst/>
          </a:prstGeom>
        </p:spPr>
        <p:txBody>
          <a:bodyPr>
            <a:noAutofit/>
          </a:bodyPr>
          <a:lstStyle>
            <a:lvl1pPr marL="342839" indent="-342839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19" indent="-28570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9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918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037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156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27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95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514" indent="-228560" algn="l" defTabSz="91423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000" dirty="0" smtClean="0"/>
              <a:t>Оборудование </a:t>
            </a:r>
            <a:r>
              <a:rPr lang="ru-RU" sz="1000" dirty="0"/>
              <a:t>передается Арендатору со всеми его принадлежностями и сопровождаемое руководством  по </a:t>
            </a:r>
            <a:r>
              <a:rPr lang="ru-RU" sz="1000" dirty="0" smtClean="0"/>
              <a:t>эксплуатации.</a:t>
            </a:r>
          </a:p>
          <a:p>
            <a:pPr marL="0" indent="0">
              <a:buNone/>
            </a:pPr>
            <a:r>
              <a:rPr lang="ru-RU" sz="1000" dirty="0" smtClean="0"/>
              <a:t>Вводом в эксплуатацию и пуско-наладочные работы проводиться специалистами Арендодателя. </a:t>
            </a:r>
            <a:endParaRPr lang="ru-RU" sz="1000" dirty="0"/>
          </a:p>
          <a:p>
            <a:pPr marL="0" indent="0">
              <a:buNone/>
            </a:pPr>
            <a:endParaRPr lang="ru-RU" sz="1000" dirty="0" smtClean="0"/>
          </a:p>
          <a:p>
            <a:pPr marL="0" indent="0">
              <a:buNone/>
            </a:pPr>
            <a:r>
              <a:rPr lang="ru-RU" sz="1000" u="sng" dirty="0" smtClean="0"/>
              <a:t>Требования к месту установки оборудования:</a:t>
            </a:r>
            <a:endParaRPr lang="ru-RU" sz="1000" u="sng" dirty="0"/>
          </a:p>
          <a:p>
            <a:pPr marL="0" indent="0">
              <a:buNone/>
            </a:pPr>
            <a:r>
              <a:rPr lang="ru-RU" sz="1000" dirty="0"/>
              <a:t>- Пол площадью 1 кв. метр в месте установки шейкера должен быть ровным и иметь бетонную основу;</a:t>
            </a:r>
          </a:p>
          <a:p>
            <a:pPr marL="0" indent="0">
              <a:buNone/>
            </a:pPr>
            <a:r>
              <a:rPr lang="ru-RU" sz="1000" dirty="0"/>
              <a:t>- Питание к шейкеру и дозатору должно подводиться по проводам  с сечением не менее 2,5 мм2, с заземлением;</a:t>
            </a:r>
          </a:p>
          <a:p>
            <a:pPr marL="0" indent="0">
              <a:buNone/>
            </a:pPr>
            <a:r>
              <a:rPr lang="ru-RU" sz="1000" dirty="0"/>
              <a:t>- В местах подключения шейкера и дозатора должны быть установлены  евро-розетки.      </a:t>
            </a:r>
          </a:p>
          <a:p>
            <a:pPr marL="0" indent="0">
              <a:buNone/>
            </a:pPr>
            <a:endParaRPr lang="ru-RU" sz="1000" dirty="0" smtClean="0"/>
          </a:p>
          <a:p>
            <a:pPr marL="0" indent="0">
              <a:buNone/>
            </a:pPr>
            <a:r>
              <a:rPr lang="ru-RU" sz="1000" dirty="0" smtClean="0"/>
              <a:t>Арендатор </a:t>
            </a:r>
            <a:r>
              <a:rPr lang="ru-RU" sz="1000" dirty="0"/>
              <a:t>обязуется не допускать к работе на оборудовании Арендодателя людей, не прошедших соответствующего обучения.</a:t>
            </a:r>
          </a:p>
          <a:p>
            <a:pPr marL="0" indent="0">
              <a:buNone/>
            </a:pPr>
            <a:r>
              <a:rPr lang="ru-RU" sz="1000" dirty="0" smtClean="0"/>
              <a:t>Арендатор </a:t>
            </a:r>
            <a:r>
              <a:rPr lang="ru-RU" sz="1000" dirty="0"/>
              <a:t>обязан проводить промывку и продувку дозатора в начале и в конце дня. Контролировать наличие воды в </a:t>
            </a:r>
            <a:r>
              <a:rPr lang="ru-RU" sz="1000" dirty="0" smtClean="0"/>
              <a:t>чашке и</a:t>
            </a:r>
            <a:r>
              <a:rPr lang="ru-RU" sz="1000" dirty="0"/>
              <a:t>,</a:t>
            </a:r>
            <a:r>
              <a:rPr lang="ru-RU" sz="1000" dirty="0" smtClean="0"/>
              <a:t> </a:t>
            </a:r>
            <a:r>
              <a:rPr lang="ru-RU" sz="1000" dirty="0"/>
              <a:t>при </a:t>
            </a:r>
            <a:r>
              <a:rPr lang="ru-RU" sz="1000" dirty="0" smtClean="0"/>
              <a:t>необходимости, </a:t>
            </a:r>
            <a:r>
              <a:rPr lang="ru-RU" sz="1000" dirty="0"/>
              <a:t>проводить доливку.</a:t>
            </a:r>
          </a:p>
          <a:p>
            <a:pPr marL="0" indent="0">
              <a:buNone/>
            </a:pPr>
            <a:r>
              <a:rPr lang="ru-RU" sz="1000" dirty="0" smtClean="0"/>
              <a:t>При </a:t>
            </a:r>
            <a:r>
              <a:rPr lang="ru-RU" sz="1000" dirty="0"/>
              <a:t>добавлении колоранта в дозатор необходимо его тщательно перемешать вручную в течении минуты. Не допускается его перемешивания миксером или шейкером.</a:t>
            </a:r>
          </a:p>
          <a:p>
            <a:pPr marL="0" indent="0">
              <a:buNone/>
            </a:pPr>
            <a:r>
              <a:rPr lang="ru-RU" sz="1000" dirty="0" smtClean="0"/>
              <a:t>Арендатор </a:t>
            </a:r>
            <a:r>
              <a:rPr lang="ru-RU" sz="1000" dirty="0"/>
              <a:t>обязан поддерживать уровень красителя в колбе не ниже 900 мл.</a:t>
            </a:r>
          </a:p>
          <a:p>
            <a:pPr marL="0" indent="0">
              <a:buNone/>
            </a:pPr>
            <a:r>
              <a:rPr lang="ru-RU" sz="1000" dirty="0" smtClean="0"/>
              <a:t>Арендатор </a:t>
            </a:r>
            <a:r>
              <a:rPr lang="ru-RU" sz="1000" dirty="0"/>
              <a:t>обязан содержать оборудование в чистоте.</a:t>
            </a:r>
          </a:p>
          <a:p>
            <a:pPr marL="0" indent="0">
              <a:buNone/>
            </a:pPr>
            <a:r>
              <a:rPr lang="ru-RU" sz="1000" dirty="0" smtClean="0"/>
              <a:t>В </a:t>
            </a:r>
            <a:r>
              <a:rPr lang="ru-RU" sz="1000" dirty="0"/>
              <a:t>случае выхода оборудования из строя либо в случае сбоя в работе </a:t>
            </a:r>
            <a:r>
              <a:rPr lang="ru-RU" sz="1000" dirty="0" smtClean="0"/>
              <a:t>оборудования, </a:t>
            </a:r>
            <a:r>
              <a:rPr lang="ru-RU" sz="1000" dirty="0"/>
              <a:t>Арендатор обязан в течение одного рабочего дня уведомить Арендодателя о данных нарушениях в работе оборудования и прекратить его эксплуатацию.</a:t>
            </a:r>
          </a:p>
          <a:p>
            <a:pPr marL="0" indent="0">
              <a:buNone/>
            </a:pPr>
            <a:r>
              <a:rPr lang="ru-RU" sz="1000" dirty="0" smtClean="0"/>
              <a:t>В </a:t>
            </a:r>
            <a:r>
              <a:rPr lang="ru-RU" sz="1000" dirty="0"/>
              <a:t>случае необходимости проведения ремонта переданного в аренду Оборудования, Арендодатель обеспечивает его проведение своими силами и за свой счет. </a:t>
            </a:r>
          </a:p>
          <a:p>
            <a:pPr marL="0" indent="0">
              <a:buNone/>
            </a:pPr>
            <a:r>
              <a:rPr lang="ru-RU" sz="1000" dirty="0" smtClean="0"/>
              <a:t>Арендатор </a:t>
            </a:r>
            <a:r>
              <a:rPr lang="ru-RU" sz="1000" dirty="0"/>
              <a:t>несет ответственность за поломку Оборудования вследствие несоблюдения Арендатором требований руководства по эксплуатации и/или дополнительных требований Арендодателя по его использованию, установленных в настоящем Договоре (приложениях к нему), а также в случае причинения ущерба Оборудованию в результате действий сотрудников Арендатора и/или третьих лиц. Арендатор по согласованию с Арендодателем производит ремонт Оборудования либо возмещает затраты на ремонт,  понесенные Арендодателем. </a:t>
            </a:r>
          </a:p>
          <a:p>
            <a:pPr marL="0" indent="0">
              <a:buNone/>
            </a:pPr>
            <a:r>
              <a:rPr lang="ru-RU" sz="1000" dirty="0" smtClean="0"/>
              <a:t>лицам </a:t>
            </a:r>
            <a:r>
              <a:rPr lang="ru-RU" sz="1000" dirty="0"/>
              <a:t>только после получения письменного согласия </a:t>
            </a:r>
            <a:r>
              <a:rPr lang="ru-RU" sz="1000" dirty="0" smtClean="0"/>
              <a:t>Арендодателя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68748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42"/>
          <p:cNvSpPr/>
          <p:nvPr/>
        </p:nvSpPr>
        <p:spPr>
          <a:xfrm>
            <a:off x="2339752" y="847745"/>
            <a:ext cx="46805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Tahoma" pitchFamily="34" charset="0"/>
                <a:ea typeface="+mj-ea"/>
                <a:cs typeface="Tahoma" pitchFamily="34" charset="0"/>
              </a:rPr>
              <a:t>По всем вопросам</a:t>
            </a:r>
            <a:r>
              <a:rPr lang="ru-RU" sz="1200" dirty="0" smtClean="0"/>
              <a:t> </a:t>
            </a:r>
            <a:r>
              <a:rPr lang="ru-RU" sz="2000" b="1" dirty="0">
                <a:solidFill>
                  <a:schemeClr val="bg1">
                    <a:lumMod val="50000"/>
                  </a:schemeClr>
                </a:solidFill>
                <a:latin typeface="Tahoma" pitchFamily="34" charset="0"/>
                <a:ea typeface="+mj-ea"/>
                <a:cs typeface="Tahoma" pitchFamily="34" charset="0"/>
              </a:rPr>
              <a:t>обращаться:</a:t>
            </a:r>
          </a:p>
        </p:txBody>
      </p:sp>
      <p:sp>
        <p:nvSpPr>
          <p:cNvPr id="46" name="Прямоугольник 45"/>
          <p:cNvSpPr/>
          <p:nvPr/>
        </p:nvSpPr>
        <p:spPr>
          <a:xfrm>
            <a:off x="1842617" y="2231857"/>
            <a:ext cx="67073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Козловский </a:t>
            </a:r>
            <a:r>
              <a:rPr lang="ru-RU" dirty="0"/>
              <a:t>Станислав </a:t>
            </a:r>
            <a:endParaRPr lang="ru-RU" dirty="0" smtClean="0"/>
          </a:p>
          <a:p>
            <a:r>
              <a:rPr lang="ru-RU" dirty="0" smtClean="0"/>
              <a:t>Главный специалист по </a:t>
            </a:r>
            <a:r>
              <a:rPr lang="ru-RU" dirty="0" err="1" smtClean="0"/>
              <a:t>колеровочным</a:t>
            </a:r>
            <a:r>
              <a:rPr lang="ru-RU" dirty="0" smtClean="0"/>
              <a:t> системам ЗАО </a:t>
            </a:r>
            <a:r>
              <a:rPr lang="ru-RU" dirty="0"/>
              <a:t>«ЭМПИЛС»</a:t>
            </a:r>
          </a:p>
          <a:p>
            <a:r>
              <a:rPr lang="ru-RU" dirty="0" smtClean="0"/>
              <a:t>Тел</a:t>
            </a:r>
            <a:r>
              <a:rPr lang="ru-RU" dirty="0"/>
              <a:t>./факс: (863) 278-68-06, 278-65-81, доб. </a:t>
            </a:r>
            <a:r>
              <a:rPr lang="ru-RU" dirty="0" smtClean="0"/>
              <a:t>4222</a:t>
            </a:r>
            <a:endParaRPr lang="ru-RU" dirty="0"/>
          </a:p>
          <a:p>
            <a:r>
              <a:rPr lang="ru-RU" dirty="0" smtClean="0"/>
              <a:t>+</a:t>
            </a:r>
            <a:r>
              <a:rPr lang="ru-RU" dirty="0"/>
              <a:t>7 (</a:t>
            </a:r>
            <a:r>
              <a:rPr lang="ru-RU" dirty="0" smtClean="0"/>
              <a:t>988)556</a:t>
            </a:r>
            <a:r>
              <a:rPr lang="en-US" dirty="0" smtClean="0"/>
              <a:t> </a:t>
            </a:r>
            <a:r>
              <a:rPr lang="ru-RU" dirty="0" smtClean="0"/>
              <a:t>07</a:t>
            </a:r>
            <a:r>
              <a:rPr lang="en-US" dirty="0" smtClean="0"/>
              <a:t> </a:t>
            </a:r>
            <a:r>
              <a:rPr lang="ru-RU" dirty="0" smtClean="0"/>
              <a:t>86</a:t>
            </a:r>
            <a:endParaRPr lang="ru-RU" dirty="0"/>
          </a:p>
          <a:p>
            <a:r>
              <a:rPr lang="ru-RU" dirty="0"/>
              <a:t>e-mail: </a:t>
            </a:r>
            <a:r>
              <a:rPr lang="en-US" u="sng" dirty="0" smtClean="0">
                <a:hlinkClick r:id="rId2"/>
              </a:rPr>
              <a:t>kozlovskiy@empils.ru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825055" y="3819059"/>
            <a:ext cx="670738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Каретин</a:t>
            </a:r>
            <a:r>
              <a:rPr lang="ru-RU" dirty="0" smtClean="0"/>
              <a:t> Алексей</a:t>
            </a:r>
          </a:p>
          <a:p>
            <a:r>
              <a:rPr lang="ru-RU" dirty="0" smtClean="0"/>
              <a:t>Специалист по </a:t>
            </a:r>
            <a:r>
              <a:rPr lang="ru-RU" dirty="0" err="1" smtClean="0"/>
              <a:t>колеровочным</a:t>
            </a:r>
            <a:r>
              <a:rPr lang="ru-RU" dirty="0" smtClean="0"/>
              <a:t> системам ЗАО </a:t>
            </a:r>
            <a:r>
              <a:rPr lang="ru-RU" dirty="0"/>
              <a:t>«ЭМПИЛС»</a:t>
            </a:r>
          </a:p>
          <a:p>
            <a:r>
              <a:rPr lang="ru-RU" dirty="0" smtClean="0"/>
              <a:t>Тел</a:t>
            </a:r>
            <a:r>
              <a:rPr lang="ru-RU" dirty="0"/>
              <a:t>./факс: (863) 278-68-06, 278-65-81, доб. </a:t>
            </a:r>
            <a:r>
              <a:rPr lang="en-US" dirty="0" smtClean="0"/>
              <a:t>4142</a:t>
            </a:r>
            <a:endParaRPr lang="ru-RU" dirty="0"/>
          </a:p>
          <a:p>
            <a:r>
              <a:rPr lang="ru-RU" dirty="0" smtClean="0"/>
              <a:t>+</a:t>
            </a:r>
            <a:r>
              <a:rPr lang="ru-RU" dirty="0"/>
              <a:t>7 (</a:t>
            </a:r>
            <a:r>
              <a:rPr lang="ru-RU" dirty="0" smtClean="0"/>
              <a:t>988)589</a:t>
            </a:r>
            <a:r>
              <a:rPr lang="en-US" dirty="0" smtClean="0"/>
              <a:t> </a:t>
            </a:r>
            <a:r>
              <a:rPr lang="ru-RU" dirty="0" smtClean="0"/>
              <a:t>82</a:t>
            </a:r>
            <a:r>
              <a:rPr lang="en-US" dirty="0" smtClean="0"/>
              <a:t> </a:t>
            </a:r>
            <a:r>
              <a:rPr lang="ru-RU" dirty="0" smtClean="0"/>
              <a:t>35</a:t>
            </a:r>
            <a:endParaRPr lang="ru-RU" dirty="0"/>
          </a:p>
          <a:p>
            <a:r>
              <a:rPr lang="ru-RU" dirty="0"/>
              <a:t>e-mail: </a:t>
            </a:r>
            <a:r>
              <a:rPr lang="en-US" u="sng" dirty="0" smtClean="0">
                <a:hlinkClick r:id="rId3"/>
              </a:rPr>
              <a:t>karetin@empils.ru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825054" y="1484784"/>
            <a:ext cx="67073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Телефон горячей линии:</a:t>
            </a:r>
          </a:p>
          <a:p>
            <a:r>
              <a:rPr lang="ru-RU" dirty="0" smtClean="0"/>
              <a:t>8 (800) 200-49-11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87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Тема1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3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КП ОР 2015 ДВ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5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Тема3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6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Тема4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Тема_эмпилс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Серия по металлу июль 2015</Template>
  <TotalTime>3735</TotalTime>
  <Words>841</Words>
  <Application>Microsoft Office PowerPoint</Application>
  <PresentationFormat>Экран (4:3)</PresentationFormat>
  <Paragraphs>128</Paragraphs>
  <Slides>9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12</vt:i4>
      </vt:variant>
      <vt:variant>
        <vt:lpstr>Заголовки слайдов</vt:lpstr>
      </vt:variant>
      <vt:variant>
        <vt:i4>9</vt:i4>
      </vt:variant>
    </vt:vector>
  </HeadingPairs>
  <TitlesOfParts>
    <vt:vector size="21" baseType="lpstr">
      <vt:lpstr>Специальное оформление</vt:lpstr>
      <vt:lpstr>2_Специальное оформление</vt:lpstr>
      <vt:lpstr>4_Специальное оформление</vt:lpstr>
      <vt:lpstr>1_Специальное оформление</vt:lpstr>
      <vt:lpstr>Тема1</vt:lpstr>
      <vt:lpstr>3_Специальное оформление</vt:lpstr>
      <vt:lpstr>КП ОР 2015 ДВ</vt:lpstr>
      <vt:lpstr>5_Специальное оформление</vt:lpstr>
      <vt:lpstr>Тема3</vt:lpstr>
      <vt:lpstr>6_Специальное оформление</vt:lpstr>
      <vt:lpstr>Тема4</vt:lpstr>
      <vt:lpstr>Тема_эмпилс</vt:lpstr>
      <vt:lpstr>Презентация по колеровочному оборудованию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EMPILS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квартал 2016 года</dc:title>
  <dc:creator>Черепахина Виктория Владимировна</dc:creator>
  <cp:lastModifiedBy>Козловский Станислав Александрович</cp:lastModifiedBy>
  <cp:revision>173</cp:revision>
  <dcterms:created xsi:type="dcterms:W3CDTF">2016-01-19T05:22:33Z</dcterms:created>
  <dcterms:modified xsi:type="dcterms:W3CDTF">2026-07-27T07:29:38Z</dcterms:modified>
</cp:coreProperties>
</file>