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008"/>
            <a:ext cx="11460175" cy="42062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MML TITAN — БЫЛО → СТАЛО (все классы ТТ)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64008"/>
            <a:ext cx="4206240" cy="42062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r"/>
            <a:r>
              <a:rPr sz="1100" b="0" i="0">
                <a:solidFill>
                  <a:srgbClr val="FBBF24"/>
                </a:solidFill>
                <a:latin typeface="Arial"/>
              </a:rPr>
              <a:t>30 SKU → 46 SKU (+16) · на основе продаж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731520"/>
            <a:ext cx="2834640" cy="3520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731520"/>
            <a:ext cx="2834640" cy="50292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749808"/>
            <a:ext cx="283464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КЛАСС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987552"/>
            <a:ext cx="2834640" cy="2286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FBBF24"/>
                </a:solidFill>
                <a:latin typeface="Arial"/>
              </a:rPr>
              <a:t>Федеральная DIY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325880"/>
            <a:ext cx="2834640" cy="50292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/>
            <a:r>
              <a:rPr sz="2400" b="1">
                <a:solidFill>
                  <a:srgbClr val="1A1F36"/>
                </a:solidFill>
                <a:latin typeface="Arial"/>
              </a:rPr>
              <a:t>16  →  21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1828800"/>
            <a:ext cx="1920240" cy="292608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828800"/>
            <a:ext cx="192024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+5 SKU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240280"/>
            <a:ext cx="2560320" cy="2286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800" b="1" i="0">
                <a:solidFill>
                  <a:srgbClr val="C62828"/>
                </a:solidFill>
                <a:latin typeface="Arial"/>
              </a:rPr>
              <a:t>ЧТО ДОБАВИТЬ: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2551176"/>
            <a:ext cx="109728" cy="10972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2514600"/>
            <a:ext cx="2377440" cy="25603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3в1 зелёный RAL 6005 (0.75л)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" y="2825496"/>
            <a:ext cx="109728" cy="10972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2788920"/>
            <a:ext cx="2377440" cy="25603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Быстросохн. серый (0.75л)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3099816"/>
            <a:ext cx="109728" cy="10972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3063240"/>
            <a:ext cx="2377440" cy="25603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Быстросохн. корич. RAL 8017 (0.75л)</a:t>
            </a:r>
          </a:p>
        </p:txBody>
      </p:sp>
      <p:sp>
        <p:nvSpPr>
          <p:cNvPr id="21" name="Oval 20"/>
          <p:cNvSpPr/>
          <p:nvPr/>
        </p:nvSpPr>
        <p:spPr>
          <a:xfrm>
            <a:off x="548640" y="3374136"/>
            <a:ext cx="109728" cy="10972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3337560"/>
            <a:ext cx="2377440" cy="25603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Быстросохн. белый RAL 9010 (0.75л)</a:t>
            </a:r>
          </a:p>
        </p:txBody>
      </p:sp>
      <p:sp>
        <p:nvSpPr>
          <p:cNvPr id="23" name="Oval 22"/>
          <p:cNvSpPr/>
          <p:nvPr/>
        </p:nvSpPr>
        <p:spPr>
          <a:xfrm>
            <a:off x="548640" y="3648456"/>
            <a:ext cx="109728" cy="10972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3611880"/>
            <a:ext cx="2377440" cy="25603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Молотковая медный (0.8кг)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10128" y="731520"/>
            <a:ext cx="2834640" cy="3520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479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310128" y="731520"/>
            <a:ext cx="2834640" cy="502920"/>
          </a:xfrm>
          <a:prstGeom prst="rect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10128" y="749808"/>
            <a:ext cx="283464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КЛАСС 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10128" y="987552"/>
            <a:ext cx="2834640" cy="2286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FBBF24"/>
                </a:solidFill>
                <a:latin typeface="Arial"/>
              </a:rPr>
              <a:t>Локальная сеть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10128" y="1325880"/>
            <a:ext cx="2834640" cy="50292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/>
            <a:r>
              <a:rPr sz="2400" b="1">
                <a:solidFill>
                  <a:srgbClr val="1A1F36"/>
                </a:solidFill>
                <a:latin typeface="Arial"/>
              </a:rPr>
              <a:t>12  →  16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767328" y="1828800"/>
            <a:ext cx="1920240" cy="292608"/>
          </a:xfrm>
          <a:prstGeom prst="rect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67328" y="1828800"/>
            <a:ext cx="192024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+4 SKU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47288" y="2240280"/>
            <a:ext cx="2560320" cy="2286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800" b="1" i="0">
                <a:solidFill>
                  <a:srgbClr val="F47920"/>
                </a:solidFill>
                <a:latin typeface="Arial"/>
              </a:rPr>
              <a:t>ЧТО ДОБАВИТЬ:</a:t>
            </a:r>
          </a:p>
        </p:txBody>
      </p:sp>
      <p:sp>
        <p:nvSpPr>
          <p:cNvPr id="33" name="Oval 32"/>
          <p:cNvSpPr/>
          <p:nvPr/>
        </p:nvSpPr>
        <p:spPr>
          <a:xfrm>
            <a:off x="3493008" y="2551176"/>
            <a:ext cx="109728" cy="10972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0" y="2514600"/>
            <a:ext cx="2377440" cy="25603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3в1 зелёный RAL 6005 (0.75л)</a:t>
            </a:r>
          </a:p>
        </p:txBody>
      </p:sp>
      <p:sp>
        <p:nvSpPr>
          <p:cNvPr id="35" name="Oval 34"/>
          <p:cNvSpPr/>
          <p:nvPr/>
        </p:nvSpPr>
        <p:spPr>
          <a:xfrm>
            <a:off x="3493008" y="2825496"/>
            <a:ext cx="109728" cy="10972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0" y="2788920"/>
            <a:ext cx="2377440" cy="25603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Быстросохн. серый (0.75л)</a:t>
            </a:r>
          </a:p>
        </p:txBody>
      </p:sp>
      <p:sp>
        <p:nvSpPr>
          <p:cNvPr id="37" name="Oval 36"/>
          <p:cNvSpPr/>
          <p:nvPr/>
        </p:nvSpPr>
        <p:spPr>
          <a:xfrm>
            <a:off x="3493008" y="3099816"/>
            <a:ext cx="109728" cy="10972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0" y="3063240"/>
            <a:ext cx="2377440" cy="25603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Быстросохн. корич. RAL 8017 (0.75л)</a:t>
            </a:r>
          </a:p>
        </p:txBody>
      </p:sp>
      <p:sp>
        <p:nvSpPr>
          <p:cNvPr id="39" name="Oval 38"/>
          <p:cNvSpPr/>
          <p:nvPr/>
        </p:nvSpPr>
        <p:spPr>
          <a:xfrm>
            <a:off x="3493008" y="3374136"/>
            <a:ext cx="109728" cy="10972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0" y="3337560"/>
            <a:ext cx="2377440" cy="25603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Молотковая серебристый (0.8кг)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54496" y="731520"/>
            <a:ext cx="2834640" cy="3520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54496" y="731520"/>
            <a:ext cx="2834640" cy="50292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54496" y="749808"/>
            <a:ext cx="283464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КЛАСС 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54496" y="987552"/>
            <a:ext cx="2834640" cy="2286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FBBF24"/>
                </a:solidFill>
                <a:latin typeface="Arial"/>
              </a:rPr>
              <a:t>Супермаркет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54496" y="1325880"/>
            <a:ext cx="2834640" cy="50292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/>
            <a:r>
              <a:rPr sz="2400" b="1">
                <a:solidFill>
                  <a:srgbClr val="1A1F36"/>
                </a:solidFill>
                <a:latin typeface="Arial"/>
              </a:rPr>
              <a:t>2  →  7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711696" y="1828800"/>
            <a:ext cx="1920240" cy="29260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711696" y="1828800"/>
            <a:ext cx="192024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+5 SKU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91656" y="2240280"/>
            <a:ext cx="2560320" cy="2286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800" b="1" i="0">
                <a:solidFill>
                  <a:srgbClr val="16A34A"/>
                </a:solidFill>
                <a:latin typeface="Arial"/>
              </a:rPr>
              <a:t>ЧТО ДОБАВИТЬ:</a:t>
            </a:r>
          </a:p>
        </p:txBody>
      </p:sp>
      <p:sp>
        <p:nvSpPr>
          <p:cNvPr id="49" name="Oval 48"/>
          <p:cNvSpPr/>
          <p:nvPr/>
        </p:nvSpPr>
        <p:spPr>
          <a:xfrm>
            <a:off x="6437376" y="2551176"/>
            <a:ext cx="109728" cy="10972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601968" y="2514600"/>
            <a:ext cx="2377440" cy="25603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3в1 чёрный RAL 9005 (0.75л)</a:t>
            </a:r>
          </a:p>
        </p:txBody>
      </p:sp>
      <p:sp>
        <p:nvSpPr>
          <p:cNvPr id="51" name="Oval 50"/>
          <p:cNvSpPr/>
          <p:nvPr/>
        </p:nvSpPr>
        <p:spPr>
          <a:xfrm>
            <a:off x="6437376" y="2825496"/>
            <a:ext cx="109728" cy="10972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601968" y="2788920"/>
            <a:ext cx="2377440" cy="25603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3в1 корич. RAL 8017 (0.75л)</a:t>
            </a:r>
          </a:p>
        </p:txBody>
      </p:sp>
      <p:sp>
        <p:nvSpPr>
          <p:cNvPr id="53" name="Oval 52"/>
          <p:cNvSpPr/>
          <p:nvPr/>
        </p:nvSpPr>
        <p:spPr>
          <a:xfrm>
            <a:off x="6437376" y="3099816"/>
            <a:ext cx="109728" cy="10972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601968" y="3063240"/>
            <a:ext cx="2377440" cy="25603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3в1 серый RAL 7004 (0.75л)</a:t>
            </a:r>
          </a:p>
        </p:txBody>
      </p:sp>
      <p:sp>
        <p:nvSpPr>
          <p:cNvPr id="55" name="Oval 54"/>
          <p:cNvSpPr/>
          <p:nvPr/>
        </p:nvSpPr>
        <p:spPr>
          <a:xfrm>
            <a:off x="6437376" y="3374136"/>
            <a:ext cx="109728" cy="10972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601968" y="3337560"/>
            <a:ext cx="2377440" cy="25603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Быстросохн. чёрный RAL 9005 (0.75л)</a:t>
            </a:r>
          </a:p>
        </p:txBody>
      </p:sp>
      <p:sp>
        <p:nvSpPr>
          <p:cNvPr id="57" name="Oval 56"/>
          <p:cNvSpPr/>
          <p:nvPr/>
        </p:nvSpPr>
        <p:spPr>
          <a:xfrm>
            <a:off x="6437376" y="3648456"/>
            <a:ext cx="109728" cy="10972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601968" y="3611880"/>
            <a:ext cx="2377440" cy="25603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Быстросохн. серый (0.75л)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198864" y="731520"/>
            <a:ext cx="2834640" cy="3520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198864" y="731520"/>
            <a:ext cx="2834640" cy="50292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198864" y="749808"/>
            <a:ext cx="283464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КЛАСС 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98864" y="987552"/>
            <a:ext cx="2834640" cy="2286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Arial"/>
              </a:rPr>
              <a:t>Хозмаг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198864" y="1325880"/>
            <a:ext cx="2834640" cy="50292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/>
            <a:r>
              <a:rPr sz="2400" b="1">
                <a:solidFill>
                  <a:srgbClr val="1A1F36"/>
                </a:solidFill>
                <a:latin typeface="Arial"/>
              </a:rPr>
              <a:t>0  →  2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656064" y="1828800"/>
            <a:ext cx="1920240" cy="292608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656064" y="1828800"/>
            <a:ext cx="192024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+2 SKU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336024" y="2240280"/>
            <a:ext cx="2560320" cy="2286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800" b="1" i="0">
                <a:solidFill>
                  <a:srgbClr val="1E3A5F"/>
                </a:solidFill>
                <a:latin typeface="Arial"/>
              </a:rPr>
              <a:t>ЧТО ДОБАВИТЬ:</a:t>
            </a:r>
          </a:p>
        </p:txBody>
      </p:sp>
      <p:sp>
        <p:nvSpPr>
          <p:cNvPr id="67" name="Oval 66"/>
          <p:cNvSpPr/>
          <p:nvPr/>
        </p:nvSpPr>
        <p:spPr>
          <a:xfrm>
            <a:off x="9381744" y="2551176"/>
            <a:ext cx="109728" cy="10972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546336" y="2514600"/>
            <a:ext cx="2377440" cy="25603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3в1 чёрный RAL 9005 (0.75л)</a:t>
            </a:r>
          </a:p>
        </p:txBody>
      </p:sp>
      <p:sp>
        <p:nvSpPr>
          <p:cNvPr id="69" name="Oval 68"/>
          <p:cNvSpPr/>
          <p:nvPr/>
        </p:nvSpPr>
        <p:spPr>
          <a:xfrm>
            <a:off x="9381744" y="2825496"/>
            <a:ext cx="109728" cy="10972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546336" y="2788920"/>
            <a:ext cx="2377440" cy="25603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3в1 корич. RAL 8017 (0.75л)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65760" y="4434840"/>
            <a:ext cx="11460175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  <a:latin typeface="Arial"/>
              </a:rPr>
              <a:t>СВОДКА ПО КАТЕГОРИЯМ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65760" y="4754880"/>
            <a:ext cx="256032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65760" y="4754880"/>
            <a:ext cx="2560320" cy="34747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Категория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926080" y="4754880"/>
            <a:ext cx="1078992" cy="347472"/>
          </a:xfrm>
          <a:prstGeom prst="rect">
            <a:avLst/>
          </a:prstGeom>
          <a:solidFill>
            <a:srgbClr val="C6282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926080" y="4754880"/>
            <a:ext cx="1078992" cy="34747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Было (A)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005072" y="4754880"/>
            <a:ext cx="1078992" cy="347472"/>
          </a:xfrm>
          <a:prstGeom prst="rect">
            <a:avLst/>
          </a:prstGeom>
          <a:solidFill>
            <a:srgbClr val="C6282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005072" y="4754880"/>
            <a:ext cx="1078992" cy="34747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Стало (A)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084064" y="4754880"/>
            <a:ext cx="1078992" cy="347472"/>
          </a:xfrm>
          <a:prstGeom prst="rect">
            <a:avLst/>
          </a:prstGeom>
          <a:solidFill>
            <a:srgbClr val="F4792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084064" y="4754880"/>
            <a:ext cx="1078992" cy="34747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Было (B)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163056" y="4754880"/>
            <a:ext cx="1078992" cy="347472"/>
          </a:xfrm>
          <a:prstGeom prst="rect">
            <a:avLst/>
          </a:prstGeom>
          <a:solidFill>
            <a:srgbClr val="F4792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163056" y="4754880"/>
            <a:ext cx="1078992" cy="34747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Стало (B)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242048" y="4754880"/>
            <a:ext cx="1078992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242048" y="4754880"/>
            <a:ext cx="1078992" cy="34747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Было (C)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321040" y="4754880"/>
            <a:ext cx="1078992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321040" y="4754880"/>
            <a:ext cx="1078992" cy="34747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Стало (C)</a:t>
            </a:r>
          </a:p>
        </p:txBody>
      </p:sp>
      <p:sp>
        <p:nvSpPr>
          <p:cNvPr id="86" name="Rectangle 85"/>
          <p:cNvSpPr/>
          <p:nvPr/>
        </p:nvSpPr>
        <p:spPr>
          <a:xfrm>
            <a:off x="9400032" y="4754880"/>
            <a:ext cx="1078992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9400032" y="4754880"/>
            <a:ext cx="1078992" cy="34747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Было (D)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0479024" y="4754880"/>
            <a:ext cx="1078992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0479024" y="4754880"/>
            <a:ext cx="1078992" cy="34747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Стало (D)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65760" y="5102352"/>
            <a:ext cx="2560320" cy="20116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11480" y="5102352"/>
            <a:ext cx="2468880" cy="20116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3в1 по ржавчине, 0.75 л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926080" y="5102352"/>
            <a:ext cx="1078992" cy="20116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926080" y="5102352"/>
            <a:ext cx="1078992" cy="20116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5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005072" y="5102352"/>
            <a:ext cx="1078992" cy="20116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005072" y="5102352"/>
            <a:ext cx="1078992" cy="20116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5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084064" y="5102352"/>
            <a:ext cx="1078992" cy="20116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5084064" y="5102352"/>
            <a:ext cx="1078992" cy="20116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5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163056" y="5102352"/>
            <a:ext cx="1078992" cy="20116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163056" y="5102352"/>
            <a:ext cx="1078992" cy="20116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5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242048" y="5102352"/>
            <a:ext cx="1078992" cy="20116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242048" y="5102352"/>
            <a:ext cx="1078992" cy="20116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C62828"/>
                </a:solidFill>
                <a:latin typeface="Arial"/>
              </a:rPr>
              <a:t>0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8321040" y="5102352"/>
            <a:ext cx="1078992" cy="201168"/>
          </a:xfrm>
          <a:prstGeom prst="rect">
            <a:avLst/>
          </a:prstGeom>
          <a:solidFill>
            <a:srgbClr val="DCFCE7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8321040" y="5102352"/>
            <a:ext cx="1078992" cy="20116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3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9400032" y="5102352"/>
            <a:ext cx="1078992" cy="20116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9400032" y="5102352"/>
            <a:ext cx="1078992" cy="20116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C62828"/>
                </a:solidFill>
                <a:latin typeface="Arial"/>
              </a:rPr>
              <a:t>0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0479024" y="5102352"/>
            <a:ext cx="1078992" cy="201168"/>
          </a:xfrm>
          <a:prstGeom prst="rect">
            <a:avLst/>
          </a:prstGeom>
          <a:solidFill>
            <a:srgbClr val="DCFCE7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0479024" y="5102352"/>
            <a:ext cx="1078992" cy="20116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2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365760" y="5303520"/>
            <a:ext cx="2560320" cy="20116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411480" y="5303520"/>
            <a:ext cx="2468880" cy="20116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3в1 по ржавчине, 2 л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2926080" y="5303520"/>
            <a:ext cx="1078992" cy="20116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2926080" y="5303520"/>
            <a:ext cx="1078992" cy="20116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5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4005072" y="5303520"/>
            <a:ext cx="1078992" cy="20116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4005072" y="5303520"/>
            <a:ext cx="1078992" cy="20116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5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5084064" y="5303520"/>
            <a:ext cx="1078992" cy="20116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5084064" y="5303520"/>
            <a:ext cx="1078992" cy="20116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4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6163056" y="5303520"/>
            <a:ext cx="1078992" cy="20116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6163056" y="5303520"/>
            <a:ext cx="1078992" cy="20116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4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7242048" y="5303520"/>
            <a:ext cx="1078992" cy="20116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7242048" y="5303520"/>
            <a:ext cx="1078992" cy="20116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C62828"/>
                </a:solidFill>
                <a:latin typeface="Arial"/>
              </a:rPr>
              <a:t>0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8321040" y="5303520"/>
            <a:ext cx="1078992" cy="20116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8321040" y="5303520"/>
            <a:ext cx="1078992" cy="20116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C62828"/>
                </a:solidFill>
                <a:latin typeface="Arial"/>
              </a:rPr>
              <a:t>0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9400032" y="5303520"/>
            <a:ext cx="1078992" cy="20116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9400032" y="5303520"/>
            <a:ext cx="1078992" cy="20116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C62828"/>
                </a:solidFill>
                <a:latin typeface="Arial"/>
              </a:rPr>
              <a:t>0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10479024" y="5303520"/>
            <a:ext cx="1078992" cy="20116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0479024" y="5303520"/>
            <a:ext cx="1078992" cy="20116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C62828"/>
                </a:solidFill>
                <a:latin typeface="Arial"/>
              </a:rPr>
              <a:t>0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365760" y="5504688"/>
            <a:ext cx="2560320" cy="20116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411480" y="5504688"/>
            <a:ext cx="2468880" cy="20116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Быстросохнущая, 0.75 л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2926080" y="5504688"/>
            <a:ext cx="1078992" cy="20116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2926080" y="5504688"/>
            <a:ext cx="1078992" cy="20116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1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4005072" y="5504688"/>
            <a:ext cx="1078992" cy="20116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4005072" y="5504688"/>
            <a:ext cx="1078992" cy="20116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1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5084064" y="5504688"/>
            <a:ext cx="1078992" cy="20116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5084064" y="5504688"/>
            <a:ext cx="1078992" cy="20116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1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6163056" y="5504688"/>
            <a:ext cx="1078992" cy="20116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6163056" y="5504688"/>
            <a:ext cx="1078992" cy="20116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1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7242048" y="5504688"/>
            <a:ext cx="1078992" cy="20116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7242048" y="5504688"/>
            <a:ext cx="1078992" cy="20116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C62828"/>
                </a:solidFill>
                <a:latin typeface="Arial"/>
              </a:rPr>
              <a:t>0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8321040" y="5504688"/>
            <a:ext cx="1078992" cy="201168"/>
          </a:xfrm>
          <a:prstGeom prst="rect">
            <a:avLst/>
          </a:prstGeom>
          <a:solidFill>
            <a:srgbClr val="DCFCE7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8321040" y="5504688"/>
            <a:ext cx="1078992" cy="20116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2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9400032" y="5504688"/>
            <a:ext cx="1078992" cy="20116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9400032" y="5504688"/>
            <a:ext cx="1078992" cy="20116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C62828"/>
                </a:solidFill>
                <a:latin typeface="Arial"/>
              </a:rPr>
              <a:t>0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10479024" y="5504688"/>
            <a:ext cx="1078992" cy="20116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10479024" y="5504688"/>
            <a:ext cx="1078992" cy="20116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C62828"/>
                </a:solidFill>
                <a:latin typeface="Arial"/>
              </a:rPr>
              <a:t>0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365760" y="5705856"/>
            <a:ext cx="2560320" cy="20116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411480" y="5705856"/>
            <a:ext cx="2468880" cy="20116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Быстросохнущая, 2.2 л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2926080" y="5705856"/>
            <a:ext cx="1078992" cy="20116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2926080" y="5705856"/>
            <a:ext cx="1078992" cy="20116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1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4005072" y="5705856"/>
            <a:ext cx="1078992" cy="20116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4005072" y="5705856"/>
            <a:ext cx="1078992" cy="20116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1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5084064" y="5705856"/>
            <a:ext cx="1078992" cy="20116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5084064" y="5705856"/>
            <a:ext cx="1078992" cy="20116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C62828"/>
                </a:solidFill>
                <a:latin typeface="Arial"/>
              </a:rPr>
              <a:t>0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6163056" y="5705856"/>
            <a:ext cx="1078992" cy="20116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6163056" y="5705856"/>
            <a:ext cx="1078992" cy="20116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C62828"/>
                </a:solidFill>
                <a:latin typeface="Arial"/>
              </a:rPr>
              <a:t>0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7242048" y="5705856"/>
            <a:ext cx="1078992" cy="20116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7242048" y="5705856"/>
            <a:ext cx="1078992" cy="20116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C62828"/>
                </a:solidFill>
                <a:latin typeface="Arial"/>
              </a:rPr>
              <a:t>0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8321040" y="5705856"/>
            <a:ext cx="1078992" cy="20116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8321040" y="5705856"/>
            <a:ext cx="1078992" cy="20116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C62828"/>
                </a:solidFill>
                <a:latin typeface="Arial"/>
              </a:rPr>
              <a:t>0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9400032" y="5705856"/>
            <a:ext cx="1078992" cy="20116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9400032" y="5705856"/>
            <a:ext cx="1078992" cy="20116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C62828"/>
                </a:solidFill>
                <a:latin typeface="Arial"/>
              </a:rPr>
              <a:t>0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10479024" y="5705856"/>
            <a:ext cx="1078992" cy="20116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10479024" y="5705856"/>
            <a:ext cx="1078992" cy="20116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C62828"/>
                </a:solidFill>
                <a:latin typeface="Arial"/>
              </a:rPr>
              <a:t>0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365760" y="5907024"/>
            <a:ext cx="2560320" cy="20116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411480" y="5907024"/>
            <a:ext cx="2468880" cy="20116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Быстросохнущая, 0.75 л (нов.)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2926080" y="5907024"/>
            <a:ext cx="1078992" cy="20116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2926080" y="5907024"/>
            <a:ext cx="1078992" cy="20116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C62828"/>
                </a:solidFill>
                <a:latin typeface="Arial"/>
              </a:rPr>
              <a:t>0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4005072" y="5907024"/>
            <a:ext cx="1078992" cy="201168"/>
          </a:xfrm>
          <a:prstGeom prst="rect">
            <a:avLst/>
          </a:prstGeom>
          <a:solidFill>
            <a:srgbClr val="DCFCE7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4005072" y="5907024"/>
            <a:ext cx="1078992" cy="20116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3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5084064" y="5907024"/>
            <a:ext cx="1078992" cy="20116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5084064" y="5907024"/>
            <a:ext cx="1078992" cy="20116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C62828"/>
                </a:solidFill>
                <a:latin typeface="Arial"/>
              </a:rPr>
              <a:t>0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6163056" y="5907024"/>
            <a:ext cx="1078992" cy="201168"/>
          </a:xfrm>
          <a:prstGeom prst="rect">
            <a:avLst/>
          </a:prstGeom>
          <a:solidFill>
            <a:srgbClr val="DCFCE7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6163056" y="5907024"/>
            <a:ext cx="1078992" cy="20116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2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7242048" y="5907024"/>
            <a:ext cx="1078992" cy="20116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7242048" y="5907024"/>
            <a:ext cx="1078992" cy="20116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C62828"/>
                </a:solidFill>
                <a:latin typeface="Arial"/>
              </a:rPr>
              <a:t>0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8321040" y="5907024"/>
            <a:ext cx="1078992" cy="201168"/>
          </a:xfrm>
          <a:prstGeom prst="rect">
            <a:avLst/>
          </a:prstGeom>
          <a:solidFill>
            <a:srgbClr val="DCFCE7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8321040" y="5907024"/>
            <a:ext cx="1078992" cy="20116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2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9400032" y="5907024"/>
            <a:ext cx="1078992" cy="20116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9400032" y="5907024"/>
            <a:ext cx="1078992" cy="20116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C62828"/>
                </a:solidFill>
                <a:latin typeface="Arial"/>
              </a:rPr>
              <a:t>0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10479024" y="5907024"/>
            <a:ext cx="1078992" cy="20116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10479024" y="5907024"/>
            <a:ext cx="1078992" cy="20116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C62828"/>
                </a:solidFill>
                <a:latin typeface="Arial"/>
              </a:rPr>
              <a:t>0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365760" y="6108192"/>
            <a:ext cx="2560320" cy="20116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411480" y="6108192"/>
            <a:ext cx="2468880" cy="20116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Молотковая, 0.8 кг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2926080" y="6108192"/>
            <a:ext cx="1078992" cy="20116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2926080" y="6108192"/>
            <a:ext cx="1078992" cy="20116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3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4005072" y="6108192"/>
            <a:ext cx="1078992" cy="20116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4005072" y="6108192"/>
            <a:ext cx="1078992" cy="20116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3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5084064" y="6108192"/>
            <a:ext cx="1078992" cy="20116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5084064" y="6108192"/>
            <a:ext cx="1078992" cy="20116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2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6163056" y="6108192"/>
            <a:ext cx="1078992" cy="201168"/>
          </a:xfrm>
          <a:prstGeom prst="rect">
            <a:avLst/>
          </a:prstGeom>
          <a:solidFill>
            <a:srgbClr val="DCFCE7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TextBox 188"/>
          <p:cNvSpPr txBox="1"/>
          <p:nvPr/>
        </p:nvSpPr>
        <p:spPr>
          <a:xfrm>
            <a:off x="6163056" y="6108192"/>
            <a:ext cx="1078992" cy="20116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3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7242048" y="6108192"/>
            <a:ext cx="1078992" cy="20116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7242048" y="6108192"/>
            <a:ext cx="1078992" cy="20116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2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8321040" y="6108192"/>
            <a:ext cx="1078992" cy="20116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TextBox 192"/>
          <p:cNvSpPr txBox="1"/>
          <p:nvPr/>
        </p:nvSpPr>
        <p:spPr>
          <a:xfrm>
            <a:off x="8321040" y="6108192"/>
            <a:ext cx="1078992" cy="20116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2</a:t>
            </a:r>
          </a:p>
        </p:txBody>
      </p:sp>
      <p:sp>
        <p:nvSpPr>
          <p:cNvPr id="194" name="Rectangle 193"/>
          <p:cNvSpPr/>
          <p:nvPr/>
        </p:nvSpPr>
        <p:spPr>
          <a:xfrm>
            <a:off x="9400032" y="6108192"/>
            <a:ext cx="1078992" cy="20116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TextBox 194"/>
          <p:cNvSpPr txBox="1"/>
          <p:nvPr/>
        </p:nvSpPr>
        <p:spPr>
          <a:xfrm>
            <a:off x="9400032" y="6108192"/>
            <a:ext cx="1078992" cy="20116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C62828"/>
                </a:solidFill>
                <a:latin typeface="Arial"/>
              </a:rPr>
              <a:t>0</a:t>
            </a:r>
          </a:p>
        </p:txBody>
      </p:sp>
      <p:sp>
        <p:nvSpPr>
          <p:cNvPr id="196" name="Rectangle 195"/>
          <p:cNvSpPr/>
          <p:nvPr/>
        </p:nvSpPr>
        <p:spPr>
          <a:xfrm>
            <a:off x="10479024" y="6108192"/>
            <a:ext cx="1078992" cy="20116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TextBox 196"/>
          <p:cNvSpPr txBox="1"/>
          <p:nvPr/>
        </p:nvSpPr>
        <p:spPr>
          <a:xfrm>
            <a:off x="10479024" y="6108192"/>
            <a:ext cx="1078992" cy="20116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C62828"/>
                </a:solidFill>
                <a:latin typeface="Arial"/>
              </a:rPr>
              <a:t>0</a:t>
            </a:r>
          </a:p>
        </p:txBody>
      </p:sp>
      <p:sp>
        <p:nvSpPr>
          <p:cNvPr id="198" name="Rectangle 197"/>
          <p:cNvSpPr/>
          <p:nvPr/>
        </p:nvSpPr>
        <p:spPr>
          <a:xfrm>
            <a:off x="365760" y="6309360"/>
            <a:ext cx="2560320" cy="20116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>
            <a:off x="411480" y="6309360"/>
            <a:ext cx="2468880" cy="20116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Молотковая, 2.5 кг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2926080" y="6309360"/>
            <a:ext cx="1078992" cy="20116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2926080" y="6309360"/>
            <a:ext cx="1078992" cy="20116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1</a:t>
            </a:r>
          </a:p>
        </p:txBody>
      </p:sp>
      <p:sp>
        <p:nvSpPr>
          <p:cNvPr id="202" name="Rectangle 201"/>
          <p:cNvSpPr/>
          <p:nvPr/>
        </p:nvSpPr>
        <p:spPr>
          <a:xfrm>
            <a:off x="4005072" y="6309360"/>
            <a:ext cx="1078992" cy="20116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TextBox 202"/>
          <p:cNvSpPr txBox="1"/>
          <p:nvPr/>
        </p:nvSpPr>
        <p:spPr>
          <a:xfrm>
            <a:off x="4005072" y="6309360"/>
            <a:ext cx="1078992" cy="20116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1</a:t>
            </a:r>
          </a:p>
        </p:txBody>
      </p:sp>
      <p:sp>
        <p:nvSpPr>
          <p:cNvPr id="204" name="Rectangle 203"/>
          <p:cNvSpPr/>
          <p:nvPr/>
        </p:nvSpPr>
        <p:spPr>
          <a:xfrm>
            <a:off x="5084064" y="6309360"/>
            <a:ext cx="1078992" cy="20116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TextBox 204"/>
          <p:cNvSpPr txBox="1"/>
          <p:nvPr/>
        </p:nvSpPr>
        <p:spPr>
          <a:xfrm>
            <a:off x="5084064" y="6309360"/>
            <a:ext cx="1078992" cy="20116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C62828"/>
                </a:solidFill>
                <a:latin typeface="Arial"/>
              </a:rPr>
              <a:t>0</a:t>
            </a:r>
          </a:p>
        </p:txBody>
      </p:sp>
      <p:sp>
        <p:nvSpPr>
          <p:cNvPr id="206" name="Rectangle 205"/>
          <p:cNvSpPr/>
          <p:nvPr/>
        </p:nvSpPr>
        <p:spPr>
          <a:xfrm>
            <a:off x="6163056" y="6309360"/>
            <a:ext cx="1078992" cy="20116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TextBox 206"/>
          <p:cNvSpPr txBox="1"/>
          <p:nvPr/>
        </p:nvSpPr>
        <p:spPr>
          <a:xfrm>
            <a:off x="6163056" y="6309360"/>
            <a:ext cx="1078992" cy="20116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C62828"/>
                </a:solidFill>
                <a:latin typeface="Arial"/>
              </a:rPr>
              <a:t>0</a:t>
            </a:r>
          </a:p>
        </p:txBody>
      </p:sp>
      <p:sp>
        <p:nvSpPr>
          <p:cNvPr id="208" name="Rectangle 207"/>
          <p:cNvSpPr/>
          <p:nvPr/>
        </p:nvSpPr>
        <p:spPr>
          <a:xfrm>
            <a:off x="7242048" y="6309360"/>
            <a:ext cx="1078992" cy="20116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TextBox 208"/>
          <p:cNvSpPr txBox="1"/>
          <p:nvPr/>
        </p:nvSpPr>
        <p:spPr>
          <a:xfrm>
            <a:off x="7242048" y="6309360"/>
            <a:ext cx="1078992" cy="20116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C62828"/>
                </a:solidFill>
                <a:latin typeface="Arial"/>
              </a:rPr>
              <a:t>0</a:t>
            </a:r>
          </a:p>
        </p:txBody>
      </p:sp>
      <p:sp>
        <p:nvSpPr>
          <p:cNvPr id="210" name="Rectangle 209"/>
          <p:cNvSpPr/>
          <p:nvPr/>
        </p:nvSpPr>
        <p:spPr>
          <a:xfrm>
            <a:off x="8321040" y="6309360"/>
            <a:ext cx="1078992" cy="20116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TextBox 210"/>
          <p:cNvSpPr txBox="1"/>
          <p:nvPr/>
        </p:nvSpPr>
        <p:spPr>
          <a:xfrm>
            <a:off x="8321040" y="6309360"/>
            <a:ext cx="1078992" cy="20116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C62828"/>
                </a:solidFill>
                <a:latin typeface="Arial"/>
              </a:rPr>
              <a:t>0</a:t>
            </a:r>
          </a:p>
        </p:txBody>
      </p:sp>
      <p:sp>
        <p:nvSpPr>
          <p:cNvPr id="212" name="Rectangle 211"/>
          <p:cNvSpPr/>
          <p:nvPr/>
        </p:nvSpPr>
        <p:spPr>
          <a:xfrm>
            <a:off x="9400032" y="6309360"/>
            <a:ext cx="1078992" cy="20116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TextBox 212"/>
          <p:cNvSpPr txBox="1"/>
          <p:nvPr/>
        </p:nvSpPr>
        <p:spPr>
          <a:xfrm>
            <a:off x="9400032" y="6309360"/>
            <a:ext cx="1078992" cy="20116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C62828"/>
                </a:solidFill>
                <a:latin typeface="Arial"/>
              </a:rPr>
              <a:t>0</a:t>
            </a:r>
          </a:p>
        </p:txBody>
      </p:sp>
      <p:sp>
        <p:nvSpPr>
          <p:cNvPr id="214" name="Rectangle 213"/>
          <p:cNvSpPr/>
          <p:nvPr/>
        </p:nvSpPr>
        <p:spPr>
          <a:xfrm>
            <a:off x="10479024" y="6309360"/>
            <a:ext cx="1078992" cy="20116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TextBox 214"/>
          <p:cNvSpPr txBox="1"/>
          <p:nvPr/>
        </p:nvSpPr>
        <p:spPr>
          <a:xfrm>
            <a:off x="10479024" y="6309360"/>
            <a:ext cx="1078992" cy="20116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C62828"/>
                </a:solidFill>
                <a:latin typeface="Arial"/>
              </a:rPr>
              <a:t>0</a:t>
            </a:r>
          </a:p>
        </p:txBody>
      </p:sp>
      <p:sp>
        <p:nvSpPr>
          <p:cNvPr id="216" name="Rectangle 215"/>
          <p:cNvSpPr/>
          <p:nvPr/>
        </p:nvSpPr>
        <p:spPr>
          <a:xfrm>
            <a:off x="365760" y="6510528"/>
            <a:ext cx="256032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TextBox 216"/>
          <p:cNvSpPr txBox="1"/>
          <p:nvPr/>
        </p:nvSpPr>
        <p:spPr>
          <a:xfrm>
            <a:off x="365760" y="6510528"/>
            <a:ext cx="256032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ИТОГО SKU</a:t>
            </a:r>
          </a:p>
        </p:txBody>
      </p:sp>
      <p:sp>
        <p:nvSpPr>
          <p:cNvPr id="218" name="Rectangle 217"/>
          <p:cNvSpPr/>
          <p:nvPr/>
        </p:nvSpPr>
        <p:spPr>
          <a:xfrm>
            <a:off x="2926080" y="6510528"/>
            <a:ext cx="1078992" cy="274320"/>
          </a:xfrm>
          <a:prstGeom prst="rect">
            <a:avLst/>
          </a:prstGeom>
          <a:solidFill>
            <a:srgbClr val="C6282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TextBox 218"/>
          <p:cNvSpPr txBox="1"/>
          <p:nvPr/>
        </p:nvSpPr>
        <p:spPr>
          <a:xfrm>
            <a:off x="2926080" y="6510528"/>
            <a:ext cx="1078992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16</a:t>
            </a:r>
          </a:p>
        </p:txBody>
      </p:sp>
      <p:sp>
        <p:nvSpPr>
          <p:cNvPr id="220" name="Rectangle 219"/>
          <p:cNvSpPr/>
          <p:nvPr/>
        </p:nvSpPr>
        <p:spPr>
          <a:xfrm>
            <a:off x="4005072" y="6510528"/>
            <a:ext cx="1078992" cy="274320"/>
          </a:xfrm>
          <a:prstGeom prst="rect">
            <a:avLst/>
          </a:prstGeom>
          <a:solidFill>
            <a:srgbClr val="C6282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TextBox 220"/>
          <p:cNvSpPr txBox="1"/>
          <p:nvPr/>
        </p:nvSpPr>
        <p:spPr>
          <a:xfrm>
            <a:off x="4005072" y="6510528"/>
            <a:ext cx="1078992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21</a:t>
            </a:r>
          </a:p>
        </p:txBody>
      </p:sp>
      <p:sp>
        <p:nvSpPr>
          <p:cNvPr id="222" name="Rectangle 221"/>
          <p:cNvSpPr/>
          <p:nvPr/>
        </p:nvSpPr>
        <p:spPr>
          <a:xfrm>
            <a:off x="5084064" y="6510528"/>
            <a:ext cx="1078992" cy="274320"/>
          </a:xfrm>
          <a:prstGeom prst="rect">
            <a:avLst/>
          </a:prstGeom>
          <a:solidFill>
            <a:srgbClr val="F4792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TextBox 222"/>
          <p:cNvSpPr txBox="1"/>
          <p:nvPr/>
        </p:nvSpPr>
        <p:spPr>
          <a:xfrm>
            <a:off x="5084064" y="6510528"/>
            <a:ext cx="1078992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12</a:t>
            </a:r>
          </a:p>
        </p:txBody>
      </p:sp>
      <p:sp>
        <p:nvSpPr>
          <p:cNvPr id="224" name="Rectangle 223"/>
          <p:cNvSpPr/>
          <p:nvPr/>
        </p:nvSpPr>
        <p:spPr>
          <a:xfrm>
            <a:off x="6163056" y="6510528"/>
            <a:ext cx="1078992" cy="274320"/>
          </a:xfrm>
          <a:prstGeom prst="rect">
            <a:avLst/>
          </a:prstGeom>
          <a:solidFill>
            <a:srgbClr val="F4792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TextBox 224"/>
          <p:cNvSpPr txBox="1"/>
          <p:nvPr/>
        </p:nvSpPr>
        <p:spPr>
          <a:xfrm>
            <a:off x="6163056" y="6510528"/>
            <a:ext cx="1078992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16</a:t>
            </a:r>
          </a:p>
        </p:txBody>
      </p:sp>
      <p:sp>
        <p:nvSpPr>
          <p:cNvPr id="226" name="Rectangle 225"/>
          <p:cNvSpPr/>
          <p:nvPr/>
        </p:nvSpPr>
        <p:spPr>
          <a:xfrm>
            <a:off x="7242048" y="6510528"/>
            <a:ext cx="1078992" cy="274320"/>
          </a:xfrm>
          <a:prstGeom prst="rect">
            <a:avLst/>
          </a:prstGeom>
          <a:solidFill>
            <a:srgbClr val="16A34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TextBox 226"/>
          <p:cNvSpPr txBox="1"/>
          <p:nvPr/>
        </p:nvSpPr>
        <p:spPr>
          <a:xfrm>
            <a:off x="7242048" y="6510528"/>
            <a:ext cx="1078992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8" name="Rectangle 227"/>
          <p:cNvSpPr/>
          <p:nvPr/>
        </p:nvSpPr>
        <p:spPr>
          <a:xfrm>
            <a:off x="8321040" y="6510528"/>
            <a:ext cx="1078992" cy="274320"/>
          </a:xfrm>
          <a:prstGeom prst="rect">
            <a:avLst/>
          </a:prstGeom>
          <a:solidFill>
            <a:srgbClr val="16A34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TextBox 228"/>
          <p:cNvSpPr txBox="1"/>
          <p:nvPr/>
        </p:nvSpPr>
        <p:spPr>
          <a:xfrm>
            <a:off x="8321040" y="6510528"/>
            <a:ext cx="1078992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30" name="Rectangle 229"/>
          <p:cNvSpPr/>
          <p:nvPr/>
        </p:nvSpPr>
        <p:spPr>
          <a:xfrm>
            <a:off x="9400032" y="6510528"/>
            <a:ext cx="1078992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TextBox 230"/>
          <p:cNvSpPr txBox="1"/>
          <p:nvPr/>
        </p:nvSpPr>
        <p:spPr>
          <a:xfrm>
            <a:off x="9400032" y="6510528"/>
            <a:ext cx="1078992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0</a:t>
            </a:r>
          </a:p>
        </p:txBody>
      </p:sp>
      <p:sp>
        <p:nvSpPr>
          <p:cNvPr id="232" name="Rectangle 231"/>
          <p:cNvSpPr/>
          <p:nvPr/>
        </p:nvSpPr>
        <p:spPr>
          <a:xfrm>
            <a:off x="10479024" y="6510528"/>
            <a:ext cx="1078992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TextBox 232"/>
          <p:cNvSpPr txBox="1"/>
          <p:nvPr/>
        </p:nvSpPr>
        <p:spPr>
          <a:xfrm>
            <a:off x="10479024" y="6510528"/>
            <a:ext cx="1078992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4" name="Rounded Rectangle 233"/>
          <p:cNvSpPr/>
          <p:nvPr/>
        </p:nvSpPr>
        <p:spPr>
          <a:xfrm>
            <a:off x="365760" y="6830568"/>
            <a:ext cx="11460175" cy="41148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TextBox 234"/>
          <p:cNvSpPr txBox="1"/>
          <p:nvPr/>
        </p:nvSpPr>
        <p:spPr>
          <a:xfrm>
            <a:off x="365760" y="6830568"/>
            <a:ext cx="11460175" cy="4114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BBF24"/>
                </a:solidFill>
                <a:latin typeface="Arial"/>
              </a:rPr>
              <a:t>ИТОГО: 30 SKU → 46 SKU (+16)  ·  Все добавления основаны на реальных продажах  ·  Источник: «Титан цвета», 2026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365760" y="6583680"/>
            <a:ext cx="11460175" cy="2286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800" b="0" i="1">
                <a:solidFill>
                  <a:srgbClr val="9CA3AF"/>
                </a:solidFill>
                <a:latin typeface="Arial"/>
              </a:rPr>
              <a:t>Empils  •  TITAN  •  MML — Minimal Must List  •  Красишь 1 раз — служит 10 лет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