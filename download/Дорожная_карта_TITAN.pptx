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914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4572000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45720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ДОРОЖНАЯ КАРТА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45720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РАЗВИТИЯ ПРОДАЖ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657600"/>
            <a:ext cx="2286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4572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Программа для дистрибьюторов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43400"/>
            <a:ext cx="4572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Arial"/>
              </a:rPr>
              <a:t>2 сценария · поиск · 3 этапа продаж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37760"/>
            <a:ext cx="45720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Arial"/>
              </a:rPr>
              <a:t>Эмпилс гарантирует: при выполнении всех
действий продажи TITAN будут расти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914400"/>
            <a:ext cx="6400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600" b="1" i="0">
                <a:solidFill>
                  <a:srgbClr val="16A34A"/>
                </a:solidFill>
                <a:latin typeface="Arial"/>
              </a:rPr>
              <a:t>10 лет без перекраски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737360"/>
            <a:ext cx="6400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600" b="1" i="0">
                <a:solidFill>
                  <a:srgbClr val="16A34A"/>
                </a:solidFill>
                <a:latin typeface="Arial"/>
              </a:rPr>
              <a:t>10 лет экономии!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69748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880360"/>
            <a:ext cx="6400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1A1F36"/>
                </a:solidFill>
                <a:latin typeface="Arial"/>
              </a:rPr>
              <a:t>Структура программы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566160"/>
            <a:ext cx="1554480" cy="2194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3566160"/>
            <a:ext cx="155448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3611880"/>
            <a:ext cx="15544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БЛОК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160520"/>
            <a:ext cx="14630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1A1F36"/>
                </a:solidFill>
                <a:latin typeface="Arial"/>
              </a:rPr>
              <a:t>ПОИСК ПАРТНЁРА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4754880"/>
            <a:ext cx="146304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6 инструментов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3566160"/>
            <a:ext cx="1554480" cy="2194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78040" y="3566160"/>
            <a:ext cx="1554480" cy="45720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3611880"/>
            <a:ext cx="15544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БЛОК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160520"/>
            <a:ext cx="14630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1A1F36"/>
                </a:solidFill>
                <a:latin typeface="Arial"/>
              </a:rPr>
              <a:t>СЦЕНАРИЙ 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754880"/>
            <a:ext cx="146304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Новый партнёр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3566160"/>
            <a:ext cx="1554480" cy="2194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3566160"/>
            <a:ext cx="1554480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3611880"/>
            <a:ext cx="15544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БЛОК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160520"/>
            <a:ext cx="14630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1A1F36"/>
                </a:solidFill>
                <a:latin typeface="Arial"/>
              </a:rPr>
              <a:t>СЦЕНАРИЙ 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4754880"/>
            <a:ext cx="146304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Действующий партнёр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61320" y="3566160"/>
            <a:ext cx="1554480" cy="2194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61320" y="3566160"/>
            <a:ext cx="1554480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61320" y="3611880"/>
            <a:ext cx="15544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БЛОК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4160520"/>
            <a:ext cx="14630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1A1F36"/>
                </a:solidFill>
                <a:latin typeface="Arial"/>
              </a:rPr>
              <a:t>3 ЭТАПА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4754880"/>
            <a:ext cx="146304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Первичные · Вторичные · Третичные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035040"/>
            <a:ext cx="6400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Arial"/>
              </a:rPr>
              <a:t>Empils  •  100+ лет на рынке ЛКМ  •  ТОП-3 производителей России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О КОМПАНИИ «ЭМПИЛС»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100+ лет на рынке ЛКМ  •  ТОП-3 производителей России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2788920" cy="9144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4800" b="1" i="0">
                <a:solidFill>
                  <a:srgbClr val="1E3A5F"/>
                </a:solidFill>
                <a:latin typeface="Arial"/>
              </a:rPr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6060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лет непрерывного
развития в химической
отрасле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914400"/>
            <a:ext cx="2788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051560"/>
            <a:ext cx="2788920" cy="9144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4800" b="1" i="0">
                <a:solidFill>
                  <a:srgbClr val="C62828"/>
                </a:solidFill>
                <a:latin typeface="Arial"/>
              </a:rPr>
              <a:t>ТОП-3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57400"/>
            <a:ext cx="26060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крупнейших
производителей ЛКМ
в РФ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914400"/>
            <a:ext cx="2788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051560"/>
            <a:ext cx="2788920" cy="9144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4800" b="1" i="0">
                <a:solidFill>
                  <a:srgbClr val="16A34A"/>
                </a:solidFill>
                <a:latin typeface="Arial"/>
              </a:rPr>
              <a:t>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57400"/>
            <a:ext cx="26060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доля рынка в денежном
выражении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914400"/>
            <a:ext cx="2788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051560"/>
            <a:ext cx="2788920" cy="9144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4800" b="1" i="0">
                <a:solidFill>
                  <a:srgbClr val="F47920"/>
                </a:solidFill>
                <a:latin typeface="Arial"/>
              </a:rPr>
              <a:t>39,3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057400"/>
            <a:ext cx="26060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тыс. тонн продукции
за 2025 год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200400"/>
            <a:ext cx="11430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Arial"/>
              </a:rPr>
              <a:t>ГЕОГРАФИЯ БИЗНЕСА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749039"/>
            <a:ext cx="2788920" cy="13716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840479"/>
            <a:ext cx="27889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C62828"/>
                </a:solidFill>
                <a:latin typeface="Arial"/>
              </a:rPr>
              <a:t>100+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34839"/>
            <a:ext cx="26060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1A1F36"/>
                </a:solidFill>
                <a:latin typeface="Arial"/>
              </a:rPr>
              <a:t>дистрибьюторов
в России и за рубежом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749039"/>
            <a:ext cx="2788920" cy="13716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3840479"/>
            <a:ext cx="27889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F47920"/>
                </a:solidFill>
                <a:latin typeface="Arial"/>
              </a:rPr>
              <a:t>150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434839"/>
            <a:ext cx="26060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1A1F36"/>
                </a:solidFill>
                <a:latin typeface="Arial"/>
              </a:rPr>
              <a:t>городов России
с представленностью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49039"/>
            <a:ext cx="2788920" cy="13716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840479"/>
            <a:ext cx="27889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16A34A"/>
                </a:solidFill>
                <a:latin typeface="Arial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434839"/>
            <a:ext cx="26060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1A1F36"/>
                </a:solidFill>
                <a:latin typeface="Arial"/>
              </a:rPr>
              <a:t>стран экспорта
(СНГ + Монголия)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3749039"/>
            <a:ext cx="2788920" cy="13716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3840479"/>
            <a:ext cx="27889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1E3A5F"/>
                </a:solidFill>
                <a:latin typeface="Arial"/>
              </a:rPr>
              <a:t>36 000 м²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434839"/>
            <a:ext cx="26060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1A1F36"/>
                </a:solidFill>
                <a:latin typeface="Arial"/>
              </a:rPr>
              <a:t>площадь складов
компании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349240"/>
            <a:ext cx="11430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Arial"/>
              </a:rPr>
              <a:t>ПРОИЗВОДСТВО — 4 ЦЕХА, 168 000 ТОНН В ГОД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806440"/>
            <a:ext cx="2754630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833872"/>
            <a:ext cx="2663190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Цех лаков</a:t>
            </a:r>
          </a:p>
          <a:p>
            <a:pPr algn="ctr"/>
            <a:r>
              <a:rPr sz="800" b="0">
                <a:solidFill>
                  <a:srgbClr val="CBD5E1"/>
                </a:solidFill>
                <a:latin typeface="Arial"/>
              </a:rPr>
              <a:t>30 000 т/год · полуфабрикатные лаки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7550" y="5806440"/>
            <a:ext cx="2754630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03270" y="5833872"/>
            <a:ext cx="2663190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Цех эмалей (малотоннажные)</a:t>
            </a:r>
          </a:p>
          <a:p>
            <a:pPr algn="ctr"/>
            <a:r>
              <a:rPr sz="800" b="0">
                <a:solidFill>
                  <a:srgbClr val="CBD5E1"/>
                </a:solidFill>
                <a:latin typeface="Arial"/>
              </a:rPr>
              <a:t>18 000 т/год · партии от 700 кг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9340" y="5806440"/>
            <a:ext cx="2754630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5060" y="5833872"/>
            <a:ext cx="2663190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Цех водных покрытий</a:t>
            </a:r>
          </a:p>
          <a:p>
            <a:pPr algn="ctr"/>
            <a:r>
              <a:rPr sz="800" b="0">
                <a:solidFill>
                  <a:srgbClr val="CBD5E1"/>
                </a:solidFill>
                <a:latin typeface="Arial"/>
              </a:rPr>
              <a:t>30 000 т/год · экологичная продукция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41130" y="5806440"/>
            <a:ext cx="2754630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86850" y="5833872"/>
            <a:ext cx="2663190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Цех эмалей (крупнотоннажные)</a:t>
            </a:r>
          </a:p>
          <a:p>
            <a:pPr algn="ctr"/>
            <a:r>
              <a:rPr sz="800" b="0">
                <a:solidFill>
                  <a:srgbClr val="CBD5E1"/>
                </a:solidFill>
                <a:latin typeface="Arial"/>
              </a:rPr>
              <a:t>90 000 т/год · до 280 т/сутки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СПЕЦИАЛИЗАЦИЯ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У коррозии нет шансов  •  10 лет защиты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5486400" cy="5303520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1206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У КОРРОЗИИ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1206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BBF24"/>
                </a:solidFill>
                <a:latin typeface="Arial"/>
              </a:rPr>
              <a:t>НЕТ ШАНСОВ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5120640" cy="22860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Специализированная линейка материалов по металлу TITAN сочетает в себе свойства самых последних и инновационных разработок в сфере лакокрасочных покрытий.
Материалы TITAN предотвращают появление коррозии и сохраняют целостность конструкции в течение 10 лет.
Подтверждено независимым испытательным центром ООО «Рутил».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212080"/>
            <a:ext cx="5120640" cy="8229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5120640" cy="822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C62828"/>
                </a:solidFill>
                <a:latin typeface="Arial"/>
              </a:rPr>
              <a:t>10 лет без перекраски —
10 лет экономии!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914400"/>
            <a:ext cx="5943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 i="0">
                <a:solidFill>
                  <a:srgbClr val="1A1F36"/>
                </a:solidFill>
                <a:latin typeface="Arial"/>
              </a:rPr>
              <a:t>3 ЛИНЕЙКИ TITAN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63040"/>
            <a:ext cx="594360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137160" cy="15087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1554480"/>
            <a:ext cx="1828800" cy="320040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554480"/>
            <a:ext cx="18288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10 лет гарантии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54864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Грунт + эмаль + преобразователь ржавчины
в одной банке. Глянцевая. 9 цветов 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06040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Arial"/>
              </a:rPr>
              <a:t>Фасовка: 0.75 л · 2 л · 5 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063240"/>
            <a:ext cx="594360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063240"/>
            <a:ext cx="137160" cy="1508760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15468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3154680"/>
            <a:ext cx="1828800" cy="320040"/>
          </a:xfrm>
          <a:prstGeom prst="round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3154680"/>
            <a:ext cx="18288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1.5 ч на отлип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11880"/>
            <a:ext cx="54864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Матовая. Сохнет 30 минут.
До -15 °C. Для профессионалов.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06240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Arial"/>
              </a:rPr>
              <a:t>Фасовка: 0.75 л · 2.2 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663440"/>
            <a:ext cx="594360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4663440"/>
            <a:ext cx="137160" cy="15087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75488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 i="0">
                <a:solidFill>
                  <a:srgbClr val="B8860B"/>
                </a:solidFill>
                <a:latin typeface="Arial"/>
              </a:rPr>
              <a:t>МОЛОТКОВАЯ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4754880"/>
            <a:ext cx="1828800" cy="320040"/>
          </a:xfrm>
          <a:prstGeom prst="round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0" y="4754880"/>
            <a:ext cx="18288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10 лет защиты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212080"/>
            <a:ext cx="54864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Декоративный молотковый эффект.
Скрывает дефекты поверхности.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806440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Arial"/>
              </a:rPr>
              <a:t>Фасовка: 0.8 кг · 2.5 кг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ПОИСК НОВОГО ПАРТНЁРА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6 инструментов выхода на контакт  •  Сценарий 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68680"/>
            <a:ext cx="11460175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Arial"/>
              </a:rPr>
              <a:t>Цель: выйти на контакт с потенциальным партнёром и презентовать программу TITAN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486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5486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691640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91640"/>
            <a:ext cx="32004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Инструмент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691640"/>
            <a:ext cx="5029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691640"/>
            <a:ext cx="50292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Описание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691640"/>
            <a:ext cx="3017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691640"/>
            <a:ext cx="3017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Эффективность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0312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103120"/>
            <a:ext cx="5486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103120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103120"/>
            <a:ext cx="30175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Персональный визит РМ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103120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2103120"/>
            <a:ext cx="48463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Региональный менеджер приезжает в офис потенциального партнёра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103120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103120"/>
            <a:ext cx="28346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Самый эффективный канал. Конверсия 40-60%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16352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816352"/>
            <a:ext cx="5486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816352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2816352"/>
            <a:ext cx="30175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Звонок РМ (теплый прозвон)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2816352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2816352"/>
            <a:ext cx="48463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Звонок после email или бумажного письма — договориться о встрече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816352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2816352"/>
            <a:ext cx="28346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в встречу 15-25%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529584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529584"/>
            <a:ext cx="5486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3529584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3529584"/>
            <a:ext cx="30175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Отправка приглашения в МАХ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3529584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529584"/>
            <a:ext cx="48463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Презентация программы TITAN через мессенджер МАХ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529584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3529584"/>
            <a:ext cx="28346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Удобно для дистрибьюторов, использующих МАХ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242816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242816"/>
            <a:ext cx="5486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4242816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4242816"/>
            <a:ext cx="30175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Email-рассылка по базе «белые пятна»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4242816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0" y="4242816"/>
            <a:ext cx="48463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Персонализированное письмо + приглашение посетить завод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4242816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4242816"/>
            <a:ext cx="28346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Масштабируемый канал. Конверсия 3-7%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956048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4956048"/>
            <a:ext cx="5486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" y="4956048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" y="4956048"/>
            <a:ext cx="30175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Письмо по обычной почте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4956048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06240" y="4956048"/>
            <a:ext cx="48463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Напечатанное приглашение посетить завод, отправленное Почтой России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4956048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5440" y="4956048"/>
            <a:ext cx="28346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8-15%. Бумага воспринимается как «серьёзный жест»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66928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5669280"/>
            <a:ext cx="5486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" y="5669280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5669280"/>
            <a:ext cx="30175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Приглашение на профильной выставке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0" y="5669280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0" y="5669280"/>
            <a:ext cx="48463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Контакт в период участия партнёра в выставке (MosBuild и др.)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0" y="5669280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35440" y="5669280"/>
            <a:ext cx="28346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Личный контакт на стенде Эмпилс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ДВА СЦЕНАРИЯ РАБОТЫ С ДИСТРИБЬЮТОРОМ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От «убедить попробовать» до «увеличить продажи»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5669280" cy="5212080"/>
          </a:xfrm>
          <a:prstGeom prst="roundRect">
            <a:avLst/>
          </a:prstGeom>
          <a:solidFill>
            <a:srgbClr val="FEE2E2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188720"/>
            <a:ext cx="731520" cy="7315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731520" cy="731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188720"/>
            <a:ext cx="42976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1" i="0">
                <a:solidFill>
                  <a:srgbClr val="C62828"/>
                </a:solidFill>
                <a:latin typeface="Arial"/>
              </a:rPr>
              <a:t>НОВЫЙ ПАРТНЁР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00200"/>
            <a:ext cx="42976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 i="1">
                <a:solidFill>
                  <a:srgbClr val="1A1F36"/>
                </a:solidFill>
                <a:latin typeface="Arial"/>
              </a:rPr>
              <a:t>«Убедить попробовать»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512064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Дистрибьютор не хочет заводить TITAN, потому что у него уже есть аналог. Главный барьер — страх: «Закуплю — не продам, заморожу деньги, потеряю время». Инструменты этого сценария снимают страх и делают первую закупку максимально безболезненной.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4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Arial"/>
              </a:rPr>
              <a:t>КЛЮЧЕВЫЕ ИНСТРУМЕНТЫ: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5120640" cy="182880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62828"/>
                </a:solidFill>
                <a:latin typeface="Arial"/>
              </a:rPr>
              <a:t>•  </a:t>
            </a:r>
            <a:r>
              <a:rPr sz="1100">
                <a:solidFill>
                  <a:srgbClr val="1A1F36"/>
                </a:solidFill>
                <a:latin typeface="Arial"/>
              </a:rPr>
              <a:t>Бонус за первичную закупку 5-10%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C62828"/>
                </a:solidFill>
                <a:latin typeface="Arial"/>
              </a:rPr>
              <a:t>•  </a:t>
            </a:r>
            <a:r>
              <a:rPr sz="1100">
                <a:solidFill>
                  <a:srgbClr val="1A1F36"/>
                </a:solidFill>
                <a:latin typeface="Arial"/>
              </a:rPr>
              <a:t>Возврат неликвида в 90 дней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C62828"/>
                </a:solidFill>
                <a:latin typeface="Arial"/>
              </a:rPr>
              <a:t>•  </a:t>
            </a:r>
            <a:r>
              <a:rPr sz="1100">
                <a:solidFill>
                  <a:srgbClr val="1A1F36"/>
                </a:solidFill>
                <a:latin typeface="Arial"/>
              </a:rPr>
              <a:t>Отсрочка 70-90 дней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C62828"/>
                </a:solidFill>
                <a:latin typeface="Arial"/>
              </a:rPr>
              <a:t>•  </a:t>
            </a:r>
            <a:r>
              <a:rPr sz="1100">
                <a:solidFill>
                  <a:srgbClr val="1A1F36"/>
                </a:solidFill>
                <a:latin typeface="Arial"/>
              </a:rPr>
              <a:t>Выездное обучение команды ТП (1 день)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C62828"/>
                </a:solidFill>
                <a:latin typeface="Arial"/>
              </a:rPr>
              <a:t>•  </a:t>
            </a:r>
            <a:r>
              <a:rPr sz="1100">
                <a:solidFill>
                  <a:srgbClr val="1A1F36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C62828"/>
                </a:solidFill>
                <a:latin typeface="Arial"/>
              </a:rPr>
              <a:t>•  </a:t>
            </a:r>
            <a:r>
              <a:rPr sz="1100">
                <a:solidFill>
                  <a:srgbClr val="1A1F36"/>
                </a:solidFill>
                <a:latin typeface="Arial"/>
              </a:rPr>
              <a:t>Стартовый набор постов для соцсетей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914400"/>
            <a:ext cx="5669280" cy="5212080"/>
          </a:xfrm>
          <a:prstGeom prst="roundRect">
            <a:avLst/>
          </a:prstGeom>
          <a:solidFill>
            <a:srgbClr val="DCFCE7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0" y="1188720"/>
            <a:ext cx="731520" cy="7315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88720"/>
            <a:ext cx="731520" cy="731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1188720"/>
            <a:ext cx="42976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  <a:latin typeface="Arial"/>
              </a:rPr>
              <a:t>ДЕЙСТВУЮЩИЙ ПАРТНЁР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600200"/>
            <a:ext cx="42976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 i="1">
                <a:solidFill>
                  <a:srgbClr val="1A1F36"/>
                </a:solidFill>
                <a:latin typeface="Arial"/>
              </a:rPr>
              <a:t>«Увеличить продажи»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86000"/>
            <a:ext cx="512064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Дистрибьютор уже продаёт TITAN 3в1, но продажи не растут или нестабильны. Он знает продукт, но не вкладывается в его продвижение. Причины: нет мотивации ТП, нет инструментов для розницы, нет обучения продавцов, нет системного подхода.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4904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Arial"/>
              </a:rPr>
              <a:t>КЛЮЧЕВЫЕ ИНСТРУМЕНТЫ: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14800"/>
            <a:ext cx="5120640" cy="182880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Arial"/>
              </a:rPr>
              <a:t>•  </a:t>
            </a:r>
            <a:r>
              <a:rPr sz="1100">
                <a:solidFill>
                  <a:srgbClr val="1A1F36"/>
                </a:solidFill>
                <a:latin typeface="Arial"/>
              </a:rPr>
              <a:t>Купи Титана для 100% планограммы → бонус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Arial"/>
              </a:rPr>
              <a:t>•  </a:t>
            </a:r>
            <a:r>
              <a:rPr sz="1100">
                <a:solidFill>
                  <a:srgbClr val="1A1F36"/>
                </a:solidFill>
                <a:latin typeface="Arial"/>
              </a:rPr>
              <a:t>Мин. заказ от 1 банки. Глубина: B-5, C-3, D-2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Arial"/>
              </a:rPr>
              <a:t>•  </a:t>
            </a:r>
            <a:r>
              <a:rPr sz="1100">
                <a:solidFill>
                  <a:srgbClr val="1A1F36"/>
                </a:solidFill>
                <a:latin typeface="Arial"/>
              </a:rPr>
              <a:t>Отсрочка 14 дней для розницы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Arial"/>
              </a:rPr>
              <a:t>•  </a:t>
            </a:r>
            <a:r>
              <a:rPr sz="1100">
                <a:solidFill>
                  <a:srgbClr val="1A1F36"/>
                </a:solidFill>
                <a:latin typeface="Arial"/>
              </a:rPr>
              <a:t>Выездное обучение продавцов РТТ (45 мин)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Arial"/>
              </a:rPr>
              <a:t>•  </a:t>
            </a:r>
            <a:r>
              <a:rPr sz="1100">
                <a:solidFill>
                  <a:srgbClr val="1A1F36"/>
                </a:solidFill>
                <a:latin typeface="Arial"/>
              </a:rPr>
              <a:t>Консигнация для топ-5 точек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Arial"/>
              </a:rPr>
              <a:t>•  </a:t>
            </a:r>
            <a:r>
              <a:rPr sz="1100">
                <a:solidFill>
                  <a:srgbClr val="1A1F36"/>
                </a:solidFill>
                <a:latin typeface="Arial"/>
              </a:rPr>
              <a:t>5 баночек 0.4 для трудных РТТ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1 — ПЕРВИЧНЫЕ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Завод → Дистрибьютор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Экскурсия на завод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Показать производство → лояльность руководства дистрибьютора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29968"/>
            <a:ext cx="658368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Бонус за первичную закупку 5-10% товаром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За 80% покрытия АКБ точек А, Б. Мотивация первички на покрытие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88336"/>
            <a:ext cx="658368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Возврат неликвида в 90 дней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Снять страх «куплю и не продам» на всех уровнях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Отсрочка 70-90 дней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Снизить финансовую нагрузку на старте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Выездное обучение команды ТП общего прайса (1 день)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Команда умеет продавать с первого дня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Выкрасы, шелфтокеры, воблеры, планограммы, мини-буклет портфолио с ССВ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для соцсетей дистрибьютора + фото/видео для интернет-магазина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Оформить первую закупку (мин. объём)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0–1 месяц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торговых представителей по TITAN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1–2 месяца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А и Б согласно планограмме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1–3 месяца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отчётность по выполнению планограммы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2 — ВТОРИЧНЫЕ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Дистрибьютор → Розница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Купи Титана для 100% заполнения планограммы → бонус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Мотивация вторички на необходимый объём по выполнению планограммы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29968"/>
            <a:ext cx="658368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Минимальный заказ от 1 банки для розницы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Глубина остатка на полке: B — от 5, C — 3, D — 2. Ширина — штуки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88336"/>
            <a:ext cx="658368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Отсрочка 14 дней для розницы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Снизить финансовую нагрузку на розницу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Выездное обучение продавцов ключевых РТТ (45 мин)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РМ / ЭТП — команда умеет продавать с первого дня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Дополнительно 5 баночек 0.4 каждому РМ для работы с трудными РТТ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+ фото/видео для интернет-магазина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Консигнация для топ-5 точек дистрибьютора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На усмотрение РМ. Товар стоит на полке без оплаты — риск =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47920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100% ТП по TITAN (методика ТСО)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3-му месяцу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Открыть новые точки (+25% к базе)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В и 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фотоотчёты по выкладке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3 — ТРЕТИЧНЫЕ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Розница → Покупатель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Arial"/>
              </a:rPr>
              <a:t>ИНСТРУМЕНТЫ МАРКЕТИНГА (из матрицы)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41732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44168"/>
            <a:ext cx="6766560" cy="43891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Шелфтокер на полку / со стопером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«10 лет без перекраски — 10 лет экономии!» + QR на titanpaints.ru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01368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" y="189280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92808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19656"/>
            <a:ext cx="6766560" cy="43891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Воблер на полку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«Красишь 1 раз — служит 10 лет». Розница видит выгоду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76856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68296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295144"/>
            <a:ext cx="6766560" cy="43891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Брендированный ценник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Переводит цену банки в «цену за год» (760 руб. → 76 руб./год)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52344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284378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843784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70632"/>
            <a:ext cx="6766560" cy="43891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Портфолио объектов с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Экономические параметры совокупной стоимости владения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27832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331927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319272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246120"/>
            <a:ext cx="6766560" cy="43891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MML + Планограмма выкладки Титан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 шелфтокерами и воблерами. 3 полки · 22 SKU · 3 линейки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03320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" y="379476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721608"/>
            <a:ext cx="6766560" cy="43891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Инструкция по нанесению (мини + видео)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Открытие по QR-коду. 5 шагов + видео инструкция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78808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200" y="427024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270248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97096"/>
            <a:ext cx="6766560" cy="43891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Фото/видео POSm на облаке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Материалы для розничных точек на облаке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54296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7200" y="474573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745736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672584"/>
            <a:ext cx="6766560" cy="43891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Контент для соцсетей дистрибьюторов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Библиотека готовых постов (картинка + текст)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29784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57200" y="522122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221224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48072"/>
            <a:ext cx="6766560" cy="43891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Видеоролики для ТП и продаж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УТП по Титан + имитация идеальной продажи клиенту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605272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200" y="569671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96712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623560"/>
            <a:ext cx="6766560" cy="43891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QR на банке + иконография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Видеоинструкция + калькулятор ССВ + «Дороже банка — дешевле покраска!»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наличие POS-материалов в 80% точек с TITAN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6-му месяцу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продавцов розницы (сертификация ТСО)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фото выкладок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Собирать обратную связь от покупателей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Постоянно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3 — ТРЕТИЧНЫЕ ПРОДАЖИ (МАРКЕТИНГ)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Розница → Покупатель  •  9 инструментов с визуализацией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Arial"/>
              </a:rPr>
              <a:t>9 ИНСТРУМЕНТОВ МАРКЕТИНГА — С ВИЗУАЛИЗАЦИЕЙ POSM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3749039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315467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Шелфтокер на полку</a:t>
            </a:r>
          </a:p>
        </p:txBody>
      </p:sp>
      <p:pic>
        <p:nvPicPr>
          <p:cNvPr id="12" name="Picture 11" descr="01_shelftal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20"/>
            <a:ext cx="3474719" cy="777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2697480"/>
            <a:ext cx="356615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Слоган «10 лет без перекраски — 10 лет экономии!» + QR на titanpaints.ru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1371600"/>
            <a:ext cx="3749039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399" y="14630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146304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1463040"/>
            <a:ext cx="315467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Воблер</a:t>
            </a:r>
          </a:p>
        </p:txBody>
      </p:sp>
      <p:pic>
        <p:nvPicPr>
          <p:cNvPr id="18" name="Picture 17" descr="02_wobb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19" y="1874520"/>
            <a:ext cx="3474719" cy="7772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43399" y="2697480"/>
            <a:ext cx="356615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Слоган «Красишь 1 раз — служит 10 лет»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8" y="1371600"/>
            <a:ext cx="3749039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598" y="14630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8" y="146304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78" y="1463040"/>
            <a:ext cx="315467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Брендированный ценник</a:t>
            </a:r>
          </a:p>
        </p:txBody>
      </p:sp>
      <p:pic>
        <p:nvPicPr>
          <p:cNvPr id="24" name="Picture 23" descr="03_price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18" y="1874520"/>
            <a:ext cx="3474719" cy="7772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598" y="2697480"/>
            <a:ext cx="356615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Переводит цену банки в «цену за год»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200400"/>
            <a:ext cx="3749039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" y="32918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29184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291840"/>
            <a:ext cx="315467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Портфолио объектов с ССВ</a:t>
            </a:r>
          </a:p>
        </p:txBody>
      </p:sp>
      <p:pic>
        <p:nvPicPr>
          <p:cNvPr id="30" name="Picture 29" descr="04_portfol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03320"/>
            <a:ext cx="3474719" cy="7772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7200" y="4526280"/>
            <a:ext cx="356615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Экономические параметры совокупной стоимости владения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59" y="3200400"/>
            <a:ext cx="3749039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343399" y="32918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399" y="329184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79" y="3291840"/>
            <a:ext cx="315467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MML + Планограмма</a:t>
            </a:r>
          </a:p>
        </p:txBody>
      </p:sp>
      <p:pic>
        <p:nvPicPr>
          <p:cNvPr id="36" name="Picture 35" descr="05_plano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19" y="3703320"/>
            <a:ext cx="3474719" cy="7772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43399" y="4526280"/>
            <a:ext cx="356615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Выкладка Титан с шелфтокерами и воблерами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58" y="3200400"/>
            <a:ext cx="3749039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29598" y="32918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8" y="329184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78" y="3291840"/>
            <a:ext cx="315467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Инструкция по нанесению</a:t>
            </a:r>
          </a:p>
        </p:txBody>
      </p:sp>
      <p:pic>
        <p:nvPicPr>
          <p:cNvPr id="42" name="Picture 41" descr="06_instruction_q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18" y="3703320"/>
            <a:ext cx="3474719" cy="7772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229598" y="4526280"/>
            <a:ext cx="356615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Мини-инструкция + видео по QR-коду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5029200"/>
            <a:ext cx="3749039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200" y="51206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12064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120640"/>
            <a:ext cx="315467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Фото/видео POSm на облаке</a:t>
            </a:r>
          </a:p>
        </p:txBody>
      </p:sp>
      <p:pic>
        <p:nvPicPr>
          <p:cNvPr id="48" name="Picture 47" descr="07_cloud_pos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5532120"/>
            <a:ext cx="3474719" cy="77724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57200" y="6355080"/>
            <a:ext cx="356615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Материалы для розничных точек на облаке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51959" y="5029200"/>
            <a:ext cx="3749039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43399" y="51206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43399" y="512064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79" y="5120640"/>
            <a:ext cx="315467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Контент для соцсетей</a:t>
            </a:r>
          </a:p>
        </p:txBody>
      </p:sp>
      <p:pic>
        <p:nvPicPr>
          <p:cNvPr id="54" name="Picture 53" descr="08_social_cont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9119" y="5532120"/>
            <a:ext cx="3474719" cy="77724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343399" y="6355080"/>
            <a:ext cx="356615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Библиотека готовых постов (картинка + текст)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38158" y="5029200"/>
            <a:ext cx="3749039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229598" y="51206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598" y="5120640"/>
            <a:ext cx="3200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41078" y="5120640"/>
            <a:ext cx="315467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Видеоролики</a:t>
            </a:r>
          </a:p>
        </p:txBody>
      </p:sp>
      <p:pic>
        <p:nvPicPr>
          <p:cNvPr id="60" name="Picture 59" descr="09_vide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5318" y="5532120"/>
            <a:ext cx="3474719" cy="77724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229598" y="6355080"/>
            <a:ext cx="356615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Для ТП общего прайса + имитация идеальной продажи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3 — POS-МАТЕРИАЛЫ НА ПОЛКЕ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1-5  •  Шелфтокер · Воблер · Ценник · Портфолио · Планограмма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ШЕЛФТОКЕР</a:t>
            </a:r>
          </a:p>
        </p:txBody>
      </p:sp>
      <p:pic>
        <p:nvPicPr>
          <p:cNvPr id="11" name="Picture 10" descr="01_shelftal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2011680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572000"/>
            <a:ext cx="2103120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На полку с выкладкой Титан / со стопером.
Слоган «10 лет без перекраски — 10 лет экономии!»
+ QR-код на titanpaints.ru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960120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18872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ВОБЛЕР</a:t>
            </a:r>
          </a:p>
        </p:txBody>
      </p:sp>
      <p:pic>
        <p:nvPicPr>
          <p:cNvPr id="17" name="Picture 16" descr="02_wobb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691640"/>
            <a:ext cx="2011680" cy="274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834640" y="4572000"/>
            <a:ext cx="2103120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На полку. Слоган «Красишь 1 раз — служит 10 лет».
Розница видит выгоду и берёт TITAN на пробу.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960120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18872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БРЕНДИРОВАННЫЙ ЦЕННИК</a:t>
            </a:r>
          </a:p>
        </p:txBody>
      </p:sp>
      <p:pic>
        <p:nvPicPr>
          <p:cNvPr id="23" name="Picture 22" descr="03_price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691640"/>
            <a:ext cx="2011680" cy="2743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12080" y="4572000"/>
            <a:ext cx="2103120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Переводит цену банки в «цену за год».
760 руб. за банку → 76 руб./год (760 ÷ 10 лет).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960120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18872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ПОРТФОЛИО ОБЪЕКТОВ</a:t>
            </a:r>
          </a:p>
        </p:txBody>
      </p:sp>
      <p:pic>
        <p:nvPicPr>
          <p:cNvPr id="29" name="Picture 28" descr="04_portfol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691640"/>
            <a:ext cx="2011680" cy="2743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89520" y="4572000"/>
            <a:ext cx="2103120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Наиболее распространённые объекты
с экономическими параметрами ССВ.
Ворота, забор, гараж, решётки.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7552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960120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118872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MML + ПЛАНОГРАММА</a:t>
            </a:r>
          </a:p>
        </p:txBody>
      </p:sp>
      <p:pic>
        <p:nvPicPr>
          <p:cNvPr id="35" name="Picture 34" descr="05_plano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0" y="1691640"/>
            <a:ext cx="2011680" cy="2743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966960" y="4572000"/>
            <a:ext cx="2103120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Выкладка Титан с шелфтокерами и воблерами.
3 полки · 22 SKU · 3 линейки.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3 — КОНТЕНТ И ОБУЧЕНИЕ ПОКУПАТЕЛЯ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6-9 + QR на банке + иконография ССВ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7889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889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ИНСТРУКЦИЯ ПО НАНЕСЕНИЮ</a:t>
            </a:r>
          </a:p>
        </p:txBody>
      </p:sp>
      <p:pic>
        <p:nvPicPr>
          <p:cNvPr id="11" name="Picture 10" descr="06_instruction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251460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291840"/>
            <a:ext cx="260604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Открытие по QR-коду.
Мини-инструкция (5 шагов)
+ видео инструкция.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960120"/>
            <a:ext cx="27889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188720"/>
            <a:ext cx="27889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ФОТО/ВИДЕО POSm НА ОБЛАКЕ</a:t>
            </a:r>
          </a:p>
        </p:txBody>
      </p:sp>
      <p:pic>
        <p:nvPicPr>
          <p:cNvPr id="17" name="Picture 16" descr="07_cloud_po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645920"/>
            <a:ext cx="251460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83280" y="3291840"/>
            <a:ext cx="260604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Материалы для розничных точек
на облаке. Фото выкладки,
видео, шаблоны.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960120"/>
            <a:ext cx="27889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188720"/>
            <a:ext cx="27889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КОНТЕНТ ДЛЯ СОЦСЕТЕЙ</a:t>
            </a:r>
          </a:p>
        </p:txBody>
      </p:sp>
      <p:pic>
        <p:nvPicPr>
          <p:cNvPr id="23" name="Picture 22" descr="08_social_cont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45920"/>
            <a:ext cx="2514600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09360" y="3291840"/>
            <a:ext cx="260604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Папка на облаке с библиотекой
готовых постов про Титан
(картинка + текст).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960120"/>
            <a:ext cx="27889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188720"/>
            <a:ext cx="27889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ВИДЕОРОЛИКИ</a:t>
            </a:r>
          </a:p>
        </p:txBody>
      </p:sp>
      <p:pic>
        <p:nvPicPr>
          <p:cNvPr id="29" name="Picture 28" descr="09_vide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1645920"/>
            <a:ext cx="2514600" cy="1554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35440" y="3291840"/>
            <a:ext cx="260604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Для ТП общего прайса:
УТП, свойства, выгода по Титан.
+ ролик идеальной продажи.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297680"/>
            <a:ext cx="566928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389120"/>
            <a:ext cx="5303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Arial"/>
              </a:rPr>
              <a:t>ДОП: QR-КОД НА БАНКЕ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54880"/>
            <a:ext cx="530352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QR-код на банке → видеоинструкция использования + калькулятор ССВ (совокупной стоимости владения).
Покупатель сам узнаёт о TITAN, без продавца.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97680"/>
            <a:ext cx="576072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389120"/>
            <a:ext cx="5303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Arial"/>
              </a:rPr>
              <a:t>ДОП: ИКОНОГРАФИКА ССВ НА БАНКЕ</a:t>
            </a:r>
          </a:p>
        </p:txBody>
      </p:sp>
      <p:pic>
        <p:nvPicPr>
          <p:cNvPr id="36" name="Picture 35" descr="10_tco_iconograph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754880"/>
            <a:ext cx="1645920" cy="1371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29600" y="4754880"/>
            <a:ext cx="356616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Шелфтокер-иконографика ССВ.
Слоган: «Дороже банка —
дешевле покраска!
Экономия 60% за 10 лет!»
Иконография этапов нанесения
для клиента DIY (если нет QR).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ГАРАНТИЯ РЕЗУЛЬТАТА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Что получает дистрибьютор при выполнении программы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11460175" cy="11887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11460175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Эмпилс гарантирует: при выполнении всех действий продажи TITAN будут расти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Высокомаржинальный продукт TITAN — двигатель роста прибыли дистрибьютора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11430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Arial"/>
              </a:rPr>
              <a:t>ЧТО ПОЛУЧАЕТ ДИСТРИБЬЮТОР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26080"/>
            <a:ext cx="27889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278892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7180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>
                <a:latin typeface="Segoe UI Emoji"/>
              </a:rPr>
              <a:t>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71800"/>
            <a:ext cx="201168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Финансовая выгода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2514600" cy="2148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Бонус 5-10% товаром, отсрочка 70-90 дней, возврат неликвида в 90 дней. Снятие страха «куплю — не продам».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926080"/>
            <a:ext cx="27889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926080"/>
            <a:ext cx="278892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297180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>
                <a:latin typeface="Segoe UI Emoji"/>
              </a:rPr>
              <a:t>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2971800"/>
            <a:ext cx="201168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Обученная команда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611880"/>
            <a:ext cx="2514600" cy="2148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Выездное обучение ТП (1 день) + обучение продавцов РТТ (45 мин). Команда умеет продавать с первого дня.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926080"/>
            <a:ext cx="27889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2788920" cy="54864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97180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>
                <a:latin typeface="Segoe UI Emoji"/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971800"/>
            <a:ext cx="201168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POS-материалы бесплатно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611880"/>
            <a:ext cx="2514600" cy="2148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Стартовый набор: выкрасы, шелфтокеры, воблеры, планограммы, мини-буклет портфолио с ССВ. Полка готова без затрат.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2926080"/>
            <a:ext cx="27889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2926080"/>
            <a:ext cx="278892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297180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>
                <a:latin typeface="Segoe UI Emoji"/>
              </a:rPr>
              <a:t>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971800"/>
            <a:ext cx="201168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Контент и аналитика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611880"/>
            <a:ext cx="2514600" cy="2148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Посты для соцсетей, фото/видео для интернет-магазина, материалы на облаке. Готовый контент для продвижения.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989320"/>
            <a:ext cx="11460175" cy="45720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989320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1A1F36"/>
                </a:solidFill>
                <a:latin typeface="Arial"/>
              </a:rPr>
              <a:t>Эмпилс берёт на себя обучение, POS-материалы и контент. Дистрибьютор — закупку и выкладку.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ОБЯЗАТЕЛЬСТВА СТОРОН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Кто за что отвечает  •  Эмпилс vs Дистрибьютор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5669280" cy="539496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669280" cy="5486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566928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  ЧТО ГАРАНТИРУЕМ МЫ (ЭМПИЛС)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5394960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" y="1719072"/>
            <a:ext cx="292608" cy="29260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27632"/>
            <a:ext cx="4846320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E3A5F"/>
                </a:solidFill>
                <a:latin typeface="Arial"/>
              </a:rPr>
              <a:t>Качество продукта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Срок службы 10 лет при правильном нанесении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58568"/>
            <a:ext cx="5394960" cy="6126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2377440"/>
            <a:ext cx="292608" cy="29260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77440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286000"/>
            <a:ext cx="4846320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E3A5F"/>
                </a:solidFill>
                <a:latin typeface="Arial"/>
              </a:rPr>
              <a:t>Обучение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Выездное обучение ТП + материалы + сертификация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16936"/>
            <a:ext cx="5394960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3035808"/>
            <a:ext cx="292608" cy="29260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035808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944368"/>
            <a:ext cx="4846320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E3A5F"/>
                </a:solidFill>
                <a:latin typeface="Arial"/>
              </a:rPr>
              <a:t>POS-поддержка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Шелфтокеры, воблеры, выкрасы, ценники — бесплатно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75304"/>
            <a:ext cx="5394960" cy="6126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" y="3694176"/>
            <a:ext cx="292608" cy="29260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94176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602736"/>
            <a:ext cx="4846320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E3A5F"/>
                </a:solidFill>
                <a:latin typeface="Arial"/>
              </a:rPr>
              <a:t>Маркетинг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Готовый контент для соцсетей, фото/видео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233672"/>
            <a:ext cx="5394960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4352544"/>
            <a:ext cx="292608" cy="29260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352544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261104"/>
            <a:ext cx="4846320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E3A5F"/>
                </a:solidFill>
                <a:latin typeface="Arial"/>
              </a:rPr>
              <a:t>Возврат неликвида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В течение 90 дней (в пределах срока годности)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892040"/>
            <a:ext cx="5394960" cy="6126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4360" y="5010912"/>
            <a:ext cx="292608" cy="29260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010912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919472"/>
            <a:ext cx="4846320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E3A5F"/>
                </a:solidFill>
                <a:latin typeface="Arial"/>
              </a:rPr>
              <a:t>Техподдержка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Прямой доступ к техническому специалисту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550408"/>
            <a:ext cx="5394960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4360" y="5669280"/>
            <a:ext cx="292608" cy="29260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669280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577840"/>
            <a:ext cx="4846320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E3A5F"/>
                </a:solidFill>
                <a:latin typeface="Arial"/>
              </a:rPr>
              <a:t>Финансовые стимулы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Бонусы, отсрочка, субсидирование маркетинга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914400"/>
            <a:ext cx="5669280" cy="539496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914400"/>
            <a:ext cx="5669280" cy="54864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914400"/>
            <a:ext cx="566928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📋  ЧТО ДЕЛАЕТ ДИСТРИБЬЮТОР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1600200"/>
            <a:ext cx="5394960" cy="722376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46520" y="1737360"/>
            <a:ext cx="292608" cy="29260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1737360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1627632"/>
            <a:ext cx="4846320" cy="67665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F47920"/>
                </a:solidFill>
                <a:latin typeface="Arial"/>
              </a:rPr>
              <a:t>Минимальный заказ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Согласно согласованному объёму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2368296"/>
            <a:ext cx="5394960" cy="722376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46520" y="2505456"/>
            <a:ext cx="292608" cy="29260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2505456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2395728"/>
            <a:ext cx="4846320" cy="67665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F47920"/>
                </a:solidFill>
                <a:latin typeface="Arial"/>
              </a:rPr>
              <a:t>Выкладка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Согласно планограмме (точки А, Б, В)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136392"/>
            <a:ext cx="5394960" cy="722376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46520" y="3273552"/>
            <a:ext cx="292608" cy="29260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3273552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3163824"/>
            <a:ext cx="4846320" cy="67665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F47920"/>
                </a:solidFill>
                <a:latin typeface="Arial"/>
              </a:rPr>
              <a:t>Обучение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Обучение ТП и продавцов розницы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3904488"/>
            <a:ext cx="5394960" cy="722376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46520" y="4041648"/>
            <a:ext cx="292608" cy="29260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4041648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3931920"/>
            <a:ext cx="4846320" cy="67665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F47920"/>
                </a:solidFill>
                <a:latin typeface="Arial"/>
              </a:rPr>
              <a:t>Отчётность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Фото выкладок, отчёты по продажам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55080" y="4672584"/>
            <a:ext cx="5394960" cy="722376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446520" y="4809744"/>
            <a:ext cx="292608" cy="29260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4809744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4700016"/>
            <a:ext cx="4846320" cy="67665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F47920"/>
                </a:solidFill>
                <a:latin typeface="Arial"/>
              </a:rPr>
              <a:t>Продвижение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Использование POS-материалов и контента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55080" y="5440680"/>
            <a:ext cx="5394960" cy="722376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46520" y="5577840"/>
            <a:ext cx="292608" cy="29260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5577840"/>
            <a:ext cx="292608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5468112"/>
            <a:ext cx="4846320" cy="67665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F47920"/>
                </a:solidFill>
                <a:latin typeface="Arial"/>
              </a:rPr>
              <a:t>Обратная связь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Ежемесячные отчёты о продажах и проблемах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KPI И 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Как измеряем успех  •  10 метрик по 3 этапам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68680"/>
            <a:ext cx="11460175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11460175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Arial"/>
              </a:rPr>
              <a:t>Без цифр программа — просто список пожеланий. Вот наши измеримые цели по этапам.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731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731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Этап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554480"/>
            <a:ext cx="4572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554480"/>
            <a:ext cx="45720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554480"/>
            <a:ext cx="36576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554480"/>
            <a:ext cx="36576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Целевое значение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554480"/>
            <a:ext cx="24688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554480"/>
            <a:ext cx="24688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Периодичность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65960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965960"/>
            <a:ext cx="7315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1965960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1965960"/>
            <a:ext cx="43891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Объём закупок TITAN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965960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96596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+30% к базовому периоду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965960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96596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423160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423160"/>
            <a:ext cx="7315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423160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2423160"/>
            <a:ext cx="43891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TITAN в ассортименте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423160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242316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Не менее 5 цветов 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423160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242316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880360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880360"/>
            <a:ext cx="7315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2880360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2880360"/>
            <a:ext cx="43891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Количество активных РТТ с TITAN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2880360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288036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+25% к базовому периоду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2880360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288036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337560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337560"/>
            <a:ext cx="7315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3337560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3337560"/>
            <a:ext cx="43891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Охват ТП обучением ТСО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3337560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0" y="333756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100% ТП пилотного дистрибьютора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3337560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0" y="333756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3-му месяцу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794760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3794760"/>
            <a:ext cx="7315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794760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88720" y="3794760"/>
            <a:ext cx="43891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новых точек от TITAN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3794760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0" y="379476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Не менее 20%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3794760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379476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251960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4251960"/>
            <a:ext cx="7315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4251960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88720" y="4251960"/>
            <a:ext cx="43891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Точки с POS-материалами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4251960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60720" y="425196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80% точек с TITAN на полке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4251960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18320" y="425196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709160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4709160"/>
            <a:ext cx="7315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709160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88720" y="4709160"/>
            <a:ext cx="43891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Сертифицированные продавцы ТСО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0" y="4709160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60720" y="470916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20 на пилота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4709160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18320" y="470916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5166360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5166360"/>
            <a:ext cx="7315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97280" y="5166360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88720" y="5166360"/>
            <a:ext cx="43891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Конверсия в покупку TITAN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0" y="5166360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60720" y="516636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30%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26880" y="5166360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18320" y="516636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5623560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" y="5623560"/>
            <a:ext cx="7315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97280" y="5623560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88720" y="5623560"/>
            <a:ext cx="43891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Сканирования QR-кода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0" y="5623560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60720" y="562356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500+ сканов/мес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6880" y="5623560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418320" y="562356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6080760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6080760"/>
            <a:ext cx="7315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97280" y="6080760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88720" y="6080760"/>
            <a:ext cx="43891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Снижение возвратов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0" y="6080760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760720" y="608076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−30% к базовому периоду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26880" y="6080760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18320" y="608076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6675120"/>
            <a:ext cx="11460175" cy="4572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5760" y="6675120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Итог: 2 KPI на этапе 1 · 3 KPI на этапе 2 · 5 KPI на этапе 3 — все метрики соблюдаются ежемесячно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600" b="1" i="0">
                <a:solidFill>
                  <a:srgbClr val="FBBF24"/>
                </a:solidFill>
                <a:latin typeface="Arial"/>
              </a:rPr>
              <a:t>10 лет без перекраски — 10 лет экономии!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Начнём работу вместе?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572000"/>
            <a:ext cx="758952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4663440"/>
            <a:ext cx="75895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000" b="1" i="0">
                <a:solidFill>
                  <a:srgbClr val="C62828"/>
                </a:solidFill>
                <a:latin typeface="Arial"/>
              </a:rPr>
              <a:t>Empils  •  TITAN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120640"/>
            <a:ext cx="75895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1A1F36"/>
                </a:solidFill>
                <a:latin typeface="Arial"/>
              </a:rPr>
              <a:t>www.titanpaints.ru  •  www.empils.ru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532120"/>
            <a:ext cx="75895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1">
                <a:solidFill>
                  <a:srgbClr val="9CA3AF"/>
                </a:solidFill>
                <a:latin typeface="Arial"/>
              </a:rPr>
              <a:t>+7 (863) 203-71-32  •  Ростов-на-Дону, пер. 1-й Машиностроительный,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Arial"/>
              </a:rPr>
              <a:t>Спасибо за внимание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