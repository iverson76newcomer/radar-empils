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СКОЛЬКО ВЫ ЗАРАБАТЫВАЕТЕ НА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Пример: дистрибьютор со 100 точками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5486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1. СТРУКТУРА ВАШИХ 100 ТОЧЕК (реальный MML)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246888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 точек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097280"/>
            <a:ext cx="210312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16 SKU × 6 шт = 480 банок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81328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481328"/>
            <a:ext cx="246888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10 точек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481328"/>
            <a:ext cx="210312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12 SKU × 4 шт = 480 банок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65376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865376"/>
            <a:ext cx="246888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15 точек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1865376"/>
            <a:ext cx="210312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2 SKU × 3 шт = 90 банок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249424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249424"/>
            <a:ext cx="246888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70 точек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249424"/>
            <a:ext cx="210312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0 SKU × 2 шт = 0 банок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697480"/>
            <a:ext cx="5760720" cy="411480"/>
          </a:xfrm>
          <a:prstGeom prst="rect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697480"/>
            <a:ext cx="36576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ИТОГО БАНОК НА ПОЛКЕ: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2697480"/>
            <a:ext cx="192024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800" b="1" i="0">
                <a:solidFill>
                  <a:srgbClr val="FBBF24"/>
                </a:solidFill>
                <a:latin typeface="Arial"/>
              </a:rPr>
              <a:t>1 050 шт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246120"/>
            <a:ext cx="5486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2. ЦЕПОВКА ЦЕНЫ (по 16 SKU)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566160"/>
            <a:ext cx="5760720" cy="384048"/>
          </a:xfrm>
          <a:prstGeom prst="rect">
            <a:avLst/>
          </a:prstGeom>
          <a:solidFill>
            <a:srgbClr val="E5E7EB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566160"/>
            <a:ext cx="393192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Отгрузочная цена Эмпилс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566160"/>
            <a:ext cx="164592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E3A5F"/>
                </a:solidFill>
                <a:latin typeface="Arial"/>
              </a:rPr>
              <a:t>от 494 до 2 076 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50208"/>
            <a:ext cx="5760720" cy="384048"/>
          </a:xfrm>
          <a:prstGeom prst="rect">
            <a:avLst/>
          </a:prstGeom>
          <a:solidFill>
            <a:srgbClr val="FFEDD5"/>
          </a:solidFill>
          <a:ln w="63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950208"/>
            <a:ext cx="393192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+25% маржа дистрибьютора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950208"/>
            <a:ext cx="164592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F47920"/>
                </a:solidFill>
                <a:latin typeface="Arial"/>
              </a:rPr>
              <a:t>617–2 595 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334256"/>
            <a:ext cx="5760720" cy="384048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334256"/>
            <a:ext cx="393192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+25% маржа розницы (цена на полке)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4334256"/>
            <a:ext cx="1645920" cy="3840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6A34A"/>
                </a:solidFill>
                <a:latin typeface="Arial"/>
              </a:rPr>
              <a:t>772–3 244 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4846320"/>
            <a:ext cx="5760720" cy="1600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892040"/>
            <a:ext cx="55778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Arial"/>
              </a:rPr>
              <a:t>3. ВАЛОВАЯ ПРИБЫЛЬ ДИСТРИБЬЮТОРА (за 1 оборот)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В МЕСЯЦ</a:t>
            </a:r>
          </a:p>
          <a:p>
            <a:pPr algn="ctr"/>
            <a:r>
              <a:rPr sz="2200" b="1">
                <a:solidFill>
                  <a:srgbClr val="16A34A"/>
                </a:solidFill>
                <a:latin typeface="Arial"/>
              </a:rPr>
              <a:t>224 747 ₽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Arial"/>
              </a:rPr>
              <a:t>В ГОД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2 696 962 ₽</a:t>
            </a:r>
          </a:p>
          <a:p>
            <a:pPr algn="ctr"/>
            <a:r>
              <a:rPr sz="800" b="0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777240"/>
            <a:ext cx="5486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ВАША ПРИБЫЛЬ НА TITAN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1188720"/>
            <a:ext cx="2651760" cy="1645920"/>
          </a:xfrm>
          <a:prstGeom prst="roundRect">
            <a:avLst/>
          </a:prstGeom>
          <a:solidFill>
            <a:srgbClr val="DCFCE7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1325880"/>
            <a:ext cx="265176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В МЕСЯЦ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1691640"/>
            <a:ext cx="2651760" cy="731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16A34A"/>
                </a:solidFill>
                <a:latin typeface="Arial"/>
              </a:rPr>
              <a:t>224 747 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2423160"/>
            <a:ext cx="26517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35440" y="1188720"/>
            <a:ext cx="2651760" cy="1645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5440" y="1325880"/>
            <a:ext cx="265176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В ГОД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1691640"/>
            <a:ext cx="2651760" cy="731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2 696 962 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2423160"/>
            <a:ext cx="26517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8961120" y="2971800"/>
            <a:ext cx="365760" cy="36576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400800" y="3520440"/>
            <a:ext cx="5486400" cy="2926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3611880"/>
            <a:ext cx="54864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🚀  СЦЕНАРИЙ РОСТА +30% К 12-МУ МЕСЯЦУ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069080"/>
            <a:ext cx="5486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Arial"/>
              </a:rPr>
              <a:t>при выполнении программы TITAN (обучение + POS + планограмма)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37960" y="44805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37960" y="4526280"/>
            <a:ext cx="16916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СЕЙЧАС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37960" y="4800600"/>
            <a:ext cx="16916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1 050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37960" y="5166360"/>
            <a:ext cx="1691640" cy="1828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7960" y="5349240"/>
            <a:ext cx="16916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224 747 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37960" y="5623560"/>
            <a:ext cx="1691640" cy="1828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21040" y="4480560"/>
            <a:ext cx="1691640" cy="1371600"/>
          </a:xfrm>
          <a:prstGeom prst="roundRect">
            <a:avLst/>
          </a:prstGeom>
          <a:solidFill>
            <a:srgbClr val="0B6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21040" y="4526280"/>
            <a:ext cx="16916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+30%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4800600"/>
            <a:ext cx="16916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BBF24"/>
                </a:solidFill>
                <a:latin typeface="Arial"/>
              </a:rPr>
              <a:t>+315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5166360"/>
            <a:ext cx="1691640" cy="1828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5349240"/>
            <a:ext cx="16916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Arial"/>
              </a:rPr>
              <a:t>+67 424 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5623560"/>
            <a:ext cx="1691640" cy="1828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рост/мес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104120" y="44805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04120" y="4526280"/>
            <a:ext cx="16916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ЧЕРЕЗ ГОД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04120" y="4800600"/>
            <a:ext cx="16916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1 365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5166360"/>
            <a:ext cx="1691640" cy="1828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4120" y="5349240"/>
            <a:ext cx="16916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292 171 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4120" y="5623560"/>
            <a:ext cx="1691640" cy="1828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37960" y="5943600"/>
            <a:ext cx="5212080" cy="3657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37960" y="5943600"/>
            <a:ext cx="52120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8E0000"/>
                </a:solidFill>
                <a:latin typeface="Arial"/>
              </a:rPr>
              <a:t>💰  +809 088 ₽/год — дополнительно к текущей прибыли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6355080"/>
            <a:ext cx="5486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 i="1">
                <a:solidFill>
                  <a:srgbClr val="16A34A"/>
                </a:solidFill>
                <a:latin typeface="Arial"/>
              </a:rPr>
              <a:t>Красишь 1 раз — служит 10 лет  •  Партнёрство, которое окупается за 4 месяца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800" b="0" i="1">
                <a:solidFill>
                  <a:srgbClr val="9CA3AF"/>
                </a:solidFill>
                <a:latin typeface="Arial"/>
              </a:rPr>
              <a:t>Empils  •  TITAN  •  Расчёт по реальному MML, отгрузочные цены Эмпилс от 10.07.2026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ДЕТАЛЬНЫЙ РАСЧЁТ ПО 16 SKU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Прозрачный расчёт прибыли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Код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Продукт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Кл.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Цена Эмпилс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Шт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Выручка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Прибыль 25%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109728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1097280"/>
            <a:ext cx="26517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0.75 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109728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94760" y="1097280"/>
            <a:ext cx="17373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" y="133502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1335024"/>
            <a:ext cx="26517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0.75 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0" y="133502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94760" y="1335024"/>
            <a:ext cx="17373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57276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1560" y="1572768"/>
            <a:ext cx="26517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2 л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40" y="157276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94760" y="1572768"/>
            <a:ext cx="17373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5840" y="181051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1560" y="1810512"/>
            <a:ext cx="26517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2 л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49040" y="181051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794760" y="1810512"/>
            <a:ext cx="17373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5840" y="204825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51560" y="2048256"/>
            <a:ext cx="26517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2 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49040" y="204825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794760" y="2048256"/>
            <a:ext cx="17373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5840" y="228600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51560" y="2286000"/>
            <a:ext cx="26517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2 л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749040" y="228600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794760" y="2286000"/>
            <a:ext cx="17373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05840" y="252374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51560" y="2523744"/>
            <a:ext cx="26517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0.75 л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749040" y="252374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794760" y="2523744"/>
            <a:ext cx="17373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87269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05840" y="276148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51560" y="2761488"/>
            <a:ext cx="26517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0.75 л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749040" y="276148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794760" y="2761488"/>
            <a:ext cx="17373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541 ₽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37 851 ₽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9 463 ₽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87270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05840" y="299923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51560" y="2999232"/>
            <a:ext cx="26517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2 л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749040" y="299923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794760" y="2999232"/>
            <a:ext cx="17373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1364 ₽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40 920 ₽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10 230 ₽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87286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05840" y="323697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051560" y="3236976"/>
            <a:ext cx="26517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0.75 л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749040" y="323697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794760" y="3236976"/>
            <a:ext cx="17373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005840" y="3474720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051560" y="3474720"/>
            <a:ext cx="26517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0.8 кг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749040" y="3474720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3794760" y="3474720"/>
            <a:ext cx="17373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77660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005840" y="3712464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051560" y="3712464"/>
            <a:ext cx="26517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коричневая 0.8 кг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3749040" y="3712464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3794760" y="3712464"/>
            <a:ext cx="17373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77637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05840" y="3950208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051560" y="3950208"/>
            <a:ext cx="26517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2.5 кг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749040" y="3950208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3794760" y="3950208"/>
            <a:ext cx="17373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2076 ₽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62 268 ₽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15 567 ₽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77642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005840" y="4187952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051560" y="4187952"/>
            <a:ext cx="26517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серебристая 0.8 кг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3749040" y="4187952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3794760" y="4187952"/>
            <a:ext cx="17373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21 041 ₽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5 260 ₽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83777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005840" y="4425696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1051560" y="4425696"/>
            <a:ext cx="26517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0.75 л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3749040" y="4425696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3794760" y="4425696"/>
            <a:ext cx="17373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518 ₽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36 275 ₽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9 069 ₽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83779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1005840" y="4663440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051560" y="4663440"/>
            <a:ext cx="26517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2.2 л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3749040" y="4663440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3794760" y="4663440"/>
            <a:ext cx="17373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1486 ₽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44 584 ₽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11 146 ₽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274320" y="4901184"/>
            <a:ext cx="72237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731520" y="4901184"/>
            <a:ext cx="63093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1 050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898 987 ₽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224 747 ₽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365760" y="5276088"/>
            <a:ext cx="11430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СТРУКТУРА ПРИБЫЛИ ПО КАТЕГОРИЯМ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365760" y="5596128"/>
            <a:ext cx="3657600" cy="100584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457200" y="5961888"/>
            <a:ext cx="3474720" cy="5943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Arial"/>
              </a:rPr>
              <a:t>660 шт  →  143 376 ₽  (63.8%)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4160520" y="5596128"/>
            <a:ext cx="3657600" cy="100584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Молотковая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4251960" y="5961888"/>
            <a:ext cx="3474720" cy="5943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200" b="1">
                <a:solidFill>
                  <a:srgbClr val="F47920"/>
                </a:solidFill>
                <a:latin typeface="Arial"/>
              </a:rPr>
              <a:t>290 шт  →  61 156 ₽  (27.2%)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7955280" y="5596128"/>
            <a:ext cx="3657600" cy="100584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8046720" y="5961888"/>
            <a:ext cx="3474720" cy="5943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rial"/>
              </a:rPr>
              <a:t>100 шт  →  20 215 ₽  (9.0%)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365760" y="6355080"/>
            <a:ext cx="11460175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800" b="0" i="1">
                <a:solidFill>
                  <a:srgbClr val="9CA3AF"/>
                </a:solidFill>
                <a:latin typeface="Arial"/>
              </a:rPr>
              <a:t>Empils  •  TITAN  •  Расчёт по отгрузочным ценам Эмпилс от 10.07.2026  •  Глубина полки: A=6, B=4, C=3, D=2 шт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