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72000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04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332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620000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764000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196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484000"/>
            <a:ext cx="255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1A1F36"/>
                </a:solidFill>
                <a:latin typeface="Arial"/>
              </a:rPr>
              <a:t>Розница сжимается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972000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8000" y="104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8000" y="1332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1620000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1764000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8000" y="2196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484000"/>
            <a:ext cx="255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1A1F36"/>
                </a:solidFill>
                <a:latin typeface="Arial"/>
              </a:rPr>
              <a:t>База сокращается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0000" y="972000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8000" y="104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000" y="1332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8000" y="1620000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8000" y="1764000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8000" y="2196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8000" y="2484000"/>
            <a:ext cx="255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1A1F36"/>
                </a:solidFill>
                <a:latin typeface="Arial"/>
              </a:rPr>
              <a:t>Берут реже и меньше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972000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8000" y="104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8000" y="1332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8000" y="1620000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8000" y="1764000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8000" y="219600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8000" y="2484000"/>
            <a:ext cx="255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1A1F36"/>
                </a:solidFill>
                <a:latin typeface="Arial"/>
              </a:rPr>
              <a:t>Завод растёт, но склады затовариваются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2880000"/>
            <a:ext cx="113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>
                <a:solidFill>
                  <a:srgbClr val="1A1F36"/>
                </a:solidFill>
                <a:latin typeface="Arial"/>
              </a:rPr>
              <a:t>первичка растёт (+1.8%), вторичка падает (−35%). Дистрибьюторы закупают TITAN на склад, но не продают в розницу. Если до конца сезона не распродадут — Q4 потеряем ещё больше.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3528000"/>
            <a:ext cx="7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Группы дистрибьюторов (первичка, кг)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744000"/>
            <a:ext cx="1764000" cy="8640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3798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🟢 Стабильные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3978000"/>
            <a:ext cx="162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F36"/>
                </a:solidFill>
                <a:latin typeface="Arial"/>
              </a:rPr>
              <a:t>47 договоров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414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74 749 → 70 449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" y="4410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Arial"/>
              </a:rPr>
              <a:t>−6%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0" y="3744000"/>
            <a:ext cx="1764000" cy="864000"/>
          </a:xfrm>
          <a:prstGeom prst="rect">
            <a:avLst/>
          </a:prstGeom>
          <a:solidFill>
            <a:srgbClr val="DBEAFE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32000" y="3798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40AF"/>
                </a:solidFill>
                <a:latin typeface="Arial"/>
              </a:rPr>
              <a:t>🔵 Новые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2000" y="3978000"/>
            <a:ext cx="162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F36"/>
                </a:solidFill>
                <a:latin typeface="Arial"/>
              </a:rPr>
              <a:t>8 договоров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32000" y="414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3 036 →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32000" y="4410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40AF"/>
                </a:solidFill>
                <a:latin typeface="Arial"/>
              </a:rPr>
              <a:t>new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60000" y="3744000"/>
            <a:ext cx="1764000" cy="864000"/>
          </a:xfrm>
          <a:prstGeom prst="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2000" y="3798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47920"/>
                </a:solidFill>
                <a:latin typeface="Arial"/>
              </a:rPr>
              <a:t>🟠 Ушедшие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2000" y="3978000"/>
            <a:ext cx="162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F36"/>
                </a:solidFill>
                <a:latin typeface="Arial"/>
              </a:rPr>
              <a:t>7 договоров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2000" y="414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820 → 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2000" y="4410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7920"/>
                </a:solidFill>
                <a:latin typeface="Arial"/>
              </a:rPr>
              <a:t>−100%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000" y="3744000"/>
            <a:ext cx="1764000" cy="864000"/>
          </a:xfrm>
          <a:prstGeom prst="rect">
            <a:avLst/>
          </a:prstGeom>
          <a:solidFill>
            <a:srgbClr val="F3F4F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2000" y="3798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Arial"/>
              </a:rPr>
              <a:t>⚪ Без данных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2000" y="3978000"/>
            <a:ext cx="162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F36"/>
                </a:solidFill>
                <a:latin typeface="Arial"/>
              </a:rPr>
              <a:t>47 договоров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2000" y="414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14 936 → 18 609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2000" y="4410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Arial"/>
              </a:rPr>
              <a:t>+25%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40000" y="3528000"/>
            <a:ext cx="41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Arial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0000" y="3708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Все 3 метрики вторички падают: АКБ −15%, РТТ −6%, кг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40000" y="3942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Севастьянов (−52%) — крупнейшее падение, Бурдинский сократил закупки вдвое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0000" y="4176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47 из 109 договоров (44%) — «спящие», без закупок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0000" y="4500000"/>
            <a:ext cx="41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rial"/>
              </a:rPr>
              <a:t>✅ Позитивные сигналы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0000" y="4680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Уралстройсервис +55% (327→508 кг),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40000" y="4914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АЮСС-ВСТК +2-9%, привлёк 5 новых клиентов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0000" y="5148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Держава Трейд (Казахстан) +11% = 7 065 кг (35% всей вторички)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0000" y="5292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ЧТО ДЕЛАТЬ — 4 ПРИОРИТЕТА НА Q3 2026</a:t>
            </a:r>
          </a:p>
        </p:txBody>
      </p:sp>
      <p:sp>
        <p:nvSpPr>
          <p:cNvPr id="63" name="Oval 62"/>
          <p:cNvSpPr/>
          <p:nvPr/>
        </p:nvSpPr>
        <p:spPr>
          <a:xfrm>
            <a:off x="360000" y="5508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6000" y="550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Аудит складов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6000" y="5706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12 стабильных — запросить остатки до 25.08</a:t>
            </a:r>
          </a:p>
        </p:txBody>
      </p:sp>
      <p:sp>
        <p:nvSpPr>
          <p:cNvPr id="66" name="Oval 65"/>
          <p:cNvSpPr/>
          <p:nvPr/>
        </p:nvSpPr>
        <p:spPr>
          <a:xfrm>
            <a:off x="3240000" y="5508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6000" y="550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Севастьянов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36000" y="5706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Встреча с Бурдинским до 31.08</a:t>
            </a:r>
          </a:p>
        </p:txBody>
      </p:sp>
      <p:sp>
        <p:nvSpPr>
          <p:cNvPr id="69" name="Oval 68"/>
          <p:cNvSpPr/>
          <p:nvPr/>
        </p:nvSpPr>
        <p:spPr>
          <a:xfrm>
            <a:off x="6120000" y="5508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6000" y="550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47 «спящих»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6000" y="5706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Активировать или закрыть до 10.09</a:t>
            </a:r>
          </a:p>
        </p:txBody>
      </p:sp>
      <p:sp>
        <p:nvSpPr>
          <p:cNvPr id="72" name="Oval 71"/>
          <p:cNvSpPr/>
          <p:nvPr/>
        </p:nvSpPr>
        <p:spPr>
          <a:xfrm>
            <a:off x="9000000" y="5508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96000" y="550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30 потерянных клиентов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96000" y="5706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Таргет-акция возврата, ~10 000 кг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0000" y="6552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TITAN_анализ_дистрибьюторов_для_программы_v2.xlsx — 4 листа: Сводка / Дистрибьюторы по группам (109) / 30 потерянных клиентов / 16 новых клиентов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