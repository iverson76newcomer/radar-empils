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0" r:id="rId5"/>
    <p:sldId id="259" r:id="rId6"/>
    <p:sldId id="262" r:id="rId7"/>
    <p:sldId id="267" r:id="rId8"/>
    <p:sldId id="270" r:id="rId9"/>
    <p:sldId id="264" r:id="rId10"/>
    <p:sldId id="258" r:id="rId11"/>
    <p:sldId id="263" r:id="rId12"/>
    <p:sldId id="268" r:id="rId13"/>
    <p:sldId id="269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1" d="100"/>
          <a:sy n="161" d="100"/>
        </p:scale>
        <p:origin x="-9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B8467-38C4-4842-B085-3A5E2A666F82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01294-2977-4189-BE23-42D2B81D65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7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2863" cy="5143500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806" y="571500"/>
            <a:ext cx="7144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45898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14375" y="428625"/>
            <a:ext cx="2992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73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КАТАЛОГ · ЭМПИЛС · ЛКМ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071563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0072" y="1075134"/>
            <a:ext cx="2278856" cy="2278856"/>
          </a:xfrm>
          <a:prstGeom prst="roundRect">
            <a:avLst>
              <a:gd name="adj" fmla="val 11703"/>
            </a:avLst>
          </a:prstGeom>
          <a:noFill/>
          <a:ln w="7144">
            <a:solidFill>
              <a:srgbClr val="1F4E79"/>
            </a:solidFill>
            <a:prstDash val="solid"/>
          </a:ln>
          <a:effectLst>
            <a:outerShdw blurRad="304800" dist="114300" dir="5400000" algn="bl" rotWithShape="0">
              <a:srgbClr val="1F4E79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93656" y="1178719"/>
            <a:ext cx="2071688" cy="2071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6379704" y="3500438"/>
            <a:ext cx="2198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Интерьерные · Фасадные · Эмали · Огнезащита · Полы</a:t>
            </a:r>
            <a:endParaRPr lang="en-US" sz="619" dirty="0"/>
          </a:p>
        </p:txBody>
      </p:sp>
      <p:sp>
        <p:nvSpPr>
          <p:cNvPr id="12" name="Text 8"/>
          <p:cNvSpPr/>
          <p:nvPr/>
        </p:nvSpPr>
        <p:spPr>
          <a:xfrm>
            <a:off x="8472488" y="35093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3" name="Text 9"/>
          <p:cNvSpPr/>
          <p:nvPr/>
        </p:nvSpPr>
        <p:spPr>
          <a:xfrm>
            <a:off x="571500" y="1571625"/>
            <a:ext cx="5400675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20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продуктов Эмпилс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571500" y="1983060"/>
            <a:ext cx="4572000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12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 ЛКМ в жилищном строительстве с учётом классов пожароопасности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71500" y="2575992"/>
            <a:ext cx="400050" cy="21431"/>
          </a:xfrm>
          <a:prstGeom prst="rect">
            <a:avLst/>
          </a:prstGeom>
          <a:solidFill>
            <a:srgbClr val="00A8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500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42950" y="2754585"/>
            <a:ext cx="10419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Все классы этажности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03462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974912" y="2754585"/>
            <a:ext cx="8261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 · Г1 · В1 · НГ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2851249" y="2761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3022699" y="2754585"/>
            <a:ext cx="1184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Сертификаты соответствия</a:t>
            </a:r>
            <a:endParaRPr lang="en-US" sz="675" dirty="0"/>
          </a:p>
        </p:txBody>
      </p:sp>
      <p:sp>
        <p:nvSpPr>
          <p:cNvPr id="22" name="Shape 18"/>
          <p:cNvSpPr/>
          <p:nvPr/>
        </p:nvSpPr>
        <p:spPr>
          <a:xfrm>
            <a:off x="571500" y="4461272"/>
            <a:ext cx="80010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4" name="Text 20"/>
          <p:cNvSpPr/>
          <p:nvPr/>
        </p:nvSpPr>
        <p:spPr>
          <a:xfrm>
            <a:off x="785813" y="4593431"/>
            <a:ext cx="2609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 основании ФЗ-123 и сертификатов соответствия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618251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7782077" y="4593431"/>
            <a:ext cx="7980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1795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571500" y="289322"/>
            <a:ext cx="16593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ЛЕГЕНДА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28625"/>
            <a:ext cx="19223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читать каталог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7211026" y="475059"/>
            <a:ext cx="1532924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КМ-классы · Этажность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89875" y="63222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404992" y="621506"/>
            <a:ext cx="133895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Светофорная кодировка применения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036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7072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Цветовая кодировка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21494" y="1367582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8FB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8644" y="1439019"/>
            <a:ext cx="228600" cy="228600"/>
          </a:xfrm>
          <a:prstGeom prst="ellipse">
            <a:avLst/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934" y="1478310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5E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2969" y="1424732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 использовать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892969" y="1564035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Полностью соответствует требованиям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494" y="1895326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8644" y="1966764"/>
            <a:ext cx="228600" cy="228600"/>
          </a:xfrm>
          <a:prstGeom prst="ellipse">
            <a:avLst/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934" y="2006054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F36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2969" y="1952476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892969" y="2091779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конкретных зон / этажей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494" y="2423071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8644" y="2494508"/>
            <a:ext cx="228600" cy="228600"/>
          </a:xfrm>
          <a:prstGeom prst="ellipse">
            <a:avLst/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7934" y="2533799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2969" y="2480221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 использовать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892969" y="2619524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 нормами пожарной безопасности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494" y="2950815"/>
            <a:ext cx="3871913" cy="371475"/>
          </a:xfrm>
          <a:prstGeom prst="roundRect">
            <a:avLst>
              <a:gd name="adj" fmla="val 15385"/>
            </a:avLst>
          </a:prstGeom>
          <a:solidFill>
            <a:srgbClr val="F7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644" y="3022253"/>
            <a:ext cx="228600" cy="228600"/>
          </a:xfrm>
          <a:prstGeom prst="ellipse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644" y="3022253"/>
            <a:ext cx="271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2969" y="3007965"/>
            <a:ext cx="344328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892969" y="3147268"/>
            <a:ext cx="35530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 не предназначен для данной зоны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32722" y="939403"/>
            <a:ext cx="4107656" cy="2564606"/>
          </a:xfrm>
          <a:prstGeom prst="roundRect">
            <a:avLst>
              <a:gd name="adj" fmla="val 445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0594" y="10733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4936331" y="1057275"/>
            <a:ext cx="368617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Классы пожароопасности (ФЗ-123)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4750594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0594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9206" y="1477417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слабогорючие </a:t>
            </a: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(лучший для горючих)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6729413" y="14383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29413" y="1448842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58025" y="1477417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трудновоспламеняемые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0594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50594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9206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малодымообразующие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9413" y="1946440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29413" y="1956941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58025" y="1985516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малотоксичные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0594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F5F7FA"/>
          </a:solidFill>
          <a:ln w="7144">
            <a:solidFill>
              <a:srgbClr val="E0E0E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50594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9206" y="2493615"/>
            <a:ext cx="1564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распр. пламя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9413" y="2454539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29413" y="2465040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8025" y="2493615"/>
            <a:ext cx="15644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комбин.: Г1+В1+Д1+Т1+РП1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0594" y="2860179"/>
            <a:ext cx="38719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0594" y="3055507"/>
            <a:ext cx="271463" cy="196025"/>
          </a:xfrm>
          <a:prstGeom prst="roundRect">
            <a:avLst>
              <a:gd name="adj" fmla="val 24295"/>
            </a:avLst>
          </a:prstGeom>
          <a:solidFill>
            <a:srgbClr val="ECEFF1"/>
          </a:solidFill>
          <a:ln w="7144">
            <a:solidFill>
              <a:srgbClr val="CFD8DC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50594" y="3066008"/>
            <a:ext cx="2714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НГ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79206" y="3094583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негорючие — </a:t>
            </a:r>
            <a:r>
              <a:rPr lang="en-US" sz="800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для зданий &gt;17 этажей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050" y="36379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58" name="Text 56"/>
          <p:cNvSpPr/>
          <p:nvPr/>
        </p:nvSpPr>
        <p:spPr>
          <a:xfrm>
            <a:off x="585788" y="3621881"/>
            <a:ext cx="17111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Этажность жилых зданий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2011859" y="3648670"/>
            <a:ext cx="67320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требования ужесточаются с ростом этажности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00050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00050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20591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00050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4338" y="3854053"/>
            <a:ext cx="0" cy="528638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4350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14350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≤9</a:t>
            </a:r>
            <a:endParaRPr lang="en-US" sz="1013" dirty="0"/>
          </a:p>
        </p:txBody>
      </p:sp>
      <p:sp>
        <p:nvSpPr>
          <p:cNvPr id="67" name="Text 65"/>
          <p:cNvSpPr/>
          <p:nvPr/>
        </p:nvSpPr>
        <p:spPr>
          <a:xfrm>
            <a:off x="942975" y="3993691"/>
            <a:ext cx="111785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9 этажей (≤28 м)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942975" y="4132994"/>
            <a:ext cx="1049182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самые мягкие требования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3209888" y="3854053"/>
            <a:ext cx="2724113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3209888" y="3857625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30429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9888" y="4379119"/>
            <a:ext cx="272411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24175" y="3854053"/>
            <a:ext cx="0" cy="528638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24188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24188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9–17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52813" y="3993691"/>
            <a:ext cx="1164297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9–17 этажей (28–50 м)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3752813" y="4132994"/>
            <a:ext cx="1271588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строже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019726" y="3854053"/>
            <a:ext cx="2724224" cy="528638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6019726" y="3857625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40378" y="3854053"/>
            <a:ext cx="0" cy="528638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19726" y="4379119"/>
            <a:ext cx="2724224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34013" y="3854053"/>
            <a:ext cx="0" cy="528638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34026" y="394692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34026" y="3946922"/>
            <a:ext cx="3857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&gt;17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62651" y="3993691"/>
            <a:ext cx="120020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Выше 17 этажей (&gt;50 м)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6562651" y="4132994"/>
            <a:ext cx="117838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НГ на путях эвакуации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266" dirty="0"/>
          </a:p>
        </p:txBody>
      </p:sp>
      <p:sp>
        <p:nvSpPr>
          <p:cNvPr id="8" name="Shape 6"/>
          <p:cNvSpPr/>
          <p:nvPr/>
        </p:nvSpPr>
        <p:spPr>
          <a:xfrm>
            <a:off x="400050" y="957642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311132"/>
            <a:ext cx="3409164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ПОТОЛОЧНАЯ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454007"/>
            <a:ext cx="3230091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полиакрил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707610"/>
            <a:ext cx="33223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Потолочная ВД-краска (полиакрил)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269994" y="426575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42222" y="591224"/>
            <a:ext cx="1524588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5082" y="604026"/>
            <a:ext cx="1478868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· Г1 В1 Д1 Т1 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079085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2255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232676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439845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439845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597677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597677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05.02.2028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844806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1934103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Соответствие ФЗ-123 подтверждено декларацией. Класс КМ1 превышает базовые требования для жилых зданий.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467652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6140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621242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7998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Водно-дисперсионная полиакриловая краска. Назначение — </a:t>
            </a: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только потолки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Глубокоматовая фактура без бликов.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079085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2255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0" y="1232676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45158"/>
              </p:ext>
            </p:extLst>
          </p:nvPr>
        </p:nvGraphicFramePr>
        <p:xfrm>
          <a:off x="3550444" y="1439845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12946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122323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Специально для потолков. Глубокоматовая, не бликует. Для всех типов жилых и общественных зданий до 17 этажей.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</a:t>
            </a:r>
            <a:r>
              <a:rPr lang="en-US" sz="800" kern="0" spc="124" dirty="0" smtClean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ПРОДУКТА</a:t>
            </a:r>
            <a:endParaRPr lang="ru-RU" sz="800" kern="0" spc="124" dirty="0" smtClean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550694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моющаяся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2863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Интерьерная моющаяся ВД-краска для кухонь, прихожих, коридоров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19731" y="404109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232154" y="45720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057610"/>
          </a:xfrm>
          <a:prstGeom prst="roundRect">
            <a:avLst>
              <a:gd name="adj" fmla="val 1080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сертификата: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 fontScale="25000" lnSpcReduction="20000"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206" y="1596963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206" y="1796988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206" y="187021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35794" y="185771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6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 / 2026 г.</a:t>
            </a:r>
            <a:endParaRPr lang="en-US" sz="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161319"/>
            <a:ext cx="2071688" cy="7608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03622" y="2164891"/>
            <a:ext cx="2064544" cy="753666"/>
          </a:xfrm>
          <a:prstGeom prst="roundRect">
            <a:avLst>
              <a:gd name="adj" fmla="val 15166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07206" y="227026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678656" y="2268475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" y="2433639"/>
            <a:ext cx="325375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7206" y="2443497"/>
            <a:ext cx="325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Кухни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75444" y="2433639"/>
            <a:ext cx="468139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75444" y="2443497"/>
            <a:ext cx="4681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Прихожие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6446" y="2433639"/>
            <a:ext cx="48276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386446" y="2443497"/>
            <a:ext cx="4827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Коридоры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912069" y="2433639"/>
            <a:ext cx="398041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904486" y="2443497"/>
            <a:ext cx="4132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Детские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4346" y="2640808"/>
            <a:ext cx="902412" cy="184023"/>
          </a:xfrm>
          <a:prstGeom prst="roundRect">
            <a:avLst>
              <a:gd name="adj" fmla="val 207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7206" y="2650666"/>
            <a:ext cx="85669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1565C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Места общего польз.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2878931" y="1132284"/>
            <a:ext cx="25661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1" name="Text 37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00050" y="3721894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00A859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410766" y="3721894"/>
            <a:ext cx="0" cy="300038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7206" y="38076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5" name="Text 41"/>
          <p:cNvSpPr/>
          <p:nvPr/>
        </p:nvSpPr>
        <p:spPr>
          <a:xfrm>
            <a:off x="721519" y="3807619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Устойчива к мытью. Для кухонь, прихожих, детских комнат, мест общего пользования.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</a:t>
            </a:r>
            <a:endParaRPr lang="ru-RU" sz="800" kern="0" spc="124" dirty="0">
              <a:solidFill>
                <a:srgbClr val="555555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  <a:p>
            <a:pPr marL="0" indent="0" algn="l">
              <a:lnSpc>
                <a:spcPts val="844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392906"/>
            <a:ext cx="5815013" cy="244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интерьерная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0050" y="664369"/>
            <a:ext cx="57092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ВД-краска полиакриловая для внутренних работ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06869" y="257175"/>
            <a:ext cx="1937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42857" y="410766"/>
            <a:ext cx="1597521" cy="192881"/>
          </a:xfrm>
          <a:prstGeom prst="roundRect">
            <a:avLst>
              <a:gd name="adj" fmla="val 29630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02034" y="427705"/>
            <a:ext cx="1290340" cy="128016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Т1, РП1)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184962" y="474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014413"/>
            <a:ext cx="2064544" cy="1211200"/>
          </a:xfrm>
          <a:prstGeom prst="roundRect">
            <a:avLst>
              <a:gd name="adj" fmla="val 943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1197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117997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307306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Сертификат: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206" y="1457660"/>
            <a:ext cx="1857375" cy="15473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Д-RU.PA01.B.00164/23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7206" y="1643397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206" y="1639825"/>
            <a:ext cx="1857375" cy="279749"/>
          </a:xfrm>
          <a:prstGeom prst="rect">
            <a:avLst/>
          </a:prstGeom>
          <a:noFill/>
          <a:ln/>
        </p:spPr>
        <p:txBody>
          <a:bodyPr wrap="square" lIns="0" tIns="42863" rIns="0" bIns="0" rtlCol="0" anchor="t">
            <a:normAutofit/>
          </a:bodyPr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ОРЕОЛ белая моющаяся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 полиакриловая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206" y="1950579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206" y="20238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635794" y="2011300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 05.02.2028</a:t>
            </a:r>
            <a:endParaRPr lang="en-US" sz="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314910"/>
            <a:ext cx="2071688" cy="74652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3622" y="2318482"/>
            <a:ext cx="2064544" cy="739378"/>
          </a:xfrm>
          <a:prstGeom prst="roundRect">
            <a:avLst>
              <a:gd name="adj" fmla="val 15459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07206" y="24238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78656" y="242206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ПРЕИМУЩЕСТВО КМ1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7206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206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40544" y="2585515"/>
            <a:ext cx="590587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1140544" y="2597088"/>
            <a:ext cx="590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73994" y="2585515"/>
            <a:ext cx="590476" cy="216027"/>
          </a:xfrm>
          <a:prstGeom prst="roundRect">
            <a:avLst>
              <a:gd name="adj" fmla="val 17637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73994" y="2597088"/>
            <a:ext cx="59047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07206" y="2847119"/>
            <a:ext cx="19316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вместо стандартных Д2 / Т2 / РП2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589609" y="1014413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707481" y="11447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2878930" y="1132284"/>
            <a:ext cx="2294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33208" y="1148358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7481" y="1357313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2707481" y="340399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39" name="Text 35"/>
          <p:cNvSpPr/>
          <p:nvPr/>
        </p:nvSpPr>
        <p:spPr>
          <a:xfrm>
            <a:off x="2836069" y="3393281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845561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199051"/>
            <a:ext cx="3297261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ФАСАДНАЯ КРАСКА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341926"/>
            <a:ext cx="3134806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ОРЕОЛ ДИСКОНТ фасадная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595529"/>
            <a:ext cx="32243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Фасадная ВД-краска для наружных работ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334782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87009" y="495517"/>
            <a:ext cx="1953369" cy="257175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5769" y="491945"/>
            <a:ext cx="2200458" cy="264319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>
              <a:lnSpc>
                <a:spcPts val="1181"/>
              </a:lnSpc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(КМ1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ru-RU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</a:t>
            </a: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В1 · Д2 · Т2 · </a:t>
            </a:r>
            <a:r>
              <a:rPr lang="en-US" sz="800" b="1" dirty="0" smtClean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РП1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967004"/>
            <a:ext cx="2850356" cy="1424955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1134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120595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327764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327764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Д-RU.RA01.B.03123/21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485596"/>
            <a:ext cx="209579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5134" y="1485596"/>
            <a:ext cx="55741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135-2018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50069" y="1643428"/>
            <a:ext cx="2151720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011" y="1643428"/>
            <a:ext cx="433586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731" dirty="0"/>
          </a:p>
        </p:txBody>
      </p:sp>
      <p:sp>
        <p:nvSpPr>
          <p:cNvPr id="24" name="Shape 22"/>
          <p:cNvSpPr/>
          <p:nvPr/>
        </p:nvSpPr>
        <p:spPr>
          <a:xfrm>
            <a:off x="550069" y="189055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069" y="197985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Продукт: Краска фасадная СТО 135-2018. Атмосферостойкая, для наружных работ.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3622" y="2513403"/>
            <a:ext cx="2850356" cy="784027"/>
          </a:xfrm>
          <a:prstGeom prst="roundRect">
            <a:avLst>
              <a:gd name="adj" fmla="val 14579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0069" y="26598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735806" y="2666994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УЛУЧШЕНИЕ ПО СЕРТИФИКАТУ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50616" y="2867019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b="1" strike="sngStrike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98849" y="287628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2540943" y="2867019"/>
            <a:ext cx="190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b="1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0069" y="3036683"/>
            <a:ext cx="26671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улучшено по сертификату соответствия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03997" y="967004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50444" y="11134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3736181" y="1120595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675882"/>
              </p:ext>
            </p:extLst>
          </p:nvPr>
        </p:nvGraphicFramePr>
        <p:xfrm>
          <a:off x="3550444" y="1327764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800" kern="12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/>
          <p:nvPr/>
        </p:nvSpPr>
        <p:spPr>
          <a:xfrm>
            <a:off x="3550444" y="401738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6" name="Text 43"/>
          <p:cNvSpPr/>
          <p:nvPr/>
        </p:nvSpPr>
        <p:spPr>
          <a:xfrm>
            <a:off x="3707606" y="4010242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⚠ «Жилые комнаты» помечены ограничением — продукт предназначен только для </a:t>
            </a:r>
            <a:r>
              <a:rPr lang="en-US" sz="800" b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наружных фасадов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00050" y="449504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14338" y="4495043"/>
            <a:ext cx="0" cy="328613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1500" y="458076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50" name="Text 47"/>
          <p:cNvSpPr/>
          <p:nvPr/>
        </p:nvSpPr>
        <p:spPr>
          <a:xfrm>
            <a:off x="814388" y="459059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8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→В</a:t>
            </a:r>
            <a:r>
              <a:rPr lang="en-US" sz="800" b="1" dirty="0">
                <a:solidFill>
                  <a:srgbClr val="FF98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улучшено по сертификату!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наружных фасадов зданий любой этажности. Атмосферостойкая.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8867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20866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пола акриловая полуматовая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893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покрытия полов внутри помещений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95565" y="823017"/>
            <a:ext cx="1378364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18425" y="835819"/>
            <a:ext cx="133264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Д1, Т1)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5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Д-RU.PA01.B.00229/22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10.02.2027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КМ1 — 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лучший показатель для половой эмали. Для полов в жилых и общественных зданиях </a:t>
            </a: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A5D6A7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 · полуматовое покрытие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906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6950649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ИНТЕРЬЕР </a:t>
            </a:r>
            <a:r>
              <a:rPr lang="en-US" sz="800" b="1" kern="0" spc="87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СТЕНЫ И ПОТОЛКИ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13417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Краска интерьерная моющаяся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103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ВД-краска СТО 05744283-134-2018. Для стен и потолков.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42497" y="839391"/>
            <a:ext cx="1605000" cy="232172"/>
          </a:xfrm>
          <a:prstGeom prst="roundRect">
            <a:avLst>
              <a:gd name="adj" fmla="val 24615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38925" y="835819"/>
            <a:ext cx="1612143" cy="269034"/>
          </a:xfrm>
          <a:prstGeom prst="rect">
            <a:avLst/>
          </a:prstGeom>
          <a:noFill/>
          <a:ln/>
        </p:spPr>
        <p:txBody>
          <a:bodyPr wrap="none" lIns="100013" tIns="42863" rIns="100013" bIns="42863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КМ1 (Г1, В1, Д2, Т2, РП1)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6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Д-RU.RA01.B.03124/21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 г.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КМ1 · МОЮЩАЯСЯ · ИЗНОСОСТОЙКАЯ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</a:t>
            </a: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КМ1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Для стен и потолков в жилых и общественных зданиях </a:t>
            </a: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 Моющаяся, устойчивая к истиранию.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8663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СТО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05744283-134-2018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1885950" y="3296841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296841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3106" y="3353991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Свойство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461147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Моющаяся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9593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932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053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4" name="Text 2"/>
          <p:cNvSpPr/>
          <p:nvPr/>
        </p:nvSpPr>
        <p:spPr>
          <a:xfrm>
            <a:off x="614363" y="100013"/>
            <a:ext cx="282727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59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КАТАЛОГ ЭМПИЛС · ЖИЛИЩНОЕ СТРОИТЕЛЬСТВО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28713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482203"/>
            <a:ext cx="4266826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ГЛЯНЦЕВАЯ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25078"/>
            <a:ext cx="4249772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глянцевая ОРЕОЛ</a:t>
            </a:r>
          </a:p>
        </p:txBody>
      </p:sp>
      <p:sp>
        <p:nvSpPr>
          <p:cNvPr id="11" name="Text 9"/>
          <p:cNvSpPr/>
          <p:nvPr/>
        </p:nvSpPr>
        <p:spPr>
          <a:xfrm>
            <a:off x="400050" y="878681"/>
            <a:ext cx="38634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Дерево, металл, ДСП, МДФ.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617934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762295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775097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Д1 · Т1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250156"/>
            <a:ext cx="2850356" cy="1267123"/>
          </a:xfrm>
          <a:prstGeom prst="roundRect">
            <a:avLst>
              <a:gd name="adj" fmla="val 902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403747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610916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610916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Д-RU.PA01.B.01134/26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768748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768748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2015877"/>
            <a:ext cx="2557463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2105174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Декларация соответствия подтверждает классы пожаробезопасности по ФЗ-123.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2638723"/>
            <a:ext cx="2850356" cy="803672"/>
          </a:xfrm>
          <a:prstGeom prst="roundRect">
            <a:avLst>
              <a:gd name="adj" fmla="val 14222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0069" y="278517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735806" y="2792313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ЛУЧШИЕ ПОКАЗАТЕЛИ СРЕДИ ЭМАЛЕЙ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0069" y="2970907"/>
            <a:ext cx="2557463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Д1 / Т1 — малодымообразующие и малотоксичные. Превосходит матовую версию (Д2/Т2).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03997" y="1250156"/>
            <a:ext cx="5336381" cy="3303984"/>
          </a:xfrm>
          <a:prstGeom prst="roundRect">
            <a:avLst>
              <a:gd name="adj" fmla="val 3459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0444" y="13966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3736181" y="1403747"/>
            <a:ext cx="1887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10916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НГ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Для зданий &gt;17 этажей на путях эвакуации требуются материалы класса </a:t>
            </a: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НГ (негорючие)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Лучшие показатели среди эмалей: Д1/Т1. Для деревянных и металлических поверхностей внутри помещений.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892969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074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" name="Text 2"/>
          <p:cNvSpPr/>
          <p:nvPr/>
        </p:nvSpPr>
        <p:spPr>
          <a:xfrm>
            <a:off x="557213" y="257175"/>
            <a:ext cx="5129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451896"/>
            <a:ext cx="6766560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400" b="1" kern="0" spc="-16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80649" y="322064"/>
            <a:ext cx="15633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800" kern="0" spc="2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26062" y="460081"/>
            <a:ext cx="1340748" cy="224028"/>
          </a:xfrm>
          <a:prstGeom prst="roundRect">
            <a:avLst>
              <a:gd name="adj" fmla="val 25510"/>
            </a:avLst>
          </a:prstGeom>
          <a:solidFill>
            <a:srgbClr val="E3F2FD"/>
          </a:solidFill>
          <a:ln w="7144">
            <a:solidFill>
              <a:srgbClr val="90CAF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0378" y="522089"/>
            <a:ext cx="98070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Д2, Т2, РП1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7506397" y="53388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1565C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403622" y="1197282"/>
            <a:ext cx="2064544" cy="1336216"/>
          </a:xfrm>
          <a:prstGeom prst="roundRect">
            <a:avLst>
              <a:gd name="adj" fmla="val 855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206" y="130265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78656" y="1300866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СЕРТИФИКАТЫ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206" y="1490175"/>
            <a:ext cx="18573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959"/>
              </a:lnSpc>
              <a:buNone/>
            </a:pPr>
            <a:r>
              <a:rPr lang="en-US" sz="700" dirty="0">
                <a:solidFill>
                  <a:srgbClr val="1F4E79"/>
                </a:solidFill>
                <a:ea typeface="Courier New" pitchFamily="34" charset="-122"/>
                <a:cs typeface="Courier New" pitchFamily="34" charset="-120"/>
              </a:rPr>
              <a:t>4 </a:t>
            </a:r>
            <a:r>
              <a:rPr lang="en-US" sz="700" dirty="0" err="1" smtClean="0">
                <a:solidFill>
                  <a:srgbClr val="1F4E79"/>
                </a:solidFill>
                <a:ea typeface="Courier New" pitchFamily="34" charset="-122"/>
                <a:cs typeface="Courier New" pitchFamily="34" charset="-120"/>
              </a:rPr>
              <a:t>сертификата</a:t>
            </a:r>
            <a:r>
              <a:rPr lang="en-US" sz="700" dirty="0">
                <a:solidFill>
                  <a:srgbClr val="1F4E79"/>
                </a:solidFill>
                <a:ea typeface="Courier New" pitchFamily="34" charset="-122"/>
                <a:cs typeface="Courier New" pitchFamily="34" charset="-120"/>
              </a:rPr>
              <a:t>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206" y="1640529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dirty="0">
                <a:solidFill>
                  <a:srgbClr val="555555"/>
                </a:solidFill>
                <a:ea typeface="Liberation Sans Narrow" pitchFamily="34" charset="-122"/>
                <a:cs typeface="Liberation Sans Narrow" pitchFamily="34" charset="-120"/>
              </a:rPr>
              <a:t>RU Д-RU.PA01.B.00924/23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206" y="1779832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dirty="0">
                <a:solidFill>
                  <a:srgbClr val="555555"/>
                </a:solidFill>
                <a:ea typeface="Liberation Sans Narrow" pitchFamily="34" charset="-122"/>
                <a:cs typeface="Liberation Sans Narrow" pitchFamily="34" charset="-120"/>
              </a:rPr>
              <a:t>RU Д-RU.PA01.B.00925/23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206" y="1919135"/>
            <a:ext cx="1857375" cy="11187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dirty="0">
                <a:solidFill>
                  <a:srgbClr val="555555"/>
                </a:solidFill>
                <a:ea typeface="Liberation Sans Narrow" pitchFamily="34" charset="-122"/>
                <a:cs typeface="Liberation Sans Narrow" pitchFamily="34" charset="-120"/>
              </a:rPr>
              <a:t>RU Д-RU.PA01.B.00923/23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206" y="2058438"/>
            <a:ext cx="1857375" cy="169021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dirty="0">
                <a:solidFill>
                  <a:srgbClr val="555555"/>
                </a:solidFill>
                <a:ea typeface="Liberation Sans Narrow" pitchFamily="34" charset="-122"/>
                <a:cs typeface="Liberation Sans Narrow" pitchFamily="34" charset="-120"/>
              </a:rPr>
              <a:t>RU Д-RU.RA01.B.00926/23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206" y="2258463"/>
            <a:ext cx="1857375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206" y="23316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0A859"/>
                </a:solidFill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635794" y="2319185"/>
            <a:ext cx="17287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dirty="0">
                <a:solidFill>
                  <a:srgbClr val="00A859"/>
                </a:solidFill>
                <a:ea typeface="Courier New" pitchFamily="34" charset="-122"/>
                <a:cs typeface="Courier New" pitchFamily="34" charset="-120"/>
              </a:rPr>
              <a:t>Действует до 19.06.2028</a:t>
            </a:r>
            <a:endParaRPr lang="en-US" sz="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622794"/>
            <a:ext cx="2071688" cy="8179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03622" y="2626366"/>
            <a:ext cx="2064544" cy="810816"/>
          </a:xfrm>
          <a:prstGeom prst="roundRect">
            <a:avLst>
              <a:gd name="adj" fmla="val 14097"/>
            </a:avLst>
          </a:prstGeom>
          <a:noFill/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07206" y="273173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678656" y="2729951"/>
            <a:ext cx="16859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3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МОДИФИКАЦИИ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07206" y="289340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6174" y="2950325"/>
            <a:ext cx="41690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ea typeface="Courier New" pitchFamily="34" charset="-122"/>
                <a:cs typeface="Courier New" pitchFamily="34" charset="-120"/>
              </a:rPr>
              <a:t>INTERIO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29585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1565C0"/>
                </a:solidFill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1457325" y="2893400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621579" y="2950325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ea typeface="Liberation Sans Narrow" pitchFamily="34" charset="-122"/>
                <a:cs typeface="Liberation Sans Narrow" pitchFamily="34" charset="-120"/>
              </a:rPr>
              <a:t>LOTUS 3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1500188" y="29585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1565C0"/>
                </a:solidFill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507206" y="312914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71460" y="3186068"/>
            <a:ext cx="38633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ea typeface="Liberation Sans Narrow" pitchFamily="34" charset="-122"/>
                <a:cs typeface="Liberation Sans Narrow" pitchFamily="34" charset="-120"/>
              </a:rPr>
              <a:t>LOTUS 7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50069" y="319429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1565C0"/>
                </a:solidFill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1457325" y="3129143"/>
            <a:ext cx="907256" cy="216027"/>
          </a:xfrm>
          <a:prstGeom prst="roundRect">
            <a:avLst>
              <a:gd name="adj" fmla="val 17637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615192" y="3186068"/>
            <a:ext cx="4420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1565C0"/>
                </a:solidFill>
                <a:ea typeface="Liberation Sans Narrow" pitchFamily="34" charset="-122"/>
                <a:cs typeface="Liberation Sans Narrow" pitchFamily="34" charset="-120"/>
              </a:rPr>
              <a:t>LOTUS 20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500188" y="319429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1565C0"/>
                </a:solidFill>
                <a:ea typeface="Segoe UI Symbol" pitchFamily="34" charset="-122"/>
                <a:cs typeface="Segoe UI Symbol" pitchFamily="34" charset="-120"/>
              </a:rPr>
              <a:t>●</a:t>
            </a:r>
            <a:endParaRPr lang="en-US" sz="844" dirty="0"/>
          </a:p>
        </p:txBody>
      </p:sp>
      <p:sp>
        <p:nvSpPr>
          <p:cNvPr id="39" name="Text 36"/>
          <p:cNvSpPr/>
          <p:nvPr/>
        </p:nvSpPr>
        <p:spPr>
          <a:xfrm>
            <a:off x="2589609" y="1197282"/>
            <a:ext cx="6150769" cy="2603897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07481" y="13276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1F4E79"/>
                </a:solidFill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2878930" y="1315153"/>
            <a:ext cx="24835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ea typeface="Carlito" pitchFamily="34" charset="-122"/>
                <a:cs typeface="Carlito" pitchFamily="34" charset="-120"/>
              </a:rPr>
              <a:t>Зона применения по этажности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633208" y="1331227"/>
            <a:ext cx="989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555555"/>
                </a:solidFill>
                <a:ea typeface="Courier New" pitchFamily="34" charset="-122"/>
                <a:cs typeface="Courier New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264437"/>
              </p:ext>
            </p:extLst>
          </p:nvPr>
        </p:nvGraphicFramePr>
        <p:xfrm>
          <a:off x="2707481" y="1540182"/>
          <a:ext cx="5843588" cy="1853565"/>
        </p:xfrm>
        <a:graphic>
          <a:graphicData uri="http://schemas.openxmlformats.org/drawingml/2006/table">
            <a:tbl>
              <a:tblPr/>
              <a:tblGrid>
                <a:gridCol w="2337346"/>
                <a:gridCol w="1064642"/>
                <a:gridCol w="1268909"/>
                <a:gridCol w="117269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(только 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85725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/>
          <p:nvPr/>
        </p:nvSpPr>
        <p:spPr>
          <a:xfrm>
            <a:off x="2707481" y="35868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E53935"/>
                </a:solidFill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45" name="Text 41"/>
          <p:cNvSpPr/>
          <p:nvPr/>
        </p:nvSpPr>
        <p:spPr>
          <a:xfrm>
            <a:off x="2836069" y="3576150"/>
            <a:ext cx="578643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ea typeface="Liberation Sans" pitchFamily="34" charset="-122"/>
                <a:cs typeface="Liberation Sans" pitchFamily="34" charset="-120"/>
              </a:rPr>
              <a:t>В зонах &gt;17 этажей на путях эвакуации — только материалы класса НГ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00050" y="4046339"/>
            <a:ext cx="8343900" cy="300038"/>
          </a:xfrm>
          <a:prstGeom prst="roundRect">
            <a:avLst>
              <a:gd name="adj" fmla="val 25397"/>
            </a:avLst>
          </a:prstGeom>
          <a:solidFill>
            <a:srgbClr val="1F4E79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3"/>
          <p:cNvSpPr/>
          <p:nvPr/>
        </p:nvSpPr>
        <p:spPr>
          <a:xfrm>
            <a:off x="410766" y="4046339"/>
            <a:ext cx="0" cy="300038"/>
          </a:xfrm>
          <a:prstGeom prst="line">
            <a:avLst/>
          </a:prstGeom>
          <a:noFill/>
          <a:ln w="21431">
            <a:solidFill>
              <a:srgbClr val="1F4E79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07206" y="41379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49" name="Text 45"/>
          <p:cNvSpPr/>
          <p:nvPr/>
        </p:nvSpPr>
        <p:spPr>
          <a:xfrm>
            <a:off x="721519" y="4143862"/>
            <a:ext cx="793670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Премиальная интерьерная ВД-краска. Стены и потолки жилых, общественных, офисных помещений.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36594" y="105370"/>
            <a:ext cx="116459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ЛКМ · ФЗ-123 · Классы КМ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8188247" y="75652"/>
            <a:ext cx="577077" cy="188024"/>
          </a:xfrm>
          <a:prstGeom prst="roundRect">
            <a:avLst>
              <a:gd name="adj" fmla="val 20263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9620" y="85725"/>
            <a:ext cx="53433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0050" y="115014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518703"/>
            <a:ext cx="465512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ДЛЯ РАДИАТОРОВ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661578"/>
            <a:ext cx="4604861" cy="2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радиаторов акриловая ОРЕОЛ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0050" y="900113"/>
            <a:ext cx="418623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Акриловая ВД-эмаль для радиаторов отопления, труб, металлических элементов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482203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61619" y="626564"/>
            <a:ext cx="1705191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84479" y="639366"/>
            <a:ext cx="165947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В1 · Д2 · Т2 · РП1*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05799" y="946547"/>
            <a:ext cx="17364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* По типичным показателям ВД-эмалей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271588"/>
            <a:ext cx="2850356" cy="1045220"/>
          </a:xfrm>
          <a:prstGeom prst="roundRect">
            <a:avLst>
              <a:gd name="adj" fmla="val 1093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069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735806" y="142517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 ДС В БАЗЕ ЗНАНИЙ ОТСУТСТВУЕТ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0069" y="1632347"/>
            <a:ext cx="17603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24733" y="1632347"/>
            <a:ext cx="78279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нет в базе —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069" y="1843980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069" y="1904702"/>
            <a:ext cx="255746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Имеется </a:t>
            </a:r>
            <a:r>
              <a:rPr lang="en-US" sz="800" b="1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ПБ: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«ПБ Эмаль для радиаторов СТО 012-2011.pdf».</a:t>
            </a:r>
            <a:endParaRPr lang="en-US" sz="800" dirty="0"/>
          </a:p>
          <a:p>
            <a:pPr marL="0" indent="0" algn="l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98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Запросите ДС у производителя.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622" y="2438251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E3F2FD"/>
          </a:solidFill>
          <a:ln w="7144">
            <a:solidFill>
              <a:srgbClr val="BBDEFB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069" y="2584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735806" y="2591842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ПРОДУКТА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069" y="2770436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Термостойкая акриловая водно-дисперсионная эмаль. Применяется для радиаторов, труб отопления и металлических элементов во всех типах зданий.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3997" y="1271588"/>
            <a:ext cx="5336381" cy="3282553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50444" y="14180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3736180" y="1425178"/>
            <a:ext cx="24145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0444" y="163234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3550444" y="43005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7"/>
          <p:cNvSpPr/>
          <p:nvPr/>
        </p:nvSpPr>
        <p:spPr>
          <a:xfrm>
            <a:off x="3707606" y="4293394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Допускается во всех типах жилых и общественных зданий независимо от этажности.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050" y="4672013"/>
            <a:ext cx="8343900" cy="328613"/>
          </a:xfrm>
          <a:prstGeom prst="roundRect">
            <a:avLst>
              <a:gd name="adj" fmla="val 2318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14338" y="4672013"/>
            <a:ext cx="0" cy="328613"/>
          </a:xfrm>
          <a:prstGeom prst="line">
            <a:avLst/>
          </a:prstGeom>
          <a:noFill/>
          <a:ln w="28575">
            <a:solidFill>
              <a:srgbClr val="00A85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1500" y="47577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A85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44" name="Text 41"/>
          <p:cNvSpPr/>
          <p:nvPr/>
        </p:nvSpPr>
        <p:spPr>
          <a:xfrm>
            <a:off x="814388" y="4767560"/>
            <a:ext cx="7786688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Назначение.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Термостойкая. Для радиаторов и труб отопления во всех типах зданий.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00A859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40189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85592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ОГНЕЗАЩИТА </a:t>
            </a:r>
            <a:r>
              <a:rPr lang="en-US" sz="800" b="1" kern="0" spc="87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ДРЕВЕСИНЫ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6760454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654"/>
              </a:lnSpc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Раствор водный ББ-11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Огнезащитная пропитка для древесины. </a:t>
            </a:r>
            <a:r>
              <a:rPr lang="en-US" sz="9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ПОВЫШАЕТ класс пожаробезопасности.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581466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ЕАЭС RU C-RU.ПБ68.В.02464/26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5814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 ЕАЭС 043-2017 · до </a:t>
            </a: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29.03.2031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332559" y="1671638"/>
            <a:ext cx="5379244" cy="2589609"/>
          </a:xfrm>
          <a:prstGeom prst="roundRect">
            <a:avLst>
              <a:gd name="adj" fmla="val 4414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44" name="Text 40"/>
          <p:cNvSpPr/>
          <p:nvPr/>
        </p:nvSpPr>
        <p:spPr>
          <a:xfrm>
            <a:off x="3636169" y="1775222"/>
            <a:ext cx="279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851093" y="1791295"/>
            <a:ext cx="742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ПРОПИТКИ</a:t>
            </a:r>
            <a:endParaRPr lang="en-US" sz="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2" cy="1123476"/>
        </p:xfrm>
        <a:graphic>
          <a:graphicData uri="http://schemas.openxmlformats.org/drawingml/2006/table">
            <a:tbl>
              <a:tblPr/>
              <a:tblGrid>
                <a:gridCol w="2198489"/>
                <a:gridCol w="888392"/>
                <a:gridCol w="1010617"/>
                <a:gridCol w="97456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Деревянные конструкции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ДСП, МДФ, фанера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Все зоны (после пропитки)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7" name="Text 42"/>
          <p:cNvSpPr/>
          <p:nvPr/>
        </p:nvSpPr>
        <p:spPr>
          <a:xfrm>
            <a:off x="3454003" y="3132534"/>
            <a:ext cx="5136356" cy="450056"/>
          </a:xfrm>
          <a:prstGeom prst="roundRect">
            <a:avLst>
              <a:gd name="adj" fmla="val 1269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3543300" y="32718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49" name="Text 44"/>
          <p:cNvSpPr/>
          <p:nvPr/>
        </p:nvSpPr>
        <p:spPr>
          <a:xfrm>
            <a:off x="3800475" y="3221831"/>
            <a:ext cx="4700588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b="1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Подходит для всех типов зданий, включая &gt;17 этажей</a:t>
            </a:r>
            <a:endParaRPr lang="en-US" sz="500" dirty="0"/>
          </a:p>
        </p:txBody>
      </p:sp>
      <p:sp>
        <p:nvSpPr>
          <p:cNvPr id="50" name="Text 45"/>
          <p:cNvSpPr/>
          <p:nvPr/>
        </p:nvSpPr>
        <p:spPr>
          <a:xfrm>
            <a:off x="3800475" y="3375422"/>
            <a:ext cx="470058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После обработки древесина приобретает высший класс пожаробезопасности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71525" y="342900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71525" y="482203"/>
            <a:ext cx="2343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Жилищное строительство · классы пожароопасности по ФЗ-123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207160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ЭПОКСИДНЫЕ </a:t>
            </a:r>
            <a:r>
              <a:rPr lang="en-US" sz="800" b="1" kern="0" spc="87" dirty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082381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ts val="1654"/>
              </a:lnSpc>
              <a:buNone/>
            </a:pPr>
            <a:r>
              <a:rPr lang="en-US" sz="14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Компаунд эпоксидный EMPILS E 608</a:t>
            </a:r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4385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Эпоксидное покрытие для полов. </a:t>
            </a:r>
            <a:r>
              <a:rPr lang="en-US" sz="9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Высокая износостойкость.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51487" y="823017"/>
            <a:ext cx="1322442" cy="264919"/>
          </a:xfrm>
          <a:prstGeom prst="roundRect">
            <a:avLst>
              <a:gd name="adj" fmla="val 21573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274347" y="835819"/>
            <a:ext cx="127672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В1, Д1, Т1, РП1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2460" y="1132284"/>
            <a:ext cx="10386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возможный класс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C-RU.ПБ68.В.02055/24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ТР № 123-ФЗ · до </a:t>
            </a: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27.10.2029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E8F5E9"/>
          </a:solidFill>
          <a:ln w="7144">
            <a:solidFill>
              <a:srgbClr val="A5D6A7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2E7D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2E7D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ЛУЧШИЙ КЛАСС ДЛЯ ПОЛОВ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615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2E7D3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Лучший класс пожаробезопасности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полового покрытия. Эпоксидный компаунд для высоконагруженных полов в жилых и общественных зданиях </a:t>
            </a:r>
            <a:r>
              <a:rPr lang="en-US" sz="800" b="1" dirty="0">
                <a:solidFill>
                  <a:srgbClr val="1F4E7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до 17 этажей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1506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32222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8663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Тип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28663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Эпоксидный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885950" y="3436144"/>
            <a:ext cx="1207294" cy="360759"/>
          </a:xfrm>
          <a:prstGeom prst="roundRect">
            <a:avLst>
              <a:gd name="adj" fmla="val 105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1896666" y="3436144"/>
            <a:ext cx="0" cy="360759"/>
          </a:xfrm>
          <a:prstGeom prst="line">
            <a:avLst/>
          </a:prstGeom>
          <a:noFill/>
          <a:ln w="21431">
            <a:solidFill>
              <a:srgbClr val="00A8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3106" y="3493294"/>
            <a:ext cx="10144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Применение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993106" y="3600450"/>
            <a:ext cx="10144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Высок. нагрузка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3636169" y="1775222"/>
            <a:ext cx="27056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 (НГ)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0050" y="1004834"/>
            <a:ext cx="8343900" cy="0"/>
          </a:xfrm>
          <a:prstGeom prst="line">
            <a:avLst/>
          </a:prstGeom>
          <a:noFill/>
          <a:ln w="7144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340627"/>
            <a:ext cx="4019639" cy="11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68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КАРТОЧКА ПРОДУКТА · ЭМАЛЬ МАТОВАЯ 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483502"/>
            <a:ext cx="4010468" cy="226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700" b="1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акриловая матовая ОРЕОЛ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0050" y="737105"/>
            <a:ext cx="364588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для внутренней отделки. </a:t>
            </a:r>
            <a:r>
              <a:rPr lang="en-US" sz="844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7412868" y="476358"/>
            <a:ext cx="133108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kern="0" spc="3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ПОЖАРООПАСНОСТИ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83100" y="620719"/>
            <a:ext cx="1283710" cy="289922"/>
          </a:xfrm>
          <a:prstGeom prst="roundRect">
            <a:avLst>
              <a:gd name="adj" fmla="val 19712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05960" y="633521"/>
            <a:ext cx="123799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 · В2 · Д2 · Т2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1126277"/>
            <a:ext cx="2850356" cy="1130052"/>
          </a:xfrm>
          <a:prstGeom prst="roundRect">
            <a:avLst>
              <a:gd name="adj" fmla="val 10115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12727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735806" y="1279868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⚠ СЕРТИФИКАТ · ВНИМАНИЕ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0069" y="1487037"/>
            <a:ext cx="1257188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Рег. № ДС: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1545" y="1487037"/>
            <a:ext cx="1285987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Д-RU.RA01.B.00950/26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550069" y="1644869"/>
            <a:ext cx="198395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Действует до: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90584" y="1644869"/>
            <a:ext cx="674673" cy="186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3"/>
              </a:lnSpc>
              <a:buNone/>
            </a:pPr>
            <a:r>
              <a:rPr lang="en-US" sz="731" b="1" dirty="0">
                <a:solidFill>
                  <a:srgbClr val="00A85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20.05.2031</a:t>
            </a:r>
            <a:endParaRPr lang="en-US" sz="731" dirty="0"/>
          </a:p>
        </p:txBody>
      </p:sp>
      <p:sp>
        <p:nvSpPr>
          <p:cNvPr id="22" name="Shape 20"/>
          <p:cNvSpPr/>
          <p:nvPr/>
        </p:nvSpPr>
        <p:spPr>
          <a:xfrm>
            <a:off x="550069" y="1891998"/>
            <a:ext cx="2557463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198129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21519" y="1981295"/>
            <a:ext cx="23860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ДС отсутствует в базе знаний!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622" y="2377773"/>
            <a:ext cx="2850356" cy="966192"/>
          </a:xfrm>
          <a:prstGeom prst="roundRect">
            <a:avLst>
              <a:gd name="adj" fmla="val 11830"/>
            </a:avLst>
          </a:prstGeom>
          <a:solidFill>
            <a:srgbClr val="FFEBEE"/>
          </a:solidFill>
          <a:ln w="7144">
            <a:solidFill>
              <a:srgbClr val="FFCDD2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0069" y="252422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735806" y="2531364"/>
            <a:ext cx="2371725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B71C1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В2 — ОГРАНИЧЕНИЕ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0069" y="2709957"/>
            <a:ext cx="255746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Воспламеняемость В2 — умеренно горючие. </a:t>
            </a: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Запрещено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на путях эвакуации в зданиях выше 9 этажей.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3997" y="1126277"/>
            <a:ext cx="5336381" cy="3186113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550444" y="127272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3736181" y="1279868"/>
            <a:ext cx="233600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3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915235"/>
              </p:ext>
            </p:extLst>
          </p:nvPr>
        </p:nvGraphicFramePr>
        <p:xfrm>
          <a:off x="3550444" y="1487037"/>
          <a:ext cx="4972050" cy="2068359"/>
        </p:xfrm>
        <a:graphic>
          <a:graphicData uri="http://schemas.openxmlformats.org/drawingml/2006/table">
            <a:tbl>
              <a:tblPr/>
              <a:tblGrid>
                <a:gridCol w="1988753"/>
                <a:gridCol w="905805"/>
                <a:gridCol w="1079711"/>
                <a:gridCol w="997781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≤9 этажей≤28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этажей28–50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&gt;17 этажей&gt;50 м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 (квартиры)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холлы, фойе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клетки, вестибюли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550444" y="405878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42" name="Text 39"/>
          <p:cNvSpPr/>
          <p:nvPr/>
        </p:nvSpPr>
        <p:spPr>
          <a:xfrm>
            <a:off x="3707606" y="4051643"/>
            <a:ext cx="4886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FF9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≤9 этажей — с ограничениями, не на путях эвакуации.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00050" y="4554141"/>
            <a:ext cx="8343900" cy="446484"/>
          </a:xfrm>
          <a:prstGeom prst="roundRect">
            <a:avLst>
              <a:gd name="adj" fmla="val 17067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414338" y="4554141"/>
            <a:ext cx="0" cy="446484"/>
          </a:xfrm>
          <a:prstGeom prst="line">
            <a:avLst/>
          </a:prstGeom>
          <a:noFill/>
          <a:ln w="28575">
            <a:solidFill>
              <a:srgbClr val="E539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1500" y="46398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46" name="Text 43"/>
          <p:cNvSpPr/>
          <p:nvPr/>
        </p:nvSpPr>
        <p:spPr>
          <a:xfrm>
            <a:off x="814388" y="4639866"/>
            <a:ext cx="77866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3"/>
              </a:lnSpc>
              <a:buNone/>
            </a:pPr>
            <a:r>
              <a:rPr lang="en-US" sz="800" b="1" dirty="0">
                <a:solidFill>
                  <a:srgbClr val="E539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подходит для путей эвакуации в зданиях выше </a:t>
            </a:r>
            <a:r>
              <a:rPr lang="en-US" sz="800" b="1" dirty="0">
                <a:solidFill>
                  <a:srgbClr val="E539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r>
              <a:rPr lang="en-US" sz="800" b="1" dirty="0">
                <a:solidFill>
                  <a:srgbClr val="E5393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этажей!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Только для жилых комнат (квартир). Используйте </a:t>
            </a:r>
            <a:r>
              <a:rPr lang="en-US" sz="800" b="1" dirty="0">
                <a:solidFill>
                  <a:srgbClr val="00A85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глянцевую версию (В1)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для коридоров и лестниц.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573" y="3971925"/>
            <a:ext cx="1813427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1F4E79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7875" dirty="0"/>
          </a:p>
        </p:txBody>
      </p:sp>
      <p:sp>
        <p:nvSpPr>
          <p:cNvPr id="4" name="Text 1"/>
          <p:cNvSpPr/>
          <p:nvPr/>
        </p:nvSpPr>
        <p:spPr>
          <a:xfrm>
            <a:off x="500063" y="37861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5" name="Text 2"/>
          <p:cNvSpPr/>
          <p:nvPr/>
        </p:nvSpPr>
        <p:spPr>
          <a:xfrm>
            <a:off x="750094" y="405255"/>
            <a:ext cx="2615316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500" b="1" kern="0" spc="88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 · КАТАЛОГ ПРОДУКТОВ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503634" y="703659"/>
            <a:ext cx="8208169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4369" y="835819"/>
            <a:ext cx="7536518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87" dirty="0" smtClean="0">
                <a:solidFill>
                  <a:srgbClr val="00A8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ДЕРЕВООБРАБОТКА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982266"/>
            <a:ext cx="7389953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688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Эмаль СТО 05744283-136-2018</a:t>
            </a:r>
            <a:endParaRPr lang="en-US" sz="1688" dirty="0"/>
          </a:p>
        </p:txBody>
      </p:sp>
      <p:sp>
        <p:nvSpPr>
          <p:cNvPr id="12" name="Text 9"/>
          <p:cNvSpPr/>
          <p:nvPr/>
        </p:nvSpPr>
        <p:spPr>
          <a:xfrm>
            <a:off x="664369" y="1260872"/>
            <a:ext cx="67181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ВД-эмаль защитно-декоративная для дерева. </a:t>
            </a:r>
            <a:r>
              <a:rPr lang="en-US" sz="900" b="1" dirty="0">
                <a:solidFill>
                  <a:srgbClr val="E651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ВНИМАНИЕ: класс В2!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31098" y="823017"/>
            <a:ext cx="1042831" cy="264919"/>
          </a:xfrm>
          <a:prstGeom prst="roundRect">
            <a:avLst>
              <a:gd name="adj" fmla="val 21573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553958" y="835819"/>
            <a:ext cx="99711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Г1, В2, Д2, Т2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518511" y="1132284"/>
            <a:ext cx="10325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4"/>
              </a:lnSpc>
              <a:buNone/>
            </a:pPr>
            <a:r>
              <a:rPr lang="en-US" sz="600" kern="0" spc="23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Класс пожароопасности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3634" y="1671638"/>
            <a:ext cx="2707481" cy="696516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1506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807244" y="1775222"/>
            <a:ext cx="228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СЕРТИФИКАТ СООТВЕТСТВИЯ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1506" y="1957388"/>
            <a:ext cx="247173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00" b="1" dirty="0">
                <a:solidFill>
                  <a:srgbClr val="1A1A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RU Д-RU.RA01.B.00723/24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21506" y="2135981"/>
            <a:ext cx="24717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Действует до </a:t>
            </a:r>
            <a:r>
              <a:rPr lang="en-US" sz="800" b="1" dirty="0">
                <a:solidFill>
                  <a:srgbClr val="1F4E7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02.04.2029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3634" y="2461022"/>
            <a:ext cx="2707481" cy="1621631"/>
          </a:xfrm>
          <a:prstGeom prst="roundRect">
            <a:avLst>
              <a:gd name="adj" fmla="val 7048"/>
            </a:avLst>
          </a:prstGeom>
          <a:solidFill>
            <a:srgbClr val="FFF3E0"/>
          </a:solidFill>
          <a:ln w="7144">
            <a:solidFill>
              <a:srgbClr val="FFCC8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578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23" name="Text 20"/>
          <p:cNvSpPr/>
          <p:nvPr/>
        </p:nvSpPr>
        <p:spPr>
          <a:xfrm>
            <a:off x="835819" y="2582466"/>
            <a:ext cx="2257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32" dirty="0">
                <a:solidFill>
                  <a:srgbClr val="E651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ВНИМАНИЕ: КЛАСС В2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793206"/>
            <a:ext cx="247173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71C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 В</a:t>
            </a:r>
            <a:r>
              <a:rPr lang="en-US" sz="800" b="1" dirty="0">
                <a:solidFill>
                  <a:srgbClr val="B71C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00" b="1" dirty="0">
                <a:solidFill>
                  <a:srgbClr val="B71C1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— НЕ для путей эвакуации</a:t>
            </a:r>
            <a:r>
              <a:rPr lang="en-US" sz="800" dirty="0">
                <a:solidFill>
                  <a:srgbClr val="1A1A2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выше 9 этажей. Для деревянных поверхностей внутри помещений (кроме пола). Атмосферные условия — с ограничениями.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506" y="3757613"/>
            <a:ext cx="2471738" cy="0"/>
          </a:xfrm>
          <a:prstGeom prst="line">
            <a:avLst/>
          </a:prstGeom>
          <a:noFill/>
          <a:ln w="7144">
            <a:solidFill>
              <a:srgbClr val="FFCC8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621506" y="385583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E651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778669" y="3846909"/>
            <a:ext cx="23145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Рекомендация: рассмотреть ББ-11 для повышения класса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3332559" y="1671638"/>
            <a:ext cx="5379244" cy="2411016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7144">
            <a:solidFill>
              <a:srgbClr val="E0E0E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50431" y="178058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1F4E7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3636169" y="1775222"/>
            <a:ext cx="27823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44" dirty="0">
                <a:solidFill>
                  <a:srgbClr val="1F4E7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ЗОНЫ ПРИМЕНЕНИЯ ПО ЭТАЖНОСТИ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16453" y="1791295"/>
            <a:ext cx="107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45" dirty="0">
                <a:solidFill>
                  <a:srgbClr val="90A4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ФЗ-123 · ПУТИ ЭВАКУАЦИИ</a:t>
            </a:r>
            <a:endParaRPr lang="en-US" sz="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50431" y="1985963"/>
          <a:ext cx="5072063" cy="1960725"/>
        </p:xfrm>
        <a:graphic>
          <a:graphicData uri="http://schemas.openxmlformats.org/drawingml/2006/table">
            <a:tbl>
              <a:tblPr/>
              <a:tblGrid>
                <a:gridCol w="1847776"/>
                <a:gridCol w="996776"/>
                <a:gridCol w="1133959"/>
                <a:gridCol w="109355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Зона применения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10001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≤ 9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9–17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&gt; 17 этажей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64294" marR="42863" marT="42863" marB="64294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Жилые комнаты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✓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Коридоры, холлы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Лестничные клетки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Потолки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0A4A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—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Полы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71C1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✗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Фасады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10001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BF360C"/>
                          </a:solidFill>
                          <a:latin typeface="Liberation Sans" pitchFamily="34" charset="0"/>
                          <a:ea typeface="Liberation Sans" pitchFamily="34" charset="-122"/>
                          <a:cs typeface="Liberation Sans" pitchFamily="34" charset="-120"/>
                        </a:rPr>
                        <a:t>⚠</a:t>
                      </a:r>
                      <a:endParaRPr lang="en-US" sz="800" dirty="0">
                        <a:latin typeface="Liberation Sans" charset="0"/>
                        <a:ea typeface="Liberation Sans" charset="0"/>
                        <a:cs typeface="Liberation Sans" charset="0"/>
                      </a:endParaRPr>
                    </a:p>
                  </a:txBody>
                  <a:tcPr marL="57150" marR="42863" marT="42863" marB="5715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33" name="Text 29"/>
          <p:cNvSpPr/>
          <p:nvPr/>
        </p:nvSpPr>
        <p:spPr>
          <a:xfrm>
            <a:off x="3450431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C8E6C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50431" y="3871913"/>
            <a:ext cx="5220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Можно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891000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E0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000" y="3871913"/>
            <a:ext cx="8501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С ограничениями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85407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FF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85407" y="3871913"/>
            <a:ext cx="4852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Нельзя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39035" y="3889772"/>
            <a:ext cx="71438" cy="71438"/>
          </a:xfrm>
          <a:prstGeom prst="roundRect">
            <a:avLst>
              <a:gd name="adj" fmla="val 26666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139035" y="3871913"/>
            <a:ext cx="34548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Не применяется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2116</Words>
  <Application>Microsoft Office PowerPoint</Application>
  <PresentationFormat>Экран (16:9)</PresentationFormat>
  <Paragraphs>757</Paragraphs>
  <Slides>15</Slides>
  <Notes>15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21</cp:revision>
  <dcterms:created xsi:type="dcterms:W3CDTF">2026-09-29T07:29:24Z</dcterms:created>
  <dcterms:modified xsi:type="dcterms:W3CDTF">2026-09-29T08:38:42Z</dcterms:modified>
</cp:coreProperties>
</file>