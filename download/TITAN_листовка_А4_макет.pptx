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7920"/>
                </a:solidFill>
                <a:latin typeface="Arial"/>
              </a:rPr>
              <a:t>TITAN</a:t>
            </a:r>
            <a:r>
              <a:rPr sz="1800" b="0">
                <a:solidFill>
                  <a:srgbClr val="FFFFFF"/>
                </a:solidFill>
                <a:latin typeface="Arial"/>
              </a:rPr>
              <a:t>  3в1 по ржавчине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8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47920"/>
                </a:solidFill>
                <a:latin typeface="Arial"/>
              </a:rPr>
              <a:t>Красишь 1 раз — служит 10 лет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007999"/>
            <a:ext cx="6840000" cy="28800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ЧТО ЭТО И ДЛЯ КАКИХ ПОВЕРХНОСТЕЙ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368000"/>
            <a:ext cx="6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Грунт-эмаль по ржавчине 3в1 — грунт, эмаль и преобразователь ржавчины в одной банке.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A1F36"/>
                </a:solidFill>
                <a:latin typeface="Arial"/>
              </a:rPr>
              <a:t>Применяется для защиты и окраски стальных и чугунных поверхностей с остатками плотно держащейся ржавчины, эксплуатируемых в атмосферных условиях и внутри помещений. Не требует грунтовки — наносится прямо на ржавчину.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232000"/>
            <a:ext cx="1620000" cy="64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3A5F"/>
                </a:solidFill>
                <a:latin typeface="Arial"/>
              </a:rPr>
              <a:t>Металл
(сталь, чугун)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4000" y="2232000"/>
            <a:ext cx="1620000" cy="64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3A5F"/>
                </a:solidFill>
                <a:latin typeface="Arial"/>
              </a:rPr>
              <a:t>Оцинковка
(+ цветные металлы)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8000" y="2232000"/>
            <a:ext cx="1620000" cy="64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3A5F"/>
                </a:solidFill>
                <a:latin typeface="Arial"/>
              </a:rPr>
              <a:t>Нержавейка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2000" y="2232000"/>
            <a:ext cx="1620000" cy="64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3A5F"/>
                </a:solidFill>
                <a:latin typeface="Arial"/>
              </a:rPr>
              <a:t>Дерево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988000"/>
            <a:ext cx="2160000" cy="54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Степень блеска
</a:t>
            </a:r>
            <a:r>
              <a:rPr sz="1200" b="1">
                <a:solidFill>
                  <a:srgbClr val="1E3A5F"/>
                </a:solidFill>
                <a:latin typeface="Arial"/>
              </a:rPr>
              <a:t>Глянцевая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4000" y="2988000"/>
            <a:ext cx="2160000" cy="54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Время высыхания
</a:t>
            </a:r>
            <a:r>
              <a:rPr sz="1200" b="1">
                <a:solidFill>
                  <a:srgbClr val="1E3A5F"/>
                </a:solidFill>
                <a:latin typeface="Arial"/>
              </a:rPr>
              <a:t>«От пыли» — 1,5 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68000" y="2988000"/>
            <a:ext cx="2160000" cy="54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Срок службы
</a:t>
            </a:r>
            <a:r>
              <a:rPr sz="1200" b="1">
                <a:solidFill>
                  <a:srgbClr val="1E3A5F"/>
                </a:solidFill>
                <a:latin typeface="Arial"/>
              </a:rPr>
              <a:t>10 лет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671999"/>
            <a:ext cx="6840000" cy="28800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ИНСТРУКЦИЯ ПО ПРИМЕНЕНИЮ — 5 ШАГОВ</a:t>
            </a:r>
          </a:p>
        </p:txBody>
      </p:sp>
      <p:sp>
        <p:nvSpPr>
          <p:cNvPr id="16" name="Oval 15"/>
          <p:cNvSpPr/>
          <p:nvPr/>
        </p:nvSpPr>
        <p:spPr>
          <a:xfrm>
            <a:off x="648000" y="406800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 rIns="72000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Очистить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Удалить рыхлую ржавчину
металлической щёткой.
Не нужно до блеска!</a:t>
            </a:r>
          </a:p>
        </p:txBody>
      </p:sp>
      <p:sp>
        <p:nvSpPr>
          <p:cNvPr id="18" name="Oval 17"/>
          <p:cNvSpPr/>
          <p:nvPr/>
        </p:nvSpPr>
        <p:spPr>
          <a:xfrm>
            <a:off x="2123999" y="406800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55999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 rIns="72000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Обезжирить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Протереть растворителем
или уайт-спиритом.</a:t>
            </a:r>
          </a:p>
        </p:txBody>
      </p:sp>
      <p:sp>
        <p:nvSpPr>
          <p:cNvPr id="20" name="Oval 19"/>
          <p:cNvSpPr/>
          <p:nvPr/>
        </p:nvSpPr>
        <p:spPr>
          <a:xfrm>
            <a:off x="3599999" y="406800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31999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 rIns="72000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Перемешать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Тщательно перемешать
1 минуту. Грунт уже
внутри — отдельный не нужен.</a:t>
            </a:r>
          </a:p>
        </p:txBody>
      </p:sp>
      <p:sp>
        <p:nvSpPr>
          <p:cNvPr id="22" name="Oval 21"/>
          <p:cNvSpPr/>
          <p:nvPr/>
        </p:nvSpPr>
        <p:spPr>
          <a:xfrm>
            <a:off x="5076000" y="406800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000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 rIns="72000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Покрасить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Нанести 2 слоя кистью
или валиком. Между слоями
— 1,5 часа на отлип.</a:t>
            </a:r>
          </a:p>
        </p:txBody>
      </p:sp>
      <p:sp>
        <p:nvSpPr>
          <p:cNvPr id="24" name="Oval 23"/>
          <p:cNvSpPr/>
          <p:nvPr/>
        </p:nvSpPr>
        <p:spPr>
          <a:xfrm>
            <a:off x="6551999" y="406800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3999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 rIns="72000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Готово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Покрытие набирает
прочность за 7 дней.
Срок службы — 10 лет.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2000" y="414000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8000" y="414000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3999" y="414000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0000" y="414000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832000"/>
            <a:ext cx="6840000" cy="28800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TCO — СОВОКУПНАЯ СТОИМОСТЬ ВЛАДЕНИЯ ЗА 10 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192000"/>
            <a:ext cx="68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Arial"/>
              </a:rPr>
              <a:t>Красите 1 раз на 10 лет вместо 4 раз — экономия до 59%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000" y="6552000"/>
            <a:ext cx="2340000" cy="306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6624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Дверь металлическая</a:t>
            </a:r>
          </a:p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Площадь: 4.4 м²</a:t>
            </a:r>
          </a:p>
        </p:txBody>
      </p:sp>
      <p:pic>
        <p:nvPicPr>
          <p:cNvPr id="34" name="Picture 33" descr="door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055999"/>
            <a:ext cx="1980000" cy="108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8000" y="8244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ПФ-115: </a:t>
            </a:r>
            <a:r>
              <a:rPr sz="1100" b="1">
                <a:solidFill>
                  <a:srgbClr val="C62828"/>
                </a:solidFill>
                <a:latin typeface="Arial"/>
              </a:rPr>
              <a:t>4 640 ₽</a:t>
            </a:r>
            <a:r>
              <a:rPr sz="800">
                <a:solidFill>
                  <a:srgbClr val="6B7280"/>
                </a:solidFill>
                <a:latin typeface="Arial"/>
              </a:rPr>
              <a:t> (4 перекраски)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00" y="8640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TITAN: </a:t>
            </a:r>
            <a:r>
              <a:rPr sz="1100" b="1">
                <a:solidFill>
                  <a:srgbClr val="16A34A"/>
                </a:solidFill>
                <a:latin typeface="Arial"/>
              </a:rPr>
              <a:t>1 610 ₽</a:t>
            </a:r>
            <a:r>
              <a:rPr sz="800">
                <a:solidFill>
                  <a:srgbClr val="6B7280"/>
                </a:solidFill>
                <a:latin typeface="Arial"/>
              </a:rPr>
              <a:t> (1 покраска)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00" y="9072000"/>
            <a:ext cx="1980000" cy="43200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ЭКОНОМИЯ: 3 030 ₽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(65% за 10 лет)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00000" y="6552000"/>
            <a:ext cx="2340000" cy="306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08000" y="6624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Гараж металлический</a:t>
            </a:r>
          </a:p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Площадь: 54 м²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0" y="7055999"/>
            <a:ext cx="1980000" cy="1080000"/>
          </a:xfrm>
          <a:prstGeom prst="rect">
            <a:avLst/>
          </a:prstGeom>
          <a:solidFill>
            <a:srgbClr val="DBEAF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Фото до/после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8000" y="8244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ПФ-115: </a:t>
            </a:r>
            <a:r>
              <a:rPr sz="1100" b="1">
                <a:solidFill>
                  <a:srgbClr val="C62828"/>
                </a:solidFill>
                <a:latin typeface="Arial"/>
              </a:rPr>
              <a:t>43 692 ₽</a:t>
            </a:r>
            <a:r>
              <a:rPr sz="800">
                <a:solidFill>
                  <a:srgbClr val="6B7280"/>
                </a:solidFill>
                <a:latin typeface="Arial"/>
              </a:rPr>
              <a:t> (4 перекраски)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0" y="8640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TITAN: </a:t>
            </a:r>
            <a:r>
              <a:rPr sz="1100" b="1">
                <a:solidFill>
                  <a:srgbClr val="16A34A"/>
                </a:solidFill>
                <a:latin typeface="Arial"/>
              </a:rPr>
              <a:t>17 580 ₽</a:t>
            </a:r>
            <a:r>
              <a:rPr sz="800">
                <a:solidFill>
                  <a:srgbClr val="6B7280"/>
                </a:solidFill>
                <a:latin typeface="Arial"/>
              </a:rPr>
              <a:t> (1 покраска)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80000" y="9072000"/>
            <a:ext cx="1980000" cy="43200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ЭКОНОМИЯ: 26 112 ₽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(59% за 10 лет)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20000" y="6552000"/>
            <a:ext cx="2340000" cy="306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8000" y="6624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Ворота распашные</a:t>
            </a:r>
          </a:p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Площадь: 16 м²</a:t>
            </a:r>
          </a:p>
        </p:txBody>
      </p:sp>
      <p:pic>
        <p:nvPicPr>
          <p:cNvPr id="46" name="Picture 45" descr="gate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7055999"/>
            <a:ext cx="1980000" cy="1080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28000" y="8244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ПФ-115: </a:t>
            </a:r>
            <a:r>
              <a:rPr sz="1100" b="1">
                <a:solidFill>
                  <a:srgbClr val="C62828"/>
                </a:solidFill>
                <a:latin typeface="Arial"/>
              </a:rPr>
              <a:t>13 860 ₽</a:t>
            </a:r>
            <a:r>
              <a:rPr sz="800">
                <a:solidFill>
                  <a:srgbClr val="6B7280"/>
                </a:solidFill>
                <a:latin typeface="Arial"/>
              </a:rPr>
              <a:t> (4 перекраски)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8000" y="8640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TITAN: </a:t>
            </a:r>
            <a:r>
              <a:rPr sz="1100" b="1">
                <a:solidFill>
                  <a:srgbClr val="16A34A"/>
                </a:solidFill>
                <a:latin typeface="Arial"/>
              </a:rPr>
              <a:t>5 320 ₽</a:t>
            </a:r>
            <a:r>
              <a:rPr sz="800">
                <a:solidFill>
                  <a:srgbClr val="6B7280"/>
                </a:solidFill>
                <a:latin typeface="Arial"/>
              </a:rPr>
              <a:t> (1 покраска)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0000" y="9072000"/>
            <a:ext cx="1980000" cy="43200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ЭКОНОМИЯ: 8 540 ₽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(61% за 10 лет)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10260000"/>
            <a:ext cx="7560000" cy="432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000" y="10296000"/>
            <a:ext cx="68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TITAN 3в1 — грунт + эмаль + преобразователь ржавчины в одной банке  ·  </a:t>
            </a:r>
            <a:r>
              <a:rPr sz="900" b="1">
                <a:solidFill>
                  <a:srgbClr val="F47920"/>
                </a:solidFill>
                <a:latin typeface="Arial"/>
              </a:rPr>
              <a:t>Красишь 1 раз — служит 10 лет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982800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Фасовка: 0.4 / 0.75 / 2 / 5 л  ·  Расход: 50–120 г/м²  ·  Разбавление: ксилол до 5%  ·  Температура нанесения: +10°C до +30°C  ·  titanpaints.ru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