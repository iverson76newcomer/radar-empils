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94360"/>
            <a:ext cx="12191695" cy="36576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460175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Arial"/>
              </a:rPr>
              <a:t>MML КЛАСС C (СУПЕРМАРКЕТ) — БЫЛО → СТАЛО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19695" y="73152"/>
            <a:ext cx="4206240" cy="45720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r"/>
            <a:r>
              <a:rPr sz="1100" b="0" i="0">
                <a:solidFill>
                  <a:srgbClr val="FBBF24"/>
                </a:solidFill>
                <a:latin typeface="Arial"/>
              </a:rPr>
              <a:t>2 SKU → 7 SKU · на основе продаж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554720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9CA3AF"/>
                </a:solidFill>
                <a:latin typeface="Arial"/>
              </a:rPr>
              <a:t>БЫЛО — 2 SKU (только молотковая)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280160"/>
            <a:ext cx="5547207" cy="2560320"/>
          </a:xfrm>
          <a:prstGeom prst="roundRect">
            <a:avLst/>
          </a:prstGeom>
          <a:solidFill>
            <a:srgbClr val="E5E7EB"/>
          </a:solidFill>
          <a:ln w="1905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3630168"/>
            <a:ext cx="5272887" cy="18288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02003" y="1508760"/>
            <a:ext cx="1463040" cy="20116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29435" y="1472184"/>
            <a:ext cx="1408176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31779" y="305092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92018" y="1887317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62405" y="265834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02003" y="1527048"/>
            <a:ext cx="1463040" cy="1975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13683" y="1508760"/>
            <a:ext cx="1463040" cy="201168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41115" y="1472184"/>
            <a:ext cx="1408176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94862" y="188863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348307" y="299081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49332" y="1935160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3683" y="1527048"/>
            <a:ext cx="1463040" cy="1975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МОЛ 0.8кг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977639"/>
            <a:ext cx="5547207" cy="50292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977639"/>
            <a:ext cx="5547207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A1F36"/>
                </a:solidFill>
                <a:latin typeface="Arial"/>
              </a:rPr>
              <a:t>⚠  TITAN 3в1 отсутствует. Покупатель уходит с ПФ-115.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822960"/>
            <a:ext cx="5547207" cy="36576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1400" b="1" i="0">
                <a:solidFill>
                  <a:srgbClr val="16A34A"/>
                </a:solidFill>
                <a:latin typeface="Arial"/>
              </a:rPr>
              <a:t>СТАЛО — 7 SKU (3в1 + быстросохнущая + молотковая)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78727" y="1280160"/>
            <a:ext cx="5547207" cy="16916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15887" y="2807208"/>
            <a:ext cx="5272887" cy="13716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5887" y="1325880"/>
            <a:ext cx="5272887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" b="1" i="0">
                <a:solidFill>
                  <a:srgbClr val="C62828"/>
                </a:solidFill>
                <a:latin typeface="Arial"/>
              </a:rPr>
              <a:t>3в1 ПО РЖАВЧИНЕ (3 SKU) — НОВОЕ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53047" y="1645920"/>
            <a:ext cx="1605229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0479" y="1609344"/>
            <a:ext cx="155036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53047" y="1664208"/>
            <a:ext cx="1605229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49716" y="1645920"/>
            <a:ext cx="1605229" cy="1097280"/>
          </a:xfrm>
          <a:prstGeom prst="roundRect">
            <a:avLst/>
          </a:prstGeom>
          <a:solidFill>
            <a:srgbClr val="3D28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7148" y="1609344"/>
            <a:ext cx="155036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9716" y="1664208"/>
            <a:ext cx="1605229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3в1 0.75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Шоколад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46385" y="1645920"/>
            <a:ext cx="1605229" cy="1097280"/>
          </a:xfrm>
          <a:prstGeom prst="roundRect">
            <a:avLst/>
          </a:prstGeom>
          <a:solidFill>
            <a:srgbClr val="B0B0B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973817" y="1609344"/>
            <a:ext cx="1550365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946385" y="1664208"/>
            <a:ext cx="1605229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1A1F36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1A1F36"/>
                </a:solidFill>
                <a:latin typeface="Arial"/>
              </a:rPr>
              <a:t>3в1 0.75</a:t>
            </a:r>
          </a:p>
          <a:p>
            <a:pPr algn="ctr"/>
            <a:r>
              <a:rPr sz="600" b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78727" y="3063240"/>
            <a:ext cx="5547207" cy="16916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15887" y="4590288"/>
            <a:ext cx="5272887" cy="13716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15887" y="3108960"/>
            <a:ext cx="5272887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" b="1" i="0">
                <a:solidFill>
                  <a:srgbClr val="1E3A5F"/>
                </a:solidFill>
                <a:latin typeface="Arial"/>
              </a:rPr>
              <a:t>БЫСТРОСОХНУЩАЯ (2 SKU) — НОВОЕ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53047" y="3429000"/>
            <a:ext cx="2453563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580479" y="3392424"/>
            <a:ext cx="239869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53047" y="3447288"/>
            <a:ext cx="2453563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БЫСТ 0.75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8051" y="3429000"/>
            <a:ext cx="2453563" cy="1097280"/>
          </a:xfrm>
          <a:prstGeom prst="roundRect">
            <a:avLst/>
          </a:prstGeom>
          <a:solidFill>
            <a:srgbClr val="808080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125483" y="3392424"/>
            <a:ext cx="239869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098051" y="3447288"/>
            <a:ext cx="2453563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БЫСТ 0.75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Серый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78727" y="4846320"/>
            <a:ext cx="5547207" cy="1691640"/>
          </a:xfrm>
          <a:prstGeom prst="roundRect">
            <a:avLst/>
          </a:prstGeom>
          <a:solidFill>
            <a:srgbClr val="E5E7EB"/>
          </a:solidFill>
          <a:ln w="1270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415887" y="6373368"/>
            <a:ext cx="5272887" cy="137160"/>
          </a:xfrm>
          <a:prstGeom prst="rect">
            <a:avLst/>
          </a:prstGeom>
          <a:solidFill>
            <a:srgbClr val="8B6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15887" y="4892040"/>
            <a:ext cx="5272887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800" b="1" i="0">
                <a:solidFill>
                  <a:srgbClr val="9CA3AF"/>
                </a:solidFill>
                <a:latin typeface="Arial"/>
              </a:rPr>
              <a:t>МОЛОТКОВАЯ (2 SKU) — уже было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53047" y="5212080"/>
            <a:ext cx="2453563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580479" y="5175504"/>
            <a:ext cx="239869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725493" y="5849371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75896" y="5418023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275670" y="5863569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553047" y="5230368"/>
            <a:ext cx="2453563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Чёрный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98051" y="5212080"/>
            <a:ext cx="2453563" cy="1097280"/>
          </a:xfrm>
          <a:prstGeom prst="roundRect">
            <a:avLst/>
          </a:prstGeom>
          <a:solidFill>
            <a:srgbClr val="4A2C17"/>
          </a:solidFill>
          <a:ln w="635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25483" y="5175504"/>
            <a:ext cx="2398699" cy="54864"/>
          </a:xfrm>
          <a:prstGeom prst="rect">
            <a:avLst/>
          </a:prstGeom>
          <a:solidFill>
            <a:srgbClr val="9CA3AF"/>
          </a:solidFill>
          <a:ln w="3810">
            <a:solidFill>
              <a:srgbClr val="1A1F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1015940" y="5840876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0360149" y="547083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10350358" y="5387118"/>
            <a:ext cx="54864" cy="5486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098051" y="5230368"/>
            <a:ext cx="2453563" cy="10607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rial"/>
              </a:rPr>
              <a:t>TITAN</a:t>
            </a:r>
          </a:p>
          <a:p>
            <a:pPr algn="ctr"/>
            <a:r>
              <a:rPr sz="600" b="1">
                <a:solidFill>
                  <a:srgbClr val="FFFFFF"/>
                </a:solidFill>
                <a:latin typeface="Arial"/>
              </a:rPr>
              <a:t>МОЛ 0.8</a:t>
            </a:r>
          </a:p>
          <a:p>
            <a:pPr algn="ctr"/>
            <a:r>
              <a:rPr sz="600" b="0">
                <a:solidFill>
                  <a:srgbClr val="FFFFFF"/>
                </a:solidFill>
                <a:latin typeface="Arial"/>
              </a:rPr>
              <a:t>Корич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78727" y="3977639"/>
            <a:ext cx="5547207" cy="50292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78727" y="3977639"/>
            <a:ext cx="5547207" cy="50292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  <a:latin typeface="Arial"/>
              </a:rPr>
              <a:t>✓  TITAN 3в1 + быстросохнущая — теперь в супермаркете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5760" y="4663440"/>
            <a:ext cx="11460175" cy="32004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Arial"/>
              </a:rPr>
              <a:t>ОБОСНОВАНИЕ ДОБАВЛЕНИЯ — НА ОСНОВЕ РЕАЛЬНЫХ ПРОДАЖ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50292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65760" y="502920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SKU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737360" y="5029200"/>
            <a:ext cx="22860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737360" y="5029200"/>
            <a:ext cx="22860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Категория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023360" y="5029200"/>
            <a:ext cx="16459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023360" y="5029200"/>
            <a:ext cx="16459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Цвет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669280" y="5029200"/>
            <a:ext cx="13716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669280" y="5029200"/>
            <a:ext cx="13716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RAL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040880" y="5029200"/>
            <a:ext cx="155448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040880" y="5029200"/>
            <a:ext cx="155448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Продажи (шт)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595360" y="5029200"/>
            <a:ext cx="91440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595360" y="5029200"/>
            <a:ext cx="91440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АКБ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509760" y="5029200"/>
            <a:ext cx="2103120" cy="320040"/>
          </a:xfrm>
          <a:prstGeom prst="rect">
            <a:avLst/>
          </a:prstGeom>
          <a:solidFill>
            <a:srgbClr val="1E3A5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509760" y="5029200"/>
            <a:ext cx="2103120" cy="32004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Статус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349240"/>
            <a:ext cx="13716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60" y="5349240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737360" y="5349240"/>
            <a:ext cx="22860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737360" y="5349240"/>
            <a:ext cx="22860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023360" y="5349240"/>
            <a:ext cx="164592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023360" y="5349240"/>
            <a:ext cx="16459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Чёрный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669280" y="5349240"/>
            <a:ext cx="13716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669280" y="5349240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RAL 9005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40880" y="5349240"/>
            <a:ext cx="155448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040880" y="5349240"/>
            <a:ext cx="155448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7 738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595360" y="5349240"/>
            <a:ext cx="9144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595360" y="5349240"/>
            <a:ext cx="9144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393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509760" y="5349240"/>
            <a:ext cx="210312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9509760" y="5349240"/>
            <a:ext cx="21031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🆕 Добавить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65760" y="5605272"/>
            <a:ext cx="13716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65760" y="5605272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87292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1737360" y="5605272"/>
            <a:ext cx="22860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737360" y="5605272"/>
            <a:ext cx="22860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023360" y="5605272"/>
            <a:ext cx="164592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023360" y="5605272"/>
            <a:ext cx="16459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Шоколад</a:t>
            </a:r>
          </a:p>
        </p:txBody>
      </p:sp>
      <p:sp>
        <p:nvSpPr>
          <p:cNvPr id="98" name="Rectangle 97"/>
          <p:cNvSpPr/>
          <p:nvPr/>
        </p:nvSpPr>
        <p:spPr>
          <a:xfrm>
            <a:off x="5669280" y="5605272"/>
            <a:ext cx="13716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5669280" y="5605272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RAL 8017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40880" y="5605272"/>
            <a:ext cx="155448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040880" y="5605272"/>
            <a:ext cx="155448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4 524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95360" y="5605272"/>
            <a:ext cx="9144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95360" y="5605272"/>
            <a:ext cx="9144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287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509760" y="5605272"/>
            <a:ext cx="210312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509760" y="5605272"/>
            <a:ext cx="21031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🆕 Добавить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65760" y="5861304"/>
            <a:ext cx="13716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65760" y="5861304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87281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737360" y="5861304"/>
            <a:ext cx="22860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737360" y="5861304"/>
            <a:ext cx="22860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3в1 по ржавчине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4023360" y="5861304"/>
            <a:ext cx="164592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023360" y="5861304"/>
            <a:ext cx="16459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669280" y="5861304"/>
            <a:ext cx="13716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5669280" y="5861304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RAL 7004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40880" y="5861304"/>
            <a:ext cx="155448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40880" y="5861304"/>
            <a:ext cx="155448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5 071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595360" y="5861304"/>
            <a:ext cx="91440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95360" y="5861304"/>
            <a:ext cx="9144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247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9509760" y="5861304"/>
            <a:ext cx="2103120" cy="256032"/>
          </a:xfrm>
          <a:prstGeom prst="rect">
            <a:avLst/>
          </a:prstGeom>
          <a:solidFill>
            <a:srgbClr val="FEE2E2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509760" y="5861304"/>
            <a:ext cx="21031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🆕 Добавить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365760" y="6117336"/>
            <a:ext cx="137160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365760" y="6117336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83777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737360" y="6117336"/>
            <a:ext cx="228600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737360" y="6117336"/>
            <a:ext cx="22860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4023360" y="6117336"/>
            <a:ext cx="164592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4023360" y="6117336"/>
            <a:ext cx="16459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Чёрный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669280" y="6117336"/>
            <a:ext cx="137160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669280" y="6117336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RAL 9005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040880" y="6117336"/>
            <a:ext cx="155448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040880" y="6117336"/>
            <a:ext cx="155448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5 381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595360" y="6117336"/>
            <a:ext cx="91440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8595360" y="6117336"/>
            <a:ext cx="9144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303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9509760" y="6117336"/>
            <a:ext cx="210312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9509760" y="6117336"/>
            <a:ext cx="21031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🆕 Добавить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365760" y="6373368"/>
            <a:ext cx="137160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365760" y="6373368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—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1737360" y="6373368"/>
            <a:ext cx="228600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1737360" y="6373368"/>
            <a:ext cx="22860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Быстросохнущая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4023360" y="6373368"/>
            <a:ext cx="164592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4023360" y="6373368"/>
            <a:ext cx="16459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Серый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5669280" y="6373368"/>
            <a:ext cx="137160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669280" y="6373368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RAL 7004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040880" y="6373368"/>
            <a:ext cx="155448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040880" y="6373368"/>
            <a:ext cx="155448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2 695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595360" y="6373368"/>
            <a:ext cx="91440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8595360" y="6373368"/>
            <a:ext cx="9144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199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9509760" y="6373368"/>
            <a:ext cx="2103120" cy="256032"/>
          </a:xfrm>
          <a:prstGeom prst="rect">
            <a:avLst/>
          </a:prstGeom>
          <a:solidFill>
            <a:srgbClr val="DBEAFE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509760" y="6373368"/>
            <a:ext cx="21031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C62828"/>
                </a:solidFill>
                <a:latin typeface="Arial"/>
              </a:rPr>
              <a:t>🆕 Добавить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365760" y="6629400"/>
            <a:ext cx="137160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365760" y="6629400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77636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1737360" y="6629400"/>
            <a:ext cx="228600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1737360" y="6629400"/>
            <a:ext cx="22860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4023360" y="6629400"/>
            <a:ext cx="164592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4023360" y="6629400"/>
            <a:ext cx="16459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Чёрный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669280" y="6629400"/>
            <a:ext cx="137160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5669280" y="6629400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—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7040880" y="6629400"/>
            <a:ext cx="155448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7040880" y="6629400"/>
            <a:ext cx="155448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—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8595360" y="6629400"/>
            <a:ext cx="91440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TextBox 158"/>
          <p:cNvSpPr txBox="1"/>
          <p:nvPr/>
        </p:nvSpPr>
        <p:spPr>
          <a:xfrm>
            <a:off x="8595360" y="6629400"/>
            <a:ext cx="9144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—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9509760" y="6629400"/>
            <a:ext cx="210312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TextBox 160"/>
          <p:cNvSpPr txBox="1"/>
          <p:nvPr/>
        </p:nvSpPr>
        <p:spPr>
          <a:xfrm>
            <a:off x="9509760" y="6629400"/>
            <a:ext cx="21031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✅ Уже есть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65760" y="6885432"/>
            <a:ext cx="137160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365760" y="6885432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A1F36"/>
                </a:solidFill>
                <a:latin typeface="Arial"/>
              </a:rPr>
              <a:t>77660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1737360" y="6885432"/>
            <a:ext cx="228600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1737360" y="6885432"/>
            <a:ext cx="22860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Молотковая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4023360" y="6885432"/>
            <a:ext cx="164592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023360" y="6885432"/>
            <a:ext cx="16459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Коричневый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5669280" y="6885432"/>
            <a:ext cx="137160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5669280" y="6885432"/>
            <a:ext cx="13716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—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040880" y="6885432"/>
            <a:ext cx="155448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7040880" y="6885432"/>
            <a:ext cx="155448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—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8595360" y="6885432"/>
            <a:ext cx="91440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8595360" y="6885432"/>
            <a:ext cx="91440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0" i="0">
                <a:solidFill>
                  <a:srgbClr val="1A1F36"/>
                </a:solidFill>
                <a:latin typeface="Arial"/>
              </a:rPr>
              <a:t>—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9509760" y="6885432"/>
            <a:ext cx="2103120" cy="256032"/>
          </a:xfrm>
          <a:prstGeom prst="rect">
            <a:avLst/>
          </a:prstGeom>
          <a:solidFill>
            <a:srgbClr val="DCFCE7"/>
          </a:solidFill>
          <a:ln w="3810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9509760" y="6885432"/>
            <a:ext cx="2103120" cy="256032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800" b="1" i="0">
                <a:solidFill>
                  <a:srgbClr val="16A34A"/>
                </a:solidFill>
                <a:latin typeface="Arial"/>
              </a:rPr>
              <a:t>✅ Уже есть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365760" y="7187184"/>
            <a:ext cx="11460175" cy="365760"/>
          </a:xfrm>
          <a:prstGeom prst="round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365760" y="7187184"/>
            <a:ext cx="11460175" cy="365760"/>
          </a:xfrm>
          <a:prstGeom prst="rect">
            <a:avLst/>
          </a:prstGeom>
          <a:noFill/>
        </p:spPr>
        <p:txBody>
          <a:bodyPr wrap="square" lIns="25400" rIns="25400" tIns="25400" bIns="25400" anchor="ctr">
            <a:spAutoFit/>
          </a:bodyPr>
          <a:lstStyle/>
          <a:p>
            <a:pPr algn="ctr"/>
            <a:r>
              <a:rPr sz="1100" b="1" i="0">
                <a:solidFill>
                  <a:srgbClr val="FBBF24"/>
                </a:solidFill>
                <a:latin typeface="Arial"/>
              </a:rPr>
              <a:t>ИТОГО: 2 SKU → 7 SKU (+5)  ·  Класс C получает TITAN 3в1 и быстросохнущую  ·  Источник: «Титан цвета», 2026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365760" y="6537960"/>
            <a:ext cx="11460175" cy="228600"/>
          </a:xfrm>
          <a:prstGeom prst="rect">
            <a:avLst/>
          </a:prstGeom>
          <a:noFill/>
        </p:spPr>
        <p:txBody>
          <a:bodyPr wrap="square" lIns="25400" rIns="25400" tIns="25400" bIns="25400" anchor="t">
            <a:spAutoFit/>
          </a:bodyPr>
          <a:lstStyle/>
          <a:p>
            <a:pPr algn="ctr"/>
            <a:r>
              <a:rPr sz="800" b="0" i="1">
                <a:solidFill>
                  <a:srgbClr val="9CA3AF"/>
                </a:solidFill>
                <a:latin typeface="Arial"/>
              </a:rPr>
              <a:t>Empils  •  TITAN  •  MML — Minimal Must List  •  Красишь 1 раз — служит 10 лет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