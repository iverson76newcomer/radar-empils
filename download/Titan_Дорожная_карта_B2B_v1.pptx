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87" r:id="rId28"/>
    <p:sldId id="288" r:id="rId29"/>
    <p:sldId id="289" r:id="rId30"/>
    <p:sldId id="290" r:id="rId31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TITAN — Аналитика 1 полугодия: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Без «СтройТерминала» и «Технологии, ресурсы строительства» (не предоставляли статистику в 2025-2026 гг). Источник: NEW TITAN_анализ_дистрибьюторов.xlsx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АКБ розничных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6 006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5 255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Розница СЖИМАЕТСЯ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РТТ, продающие TITAN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469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Розничная база стабильна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(вторичка)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35 575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57C00"/>
                </a:solidFill>
                <a:latin typeface="Calibr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7C00"/>
                </a:solidFill>
                <a:latin typeface="Calibri"/>
              </a:rPr>
              <a:t>32 719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7C00"/>
                </a:solidFill>
                <a:latin typeface="Calibri"/>
              </a:rPr>
              <a:t>−8%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Берут реже и меньше — проблема глубины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(первичка)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104 812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19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119 217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+13.7%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7584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Рост отгрузок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749039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861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⚠ ПАРАДОКС СЕЗОНА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2519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первичка растёт (+13.7%), вторичка падает (−8%). Дистрибьюторы закупают TITAN на склад, но не продают в розницу.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АКБ −12.5% (розница сжимается)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Вторичка −8% — берут реже, чем закупают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47 из 109 договоров (44%) — «спящие», без закупок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✅ Позитивные сигналы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РТТ +0.9% (465→469) — розничная база СТАБИЛИЗИРОВАЛАСЬ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Первичка +13.7% (104 812→119 217 кг) — сильный рост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Уралстройсервис +55%, Держава Трейд (KZ) +11%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ВЫВОД: тренд улучшается (−35% → −8% по вторичке, +1.8% → +13.7% по первичке). Нужна программа активации розницы и работы с «спящими» договорами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ПИЛОТНЫЕ ДИСТРИБЬЮТОРЫ ПРОГРАММЫ 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3 региона · 3 пилота · отработка программы перед масштабированием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ПАЛИТРА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629"/>
                </a:solidFill>
                <a:latin typeface="Calibri"/>
              </a:rPr>
              <a:t>Краснодарский край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Краснодар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сельскохозяйственный регион Юга России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Высокая концентрация металлоконструкций: фермы, ангары, заборы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Активная стройка в Краснодаре и Сочи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Сильная розничная база DIY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7033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И.П. РЫГАЛОВ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A"/>
                </a:solidFill>
                <a:latin typeface="Calibri"/>
              </a:rPr>
              <a:t>Пензенская область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Пенза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3246120" cy="127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55E0A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Промышленный регион Поволжья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Производство металлических изделий и конструкций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Дача и частный сектор — высокий спрос на ЛКМ по металлу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Удобная логистика из Ростова-на-Дону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188720"/>
            <a:ext cx="3703320" cy="5029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БРОЗЕКС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Свердловская область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Екатеринбург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063240"/>
            <a:ext cx="3246120" cy="127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промышленный хаб Урала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Тяжёлая промышленность: металлургия, машиностроение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30+ городов присутствия Brozex от Москвы до Новосибирска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Собственный автопарк — развитая логистика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Эталонный кейс для других партнёров Эмпилс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74552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🎯 СТРАТЕГИЯ ПИЛОТИРОВАНИЯ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722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3 региона (Юг · Поволжье · Урал) — покрытие 3 федеральных округов · 3 разных профиля дистрибьютора (сеть DIY · ИП · крупный оптовик) · отработка программы TITAN перед масштабированием на 109 партнёров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ПРОДВИЖЕНИЕ TITAN В ФЕДЕРАЛЬНОЙ СЕТИ «ЛЕМАНА ПРО»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11 торговых точек · 6 регионов ЮФО · 7 активностей · Цель: показать уходимость грунт-эмалей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ТОРГОВЫХ ТОЧЕК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ЮФО: Ростовская, Краснодарский, Волгоградская, Ставропольский, Сев.Осетия, Адыгея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АКТИВНОСТЕЙ ПРОДВИЖЕНИЯ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РК на экранах · Таргет · Промо · Кешбэк · Мастер-классы · Выкрасы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34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2 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1887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ДЛИТЕЛЬНОСТЬ ПРОГРАММЫ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435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1 июля — 31 августа 2026 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7 АКТИВНОСТЕЙ ПРОДВИЖЕНИЯ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31720"/>
            <a:ext cx="6858000" cy="2743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317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Активность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39" y="2331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Срок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331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51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РК ТМ TITAN на 6 топовых экранах Ростова-на-Дону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39" y="26060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на 1 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606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РК запущена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0896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154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Таргетированная реклама в интернете. ГЕО по 11 ТТ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9" y="31089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по 31.08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108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РК с 07.07 по 31.07 и с 01.08 по 30.08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1188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657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Промо-акция «Подарок за покупку» в трафиковые дни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39" y="36118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17-26 июля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611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Ростов + Краснодар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11480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160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Кешбэк 5% на TITAN во всех 11 ТТ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39" y="41148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 01.07 по 31.08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114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Запущен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1772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663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Мастер-классы силами Эмпилс (3 ТТ Ростова)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39" y="4617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17 и 24 июля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Проведены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120640"/>
            <a:ext cx="68580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1206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166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Обеспечение выкрасами 11 ТТ (EPL + TITAN)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39" y="5120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до 16.07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5120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В работе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23560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62356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669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Веерные выкрасы B2B Лемана Про (13 шт)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39" y="5623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до 22.07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5623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2E7D32"/>
                </a:solidFill>
                <a:latin typeface="Calibri"/>
              </a:rPr>
              <a:t>Распределение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116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11 ТОРГОВЫХ ТОЧЕК — ЮФО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2331720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23317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23317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Ростов-на-Дону, ул. Доватора, 158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23317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2532888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35240" y="25328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253288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Аксай, Аксайский пр-т, 23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01400" y="253288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0" y="2734056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40" y="27340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273405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Верхнетемерницкий, ул. Обсерваторная, 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01400" y="273405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2935224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29352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293522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Волгоград, Университетский пр-т, 107 (Акварель)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01400" y="2935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0" y="3136392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35240" y="31363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9560" y="313639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Краснодар, ул. Покрышкина,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31363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92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0" y="3337560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35240" y="3337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09560" y="33375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Краснодар, ул. Новороссийская, 234/1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0" y="3538728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35240" y="35387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09560" y="353872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Новороссийск, ул. Ленина, 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01400" y="35387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165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3739896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35240" y="37398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09560" y="37398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Ставропольский край, с. Татарка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01400" y="373989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69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89520" y="3941064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35240" y="39410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09560" y="3941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Владикавказ, Архонское шоссе, 1А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01400" y="39410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89520" y="4142232"/>
            <a:ext cx="416052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35240" y="41422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09560" y="414223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Адыгея, Тургеневское шоссе, 27/1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01400" y="414223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147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20" y="4343400"/>
            <a:ext cx="4160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43434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60" y="43434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Волжский, пр-т Ленина, 2Ж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01400" y="434340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70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589520" y="4681728"/>
            <a:ext cx="4160520" cy="169164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26680" y="477316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🎁 МЕХАНИКА «ПОДАРОК ЗА ПОКУПКУ»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26680" y="5093208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от 2 000 ₽ — кисть + перчатки в подарок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от 4 000 ₽ — сертификат Лемана ПРО 500 ₽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+ 5% кешбэк на TITAN во всех 11 ТТ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13131"/>
                </a:solidFill>
                <a:latin typeface="Calibri"/>
              </a:rPr>
              <a:t>• Мастер-классы: 17 и 24 июля, 3 ТТ Ростова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Empils  •  TITAN  •  Продвижение в федеральных сетях  •  2026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6 / 22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13131"/>
                </a:solidFill>
                <a:latin typeface="Calibri"/>
              </a:rPr>
              <a:t>TITAN B2B — ЧТО НУЖНО СДЕЛАТЬ, ЧТОБЫ ПАРТНЁРЫ ЗАХОТЕЛИ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7 инструментов привлечения B2B-партнёров · Фокус: мотивация дистрибьютора + инструменты продаж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B2B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4552" cy="411480"/>
          </a:xfrm>
          <a:prstGeom prst="roundRect">
            <a:avLst>
              <a:gd name="adj" fmla="val 5000"/>
            </a:avLst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🎯 ГЛАВНЫЙ ВОПРОС:  Что нам надо сделать, чтобы B2B-партнёры захотели работать с TITAN?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762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105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МОТИВАЦИЯ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Доходность для дистрибьютора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Расчёт маржинальности B2B-канала. Демонстрируем дистрибьютору, что работа с B2B-партнёрами выгодна — доходность выше, чем в рознице, при меньших операционных затратах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69164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69164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783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55E0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8105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ТЕСТ-ОБРАЗЕЦ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1488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Пробник TITAN 0,4 л (глянец)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5603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Тестовый образец для B2B-партнёра. Малая фасовка — низкий порог входа. Партнёр может попробовать продукт без больших затрат, оценить качество и принять решение о закупке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69164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691640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783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7629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18105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ИНСТРУМЕНТ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1488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Листовка для B2B-сегмента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5603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Отдельная листовка с расчётом выгоды TITAN для B2B-клиента: срок службы 10 лет, совокупная стоимость владения, экономия vs ПФ-115. Фокус на окупаемость, а не на цену банки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69164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69164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1783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55E0A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18105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МАРЖА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1488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Смещение к крупной фасовке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5603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Расчёт маржинальности по фасовкам. B2B-клиенту выгоднее 2 л / 2,5 кг, чем 0,75 л. Дистрибьютор зарабатывает больше на крупной фасовке — мотивируем его продвигать именно её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84048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7629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95935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ВЛИЯНИЕ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976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Региональный B2B-инфлюенсер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091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Выявление регионального лидера мнений в сфере B2B (производитель металлоконструкций, владелец крупного цеха, руководитель строительной компании). Его рекомендация работает лучше любой рекламы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55848" y="384048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5848" y="384048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8" y="3931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55E0A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395935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ИНСТРУМЕНТ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8728" y="42976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Калькулятор маржинальности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8728" y="47091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Excel-калькулятор для дистрибьютора: вводит объём закупки и фасовку → получает расчёт прибыли. Дистрибьютор сам видит, сколько он заработает на B2B-канале с TITAN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496" y="3840480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54496" y="3840480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3931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7629"/>
                </a:solidFill>
                <a:latin typeface="Calibri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23176" y="395935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ПОДДЕРЖКА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7376" y="42976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Прямой контакт с B2B-клиентом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376" y="47091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Эмпилс подключается к переговорам дистрибьютора с B2B-клиентом. Техническая экспертиза, демонстрация на объекте, расчёт ТСО. Дистрибьютор не остаётся один на один со сложным клиентом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8932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989320"/>
            <a:ext cx="411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313131"/>
                </a:solidFill>
                <a:latin typeface="Calibri"/>
              </a:rPr>
              <a:t>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6035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55E0A"/>
                </a:solidFill>
                <a:latin typeface="Calibri"/>
              </a:rPr>
              <a:t>ДОХОДНОСТЬ ВЫШЕ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62453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Маржа на крупной фасовке выше, чем в рознице. B2B — самый маржинальный канал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1960" y="598932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5989320"/>
            <a:ext cx="411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313131"/>
                </a:solidFill>
                <a:latin typeface="Calibri"/>
              </a:rPr>
              <a:t>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6035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55E0A"/>
                </a:solidFill>
                <a:latin typeface="Calibri"/>
              </a:rPr>
              <a:t>ПОДДЕРЖКА ЭМПИЛС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62453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Эмпилс подключается к переговорам с B2B-клиентом. Техническая экспертиза + расчёт ТСО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5989320"/>
            <a:ext cx="3703320" cy="59436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0" y="5989320"/>
            <a:ext cx="411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313131"/>
                </a:solidFill>
                <a:latin typeface="Calibri"/>
              </a:rPr>
              <a:t>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6035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55E0A"/>
                </a:solidFill>
                <a:latin typeface="Calibri"/>
              </a:rPr>
              <a:t>РАСТУЩИЙ РЫНОК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62453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Промышленность восстанавливается — спрос на защитные покрытия растёт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