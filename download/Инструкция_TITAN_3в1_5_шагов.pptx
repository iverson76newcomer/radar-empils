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TITAN 3в1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Инструкция за 5 шагов — 10 лет защиты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728655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4000" b="1">
                <a:solidFill>
                  <a:srgbClr val="16A34A"/>
                </a:solidFill>
                <a:latin typeface="Arial"/>
              </a:rPr>
              <a:t>10 лет без перекраски — 10 лет экономии!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0">
                <a:solidFill>
                  <a:srgbClr val="1A1F36"/>
                </a:solidFill>
                <a:latin typeface="Arial"/>
              </a:rPr>
              <a:t>Соблюдайте 5 простых шагов — и покрытие прослужит 10 лет</a:t>
            </a:r>
          </a:p>
        </p:txBody>
      </p:sp>
      <p:sp>
        <p:nvSpPr>
          <p:cNvPr id="9" name="Oval 8"/>
          <p:cNvSpPr/>
          <p:nvPr/>
        </p:nvSpPr>
        <p:spPr>
          <a:xfrm>
            <a:off x="124952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9527" y="4407408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0967" y="4663440"/>
            <a:ext cx="109728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>
                <a:latin typeface="Segoe UI Emoji"/>
              </a:rPr>
              <a:t>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576072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ОЧИСТИТЬ</a:t>
            </a:r>
          </a:p>
        </p:txBody>
      </p:sp>
      <p:sp>
        <p:nvSpPr>
          <p:cNvPr id="13" name="Oval 12"/>
          <p:cNvSpPr/>
          <p:nvPr/>
        </p:nvSpPr>
        <p:spPr>
          <a:xfrm>
            <a:off x="335264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2647" y="4407408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4087" y="4663440"/>
            <a:ext cx="109728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>
                <a:latin typeface="Segoe UI Emoji"/>
              </a:rPr>
              <a:t>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8327" y="576072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ОБЕЗЖИРИТЬ</a:t>
            </a:r>
          </a:p>
        </p:txBody>
      </p:sp>
      <p:sp>
        <p:nvSpPr>
          <p:cNvPr id="17" name="Oval 16"/>
          <p:cNvSpPr/>
          <p:nvPr/>
        </p:nvSpPr>
        <p:spPr>
          <a:xfrm>
            <a:off x="545576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5767" y="4407408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7207" y="4663440"/>
            <a:ext cx="109728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>
                <a:latin typeface="Segoe UI Emoji"/>
              </a:rPr>
              <a:t>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576072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ПЕРЕМЕШАТЬ</a:t>
            </a:r>
          </a:p>
        </p:txBody>
      </p:sp>
      <p:sp>
        <p:nvSpPr>
          <p:cNvPr id="21" name="Oval 20"/>
          <p:cNvSpPr/>
          <p:nvPr/>
        </p:nvSpPr>
        <p:spPr>
          <a:xfrm>
            <a:off x="755888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8887" y="4407408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327" y="4663440"/>
            <a:ext cx="109728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>
                <a:latin typeface="Segoe UI Emoji"/>
              </a:rPr>
              <a:t>🖌️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567" y="576072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ПОКРАСИТЬ</a:t>
            </a:r>
          </a:p>
        </p:txBody>
      </p:sp>
      <p:sp>
        <p:nvSpPr>
          <p:cNvPr id="25" name="Oval 24"/>
          <p:cNvSpPr/>
          <p:nvPr/>
        </p:nvSpPr>
        <p:spPr>
          <a:xfrm>
            <a:off x="9662007" y="4389120"/>
            <a:ext cx="1280160" cy="1280160"/>
          </a:xfrm>
          <a:prstGeom prst="ellipse">
            <a:avLst/>
          </a:prstGeom>
          <a:solidFill>
            <a:srgbClr val="C62828"/>
          </a:solidFill>
          <a:ln w="254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2007" y="4407408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447" y="4663440"/>
            <a:ext cx="109728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>
                <a:latin typeface="Segoe UI Emoj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7687" y="576072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Arial"/>
              </a:rPr>
              <a:t>ГОТОВО!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Arial"/>
              </a:rPr>
              <a:t>Empils  •  TITAN  •  Грунт-эмаль по ржавчине 3-в-1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1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91839"/>
            <a:ext cx="2926080" cy="2011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0">
                <a:latin typeface="Segoe UI Emoji"/>
              </a:rPr>
              <a:t>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14400"/>
            <a:ext cx="6705295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ОЧИСТИТЬ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Удалите рыхлую ржавчину и старую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краску металлической щёткой или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наждачной бумагой (Р40-Р80).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337560"/>
            <a:ext cx="6430975" cy="5943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Плотная ржавчина — можно оставить. TITAN красит по ржавчине.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2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91839"/>
            <a:ext cx="2926080" cy="2011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0">
                <a:latin typeface="Segoe UI Emoji"/>
              </a:rPr>
              <a:t>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14400"/>
            <a:ext cx="6705295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ОБЕЗЖИРИТЬ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Протрите поверхность тряпкой 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растворителем (ацетон, ксилол).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Поверхность должна быть сухой.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337560"/>
            <a:ext cx="6430975" cy="5943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Не используйте уайт-спирит. После обезжиривания не трогайте руками.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3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91839"/>
            <a:ext cx="2926080" cy="2011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0">
                <a:latin typeface="Segoe UI Emoji"/>
              </a:rPr>
              <a:t>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14400"/>
            <a:ext cx="6705295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ПЕРЕМЕШАТЬ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Открыть банку и тщательно перемешать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до однородного цвета. Со дна вверх.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rial"/>
              </a:rPr>
              <a:t>Готово к нанесению — грунтовать не нужно!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337560"/>
            <a:ext cx="6430975" cy="5943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TITAN 3в1 = грунт + эмаль + преобразователь ржавчины в одной банке.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4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91839"/>
            <a:ext cx="2926080" cy="2011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0">
                <a:latin typeface="Segoe UI Emoji"/>
              </a:rPr>
              <a:t>🖌️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14400"/>
            <a:ext cx="6705295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C62828"/>
                </a:solidFill>
                <a:latin typeface="Arial"/>
              </a:rPr>
              <a:t>ПОКРАСИТЬ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Нанесите 2-3 слоя кистью, валиком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или распылителем. Расход: 80-100 г/м².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Между слоями: 5 часов при +20 °C.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337560"/>
            <a:ext cx="6430975" cy="5943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Не красьте под прямым солнцем и при влажности выше 80%.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4160520"/>
            <a:ext cx="2235098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4206240"/>
            <a:ext cx="214365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Arial"/>
              </a:rPr>
              <a:t>Кисть / валик
</a:t>
            </a:r>
            <a:r>
              <a:rPr sz="1300" b="1">
                <a:solidFill>
                  <a:srgbClr val="C62828"/>
                </a:solidFill>
                <a:latin typeface="Arial"/>
              </a:rPr>
              <a:t>5 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4298" y="4160520"/>
            <a:ext cx="2235098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0018" y="4206240"/>
            <a:ext cx="214365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Arial"/>
              </a:rPr>
              <a:t>Распылитель
</a:t>
            </a:r>
            <a:r>
              <a:rPr sz="1300" b="1">
                <a:solidFill>
                  <a:srgbClr val="C62828"/>
                </a:solidFill>
                <a:latin typeface="Arial"/>
              </a:rPr>
              <a:t>8 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9396" y="4160520"/>
            <a:ext cx="2235098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5116" y="4206240"/>
            <a:ext cx="214365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Arial"/>
              </a:rPr>
              <a:t>Температура
</a:t>
            </a:r>
            <a:r>
              <a:rPr sz="1300" b="1">
                <a:solidFill>
                  <a:srgbClr val="C62828"/>
                </a:solidFill>
                <a:latin typeface="Arial"/>
              </a:rPr>
              <a:t>+5...+30 °C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1094415" y="6126480"/>
            <a:ext cx="457200" cy="365760"/>
          </a:xfrm>
          <a:prstGeom prst="downArrow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62895" y="6172200"/>
            <a:ext cx="73152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Arial"/>
              </a:rPr>
              <a:t>далее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TITAN 3в1  •  Инструкция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91440"/>
            <a:ext cx="1463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Шаг 5 из 5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011679"/>
            <a:ext cx="3474720" cy="347472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8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39"/>
            <a:ext cx="34747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91839"/>
            <a:ext cx="2926080" cy="2011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0">
                <a:latin typeface="Segoe UI Emoj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14400"/>
            <a:ext cx="6705295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16A34A"/>
                </a:solidFill>
                <a:latin typeface="Arial"/>
              </a:rPr>
              <a:t>ГОТОВО! 10 ЛЕТ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18288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Покрытие сохнет 5 часов. Не кантовать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F36"/>
                </a:solidFill>
                <a:latin typeface="Arial"/>
              </a:rPr>
              <a:t>до полного высыхания. Эксплуатация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43200"/>
            <a:ext cx="6705295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rial"/>
              </a:rPr>
              <a:t>через 7 дней. Срок службы: 10 лет.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6705295" cy="6858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337560"/>
            <a:ext cx="6430975" cy="5943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1">
                <a:solidFill>
                  <a:srgbClr val="1A1F36"/>
                </a:solidFill>
                <a:latin typeface="Arial"/>
              </a:rPr>
              <a:t>!  Первые 7 дней покрытие набирает прочность — избегайте царапин.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Arial"/>
              </a:rPr>
              <a:t>Empils  •  TITAN  •  Грунт-эмаль 3-в-1  •  10 лет без перекраски — 10 лет экономии!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TITAN 3в1  • 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7295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10 лет без перекраски — 10 лет экономии!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3832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38328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0" b="1">
                <a:solidFill>
                  <a:srgbClr val="16A34A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банка вместо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Arial"/>
              </a:rPr>
              <a:t>грунт + эмаль +
преобразователь ржавчины
в одной банке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3832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38328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0" b="1">
                <a:solidFill>
                  <a:srgbClr val="16A34A"/>
                </a:solidFill>
                <a:latin typeface="Arial"/>
              </a:rPr>
              <a:t>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93192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1A1F36"/>
                </a:solidFill>
                <a:latin typeface="Arial"/>
              </a:rPr>
              <a:t>экономия за 10 лет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48056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Arial"/>
              </a:rPr>
              <a:t>покрасил 1 раз —
забыл на 10 лет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77440"/>
            <a:ext cx="3383280" cy="3200400"/>
          </a:xfrm>
          <a:prstGeom prst="roundRect">
            <a:avLst/>
          </a:prstGeom>
          <a:solidFill>
            <a:srgbClr val="16A34A"/>
          </a:solidFill>
          <a:ln w="25400">
            <a:solidFill>
              <a:srgbClr val="0B6E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651760"/>
            <a:ext cx="3383280" cy="1280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931920"/>
            <a:ext cx="33832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лет защиты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480560"/>
            <a:ext cx="338328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срок службы
покрытия без
перекраски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52160"/>
            <a:ext cx="10728655" cy="73152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728655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TITAN 3в1 — 10 лет без перекраски, 10 лет экономии!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