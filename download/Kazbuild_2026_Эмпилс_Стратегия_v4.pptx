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3" d="100"/>
          <a:sy n="163" d="100"/>
        </p:scale>
        <p:origin x="-11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8F444-2A86-403E-BCE5-8AD3435AF628}" type="datetimeFigureOut">
              <a:rPr lang="ru-RU" smtClean="0"/>
              <a:t>18.08.2026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20268-59E3-4B2C-9932-CE9B477A5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2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Цель презентации — согласовать с руководством план участия Эмпилс в Kazbuild 2026.
- Kazbuild 2026 — ключевая B2B-выставка Центральной Азии, Алматы, 28–30 октября.
- Три приоритета: углубление партнёрств, расширение сбыта в Казахстане, выход на новые рынки.
- Ожидаем от руководства: решение по бюджету, утверждённые КП для топ-10 дистрибьюторов, ответственные по зонам.
- Финальный слайд — пять конкретных шагов с дедлайнами к открытию выставки.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цели — все с измеримым KPI: 7 встреч, 14 областей, 3+ новых дистрибьютора, EN-каталог.
- Главный приоритет — углубление с текущими партнёрами и расширение географии (Ц.Азия, Каспий).
- По Казахстану: сейчас 6 областей покрыто, цель — 14 (полное покрытие).
- EN-каталог — не маркетинговый ход, а инструмент для работы с 30% нерусскоязычных участников.
- Все KPI сверяем в конце выставки — отчёт на следующей неделе после возвращения.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Главный фокус — 7 текущих партнёров: KZ, TJ, KG. Каждый уже работает с Эмпилс, задача — углубление.
- 10 целевых стендов — преимущественно дистрибьюторы и B2B-клиенты. Стенды указаны с павильоном и номером.
- 4 стенда конкурентов — отдельный список для study-визита. TAUDI — главный конкурент в KZ.
- Распределить между членами команды стенда — у каждой колонки свой ответственный.
- По итогам дня — короткий sync: что узнали, какие договорённости, что в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Сейчас покрыто 6 из 14 областей (43%). 8 областей — нулевое присутствие.
- Приоритет — нефтегазовые регионы: Атырау (Tengiz, Karachaganak), Мангистау (Актау, порт Каспий), Павлодар.
- В файле анализа — 47 потенциальных дистрибьюторов по всем областям.
- Цель Kazbuild — 2–3 новых региональных партнёра. Готовить индивидуальные КП под каждую область.
- Алматы — высокая конкуренция (14 кандидатов), но это уже наш stronghold, фокус смещаем на空白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Анализ 10 стран — фокус на тех, где Эмпилс ещё не работает, но есть потенциал.
- 3 приоритетные страны: Азербайджан (дефицит 42%, есть партнёр FAB Boya), Таджикистан (рост +52% в 2024), Молдова (простая логистика, высокое потребление 20,8 кг/чел).
- На Kazbuild 2026 ищем контакты именно в этих трёх странах — особенно иранских и азербайджанских визитёров.
- Турция и Сербия — нетто-экспортёры ЛКМ, это конкуренты, а не целевые рынки.
- ОАЭ — приоритет 4 как хаб для дальнейшего входа в GCC (после 2027).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доводов «за» англоязычный каталог — главный: 30% участников Kazbuild не из РФ/СНГ.
- Целевые иностранные группы: Иран (Pars Diba, Pars Pamchal, Rangsazi Iran), GCC (ОАЭ, Саудовская Аравия), Китай, Германия.
- Конкуренты (Tikkurila, Jotun, PPG, AkzoNobel, Hempel) уже имеют EN-каталоги — мы отстаём.
- Промышленные клиенты (Profile 35, Polymetallt) требуют TDS/SDS на английском по международной практике.
- Срок готовности каталога — к октябрю 2026 г. Это репетиция экспансии в GCC в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36644" y="1007269"/>
            <a:ext cx="2271713" cy="2271713"/>
          </a:xfrm>
          <a:prstGeom prst="ellipse">
            <a:avLst/>
          </a:prstGeom>
          <a:noFill/>
          <a:ln w="14288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5250" y="1500188"/>
            <a:ext cx="1285875" cy="1285875"/>
          </a:xfrm>
          <a:prstGeom prst="ellipse">
            <a:avLst/>
          </a:prstGeom>
          <a:solidFill>
            <a:srgbClr val="F47629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71500" y="4450556"/>
            <a:ext cx="8001000" cy="7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32734"/>
            <a:ext cx="91440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4864894"/>
            <a:ext cx="713883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Ростов-на-Дону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571500"/>
            <a:ext cx="68047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14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800" b="1" kern="0" spc="142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r>
              <a:rPr lang="en-US" sz="800" b="1" kern="0" spc="14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1762720"/>
            <a:ext cx="8572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KAZBUILD · АЛМАТЫ </a:t>
            </a:r>
            <a:r>
              <a:rPr lang="en-US" sz="800" kern="0" spc="93" dirty="0" smtClean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009180"/>
            <a:ext cx="8572500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3"/>
              </a:lnSpc>
              <a:buNone/>
            </a:pPr>
            <a:r>
              <a:rPr lang="en-US" sz="4050" b="1" kern="0" spc="-8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Kazbuild 2026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571500" y="2649215"/>
            <a:ext cx="85725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и приоритеты участия для Эмпилс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119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583425" y="437555"/>
            <a:ext cx="1378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 · ЦЕЛИ И KPI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23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участия в Kazbuild 2026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62865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стратегических направления. Каждый — с измеримым результатом к концу выставки.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0119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Углубление с текущими партнёрами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83227" y="1945891"/>
            <a:ext cx="370881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76895" y="2131628"/>
            <a:ext cx="34593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/>
              <a:t>ВСТРЕЧ · KZ · TJ · KG</a:t>
            </a:r>
          </a:p>
        </p:txBody>
      </p:sp>
      <p:sp>
        <p:nvSpPr>
          <p:cNvPr id="12" name="Text 10"/>
          <p:cNvSpPr/>
          <p:nvPr/>
        </p:nvSpPr>
        <p:spPr>
          <a:xfrm>
            <a:off x="621506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/>
              <a:t>запланированных встреч с текущими партнёрами из KZ, TJ, KG</a:t>
            </a:r>
          </a:p>
        </p:txBody>
      </p:sp>
      <p:sp>
        <p:nvSpPr>
          <p:cNvPr id="13" name="Text 11"/>
          <p:cNvSpPr/>
          <p:nvPr/>
        </p:nvSpPr>
        <p:spPr>
          <a:xfrm>
            <a:off x="4647009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7744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136356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Расширение сбыта в Казахстане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791104" y="1945891"/>
            <a:ext cx="62174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46973" y="2131628"/>
            <a:ext cx="3275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/>
              <a:t>ОБЛАСТЕЙ · СЕЙЧАС 6</a:t>
            </a:r>
          </a:p>
        </p:txBody>
      </p:sp>
      <p:sp>
        <p:nvSpPr>
          <p:cNvPr id="18" name="Text 16"/>
          <p:cNvSpPr/>
          <p:nvPr/>
        </p:nvSpPr>
        <p:spPr>
          <a:xfrm>
            <a:off x="4807744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/>
              <a:t>областей Казахстана — цель покрыть партнёрами (сейчас 6)</a:t>
            </a:r>
          </a:p>
        </p:txBody>
      </p:sp>
      <p:sp>
        <p:nvSpPr>
          <p:cNvPr id="19" name="Text 17"/>
          <p:cNvSpPr/>
          <p:nvPr/>
        </p:nvSpPr>
        <p:spPr>
          <a:xfrm>
            <a:off x="460772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0119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Географическая экспансия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21506" y="3360353"/>
            <a:ext cx="60364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70223" y="3546091"/>
            <a:ext cx="32660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/>
              <a:t>НОВЫХ ДИСТРИБЬЮТОРА</a:t>
            </a:r>
          </a:p>
        </p:txBody>
      </p:sp>
      <p:sp>
        <p:nvSpPr>
          <p:cNvPr id="24" name="Text 22"/>
          <p:cNvSpPr/>
          <p:nvPr/>
        </p:nvSpPr>
        <p:spPr>
          <a:xfrm>
            <a:off x="621506" y="3760403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/>
              <a:t>новых потенциальных дистрибьютора из Ц.Азии и Каспия</a:t>
            </a:r>
          </a:p>
        </p:txBody>
      </p:sp>
      <p:sp>
        <p:nvSpPr>
          <p:cNvPr id="25" name="Text 23"/>
          <p:cNvSpPr/>
          <p:nvPr/>
        </p:nvSpPr>
        <p:spPr>
          <a:xfrm>
            <a:off x="4647009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7744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36355" y="3079961"/>
            <a:ext cx="348596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</a:t>
            </a:r>
            <a:r>
              <a:rPr lang="ru-RU" sz="1013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выхода экспортной линейки </a:t>
            </a:r>
            <a:r>
              <a:rPr lang="en-US" sz="1013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07</a:t>
            </a:r>
            <a:endParaRPr lang="en-US" sz="800" dirty="0"/>
          </a:p>
        </p:txBody>
      </p:sp>
      <p:sp>
        <p:nvSpPr>
          <p:cNvPr id="34" name="Text 20"/>
          <p:cNvSpPr/>
          <p:nvPr/>
        </p:nvSpPr>
        <p:spPr>
          <a:xfrm>
            <a:off x="4915888" y="3390071"/>
            <a:ext cx="331085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700" b="1" kern="0" spc="-54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700" b="1" kern="0" spc="-54" dirty="0">
              <a:solidFill>
                <a:srgbClr val="F47629"/>
              </a:solidFill>
              <a:latin typeface="Liberation Sans Narrow" pitchFamily="34" charset="0"/>
              <a:ea typeface="Liberation Sans Narrow" pitchFamily="34" charset="-122"/>
              <a:cs typeface="Liberation Sans Narrow" pitchFamily="34" charset="-120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5212356" y="3351787"/>
            <a:ext cx="3228259" cy="56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0"/>
              </a:lnSpc>
            </a:pPr>
            <a:r>
              <a:rPr lang="ru-RU" sz="800" dirty="0" smtClean="0"/>
              <a:t>Грунтовка </a:t>
            </a:r>
            <a:r>
              <a:rPr lang="ru-RU" sz="800" dirty="0" err="1" smtClean="0"/>
              <a:t>быстросохнующая</a:t>
            </a:r>
            <a:r>
              <a:rPr lang="ru-RU" sz="800" dirty="0" smtClean="0"/>
              <a:t> ГФ-021</a:t>
            </a:r>
            <a:br>
              <a:rPr lang="ru-RU" sz="800" dirty="0" smtClean="0"/>
            </a:br>
            <a:r>
              <a:rPr lang="ru-RU" sz="800" dirty="0" smtClean="0"/>
              <a:t>Грунт-Эмаль </a:t>
            </a:r>
            <a:r>
              <a:rPr lang="ru-RU" sz="800" dirty="0" err="1" smtClean="0"/>
              <a:t>быстросохнующая</a:t>
            </a:r>
            <a:r>
              <a:rPr lang="ru-RU" sz="800" dirty="0" smtClean="0"/>
              <a:t> матовая</a:t>
            </a:r>
            <a:br>
              <a:rPr lang="ru-RU" sz="800" dirty="0" smtClean="0"/>
            </a:br>
            <a:r>
              <a:rPr lang="ru-RU" sz="800" dirty="0"/>
              <a:t>Эмаль для дерева и бет. пола </a:t>
            </a:r>
            <a:r>
              <a:rPr lang="ru-RU" sz="800" dirty="0" err="1"/>
              <a:t>быстросохнуюшая</a:t>
            </a:r>
            <a:r>
              <a:rPr lang="ru-RU" sz="800" dirty="0" smtClean="0"/>
              <a:t/>
            </a:r>
            <a:br>
              <a:rPr lang="ru-RU" sz="800" dirty="0" smtClean="0"/>
            </a:br>
            <a:r>
              <a:rPr lang="ru-RU" sz="800" dirty="0" smtClean="0"/>
              <a:t>Эмаль алкидная для радиаторов отопления </a:t>
            </a:r>
            <a:br>
              <a:rPr lang="ru-RU" sz="800" dirty="0" smtClean="0"/>
            </a:b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1533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086823" y="437555"/>
            <a:ext cx="1727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 · ВСТРЕЧИ НА ВЫСТАВКЕ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Запланированные встречи и посещение участников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0772" y="1385106"/>
            <a:ext cx="2669307" cy="2501094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8644" y="1949754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818" y="1536809"/>
            <a:ext cx="1325770" cy="196025"/>
          </a:xfrm>
          <a:prstGeom prst="roundRect">
            <a:avLst>
              <a:gd name="adj" fmla="val 19436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954" y="1553173"/>
            <a:ext cx="12970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ПАРТНЁРЫ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58517" y="157588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100" b="1" kern="0" spc="5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100" b="1" dirty="0"/>
          </a:p>
        </p:txBody>
      </p:sp>
      <p:sp>
        <p:nvSpPr>
          <p:cNvPr id="12" name="Text 10"/>
          <p:cNvSpPr/>
          <p:nvPr/>
        </p:nvSpPr>
        <p:spPr>
          <a:xfrm>
            <a:off x="578644" y="1980431"/>
            <a:ext cx="2433563" cy="125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AJR &amp; Company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PAKO TRADE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Stroy Depot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Держава Трейд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КОРВОН 2011 ООО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Таджикистан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 Глобал ОсОО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Кыргызстан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Стройлюкс-1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7235" y="1385106"/>
            <a:ext cx="2669418" cy="2501094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55107" y="1949754"/>
            <a:ext cx="2433675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2247" y="1530947"/>
            <a:ext cx="1169414" cy="196025"/>
          </a:xfrm>
          <a:prstGeom prst="roundRect">
            <a:avLst>
              <a:gd name="adj" fmla="val 19436"/>
            </a:avLst>
          </a:prstGeom>
          <a:solidFill>
            <a:srgbClr val="3131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5106" y="1559035"/>
            <a:ext cx="11465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ЦЕЛЕВЫЕ СТЕНДЫ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3906" y="1575886"/>
            <a:ext cx="142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928"/>
              </a:lnSpc>
            </a:pPr>
            <a:r>
              <a:rPr lang="en-US" sz="1100" b="1" kern="0" spc="5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</a:p>
        </p:txBody>
      </p:sp>
      <p:sp>
        <p:nvSpPr>
          <p:cNvPr id="18" name="Text 16"/>
          <p:cNvSpPr/>
          <p:nvPr/>
        </p:nvSpPr>
        <p:spPr>
          <a:xfrm>
            <a:off x="3355107" y="1980431"/>
            <a:ext cx="2433675" cy="199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ДХКЗ ТОО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(9-430) — дистрибьютор, Астана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ТССП Казахстан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(9-497) — дистрибьютор, Алматы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ALIHAN COMPANY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(10-710) — оптовик, Алматы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СТРОЙМАРТ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(8-283) — дистрибьютор, РФ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35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(9-510) — промпотребитель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MARRIONI DESIGN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(10-680) — дизайн-студия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TIMBERSTONE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(10-705) — древесина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КАЗФЛОР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(9-501) — промполы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ПОЛИМЕРМЕТАЛЛТ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(9-470) — </a:t>
            </a:r>
            <a:r>
              <a:rPr lang="en-US" sz="800" dirty="0" err="1" smtClean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промпотребитель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3810" y="1385106"/>
            <a:ext cx="2669307" cy="2501094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1682" y="1949754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822" y="1536809"/>
            <a:ext cx="788335" cy="196025"/>
          </a:xfrm>
          <a:prstGeom prst="roundRect">
            <a:avLst>
              <a:gd name="adj" fmla="val 1943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1682" y="1547311"/>
            <a:ext cx="742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50" dirty="0">
                <a:solidFill>
                  <a:srgbClr val="C628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11555" y="157588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100" b="1" kern="0" spc="5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</a:p>
        </p:txBody>
      </p:sp>
      <p:sp>
        <p:nvSpPr>
          <p:cNvPr id="24" name="Text 22"/>
          <p:cNvSpPr/>
          <p:nvPr/>
        </p:nvSpPr>
        <p:spPr>
          <a:xfrm>
            <a:off x="6131682" y="1980431"/>
            <a:ext cx="2433563" cy="71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DIBA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(10-707) — Иран, Barad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 GROUP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(10-696) — Азербайджан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PUFAS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(9-444) — Германия</a:t>
            </a:r>
            <a:endParaRPr lang="en-US" sz="800" dirty="0"/>
          </a:p>
          <a:p>
            <a:pPr marL="0" indent="0" algn="l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TAUDI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(10-709) — </a:t>
            </a:r>
            <a:r>
              <a:rPr lang="ru-RU" sz="800" dirty="0" smtClean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Казахстан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1682" y="2714004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31682" y="2803301"/>
            <a:ext cx="24335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68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31682" y="2953320"/>
            <a:ext cx="24335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Изучить стенды, ассортименты, ценовую политику и </a:t>
            </a:r>
            <a:r>
              <a:rPr lang="en-US" sz="800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подходы</a:t>
            </a:r>
            <a:r>
              <a:rPr lang="en-US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для отстройки и адаптации КП.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670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638566" y="437555"/>
            <a:ext cx="13096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 · КАЗАХСТАН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23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Расширение сбыта в Казахстане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7858125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— партнёр в каждой из 14 областей. Сейчас покрыто 6</a:t>
            </a:r>
            <a:r>
              <a:rPr lang="en-US" sz="844" dirty="0" smtClean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1471613"/>
            <a:ext cx="51895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ОБЛАСТЕЙ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уже есть и где нужно быть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60772" y="1924459"/>
            <a:ext cx="4021931" cy="1153939"/>
          </a:xfrm>
          <a:prstGeom prst="roundRect">
            <a:avLst>
              <a:gd name="adj" fmla="val 9905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2042331"/>
            <a:ext cx="358839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Текущее покрытие: 6 из 14 областей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72600" y="2070906"/>
            <a:ext cx="200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96503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85800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+ Астана — сильное присутствие (более 20 партнёров)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68091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7388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957388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Шымкент, Караганда, Актобе — слабое (1–3 партнёра)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39678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8975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228975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областей — нет присутствия (Восток, Север, Запад)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3185554"/>
            <a:ext cx="4021931" cy="9144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303426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— 47 дистрибьюторов в файле анализа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3381" y="33105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2931" y="3532026"/>
            <a:ext cx="37576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— 14 кандидатов (высокая конкуренция). Астана — 6 кандидатов. Шымкент — 3. Караганда — 1 (КазМетСервис). Актобе — DekoObraz KZ (розничная сеть). Цель — выбрать 3–5 новых партнёров на выставке.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57725" y="1471613"/>
            <a:ext cx="4486275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3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ПРИОРИТЕТНЫЕ ОБЛАСТИ ДЛЯ ВХОДА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7725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ищем партнёра на Kazbuild 2026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657725" y="1920887"/>
            <a:ext cx="4029075" cy="250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Восточно-Казахстанская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Усть-Каменогорск, Семей — промышленность, mining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Павлодарская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алюминий, нефтехимия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Мангистауская </a:t>
            </a:r>
            <a:r>
              <a:rPr lang="en-US" sz="800" kern="0" spc="34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Актау — нефтегаз, порт Каспий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Атырауская </a:t>
            </a:r>
            <a:r>
              <a:rPr lang="en-US" sz="800" kern="0" spc="34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нефтегаз Tengiz, Karachaganak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Костанайская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сельхоз, древесина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Северо-Казахстанская</a:t>
            </a:r>
            <a:endParaRPr lang="en-US" sz="800" dirty="0"/>
          </a:p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агро, DIY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9573" y="3723241"/>
            <a:ext cx="4021931" cy="457200"/>
          </a:xfrm>
          <a:prstGeom prst="roundRect">
            <a:avLst>
              <a:gd name="adj" fmla="val 2500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7445" y="38125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981757" y="3812538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на Kazbuild — найти 2–3 региональных партнёра для приоритетных областей. Подготовить индивидуальные КП.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33952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6811008" y="437555"/>
            <a:ext cx="202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 · ГЕОГРАФИЧЕСКАЯ ЭКСПАНСИЯ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kern="0" spc="-18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Географическое окружение — новые рынки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10 стран. Приоритет — те, где Эмпилс ещё не работает, но есть потенциал. Источник — файл «Экспорт потенциал полный».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724462"/>
              </p:ext>
            </p:extLst>
          </p:nvPr>
        </p:nvGraphicFramePr>
        <p:xfrm>
          <a:off x="457200" y="1370037"/>
          <a:ext cx="8229601" cy="2333147"/>
        </p:xfrm>
        <a:graphic>
          <a:graphicData uri="http://schemas.openxmlformats.org/drawingml/2006/table">
            <a:tbl>
              <a:tblPr/>
              <a:tblGrid>
                <a:gridCol w="1892759"/>
                <a:gridCol w="905247"/>
                <a:gridCol w="1234418"/>
                <a:gridCol w="1069777"/>
                <a:gridCol w="312740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Страна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Дефицит ЛКМ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Рост отрасли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Уд. потребл.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Рекомендация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🥇Азербайджан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8–12%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1 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🥈Таджикистан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+52% (2024)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🥉Молдова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3–5%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r>
                        <a:rPr lang="ru-RU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. Ограничения логистика.</a:t>
                      </a:r>
                      <a:r>
                        <a:rPr lang="en-US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ОАЭ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Саудовская Аравия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Отложенный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рынок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Туркменистан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Рисковый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рынок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🇮🇷 Иран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2,85–8%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6,45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Большой потенциал, но санкции. Кейс «Алдан.Экспорт» → Иран работает  САНКЦИИ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🇰🇿 Казахстан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25–30%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7,0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Ключевой текущий рынок Эмпилс. 100+ дистрибьюторов, 6/14 обл. Цель — углубление  В РАБОТЕ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Сербия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−64%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нетто-экспортёр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</a:t>
                      </a:r>
                      <a:r>
                        <a:rPr lang="en-US" sz="800" dirty="0" err="1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конкурирующий</a:t>
                      </a: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  <a:r>
                        <a:rPr lang="en-US" sz="800" dirty="0" err="1" smtClean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производитель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17934" y="383373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142076" y="437555"/>
            <a:ext cx="1668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 · АНГЛИЙСКИЙ КАТАЛОГ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kern="0" spc="-18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— </a:t>
            </a:r>
            <a:r>
              <a:rPr lang="en-US" sz="1800" b="1" kern="0" spc="-18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</a:t>
            </a:r>
            <a:r>
              <a:rPr lang="ru-RU" sz="1800" b="1" kern="0" spc="-18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0772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31441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1710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592931" y="1974354"/>
            <a:ext cx="24902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Kazbuild 2026 — международная площадка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592931" y="2182155"/>
            <a:ext cx="2404988" cy="71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участников — из Ирана, ОАЭ, Турции, Китая, Германии. Без англоязычного каталога </a:t>
            </a:r>
            <a:r>
              <a:rPr lang="en-US" sz="800" dirty="0" err="1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невозможно</a:t>
            </a: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провести первичные переговоры с целью изучения этих рынков дальше чем кабинетное исследование.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37235" y="1527870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2966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4039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388285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3369394" y="1974354"/>
            <a:ext cx="251482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</a:t>
            </a:r>
            <a:r>
              <a:rPr lang="en-US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GCC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*</a:t>
            </a:r>
            <a:r>
              <a:rPr lang="en-US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стратегическая цель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369394" y="2165449"/>
            <a:ext cx="24051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ОАЭ и Саудовская Аравия — крупнейшие растущие рынки ЛКМ в регионе. Без англоязычных материалов вход невозможен.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13810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49541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60614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8164748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145969" y="1974354"/>
            <a:ext cx="24049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Повышение престижа в глазах текущих русскоязычных партеров.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6145969" y="2299395"/>
            <a:ext cx="240498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772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6503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576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2611710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592931" y="3633936"/>
            <a:ext cx="24049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</a:t>
            </a:r>
            <a:r>
              <a:rPr lang="en-US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</a:t>
            </a:r>
            <a:r>
              <a:rPr lang="ru-RU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тное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соответствие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592931" y="3825032"/>
            <a:ext cx="24049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Jotun, PPG, AkzoNobel, Hempel — у всех есть англоязычные каталоги. Эмпилс отстаёт на этом уровне.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37235" y="3187452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2966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4039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43" name="Text 41"/>
          <p:cNvSpPr/>
          <p:nvPr/>
        </p:nvSpPr>
        <p:spPr>
          <a:xfrm>
            <a:off x="5388285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3369394" y="3633936"/>
            <a:ext cx="24051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</a:t>
            </a:r>
            <a:r>
              <a:rPr lang="en-US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Иран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– дистрибьюторский кейс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69394" y="3825033"/>
            <a:ext cx="2405100" cy="53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в Рязани – Алдан.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 в Иран.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Переделка этикетки на язык – фарси.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Доставка - автотранспорт</a:t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3810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17382" y="3191024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49541" y="3291391"/>
            <a:ext cx="227886" cy="22788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164748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kern="0" spc="62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06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6145969" y="3633936"/>
            <a:ext cx="2514716" cy="93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6. 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расходы на выставку составят порядка 1 млн </a:t>
            </a:r>
            <a:r>
              <a:rPr lang="ru-RU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(выставка + командировки)</a:t>
            </a:r>
            <a:b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Печать каталога в объеме 20 штук и\и стоимостью порядка 30 000 </a:t>
            </a:r>
            <a:r>
              <a:rPr lang="ru-RU" sz="844" b="1" dirty="0" err="1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занимают малый процент от стоимости всей выставки</a:t>
            </a:r>
            <a:br>
              <a:rPr lang="ru-RU" sz="844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sz="844" b="1" dirty="0">
              <a:solidFill>
                <a:srgbClr val="313131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31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07</a:t>
            </a:r>
            <a:endParaRPr lang="en-US" sz="800" dirty="0"/>
          </a:p>
        </p:txBody>
      </p:sp>
      <p:sp>
        <p:nvSpPr>
          <p:cNvPr id="60" name="Text 15"/>
          <p:cNvSpPr/>
          <p:nvPr/>
        </p:nvSpPr>
        <p:spPr>
          <a:xfrm>
            <a:off x="578016" y="1637627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16"/>
          <p:cNvSpPr/>
          <p:nvPr/>
        </p:nvSpPr>
        <p:spPr>
          <a:xfrm>
            <a:off x="589089" y="16487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kern="0" spc="51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3" name="Text 2"/>
          <p:cNvSpPr/>
          <p:nvPr/>
        </p:nvSpPr>
        <p:spPr>
          <a:xfrm>
            <a:off x="7142076" y="437554"/>
            <a:ext cx="1668302" cy="271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ru-RU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kern="0" spc="62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07 · </a:t>
            </a:r>
            <a:r>
              <a:rPr lang="ru-RU" sz="800" kern="0" spc="62" dirty="0" smtClean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ассортимент</a:t>
            </a:r>
            <a:endParaRPr lang="en-US" sz="800" dirty="0"/>
          </a:p>
        </p:txBody>
      </p:sp>
      <p:sp>
        <p:nvSpPr>
          <p:cNvPr id="4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линейка </a:t>
            </a:r>
            <a:r>
              <a:rPr lang="en-US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r>
              <a:rPr lang="ru-RU" b="1" dirty="0" smtClean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2027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14653"/>
            <a:ext cx="7653459" cy="1065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19"/>
          <p:cNvSpPr/>
          <p:nvPr/>
        </p:nvSpPr>
        <p:spPr>
          <a:xfrm>
            <a:off x="328613" y="2576931"/>
            <a:ext cx="6746264" cy="1291684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0"/>
          <p:cNvSpPr/>
          <p:nvPr/>
        </p:nvSpPr>
        <p:spPr>
          <a:xfrm>
            <a:off x="632222" y="2687415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1200" b="1" dirty="0"/>
              <a:t>Ключевые моменты для анализа</a:t>
            </a:r>
            <a:endParaRPr lang="en-US" sz="1200" b="1" dirty="0"/>
          </a:p>
        </p:txBody>
      </p:sp>
      <p:sp>
        <p:nvSpPr>
          <p:cNvPr id="9" name="Text 21"/>
          <p:cNvSpPr/>
          <p:nvPr/>
        </p:nvSpPr>
        <p:spPr>
          <a:xfrm>
            <a:off x="390338" y="271541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0" name="Text 22"/>
          <p:cNvSpPr/>
          <p:nvPr/>
        </p:nvSpPr>
        <p:spPr>
          <a:xfrm>
            <a:off x="402151" y="2976161"/>
            <a:ext cx="6491013" cy="78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81"/>
              </a:lnSpc>
              <a:buFont typeface="Arial" pitchFamily="34" charset="0"/>
              <a:buChar char="•"/>
            </a:pPr>
            <a:r>
              <a:rPr lang="ru-RU" sz="1200" dirty="0" smtClean="0"/>
              <a:t>Анализ конкурентов для правильного ценового позиционирования</a:t>
            </a:r>
            <a:r>
              <a:rPr lang="en-US" sz="1200" dirty="0" smtClean="0"/>
              <a:t> </a:t>
            </a:r>
            <a:r>
              <a:rPr lang="ru-RU" sz="1200" dirty="0" smtClean="0"/>
              <a:t>между Расцвет и </a:t>
            </a:r>
            <a:r>
              <a:rPr lang="en-US" sz="1200" dirty="0" smtClean="0"/>
              <a:t>TITAN</a:t>
            </a:r>
          </a:p>
          <a:p>
            <a:pPr marL="171450" indent="-171450" algn="l">
              <a:lnSpc>
                <a:spcPts val="1181"/>
              </a:lnSpc>
              <a:buFont typeface="Arial" pitchFamily="34" charset="0"/>
              <a:buChar char="•"/>
            </a:pPr>
            <a:r>
              <a:rPr lang="ru-RU" sz="1200" dirty="0" smtClean="0"/>
              <a:t>Дизайн +</a:t>
            </a:r>
            <a:r>
              <a:rPr lang="en-US" sz="1200" dirty="0" smtClean="0"/>
              <a:t> </a:t>
            </a:r>
            <a:r>
              <a:rPr lang="ru-RU" sz="1200" dirty="0" smtClean="0"/>
              <a:t>литография в </a:t>
            </a:r>
            <a:r>
              <a:rPr lang="en-US" sz="1200" dirty="0" smtClean="0"/>
              <a:t>AVANTGARDE</a:t>
            </a:r>
            <a:r>
              <a:rPr lang="ru-RU" sz="1200" dirty="0" smtClean="0"/>
              <a:t> экспорт какая дельта от Расцвета</a:t>
            </a:r>
          </a:p>
          <a:p>
            <a:pPr marL="171450" indent="-171450" algn="l">
              <a:lnSpc>
                <a:spcPts val="1181"/>
              </a:lnSpc>
              <a:buFont typeface="Arial" pitchFamily="34" charset="0"/>
              <a:buChar char="•"/>
            </a:pPr>
            <a:r>
              <a:rPr lang="ru-RU" sz="1200" dirty="0" smtClean="0"/>
              <a:t>Ценовой срез конкурентов в сегменте экспортного </a:t>
            </a:r>
            <a:r>
              <a:rPr lang="en-US" sz="1200" dirty="0" smtClean="0"/>
              <a:t>AVANTGARDE </a:t>
            </a:r>
            <a:r>
              <a:rPr lang="ru-RU" sz="1200" dirty="0" smtClean="0"/>
              <a:t> 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ru-RU" sz="1200" dirty="0" smtClean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46263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1021</Words>
  <Application>Microsoft Office PowerPoint</Application>
  <PresentationFormat>Экран (16:9)</PresentationFormat>
  <Paragraphs>197</Paragraphs>
  <Slides>7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32</cp:revision>
  <dcterms:created xsi:type="dcterms:W3CDTF">2026-08-18T05:06:44Z</dcterms:created>
  <dcterms:modified xsi:type="dcterms:W3CDTF">2026-08-18T06:38:57Z</dcterms:modified>
</cp:coreProperties>
</file>