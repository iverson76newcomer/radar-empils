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0"/>
  </p:notesMasterIdLst>
  <p:sldIdLst>
    <p:sldId id="256" r:id="rId2"/>
    <p:sldId id="261" r:id="rId3"/>
    <p:sldId id="259" r:id="rId4"/>
    <p:sldId id="257" r:id="rId5"/>
    <p:sldId id="264" r:id="rId6"/>
    <p:sldId id="262" r:id="rId7"/>
    <p:sldId id="258" r:id="rId8"/>
    <p:sldId id="260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6897" autoAdjust="0"/>
    <p:restoredTop sz="98627" autoAdjust="0"/>
  </p:normalViewPr>
  <p:slideViewPr>
    <p:cSldViewPr snapToGrid="0" snapToObjects="1">
      <p:cViewPr varScale="1">
        <p:scale>
          <a:sx n="149" d="100"/>
          <a:sy n="149" d="100"/>
        </p:scale>
        <p:origin x="-450" y="-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BEEA3-D4FA-4FB4-A72C-31DD37E08AF9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9E918-18D3-4753-90A0-47B16382A5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91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1277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8442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19695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11345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326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54005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7715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01153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72928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1539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69769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5345F-A3DA-4B28-9AA6-0DFD2257C5D4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130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611287"/>
            <a:ext cx="8686800" cy="0"/>
          </a:xfrm>
          <a:prstGeom prst="line">
            <a:avLst/>
          </a:prstGeom>
          <a:noFill/>
          <a:ln w="7144">
            <a:solidFill>
              <a:srgbClr val="EFE9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2" y="20717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547" dirty="0"/>
          </a:p>
        </p:txBody>
      </p:sp>
      <p:sp>
        <p:nvSpPr>
          <p:cNvPr id="4" name="Text 2"/>
          <p:cNvSpPr/>
          <p:nvPr/>
        </p:nvSpPr>
        <p:spPr>
          <a:xfrm>
            <a:off x="305885" y="196742"/>
            <a:ext cx="77045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00" b="1" kern="0" spc="113" dirty="0">
                <a:solidFill>
                  <a:schemeClr val="tx1">
                    <a:lumMod val="50000"/>
                    <a:lumOff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TITAN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18897" y="208739"/>
            <a:ext cx="138051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200" b="1" kern="0" spc="56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СДЕЛАНО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33311" y="169736"/>
            <a:ext cx="1139029" cy="232029"/>
          </a:xfrm>
          <a:prstGeom prst="roundRect">
            <a:avLst>
              <a:gd name="adj" fmla="val 24631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51542" y="238072"/>
            <a:ext cx="70220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kern="0" spc="28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ЭТАП 1 · АКТИВЕН</a:t>
            </a:r>
            <a:endParaRPr lang="en-US" sz="600" b="1" dirty="0"/>
          </a:p>
        </p:txBody>
      </p:sp>
      <p:sp>
        <p:nvSpPr>
          <p:cNvPr id="129" name="Text 28"/>
          <p:cNvSpPr/>
          <p:nvPr/>
        </p:nvSpPr>
        <p:spPr>
          <a:xfrm>
            <a:off x="232172" y="2249356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0" name="Text 29"/>
          <p:cNvSpPr/>
          <p:nvPr/>
        </p:nvSpPr>
        <p:spPr>
          <a:xfrm>
            <a:off x="321469" y="2298442"/>
            <a:ext cx="1191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1</a:t>
            </a:r>
            <a:endParaRPr lang="en-US" sz="800" dirty="0">
              <a:solidFill>
                <a:srgbClr val="00B050"/>
              </a:solidFill>
            </a:endParaRPr>
          </a:p>
        </p:txBody>
      </p:sp>
      <p:sp>
        <p:nvSpPr>
          <p:cNvPr id="133" name="Text 32"/>
          <p:cNvSpPr/>
          <p:nvPr/>
        </p:nvSpPr>
        <p:spPr>
          <a:xfrm>
            <a:off x="321469" y="2522407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POS-МАТЕРИАЛЫ</a:t>
            </a:r>
            <a:endParaRPr lang="en-US" sz="800" dirty="0"/>
          </a:p>
        </p:txBody>
      </p:sp>
      <p:sp>
        <p:nvSpPr>
          <p:cNvPr id="134" name="Text 33"/>
          <p:cNvSpPr/>
          <p:nvPr/>
        </p:nvSpPr>
        <p:spPr>
          <a:xfrm>
            <a:off x="321471" y="2765660"/>
            <a:ext cx="1596233" cy="10238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797"/>
              </a:lnSpc>
              <a:buNone/>
            </a:pPr>
            <a:endParaRPr lang="en-US" sz="600" dirty="0"/>
          </a:p>
        </p:txBody>
      </p:sp>
      <p:sp>
        <p:nvSpPr>
          <p:cNvPr id="135" name="Text 34"/>
          <p:cNvSpPr/>
          <p:nvPr/>
        </p:nvSpPr>
        <p:spPr>
          <a:xfrm>
            <a:off x="302185" y="2650489"/>
            <a:ext cx="1536773" cy="53508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>
              <a:lnSpc>
                <a:spcPts val="900"/>
              </a:lnSpc>
            </a:pP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1. 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Руководство по продажам</a:t>
            </a:r>
            <a:b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</a:b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2. 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Шелфтокеры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,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воблеры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,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ценники</a:t>
            </a:r>
            <a:endParaRPr lang="en-US" sz="700" dirty="0"/>
          </a:p>
          <a:p>
            <a:pPr marL="0" indent="0" algn="l">
              <a:lnSpc>
                <a:spcPts val="900"/>
              </a:lnSpc>
              <a:buNone/>
            </a:pP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3. 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Листовк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а</a:t>
            </a:r>
            <a:b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</a:b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4.</a:t>
            </a: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П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ланограмма</a:t>
            </a:r>
            <a:endParaRPr lang="en-US" sz="700" dirty="0"/>
          </a:p>
        </p:txBody>
      </p:sp>
      <p:sp>
        <p:nvSpPr>
          <p:cNvPr id="136" name="Shape 35"/>
          <p:cNvSpPr/>
          <p:nvPr/>
        </p:nvSpPr>
        <p:spPr>
          <a:xfrm>
            <a:off x="321469" y="3150900"/>
            <a:ext cx="1505880" cy="0"/>
          </a:xfrm>
          <a:prstGeom prst="line">
            <a:avLst/>
          </a:prstGeom>
          <a:noFill/>
          <a:ln w="7144">
            <a:solidFill>
              <a:srgbClr val="EFE9DD"/>
            </a:solidFill>
            <a:prstDash val="solid"/>
          </a:ln>
        </p:spPr>
      </p:sp>
      <p:sp>
        <p:nvSpPr>
          <p:cNvPr id="139" name="Text 38"/>
          <p:cNvSpPr/>
          <p:nvPr/>
        </p:nvSpPr>
        <p:spPr>
          <a:xfrm>
            <a:off x="1980940" y="2249356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0" name="Text 39"/>
          <p:cNvSpPr/>
          <p:nvPr/>
        </p:nvSpPr>
        <p:spPr>
          <a:xfrm>
            <a:off x="2070236" y="2298442"/>
            <a:ext cx="1191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1</a:t>
            </a:r>
            <a:endParaRPr lang="en-US" sz="800" dirty="0">
              <a:solidFill>
                <a:srgbClr val="00B050"/>
              </a:solidFill>
            </a:endParaRPr>
          </a:p>
        </p:txBody>
      </p:sp>
      <p:sp>
        <p:nvSpPr>
          <p:cNvPr id="143" name="Text 42"/>
          <p:cNvSpPr/>
          <p:nvPr/>
        </p:nvSpPr>
        <p:spPr>
          <a:xfrm>
            <a:off x="2070236" y="2522407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КОНТЕНТ И ОБУЧЕНИЕ</a:t>
            </a:r>
            <a:endParaRPr lang="en-US" sz="800" dirty="0"/>
          </a:p>
        </p:txBody>
      </p:sp>
      <p:sp>
        <p:nvSpPr>
          <p:cNvPr id="144" name="Text 43"/>
          <p:cNvSpPr/>
          <p:nvPr/>
        </p:nvSpPr>
        <p:spPr>
          <a:xfrm>
            <a:off x="2023480" y="2659477"/>
            <a:ext cx="1642990" cy="507705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1. Видеоролики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: 5 штук</a:t>
            </a:r>
          </a:p>
          <a:p>
            <a:pPr>
              <a:lnSpc>
                <a:spcPts val="900"/>
              </a:lnSpc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2. О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блако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с 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материалами</a:t>
            </a:r>
            <a:endParaRPr lang="ru-RU" sz="700" dirty="0" smtClean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900"/>
              </a:lnSpc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3. 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Обучение</a:t>
            </a: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: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_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регионов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, ~350 ТП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ОП</a:t>
            </a:r>
            <a:endParaRPr lang="en-US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endParaRPr lang="en-US" sz="700" dirty="0"/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5A6776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797"/>
              </a:lnSpc>
              <a:buNone/>
            </a:pPr>
            <a:endParaRPr lang="en-US" sz="500" dirty="0">
              <a:solidFill>
                <a:srgbClr val="5A6776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46" name="Text 45"/>
          <p:cNvSpPr/>
          <p:nvPr/>
        </p:nvSpPr>
        <p:spPr>
          <a:xfrm>
            <a:off x="2070236" y="3041779"/>
            <a:ext cx="521106" cy="12540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marL="0" indent="0" algn="l">
              <a:lnSpc>
                <a:spcPts val="797"/>
              </a:lnSpc>
              <a:buNone/>
            </a:pPr>
            <a:endParaRPr lang="en-US" sz="800" dirty="0"/>
          </a:p>
        </p:txBody>
      </p:sp>
      <p:sp>
        <p:nvSpPr>
          <p:cNvPr id="147" name="Text 46"/>
          <p:cNvSpPr/>
          <p:nvPr/>
        </p:nvSpPr>
        <p:spPr>
          <a:xfrm>
            <a:off x="2569390" y="3052920"/>
            <a:ext cx="1049127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endParaRPr lang="en-US" sz="600" dirty="0"/>
          </a:p>
        </p:txBody>
      </p:sp>
      <p:sp>
        <p:nvSpPr>
          <p:cNvPr id="148" name="Text 47"/>
          <p:cNvSpPr/>
          <p:nvPr/>
        </p:nvSpPr>
        <p:spPr>
          <a:xfrm>
            <a:off x="3729707" y="1588956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7144">
            <a:solidFill>
              <a:srgbClr val="D4A57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9" name="Text 48"/>
          <p:cNvSpPr/>
          <p:nvPr/>
        </p:nvSpPr>
        <p:spPr>
          <a:xfrm>
            <a:off x="3819004" y="1638042"/>
            <a:ext cx="9056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2</a:t>
            </a:r>
            <a:endParaRPr lang="en-US" sz="800" dirty="0"/>
          </a:p>
        </p:txBody>
      </p:sp>
      <p:sp>
        <p:nvSpPr>
          <p:cNvPr id="152" name="Text 51"/>
          <p:cNvSpPr/>
          <p:nvPr/>
        </p:nvSpPr>
        <p:spPr>
          <a:xfrm>
            <a:off x="3819004" y="1849307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742"/>
              </a:lnSpc>
            </a:pPr>
            <a:r>
              <a:rPr lang="ru-RU" sz="800" b="1" kern="0" spc="28" dirty="0" smtClean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ШК </a:t>
            </a:r>
            <a:r>
              <a:rPr lang="en-US" sz="800" b="1" kern="0" spc="28" dirty="0" smtClean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ПРОДВИЖЕНИЕ</a:t>
            </a:r>
            <a:endParaRPr lang="en-US" sz="800" dirty="0"/>
          </a:p>
        </p:txBody>
      </p:sp>
      <p:sp>
        <p:nvSpPr>
          <p:cNvPr id="153" name="Text 52"/>
          <p:cNvSpPr/>
          <p:nvPr/>
        </p:nvSpPr>
        <p:spPr>
          <a:xfrm>
            <a:off x="3774147" y="1948049"/>
            <a:ext cx="1626351" cy="722943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Autofit/>
          </a:bodyPr>
          <a:lstStyle/>
          <a:p>
            <a:pPr>
              <a:lnSpc>
                <a:spcPts val="797"/>
              </a:lnSpc>
            </a:pP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1. Доработка сайта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Empils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, 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посадочной страницы</a:t>
            </a:r>
            <a:b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</a:b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2. </a:t>
            </a:r>
            <a:r>
              <a:rPr lang="ru-RU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Таргетированная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реклама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(</a:t>
            </a: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VK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, Яндекс)</a:t>
            </a:r>
            <a:endParaRPr lang="ru-RU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3. 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Видеореклама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пре-роллы 15-30 сек</a:t>
            </a:r>
          </a:p>
          <a:p>
            <a:pPr>
              <a:lnSpc>
                <a:spcPts val="797"/>
              </a:lnSpc>
            </a:pP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(VK 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Видео</a:t>
            </a: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)</a:t>
            </a:r>
            <a:endParaRPr lang="ru-RU" sz="700" dirty="0" smtClean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4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. 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Блогер-инфлюенсер</a:t>
            </a:r>
            <a:endParaRPr lang="ru-RU" sz="700" dirty="0" smtClean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5.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Контекстная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реклама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(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Яндекс.Директ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)</a:t>
            </a:r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endParaRPr lang="en-US" sz="700" dirty="0"/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797"/>
              </a:lnSpc>
              <a:buNone/>
            </a:pPr>
            <a:endParaRPr lang="en-US" sz="700" dirty="0"/>
          </a:p>
        </p:txBody>
      </p:sp>
      <p:sp>
        <p:nvSpPr>
          <p:cNvPr id="155" name="Text 54"/>
          <p:cNvSpPr/>
          <p:nvPr/>
        </p:nvSpPr>
        <p:spPr>
          <a:xfrm>
            <a:off x="3819004" y="2359949"/>
            <a:ext cx="1505880" cy="10238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797"/>
              </a:lnSpc>
              <a:buNone/>
            </a:pPr>
            <a:endParaRPr lang="en-US" sz="600" dirty="0"/>
          </a:p>
        </p:txBody>
      </p:sp>
      <p:sp>
        <p:nvSpPr>
          <p:cNvPr id="156" name="Text 55"/>
          <p:cNvSpPr/>
          <p:nvPr/>
        </p:nvSpPr>
        <p:spPr>
          <a:xfrm>
            <a:off x="3819004" y="2489764"/>
            <a:ext cx="1505880" cy="129815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marL="0" indent="0" algn="l">
              <a:lnSpc>
                <a:spcPts val="797"/>
              </a:lnSpc>
              <a:buNone/>
            </a:pPr>
            <a:endParaRPr lang="en-US" sz="800" dirty="0"/>
          </a:p>
        </p:txBody>
      </p:sp>
      <p:sp>
        <p:nvSpPr>
          <p:cNvPr id="157" name="Text 56"/>
          <p:cNvSpPr/>
          <p:nvPr/>
        </p:nvSpPr>
        <p:spPr>
          <a:xfrm>
            <a:off x="5478475" y="2262056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8" name="Text 57"/>
          <p:cNvSpPr/>
          <p:nvPr/>
        </p:nvSpPr>
        <p:spPr>
          <a:xfrm>
            <a:off x="5567774" y="2311142"/>
            <a:ext cx="1148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ПЛАН «Б»</a:t>
            </a:r>
            <a:endParaRPr lang="en-US" sz="800" dirty="0"/>
          </a:p>
        </p:txBody>
      </p:sp>
      <p:sp>
        <p:nvSpPr>
          <p:cNvPr id="161" name="Text 60"/>
          <p:cNvSpPr/>
          <p:nvPr/>
        </p:nvSpPr>
        <p:spPr>
          <a:xfrm>
            <a:off x="5567772" y="2535107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УПРАВЛЕНИЕ РИСКАМИ</a:t>
            </a:r>
            <a:endParaRPr lang="en-US" sz="800" dirty="0"/>
          </a:p>
        </p:txBody>
      </p:sp>
      <p:sp>
        <p:nvSpPr>
          <p:cNvPr id="162" name="Text 61"/>
          <p:cNvSpPr/>
          <p:nvPr/>
        </p:nvSpPr>
        <p:spPr>
          <a:xfrm>
            <a:off x="5567774" y="2672178"/>
            <a:ext cx="1596233" cy="304864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Autofit/>
          </a:bodyPr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5 инструментов: </a:t>
            </a:r>
            <a:endParaRPr lang="ru-RU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797"/>
              </a:lnSpc>
              <a:buNone/>
            </a:pP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доп.обучение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, корректировка ассортимента, трейд-промо, мастер-классы, куратор</a:t>
            </a:r>
          </a:p>
        </p:txBody>
      </p:sp>
      <p:sp>
        <p:nvSpPr>
          <p:cNvPr id="163" name="Text 62"/>
          <p:cNvSpPr/>
          <p:nvPr/>
        </p:nvSpPr>
        <p:spPr>
          <a:xfrm>
            <a:off x="5507706" y="3172135"/>
            <a:ext cx="528300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ru-RU" sz="800" dirty="0" smtClean="0">
                <a:solidFill>
                  <a:srgbClr val="8BAA8A"/>
                </a:solidFill>
                <a:ea typeface="Liberation Sans Narrow" pitchFamily="34" charset="-122"/>
                <a:cs typeface="Liberation Sans Narrow" pitchFamily="34" charset="-120"/>
              </a:rPr>
              <a:t> </a:t>
            </a:r>
            <a:r>
              <a:rPr lang="en-US" sz="800" dirty="0" smtClean="0">
                <a:solidFill>
                  <a:srgbClr val="8BAA8A"/>
                </a:solidFill>
                <a:ea typeface="Liberation Sans Narrow" pitchFamily="34" charset="-122"/>
                <a:cs typeface="Liberation Sans Narrow" pitchFamily="34" charset="-120"/>
              </a:rPr>
              <a:t>🟢70-85</a:t>
            </a:r>
            <a:r>
              <a:rPr lang="en-US" sz="800" dirty="0">
                <a:solidFill>
                  <a:srgbClr val="8BAA8A"/>
                </a:solidFill>
                <a:ea typeface="Liberation Sans Narrow" pitchFamily="34" charset="-122"/>
                <a:cs typeface="Liberation Sans Narrow" pitchFamily="34" charset="-120"/>
              </a:rPr>
              <a:t>%</a:t>
            </a:r>
            <a:endParaRPr lang="en-US" sz="800" dirty="0"/>
          </a:p>
        </p:txBody>
      </p:sp>
      <p:sp>
        <p:nvSpPr>
          <p:cNvPr id="164" name="Text 63"/>
          <p:cNvSpPr/>
          <p:nvPr/>
        </p:nvSpPr>
        <p:spPr>
          <a:xfrm>
            <a:off x="6083240" y="3174037"/>
            <a:ext cx="528300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 smtClean="0">
                <a:solidFill>
                  <a:srgbClr val="C9A77C"/>
                </a:solidFill>
                <a:ea typeface="Liberation Sans Narrow" pitchFamily="34" charset="-122"/>
                <a:cs typeface="Liberation Sans Narrow" pitchFamily="34" charset="-120"/>
              </a:rPr>
              <a:t>🟡50-70</a:t>
            </a:r>
            <a:r>
              <a:rPr lang="en-US" sz="800" dirty="0">
                <a:solidFill>
                  <a:srgbClr val="C9A77C"/>
                </a:solidFill>
                <a:ea typeface="Liberation Sans Narrow" pitchFamily="34" charset="-122"/>
                <a:cs typeface="Liberation Sans Narrow" pitchFamily="34" charset="-120"/>
              </a:rPr>
              <a:t>%</a:t>
            </a:r>
            <a:endParaRPr lang="en-US" sz="800" dirty="0"/>
          </a:p>
        </p:txBody>
      </p:sp>
      <p:sp>
        <p:nvSpPr>
          <p:cNvPr id="165" name="Text 64"/>
          <p:cNvSpPr/>
          <p:nvPr/>
        </p:nvSpPr>
        <p:spPr>
          <a:xfrm>
            <a:off x="6697540" y="3175506"/>
            <a:ext cx="597061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B5614A"/>
                </a:solidFill>
                <a:ea typeface="Segoe UI Symbol" pitchFamily="34" charset="-122"/>
                <a:cs typeface="Segoe UI Symbol" pitchFamily="34" charset="-120"/>
              </a:rPr>
              <a:t>🔴</a:t>
            </a:r>
            <a:r>
              <a:rPr lang="en-US" sz="800" dirty="0">
                <a:solidFill>
                  <a:srgbClr val="B5614A"/>
                </a:solidFill>
                <a:ea typeface="Carlito" pitchFamily="34" charset="-122"/>
                <a:cs typeface="Carlito" pitchFamily="34" charset="-120"/>
              </a:rPr>
              <a:t> &lt;</a:t>
            </a:r>
            <a:r>
              <a:rPr lang="en-US" sz="800" dirty="0">
                <a:solidFill>
                  <a:srgbClr val="B5614A"/>
                </a:solidFill>
                <a:ea typeface="Liberation Sans Narrow" pitchFamily="34" charset="-122"/>
                <a:cs typeface="Liberation Sans Narrow" pitchFamily="34" charset="-120"/>
              </a:rPr>
              <a:t>50%</a:t>
            </a:r>
            <a:endParaRPr lang="en-US" sz="800" dirty="0"/>
          </a:p>
        </p:txBody>
      </p:sp>
      <p:sp>
        <p:nvSpPr>
          <p:cNvPr id="166" name="Text 65"/>
          <p:cNvSpPr/>
          <p:nvPr/>
        </p:nvSpPr>
        <p:spPr>
          <a:xfrm>
            <a:off x="7227243" y="2262056"/>
            <a:ext cx="1684586" cy="1162058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7" name="Text 66"/>
          <p:cNvSpPr/>
          <p:nvPr/>
        </p:nvSpPr>
        <p:spPr>
          <a:xfrm>
            <a:off x="7316539" y="2311142"/>
            <a:ext cx="12023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3</a:t>
            </a:r>
            <a:endParaRPr lang="en-US" sz="800" dirty="0"/>
          </a:p>
        </p:txBody>
      </p:sp>
      <p:sp>
        <p:nvSpPr>
          <p:cNvPr id="170" name="Text 69"/>
          <p:cNvSpPr/>
          <p:nvPr/>
        </p:nvSpPr>
        <p:spPr>
          <a:xfrm>
            <a:off x="7316539" y="2535107"/>
            <a:ext cx="1505992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МАСШТАБИРОВАНИЕ</a:t>
            </a:r>
            <a:endParaRPr lang="en-US" sz="800" dirty="0"/>
          </a:p>
        </p:txBody>
      </p:sp>
      <p:sp>
        <p:nvSpPr>
          <p:cNvPr id="173" name="Text 72"/>
          <p:cNvSpPr/>
          <p:nvPr/>
        </p:nvSpPr>
        <p:spPr>
          <a:xfrm>
            <a:off x="7274794" y="2692798"/>
            <a:ext cx="1285875" cy="273504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5A677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Цель: (DIY 650, СК 250, B2B 100)</a:t>
            </a:r>
            <a:endParaRPr lang="en-US" sz="800" dirty="0"/>
          </a:p>
        </p:txBody>
      </p:sp>
      <p:sp>
        <p:nvSpPr>
          <p:cNvPr id="182" name="Text 15"/>
          <p:cNvSpPr/>
          <p:nvPr/>
        </p:nvSpPr>
        <p:spPr>
          <a:xfrm>
            <a:off x="546497" y="1105562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2ECC7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3" name="Text 16"/>
          <p:cNvSpPr/>
          <p:nvPr/>
        </p:nvSpPr>
        <p:spPr>
          <a:xfrm>
            <a:off x="571500" y="1130566"/>
            <a:ext cx="57150" cy="57150"/>
          </a:xfrm>
          <a:prstGeom prst="ellipse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4" name="Text 17"/>
          <p:cNvSpPr/>
          <p:nvPr/>
        </p:nvSpPr>
        <p:spPr>
          <a:xfrm>
            <a:off x="885825" y="1148425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5" name="Text 18"/>
          <p:cNvSpPr/>
          <p:nvPr/>
        </p:nvSpPr>
        <p:spPr>
          <a:xfrm>
            <a:off x="2532459" y="1105562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2ECC7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6" name="Text 19"/>
          <p:cNvSpPr/>
          <p:nvPr/>
        </p:nvSpPr>
        <p:spPr>
          <a:xfrm>
            <a:off x="2557463" y="1130566"/>
            <a:ext cx="57150" cy="57150"/>
          </a:xfrm>
          <a:prstGeom prst="ellipse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788" y="1148425"/>
            <a:ext cx="1414463" cy="21431"/>
          </a:xfrm>
          <a:prstGeom prst="rect">
            <a:avLst/>
          </a:prstGeom>
        </p:spPr>
      </p:pic>
      <p:sp>
        <p:nvSpPr>
          <p:cNvPr id="188" name="Text 20"/>
          <p:cNvSpPr/>
          <p:nvPr/>
        </p:nvSpPr>
        <p:spPr>
          <a:xfrm>
            <a:off x="4518422" y="1105562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FF8C0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9" name="Text 21"/>
          <p:cNvSpPr/>
          <p:nvPr/>
        </p:nvSpPr>
        <p:spPr>
          <a:xfrm>
            <a:off x="4543425" y="1130566"/>
            <a:ext cx="57150" cy="57150"/>
          </a:xfrm>
          <a:prstGeom prst="ellipse">
            <a:avLst/>
          </a:prstGeom>
          <a:solidFill>
            <a:srgbClr val="FF8C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0" name="Text 22"/>
          <p:cNvSpPr/>
          <p:nvPr/>
        </p:nvSpPr>
        <p:spPr>
          <a:xfrm>
            <a:off x="4857750" y="1148425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1" name="Text 23"/>
          <p:cNvSpPr/>
          <p:nvPr/>
        </p:nvSpPr>
        <p:spPr>
          <a:xfrm>
            <a:off x="6504384" y="1105562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88888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2" name="Text 24"/>
          <p:cNvSpPr/>
          <p:nvPr/>
        </p:nvSpPr>
        <p:spPr>
          <a:xfrm>
            <a:off x="6529388" y="1130566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3" name="Text 25"/>
          <p:cNvSpPr/>
          <p:nvPr/>
        </p:nvSpPr>
        <p:spPr>
          <a:xfrm>
            <a:off x="6843713" y="1148425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4" name="Text 26"/>
          <p:cNvSpPr/>
          <p:nvPr/>
        </p:nvSpPr>
        <p:spPr>
          <a:xfrm>
            <a:off x="8490347" y="1105562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88888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5" name="Text 27"/>
          <p:cNvSpPr/>
          <p:nvPr/>
        </p:nvSpPr>
        <p:spPr>
          <a:xfrm>
            <a:off x="8515350" y="1130566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6" name="Text 30"/>
          <p:cNvSpPr/>
          <p:nvPr/>
        </p:nvSpPr>
        <p:spPr>
          <a:xfrm>
            <a:off x="1455807" y="2278737"/>
            <a:ext cx="394640" cy="148652"/>
          </a:xfrm>
          <a:prstGeom prst="roundRect">
            <a:avLst>
              <a:gd name="adj" fmla="val 68027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7" name="Text 31"/>
          <p:cNvSpPr/>
          <p:nvPr/>
        </p:nvSpPr>
        <p:spPr>
          <a:xfrm>
            <a:off x="1420413" y="2296434"/>
            <a:ext cx="44922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2ECC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DONE</a:t>
            </a:r>
            <a:endParaRPr lang="en-US" sz="800" dirty="0"/>
          </a:p>
        </p:txBody>
      </p:sp>
      <p:sp>
        <p:nvSpPr>
          <p:cNvPr id="198" name="Text 30"/>
          <p:cNvSpPr/>
          <p:nvPr/>
        </p:nvSpPr>
        <p:spPr>
          <a:xfrm>
            <a:off x="3199263" y="2296963"/>
            <a:ext cx="394640" cy="148652"/>
          </a:xfrm>
          <a:prstGeom prst="roundRect">
            <a:avLst>
              <a:gd name="adj" fmla="val 68027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9" name="Text 31"/>
          <p:cNvSpPr/>
          <p:nvPr/>
        </p:nvSpPr>
        <p:spPr>
          <a:xfrm>
            <a:off x="3163869" y="2314660"/>
            <a:ext cx="44922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2ECC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DONE</a:t>
            </a:r>
            <a:endParaRPr lang="en-US" sz="800" dirty="0"/>
          </a:p>
        </p:txBody>
      </p:sp>
      <p:sp>
        <p:nvSpPr>
          <p:cNvPr id="200" name="Text 49"/>
          <p:cNvSpPr/>
          <p:nvPr/>
        </p:nvSpPr>
        <p:spPr>
          <a:xfrm>
            <a:off x="4520580" y="1621071"/>
            <a:ext cx="850423" cy="169513"/>
          </a:xfrm>
          <a:prstGeom prst="roundRect">
            <a:avLst>
              <a:gd name="adj" fmla="val 68027"/>
            </a:avLst>
          </a:prstGeom>
          <a:solidFill>
            <a:srgbClr val="FF8C00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1" name="Text 50"/>
          <p:cNvSpPr/>
          <p:nvPr/>
        </p:nvSpPr>
        <p:spPr>
          <a:xfrm>
            <a:off x="4513930" y="1638768"/>
            <a:ext cx="894727" cy="132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FF8C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202" name="Text 58"/>
          <p:cNvSpPr/>
          <p:nvPr/>
        </p:nvSpPr>
        <p:spPr>
          <a:xfrm>
            <a:off x="6635136" y="2305969"/>
            <a:ext cx="475833" cy="128220"/>
          </a:xfrm>
          <a:prstGeom prst="roundRect">
            <a:avLst>
              <a:gd name="adj" fmla="val 68027"/>
            </a:avLst>
          </a:prstGeom>
          <a:solidFill>
            <a:srgbClr val="888888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3" name="Text 59"/>
          <p:cNvSpPr/>
          <p:nvPr/>
        </p:nvSpPr>
        <p:spPr>
          <a:xfrm>
            <a:off x="6654968" y="2301672"/>
            <a:ext cx="519215" cy="132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READY</a:t>
            </a:r>
            <a:endParaRPr lang="en-US" sz="800" dirty="0"/>
          </a:p>
        </p:txBody>
      </p:sp>
      <p:sp>
        <p:nvSpPr>
          <p:cNvPr id="204" name="Text 67"/>
          <p:cNvSpPr/>
          <p:nvPr/>
        </p:nvSpPr>
        <p:spPr>
          <a:xfrm>
            <a:off x="8465573" y="2291437"/>
            <a:ext cx="392128" cy="166348"/>
          </a:xfrm>
          <a:prstGeom prst="roundRect">
            <a:avLst>
              <a:gd name="adj" fmla="val 68027"/>
            </a:avLst>
          </a:prstGeom>
          <a:solidFill>
            <a:srgbClr val="888888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5" name="Text 68"/>
          <p:cNvSpPr/>
          <p:nvPr/>
        </p:nvSpPr>
        <p:spPr>
          <a:xfrm>
            <a:off x="8511429" y="2313470"/>
            <a:ext cx="332882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</a:t>
            </a:r>
            <a:endParaRPr lang="en-US" sz="800" dirty="0"/>
          </a:p>
        </p:txBody>
      </p:sp>
      <p:sp>
        <p:nvSpPr>
          <p:cNvPr id="206" name="Text 7"/>
          <p:cNvSpPr/>
          <p:nvPr/>
        </p:nvSpPr>
        <p:spPr>
          <a:xfrm>
            <a:off x="7743141" y="257175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2ECC71">
              <a:alpha val="79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7" name="Rectangle 2"/>
          <p:cNvSpPr/>
          <p:nvPr/>
        </p:nvSpPr>
        <p:spPr>
          <a:xfrm>
            <a:off x="1021010" y="154607"/>
            <a:ext cx="28000" cy="250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 47"/>
          <p:cNvSpPr/>
          <p:nvPr/>
        </p:nvSpPr>
        <p:spPr>
          <a:xfrm>
            <a:off x="3716024" y="2811483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7144">
            <a:solidFill>
              <a:srgbClr val="D4A57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5" name="Text 48"/>
          <p:cNvSpPr/>
          <p:nvPr/>
        </p:nvSpPr>
        <p:spPr>
          <a:xfrm>
            <a:off x="3805321" y="2860569"/>
            <a:ext cx="9056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2</a:t>
            </a:r>
            <a:endParaRPr lang="en-US" sz="800" dirty="0"/>
          </a:p>
        </p:txBody>
      </p:sp>
      <p:sp>
        <p:nvSpPr>
          <p:cNvPr id="116" name="Text 51"/>
          <p:cNvSpPr/>
          <p:nvPr/>
        </p:nvSpPr>
        <p:spPr>
          <a:xfrm>
            <a:off x="3805321" y="3046434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ru-RU" sz="800" b="1" kern="0" spc="28" dirty="0" smtClean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РТТ </a:t>
            </a:r>
            <a:r>
              <a:rPr lang="en-US" sz="800" b="1" kern="0" spc="28" dirty="0" smtClean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ПРОДВИЖЕНИЕ</a:t>
            </a:r>
            <a:endParaRPr lang="en-US" sz="800" dirty="0"/>
          </a:p>
        </p:txBody>
      </p:sp>
      <p:sp>
        <p:nvSpPr>
          <p:cNvPr id="117" name="Text 52"/>
          <p:cNvSpPr/>
          <p:nvPr/>
        </p:nvSpPr>
        <p:spPr>
          <a:xfrm>
            <a:off x="3760464" y="3170576"/>
            <a:ext cx="1626351" cy="722943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Autofit/>
          </a:bodyPr>
          <a:lstStyle/>
          <a:p>
            <a:pPr>
              <a:lnSpc>
                <a:spcPts val="797"/>
              </a:lnSpc>
            </a:pP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1. </a:t>
            </a:r>
            <a:r>
              <a:rPr lang="ru-RU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Брендированные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зоны </a:t>
            </a: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TITAN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в </a:t>
            </a:r>
            <a:r>
              <a:rPr lang="ru-RU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топовых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РТТ Палитра, </a:t>
            </a:r>
            <a:r>
              <a:rPr lang="ru-RU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Брозекс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, И.П. Рыгалов. – </a:t>
            </a: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(февраль – май 2027)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/>
            </a:r>
            <a:b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</a:b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2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.</a:t>
            </a:r>
            <a:endParaRPr lang="en-US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endParaRPr lang="en-US" sz="700" dirty="0"/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797"/>
              </a:lnSpc>
              <a:buNone/>
            </a:pPr>
            <a:endParaRPr lang="en-US" sz="700" dirty="0"/>
          </a:p>
        </p:txBody>
      </p:sp>
      <p:sp>
        <p:nvSpPr>
          <p:cNvPr id="118" name="Text 54"/>
          <p:cNvSpPr/>
          <p:nvPr/>
        </p:nvSpPr>
        <p:spPr>
          <a:xfrm>
            <a:off x="3805321" y="3582476"/>
            <a:ext cx="1505880" cy="10238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797"/>
              </a:lnSpc>
              <a:buNone/>
            </a:pPr>
            <a:endParaRPr lang="en-US" sz="600" dirty="0"/>
          </a:p>
        </p:txBody>
      </p:sp>
      <p:sp>
        <p:nvSpPr>
          <p:cNvPr id="119" name="Text 55"/>
          <p:cNvSpPr/>
          <p:nvPr/>
        </p:nvSpPr>
        <p:spPr>
          <a:xfrm>
            <a:off x="3805321" y="3712291"/>
            <a:ext cx="1505880" cy="129815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marL="0" indent="0" algn="l">
              <a:lnSpc>
                <a:spcPts val="797"/>
              </a:lnSpc>
              <a:buNone/>
            </a:pPr>
            <a:endParaRPr lang="en-US" sz="800" dirty="0"/>
          </a:p>
        </p:txBody>
      </p:sp>
      <p:sp>
        <p:nvSpPr>
          <p:cNvPr id="120" name="Text 49"/>
          <p:cNvSpPr/>
          <p:nvPr/>
        </p:nvSpPr>
        <p:spPr>
          <a:xfrm>
            <a:off x="4506897" y="2843598"/>
            <a:ext cx="850423" cy="169513"/>
          </a:xfrm>
          <a:prstGeom prst="roundRect">
            <a:avLst>
              <a:gd name="adj" fmla="val 68027"/>
            </a:avLst>
          </a:prstGeom>
          <a:solidFill>
            <a:srgbClr val="FF8C00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1" name="Text 50"/>
          <p:cNvSpPr/>
          <p:nvPr/>
        </p:nvSpPr>
        <p:spPr>
          <a:xfrm>
            <a:off x="4500247" y="2861295"/>
            <a:ext cx="894727" cy="132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FF8C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71" name="Text 15"/>
          <p:cNvSpPr/>
          <p:nvPr/>
        </p:nvSpPr>
        <p:spPr>
          <a:xfrm>
            <a:off x="497886" y="4229762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2ECC7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16"/>
          <p:cNvSpPr/>
          <p:nvPr/>
        </p:nvSpPr>
        <p:spPr>
          <a:xfrm>
            <a:off x="522889" y="4254766"/>
            <a:ext cx="57150" cy="57150"/>
          </a:xfrm>
          <a:prstGeom prst="ellipse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17"/>
          <p:cNvSpPr/>
          <p:nvPr/>
        </p:nvSpPr>
        <p:spPr>
          <a:xfrm>
            <a:off x="837214" y="4272625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18"/>
          <p:cNvSpPr/>
          <p:nvPr/>
        </p:nvSpPr>
        <p:spPr>
          <a:xfrm>
            <a:off x="2483848" y="4229762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2ECC7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19"/>
          <p:cNvSpPr/>
          <p:nvPr/>
        </p:nvSpPr>
        <p:spPr>
          <a:xfrm>
            <a:off x="2508852" y="4254766"/>
            <a:ext cx="57150" cy="57150"/>
          </a:xfrm>
          <a:prstGeom prst="ellipse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177" y="4272625"/>
            <a:ext cx="1414463" cy="21431"/>
          </a:xfrm>
          <a:prstGeom prst="rect">
            <a:avLst/>
          </a:prstGeom>
        </p:spPr>
      </p:pic>
      <p:sp>
        <p:nvSpPr>
          <p:cNvPr id="77" name="Text 20"/>
          <p:cNvSpPr/>
          <p:nvPr/>
        </p:nvSpPr>
        <p:spPr>
          <a:xfrm>
            <a:off x="4469811" y="4229762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FF8C0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21"/>
          <p:cNvSpPr/>
          <p:nvPr/>
        </p:nvSpPr>
        <p:spPr>
          <a:xfrm>
            <a:off x="4494814" y="4254766"/>
            <a:ext cx="57150" cy="57150"/>
          </a:xfrm>
          <a:prstGeom prst="ellipse">
            <a:avLst/>
          </a:prstGeom>
          <a:solidFill>
            <a:srgbClr val="FF8C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22"/>
          <p:cNvSpPr/>
          <p:nvPr/>
        </p:nvSpPr>
        <p:spPr>
          <a:xfrm>
            <a:off x="4809139" y="4272625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23"/>
          <p:cNvSpPr/>
          <p:nvPr/>
        </p:nvSpPr>
        <p:spPr>
          <a:xfrm>
            <a:off x="6455773" y="4229762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88888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24"/>
          <p:cNvSpPr/>
          <p:nvPr/>
        </p:nvSpPr>
        <p:spPr>
          <a:xfrm>
            <a:off x="6480777" y="4254766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25"/>
          <p:cNvSpPr/>
          <p:nvPr/>
        </p:nvSpPr>
        <p:spPr>
          <a:xfrm>
            <a:off x="6795102" y="4272625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26"/>
          <p:cNvSpPr/>
          <p:nvPr/>
        </p:nvSpPr>
        <p:spPr>
          <a:xfrm>
            <a:off x="8441736" y="4229762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88888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27"/>
          <p:cNvSpPr/>
          <p:nvPr/>
        </p:nvSpPr>
        <p:spPr>
          <a:xfrm>
            <a:off x="8466739" y="4254766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2"/>
          <p:cNvSpPr/>
          <p:nvPr/>
        </p:nvSpPr>
        <p:spPr>
          <a:xfrm>
            <a:off x="181210" y="615994"/>
            <a:ext cx="3438289" cy="3352709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Shape 33"/>
          <p:cNvSpPr/>
          <p:nvPr/>
        </p:nvSpPr>
        <p:spPr>
          <a:xfrm>
            <a:off x="270508" y="1660171"/>
            <a:ext cx="3221404" cy="0"/>
          </a:xfrm>
          <a:prstGeom prst="line">
            <a:avLst/>
          </a:prstGeom>
          <a:noFill/>
          <a:ln w="7144">
            <a:solidFill>
              <a:srgbClr val="D9D2C2"/>
            </a:solidFill>
            <a:prstDash val="solid"/>
          </a:ln>
        </p:spPr>
      </p:sp>
      <p:sp>
        <p:nvSpPr>
          <p:cNvPr id="4" name="Text 34"/>
          <p:cNvSpPr/>
          <p:nvPr/>
        </p:nvSpPr>
        <p:spPr>
          <a:xfrm>
            <a:off x="276901" y="870000"/>
            <a:ext cx="51771" cy="129765"/>
          </a:xfrm>
          <a:prstGeom prst="roundRect">
            <a:avLst>
              <a:gd name="adj" fmla="val 88890"/>
            </a:avLst>
          </a:prstGeom>
          <a:solidFill>
            <a:srgbClr val="B561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 35"/>
          <p:cNvSpPr/>
          <p:nvPr/>
        </p:nvSpPr>
        <p:spPr>
          <a:xfrm>
            <a:off x="355479" y="881395"/>
            <a:ext cx="156157" cy="145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561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🛒</a:t>
            </a:r>
            <a:endParaRPr lang="en-US" sz="1400" dirty="0"/>
          </a:p>
        </p:txBody>
      </p:sp>
      <p:sp>
        <p:nvSpPr>
          <p:cNvPr id="6" name="Text 36"/>
          <p:cNvSpPr/>
          <p:nvPr/>
        </p:nvSpPr>
        <p:spPr>
          <a:xfrm>
            <a:off x="541217" y="874589"/>
            <a:ext cx="2900418" cy="158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050" b="1" kern="0" spc="84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СЕТЕВОЙ </a:t>
            </a:r>
            <a:r>
              <a:rPr lang="en-US" sz="1050" b="1" kern="0" spc="84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КАНАЛ</a:t>
            </a:r>
            <a:r>
              <a:rPr lang="ru-RU" sz="1050" b="1" kern="0" spc="84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– </a:t>
            </a:r>
            <a:r>
              <a:rPr lang="ru-RU" sz="1050" b="1" kern="0" spc="84" dirty="0" err="1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Лемана</a:t>
            </a:r>
            <a:r>
              <a:rPr lang="ru-RU" sz="1050" b="1" kern="0" spc="84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Про</a:t>
            </a:r>
            <a:endParaRPr lang="en-US" sz="1050" dirty="0"/>
          </a:p>
        </p:txBody>
      </p:sp>
      <p:sp>
        <p:nvSpPr>
          <p:cNvPr id="7" name="Text 37"/>
          <p:cNvSpPr/>
          <p:nvPr/>
        </p:nvSpPr>
        <p:spPr>
          <a:xfrm>
            <a:off x="257717" y="1732201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900" dirty="0"/>
          </a:p>
        </p:txBody>
      </p:sp>
      <p:sp>
        <p:nvSpPr>
          <p:cNvPr id="8" name="Text 38"/>
          <p:cNvSpPr/>
          <p:nvPr/>
        </p:nvSpPr>
        <p:spPr>
          <a:xfrm>
            <a:off x="399091" y="1728084"/>
            <a:ext cx="3065249" cy="17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Лемана Про: </a:t>
            </a:r>
            <a:r>
              <a:rPr lang="en-US" sz="900" b="1" dirty="0">
                <a:latin typeface="+mj-lt"/>
                <a:ea typeface="Courier New" pitchFamily="34" charset="-122"/>
                <a:cs typeface="Courier New" pitchFamily="34" charset="-120"/>
              </a:rPr>
              <a:t>11 ТТ</a:t>
            </a: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 в ЮФО</a:t>
            </a:r>
            <a:endParaRPr lang="en-US" sz="900" dirty="0">
              <a:latin typeface="+mj-lt"/>
            </a:endParaRPr>
          </a:p>
        </p:txBody>
      </p:sp>
      <p:sp>
        <p:nvSpPr>
          <p:cNvPr id="9" name="Text 39"/>
          <p:cNvSpPr/>
          <p:nvPr/>
        </p:nvSpPr>
        <p:spPr>
          <a:xfrm>
            <a:off x="257717" y="1902535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900" dirty="0"/>
          </a:p>
        </p:txBody>
      </p:sp>
      <p:sp>
        <p:nvSpPr>
          <p:cNvPr id="10" name="Text 40"/>
          <p:cNvSpPr/>
          <p:nvPr/>
        </p:nvSpPr>
        <p:spPr>
          <a:xfrm>
            <a:off x="399092" y="1904357"/>
            <a:ext cx="1215824" cy="13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РК на экранах </a:t>
            </a:r>
            <a:r>
              <a:rPr lang="en-US" sz="900" dirty="0" err="1">
                <a:latin typeface="+mj-lt"/>
                <a:ea typeface="Carlito" pitchFamily="34" charset="-122"/>
                <a:cs typeface="Carlito" pitchFamily="34" charset="-120"/>
              </a:rPr>
              <a:t>Ростова</a:t>
            </a:r>
            <a:r>
              <a:rPr lang="en-US" sz="900" dirty="0" smtClean="0">
                <a:latin typeface="+mj-lt"/>
                <a:ea typeface="Carlito" pitchFamily="34" charset="-122"/>
                <a:cs typeface="Carlito" pitchFamily="34" charset="-120"/>
              </a:rPr>
              <a:t>:</a:t>
            </a:r>
            <a:r>
              <a:rPr lang="ru-RU" sz="900" dirty="0" smtClean="0">
                <a:latin typeface="+mj-lt"/>
                <a:ea typeface="Carlito" pitchFamily="34" charset="-122"/>
                <a:cs typeface="Carlito" pitchFamily="34" charset="-120"/>
              </a:rPr>
              <a:t> </a:t>
            </a:r>
            <a:r>
              <a:rPr lang="ru-RU" sz="900" b="1" dirty="0" smtClean="0">
                <a:latin typeface="+mj-lt"/>
                <a:ea typeface="Carlito" pitchFamily="34" charset="-122"/>
                <a:cs typeface="Carlito" pitchFamily="34" charset="-120"/>
              </a:rPr>
              <a:t>6 экранов</a:t>
            </a:r>
            <a:endParaRPr lang="en-US" sz="900" b="1" dirty="0">
              <a:latin typeface="+mj-lt"/>
            </a:endParaRPr>
          </a:p>
        </p:txBody>
      </p:sp>
      <p:sp>
        <p:nvSpPr>
          <p:cNvPr id="12" name="Text 42"/>
          <p:cNvSpPr/>
          <p:nvPr/>
        </p:nvSpPr>
        <p:spPr>
          <a:xfrm>
            <a:off x="257717" y="2079262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☞</a:t>
            </a:r>
            <a:endParaRPr lang="en-US" sz="900" dirty="0"/>
          </a:p>
        </p:txBody>
      </p:sp>
      <p:sp>
        <p:nvSpPr>
          <p:cNvPr id="13" name="Text 43"/>
          <p:cNvSpPr/>
          <p:nvPr/>
        </p:nvSpPr>
        <p:spPr>
          <a:xfrm>
            <a:off x="399091" y="2081540"/>
            <a:ext cx="3065249" cy="17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Таргет ВКонтакте по </a:t>
            </a:r>
            <a:r>
              <a:rPr lang="en-US" sz="900" b="1" dirty="0">
                <a:latin typeface="+mj-lt"/>
                <a:ea typeface="Courier New" pitchFamily="34" charset="-122"/>
                <a:cs typeface="Courier New" pitchFamily="34" charset="-120"/>
              </a:rPr>
              <a:t>11 ТТ</a:t>
            </a:r>
            <a:endParaRPr lang="en-US" sz="900" dirty="0">
              <a:latin typeface="+mj-lt"/>
            </a:endParaRPr>
          </a:p>
        </p:txBody>
      </p:sp>
      <p:sp>
        <p:nvSpPr>
          <p:cNvPr id="14" name="Text 44"/>
          <p:cNvSpPr/>
          <p:nvPr/>
        </p:nvSpPr>
        <p:spPr>
          <a:xfrm>
            <a:off x="257717" y="2255990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00" dirty="0"/>
          </a:p>
        </p:txBody>
      </p:sp>
      <p:sp>
        <p:nvSpPr>
          <p:cNvPr id="15" name="Text 45"/>
          <p:cNvSpPr/>
          <p:nvPr/>
        </p:nvSpPr>
        <p:spPr>
          <a:xfrm>
            <a:off x="399091" y="2259617"/>
            <a:ext cx="3065249" cy="16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Промо «Подарок за покупку» (Ростов + Краснодар)</a:t>
            </a:r>
            <a:endParaRPr lang="en-US" sz="900" dirty="0">
              <a:latin typeface="+mj-lt"/>
            </a:endParaRPr>
          </a:p>
        </p:txBody>
      </p:sp>
      <p:sp>
        <p:nvSpPr>
          <p:cNvPr id="16" name="Text 46"/>
          <p:cNvSpPr/>
          <p:nvPr/>
        </p:nvSpPr>
        <p:spPr>
          <a:xfrm>
            <a:off x="257717" y="2419180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900" dirty="0"/>
          </a:p>
        </p:txBody>
      </p:sp>
      <p:sp>
        <p:nvSpPr>
          <p:cNvPr id="17" name="Text 47"/>
          <p:cNvSpPr/>
          <p:nvPr/>
        </p:nvSpPr>
        <p:spPr>
          <a:xfrm>
            <a:off x="399091" y="2427852"/>
            <a:ext cx="3065249" cy="179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Кэшбек </a:t>
            </a:r>
            <a:r>
              <a:rPr lang="en-US" sz="900" b="1" dirty="0">
                <a:latin typeface="+mj-lt"/>
                <a:ea typeface="Liberation Sans Narrow" pitchFamily="34" charset="-122"/>
                <a:cs typeface="Liberation Sans Narrow" pitchFamily="34" charset="-120"/>
              </a:rPr>
              <a:t>5%</a:t>
            </a: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 на TITAN (все </a:t>
            </a:r>
            <a:r>
              <a:rPr lang="en-US" sz="900" b="1" dirty="0">
                <a:latin typeface="+mj-lt"/>
                <a:ea typeface="Courier New" pitchFamily="34" charset="-122"/>
                <a:cs typeface="Courier New" pitchFamily="34" charset="-120"/>
              </a:rPr>
              <a:t>11 ТТ</a:t>
            </a: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)</a:t>
            </a:r>
            <a:endParaRPr lang="en-US" sz="900" dirty="0">
              <a:latin typeface="+mj-lt"/>
            </a:endParaRPr>
          </a:p>
        </p:txBody>
      </p:sp>
      <p:sp>
        <p:nvSpPr>
          <p:cNvPr id="18" name="Text 48"/>
          <p:cNvSpPr/>
          <p:nvPr/>
        </p:nvSpPr>
        <p:spPr>
          <a:xfrm>
            <a:off x="257717" y="2602302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900" dirty="0"/>
          </a:p>
        </p:txBody>
      </p:sp>
      <p:sp>
        <p:nvSpPr>
          <p:cNvPr id="19" name="Text 49"/>
          <p:cNvSpPr/>
          <p:nvPr/>
        </p:nvSpPr>
        <p:spPr>
          <a:xfrm>
            <a:off x="399091" y="2610974"/>
            <a:ext cx="3065249" cy="179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Мастер-классы: </a:t>
            </a:r>
            <a:r>
              <a:rPr lang="en-US" sz="900" b="1" dirty="0">
                <a:latin typeface="+mj-lt"/>
                <a:ea typeface="Courier New" pitchFamily="34" charset="-122"/>
                <a:cs typeface="Courier New" pitchFamily="34" charset="-120"/>
              </a:rPr>
              <a:t>3 ТТ</a:t>
            </a: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 в Ростове</a:t>
            </a:r>
            <a:endParaRPr lang="en-US" sz="900" dirty="0">
              <a:latin typeface="+mj-lt"/>
            </a:endParaRPr>
          </a:p>
        </p:txBody>
      </p:sp>
      <p:sp>
        <p:nvSpPr>
          <p:cNvPr id="20" name="Text 50"/>
          <p:cNvSpPr/>
          <p:nvPr/>
        </p:nvSpPr>
        <p:spPr>
          <a:xfrm>
            <a:off x="257717" y="2791818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00" dirty="0"/>
          </a:p>
        </p:txBody>
      </p:sp>
      <p:sp>
        <p:nvSpPr>
          <p:cNvPr id="21" name="Text 51"/>
          <p:cNvSpPr/>
          <p:nvPr/>
        </p:nvSpPr>
        <p:spPr>
          <a:xfrm>
            <a:off x="399094" y="2780852"/>
            <a:ext cx="1330516" cy="13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Веерные выкрасы B2B:</a:t>
            </a:r>
            <a:endParaRPr lang="en-US" sz="900" dirty="0">
              <a:latin typeface="+mj-lt"/>
            </a:endParaRPr>
          </a:p>
        </p:txBody>
      </p:sp>
      <p:sp>
        <p:nvSpPr>
          <p:cNvPr id="23" name="Text 53"/>
          <p:cNvSpPr/>
          <p:nvPr/>
        </p:nvSpPr>
        <p:spPr>
          <a:xfrm>
            <a:off x="257717" y="2974940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⌧</a:t>
            </a:r>
            <a:endParaRPr lang="en-US" sz="900" dirty="0"/>
          </a:p>
        </p:txBody>
      </p:sp>
      <p:sp>
        <p:nvSpPr>
          <p:cNvPr id="24" name="Text 54"/>
          <p:cNvSpPr/>
          <p:nvPr/>
        </p:nvSpPr>
        <p:spPr>
          <a:xfrm>
            <a:off x="411879" y="2970823"/>
            <a:ext cx="3065249" cy="179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 err="1">
                <a:latin typeface="+mj-lt"/>
                <a:ea typeface="Carlito" pitchFamily="34" charset="-122"/>
                <a:cs typeface="Carlito" pitchFamily="34" charset="-120"/>
              </a:rPr>
              <a:t>Скидка</a:t>
            </a: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 </a:t>
            </a:r>
            <a:r>
              <a:rPr lang="en-US" sz="900" dirty="0" smtClean="0">
                <a:latin typeface="+mj-lt"/>
                <a:ea typeface="Carlito" pitchFamily="34" charset="-122"/>
                <a:cs typeface="Carlito" pitchFamily="34" charset="-120"/>
              </a:rPr>
              <a:t>10% + 10% (</a:t>
            </a: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жёлтый ценник) с </a:t>
            </a:r>
            <a:r>
              <a:rPr lang="en-US" sz="900" b="1" dirty="0" smtClean="0">
                <a:latin typeface="+mj-lt"/>
                <a:ea typeface="Liberation Sans Narrow" pitchFamily="34" charset="-122"/>
                <a:cs typeface="Liberation Sans Narrow" pitchFamily="34" charset="-120"/>
              </a:rPr>
              <a:t>01.08 - 30.09</a:t>
            </a:r>
            <a:endParaRPr lang="en-US" sz="900" dirty="0">
              <a:latin typeface="+mj-lt"/>
            </a:endParaRPr>
          </a:p>
        </p:txBody>
      </p:sp>
      <p:pic>
        <p:nvPicPr>
          <p:cNvPr id="25" name="Picture 2" descr="C:\Users\zakolodniy\Downloads\Анализ статистики Лемана ПРо за 02.10.2026\01_monthly_tren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245" y="132311"/>
            <a:ext cx="5083791" cy="230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zakolodniy\Downloads\Анализ статистики Лемана ПРо за 02.10.2026\05_shop_performance_stock_transi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245" y="2531602"/>
            <a:ext cx="5083791" cy="2433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hape 33"/>
          <p:cNvSpPr/>
          <p:nvPr/>
        </p:nvSpPr>
        <p:spPr>
          <a:xfrm>
            <a:off x="248636" y="3284254"/>
            <a:ext cx="3221404" cy="0"/>
          </a:xfrm>
          <a:prstGeom prst="line">
            <a:avLst/>
          </a:prstGeom>
          <a:noFill/>
          <a:ln w="7144">
            <a:solidFill>
              <a:srgbClr val="D9D2C2"/>
            </a:solidFill>
            <a:prstDash val="solid"/>
          </a:ln>
        </p:spPr>
      </p:sp>
      <p:sp>
        <p:nvSpPr>
          <p:cNvPr id="29" name="Text 54"/>
          <p:cNvSpPr/>
          <p:nvPr/>
        </p:nvSpPr>
        <p:spPr>
          <a:xfrm>
            <a:off x="290423" y="1186514"/>
            <a:ext cx="3065249" cy="179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35"/>
              </a:lnSpc>
              <a:buNone/>
            </a:pPr>
            <a:r>
              <a:rPr lang="ru-RU" sz="1050" b="1" dirty="0" smtClean="0"/>
              <a:t>Запуск продаж 01.06.2026 – 30.09.2026</a:t>
            </a:r>
            <a:endParaRPr lang="en-US" sz="1050" b="1" dirty="0"/>
          </a:p>
        </p:txBody>
      </p:sp>
      <p:sp>
        <p:nvSpPr>
          <p:cNvPr id="32" name="Text 54"/>
          <p:cNvSpPr/>
          <p:nvPr/>
        </p:nvSpPr>
        <p:spPr>
          <a:xfrm>
            <a:off x="316224" y="3336358"/>
            <a:ext cx="3065249" cy="179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35"/>
              </a:lnSpc>
              <a:buNone/>
            </a:pPr>
            <a:r>
              <a:rPr lang="ru-RU" sz="1050" b="1" dirty="0" smtClean="0"/>
              <a:t>Поддержка 01.010.2026 – 30.10.2026</a:t>
            </a:r>
            <a:endParaRPr lang="en-US" sz="1050" b="1" dirty="0"/>
          </a:p>
        </p:txBody>
      </p:sp>
      <p:sp>
        <p:nvSpPr>
          <p:cNvPr id="33" name="Text 39"/>
          <p:cNvSpPr/>
          <p:nvPr/>
        </p:nvSpPr>
        <p:spPr>
          <a:xfrm>
            <a:off x="284030" y="3696917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900" dirty="0"/>
          </a:p>
        </p:txBody>
      </p:sp>
      <p:sp>
        <p:nvSpPr>
          <p:cNvPr id="34" name="Text 40"/>
          <p:cNvSpPr/>
          <p:nvPr/>
        </p:nvSpPr>
        <p:spPr>
          <a:xfrm>
            <a:off x="419011" y="3685951"/>
            <a:ext cx="1215824" cy="13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РК на экранах </a:t>
            </a:r>
            <a:r>
              <a:rPr lang="en-US" sz="900" dirty="0" err="1">
                <a:latin typeface="+mj-lt"/>
                <a:ea typeface="Carlito" pitchFamily="34" charset="-122"/>
                <a:cs typeface="Carlito" pitchFamily="34" charset="-120"/>
              </a:rPr>
              <a:t>Ростова</a:t>
            </a:r>
            <a:r>
              <a:rPr lang="en-US" sz="900" dirty="0" smtClean="0">
                <a:latin typeface="+mj-lt"/>
                <a:ea typeface="Carlito" pitchFamily="34" charset="-122"/>
                <a:cs typeface="Carlito" pitchFamily="34" charset="-120"/>
              </a:rPr>
              <a:t>:</a:t>
            </a:r>
            <a:r>
              <a:rPr lang="ru-RU" sz="900" dirty="0" smtClean="0">
                <a:latin typeface="+mj-lt"/>
                <a:ea typeface="Carlito" pitchFamily="34" charset="-122"/>
                <a:cs typeface="Carlito" pitchFamily="34" charset="-120"/>
              </a:rPr>
              <a:t> 2 экрана</a:t>
            </a:r>
            <a:endParaRPr lang="en-US" sz="900" dirty="0">
              <a:latin typeface="+mj-lt"/>
            </a:endParaRPr>
          </a:p>
        </p:txBody>
      </p:sp>
      <p:sp>
        <p:nvSpPr>
          <p:cNvPr id="36" name="Text 48"/>
          <p:cNvSpPr/>
          <p:nvPr/>
        </p:nvSpPr>
        <p:spPr>
          <a:xfrm>
            <a:off x="276884" y="3546015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900" dirty="0"/>
          </a:p>
        </p:txBody>
      </p:sp>
      <p:sp>
        <p:nvSpPr>
          <p:cNvPr id="37" name="Text 49"/>
          <p:cNvSpPr/>
          <p:nvPr/>
        </p:nvSpPr>
        <p:spPr>
          <a:xfrm>
            <a:off x="405470" y="3529541"/>
            <a:ext cx="3065249" cy="179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Мастер-классы: </a:t>
            </a:r>
            <a:r>
              <a:rPr lang="en-US" sz="900" b="1" dirty="0">
                <a:latin typeface="+mj-lt"/>
                <a:ea typeface="Courier New" pitchFamily="34" charset="-122"/>
                <a:cs typeface="Courier New" pitchFamily="34" charset="-120"/>
              </a:rPr>
              <a:t>3 ТТ</a:t>
            </a: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 в Ростове</a:t>
            </a:r>
            <a:endParaRPr lang="en-US" sz="9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29298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228602" y="28337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547" dirty="0"/>
          </a:p>
        </p:txBody>
      </p:sp>
      <p:sp>
        <p:nvSpPr>
          <p:cNvPr id="3" name="Text 2"/>
          <p:cNvSpPr/>
          <p:nvPr/>
        </p:nvSpPr>
        <p:spPr>
          <a:xfrm>
            <a:off x="305885" y="272942"/>
            <a:ext cx="77045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00" b="1" kern="0" spc="113" dirty="0">
                <a:solidFill>
                  <a:schemeClr val="tx1">
                    <a:lumMod val="50000"/>
                    <a:lumOff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TITAN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 5"/>
          <p:cNvSpPr/>
          <p:nvPr/>
        </p:nvSpPr>
        <p:spPr>
          <a:xfrm>
            <a:off x="1118897" y="284939"/>
            <a:ext cx="138051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200" b="1" kern="0" spc="56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СДЕЛАНО</a:t>
            </a:r>
            <a:endParaRPr lang="en-US" sz="1200" dirty="0"/>
          </a:p>
        </p:txBody>
      </p:sp>
      <p:sp>
        <p:nvSpPr>
          <p:cNvPr id="5" name="Text 6"/>
          <p:cNvSpPr/>
          <p:nvPr/>
        </p:nvSpPr>
        <p:spPr>
          <a:xfrm>
            <a:off x="7633311" y="245936"/>
            <a:ext cx="1139029" cy="232029"/>
          </a:xfrm>
          <a:prstGeom prst="roundRect">
            <a:avLst>
              <a:gd name="adj" fmla="val 24631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8"/>
          <p:cNvSpPr/>
          <p:nvPr/>
        </p:nvSpPr>
        <p:spPr>
          <a:xfrm>
            <a:off x="7851542" y="314272"/>
            <a:ext cx="70220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kern="0" spc="28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ЭТАП 1 · АКТИВЕН</a:t>
            </a:r>
            <a:endParaRPr lang="en-US" sz="600" b="1" dirty="0"/>
          </a:p>
        </p:txBody>
      </p:sp>
      <p:sp>
        <p:nvSpPr>
          <p:cNvPr id="21" name="Text 7"/>
          <p:cNvSpPr/>
          <p:nvPr/>
        </p:nvSpPr>
        <p:spPr>
          <a:xfrm>
            <a:off x="7743141" y="333375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2ECC71">
              <a:alpha val="79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Rectangle 2"/>
          <p:cNvSpPr/>
          <p:nvPr/>
        </p:nvSpPr>
        <p:spPr>
          <a:xfrm>
            <a:off x="1021010" y="230807"/>
            <a:ext cx="28000" cy="250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 11"/>
          <p:cNvSpPr/>
          <p:nvPr/>
        </p:nvSpPr>
        <p:spPr>
          <a:xfrm>
            <a:off x="233763" y="681122"/>
            <a:ext cx="2831269" cy="1721858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12"/>
          <p:cNvSpPr/>
          <p:nvPr/>
        </p:nvSpPr>
        <p:spPr>
          <a:xfrm>
            <a:off x="385762" y="1047243"/>
            <a:ext cx="2652675" cy="0"/>
          </a:xfrm>
          <a:prstGeom prst="line">
            <a:avLst/>
          </a:prstGeom>
          <a:noFill/>
          <a:ln w="7144">
            <a:solidFill>
              <a:srgbClr val="D9D2C2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385762" y="859719"/>
            <a:ext cx="21431" cy="114300"/>
          </a:xfrm>
          <a:prstGeom prst="roundRect">
            <a:avLst>
              <a:gd name="adj" fmla="val 88890"/>
            </a:avLst>
          </a:prstGeom>
          <a:solidFill>
            <a:srgbClr val="B561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4"/>
          <p:cNvSpPr/>
          <p:nvPr/>
        </p:nvSpPr>
        <p:spPr>
          <a:xfrm>
            <a:off x="464341" y="8525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B561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266" dirty="0"/>
          </a:p>
        </p:txBody>
      </p:sp>
      <p:sp>
        <p:nvSpPr>
          <p:cNvPr id="27" name="Text 15"/>
          <p:cNvSpPr/>
          <p:nvPr/>
        </p:nvSpPr>
        <p:spPr>
          <a:xfrm>
            <a:off x="650081" y="847219"/>
            <a:ext cx="23883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4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ДИСТРИБЬЮТОРСКИЙ КАНАЛ</a:t>
            </a:r>
            <a:endParaRPr lang="en-US" sz="800" dirty="0"/>
          </a:p>
        </p:txBody>
      </p:sp>
      <p:sp>
        <p:nvSpPr>
          <p:cNvPr id="28" name="Text 20"/>
          <p:cNvSpPr/>
          <p:nvPr/>
        </p:nvSpPr>
        <p:spPr>
          <a:xfrm>
            <a:off x="385760" y="116188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844" dirty="0"/>
          </a:p>
        </p:txBody>
      </p:sp>
      <p:sp>
        <p:nvSpPr>
          <p:cNvPr id="29" name="Text 21"/>
          <p:cNvSpPr/>
          <p:nvPr/>
        </p:nvSpPr>
        <p:spPr>
          <a:xfrm>
            <a:off x="514347" y="1147601"/>
            <a:ext cx="2524088" cy="29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Пилоты: Палитра (Краснодар), И.П. Рыгалов (Пенза), Брозекс (Екатеринбург)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366710" y="141841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514347" y="1416830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Обучение: </a:t>
            </a:r>
            <a:r>
              <a:rPr lang="en-US" sz="8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регионов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en-US" sz="8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РМ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en-US" sz="8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~350 ТП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385760" y="160145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44" dirty="0"/>
          </a:p>
        </p:txBody>
      </p:sp>
      <p:sp>
        <p:nvSpPr>
          <p:cNvPr id="33" name="Text 25"/>
          <p:cNvSpPr/>
          <p:nvPr/>
        </p:nvSpPr>
        <p:spPr>
          <a:xfrm>
            <a:off x="514347" y="1587164"/>
            <a:ext cx="2524088" cy="31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POSM: </a:t>
            </a:r>
            <a:r>
              <a:rPr lang="en-US" sz="800" dirty="0" err="1">
                <a:latin typeface="Carlito" pitchFamily="34" charset="0"/>
                <a:ea typeface="Carlito" pitchFamily="34" charset="-122"/>
                <a:cs typeface="Carlito" pitchFamily="34" charset="-120"/>
              </a:rPr>
              <a:t>шелфтокеры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 smtClean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шт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 воблеры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 ценники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 листовки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500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385760" y="188496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844" dirty="0"/>
          </a:p>
        </p:txBody>
      </p:sp>
      <p:sp>
        <p:nvSpPr>
          <p:cNvPr id="35" name="Text 27"/>
          <p:cNvSpPr/>
          <p:nvPr/>
        </p:nvSpPr>
        <p:spPr>
          <a:xfrm>
            <a:off x="514347" y="1870683"/>
            <a:ext cx="2524088" cy="31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Контент: </a:t>
            </a:r>
            <a:r>
              <a:rPr lang="en-US" sz="800" dirty="0" err="1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видеоинструкция</a:t>
            </a:r>
            <a:r>
              <a:rPr lang="en-US" sz="800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en-US" sz="800" dirty="0" err="1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портфолио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</a:t>
            </a:r>
            <a:r>
              <a:rPr lang="en-US" sz="800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 err="1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видео</a:t>
            </a:r>
            <a:r>
              <a:rPr lang="en-US" sz="800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 err="1">
                <a:latin typeface="Carlito" pitchFamily="34" charset="0"/>
                <a:ea typeface="Carlito" pitchFamily="34" charset="-122"/>
                <a:cs typeface="Carlito" pitchFamily="34" charset="-120"/>
              </a:rPr>
              <a:t>для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ТП</a:t>
            </a:r>
            <a:endParaRPr lang="en-US" sz="800" dirty="0"/>
          </a:p>
        </p:txBody>
      </p:sp>
      <p:sp>
        <p:nvSpPr>
          <p:cNvPr id="36" name="Shape 28"/>
          <p:cNvSpPr/>
          <p:nvPr/>
        </p:nvSpPr>
        <p:spPr>
          <a:xfrm>
            <a:off x="385762" y="2157771"/>
            <a:ext cx="2652675" cy="0"/>
          </a:xfrm>
          <a:prstGeom prst="line">
            <a:avLst/>
          </a:prstGeom>
          <a:noFill/>
          <a:ln w="7144">
            <a:solidFill>
              <a:srgbClr val="D9D2C2"/>
            </a:solidFill>
            <a:prstDash val="dash"/>
          </a:ln>
        </p:spPr>
      </p:sp>
      <p:sp>
        <p:nvSpPr>
          <p:cNvPr id="60" name="Text 68"/>
          <p:cNvSpPr/>
          <p:nvPr/>
        </p:nvSpPr>
        <p:spPr>
          <a:xfrm>
            <a:off x="296465" y="2693476"/>
            <a:ext cx="2831381" cy="1721857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69"/>
          <p:cNvSpPr/>
          <p:nvPr/>
        </p:nvSpPr>
        <p:spPr>
          <a:xfrm>
            <a:off x="385762" y="2982798"/>
            <a:ext cx="2652787" cy="0"/>
          </a:xfrm>
          <a:prstGeom prst="line">
            <a:avLst/>
          </a:prstGeom>
          <a:noFill/>
          <a:ln w="7144">
            <a:solidFill>
              <a:srgbClr val="D9D2C2"/>
            </a:solidFill>
            <a:prstDash val="solid"/>
          </a:ln>
        </p:spPr>
      </p:sp>
      <p:sp>
        <p:nvSpPr>
          <p:cNvPr id="62" name="Text 70"/>
          <p:cNvSpPr/>
          <p:nvPr/>
        </p:nvSpPr>
        <p:spPr>
          <a:xfrm>
            <a:off x="385762" y="2795274"/>
            <a:ext cx="21431" cy="114300"/>
          </a:xfrm>
          <a:prstGeom prst="roundRect">
            <a:avLst>
              <a:gd name="adj" fmla="val 88890"/>
            </a:avLst>
          </a:prstGeom>
          <a:solidFill>
            <a:srgbClr val="B561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71"/>
          <p:cNvSpPr/>
          <p:nvPr/>
        </p:nvSpPr>
        <p:spPr>
          <a:xfrm>
            <a:off x="464342" y="27881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B561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64" name="Text 72"/>
          <p:cNvSpPr/>
          <p:nvPr/>
        </p:nvSpPr>
        <p:spPr>
          <a:xfrm>
            <a:off x="650079" y="2782774"/>
            <a:ext cx="238846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4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B2B КАНАЛ</a:t>
            </a:r>
            <a:endParaRPr lang="en-US" sz="800" dirty="0"/>
          </a:p>
        </p:txBody>
      </p:sp>
      <p:sp>
        <p:nvSpPr>
          <p:cNvPr id="65" name="Text 73"/>
          <p:cNvSpPr/>
          <p:nvPr/>
        </p:nvSpPr>
        <p:spPr>
          <a:xfrm>
            <a:off x="385760" y="308638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844" dirty="0"/>
          </a:p>
        </p:txBody>
      </p:sp>
      <p:sp>
        <p:nvSpPr>
          <p:cNvPr id="66" name="Text 74"/>
          <p:cNvSpPr/>
          <p:nvPr/>
        </p:nvSpPr>
        <p:spPr>
          <a:xfrm>
            <a:off x="514350" y="3072094"/>
            <a:ext cx="2524199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Тест-образец: пробник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0,4 л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 + веерные выкрасы</a:t>
            </a:r>
            <a:endParaRPr lang="en-US" sz="800" dirty="0"/>
          </a:p>
        </p:txBody>
      </p:sp>
      <p:sp>
        <p:nvSpPr>
          <p:cNvPr id="67" name="Text 75"/>
          <p:cNvSpPr/>
          <p:nvPr/>
        </p:nvSpPr>
        <p:spPr>
          <a:xfrm>
            <a:off x="385760" y="325671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44" dirty="0"/>
          </a:p>
        </p:txBody>
      </p:sp>
      <p:sp>
        <p:nvSpPr>
          <p:cNvPr id="68" name="Text 76"/>
          <p:cNvSpPr/>
          <p:nvPr/>
        </p:nvSpPr>
        <p:spPr>
          <a:xfrm>
            <a:off x="514350" y="3242429"/>
            <a:ext cx="2524199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Листовка B2B с расчётом ССВ</a:t>
            </a:r>
            <a:endParaRPr lang="en-US" sz="800" dirty="0"/>
          </a:p>
        </p:txBody>
      </p:sp>
      <p:sp>
        <p:nvSpPr>
          <p:cNvPr id="69" name="Text 77"/>
          <p:cNvSpPr/>
          <p:nvPr/>
        </p:nvSpPr>
        <p:spPr>
          <a:xfrm>
            <a:off x="385760" y="341990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844" dirty="0"/>
          </a:p>
        </p:txBody>
      </p:sp>
      <p:sp>
        <p:nvSpPr>
          <p:cNvPr id="70" name="Text 78"/>
          <p:cNvSpPr/>
          <p:nvPr/>
        </p:nvSpPr>
        <p:spPr>
          <a:xfrm>
            <a:off x="514350" y="3405619"/>
            <a:ext cx="2524199" cy="29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6 инструментов: тест-образец, листовка, инфлюенсер, маржа, портфолио</a:t>
            </a:r>
            <a:endParaRPr lang="en-US" sz="800" dirty="0"/>
          </a:p>
        </p:txBody>
      </p:sp>
      <p:sp>
        <p:nvSpPr>
          <p:cNvPr id="71" name="Text 79"/>
          <p:cNvSpPr/>
          <p:nvPr/>
        </p:nvSpPr>
        <p:spPr>
          <a:xfrm>
            <a:off x="385760" y="368913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844" dirty="0"/>
          </a:p>
        </p:txBody>
      </p:sp>
      <p:sp>
        <p:nvSpPr>
          <p:cNvPr id="72" name="Text 80"/>
          <p:cNvSpPr/>
          <p:nvPr/>
        </p:nvSpPr>
        <p:spPr>
          <a:xfrm>
            <a:off x="514350" y="3674849"/>
            <a:ext cx="2524199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маржинальности по фасовкам (8,5 л выгоднее)</a:t>
            </a:r>
            <a:endParaRPr lang="en-US" sz="800" dirty="0"/>
          </a:p>
        </p:txBody>
      </p:sp>
      <p:sp>
        <p:nvSpPr>
          <p:cNvPr id="73" name="Shape 81"/>
          <p:cNvSpPr/>
          <p:nvPr/>
        </p:nvSpPr>
        <p:spPr>
          <a:xfrm>
            <a:off x="385762" y="3898760"/>
            <a:ext cx="2652787" cy="0"/>
          </a:xfrm>
          <a:prstGeom prst="line">
            <a:avLst/>
          </a:prstGeom>
          <a:noFill/>
          <a:ln w="7144">
            <a:solidFill>
              <a:srgbClr val="D9D2C2"/>
            </a:solidFill>
            <a:prstDash val="dash"/>
          </a:ln>
        </p:spPr>
      </p:sp>
      <p:sp>
        <p:nvSpPr>
          <p:cNvPr id="40" name="Rectangle 1"/>
          <p:cNvSpPr>
            <a:spLocks noChangeArrowheads="1"/>
          </p:cNvSpPr>
          <p:nvPr/>
        </p:nvSpPr>
        <p:spPr bwMode="auto">
          <a:xfrm>
            <a:off x="3200784" y="516554"/>
            <a:ext cx="5695566" cy="196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1100" b="1" dirty="0" smtClean="0">
                <a:latin typeface="Arial" charset="0"/>
                <a:cs typeface="Arial" charset="0"/>
              </a:rPr>
              <a:t>9 месяцев 2025 </a:t>
            </a:r>
            <a:r>
              <a:rPr lang="en-US" sz="1100" b="1" dirty="0" err="1" smtClean="0">
                <a:latin typeface="Arial" charset="0"/>
                <a:cs typeface="Arial" charset="0"/>
              </a:rPr>
              <a:t>vs</a:t>
            </a:r>
            <a:r>
              <a:rPr lang="en-US" sz="1100" b="1" dirty="0" smtClean="0">
                <a:latin typeface="Arial" charset="0"/>
                <a:cs typeface="Arial" charset="0"/>
              </a:rPr>
              <a:t> 9 </a:t>
            </a:r>
            <a:r>
              <a:rPr lang="ru-RU" sz="1100" b="1" dirty="0" smtClean="0">
                <a:latin typeface="Arial" charset="0"/>
                <a:cs typeface="Arial" charset="0"/>
              </a:rPr>
              <a:t>месяцев 2026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1100" b="1" dirty="0" smtClean="0">
                <a:latin typeface="Arial" charset="0"/>
                <a:cs typeface="Arial" charset="0"/>
              </a:rPr>
              <a:t> </a:t>
            </a:r>
            <a:endParaRPr kumimoji="0" lang="ru-RU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1. БРОЗЭКС — АКБ: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108 → 125 клиентов (+15.7%)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2. Рыгалов — АКБ: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82 → 100 клиентов (+22.0%)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3. БРОЗЭКС — Товарооборот: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2 014 796 ₽ → 3 439 931 ₽ (+70.7%)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4. Рыгалов — Товарооборот: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2 555 783 ₽ → 2 690 942 ₽ (+5.3%)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💡 Вывод по БРОЗЭКС: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Товарооборот растёт быстрее АКБ (+70,7% </a:t>
            </a:r>
            <a:r>
              <a:rPr kumimoji="0" lang="ru-RU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vs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+15,7%) — означает рост среднего чека на клиента. Эффективная работа с существующей базой + расширение.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💡 Вывод по Рыгалову: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АКБ растёт быстрее товарооборота (+22,0% </a:t>
            </a:r>
            <a:r>
              <a:rPr kumimoji="0" lang="ru-RU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vs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+5,3%) — новые клиенты дают меньший чек. Требуется работа по увеличению среднего объёма закупок. </a:t>
            </a:r>
          </a:p>
        </p:txBody>
      </p:sp>
    </p:spTree>
    <p:extLst>
      <p:ext uri="{BB962C8B-B14F-4D97-AF65-F5344CB8AC3E}">
        <p14:creationId xmlns:p14="http://schemas.microsoft.com/office/powerpoint/2010/main" val="2412404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99496"/>
            <a:ext cx="12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kern="0" spc="113" dirty="0">
                <a:solidFill>
                  <a:schemeClr val="tx1">
                    <a:lumMod val="50000"/>
                    <a:lumOff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TITAN</a:t>
            </a:r>
          </a:p>
        </p:txBody>
      </p:sp>
      <p:sp>
        <p:nvSpPr>
          <p:cNvPr id="3" name="Rectangle 2"/>
          <p:cNvSpPr/>
          <p:nvPr/>
        </p:nvSpPr>
        <p:spPr>
          <a:xfrm>
            <a:off x="991515" y="190001"/>
            <a:ext cx="28000" cy="250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111" y="233564"/>
            <a:ext cx="3698766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06"/>
              </a:lnSpc>
            </a:pPr>
            <a:r>
              <a:rPr sz="1200" b="1" kern="0" spc="56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ПРОЕКТ</a:t>
            </a:r>
            <a:r>
              <a:rPr lang="ru-RU" sz="1200" b="1" kern="0" spc="56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БЕЛЫЕ ПЯТНА </a:t>
            </a:r>
            <a:endParaRPr sz="1200" b="1" kern="0" spc="56" dirty="0">
              <a:solidFill>
                <a:srgbClr val="2F3A48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99151" y="172304"/>
            <a:ext cx="1605960" cy="28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48141" y="241798"/>
            <a:ext cx="15459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150" dirty="0"/>
              <a:t>Q4 2026 · В РАБОТЕ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014" y="554767"/>
            <a:ext cx="8686800" cy="2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115" y="778715"/>
            <a:ext cx="6071400" cy="361251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0505" y="778715"/>
            <a:ext cx="2860000" cy="3594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70505" y="922736"/>
            <a:ext cx="27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 dirty="0">
                <a:latin typeface="Inter"/>
              </a:rPr>
              <a:t>ГРАФИК ВСТРЕЧ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0505" y="1132737"/>
            <a:ext cx="2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latin typeface="Inter"/>
              </a:rPr>
              <a:t>5 </a:t>
            </a:r>
            <a:r>
              <a:rPr sz="900" b="0" dirty="0" err="1">
                <a:latin typeface="Inter"/>
              </a:rPr>
              <a:t>регионов</a:t>
            </a:r>
            <a:r>
              <a:rPr sz="900" b="0" dirty="0">
                <a:latin typeface="Inter"/>
              </a:rPr>
              <a:t> · 5+ </a:t>
            </a:r>
            <a:r>
              <a:rPr sz="900" b="0" dirty="0" err="1">
                <a:latin typeface="Inter"/>
              </a:rPr>
              <a:t>дистрибьюторов</a:t>
            </a:r>
            <a:endParaRPr sz="900" b="0" dirty="0">
              <a:latin typeface="Inte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70505" y="1313366"/>
            <a:ext cx="2700000" cy="4571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1010" y="1419605"/>
            <a:ext cx="320000" cy="32313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1010" y="1472735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0505" y="1422736"/>
            <a:ext cx="16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F3A48"/>
                </a:solidFill>
                <a:latin typeface="Inter"/>
              </a:rPr>
              <a:t>Барнаул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0505" y="1622736"/>
            <a:ext cx="16000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dirty="0" err="1">
                <a:latin typeface="Inter"/>
              </a:rPr>
              <a:t>Алтайский</a:t>
            </a:r>
            <a:r>
              <a:rPr sz="850" b="0" dirty="0">
                <a:latin typeface="Inter"/>
              </a:rPr>
              <a:t> </a:t>
            </a:r>
            <a:r>
              <a:rPr sz="850" b="0" dirty="0" err="1">
                <a:latin typeface="Inter"/>
              </a:rPr>
              <a:t>край</a:t>
            </a:r>
            <a:endParaRPr sz="850" b="0" dirty="0"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40505" y="1782736"/>
            <a:ext cx="1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 dirty="0" err="1">
                <a:solidFill>
                  <a:srgbClr val="C00000"/>
                </a:solidFill>
                <a:latin typeface="Inter"/>
              </a:rPr>
              <a:t>Олимп</a:t>
            </a:r>
            <a:endParaRPr sz="900" b="0" spc="20" dirty="0">
              <a:solidFill>
                <a:srgbClr val="C00000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40506" y="1422736"/>
            <a:ext cx="15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dirty="0" smtClean="0">
                <a:solidFill>
                  <a:srgbClr val="2F3A48"/>
                </a:solidFill>
                <a:latin typeface="Roboto Mono"/>
              </a:rPr>
              <a:t>13</a:t>
            </a:r>
            <a:r>
              <a:rPr lang="en-US" sz="900" b="1" dirty="0" smtClean="0">
                <a:solidFill>
                  <a:srgbClr val="2F3A48"/>
                </a:solidFill>
                <a:latin typeface="Roboto Mono"/>
              </a:rPr>
              <a:t>-16.10.2026</a:t>
            </a:r>
            <a:endParaRPr sz="900" b="1" dirty="0">
              <a:solidFill>
                <a:srgbClr val="2F3A48"/>
              </a:solidFill>
              <a:latin typeface="Roboto Mono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70505" y="1950766"/>
            <a:ext cx="2700000" cy="4571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41010" y="2017706"/>
            <a:ext cx="320000" cy="32313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1010" y="2070835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0505" y="2020835"/>
            <a:ext cx="16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F3A48"/>
                </a:solidFill>
                <a:latin typeface="Inter"/>
              </a:rPr>
              <a:t>Красноярск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0505" y="2220836"/>
            <a:ext cx="16000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dirty="0" err="1">
                <a:latin typeface="Inter"/>
              </a:rPr>
              <a:t>Красноярский</a:t>
            </a:r>
            <a:r>
              <a:rPr sz="850" b="0" dirty="0">
                <a:latin typeface="Inter"/>
              </a:rPr>
              <a:t> </a:t>
            </a:r>
            <a:r>
              <a:rPr sz="850" b="0" dirty="0" err="1">
                <a:latin typeface="Inter"/>
              </a:rPr>
              <a:t>край</a:t>
            </a:r>
            <a:endParaRPr sz="850" b="0" dirty="0">
              <a:latin typeface="Inter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40505" y="2386735"/>
            <a:ext cx="1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 dirty="0">
                <a:solidFill>
                  <a:srgbClr val="C00000"/>
                </a:solidFill>
                <a:latin typeface="Inter"/>
              </a:rPr>
              <a:t>ООО «ОЧАГ»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1826" y="2020836"/>
            <a:ext cx="95868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dirty="0" smtClean="0">
                <a:solidFill>
                  <a:srgbClr val="2F3A48"/>
                </a:solidFill>
                <a:latin typeface="Roboto Mono"/>
              </a:rPr>
              <a:t>05</a:t>
            </a:r>
            <a:r>
              <a:rPr lang="en-US" sz="900" b="1" dirty="0" smtClean="0">
                <a:solidFill>
                  <a:srgbClr val="2F3A48"/>
                </a:solidFill>
                <a:latin typeface="Roboto Mono"/>
              </a:rPr>
              <a:t>-</a:t>
            </a:r>
            <a:r>
              <a:rPr sz="900" b="1" dirty="0" smtClean="0">
                <a:solidFill>
                  <a:srgbClr val="2F3A48"/>
                </a:solidFill>
                <a:latin typeface="Roboto Mono"/>
              </a:rPr>
              <a:t>11.11</a:t>
            </a:r>
            <a:r>
              <a:rPr lang="en-US" sz="900" b="1" dirty="0" smtClean="0">
                <a:solidFill>
                  <a:srgbClr val="2F3A48"/>
                </a:solidFill>
                <a:latin typeface="Roboto Mono"/>
              </a:rPr>
              <a:t>.2026</a:t>
            </a:r>
            <a:endParaRPr sz="900" b="1" dirty="0">
              <a:solidFill>
                <a:srgbClr val="2F3A48"/>
              </a:solidFill>
              <a:latin typeface="Roboto Mono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70505" y="2529816"/>
            <a:ext cx="2700000" cy="4571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41010" y="2603106"/>
            <a:ext cx="320000" cy="32313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41010" y="2656235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0505" y="2606236"/>
            <a:ext cx="16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 err="1">
                <a:latin typeface="Inter"/>
              </a:rPr>
              <a:t>Улан-Удэ</a:t>
            </a:r>
            <a:endParaRPr sz="1100" b="1" dirty="0">
              <a:latin typeface="Inter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40505" y="2806236"/>
            <a:ext cx="16000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dirty="0" err="1">
                <a:latin typeface="Inter"/>
              </a:rPr>
              <a:t>Республика</a:t>
            </a:r>
            <a:r>
              <a:rPr sz="850" b="0" dirty="0">
                <a:latin typeface="Inter"/>
              </a:rPr>
              <a:t> </a:t>
            </a:r>
            <a:r>
              <a:rPr sz="850" b="0" dirty="0" err="1">
                <a:latin typeface="Inter"/>
              </a:rPr>
              <a:t>Бурятия</a:t>
            </a:r>
            <a:endParaRPr sz="850" b="0" dirty="0">
              <a:latin typeface="Inter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40505" y="2959887"/>
            <a:ext cx="1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 dirty="0" err="1">
                <a:solidFill>
                  <a:srgbClr val="C00000"/>
                </a:solidFill>
                <a:latin typeface="Inter"/>
              </a:rPr>
              <a:t>Вегос</a:t>
            </a:r>
            <a:r>
              <a:rPr sz="900" b="0" spc="20" dirty="0">
                <a:solidFill>
                  <a:srgbClr val="C00000"/>
                </a:solidFill>
                <a:latin typeface="Inter"/>
              </a:rPr>
              <a:t>-М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547" y="2606237"/>
            <a:ext cx="117695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dirty="0" smtClean="0">
                <a:solidFill>
                  <a:srgbClr val="2F3A48"/>
                </a:solidFill>
                <a:latin typeface="Roboto Mono"/>
              </a:rPr>
              <a:t>19</a:t>
            </a:r>
            <a:r>
              <a:rPr lang="en-US" sz="900" b="1" dirty="0" smtClean="0">
                <a:solidFill>
                  <a:srgbClr val="2F3A48"/>
                </a:solidFill>
                <a:latin typeface="Roboto Mono"/>
              </a:rPr>
              <a:t>-</a:t>
            </a:r>
            <a:r>
              <a:rPr sz="900" b="1" dirty="0" smtClean="0">
                <a:solidFill>
                  <a:srgbClr val="2F3A48"/>
                </a:solidFill>
                <a:latin typeface="Roboto Mono"/>
              </a:rPr>
              <a:t>25.11</a:t>
            </a:r>
            <a:r>
              <a:rPr lang="en-US" sz="900" b="1" dirty="0" smtClean="0">
                <a:solidFill>
                  <a:srgbClr val="2F3A48"/>
                </a:solidFill>
                <a:latin typeface="Roboto Mono"/>
              </a:rPr>
              <a:t>.2026</a:t>
            </a:r>
            <a:endParaRPr sz="900" b="1" dirty="0">
              <a:solidFill>
                <a:srgbClr val="2F3A48"/>
              </a:solidFill>
              <a:latin typeface="Roboto Mono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270505" y="3134266"/>
            <a:ext cx="2700000" cy="4571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241010" y="3201205"/>
            <a:ext cx="320000" cy="32313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41010" y="3254335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0505" y="3204336"/>
            <a:ext cx="16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 err="1">
                <a:latin typeface="Inter"/>
              </a:rPr>
              <a:t>Омск</a:t>
            </a:r>
            <a:endParaRPr sz="1100" b="1" dirty="0">
              <a:latin typeface="Inter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40505" y="3404336"/>
            <a:ext cx="16000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dirty="0" err="1">
                <a:latin typeface="Inter"/>
              </a:rPr>
              <a:t>Омская</a:t>
            </a:r>
            <a:r>
              <a:rPr sz="850" b="0" dirty="0">
                <a:latin typeface="Inter"/>
              </a:rPr>
              <a:t> </a:t>
            </a:r>
            <a:r>
              <a:rPr sz="850" b="0" dirty="0" err="1">
                <a:latin typeface="Inter"/>
              </a:rPr>
              <a:t>область</a:t>
            </a:r>
            <a:endParaRPr sz="850" b="0" dirty="0">
              <a:latin typeface="Inter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40505" y="3564336"/>
            <a:ext cx="1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 dirty="0">
                <a:solidFill>
                  <a:srgbClr val="C00000"/>
                </a:solidFill>
                <a:latin typeface="Inter"/>
              </a:rPr>
              <a:t>ИП </a:t>
            </a:r>
            <a:r>
              <a:rPr sz="900" b="0" spc="20" dirty="0" err="1">
                <a:solidFill>
                  <a:srgbClr val="C00000"/>
                </a:solidFill>
                <a:latin typeface="Inter"/>
              </a:rPr>
              <a:t>Шишков</a:t>
            </a:r>
            <a:endParaRPr sz="900" b="0" spc="20" dirty="0">
              <a:solidFill>
                <a:srgbClr val="C00000"/>
              </a:solidFill>
              <a:latin typeface="Inter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20505" y="3204336"/>
            <a:ext cx="72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ru-RU" sz="900" b="1" dirty="0" smtClean="0">
                <a:solidFill>
                  <a:srgbClr val="2F3A48"/>
                </a:solidFill>
                <a:latin typeface="Roboto Mono"/>
              </a:rPr>
              <a:t>уточняется</a:t>
            </a:r>
            <a:endParaRPr sz="900" b="1" dirty="0">
              <a:solidFill>
                <a:srgbClr val="2F3A48"/>
              </a:solidFill>
              <a:latin typeface="Roboto Mono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270505" y="3745066"/>
            <a:ext cx="2700000" cy="4571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241010" y="3812006"/>
            <a:ext cx="320000" cy="32313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41010" y="3865135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40505" y="3815136"/>
            <a:ext cx="16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 err="1">
                <a:latin typeface="Inter"/>
              </a:rPr>
              <a:t>Казань</a:t>
            </a:r>
            <a:endParaRPr sz="1100" b="1" dirty="0">
              <a:latin typeface="Inter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640505" y="4015136"/>
            <a:ext cx="16000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Республика Татарстан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40505" y="4169237"/>
            <a:ext cx="1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 dirty="0">
                <a:solidFill>
                  <a:srgbClr val="C00000"/>
                </a:solidFill>
                <a:latin typeface="Inter"/>
              </a:rPr>
              <a:t>ТС </a:t>
            </a:r>
            <a:r>
              <a:rPr sz="900" b="0" spc="20" dirty="0" err="1">
                <a:solidFill>
                  <a:srgbClr val="C00000"/>
                </a:solidFill>
                <a:latin typeface="Inter"/>
              </a:rPr>
              <a:t>Агава</a:t>
            </a:r>
            <a:r>
              <a:rPr sz="900" b="0" spc="20" dirty="0">
                <a:solidFill>
                  <a:srgbClr val="C00000"/>
                </a:solidFill>
                <a:latin typeface="Inter"/>
              </a:rPr>
              <a:t>, </a:t>
            </a:r>
            <a:r>
              <a:rPr sz="900" b="0" spc="20" dirty="0" err="1">
                <a:solidFill>
                  <a:srgbClr val="C00000"/>
                </a:solidFill>
                <a:latin typeface="Inter"/>
              </a:rPr>
              <a:t>Карат</a:t>
            </a:r>
            <a:r>
              <a:rPr sz="900" b="0" spc="20" dirty="0">
                <a:solidFill>
                  <a:srgbClr val="C00000"/>
                </a:solidFill>
                <a:latin typeface="Inter"/>
              </a:rPr>
              <a:t>, </a:t>
            </a:r>
            <a:r>
              <a:rPr sz="900" b="0" spc="20" dirty="0" err="1">
                <a:solidFill>
                  <a:srgbClr val="C00000"/>
                </a:solidFill>
                <a:latin typeface="Inter"/>
              </a:rPr>
              <a:t>Колорит</a:t>
            </a:r>
            <a:endParaRPr sz="900" b="0" spc="20" dirty="0">
              <a:solidFill>
                <a:srgbClr val="C00000"/>
              </a:solidFill>
              <a:latin typeface="Inter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220505" y="3815136"/>
            <a:ext cx="72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ru-RU" sz="900" b="1" dirty="0">
                <a:solidFill>
                  <a:srgbClr val="2F3A48"/>
                </a:solidFill>
                <a:latin typeface="Roboto Mono"/>
              </a:rPr>
              <a:t>уточняется</a:t>
            </a:r>
          </a:p>
        </p:txBody>
      </p:sp>
      <p:pic>
        <p:nvPicPr>
          <p:cNvPr id="51" name="Picture 10" descr="white_spot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14" y="919468"/>
            <a:ext cx="5800000" cy="34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000" y="180000"/>
            <a:ext cx="88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F3A48"/>
                </a:solidFill>
                <a:latin typeface="Inter"/>
              </a:rPr>
              <a:t>Поддержка новых дистрибьюторов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0" y="160000"/>
            <a:ext cx="1800000" cy="28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0" y="205000"/>
            <a:ext cx="1800000" cy="2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150">
                <a:solidFill>
                  <a:srgbClr val="C9A77C"/>
                </a:solidFill>
                <a:latin typeface="Inter"/>
              </a:rPr>
              <a:t>ПРОГРАММА ·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40000" y="588998"/>
            <a:ext cx="8855724" cy="28575"/>
          </a:xfrm>
          <a:prstGeom prst="rect">
            <a:avLst/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200" y="960000"/>
            <a:ext cx="6066960" cy="35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1200" y="1100000"/>
            <a:ext cx="8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C00000"/>
                </a:solidFill>
                <a:latin typeface="Inter"/>
              </a:rPr>
              <a:t>4 ЭТАПА ПОДДЕРЖКИ НОВОГО ДИСТРИБЬЮТОРА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200" y="1330000"/>
            <a:ext cx="8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A95A3"/>
                </a:solidFill>
                <a:latin typeface="Inter"/>
              </a:rPr>
              <a:t>От подписания договора до первых продаж в новом регионе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1200" y="1540000"/>
            <a:ext cx="5666960" cy="20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1200" y="2060334"/>
            <a:ext cx="550696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4570" y="1780334"/>
            <a:ext cx="560000" cy="5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570" y="1890334"/>
            <a:ext cx="56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Roboto Mon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200" y="2460334"/>
            <a:ext cx="132674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2F3A48"/>
                </a:solidFill>
                <a:latin typeface="Inter"/>
              </a:rPr>
              <a:t>ПОДГОТОВКА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200" y="3080334"/>
            <a:ext cx="12467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950" dirty="0" smtClean="0">
                <a:solidFill>
                  <a:srgbClr val="8A95A3"/>
                </a:solidFill>
                <a:latin typeface="Inter"/>
              </a:rPr>
              <a:t>Согласование и подписание договора</a:t>
            </a:r>
            <a:endParaRPr sz="950" b="0" dirty="0">
              <a:solidFill>
                <a:srgbClr val="8A95A3"/>
              </a:solidFill>
              <a:latin typeface="Inter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025910" y="1779546"/>
            <a:ext cx="560000" cy="5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25910" y="1889546"/>
            <a:ext cx="56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C9A77C"/>
                </a:solidFill>
                <a:latin typeface="Roboto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4680" y="2447634"/>
            <a:ext cx="132674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dirty="0">
                <a:solidFill>
                  <a:srgbClr val="2F3A48"/>
                </a:solidFill>
                <a:latin typeface="Inter"/>
              </a:rPr>
              <a:t>ВЫСТАВКА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7940" y="2760334"/>
            <a:ext cx="13267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900" b="1" dirty="0" smtClean="0">
                <a:solidFill>
                  <a:srgbClr val="C9A77C"/>
                </a:solidFill>
                <a:latin typeface="Roboto Mono"/>
              </a:rPr>
              <a:t>15- </a:t>
            </a:r>
            <a:r>
              <a:rPr sz="900" b="1" dirty="0" smtClean="0">
                <a:solidFill>
                  <a:srgbClr val="C9A77C"/>
                </a:solidFill>
                <a:latin typeface="Roboto Mono"/>
              </a:rPr>
              <a:t>30</a:t>
            </a:r>
            <a:r>
              <a:rPr lang="ru-RU" sz="900" b="1" dirty="0" smtClean="0">
                <a:solidFill>
                  <a:srgbClr val="C9A77C"/>
                </a:solidFill>
                <a:latin typeface="Roboto Mono"/>
              </a:rPr>
              <a:t> дней</a:t>
            </a:r>
            <a:endParaRPr sz="900" b="1" dirty="0">
              <a:solidFill>
                <a:srgbClr val="C9A77C"/>
              </a:solidFill>
              <a:latin typeface="Roboto Mon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47940" y="3080334"/>
            <a:ext cx="124674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5A3"/>
                </a:solidFill>
                <a:latin typeface="Inter"/>
              </a:rPr>
              <a:t>Совместное участие Дистрибьютор + Эмпилс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18050" y="1774028"/>
            <a:ext cx="560000" cy="5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18050" y="1884028"/>
            <a:ext cx="56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C9A77C"/>
                </a:solidFill>
                <a:latin typeface="Roboto Mon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2540" y="2460334"/>
            <a:ext cx="132674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dirty="0">
                <a:solidFill>
                  <a:srgbClr val="2F3A48"/>
                </a:solidFill>
                <a:latin typeface="Inter"/>
              </a:rPr>
              <a:t>ОБУЧЕНИЕ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2760334"/>
            <a:ext cx="13267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900" b="1" dirty="0" smtClean="0">
                <a:solidFill>
                  <a:srgbClr val="C9A77C"/>
                </a:solidFill>
                <a:latin typeface="Roboto Mono"/>
              </a:rPr>
              <a:t>0</a:t>
            </a:r>
            <a:r>
              <a:rPr sz="900" b="1" dirty="0" smtClean="0">
                <a:solidFill>
                  <a:srgbClr val="C9A77C"/>
                </a:solidFill>
                <a:latin typeface="Roboto Mono"/>
              </a:rPr>
              <a:t>—</a:t>
            </a:r>
            <a:r>
              <a:rPr lang="ru-RU" sz="900" b="1" dirty="0" smtClean="0">
                <a:solidFill>
                  <a:srgbClr val="C9A77C"/>
                </a:solidFill>
                <a:latin typeface="Roboto Mono"/>
              </a:rPr>
              <a:t>9</a:t>
            </a:r>
            <a:r>
              <a:rPr sz="900" b="1" dirty="0" smtClean="0">
                <a:solidFill>
                  <a:srgbClr val="C9A77C"/>
                </a:solidFill>
                <a:latin typeface="Roboto Mono"/>
              </a:rPr>
              <a:t>0</a:t>
            </a:r>
            <a:r>
              <a:rPr lang="ru-RU" sz="900" b="1" dirty="0" smtClean="0">
                <a:solidFill>
                  <a:srgbClr val="C9A77C"/>
                </a:solidFill>
                <a:latin typeface="Roboto Mono"/>
              </a:rPr>
              <a:t> дней</a:t>
            </a:r>
            <a:endParaRPr sz="900" b="1" dirty="0">
              <a:solidFill>
                <a:srgbClr val="C9A77C"/>
              </a:solidFill>
              <a:latin typeface="Roboto Mono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94680" y="3080334"/>
            <a:ext cx="124674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5A3"/>
                </a:solidFill>
                <a:latin typeface="Inter"/>
              </a:rPr>
              <a:t>Выездное обучение с упором на продажи ФТМ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4790" y="1780334"/>
            <a:ext cx="560000" cy="5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84790" y="1890334"/>
            <a:ext cx="56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F3A48"/>
                </a:solidFill>
                <a:latin typeface="Roboto Mono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1420" y="2460334"/>
            <a:ext cx="132674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2F3A48"/>
                </a:solidFill>
                <a:latin typeface="Inter"/>
              </a:rPr>
              <a:t>СОПРОВОЖДЕНИЕ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1420" y="2760334"/>
            <a:ext cx="13267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900" b="1" dirty="0">
                <a:solidFill>
                  <a:srgbClr val="C9A77C"/>
                </a:solidFill>
                <a:latin typeface="Roboto Mono"/>
              </a:rPr>
              <a:t>0—90 дней</a:t>
            </a:r>
            <a:endParaRPr lang="ru-RU" sz="900" b="1" dirty="0">
              <a:solidFill>
                <a:srgbClr val="C9A77C"/>
              </a:solidFill>
              <a:latin typeface="Roboto Mono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41420" y="3080334"/>
            <a:ext cx="124674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5A3"/>
                </a:solidFill>
                <a:latin typeface="Inter"/>
              </a:rPr>
              <a:t>Мониторинг · KPI · Корректировка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1200" y="3993122"/>
            <a:ext cx="566696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195600" y="960000"/>
            <a:ext cx="2862000" cy="35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95600" y="1100000"/>
            <a:ext cx="246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C00000"/>
                </a:solidFill>
                <a:latin typeface="Inter"/>
              </a:rPr>
              <a:t>KPI ПРОГРАММЫ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5600" y="1330000"/>
            <a:ext cx="24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A95A3"/>
                </a:solidFill>
                <a:latin typeface="Inter"/>
              </a:rPr>
              <a:t>Метрики за первые 90 дней работы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95600" y="1540000"/>
            <a:ext cx="2462000" cy="20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20536" y="1710000"/>
            <a:ext cx="40000" cy="52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55600" y="1720000"/>
            <a:ext cx="16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Roboto Mono"/>
              </a:rPr>
              <a:t>1 выставка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5600" y="2010000"/>
            <a:ext cx="246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A95A3"/>
                </a:solidFill>
                <a:latin typeface="Inter"/>
              </a:rPr>
              <a:t>Профильное мероприятие в регионе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95600" y="2180000"/>
            <a:ext cx="246200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20536" y="2290000"/>
            <a:ext cx="40000" cy="520000"/>
          </a:xfrm>
          <a:prstGeom prst="rect">
            <a:avLst/>
          </a:prstGeom>
          <a:solidFill>
            <a:srgbClr val="C9A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55600" y="2300000"/>
            <a:ext cx="16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9A77C"/>
                </a:solidFill>
                <a:latin typeface="Roboto Mono"/>
              </a:rPr>
              <a:t>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5600" y="2590000"/>
            <a:ext cx="246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A95A3"/>
                </a:solidFill>
                <a:latin typeface="Inter"/>
              </a:rPr>
              <a:t>ТП дистрибьютора обучено продажам ФТМ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95600" y="2760000"/>
            <a:ext cx="246200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27360" y="2870000"/>
            <a:ext cx="40000" cy="520000"/>
          </a:xfrm>
          <a:prstGeom prst="rect">
            <a:avLst/>
          </a:prstGeom>
          <a:solidFill>
            <a:srgbClr val="C9A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55600" y="2880000"/>
            <a:ext cx="16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C9A77C"/>
                </a:solidFill>
                <a:latin typeface="Roboto Mono"/>
              </a:rPr>
              <a:t>30 </a:t>
            </a:r>
            <a:r>
              <a:rPr sz="1600" b="1" dirty="0" err="1">
                <a:solidFill>
                  <a:srgbClr val="C9A77C"/>
                </a:solidFill>
                <a:latin typeface="Roboto Mono"/>
              </a:rPr>
              <a:t>дней</a:t>
            </a:r>
            <a:endParaRPr sz="1600" b="1" dirty="0">
              <a:solidFill>
                <a:srgbClr val="C9A77C"/>
              </a:solidFill>
              <a:latin typeface="Roboto Mono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395600" y="3170000"/>
            <a:ext cx="246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A95A3"/>
                </a:solidFill>
                <a:latin typeface="Inter"/>
              </a:rPr>
              <a:t>От договора до первой отгрузки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95600" y="3340000"/>
            <a:ext cx="246200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334184" y="3450000"/>
            <a:ext cx="40000" cy="520000"/>
          </a:xfrm>
          <a:prstGeom prst="rect">
            <a:avLst/>
          </a:prstGeom>
          <a:solidFill>
            <a:srgbClr val="2F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55600" y="3460000"/>
            <a:ext cx="16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F3A48"/>
                </a:solidFill>
                <a:latin typeface="Roboto Mono"/>
              </a:rPr>
              <a:t>90 дней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95600" y="3750000"/>
            <a:ext cx="246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A95A3"/>
                </a:solidFill>
                <a:latin typeface="Inter"/>
              </a:rPr>
              <a:t>Период активной поддержки Эмпилс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95600" y="4010000"/>
            <a:ext cx="246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68397" y="2770334"/>
            <a:ext cx="13267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 smtClean="0">
                <a:solidFill>
                  <a:srgbClr val="C9A77C"/>
                </a:solidFill>
                <a:latin typeface="Roboto Mono"/>
              </a:rPr>
              <a:t>0</a:t>
            </a:r>
            <a:r>
              <a:rPr lang="ru-RU" sz="900" b="1" dirty="0" smtClean="0">
                <a:solidFill>
                  <a:srgbClr val="C9A77C"/>
                </a:solidFill>
                <a:latin typeface="Roboto Mono"/>
              </a:rPr>
              <a:t>-15 дней</a:t>
            </a:r>
            <a:endParaRPr sz="900" b="1" dirty="0">
              <a:solidFill>
                <a:srgbClr val="C9A77C"/>
              </a:solidFill>
              <a:latin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788782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000" y="180000"/>
            <a:ext cx="88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F3A48"/>
                </a:solidFill>
                <a:latin typeface="Inter"/>
              </a:rPr>
              <a:t>Запуск новинок · Стандартизация процесса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0000" y="560000"/>
            <a:ext cx="88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95A3"/>
                </a:solidFill>
                <a:latin typeface="Inter"/>
              </a:rPr>
              <a:t>Единый стандарт вывода новинок и поддержки в период выхода на рынок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0" y="160000"/>
            <a:ext cx="1800000" cy="28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0" y="205000"/>
            <a:ext cx="1800000" cy="2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150">
                <a:solidFill>
                  <a:srgbClr val="C9A77C"/>
                </a:solidFill>
                <a:latin typeface="Inter"/>
              </a:rPr>
              <a:t>СТАНДАРТ · ВНЕДРЕНИЕ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140000" y="800000"/>
            <a:ext cx="8855724" cy="28575"/>
          </a:xfrm>
          <a:prstGeom prst="rect">
            <a:avLst/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200" y="960000"/>
            <a:ext cx="6066960" cy="35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1200" y="1100000"/>
            <a:ext cx="8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C00000"/>
                </a:solidFill>
                <a:latin typeface="Inter"/>
              </a:rPr>
              <a:t>СТАНДАРТ ВЫВОДА НОВИНКИ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200" y="1330000"/>
            <a:ext cx="8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A95A3"/>
                </a:solidFill>
                <a:latin typeface="Inter"/>
              </a:rPr>
              <a:t>4 обязательных этапа для каждой новинки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1200" y="1540000"/>
            <a:ext cx="5666960" cy="20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1200" y="1990000"/>
            <a:ext cx="550696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4570" y="1710000"/>
            <a:ext cx="560000" cy="5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570" y="1820000"/>
            <a:ext cx="56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Roboto Mon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200" y="2390000"/>
            <a:ext cx="132674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F3A48"/>
                </a:solidFill>
                <a:latin typeface="Inter"/>
              </a:rPr>
              <a:t>ПОДГОТОВКА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200" y="2690000"/>
            <a:ext cx="132674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Roboto Mono"/>
              </a:rPr>
              <a:t>−60 дней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200" y="3010000"/>
            <a:ext cx="124674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5A3"/>
                </a:solidFill>
                <a:latin typeface="Inter"/>
              </a:rPr>
              <a:t>Анализ рынка · Ценообразование · MML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91310" y="1710000"/>
            <a:ext cx="560000" cy="5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91310" y="1820000"/>
            <a:ext cx="56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C9A77C"/>
                </a:solidFill>
                <a:latin typeface="Roboto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7940" y="2390000"/>
            <a:ext cx="132674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F3A48"/>
                </a:solidFill>
                <a:latin typeface="Inter"/>
              </a:rPr>
              <a:t>ЗАПУСК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7940" y="2690000"/>
            <a:ext cx="132674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C9A77C"/>
                </a:solidFill>
                <a:latin typeface="Roboto Mono"/>
              </a:rPr>
              <a:t>0 — 30 дней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47940" y="3010000"/>
            <a:ext cx="124674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5A3"/>
                </a:solidFill>
                <a:latin typeface="Inter"/>
              </a:rPr>
              <a:t>POSM · Обучение · Контент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38050" y="1710000"/>
            <a:ext cx="560000" cy="5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38050" y="1820000"/>
            <a:ext cx="56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C9A77C"/>
                </a:solidFill>
                <a:latin typeface="Roboto Mon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2390000"/>
            <a:ext cx="132674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F3A48"/>
                </a:solidFill>
                <a:latin typeface="Inter"/>
              </a:rPr>
              <a:t>СОПРОВОЖДЕНИЕ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2690000"/>
            <a:ext cx="132674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C9A77C"/>
                </a:solidFill>
                <a:latin typeface="Roboto Mono"/>
              </a:rPr>
              <a:t>30 — 90 дней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4680" y="3010000"/>
            <a:ext cx="124674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5A3"/>
                </a:solidFill>
                <a:latin typeface="Inter"/>
              </a:rPr>
              <a:t>Промо · МК · Куратор · Аналитика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4790" y="1710000"/>
            <a:ext cx="560000" cy="5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84790" y="1820000"/>
            <a:ext cx="56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F3A48"/>
                </a:solidFill>
                <a:latin typeface="Roboto Mono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1420" y="2390000"/>
            <a:ext cx="132674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F3A48"/>
                </a:solidFill>
                <a:latin typeface="Inter"/>
              </a:rPr>
              <a:t>ОЦЕНКА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1420" y="2690000"/>
            <a:ext cx="132674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F3A48"/>
                </a:solidFill>
                <a:latin typeface="Roboto Mono"/>
              </a:rPr>
              <a:t>90 — 180 дней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1420" y="3010000"/>
            <a:ext cx="124674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5A3"/>
                </a:solidFill>
                <a:latin typeface="Inter"/>
              </a:rPr>
              <a:t>KPI · Решение по масштабу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1200" y="3910000"/>
            <a:ext cx="566696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1200" y="3960000"/>
            <a:ext cx="566696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8A95A3"/>
                </a:solidFill>
                <a:latin typeface="Inter"/>
              </a:rPr>
              <a:t>Стандарт обязателен для всех новинок. Без прохождения 4 этапов новинка не вводится в MML.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5600" y="960000"/>
            <a:ext cx="2862000" cy="35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95600" y="1100000"/>
            <a:ext cx="246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C00000"/>
                </a:solidFill>
                <a:latin typeface="Inter"/>
              </a:rPr>
              <a:t>ПОДДЕРЖКА ВЫХОДА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5600" y="1330000"/>
            <a:ext cx="24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A95A3"/>
                </a:solidFill>
                <a:latin typeface="Inter"/>
              </a:rPr>
              <a:t>Метрики периода вывода (90 дней)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95600" y="1540000"/>
            <a:ext cx="2462000" cy="20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95600" y="1710000"/>
            <a:ext cx="40000" cy="52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55600" y="1720000"/>
            <a:ext cx="16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Roboto Mono"/>
              </a:rPr>
              <a:t>60 дней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5600" y="2010000"/>
            <a:ext cx="246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A95A3"/>
                </a:solidFill>
                <a:latin typeface="Inter"/>
              </a:rPr>
              <a:t>Подготовка до запуска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95600" y="2180000"/>
            <a:ext cx="246200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95600" y="2290000"/>
            <a:ext cx="40000" cy="520000"/>
          </a:xfrm>
          <a:prstGeom prst="rect">
            <a:avLst/>
          </a:prstGeom>
          <a:solidFill>
            <a:srgbClr val="C9A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55600" y="2300000"/>
            <a:ext cx="16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9A77C"/>
                </a:solidFill>
                <a:latin typeface="Roboto Mono"/>
              </a:rPr>
              <a:t>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5600" y="2590000"/>
            <a:ext cx="246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A95A3"/>
                </a:solidFill>
                <a:latin typeface="Inter"/>
              </a:rPr>
              <a:t>Наличие POSM к старту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95600" y="2760000"/>
            <a:ext cx="246200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95600" y="2870000"/>
            <a:ext cx="40000" cy="520000"/>
          </a:xfrm>
          <a:prstGeom prst="rect">
            <a:avLst/>
          </a:prstGeom>
          <a:solidFill>
            <a:srgbClr val="C9A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55600" y="2880000"/>
            <a:ext cx="16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9A77C"/>
                </a:solidFill>
                <a:latin typeface="Roboto Mono"/>
              </a:rPr>
              <a:t>350 ТП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95600" y="3170000"/>
            <a:ext cx="246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A95A3"/>
                </a:solidFill>
                <a:latin typeface="Inter"/>
              </a:rPr>
              <a:t>Обучено в первый месяц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95600" y="3340000"/>
            <a:ext cx="246200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395600" y="3450000"/>
            <a:ext cx="40000" cy="520000"/>
          </a:xfrm>
          <a:prstGeom prst="rect">
            <a:avLst/>
          </a:prstGeom>
          <a:solidFill>
            <a:srgbClr val="2F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55600" y="3460000"/>
            <a:ext cx="16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F3A48"/>
                </a:solidFill>
                <a:latin typeface="Roboto Mono"/>
              </a:rPr>
              <a:t>90 дней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95600" y="3750000"/>
            <a:ext cx="246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A95A3"/>
                </a:solidFill>
                <a:latin typeface="Inter"/>
              </a:rPr>
              <a:t>Период активной поддержки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95600" y="4010000"/>
            <a:ext cx="246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95600" y="4060000"/>
            <a:ext cx="2462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8A95A3"/>
                </a:solidFill>
                <a:latin typeface="Inter"/>
              </a:rPr>
              <a:t>Без выполнения KPI поддержка не продлевается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0650" y="520700"/>
            <a:ext cx="72263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2200" b="1" dirty="0" smtClean="0">
                <a:solidFill>
                  <a:srgbClr val="2F3A48"/>
                </a:solidFill>
                <a:latin typeface="Inter"/>
              </a:rPr>
              <a:t>Выход в сегмент </a:t>
            </a:r>
            <a:r>
              <a:rPr sz="2200" b="1" dirty="0" err="1" smtClean="0">
                <a:solidFill>
                  <a:srgbClr val="2F3A48"/>
                </a:solidFill>
                <a:latin typeface="Inter"/>
              </a:rPr>
              <a:t>жилищного</a:t>
            </a:r>
            <a:r>
              <a:rPr sz="2200" b="1" dirty="0" smtClean="0">
                <a:solidFill>
                  <a:srgbClr val="2F3A48"/>
                </a:solidFill>
                <a:latin typeface="Inter"/>
              </a:rPr>
              <a:t> </a:t>
            </a:r>
            <a:r>
              <a:rPr sz="2200" b="1" dirty="0" err="1">
                <a:solidFill>
                  <a:srgbClr val="2F3A48"/>
                </a:solidFill>
                <a:latin typeface="Inter"/>
              </a:rPr>
              <a:t>строительства</a:t>
            </a:r>
            <a:endParaRPr sz="2200" b="1" dirty="0">
              <a:solidFill>
                <a:srgbClr val="2F3A48"/>
              </a:solidFill>
              <a:latin typeface="Inter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70750" y="139065"/>
            <a:ext cx="1601590" cy="2686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97750" y="190649"/>
            <a:ext cx="13689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150" dirty="0" smtClean="0">
                <a:solidFill>
                  <a:srgbClr val="C9A77C"/>
                </a:solidFill>
                <a:latin typeface="Inter"/>
              </a:rPr>
              <a:t>В </a:t>
            </a:r>
            <a:r>
              <a:rPr sz="1000" b="1" spc="150" dirty="0">
                <a:solidFill>
                  <a:srgbClr val="C9A77C"/>
                </a:solidFill>
                <a:latin typeface="Inter"/>
              </a:rPr>
              <a:t>РАБОТЕ</a:t>
            </a:r>
          </a:p>
        </p:txBody>
      </p:sp>
      <p:sp>
        <p:nvSpPr>
          <p:cNvPr id="8" name="Rectangle 7"/>
          <p:cNvSpPr/>
          <p:nvPr/>
        </p:nvSpPr>
        <p:spPr>
          <a:xfrm>
            <a:off x="143256" y="453390"/>
            <a:ext cx="8855724" cy="28575"/>
          </a:xfrm>
          <a:prstGeom prst="rect">
            <a:avLst/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200" y="962590"/>
            <a:ext cx="6066960" cy="39754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200" y="1217915"/>
            <a:ext cx="55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 dirty="0">
                <a:solidFill>
                  <a:srgbClr val="C00000"/>
                </a:solidFill>
                <a:latin typeface="Inter"/>
              </a:rPr>
              <a:t>АССОРТИМЕНТ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200" y="1457915"/>
            <a:ext cx="55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dirty="0">
                <a:solidFill>
                  <a:srgbClr val="8A95A3"/>
                </a:solidFill>
                <a:latin typeface="Inter"/>
              </a:rPr>
              <a:t>25 SKU · 3 </a:t>
            </a:r>
            <a:r>
              <a:rPr sz="900" b="0" dirty="0" err="1">
                <a:solidFill>
                  <a:srgbClr val="8A95A3"/>
                </a:solidFill>
                <a:latin typeface="Inter"/>
              </a:rPr>
              <a:t>уровня</a:t>
            </a:r>
            <a:r>
              <a:rPr sz="900" b="0" dirty="0">
                <a:solidFill>
                  <a:srgbClr val="8A95A3"/>
                </a:solidFill>
                <a:latin typeface="Inter"/>
              </a:rPr>
              <a:t> </a:t>
            </a:r>
            <a:r>
              <a:rPr sz="900" b="0" dirty="0" err="1">
                <a:solidFill>
                  <a:srgbClr val="8A95A3"/>
                </a:solidFill>
                <a:latin typeface="Inter"/>
              </a:rPr>
              <a:t>цен</a:t>
            </a:r>
            <a:r>
              <a:rPr sz="900" b="0" dirty="0">
                <a:solidFill>
                  <a:srgbClr val="8A95A3"/>
                </a:solidFill>
                <a:latin typeface="Inter"/>
              </a:rPr>
              <a:t> · 9 </a:t>
            </a:r>
            <a:r>
              <a:rPr sz="900" b="0" dirty="0" err="1">
                <a:solidFill>
                  <a:srgbClr val="8A95A3"/>
                </a:solidFill>
                <a:latin typeface="Inter"/>
              </a:rPr>
              <a:t>зон</a:t>
            </a:r>
            <a:r>
              <a:rPr sz="900" b="0" dirty="0">
                <a:solidFill>
                  <a:srgbClr val="8A95A3"/>
                </a:solidFill>
                <a:latin typeface="Inter"/>
              </a:rPr>
              <a:t> </a:t>
            </a:r>
            <a:r>
              <a:rPr sz="900" b="0" dirty="0" err="1">
                <a:solidFill>
                  <a:srgbClr val="8A95A3"/>
                </a:solidFill>
                <a:latin typeface="Inter"/>
              </a:rPr>
              <a:t>жилого</a:t>
            </a:r>
            <a:r>
              <a:rPr sz="900" b="0" dirty="0">
                <a:solidFill>
                  <a:srgbClr val="8A95A3"/>
                </a:solidFill>
                <a:latin typeface="Inter"/>
              </a:rPr>
              <a:t> </a:t>
            </a:r>
            <a:r>
              <a:rPr sz="900" b="0" dirty="0" err="1" smtClean="0">
                <a:solidFill>
                  <a:srgbClr val="8A95A3"/>
                </a:solidFill>
                <a:latin typeface="Inter"/>
              </a:rPr>
              <a:t>здания</a:t>
            </a:r>
            <a:r>
              <a:rPr lang="ru-RU" sz="900" dirty="0">
                <a:solidFill>
                  <a:srgbClr val="8A95A3"/>
                </a:solidFill>
                <a:latin typeface="Inter"/>
              </a:rPr>
              <a:t>. Все продукты сертифицированы по ФЗ-123 </a:t>
            </a:r>
            <a:endParaRPr sz="900" b="0" dirty="0">
              <a:solidFill>
                <a:srgbClr val="8A95A3"/>
              </a:solidFill>
              <a:latin typeface="Inter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1200" y="1657915"/>
            <a:ext cx="5906960" cy="20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41200" y="1902690"/>
            <a:ext cx="1888986" cy="20000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1200" y="1902690"/>
            <a:ext cx="1888986" cy="5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1200" y="199269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Roboto Mono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200" y="2012690"/>
            <a:ext cx="1468986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200">
                <a:solidFill>
                  <a:srgbClr val="2F3A48"/>
                </a:solidFill>
                <a:latin typeface="Inter"/>
              </a:rPr>
              <a:t>БЮДЖЕТ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00" y="2232690"/>
            <a:ext cx="1768986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80">
                <a:solidFill>
                  <a:srgbClr val="8A95A3"/>
                </a:solidFill>
                <a:latin typeface="Inter"/>
              </a:rPr>
              <a:t>ОРЕОЛ ДИСКОНТ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1200" y="2432690"/>
            <a:ext cx="1728986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1200" y="249269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95A3"/>
                </a:solidFill>
                <a:latin typeface="Inter"/>
              </a:rPr>
              <a:t>Краски и эмали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0186" y="249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200" y="277269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95A3"/>
                </a:solidFill>
                <a:latin typeface="Inter"/>
              </a:rPr>
              <a:t>Шпатлёвки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0186" y="277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00" y="305269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95A3"/>
                </a:solidFill>
                <a:latin typeface="Inter"/>
              </a:rPr>
              <a:t>Грунтовки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0186" y="305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1200" y="3402690"/>
            <a:ext cx="1728986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1200" y="345269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5A3"/>
                </a:solidFill>
                <a:latin typeface="Inter"/>
              </a:rPr>
              <a:t>Итого: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0186" y="3442690"/>
            <a:ext cx="62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C00000"/>
                </a:solidFill>
                <a:latin typeface="Roboto Mono"/>
              </a:rPr>
              <a:t>11 SKU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50186" y="1902690"/>
            <a:ext cx="1888986" cy="20000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150186" y="1902690"/>
            <a:ext cx="1888986" cy="50000"/>
          </a:xfrm>
          <a:prstGeom prst="rect">
            <a:avLst/>
          </a:prstGeom>
          <a:solidFill>
            <a:srgbClr val="C9A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30186" y="199269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77C"/>
                </a:solidFill>
                <a:latin typeface="Roboto Mono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0186" y="2012690"/>
            <a:ext cx="1468986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200">
                <a:solidFill>
                  <a:srgbClr val="2F3A48"/>
                </a:solidFill>
                <a:latin typeface="Inter"/>
              </a:rPr>
              <a:t>СРЕДНИЙ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0186" y="2232690"/>
            <a:ext cx="1768986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80">
                <a:solidFill>
                  <a:srgbClr val="8A95A3"/>
                </a:solidFill>
                <a:latin typeface="Inter"/>
              </a:rPr>
              <a:t>ОРЕОЛ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30186" y="2432690"/>
            <a:ext cx="1728986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30186" y="249269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95A3"/>
                </a:solidFill>
                <a:latin typeface="Inter"/>
              </a:rPr>
              <a:t>Краски и эмали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9172" y="249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30186" y="277269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95A3"/>
                </a:solidFill>
                <a:latin typeface="Inter"/>
              </a:rPr>
              <a:t>Шпатлёвки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9172" y="277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30186" y="305269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95A3"/>
                </a:solidFill>
                <a:latin typeface="Inter"/>
              </a:rPr>
              <a:t>Грунтовки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9172" y="305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30186" y="3402690"/>
            <a:ext cx="1728986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230186" y="345269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5A3"/>
                </a:solidFill>
                <a:latin typeface="Inter"/>
              </a:rPr>
              <a:t>Итого: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9172" y="3442690"/>
            <a:ext cx="62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C9A77C"/>
                </a:solidFill>
                <a:latin typeface="Roboto Mono"/>
              </a:rPr>
              <a:t>8 SKU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59172" y="1902690"/>
            <a:ext cx="1888986" cy="20000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59172" y="1902690"/>
            <a:ext cx="1888986" cy="50000"/>
          </a:xfrm>
          <a:prstGeom prst="rect">
            <a:avLst/>
          </a:prstGeom>
          <a:solidFill>
            <a:srgbClr val="2F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39172" y="199269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F3A48"/>
                </a:solidFill>
                <a:latin typeface="Roboto Mono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19172" y="2012690"/>
            <a:ext cx="1468986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200">
                <a:solidFill>
                  <a:srgbClr val="2F3A48"/>
                </a:solidFill>
                <a:latin typeface="Inter"/>
              </a:rPr>
              <a:t>ПРЕМИУМ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39172" y="2232690"/>
            <a:ext cx="1768986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80">
                <a:solidFill>
                  <a:srgbClr val="8A95A3"/>
                </a:solidFill>
                <a:latin typeface="Inter"/>
              </a:rPr>
              <a:t>NEWTONE · AVANTGARDE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39172" y="2432690"/>
            <a:ext cx="1728986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48158" y="249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39172" y="248694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95A3"/>
                </a:solidFill>
                <a:latin typeface="Inter"/>
              </a:rPr>
              <a:t>Шпатлёвки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48158" y="277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39172" y="276694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95A3"/>
                </a:solidFill>
                <a:latin typeface="Inter"/>
              </a:rPr>
              <a:t>Грунтовки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8158" y="305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39172" y="3402690"/>
            <a:ext cx="1728986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39172" y="316694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5A3"/>
                </a:solidFill>
                <a:latin typeface="Inter"/>
              </a:rPr>
              <a:t>Итого: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48158" y="3442690"/>
            <a:ext cx="62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2F3A48"/>
                </a:solidFill>
                <a:latin typeface="Roboto Mono"/>
              </a:rPr>
              <a:t>6 SKU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94040" y="962590"/>
            <a:ext cx="2860320" cy="39457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6254040" y="110259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254040" y="1152590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74040" y="1586238"/>
            <a:ext cx="270032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6254040" y="1654338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54040" y="1704338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74040" y="2435488"/>
            <a:ext cx="270032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6254040" y="250264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254040" y="2552640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F3A48"/>
                </a:solidFill>
                <a:latin typeface="Inter"/>
              </a:rPr>
              <a:t>03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74040" y="3258390"/>
            <a:ext cx="270032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6254040" y="3366486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254040" y="3416486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2F3A48"/>
                </a:solidFill>
                <a:latin typeface="Inter"/>
              </a:rPr>
              <a:t>04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14040" y="1004851"/>
            <a:ext cx="23000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100" b="1" dirty="0" smtClean="0">
                <a:latin typeface="Inter"/>
              </a:rPr>
              <a:t>Каталог / портфолио - ц</a:t>
            </a:r>
            <a:r>
              <a:rPr sz="1100" b="1" dirty="0" err="1" smtClean="0">
                <a:latin typeface="Inter"/>
              </a:rPr>
              <a:t>елевая</a:t>
            </a:r>
            <a:r>
              <a:rPr sz="1100" b="1" dirty="0" smtClean="0">
                <a:latin typeface="Inter"/>
              </a:rPr>
              <a:t> </a:t>
            </a:r>
            <a:r>
              <a:rPr sz="1100" b="1" dirty="0" err="1">
                <a:latin typeface="Inter"/>
              </a:rPr>
              <a:t>аудитория</a:t>
            </a:r>
            <a:endParaRPr sz="1100" b="1" dirty="0">
              <a:latin typeface="Inter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614040" y="1368201"/>
            <a:ext cx="23603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850" b="0" dirty="0" smtClean="0">
                <a:solidFill>
                  <a:srgbClr val="2F3A48"/>
                </a:solidFill>
                <a:latin typeface="Inter"/>
              </a:rPr>
              <a:t>П</a:t>
            </a:r>
            <a:r>
              <a:rPr sz="850" b="0" dirty="0" err="1" smtClean="0">
                <a:solidFill>
                  <a:srgbClr val="2F3A48"/>
                </a:solidFill>
                <a:latin typeface="Inter"/>
              </a:rPr>
              <a:t>рорабы</a:t>
            </a:r>
            <a:r>
              <a:rPr sz="850" b="0" dirty="0" smtClean="0">
                <a:solidFill>
                  <a:srgbClr val="2F3A48"/>
                </a:solidFill>
                <a:latin typeface="Inter"/>
              </a:rPr>
              <a:t> </a:t>
            </a:r>
            <a:r>
              <a:rPr sz="850" b="0" dirty="0">
                <a:solidFill>
                  <a:srgbClr val="2F3A48"/>
                </a:solidFill>
                <a:latin typeface="Inter"/>
              </a:rPr>
              <a:t>· ИТР · </a:t>
            </a:r>
            <a:r>
              <a:rPr sz="850" b="0" dirty="0" err="1">
                <a:solidFill>
                  <a:srgbClr val="2F3A48"/>
                </a:solidFill>
                <a:latin typeface="Inter"/>
              </a:rPr>
              <a:t>технадзор</a:t>
            </a:r>
            <a:endParaRPr sz="850" b="0" dirty="0">
              <a:solidFill>
                <a:srgbClr val="2F3A48"/>
              </a:solidFill>
              <a:latin typeface="Inter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614040" y="1634688"/>
            <a:ext cx="230000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100" b="1" dirty="0" smtClean="0">
                <a:latin typeface="Inter"/>
              </a:rPr>
              <a:t>Анализ создания специализированной линейки </a:t>
            </a:r>
            <a:r>
              <a:rPr lang="en-US" sz="1100" b="1" dirty="0">
                <a:latin typeface="Inter"/>
              </a:rPr>
              <a:t>Professional</a:t>
            </a:r>
            <a:endParaRPr sz="1100" b="1" dirty="0">
              <a:latin typeface="Inter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274040" y="2198228"/>
            <a:ext cx="27249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850" b="0" dirty="0" smtClean="0">
                <a:solidFill>
                  <a:srgbClr val="2F3A48"/>
                </a:solidFill>
                <a:latin typeface="Inter"/>
              </a:rPr>
              <a:t>Цена – характеристики – выгоды преимущество</a:t>
            </a:r>
            <a:endParaRPr sz="850" b="0" dirty="0">
              <a:solidFill>
                <a:srgbClr val="2F3A48"/>
              </a:solidFill>
              <a:latin typeface="Inter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6614040" y="2473313"/>
            <a:ext cx="23000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100" b="1" dirty="0">
                <a:latin typeface="Inter"/>
              </a:rPr>
              <a:t>Гранд-Смета и Смета </a:t>
            </a:r>
            <a:r>
              <a:rPr lang="ru-RU" sz="1100" b="1" dirty="0" err="1">
                <a:latin typeface="Inter"/>
              </a:rPr>
              <a:t>Визард</a:t>
            </a:r>
            <a:r>
              <a:rPr lang="ru-RU" sz="1100" b="1" dirty="0">
                <a:latin typeface="Inter"/>
              </a:rPr>
              <a:t> (</a:t>
            </a:r>
            <a:r>
              <a:rPr lang="ru-RU" sz="1100" b="1" dirty="0" err="1">
                <a:latin typeface="Inter"/>
              </a:rPr>
              <a:t>SmetaWIZARD</a:t>
            </a:r>
            <a:r>
              <a:rPr lang="ru-RU" sz="1100" b="1" dirty="0">
                <a:latin typeface="Inter"/>
              </a:rPr>
              <a:t>) </a:t>
            </a:r>
            <a:endParaRPr sz="1100" b="1" dirty="0">
              <a:latin typeface="Inter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274740" y="2902490"/>
            <a:ext cx="26393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900" dirty="0" smtClean="0"/>
              <a:t>Комплексы </a:t>
            </a:r>
            <a:r>
              <a:rPr lang="ru-RU" sz="900" dirty="0"/>
              <a:t>для автоматизации сметных расчётов в строительстве.</a:t>
            </a:r>
            <a:endParaRPr sz="850" b="0" dirty="0">
              <a:solidFill>
                <a:srgbClr val="2F3A48"/>
              </a:solidFill>
              <a:latin typeface="Inter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638660" y="3321537"/>
            <a:ext cx="23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100" b="1" dirty="0" smtClean="0">
                <a:latin typeface="Inter"/>
              </a:rPr>
              <a:t>Сертификация систем </a:t>
            </a:r>
            <a:endParaRPr sz="1100" b="1" dirty="0">
              <a:latin typeface="Inter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638660" y="3551537"/>
            <a:ext cx="236032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850" b="0" dirty="0" smtClean="0">
                <a:solidFill>
                  <a:srgbClr val="2F3A48"/>
                </a:solidFill>
                <a:latin typeface="Inter"/>
              </a:rPr>
              <a:t>Получение сертификатов подтверждения срока служб использования систем для застройщиков</a:t>
            </a:r>
            <a:endParaRPr sz="850" b="0" dirty="0">
              <a:solidFill>
                <a:srgbClr val="2F3A48"/>
              </a:solidFill>
              <a:latin typeface="Inter"/>
            </a:endParaRPr>
          </a:p>
        </p:txBody>
      </p:sp>
      <p:sp>
        <p:nvSpPr>
          <p:cNvPr id="80" name="Rectangle 90"/>
          <p:cNvSpPr/>
          <p:nvPr/>
        </p:nvSpPr>
        <p:spPr>
          <a:xfrm>
            <a:off x="6286350" y="4222418"/>
            <a:ext cx="270032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286350" y="4006554"/>
            <a:ext cx="27249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850" dirty="0" smtClean="0">
                <a:solidFill>
                  <a:srgbClr val="2F3A48"/>
                </a:solidFill>
                <a:latin typeface="Inter"/>
              </a:rPr>
              <a:t>Грунт – Шпатлевка – Грунт – Краска / Эмаль</a:t>
            </a:r>
            <a:endParaRPr sz="850" b="0" dirty="0">
              <a:solidFill>
                <a:srgbClr val="2F3A4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306" y="140000"/>
            <a:ext cx="628629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 err="1">
                <a:solidFill>
                  <a:srgbClr val="2F3A48"/>
                </a:solidFill>
                <a:latin typeface="Inter"/>
              </a:rPr>
              <a:t>Развитие</a:t>
            </a:r>
            <a:r>
              <a:rPr sz="2000" b="1" dirty="0">
                <a:solidFill>
                  <a:srgbClr val="2F3A48"/>
                </a:solidFill>
                <a:latin typeface="Inter"/>
              </a:rPr>
              <a:t> </a:t>
            </a:r>
            <a:r>
              <a:rPr sz="2000" b="1" dirty="0" err="1">
                <a:solidFill>
                  <a:srgbClr val="2F3A48"/>
                </a:solidFill>
                <a:latin typeface="Inter"/>
              </a:rPr>
              <a:t>категории</a:t>
            </a:r>
            <a:r>
              <a:rPr sz="2000" b="1" dirty="0">
                <a:solidFill>
                  <a:srgbClr val="2F3A48"/>
                </a:solidFill>
                <a:latin typeface="Inter"/>
              </a:rPr>
              <a:t> ВД-ЛКМ в </a:t>
            </a:r>
            <a:r>
              <a:rPr sz="2000" b="1" dirty="0" err="1">
                <a:solidFill>
                  <a:srgbClr val="2F3A48"/>
                </a:solidFill>
                <a:latin typeface="Inter"/>
              </a:rPr>
              <a:t>дистрибуции</a:t>
            </a:r>
            <a:r>
              <a:rPr sz="2000" b="1" dirty="0">
                <a:solidFill>
                  <a:srgbClr val="2F3A48"/>
                </a:solidFill>
                <a:latin typeface="Inter"/>
              </a:rPr>
              <a:t> 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000" y="1100000"/>
            <a:ext cx="190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95A3"/>
                </a:solidFill>
                <a:latin typeface="Inter"/>
              </a:rPr>
              <a:t>Проект расширения ассортимента и роста водно-дисперсионных материалов в дистрибуционном канале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16450" y="159050"/>
            <a:ext cx="2098950" cy="28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1850" y="223100"/>
            <a:ext cx="20100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150" dirty="0">
                <a:solidFill>
                  <a:srgbClr val="C9A77C"/>
                </a:solidFill>
                <a:latin typeface="Inter"/>
              </a:rPr>
              <a:t>2027 · ПЛАН · ПРОЕКТ</a:t>
            </a:r>
          </a:p>
        </p:txBody>
      </p:sp>
      <p:sp>
        <p:nvSpPr>
          <p:cNvPr id="6" name="Rectangle 5"/>
          <p:cNvSpPr/>
          <p:nvPr/>
        </p:nvSpPr>
        <p:spPr>
          <a:xfrm>
            <a:off x="143256" y="1164250"/>
            <a:ext cx="8855724" cy="28575"/>
          </a:xfrm>
          <a:prstGeom prst="rect">
            <a:avLst/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200" y="675450"/>
            <a:ext cx="6066000" cy="397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200" y="815450"/>
            <a:ext cx="55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C00000"/>
                </a:solidFill>
                <a:latin typeface="Inter"/>
              </a:rPr>
              <a:t>ПЛАН ДЕЙСТВИЙ · 6 НАПРАВЛЕНИЙ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200" y="1045450"/>
            <a:ext cx="55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5A3"/>
                </a:solidFill>
                <a:latin typeface="Inter"/>
              </a:rPr>
              <a:t>Ассортимент · Ценообразование · Промо · Обучение · Контент · Контроль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200" y="1265450"/>
            <a:ext cx="5786000" cy="20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01200" y="1375450"/>
            <a:ext cx="1862000" cy="14772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1200" y="1375450"/>
            <a:ext cx="1862000" cy="4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1200" y="144545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Roboto Mon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200" y="1465450"/>
            <a:ext cx="142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50">
                <a:solidFill>
                  <a:srgbClr val="2F3A48"/>
                </a:solidFill>
                <a:latin typeface="Inter"/>
              </a:rPr>
              <a:t>АССОРТИМЕНТ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200" y="1665450"/>
            <a:ext cx="174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Расширение SKU · новые сегменты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200" y="18554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200" y="190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Новые позиции ВД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3200" y="190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+8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200" y="212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Грунтовки deep-wood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3200" y="212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200" y="234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Архит. покрытия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3200" y="234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200" y="256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Спец. средства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3200" y="256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200" y="24326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1200" y="2472650"/>
            <a:ext cx="174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Inter"/>
              </a:rPr>
              <a:t>+8 SKU к концу 2027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63200" y="1375450"/>
            <a:ext cx="1862000" cy="14772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163200" y="1375450"/>
            <a:ext cx="1862000" cy="40000"/>
          </a:xfrm>
          <a:prstGeom prst="rect">
            <a:avLst/>
          </a:prstGeom>
          <a:solidFill>
            <a:srgbClr val="C9A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43200" y="144545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A77C"/>
                </a:solidFill>
                <a:latin typeface="Roboto Mono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33200" y="1465450"/>
            <a:ext cx="142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50">
                <a:solidFill>
                  <a:srgbClr val="2F3A48"/>
                </a:solidFill>
                <a:latin typeface="Inter"/>
              </a:rPr>
              <a:t>МОТИВАЦИЯ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3200" y="1665450"/>
            <a:ext cx="174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Программа для дистрибьюторов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43200" y="18554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43200" y="190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Ретро-бонус ВД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45200" y="190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3200" y="212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Кэшбек на NEWTONE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45200" y="212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3200" y="234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Бонус за MML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45200" y="234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3200" y="256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Стартовый набор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45200" y="256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43200" y="24326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43200" y="2472650"/>
            <a:ext cx="174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C9A77C"/>
                </a:solidFill>
                <a:latin typeface="Inter"/>
              </a:rPr>
              <a:t>До 10% совокупно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25200" y="1375450"/>
            <a:ext cx="1862000" cy="14772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25200" y="1375450"/>
            <a:ext cx="1862000" cy="40000"/>
          </a:xfrm>
          <a:prstGeom prst="rect">
            <a:avLst/>
          </a:prstGeom>
          <a:solidFill>
            <a:srgbClr val="2F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05200" y="144545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3A48"/>
                </a:solidFill>
                <a:latin typeface="Roboto Mono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5200" y="1465450"/>
            <a:ext cx="142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50">
                <a:solidFill>
                  <a:srgbClr val="2F3A48"/>
                </a:solidFill>
                <a:latin typeface="Inter"/>
              </a:rPr>
              <a:t>ОБУЧЕНИЕ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5200" y="1665450"/>
            <a:ext cx="174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Сертификация ТП и РМ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5200" y="18554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05200" y="190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Регионов в плане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7200" y="190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5200" y="212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ТП обучено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7200" y="212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500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5200" y="234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РМ сертифиц.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7200" y="234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30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05200" y="256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Вебинаров/год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7200" y="256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5200" y="24326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05200" y="2472650"/>
            <a:ext cx="174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A48"/>
                </a:solidFill>
                <a:latin typeface="Inter"/>
              </a:rPr>
              <a:t>+150% к 2026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01200" y="2972650"/>
            <a:ext cx="1862000" cy="14772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01200" y="2972650"/>
            <a:ext cx="1862000" cy="40000"/>
          </a:xfrm>
          <a:prstGeom prst="rect">
            <a:avLst/>
          </a:prstGeom>
          <a:solidFill>
            <a:srgbClr val="6B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81200" y="304265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B8FA8"/>
                </a:solidFill>
                <a:latin typeface="Roboto Mono"/>
              </a:rPr>
              <a:t>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1200" y="3062650"/>
            <a:ext cx="142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50">
                <a:solidFill>
                  <a:srgbClr val="2F3A48"/>
                </a:solidFill>
                <a:latin typeface="Inter"/>
              </a:rPr>
              <a:t>POSM·МЕРЧАНД.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1200" y="3262650"/>
            <a:ext cx="174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Брендированные зоны ВД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1200" y="34526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81200" y="350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РТТ с зоной ВД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83200" y="350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120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1200" y="372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Стойки на 8 SKU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83200" y="372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80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1200" y="394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dirty="0" err="1">
                <a:solidFill>
                  <a:srgbClr val="8A95A3"/>
                </a:solidFill>
                <a:latin typeface="Inter"/>
              </a:rPr>
              <a:t>Шелфтокеры</a:t>
            </a:r>
            <a:endParaRPr sz="850" b="0" dirty="0">
              <a:solidFill>
                <a:srgbClr val="8A95A3"/>
              </a:solidFill>
              <a:latin typeface="Inter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383200" y="394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1500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1200" y="416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Тестеры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83200" y="416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300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81200" y="40298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81200" y="4069850"/>
            <a:ext cx="174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B8FA8"/>
                </a:solidFill>
                <a:latin typeface="Inter"/>
              </a:rPr>
              <a:t>120 РТТ · 2027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163200" y="2972650"/>
            <a:ext cx="1862000" cy="14772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2163200" y="2972650"/>
            <a:ext cx="1862000" cy="40000"/>
          </a:xfrm>
          <a:prstGeom prst="rect">
            <a:avLst/>
          </a:prstGeom>
          <a:solidFill>
            <a:srgbClr val="8BA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243200" y="304265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BAA8A"/>
                </a:solidFill>
                <a:latin typeface="Roboto Mono"/>
              </a:rPr>
              <a:t>05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33200" y="3062650"/>
            <a:ext cx="142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50">
                <a:solidFill>
                  <a:srgbClr val="2F3A48"/>
                </a:solidFill>
                <a:latin typeface="Inter"/>
              </a:rPr>
              <a:t>КОНТЕНТ·РК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43200" y="3262650"/>
            <a:ext cx="174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Продвижение ВД-категории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43200" y="34526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243200" y="350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Видео для ТП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45200" y="350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43200" y="372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VK·Яндекс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45200" y="372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да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43200" y="394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Блогеры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45200" y="394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43200" y="416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SEO·контент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45200" y="416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12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43200" y="40298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243200" y="4069850"/>
            <a:ext cx="174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8BAA8A"/>
                </a:solidFill>
                <a:latin typeface="Inter"/>
              </a:rPr>
              <a:t>Охват 2M+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125200" y="2972650"/>
            <a:ext cx="1862000" cy="14772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4125200" y="2972650"/>
            <a:ext cx="1862000" cy="40000"/>
          </a:xfrm>
          <a:prstGeom prst="rect">
            <a:avLst/>
          </a:prstGeom>
          <a:solidFill>
            <a:srgbClr val="8BA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205200" y="304265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BAA8A"/>
                </a:solidFill>
                <a:latin typeface="Roboto Mono"/>
              </a:rPr>
              <a:t>06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95200" y="3062650"/>
            <a:ext cx="142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50">
                <a:solidFill>
                  <a:srgbClr val="2F3A48"/>
                </a:solidFill>
                <a:latin typeface="Inter"/>
              </a:rPr>
              <a:t>ТРЕЙД-МАРКЕТИНГ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05200" y="3262650"/>
            <a:ext cx="174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Промоакции и акции в точках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05200" y="34526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205200" y="350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Промо/квартал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307200" y="350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205200" y="372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Скидка при входе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307200" y="372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20%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05200" y="394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Подарок за покупку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07200" y="394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да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05200" y="416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Кросс-промо TITAN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07200" y="416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да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5200" y="40298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205200" y="4069850"/>
            <a:ext cx="174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8BAA8A"/>
                </a:solidFill>
                <a:latin typeface="Inter"/>
              </a:rPr>
              <a:t>8 промо · 2027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01200" y="4269850"/>
            <a:ext cx="5786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Бюджет проекта 2027 — 1,8 млн ₽ · ROI 3,2× · срок окупаемости 14 месяцев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195600" y="675450"/>
            <a:ext cx="2862000" cy="3945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335600" y="815450"/>
            <a:ext cx="258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C00000"/>
                </a:solidFill>
                <a:latin typeface="Inter"/>
              </a:rPr>
              <a:t>KPI · 2027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35600" y="1045450"/>
            <a:ext cx="258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5A3"/>
                </a:solidFill>
                <a:latin typeface="Inter"/>
              </a:rPr>
              <a:t>Целевые метрики ВД-категории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35600" y="1265450"/>
            <a:ext cx="2582000" cy="20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6255600" y="141545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255600" y="1465450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Inter"/>
              </a:rPr>
              <a:t>01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15600" y="1425450"/>
            <a:ext cx="22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A48"/>
                </a:solidFill>
                <a:latin typeface="Inter"/>
              </a:rPr>
              <a:t>Доля ВД в MML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15600" y="1645450"/>
            <a:ext cx="236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Roboto Mono"/>
              </a:rPr>
              <a:t>28% → 42%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237600" y="1423450"/>
            <a:ext cx="700000" cy="220000"/>
          </a:xfrm>
          <a:prstGeom prst="roundRect">
            <a:avLst>
              <a:gd name="adj" fmla="val 30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237600" y="1450450"/>
            <a:ext cx="7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Inter"/>
              </a:rPr>
              <a:t>+14 п.п.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275600" y="1925450"/>
            <a:ext cx="270200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6255600" y="195545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255600" y="2005450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Inter"/>
              </a:rPr>
              <a:t>02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15600" y="1965450"/>
            <a:ext cx="22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A48"/>
                </a:solidFill>
                <a:latin typeface="Inter"/>
              </a:rPr>
              <a:t>Первичка ВД (т)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15600" y="2185450"/>
            <a:ext cx="236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Roboto Mono"/>
              </a:rPr>
              <a:t>1 200 → 2 000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237600" y="1963450"/>
            <a:ext cx="700000" cy="220000"/>
          </a:xfrm>
          <a:prstGeom prst="roundRect">
            <a:avLst>
              <a:gd name="adj" fmla="val 30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237600" y="1990450"/>
            <a:ext cx="7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Inter"/>
              </a:rPr>
              <a:t>+67%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75600" y="2465450"/>
            <a:ext cx="270200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6255600" y="249545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255600" y="2545450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9A77C"/>
                </a:solidFill>
                <a:latin typeface="Inter"/>
              </a:rPr>
              <a:t>03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615600" y="2505450"/>
            <a:ext cx="22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A48"/>
                </a:solidFill>
                <a:latin typeface="Inter"/>
              </a:rPr>
              <a:t>РТТ с ВД-зоной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615600" y="2725450"/>
            <a:ext cx="236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A77C"/>
                </a:solidFill>
                <a:latin typeface="Roboto Mono"/>
              </a:rPr>
              <a:t>180 → 350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237600" y="2503450"/>
            <a:ext cx="700000" cy="220000"/>
          </a:xfrm>
          <a:prstGeom prst="roundRect">
            <a:avLst>
              <a:gd name="adj" fmla="val 30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237600" y="2530450"/>
            <a:ext cx="7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C9A77C"/>
                </a:solidFill>
                <a:latin typeface="Inter"/>
              </a:rPr>
              <a:t>+94%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75600" y="3005450"/>
            <a:ext cx="270200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6255600" y="303545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255600" y="3085450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F3A48"/>
                </a:solidFill>
                <a:latin typeface="Inter"/>
              </a:rPr>
              <a:t>04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615600" y="3045450"/>
            <a:ext cx="22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A48"/>
                </a:solidFill>
                <a:latin typeface="Inter"/>
              </a:rPr>
              <a:t>АКБ ВД в точках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615600" y="3265450"/>
            <a:ext cx="236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3A48"/>
                </a:solidFill>
                <a:latin typeface="Roboto Mono"/>
              </a:rPr>
              <a:t>32% → 58%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237600" y="3043450"/>
            <a:ext cx="700000" cy="220000"/>
          </a:xfrm>
          <a:prstGeom prst="roundRect">
            <a:avLst>
              <a:gd name="adj" fmla="val 30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237600" y="3070450"/>
            <a:ext cx="7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F3A48"/>
                </a:solidFill>
                <a:latin typeface="Inter"/>
              </a:rPr>
              <a:t>+26 п.п.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275600" y="3545450"/>
            <a:ext cx="270200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ounded Rectangle 139"/>
          <p:cNvSpPr/>
          <p:nvPr/>
        </p:nvSpPr>
        <p:spPr>
          <a:xfrm>
            <a:off x="6255600" y="357545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255600" y="3625450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F3A48"/>
                </a:solidFill>
                <a:latin typeface="Inter"/>
              </a:rPr>
              <a:t>05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615600" y="3585450"/>
            <a:ext cx="22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A48"/>
                </a:solidFill>
                <a:latin typeface="Inter"/>
              </a:rPr>
              <a:t>MML ВД SKU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615600" y="3805450"/>
            <a:ext cx="236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3A48"/>
                </a:solidFill>
                <a:latin typeface="Roboto Mono"/>
              </a:rPr>
              <a:t>33 → 41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8237600" y="3583450"/>
            <a:ext cx="700000" cy="220000"/>
          </a:xfrm>
          <a:prstGeom prst="roundRect">
            <a:avLst>
              <a:gd name="adj" fmla="val 30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8237600" y="3610450"/>
            <a:ext cx="7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F3A48"/>
                </a:solidFill>
                <a:latin typeface="Inter"/>
              </a:rPr>
              <a:t>+8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275600" y="4041050"/>
            <a:ext cx="2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6335600" y="4101050"/>
            <a:ext cx="2582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Цель — удвоение доли ВД-ЛКМ в дистрибуционном канале к концу 2027 года</a:t>
            </a:r>
          </a:p>
        </p:txBody>
      </p:sp>
    </p:spTree>
    <p:extLst>
      <p:ext uri="{BB962C8B-B14F-4D97-AF65-F5344CB8AC3E}">
        <p14:creationId xmlns:p14="http://schemas.microsoft.com/office/powerpoint/2010/main" val="17696658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F3A48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F3A48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F3A48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406</TotalTime>
  <Words>1080</Words>
  <Application>Microsoft Office PowerPoint</Application>
  <PresentationFormat>Экран (16:9)</PresentationFormat>
  <Paragraphs>343</Paragraphs>
  <Slides>8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85</cp:revision>
  <dcterms:created xsi:type="dcterms:W3CDTF">2026-10-01T12:44:52Z</dcterms:created>
  <dcterms:modified xsi:type="dcterms:W3CDTF">2026-10-05T13:30:51Z</dcterms:modified>
</cp:coreProperties>
</file>