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4"/>
  </p:handoutMasterIdLst>
  <p:sldIdLst>
    <p:sldId id="259" r:id="rId2"/>
    <p:sldId id="258" r:id="rId3"/>
  </p:sldIdLst>
  <p:sldSz cx="12192000" cy="6858000"/>
  <p:notesSz cx="9926638" cy="6797675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>
        <p:scale>
          <a:sx n="118" d="100"/>
          <a:sy n="118" d="100"/>
        </p:scale>
        <p:origin x="-276" y="-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5621696" y="0"/>
            <a:ext cx="4302625" cy="34026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6C9D4C-8084-49BD-9DF3-853E6468EF78}" type="datetimeFigureOut">
              <a:rPr lang="ru-RU" smtClean="0"/>
              <a:t>04.08.2026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5621696" y="6456324"/>
            <a:ext cx="4302625" cy="340264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C5E0B89-9E3E-4D18-9FD1-C1328E9461C4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2287685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TCO: ГАРАЖ МЕТАЛЛИЧЕСКИЙ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1632104"/>
            <a:ext cx="626571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Гараж-ракушка</a:t>
            </a:r>
            <a:r>
              <a:rPr dirty="0"/>
              <a:t> / </a:t>
            </a:r>
            <a:r>
              <a:rPr dirty="0" err="1"/>
              <a:t>металлический</a:t>
            </a:r>
            <a:r>
              <a:rPr dirty="0"/>
              <a:t> </a:t>
            </a:r>
            <a:r>
              <a:rPr dirty="0" err="1"/>
              <a:t>пенал</a:t>
            </a:r>
            <a:r>
              <a:rPr dirty="0"/>
              <a:t> (</a:t>
            </a:r>
            <a:r>
              <a:rPr dirty="0" err="1"/>
              <a:t>типовой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073997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6000" y="1949480"/>
            <a:ext cx="2880000" cy="30600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63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7816" y="1991756"/>
            <a:ext cx="2700000" cy="251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0A2540"/>
                </a:solidFill>
                <a:latin typeface="Carlito"/>
              </a:defRPr>
            </a:pPr>
            <a:r>
              <a:rPr dirty="0"/>
              <a:t>3.0 × 6.0 × 2.0 м (</a:t>
            </a:r>
            <a:r>
              <a:rPr dirty="0" err="1"/>
              <a:t>стандарт</a:t>
            </a:r>
            <a:r>
              <a:rPr dirty="0"/>
              <a:t>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239998" y="1949480"/>
            <a:ext cx="3241721" cy="306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635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307539" y="1991756"/>
            <a:ext cx="3133719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1">
                <a:solidFill>
                  <a:srgbClr val="8B4500"/>
                </a:solidFill>
                <a:latin typeface="Carlito"/>
              </a:defRPr>
            </a:pPr>
            <a:r>
              <a:rPr dirty="0" err="1"/>
              <a:t>Площадь</a:t>
            </a:r>
            <a:r>
              <a:rPr dirty="0"/>
              <a:t>: 54 м²  |  48 м² </a:t>
            </a:r>
            <a:r>
              <a:rPr dirty="0" err="1"/>
              <a:t>стен</a:t>
            </a:r>
            <a:r>
              <a:rPr dirty="0"/>
              <a:t> + </a:t>
            </a:r>
            <a:r>
              <a:rPr dirty="0" err="1"/>
              <a:t>крыша</a:t>
            </a:r>
            <a:r>
              <a:rPr dirty="0"/>
              <a:t> ≈ 54 м²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6000" y="2462400"/>
            <a:ext cx="54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808890"/>
                </a:solidFill>
                <a:latin typeface="Carlito"/>
              </a:defRPr>
            </a:pPr>
            <a:r>
              <a:t>Совокупная стоимость владения за 10 лет (материал + работа)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6000" y="26424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ЭКОНОМ (без грунта)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6000" y="28224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2,223₽/цикл  |  Работа: 8,700₽/цикл  |  Перекрасок: 4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528000" y="26964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3528000" y="2696400"/>
            <a:ext cx="5580000" cy="3060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3636000" y="26784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43,692₽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6000" y="32184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3A3A3A"/>
                </a:solidFill>
                <a:latin typeface="Carlito"/>
              </a:defRPr>
            </a:pPr>
            <a:r>
              <a:t>ПФ-115 + ГФ-021 (грунт + эмаль)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16000" y="33984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4,144₽/цикл  |  Работа: 11,700₽/цикл  |  Перекрасок: 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528000" y="32724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3528000" y="3272400"/>
            <a:ext cx="4046943" cy="306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3636000" y="32544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FFFFFF"/>
                </a:solidFill>
                <a:latin typeface="Carlito"/>
              </a:defRPr>
            </a:pPr>
            <a:r>
              <a:t>31,688₽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6000" y="3794400"/>
            <a:ext cx="3240000" cy="1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1B7D46"/>
                </a:solidFill>
                <a:latin typeface="Carlito"/>
              </a:defRPr>
            </a:pPr>
            <a:r>
              <a:t>TITAN 3в1 (грунт+эмаль+защита)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6000" y="3974400"/>
            <a:ext cx="324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750" b="0">
                <a:solidFill>
                  <a:srgbClr val="808890"/>
                </a:solidFill>
                <a:latin typeface="Carlito"/>
              </a:defRPr>
            </a:pPr>
            <a:r>
              <a:t>Материал: 11,880₽/цикл  |  Работа: 5,700₽/цикл  |  Перекрасок: 1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528000" y="3848400"/>
            <a:ext cx="5580000" cy="306000"/>
          </a:xfrm>
          <a:prstGeom prst="rect">
            <a:avLst/>
          </a:prstGeom>
          <a:solidFill>
            <a:srgbClr val="F2F4F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Rectangle 24"/>
          <p:cNvSpPr/>
          <p:nvPr/>
        </p:nvSpPr>
        <p:spPr>
          <a:xfrm>
            <a:off x="3528000" y="3848400"/>
            <a:ext cx="2245179" cy="306000"/>
          </a:xfrm>
          <a:prstGeom prst="rect">
            <a:avLst/>
          </a:prstGeom>
          <a:solidFill>
            <a:srgbClr val="1B7D4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5881179" y="3830400"/>
            <a:ext cx="1440000" cy="34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A3A3A"/>
                </a:solidFill>
                <a:latin typeface="Carlito"/>
              </a:defRPr>
            </a:pPr>
            <a:r>
              <a:t>17,580₽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369840" y="1081624"/>
            <a:ext cx="3060000" cy="1152000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2540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8369840" y="1117624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1B7D46"/>
                </a:solidFill>
                <a:latin typeface="Carlito"/>
              </a:defRPr>
            </a:pPr>
            <a:r>
              <a:t>ЭКОНОМИЯ ЗА 10 ЛЕТ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9840" y="1369624"/>
            <a:ext cx="3060000" cy="503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B7D46"/>
                </a:solidFill>
                <a:latin typeface="Carlito"/>
              </a:defRPr>
            </a:pPr>
            <a:r>
              <a:rPr dirty="0"/>
              <a:t>26,112₽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9840" y="1837623"/>
            <a:ext cx="306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1B7D46"/>
                </a:solidFill>
                <a:latin typeface="Carlito"/>
              </a:defRPr>
            </a:pPr>
            <a:r>
              <a:t>59% экономии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16000" y="4469479"/>
            <a:ext cx="10980000" cy="468000"/>
          </a:xfrm>
          <a:prstGeom prst="roundRect">
            <a:avLst>
              <a:gd name="adj" fmla="val 5000"/>
            </a:avLst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TextBox 31"/>
          <p:cNvSpPr txBox="1"/>
          <p:nvPr/>
        </p:nvSpPr>
        <p:spPr>
          <a:xfrm>
            <a:off x="396000" y="4523479"/>
            <a:ext cx="1062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FFFFFF"/>
                </a:solidFill>
                <a:latin typeface="Carlito"/>
              </a:defRPr>
            </a:pPr>
            <a:r>
              <a:t>TITAN 3в1: красите 1 раз на 10 лет вместо 4 раз  —  экономия 26,112₽ (59%)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8000" y="6217997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Подробнее</a:t>
            </a:r>
            <a:r>
              <a:rPr dirty="0"/>
              <a:t> </a:t>
            </a:r>
            <a:r>
              <a:rPr dirty="0" err="1"/>
              <a:t>см</a:t>
            </a:r>
            <a:r>
              <a:rPr dirty="0"/>
              <a:t>. </a:t>
            </a:r>
            <a:r>
              <a:rPr dirty="0" err="1"/>
              <a:t>слайд</a:t>
            </a:r>
            <a:r>
              <a:rPr dirty="0"/>
              <a:t> «</a:t>
            </a:r>
            <a:r>
              <a:rPr dirty="0" err="1"/>
              <a:t>Расчёт</a:t>
            </a:r>
            <a:r>
              <a:rPr dirty="0"/>
              <a:t> TCO»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2000" cy="432000"/>
          </a:xfrm>
          <a:prstGeom prst="rect">
            <a:avLst/>
          </a:prstGeom>
          <a:solidFill>
            <a:srgbClr val="0A25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360000" y="54000"/>
            <a:ext cx="90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  <a:latin typeface="Carlito"/>
              </a:defRPr>
            </a:pPr>
            <a:r>
              <a:t>РАСЧЁТ TCO: ГАРАЖ МЕТАЛЛИЧЕСКИЙ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720000" y="54000"/>
            <a:ext cx="18000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800" b="1">
                <a:solidFill>
                  <a:srgbClr val="E86C00"/>
                </a:solidFill>
                <a:latin typeface="Carlito"/>
              </a:defRPr>
            </a:pPr>
            <a:r>
              <a:t>TITAN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16000" y="1297019"/>
            <a:ext cx="10800000" cy="21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Гараж-ракушка</a:t>
            </a:r>
            <a:r>
              <a:rPr dirty="0"/>
              <a:t> / </a:t>
            </a:r>
            <a:r>
              <a:rPr dirty="0" err="1"/>
              <a:t>металлический</a:t>
            </a:r>
            <a:r>
              <a:rPr dirty="0"/>
              <a:t> </a:t>
            </a:r>
            <a:r>
              <a:rPr dirty="0" err="1"/>
              <a:t>пенал</a:t>
            </a:r>
            <a:r>
              <a:rPr dirty="0"/>
              <a:t> (</a:t>
            </a:r>
            <a:r>
              <a:rPr dirty="0" err="1"/>
              <a:t>типовой</a:t>
            </a:r>
            <a:r>
              <a:rPr dirty="0"/>
              <a:t>)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122549"/>
            <a:ext cx="12192000" cy="1080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ounded Rectangle 6"/>
          <p:cNvSpPr/>
          <p:nvPr/>
        </p:nvSpPr>
        <p:spPr>
          <a:xfrm>
            <a:off x="216000" y="1602223"/>
            <a:ext cx="5472000" cy="674250"/>
          </a:xfrm>
          <a:prstGeom prst="roundRect">
            <a:avLst>
              <a:gd name="adj" fmla="val 5000"/>
            </a:avLst>
          </a:prstGeom>
          <a:solidFill>
            <a:srgbClr val="E3F2FD"/>
          </a:solidFill>
          <a:ln w="127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05999" y="1664474"/>
            <a:ext cx="5018559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rPr dirty="0" err="1"/>
              <a:t>Объект</a:t>
            </a:r>
            <a:r>
              <a:rPr dirty="0"/>
              <a:t>: </a:t>
            </a:r>
            <a:r>
              <a:rPr dirty="0" err="1"/>
              <a:t>Гараж-ракушка</a:t>
            </a:r>
            <a:r>
              <a:rPr dirty="0"/>
              <a:t> / </a:t>
            </a:r>
            <a:r>
              <a:rPr dirty="0" err="1"/>
              <a:t>металлический</a:t>
            </a:r>
            <a:r>
              <a:rPr dirty="0"/>
              <a:t> </a:t>
            </a:r>
            <a:r>
              <a:rPr dirty="0" err="1"/>
              <a:t>пенал</a:t>
            </a:r>
            <a:r>
              <a:rPr dirty="0"/>
              <a:t> (</a:t>
            </a:r>
            <a:r>
              <a:rPr dirty="0" err="1"/>
              <a:t>типовой</a:t>
            </a:r>
            <a:r>
              <a:rPr dirty="0"/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rPr dirty="0" err="1"/>
              <a:t>Размеры</a:t>
            </a:r>
            <a:r>
              <a:rPr dirty="0"/>
              <a:t>: 3.0 × 6.0 × 2.0 м (</a:t>
            </a:r>
            <a:r>
              <a:rPr dirty="0" err="1"/>
              <a:t>стандарт</a:t>
            </a:r>
            <a:r>
              <a:rPr dirty="0"/>
              <a:t>)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8B4500"/>
                </a:solidFill>
                <a:latin typeface="Carlito"/>
              </a:defRPr>
            </a:pPr>
            <a:r>
              <a:rPr dirty="0" err="1"/>
              <a:t>Площадь</a:t>
            </a:r>
            <a:r>
              <a:rPr dirty="0"/>
              <a:t> </a:t>
            </a:r>
            <a:r>
              <a:rPr dirty="0" err="1"/>
              <a:t>окраски</a:t>
            </a:r>
            <a:r>
              <a:rPr dirty="0"/>
              <a:t>: 2×(3×2) + 2×(6×2) + 3×6 = 6+24+18 = 48 м² </a:t>
            </a:r>
            <a:r>
              <a:rPr dirty="0" err="1"/>
              <a:t>стен</a:t>
            </a:r>
            <a:r>
              <a:rPr dirty="0"/>
              <a:t> + </a:t>
            </a:r>
            <a:r>
              <a:rPr dirty="0" err="1"/>
              <a:t>крыша</a:t>
            </a:r>
            <a:r>
              <a:rPr dirty="0"/>
              <a:t> ≈ 54 м² = 54 м²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816583"/>
              </p:ext>
            </p:extLst>
          </p:nvPr>
        </p:nvGraphicFramePr>
        <p:xfrm>
          <a:off x="288000" y="2556013"/>
          <a:ext cx="6840000" cy="2680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20000"/>
                <a:gridCol w="1620000"/>
                <a:gridCol w="1800000"/>
                <a:gridCol w="1800000"/>
              </a:tblGrid>
              <a:tr h="234000">
                <a:tc>
                  <a:txBody>
                    <a:bodyPr/>
                    <a:lstStyle/>
                    <a:p>
                      <a:pPr algn="l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Параметр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ЭКОНОМ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(без грунта)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ПФ-115 + ГФ-021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 + эмаль)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TITAN 3в1</a:t>
                      </a:r>
                    </a:p>
                    <a:p>
                      <a:pPr algn="ctr">
                        <a:defRPr sz="850" b="1">
                          <a:solidFill>
                            <a:srgbClr val="FFFFFF"/>
                          </a:solidFill>
                          <a:latin typeface="Carlito"/>
                        </a:defRPr>
                      </a:pPr>
                      <a:r>
                        <a:t>(грунт+эмаль+защита)</a:t>
                      </a:r>
                    </a:p>
                  </a:txBody>
                  <a:tcPr marL="54000" marR="54000" marT="18000" marB="18000">
                    <a:solidFill>
                      <a:srgbClr val="0A2540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Краска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Эмаль ПФ-115 ЭКОНОМ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ГФ-021 грунт + ПФ-115 КМ эмаль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Грунт-эмаль TITAN 3в1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Цена за 1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190₽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Расход (г/м² × слой)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130 × 2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110 × 3 сл.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120 × 2 сл.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Краски на 1 цикл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14.0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17.8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13.0 л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Материал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2,223₽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4,144₽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11,880₽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Подготовка поверхности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Зачистка + обезжиривание + грунтование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Очистка от рыхлой ржавчины (без грунтования!)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Работа (1 цикл)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8,700₽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11,700₽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5,700₽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Срок службы покрытия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2.5 года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5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Перекрасок за 10 лет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4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2</a:t>
                      </a:r>
                    </a:p>
                  </a:txBody>
                  <a:tcPr marL="54000" marR="54000" marT="18000" marB="18000"/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solidFill>
                            <a:srgbClr val="3A3A3A"/>
                          </a:solidFill>
                          <a:latin typeface="Carlito"/>
                        </a:defRPr>
                      </a:pPr>
                      <a:r>
                        <a:t>1</a:t>
                      </a:r>
                    </a:p>
                  </a:txBody>
                  <a:tcPr marL="54000" marR="54000" marT="18000" marB="18000"/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ИТОГО TCO за 10 лет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43,692₽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31,688₽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A2540"/>
                          </a:solidFill>
                          <a:latin typeface="Carlito"/>
                        </a:defRPr>
                      </a:pPr>
                      <a:r>
                        <a:t>17,580₽</a:t>
                      </a:r>
                    </a:p>
                  </a:txBody>
                  <a:tcPr marL="54000" marR="54000" marT="18000" marB="18000">
                    <a:solidFill>
                      <a:srgbClr val="F2F4F6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7298252" y="2592890"/>
            <a:ext cx="4500000" cy="1007999"/>
          </a:xfrm>
          <a:prstGeom prst="roundRect">
            <a:avLst>
              <a:gd name="adj" fmla="val 5000"/>
            </a:avLst>
          </a:prstGeom>
          <a:solidFill>
            <a:srgbClr val="E8F5E9"/>
          </a:solidFill>
          <a:ln w="19050">
            <a:solidFill>
              <a:srgbClr val="1B7D4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442252" y="2664889"/>
            <a:ext cx="4248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1B7D46"/>
                </a:solidFill>
                <a:latin typeface="Carlito"/>
              </a:defRPr>
            </a:pPr>
            <a:r>
              <a:t>КЛЮЧЕВОЙ ВЫВОД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1">
                <a:solidFill>
                  <a:srgbClr val="0A2540"/>
                </a:solidFill>
                <a:latin typeface="Carlito"/>
              </a:defRPr>
            </a:pPr>
            <a:r>
              <a:t>TITAN 3в1 экономит 26,112₽ за 10 лет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r>
              <a:t>(59% дешевле) — красите 1 раз вместо 4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3A3A3A"/>
                </a:solidFill>
                <a:latin typeface="Carlito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Почему: срок службы 10 лет vs 2-5 лет,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50" b="0">
                <a:solidFill>
                  <a:srgbClr val="808890"/>
                </a:solidFill>
                <a:latin typeface="Carlito"/>
              </a:defRPr>
            </a:pPr>
            <a:r>
              <a:t>не нужна грунтовка, наносится на ржавчину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298252" y="3708890"/>
            <a:ext cx="4500000" cy="1080000"/>
          </a:xfrm>
          <a:prstGeom prst="roundRect">
            <a:avLst>
              <a:gd name="adj" fmla="val 5000"/>
            </a:avLst>
          </a:prstGeom>
          <a:solidFill>
            <a:srgbClr val="FFF3E0"/>
          </a:solidFill>
          <a:ln w="12700">
            <a:solidFill>
              <a:srgbClr val="E86C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7442252" y="3780890"/>
            <a:ext cx="4248000" cy="1007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100"/>
              </a:spcBef>
              <a:spcAft>
                <a:spcPts val="100"/>
              </a:spcAft>
              <a:defRPr sz="800" b="1">
                <a:solidFill>
                  <a:srgbClr val="E86C00"/>
                </a:solidFill>
                <a:latin typeface="Carlito"/>
              </a:defRPr>
            </a:pPr>
            <a:r>
              <a:t>Стоимость работы за 1 цикл: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Подготовка: зачистка, обезжиривание, грунтование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r>
              <a:t>  Покраска: ~50₽/м² × 54 м² = 2,700₽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3A3A3A"/>
                </a:solidFill>
                <a:latin typeface="Carlito"/>
              </a:defRPr>
            </a:pPr>
            <a:endParaRPr/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TITAN: подготовка проще — не нужно</a:t>
            </a:r>
          </a:p>
          <a:p>
            <a:pPr algn="l">
              <a:spcBef>
                <a:spcPts val="100"/>
              </a:spcBef>
              <a:spcAft>
                <a:spcPts val="100"/>
              </a:spcAft>
              <a:defRPr sz="800" b="0">
                <a:solidFill>
                  <a:srgbClr val="1B7D46"/>
                </a:solidFill>
                <a:latin typeface="Carlito"/>
              </a:defRPr>
            </a:pPr>
            <a:r>
              <a:t>грунтовать, можно наносить на ржавчину!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8000" y="6266549"/>
            <a:ext cx="10800000" cy="144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650" b="0">
                <a:solidFill>
                  <a:srgbClr val="808890"/>
                </a:solidFill>
                <a:latin typeface="Carlito"/>
              </a:defRPr>
            </a:pPr>
            <a:r>
              <a:rPr dirty="0"/>
              <a:t>* </a:t>
            </a:r>
            <a:r>
              <a:rPr dirty="0" err="1"/>
              <a:t>Цена</a:t>
            </a:r>
            <a:r>
              <a:rPr dirty="0"/>
              <a:t> TITAN: 765₽/0.75л, 1 720₽/2л, 5 720₽/8.5л (</a:t>
            </a:r>
            <a:r>
              <a:rPr dirty="0" err="1"/>
              <a:t>Все</a:t>
            </a:r>
            <a:r>
              <a:rPr dirty="0"/>
              <a:t> </a:t>
            </a:r>
            <a:r>
              <a:rPr dirty="0" err="1"/>
              <a:t>Инструменты</a:t>
            </a:r>
            <a:r>
              <a:rPr dirty="0"/>
              <a:t>, 2026). ПФ-115 ЭКОНОМ: ~190₽/л. ГФ-021: ~145₽/л. ПФ-115 КМ: ~280₽/л.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Стандартная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492</Words>
  <Application>Microsoft Office PowerPoint</Application>
  <PresentationFormat>Произвольный</PresentationFormat>
  <Paragraphs>86</Paragraphs>
  <Slides>2</Slides>
  <Notes>0</Notes>
  <HiddenSlides>0</HiddenSlides>
  <MMClips>0</MMClips>
  <ScaleCrop>false</ScaleCrop>
  <HeadingPairs>
    <vt:vector size="4" baseType="variant"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</vt:i4>
      </vt:variant>
    </vt:vector>
  </HeadingPairs>
  <TitlesOfParts>
    <vt:vector size="3" baseType="lpstr">
      <vt:lpstr>Office Theme</vt:lpstr>
      <vt:lpstr>Презентация PowerPoint</vt:lpstr>
      <vt:lpstr>Презентация PowerPoint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subject/>
  <dc:creator/>
  <cp:keywords/>
  <dc:description>generated using python-pptx</dc:description>
  <cp:lastModifiedBy>Заколодний Роман Александрович</cp:lastModifiedBy>
  <cp:revision>6</cp:revision>
  <cp:lastPrinted>2026-06-22T11:48:34Z</cp:lastPrinted>
  <dcterms:created xsi:type="dcterms:W3CDTF">2013-01-27T09:14:16Z</dcterms:created>
  <dcterms:modified xsi:type="dcterms:W3CDTF">2026-08-04T10:54:15Z</dcterms:modified>
  <cp:category/>
</cp:coreProperties>
</file>