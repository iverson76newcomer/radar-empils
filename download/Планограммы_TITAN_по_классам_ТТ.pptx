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0" y="0"/>
            <a:ext cx="91440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411480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Arial"/>
              </a:rPr>
              <a:t>TITAN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94560"/>
            <a:ext cx="41148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ПЛАНОГРАММЫ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41148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ПО КЛАССАМ ТТ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749039"/>
            <a:ext cx="228600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3931920"/>
            <a:ext cx="41148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A — Федеральная сеть DIY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434840"/>
            <a:ext cx="41148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B — Локальная сеть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937760"/>
            <a:ext cx="41148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C — Супермаркет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440680"/>
            <a:ext cx="41148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D — Хозмаг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914400"/>
            <a:ext cx="685800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16A34A"/>
                </a:solidFill>
                <a:latin typeface="Arial"/>
              </a:rPr>
              <a:t>Сводная матрица TITAN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737360"/>
            <a:ext cx="685800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16A34A"/>
                </a:solidFill>
                <a:latin typeface="Arial"/>
              </a:rPr>
              <a:t>по 4 классам ТТ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2697480"/>
            <a:ext cx="182880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2880360"/>
            <a:ext cx="68580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0" i="1">
                <a:solidFill>
                  <a:srgbClr val="1A1F36"/>
                </a:solidFill>
                <a:latin typeface="Arial"/>
              </a:rPr>
              <a:t>4 планограммы · 30 SKU TITAN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3657600"/>
            <a:ext cx="6675120" cy="411480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3657600"/>
            <a:ext cx="111252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Класс ТТ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1720" y="3657600"/>
            <a:ext cx="111252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Канал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4240" y="3657600"/>
            <a:ext cx="111252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TITAN SKU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657600"/>
            <a:ext cx="111252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3в1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79280" y="3657600"/>
            <a:ext cx="111252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Быстросох.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91800" y="3657600"/>
            <a:ext cx="111252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Молот.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0" y="4069080"/>
            <a:ext cx="6675120" cy="411480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0" y="4069080"/>
            <a:ext cx="111252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1720" y="4069080"/>
            <a:ext cx="111252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Федеральная DIY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54240" y="4069080"/>
            <a:ext cx="111252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069080"/>
            <a:ext cx="111252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79280" y="4069080"/>
            <a:ext cx="111252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91800" y="4069080"/>
            <a:ext cx="111252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0" y="4480560"/>
            <a:ext cx="66751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0" y="4480560"/>
            <a:ext cx="111252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1720" y="4480560"/>
            <a:ext cx="111252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Локальная сеть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54240" y="4480560"/>
            <a:ext cx="111252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480560"/>
            <a:ext cx="111252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79280" y="4480560"/>
            <a:ext cx="111252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91800" y="4480560"/>
            <a:ext cx="111252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0" y="4892040"/>
            <a:ext cx="6675120" cy="411480"/>
          </a:xfrm>
          <a:prstGeom prst="rect">
            <a:avLst/>
          </a:prstGeom>
          <a:solidFill>
            <a:srgbClr val="E5E7EB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0" y="4892040"/>
            <a:ext cx="111252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41720" y="4892040"/>
            <a:ext cx="111252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Супермаркет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54240" y="4892040"/>
            <a:ext cx="111252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4892040"/>
            <a:ext cx="111252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79280" y="4892040"/>
            <a:ext cx="111252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91800" y="4892040"/>
            <a:ext cx="111252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0" y="5303520"/>
            <a:ext cx="66751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0" y="5303520"/>
            <a:ext cx="111252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41720" y="5303520"/>
            <a:ext cx="111252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Хозмаг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54240" y="5303520"/>
            <a:ext cx="111252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C62828"/>
                </a:solidFill>
                <a:latin typeface="Arial"/>
              </a:rPr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5303520"/>
            <a:ext cx="111252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79280" y="5303520"/>
            <a:ext cx="111252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91800" y="5303520"/>
            <a:ext cx="111252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A1F36"/>
                </a:solidFill>
                <a:latin typeface="Arial"/>
              </a:rP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0" y="6309360"/>
            <a:ext cx="68580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 i="1">
                <a:solidFill>
                  <a:srgbClr val="9CA3AF"/>
                </a:solidFill>
                <a:latin typeface="Arial"/>
              </a:rPr>
              <a:t>Empils  •  TITAN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КЛАСС A — ФЕДЕРАЛЬНАЯ СЕТЬ DIY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16 SKU TITAN  •  3 линейки  •  5 цветов RAL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868680"/>
            <a:ext cx="11460175" cy="51206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715000"/>
            <a:ext cx="11185855" cy="228600"/>
          </a:xfrm>
          <a:prstGeom prst="rect">
            <a:avLst/>
          </a:prstGeom>
          <a:solidFill>
            <a:srgbClr val="8B6F47"/>
          </a:solidFill>
          <a:ln w="12700">
            <a:solidFill>
              <a:srgbClr val="6B5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60120"/>
            <a:ext cx="73152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C62828"/>
                </a:solidFill>
                <a:latin typeface="Arial"/>
              </a:rPr>
              <a:t>ПОЛКА: TITAN — полный ассортимент (3в1 + быстросохнущая + молотковая)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77095" y="1005840"/>
            <a:ext cx="182880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800" b="1" i="0">
                <a:solidFill>
                  <a:srgbClr val="C62828"/>
                </a:solidFill>
                <a:latin typeface="Arial"/>
              </a:rPr>
              <a:t>16 SKU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97480"/>
            <a:ext cx="530523" cy="292608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33472"/>
            <a:ext cx="439083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743200"/>
            <a:ext cx="530523" cy="2834640"/>
          </a:xfrm>
          <a:prstGeom prst="rect">
            <a:avLst/>
          </a:prstGeom>
          <a:noFill/>
        </p:spPr>
        <p:txBody>
          <a:bodyPr wrap="square" anchor="ctr" lIns="12700" r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3в1 0.75л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Arial"/>
              </a:rPr>
              <a:t>Чёрный RAL 9005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90643" y="2697480"/>
            <a:ext cx="530523" cy="2926080"/>
          </a:xfrm>
          <a:prstGeom prst="roundRect">
            <a:avLst/>
          </a:prstGeom>
          <a:solidFill>
            <a:srgbClr val="B0B0B0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536363" y="2633472"/>
            <a:ext cx="439083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90643" y="2743200"/>
            <a:ext cx="530523" cy="2834640"/>
          </a:xfrm>
          <a:prstGeom prst="rect">
            <a:avLst/>
          </a:prstGeom>
          <a:noFill/>
        </p:spPr>
        <p:txBody>
          <a:bodyPr wrap="square" anchor="ctr" lIns="12700" rIns="12700">
            <a:spAutoFit/>
          </a:bodyPr>
          <a:lstStyle/>
          <a:p>
            <a:pPr algn="ctr"/>
            <a:r>
              <a:rPr sz="9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1A1F36"/>
                </a:solidFill>
                <a:latin typeface="Arial"/>
              </a:rPr>
              <a:t>3в1 0.75л</a:t>
            </a:r>
          </a:p>
          <a:p>
            <a:pPr algn="ctr"/>
            <a:r>
              <a:rPr sz="600" b="0">
                <a:solidFill>
                  <a:srgbClr val="1A1F36"/>
                </a:solidFill>
                <a:latin typeface="Arial"/>
              </a:rPr>
              <a:t>Серый RAL 7004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58326" y="2697480"/>
            <a:ext cx="530523" cy="2926080"/>
          </a:xfrm>
          <a:prstGeom prst="roundRect">
            <a:avLst/>
          </a:prstGeom>
          <a:solidFill>
            <a:srgbClr val="3D2817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04046" y="2633472"/>
            <a:ext cx="439083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58326" y="2743200"/>
            <a:ext cx="530523" cy="2834640"/>
          </a:xfrm>
          <a:prstGeom prst="rect">
            <a:avLst/>
          </a:prstGeom>
          <a:noFill/>
        </p:spPr>
        <p:txBody>
          <a:bodyPr wrap="square" anchor="ctr" lIns="12700" r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3в1 0.75л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Arial"/>
              </a:rPr>
              <a:t>Коричневый RAL 8017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26010" y="2697480"/>
            <a:ext cx="530523" cy="2926080"/>
          </a:xfrm>
          <a:prstGeom prst="roundRect">
            <a:avLst/>
          </a:prstGeom>
          <a:solidFill>
            <a:srgbClr val="404040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71730" y="2633472"/>
            <a:ext cx="439083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26010" y="2743200"/>
            <a:ext cx="530523" cy="2834640"/>
          </a:xfrm>
          <a:prstGeom prst="rect">
            <a:avLst/>
          </a:prstGeom>
          <a:noFill/>
        </p:spPr>
        <p:txBody>
          <a:bodyPr wrap="square" anchor="ctr" lIns="12700" r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3в1 0.75л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Arial"/>
              </a:rPr>
              <a:t>Графит RAL 7024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93693" y="2697480"/>
            <a:ext cx="530523" cy="2926080"/>
          </a:xfrm>
          <a:prstGeom prst="roundRect">
            <a:avLst/>
          </a:prstGeom>
          <a:solidFill>
            <a:srgbClr val="F5F5DC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39413" y="2633472"/>
            <a:ext cx="439083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93693" y="2743200"/>
            <a:ext cx="530523" cy="2834640"/>
          </a:xfrm>
          <a:prstGeom prst="rect">
            <a:avLst/>
          </a:prstGeom>
          <a:noFill/>
        </p:spPr>
        <p:txBody>
          <a:bodyPr wrap="square" anchor="ctr" lIns="12700" rIns="12700">
            <a:spAutoFit/>
          </a:bodyPr>
          <a:lstStyle/>
          <a:p>
            <a:pPr algn="ctr"/>
            <a:r>
              <a:rPr sz="9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1A1F36"/>
                </a:solidFill>
                <a:latin typeface="Arial"/>
              </a:rPr>
              <a:t>3в1 0.75л</a:t>
            </a:r>
          </a:p>
          <a:p>
            <a:pPr algn="ctr"/>
            <a:r>
              <a:rPr sz="600" b="0">
                <a:solidFill>
                  <a:srgbClr val="1A1F36"/>
                </a:solidFill>
                <a:latin typeface="Arial"/>
              </a:rPr>
              <a:t>Белый RAL 9010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61377" y="2697480"/>
            <a:ext cx="530523" cy="292608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07097" y="2633472"/>
            <a:ext cx="439083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61377" y="2743200"/>
            <a:ext cx="530523" cy="2834640"/>
          </a:xfrm>
          <a:prstGeom prst="rect">
            <a:avLst/>
          </a:prstGeom>
          <a:noFill/>
        </p:spPr>
        <p:txBody>
          <a:bodyPr wrap="square" anchor="ctr" lIns="12700" r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3в1 2л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Arial"/>
              </a:rPr>
              <a:t>Чёрный RAL 9005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29060" y="2697480"/>
            <a:ext cx="530523" cy="2926080"/>
          </a:xfrm>
          <a:prstGeom prst="roundRect">
            <a:avLst/>
          </a:prstGeom>
          <a:solidFill>
            <a:srgbClr val="B0B0B0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874780" y="2633472"/>
            <a:ext cx="439083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29060" y="2743200"/>
            <a:ext cx="530523" cy="2834640"/>
          </a:xfrm>
          <a:prstGeom prst="rect">
            <a:avLst/>
          </a:prstGeom>
          <a:noFill/>
        </p:spPr>
        <p:txBody>
          <a:bodyPr wrap="square" anchor="ctr" lIns="12700" rIns="12700">
            <a:spAutoFit/>
          </a:bodyPr>
          <a:lstStyle/>
          <a:p>
            <a:pPr algn="ctr"/>
            <a:r>
              <a:rPr sz="9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1A1F36"/>
                </a:solidFill>
                <a:latin typeface="Arial"/>
              </a:rPr>
              <a:t>3в1 2л</a:t>
            </a:r>
          </a:p>
          <a:p>
            <a:pPr algn="ctr"/>
            <a:r>
              <a:rPr sz="600" b="0">
                <a:solidFill>
                  <a:srgbClr val="1A1F36"/>
                </a:solidFill>
                <a:latin typeface="Arial"/>
              </a:rPr>
              <a:t>Серый RAL 7004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96744" y="2697480"/>
            <a:ext cx="530523" cy="2926080"/>
          </a:xfrm>
          <a:prstGeom prst="roundRect">
            <a:avLst/>
          </a:prstGeom>
          <a:solidFill>
            <a:srgbClr val="3D2817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42464" y="2633472"/>
            <a:ext cx="439083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96744" y="2743200"/>
            <a:ext cx="530523" cy="2834640"/>
          </a:xfrm>
          <a:prstGeom prst="rect">
            <a:avLst/>
          </a:prstGeom>
          <a:noFill/>
        </p:spPr>
        <p:txBody>
          <a:bodyPr wrap="square" anchor="ctr" lIns="12700" r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3в1 2л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Arial"/>
              </a:rPr>
              <a:t>Коричневый RAL 8017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64427" y="2697480"/>
            <a:ext cx="530523" cy="2926080"/>
          </a:xfrm>
          <a:prstGeom prst="roundRect">
            <a:avLst/>
          </a:prstGeom>
          <a:solidFill>
            <a:srgbClr val="404040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0147" y="2633472"/>
            <a:ext cx="439083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64427" y="2743200"/>
            <a:ext cx="530523" cy="2834640"/>
          </a:xfrm>
          <a:prstGeom prst="rect">
            <a:avLst/>
          </a:prstGeom>
          <a:noFill/>
        </p:spPr>
        <p:txBody>
          <a:bodyPr wrap="square" anchor="ctr" lIns="12700" r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3в1 2л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Arial"/>
              </a:rPr>
              <a:t>Графит RAL 7024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32110" y="2697480"/>
            <a:ext cx="530523" cy="2926080"/>
          </a:xfrm>
          <a:prstGeom prst="roundRect">
            <a:avLst/>
          </a:prstGeom>
          <a:solidFill>
            <a:srgbClr val="F5F5DC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877830" y="2633472"/>
            <a:ext cx="439083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32110" y="2743200"/>
            <a:ext cx="530523" cy="2834640"/>
          </a:xfrm>
          <a:prstGeom prst="rect">
            <a:avLst/>
          </a:prstGeom>
          <a:noFill/>
        </p:spPr>
        <p:txBody>
          <a:bodyPr wrap="square" anchor="ctr" lIns="12700" rIns="12700">
            <a:spAutoFit/>
          </a:bodyPr>
          <a:lstStyle/>
          <a:p>
            <a:pPr algn="ctr"/>
            <a:r>
              <a:rPr sz="9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1A1F36"/>
                </a:solidFill>
                <a:latin typeface="Arial"/>
              </a:rPr>
              <a:t>3в1 2л</a:t>
            </a:r>
          </a:p>
          <a:p>
            <a:pPr algn="ctr"/>
            <a:r>
              <a:rPr sz="600" b="0">
                <a:solidFill>
                  <a:srgbClr val="1A1F36"/>
                </a:solidFill>
                <a:latin typeface="Arial"/>
              </a:rPr>
              <a:t>Белый RAL 9010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99794" y="2697480"/>
            <a:ext cx="530523" cy="292608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545514" y="2633472"/>
            <a:ext cx="439083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9794" y="2743200"/>
            <a:ext cx="530523" cy="2834640"/>
          </a:xfrm>
          <a:prstGeom prst="rect">
            <a:avLst/>
          </a:prstGeom>
          <a:noFill/>
        </p:spPr>
        <p:txBody>
          <a:bodyPr wrap="square" anchor="ctr" lIns="12700" r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БЫСТР. 0.75л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Arial"/>
              </a:rPr>
              <a:t>Чёрный RAL 9005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67477" y="2697480"/>
            <a:ext cx="530523" cy="292608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213197" y="2633472"/>
            <a:ext cx="439083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67477" y="2743200"/>
            <a:ext cx="530523" cy="2834640"/>
          </a:xfrm>
          <a:prstGeom prst="rect">
            <a:avLst/>
          </a:prstGeom>
          <a:noFill/>
        </p:spPr>
        <p:txBody>
          <a:bodyPr wrap="square" anchor="ctr" lIns="12700" r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БЫСТР. 2.2л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Arial"/>
              </a:rPr>
              <a:t>Чёрный RAL 9005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835161" y="2697480"/>
            <a:ext cx="530523" cy="292608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880881" y="2633472"/>
            <a:ext cx="439083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951716" y="5082741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040801" y="5132135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073142" y="3291604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131933" y="3798289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161925" y="3590082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179533" y="4941065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835161" y="2743200"/>
            <a:ext cx="530523" cy="2834640"/>
          </a:xfrm>
          <a:prstGeom prst="rect">
            <a:avLst/>
          </a:prstGeom>
          <a:noFill/>
        </p:spPr>
        <p:txBody>
          <a:bodyPr wrap="square" anchor="ctr" lIns="12700" r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Молот. 0.8кг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502844" y="2697480"/>
            <a:ext cx="530523" cy="292608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548564" y="2633472"/>
            <a:ext cx="439083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857932" y="339118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606466" y="3964255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9718851" y="3284963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826744" y="513423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765570" y="3056384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764099" y="3674861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502844" y="2743200"/>
            <a:ext cx="530523" cy="2834640"/>
          </a:xfrm>
          <a:prstGeom prst="rect">
            <a:avLst/>
          </a:prstGeom>
          <a:noFill/>
        </p:spPr>
        <p:txBody>
          <a:bodyPr wrap="square" anchor="ctr" lIns="12700" r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Молот. 2.5кг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170528" y="2697480"/>
            <a:ext cx="530523" cy="2926080"/>
          </a:xfrm>
          <a:prstGeom prst="roundRect">
            <a:avLst/>
          </a:prstGeom>
          <a:solidFill>
            <a:srgbClr val="4A2C17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216248" y="2633472"/>
            <a:ext cx="439083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271677" y="4090287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438302" y="4669021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296143" y="5048685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505335" y="2987512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368704" y="384874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490895" y="5015100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170528" y="2743200"/>
            <a:ext cx="530523" cy="2834640"/>
          </a:xfrm>
          <a:prstGeom prst="rect">
            <a:avLst/>
          </a:prstGeom>
          <a:noFill/>
        </p:spPr>
        <p:txBody>
          <a:bodyPr wrap="square" anchor="ctr" lIns="12700" r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Молот. 0.8кг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Arial"/>
              </a:rPr>
              <a:t>Коричневый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838211" y="2697480"/>
            <a:ext cx="530523" cy="2926080"/>
          </a:xfrm>
          <a:prstGeom prst="roundRect">
            <a:avLst/>
          </a:prstGeom>
          <a:solidFill>
            <a:srgbClr val="C0C0C0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883931" y="2633472"/>
            <a:ext cx="439083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1133342" y="326835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1067449" y="4512633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971282" y="2861114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1081173" y="4830292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982271" y="298718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1075112" y="295294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838211" y="2743200"/>
            <a:ext cx="530523" cy="2834640"/>
          </a:xfrm>
          <a:prstGeom prst="rect">
            <a:avLst/>
          </a:prstGeom>
          <a:noFill/>
        </p:spPr>
        <p:txBody>
          <a:bodyPr wrap="square" anchor="ctr" lIns="12700" rIns="12700">
            <a:spAutoFit/>
          </a:bodyPr>
          <a:lstStyle/>
          <a:p>
            <a:pPr algn="ctr"/>
            <a:r>
              <a:rPr sz="9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1A1F36"/>
                </a:solidFill>
                <a:latin typeface="Arial"/>
              </a:rPr>
              <a:t>Молот. 0.8кг</a:t>
            </a:r>
          </a:p>
          <a:p>
            <a:pPr algn="ctr"/>
            <a:r>
              <a:rPr sz="600" b="0">
                <a:solidFill>
                  <a:srgbClr val="1A1F36"/>
                </a:solidFill>
                <a:latin typeface="Arial"/>
              </a:rPr>
              <a:t>Серебристый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65760" y="6080760"/>
            <a:ext cx="11460175" cy="32004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48640" y="6080760"/>
            <a:ext cx="11094415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!  Класс A — эталонная выкладка. Все 3 линейки TITAN представлены. Дублируем фейсинги на чёрный, коричневый, графит.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65760" y="6446520"/>
            <a:ext cx="11460175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900" b="0" i="1">
                <a:solidFill>
                  <a:srgbClr val="9CA3AF"/>
                </a:solidFill>
                <a:latin typeface="Arial"/>
              </a:rPr>
              <a:t>Empils  •  TITAN  •  Планограмма по классам ТТ  •  10 лет без перекраски — 10 лет экономии!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A1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КЛАСС B — ЛОКАЛЬНАЯ СЕТЬ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12 SKU TITAN  •  3 линейки  •  нет белого 2л, нет серебр.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868680"/>
            <a:ext cx="11460175" cy="51206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715000"/>
            <a:ext cx="11185855" cy="228600"/>
          </a:xfrm>
          <a:prstGeom prst="rect">
            <a:avLst/>
          </a:prstGeom>
          <a:solidFill>
            <a:srgbClr val="8B6F47"/>
          </a:solidFill>
          <a:ln w="12700">
            <a:solidFill>
              <a:srgbClr val="6B5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60120"/>
            <a:ext cx="73152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1A1F36"/>
                </a:solidFill>
                <a:latin typeface="Arial"/>
              </a:rPr>
              <a:t>ПОЛКА: TITAN — 3 линейки (без белого 2л и серебристой молот.)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77095" y="1005840"/>
            <a:ext cx="182880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800" b="1" i="0">
                <a:solidFill>
                  <a:srgbClr val="1A1F36"/>
                </a:solidFill>
                <a:latin typeface="Arial"/>
              </a:rPr>
              <a:t>12 SKU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97480"/>
            <a:ext cx="753084" cy="292608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33472"/>
            <a:ext cx="661644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743200"/>
            <a:ext cx="753084" cy="2834640"/>
          </a:xfrm>
          <a:prstGeom prst="rect">
            <a:avLst/>
          </a:prstGeom>
          <a:noFill/>
        </p:spPr>
        <p:txBody>
          <a:bodyPr wrap="square" anchor="ctr" lIns="12700" r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3в1 0.75л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Arial"/>
              </a:rPr>
              <a:t>Чёрный RAL 9005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13204" y="2697480"/>
            <a:ext cx="753084" cy="2926080"/>
          </a:xfrm>
          <a:prstGeom prst="roundRect">
            <a:avLst/>
          </a:prstGeom>
          <a:solidFill>
            <a:srgbClr val="B0B0B0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58924" y="2633472"/>
            <a:ext cx="661644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13204" y="2743200"/>
            <a:ext cx="753084" cy="2834640"/>
          </a:xfrm>
          <a:prstGeom prst="rect">
            <a:avLst/>
          </a:prstGeom>
          <a:noFill/>
        </p:spPr>
        <p:txBody>
          <a:bodyPr wrap="square" anchor="ctr" lIns="12700" rIns="12700">
            <a:spAutoFit/>
          </a:bodyPr>
          <a:lstStyle/>
          <a:p>
            <a:pPr algn="ctr"/>
            <a:r>
              <a:rPr sz="9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1A1F36"/>
                </a:solidFill>
                <a:latin typeface="Arial"/>
              </a:rPr>
              <a:t>3в1 0.75л</a:t>
            </a:r>
          </a:p>
          <a:p>
            <a:pPr algn="ctr"/>
            <a:r>
              <a:rPr sz="600" b="0">
                <a:solidFill>
                  <a:srgbClr val="1A1F36"/>
                </a:solidFill>
                <a:latin typeface="Arial"/>
              </a:rPr>
              <a:t>Серый RAL 7004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03449" y="2697480"/>
            <a:ext cx="753084" cy="2926080"/>
          </a:xfrm>
          <a:prstGeom prst="roundRect">
            <a:avLst/>
          </a:prstGeom>
          <a:solidFill>
            <a:srgbClr val="3D2817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49169" y="2633472"/>
            <a:ext cx="661644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03449" y="2743200"/>
            <a:ext cx="753084" cy="2834640"/>
          </a:xfrm>
          <a:prstGeom prst="rect">
            <a:avLst/>
          </a:prstGeom>
          <a:noFill/>
        </p:spPr>
        <p:txBody>
          <a:bodyPr wrap="square" anchor="ctr" lIns="12700" r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3в1 0.75л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Arial"/>
              </a:rPr>
              <a:t>Коричневый RAL 8017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93693" y="2697480"/>
            <a:ext cx="753084" cy="2926080"/>
          </a:xfrm>
          <a:prstGeom prst="roundRect">
            <a:avLst/>
          </a:prstGeom>
          <a:solidFill>
            <a:srgbClr val="404040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39413" y="2633472"/>
            <a:ext cx="661644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93693" y="2743200"/>
            <a:ext cx="753084" cy="2834640"/>
          </a:xfrm>
          <a:prstGeom prst="rect">
            <a:avLst/>
          </a:prstGeom>
          <a:noFill/>
        </p:spPr>
        <p:txBody>
          <a:bodyPr wrap="square" anchor="ctr" lIns="12700" r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3в1 0.75л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Arial"/>
              </a:rPr>
              <a:t>Графит RAL 7024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3938" y="2697480"/>
            <a:ext cx="753084" cy="2926080"/>
          </a:xfrm>
          <a:prstGeom prst="roundRect">
            <a:avLst/>
          </a:prstGeom>
          <a:solidFill>
            <a:srgbClr val="F5F5DC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29658" y="2633472"/>
            <a:ext cx="661644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3938" y="2743200"/>
            <a:ext cx="753084" cy="2834640"/>
          </a:xfrm>
          <a:prstGeom prst="rect">
            <a:avLst/>
          </a:prstGeom>
          <a:noFill/>
        </p:spPr>
        <p:txBody>
          <a:bodyPr wrap="square" anchor="ctr" lIns="12700" rIns="12700">
            <a:spAutoFit/>
          </a:bodyPr>
          <a:lstStyle/>
          <a:p>
            <a:pPr algn="ctr"/>
            <a:r>
              <a:rPr sz="9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1A1F36"/>
                </a:solidFill>
                <a:latin typeface="Arial"/>
              </a:rPr>
              <a:t>3в1 0.75л</a:t>
            </a:r>
          </a:p>
          <a:p>
            <a:pPr algn="ctr"/>
            <a:r>
              <a:rPr sz="600" b="0">
                <a:solidFill>
                  <a:srgbClr val="1A1F36"/>
                </a:solidFill>
                <a:latin typeface="Arial"/>
              </a:rPr>
              <a:t>Белый RAL 9010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74182" y="2697480"/>
            <a:ext cx="753084" cy="292608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19902" y="2633472"/>
            <a:ext cx="661644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74182" y="2743200"/>
            <a:ext cx="753084" cy="2834640"/>
          </a:xfrm>
          <a:prstGeom prst="rect">
            <a:avLst/>
          </a:prstGeom>
          <a:noFill/>
        </p:spPr>
        <p:txBody>
          <a:bodyPr wrap="square" anchor="ctr" lIns="12700" r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3в1 2л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Arial"/>
              </a:rPr>
              <a:t>Чёрный RAL 9005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64427" y="2697480"/>
            <a:ext cx="753084" cy="2926080"/>
          </a:xfrm>
          <a:prstGeom prst="roundRect">
            <a:avLst/>
          </a:prstGeom>
          <a:solidFill>
            <a:srgbClr val="B0B0B0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0147" y="2633472"/>
            <a:ext cx="661644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64427" y="2743200"/>
            <a:ext cx="753084" cy="2834640"/>
          </a:xfrm>
          <a:prstGeom prst="rect">
            <a:avLst/>
          </a:prstGeom>
          <a:noFill/>
        </p:spPr>
        <p:txBody>
          <a:bodyPr wrap="square" anchor="ctr" lIns="12700" rIns="12700">
            <a:spAutoFit/>
          </a:bodyPr>
          <a:lstStyle/>
          <a:p>
            <a:pPr algn="ctr"/>
            <a:r>
              <a:rPr sz="9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1A1F36"/>
                </a:solidFill>
                <a:latin typeface="Arial"/>
              </a:rPr>
              <a:t>3в1 2л</a:t>
            </a:r>
          </a:p>
          <a:p>
            <a:pPr algn="ctr"/>
            <a:r>
              <a:rPr sz="600" b="0">
                <a:solidFill>
                  <a:srgbClr val="1A1F36"/>
                </a:solidFill>
                <a:latin typeface="Arial"/>
              </a:rPr>
              <a:t>Серый RAL 7004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54672" y="2697480"/>
            <a:ext cx="753084" cy="2926080"/>
          </a:xfrm>
          <a:prstGeom prst="roundRect">
            <a:avLst/>
          </a:prstGeom>
          <a:solidFill>
            <a:srgbClr val="3D2817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100392" y="2633472"/>
            <a:ext cx="661644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54672" y="2743200"/>
            <a:ext cx="753084" cy="2834640"/>
          </a:xfrm>
          <a:prstGeom prst="rect">
            <a:avLst/>
          </a:prstGeom>
          <a:noFill/>
        </p:spPr>
        <p:txBody>
          <a:bodyPr wrap="square" anchor="ctr" lIns="12700" r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3в1 2л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Arial"/>
              </a:rPr>
              <a:t>Коричневый RAL 8017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44916" y="2697480"/>
            <a:ext cx="753084" cy="2926080"/>
          </a:xfrm>
          <a:prstGeom prst="roundRect">
            <a:avLst/>
          </a:prstGeom>
          <a:solidFill>
            <a:srgbClr val="404040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90636" y="2633472"/>
            <a:ext cx="661644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44916" y="2743200"/>
            <a:ext cx="753084" cy="2834640"/>
          </a:xfrm>
          <a:prstGeom prst="rect">
            <a:avLst/>
          </a:prstGeom>
          <a:noFill/>
        </p:spPr>
        <p:txBody>
          <a:bodyPr wrap="square" anchor="ctr" lIns="12700" r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3в1 2л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Arial"/>
              </a:rPr>
              <a:t>Графит RAL 7024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35161" y="2697480"/>
            <a:ext cx="753084" cy="292608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880881" y="2633472"/>
            <a:ext cx="661644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35161" y="2743200"/>
            <a:ext cx="753084" cy="2834640"/>
          </a:xfrm>
          <a:prstGeom prst="rect">
            <a:avLst/>
          </a:prstGeom>
          <a:noFill/>
        </p:spPr>
        <p:txBody>
          <a:bodyPr wrap="square" anchor="ctr" lIns="12700" r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БЫСТР. 0.75л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Arial"/>
              </a:rPr>
              <a:t>Чёрный RAL 9005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725405" y="2697480"/>
            <a:ext cx="753084" cy="292608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771125" y="2633472"/>
            <a:ext cx="661644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969976" y="5131530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876693" y="534059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944643" y="4715140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899128" y="5390225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146412" y="345870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858126" y="422545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25405" y="2743200"/>
            <a:ext cx="753084" cy="2834640"/>
          </a:xfrm>
          <a:prstGeom prst="rect">
            <a:avLst/>
          </a:prstGeom>
          <a:noFill/>
        </p:spPr>
        <p:txBody>
          <a:bodyPr wrap="square" anchor="ctr" lIns="12700" r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Молот. 0.8кг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615650" y="2697480"/>
            <a:ext cx="753084" cy="2926080"/>
          </a:xfrm>
          <a:prstGeom prst="roundRect">
            <a:avLst/>
          </a:prstGeom>
          <a:solidFill>
            <a:srgbClr val="4A2C17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661370" y="2633472"/>
            <a:ext cx="661644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057788" y="371555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747944" y="497949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119862" y="3195600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851747" y="5143659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772919" y="4125494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189990" y="4644197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615650" y="2743200"/>
            <a:ext cx="753084" cy="2834640"/>
          </a:xfrm>
          <a:prstGeom prst="rect">
            <a:avLst/>
          </a:prstGeom>
          <a:noFill/>
        </p:spPr>
        <p:txBody>
          <a:bodyPr wrap="square" anchor="ctr" lIns="12700" r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Молот. 0.8кг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Arial"/>
              </a:rPr>
              <a:t>Коричневый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65760" y="6080760"/>
            <a:ext cx="11460175" cy="32004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8640" y="6080760"/>
            <a:ext cx="11094415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!  Класс B — основная выкладка. Отсутствует: 3в1 белый 2л, быстросохнущая 2.2л, молотковая серебристая, молотковая 2.5 кг.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" y="6446520"/>
            <a:ext cx="11460175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900" b="0" i="1">
                <a:solidFill>
                  <a:srgbClr val="9CA3AF"/>
                </a:solidFill>
                <a:latin typeface="Arial"/>
              </a:rPr>
              <a:t>Empils  •  TITAN  •  Планограмма по классам ТТ  •  10 лет без перекраски — 10 лет экономии!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КЛАСС C — СУПЕРМАРКЕТ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Сейчас: 2 SKU  •  Рекомендуем: 7 SKU  •  добавить 3в1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5547207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C62828"/>
                </a:solidFill>
                <a:latin typeface="Arial"/>
              </a:rPr>
              <a:t>КАК СЕЙЧАС: 2 SKU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5547207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0" i="1">
                <a:solidFill>
                  <a:srgbClr val="9CA3AF"/>
                </a:solidFill>
                <a:latin typeface="Arial"/>
              </a:rPr>
              <a:t>Только молотковая 0.8 кг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508760"/>
            <a:ext cx="5547207" cy="39319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5166360"/>
            <a:ext cx="5272887" cy="228600"/>
          </a:xfrm>
          <a:prstGeom prst="rect">
            <a:avLst/>
          </a:prstGeom>
          <a:solidFill>
            <a:srgbClr val="8B6F47"/>
          </a:solidFill>
          <a:ln w="12700">
            <a:solidFill>
              <a:srgbClr val="6B5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47723" y="2331720"/>
            <a:ext cx="1463040" cy="274320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93443" y="2267712"/>
            <a:ext cx="1371600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952221" y="3678427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801794" y="3831077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473771" y="2967287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055723" y="2984451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52978" y="3513704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24568" y="3843281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47723" y="2377440"/>
            <a:ext cx="1463040" cy="2651760"/>
          </a:xfrm>
          <a:prstGeom prst="rect">
            <a:avLst/>
          </a:prstGeom>
          <a:noFill/>
        </p:spPr>
        <p:txBody>
          <a:bodyPr wrap="square" anchor="ctr" lIns="12700" r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Молот. 0.8кг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67963" y="2331720"/>
            <a:ext cx="1463040" cy="2743200"/>
          </a:xfrm>
          <a:prstGeom prst="roundRect">
            <a:avLst/>
          </a:prstGeom>
          <a:solidFill>
            <a:srgbClr val="4A2C17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13683" y="2267712"/>
            <a:ext cx="1371600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131540" y="3429272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078924" y="2876470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99707" y="4457084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084605" y="3881703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683276" y="470094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760915" y="317108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67963" y="2377440"/>
            <a:ext cx="1463040" cy="2651760"/>
          </a:xfrm>
          <a:prstGeom prst="rect">
            <a:avLst/>
          </a:prstGeom>
          <a:noFill/>
        </p:spPr>
        <p:txBody>
          <a:bodyPr wrap="square" anchor="ctr" lIns="12700" r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Молот. 0.8кг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Arial"/>
              </a:rPr>
              <a:t>Коричневый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8727" y="868680"/>
            <a:ext cx="5547207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РЕКОМЕНДУЕМ: 7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8727" y="1188720"/>
            <a:ext cx="5547207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0" i="1">
                <a:solidFill>
                  <a:srgbClr val="9CA3AF"/>
                </a:solidFill>
                <a:latin typeface="Arial"/>
              </a:rPr>
              <a:t>Добавить 3в1 (5 SKU) + быстросохнущая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78727" y="1508760"/>
            <a:ext cx="5547207" cy="3931920"/>
          </a:xfrm>
          <a:prstGeom prst="roundRect">
            <a:avLst/>
          </a:prstGeom>
          <a:solidFill>
            <a:srgbClr val="ECFDF5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15887" y="5166360"/>
            <a:ext cx="5272887" cy="228600"/>
          </a:xfrm>
          <a:prstGeom prst="rect">
            <a:avLst/>
          </a:prstGeom>
          <a:solidFill>
            <a:srgbClr val="8B6F47"/>
          </a:solidFill>
          <a:ln w="12700">
            <a:solidFill>
              <a:srgbClr val="6B5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516471" y="2478024"/>
            <a:ext cx="708855" cy="2633472"/>
          </a:xfrm>
          <a:prstGeom prst="roundRect">
            <a:avLst/>
          </a:prstGeom>
          <a:noFill/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553047" y="2514600"/>
            <a:ext cx="635703" cy="256032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98767" y="2450592"/>
            <a:ext cx="544263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53047" y="2560320"/>
            <a:ext cx="635703" cy="2468880"/>
          </a:xfrm>
          <a:prstGeom prst="rect">
            <a:avLst/>
          </a:prstGeom>
          <a:noFill/>
        </p:spPr>
        <p:txBody>
          <a:bodyPr wrap="square" anchor="ctr" lIns="12700" r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3в1 0.75л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Arial"/>
              </a:rPr>
              <a:t>Чёрный RAL 9005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43615" y="2478024"/>
            <a:ext cx="708855" cy="2633472"/>
          </a:xfrm>
          <a:prstGeom prst="roundRect">
            <a:avLst/>
          </a:prstGeom>
          <a:noFill/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280191" y="2514600"/>
            <a:ext cx="635703" cy="2560320"/>
          </a:xfrm>
          <a:prstGeom prst="roundRect">
            <a:avLst/>
          </a:prstGeom>
          <a:solidFill>
            <a:srgbClr val="3D2817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25911" y="2450592"/>
            <a:ext cx="544263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80191" y="2560320"/>
            <a:ext cx="635703" cy="2468880"/>
          </a:xfrm>
          <a:prstGeom prst="rect">
            <a:avLst/>
          </a:prstGeom>
          <a:noFill/>
        </p:spPr>
        <p:txBody>
          <a:bodyPr wrap="square" anchor="ctr" lIns="12700" r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3в1 0.75л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Arial"/>
              </a:rPr>
              <a:t>Корич. RAL 8017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970759" y="2478024"/>
            <a:ext cx="708855" cy="2633472"/>
          </a:xfrm>
          <a:prstGeom prst="roundRect">
            <a:avLst/>
          </a:prstGeom>
          <a:noFill/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007335" y="2514600"/>
            <a:ext cx="635703" cy="2560320"/>
          </a:xfrm>
          <a:prstGeom prst="roundRect">
            <a:avLst/>
          </a:prstGeom>
          <a:solidFill>
            <a:srgbClr val="B0B0B0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53055" y="2450592"/>
            <a:ext cx="544263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07335" y="2560320"/>
            <a:ext cx="635703" cy="2468880"/>
          </a:xfrm>
          <a:prstGeom prst="rect">
            <a:avLst/>
          </a:prstGeom>
          <a:noFill/>
        </p:spPr>
        <p:txBody>
          <a:bodyPr wrap="square" anchor="ctr" lIns="12700" rIns="12700">
            <a:spAutoFit/>
          </a:bodyPr>
          <a:lstStyle/>
          <a:p>
            <a:pPr algn="ctr"/>
            <a:r>
              <a:rPr sz="9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1A1F36"/>
                </a:solidFill>
                <a:latin typeface="Arial"/>
              </a:rPr>
              <a:t>3в1 0.75л</a:t>
            </a:r>
          </a:p>
          <a:p>
            <a:pPr algn="ctr"/>
            <a:r>
              <a:rPr sz="600" b="0">
                <a:solidFill>
                  <a:srgbClr val="1A1F36"/>
                </a:solidFill>
                <a:latin typeface="Arial"/>
              </a:rPr>
              <a:t>Серый RAL 7004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97903" y="2478024"/>
            <a:ext cx="708855" cy="2633472"/>
          </a:xfrm>
          <a:prstGeom prst="roundRect">
            <a:avLst/>
          </a:prstGeom>
          <a:noFill/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734479" y="2514600"/>
            <a:ext cx="635703" cy="256032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780199" y="2450592"/>
            <a:ext cx="544263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34479" y="2560320"/>
            <a:ext cx="635703" cy="2468880"/>
          </a:xfrm>
          <a:prstGeom prst="rect">
            <a:avLst/>
          </a:prstGeom>
          <a:noFill/>
        </p:spPr>
        <p:txBody>
          <a:bodyPr wrap="square" anchor="ctr" lIns="12700" r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3в1 2л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Arial"/>
              </a:rPr>
              <a:t>Чёрный RAL 9005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425047" y="2478024"/>
            <a:ext cx="708855" cy="2633472"/>
          </a:xfrm>
          <a:prstGeom prst="roundRect">
            <a:avLst/>
          </a:prstGeom>
          <a:noFill/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461623" y="2514600"/>
            <a:ext cx="635703" cy="256032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507343" y="2450592"/>
            <a:ext cx="544263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61623" y="2560320"/>
            <a:ext cx="635703" cy="2468880"/>
          </a:xfrm>
          <a:prstGeom prst="rect">
            <a:avLst/>
          </a:prstGeom>
          <a:noFill/>
        </p:spPr>
        <p:txBody>
          <a:bodyPr wrap="square" anchor="ctr" lIns="12700" r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БЫСТР. 0.75л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Arial"/>
              </a:rPr>
              <a:t>Чёрный RAL 9005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188767" y="2514600"/>
            <a:ext cx="635703" cy="256032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234487" y="2450592"/>
            <a:ext cx="544263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312107" y="443928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321106" y="4000929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436428" y="3610381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357151" y="2863553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57588" y="4668667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608527" y="272989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188767" y="2560320"/>
            <a:ext cx="635703" cy="2468880"/>
          </a:xfrm>
          <a:prstGeom prst="rect">
            <a:avLst/>
          </a:prstGeom>
          <a:noFill/>
        </p:spPr>
        <p:txBody>
          <a:bodyPr wrap="square" anchor="ctr" lIns="12700" r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Молот. 0.8кг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915911" y="2514600"/>
            <a:ext cx="635703" cy="2560320"/>
          </a:xfrm>
          <a:prstGeom prst="roundRect">
            <a:avLst/>
          </a:prstGeom>
          <a:solidFill>
            <a:srgbClr val="4A2C17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961631" y="2450592"/>
            <a:ext cx="544263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1150686" y="3039140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033883" y="3913657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1123779" y="307457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1124700" y="3933152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1083322" y="4824314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1198437" y="4703235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915911" y="2560320"/>
            <a:ext cx="635703" cy="2468880"/>
          </a:xfrm>
          <a:prstGeom prst="rect">
            <a:avLst/>
          </a:prstGeom>
          <a:noFill/>
        </p:spPr>
        <p:txBody>
          <a:bodyPr wrap="square" anchor="ctr" lIns="12700" r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Молот. 0.8кг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Arial"/>
              </a:rPr>
              <a:t>Коричневый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65760" y="5852160"/>
            <a:ext cx="11460175" cy="54864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8640" y="5852160"/>
            <a:ext cx="11094415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!  В классе C нет TITAN 3в1 — главная проблема для ТСО-стратегии. Добавление 5 SKU 3в1 даёт покупателю возможность купить продукт, на котором построен калькулятор ТСО.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5760" y="6446520"/>
            <a:ext cx="11460175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900" b="0" i="1">
                <a:solidFill>
                  <a:srgbClr val="9CA3AF"/>
                </a:solidFill>
                <a:latin typeface="Arial"/>
              </a:rPr>
              <a:t>Empils  •  TITAN  •  Планограмма по классам ТТ  •  10 лет без перекраски — 10 лет экономии!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КЛАСС D — ХОЗЯЙСТВЕННЫЙ МАГАЗИН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Сейчас: 0 SKU  •  Рекомендуем: 3 SKU TITAN 3в1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5547207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C62828"/>
                </a:solidFill>
                <a:latin typeface="Arial"/>
              </a:rPr>
              <a:t>КАК СЕЙЧАС: 0 SKU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5547207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0" i="1">
                <a:solidFill>
                  <a:srgbClr val="9CA3AF"/>
                </a:solidFill>
                <a:latin typeface="Arial"/>
              </a:rPr>
              <a:t>TITAN полностью отсутствует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508760"/>
            <a:ext cx="5547207" cy="393192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5166360"/>
            <a:ext cx="5272887" cy="228600"/>
          </a:xfrm>
          <a:prstGeom prst="rect">
            <a:avLst/>
          </a:prstGeom>
          <a:solidFill>
            <a:srgbClr val="8B6F47"/>
          </a:solidFill>
          <a:ln w="12700">
            <a:solidFill>
              <a:srgbClr val="6B5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423160"/>
            <a:ext cx="5547207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4800" b="1" i="0">
                <a:solidFill>
                  <a:srgbClr val="C62828"/>
                </a:solidFill>
                <a:latin typeface="Arial"/>
              </a:rPr>
              <a:t>TITAN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337560"/>
            <a:ext cx="5547207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2000" b="1" i="0">
                <a:solidFill>
                  <a:srgbClr val="C62828"/>
                </a:solidFill>
                <a:latin typeface="Arial"/>
              </a:rPr>
              <a:t>не представлен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977640"/>
            <a:ext cx="5547207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200" b="0" i="1">
                <a:solidFill>
                  <a:srgbClr val="9CA3AF"/>
                </a:solidFill>
                <a:latin typeface="Arial"/>
              </a:rPr>
              <a:t>Покупатель уходит с ПФ-115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8727" y="868680"/>
            <a:ext cx="5547207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РЕКОМЕНДУЕМ: 3 SKU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727" y="1188720"/>
            <a:ext cx="5547207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0" i="1">
                <a:solidFill>
                  <a:srgbClr val="9CA3AF"/>
                </a:solidFill>
                <a:latin typeface="Arial"/>
              </a:rPr>
              <a:t>Минимальный набор TITAN 3в1 для хозмага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1508760"/>
            <a:ext cx="5547207" cy="3931920"/>
          </a:xfrm>
          <a:prstGeom prst="roundRect">
            <a:avLst/>
          </a:prstGeom>
          <a:solidFill>
            <a:srgbClr val="ECFDF5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15887" y="5166360"/>
            <a:ext cx="5272887" cy="228600"/>
          </a:xfrm>
          <a:prstGeom prst="rect">
            <a:avLst/>
          </a:prstGeom>
          <a:solidFill>
            <a:srgbClr val="8B6F47"/>
          </a:solidFill>
          <a:ln w="12700">
            <a:solidFill>
              <a:srgbClr val="6B5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37730" y="2331720"/>
            <a:ext cx="1371600" cy="274320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450" y="2267712"/>
            <a:ext cx="1280160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730" y="2377440"/>
            <a:ext cx="1371600" cy="2651760"/>
          </a:xfrm>
          <a:prstGeom prst="rect">
            <a:avLst/>
          </a:prstGeom>
          <a:noFill/>
        </p:spPr>
        <p:txBody>
          <a:bodyPr wrap="square" anchor="ctr" lIns="12700" r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3в1 0.75л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Arial"/>
              </a:rPr>
              <a:t>Чёрный
RAL 9005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66530" y="2331720"/>
            <a:ext cx="1371600" cy="2743200"/>
          </a:xfrm>
          <a:prstGeom prst="roundRect">
            <a:avLst/>
          </a:prstGeom>
          <a:solidFill>
            <a:srgbClr val="3D2817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250" y="2267712"/>
            <a:ext cx="1280160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530" y="2377440"/>
            <a:ext cx="1371600" cy="2651760"/>
          </a:xfrm>
          <a:prstGeom prst="rect">
            <a:avLst/>
          </a:prstGeom>
          <a:noFill/>
        </p:spPr>
        <p:txBody>
          <a:bodyPr wrap="square" anchor="ctr" lIns="12700" r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3в1 0.75л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Arial"/>
              </a:rPr>
              <a:t>Коричневый
RAL 8017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95330" y="2331720"/>
            <a:ext cx="1371600" cy="2743200"/>
          </a:xfrm>
          <a:prstGeom prst="roundRect">
            <a:avLst/>
          </a:prstGeom>
          <a:solidFill>
            <a:srgbClr val="1A1A1A"/>
          </a:solidFill>
          <a:ln w="9525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241050" y="2267712"/>
            <a:ext cx="1280160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930653" y="463899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598996" y="3386600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179027" y="4562831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036464" y="3038643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345522" y="2782252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103536" y="4597672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95330" y="2377440"/>
            <a:ext cx="1371600" cy="2651760"/>
          </a:xfrm>
          <a:prstGeom prst="rect">
            <a:avLst/>
          </a:prstGeom>
          <a:noFill/>
        </p:spPr>
        <p:txBody>
          <a:bodyPr wrap="square" anchor="ctr" lIns="12700" r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Молот. 0.8кг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5852160"/>
            <a:ext cx="11460175" cy="54864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852160"/>
            <a:ext cx="11094415" cy="5486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Arial"/>
              </a:rPr>
              <a:t>!  Класс D — самая массовая точка продаж ЛКМ в России. Отсутствие TITAN = потеря 80% розничного канала. Минимум 3 SKU — обязательно.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11460175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900" b="0" i="1">
                <a:solidFill>
                  <a:srgbClr val="9CA3AF"/>
                </a:solidFill>
                <a:latin typeface="Arial"/>
              </a:rPr>
              <a:t>Empils  •  TITAN  •  Планограмма по классам ТТ  •  10 лет без перекраски — 10 лет экономии!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