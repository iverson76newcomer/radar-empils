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9" r:id="rId3"/>
    <p:sldId id="275" r:id="rId4"/>
    <p:sldId id="274" r:id="rId5"/>
    <p:sldId id="273" r:id="rId6"/>
    <p:sldId id="277" r:id="rId7"/>
    <p:sldId id="280" r:id="rId8"/>
    <p:sldId id="271" r:id="rId9"/>
    <p:sldId id="272" r:id="rId10"/>
    <p:sldId id="262" r:id="rId11"/>
    <p:sldId id="286" r:id="rId12"/>
    <p:sldId id="264" r:id="rId13"/>
    <p:sldId id="269" r:id="rId14"/>
    <p:sldId id="28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2" autoAdjust="0"/>
    <p:restoredTop sz="82151" autoAdjust="0"/>
  </p:normalViewPr>
  <p:slideViewPr>
    <p:cSldViewPr snapToGrid="0" snapToObjects="1">
      <p:cViewPr>
        <p:scale>
          <a:sx n="120" d="100"/>
          <a:sy n="120" d="100"/>
        </p:scale>
        <p:origin x="-1374" y="-2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94E28-CB31-44F2-8883-5E255A9402FC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B1BA6-0D87-4992-A09E-75CC0CDD2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323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Программа развития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 smtClean="0"/>
              <a:t>2</a:t>
            </a:r>
            <a:r>
              <a:rPr lang="en-US" dirty="0" smtClean="0"/>
              <a:t> </a:t>
            </a:r>
            <a:r>
              <a:rPr lang="en-US" dirty="0"/>
              <a:t>года — системный переход к </a:t>
            </a:r>
            <a:r>
              <a:rPr lang="ru-RU" dirty="0" smtClean="0"/>
              <a:t>технологическим решениям</a:t>
            </a:r>
            <a:r>
              <a:rPr lang="en-US" dirty="0"/>
              <a:t>
 • Три ключевых направления: маркетинг, продажи, НИЛ
 • Цель: выйти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 smtClean="0"/>
              <a:t>ловушки</a:t>
            </a:r>
            <a:r>
              <a:rPr lang="ru-RU" dirty="0" smtClean="0"/>
              <a:t> продажи отдельным</a:t>
            </a:r>
            <a:r>
              <a:rPr lang="ru-RU" baseline="0" dirty="0" smtClean="0"/>
              <a:t> продуктов сфокусированных в</a:t>
            </a:r>
            <a:r>
              <a:rPr lang="en-US" dirty="0" smtClean="0"/>
              <a:t> </a:t>
            </a:r>
            <a:r>
              <a:rPr lang="en-US" dirty="0" err="1" smtClean="0"/>
              <a:t>эконом-сегмента</a:t>
            </a:r>
            <a:r>
              <a:rPr lang="ru-RU" dirty="0" smtClean="0"/>
              <a:t>х</a:t>
            </a:r>
            <a:r>
              <a:rPr lang="en-US" dirty="0"/>
              <a:t>
 • Срок: 2026-2028, старт — июнь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из ФС «Лемана ПРО» за Q2 2025 (B2C розница):
 СВОДНАЯ СЕГМЕНТАЦИЯ (ВД + ОР):
 — Эконом: 47% тонн → 27% выручки (ср. цена 206 руб/кг, маржа ≤10%)
 — Средний: 44% тонн → 52% выручки (ср. цена 441 руб/кг)
 — Премиум: 9% тонн → 21% выручки (ср. цена 813 руб/кг, маржа 40–50%)
 КЛЮЧЕВОЙ ИНСАЙТ: Премиум = 9% тонн, но 21% выручки
 Эконом = 47% тонн, но только 27% выручки
 → 1 тонна премиума приносит в 4× больше выручки, чем тонна эконома
 → С учётом маржи 40–50% vs ≤10% — разница по чистой прибыли ещё больше
 ВД КРАСКИ ОТДЕЛЬНО (основной фокус):
 — Премиум: 10.7% тонн → 24.8% выручки (768 руб/кг)
 — Эконом: 45.4% тонн → 22.5% выручки (164 руб/кг)
 → Премиум в ВД даёт БОЛЬШЕ выручки, чем эконом при 4× меньшем объёме!
 ВНЕШНЕЕ ПОДТВЕРЖДЕНИЕ:
 IndexBox Russia Latex Paint Market Report (2026):
 «Premium and super-premium tiers, priced at 700-1,500 rubles per litre or higher, 
 hold 10-15% of volume but a disproportionately higher share of revenue»
 Сегментация по ценам ВД (Лемана ПРО Q2 2025):
 50-150 руб/кг: 4 060 т | 151-250: 3 896 т | 251-350: 3 188 т
 351-450: 2 318 т | 451-550: 2 199 т | 551-650: 1 170 т
 651-950: 450 т | 951+: 254 т
 Итого ВД: 17 535 т
 Эмпилс в Лемана ПРО: 1% ВД (84 т из 17 535), 46% ОР
 Самая низкая полочная цена и цена закупки среди всех производителей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en-US" dirty="0" smtClean="0"/>
              <a:t>• </a:t>
            </a:r>
            <a:r>
              <a:rPr lang="en-US" dirty="0" err="1" smtClean="0"/>
              <a:t>Философия</a:t>
            </a:r>
            <a:r>
              <a:rPr lang="en-US" dirty="0" smtClean="0"/>
              <a:t> </a:t>
            </a:r>
            <a:r>
              <a:rPr lang="en-US" dirty="0"/>
              <a:t>меняется: от «что у нас есть» к «что нужно клиенту»
 • Старый подход: «у нас есть краска за 500 руб/л» → конкуренция по цене, менеджер = приёмщик
 • Новый подход: «вам нужен ремонт в ванной?» → продажа от задачи, менеджер = эксперт
 • 3 столпа трансформации: обучение продажам (TCO-скрипты, KPI по комплектам), НИЛ от задачи (звенья цепочек), клиентоцентричность (навигация от боли)
 • KPI менеджеров: доля продаж комплектами, TCO-расчёт в каждом КП
 • НИЛ: разработка звеньев цепочки, не standalone-продуктов
 • Ключевая фраза: «Мы продаём не банку краски. Мы продаём решение проблемы клиента»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Сгруппированные технологии — продажа системы продуктов вместо одного
 • 3 эффекта: рост чека +40-60%, гарантия результата, защита от замещения конкурентом
 • Синергия: правильный грунт продлевает срок службы краски на 30-50%, шпатлёвка сокращает расход краски на 20%
 • Удлинение цепочек: короткая (2 SKU / 2 000 руб) → средняя (3 SKU / 5 000 руб) → длинная (5 SKU / 8 720 руб)
 • Пробелы: не хватает специализированных грунтов, шпатлёвок, защитных лаков, декоративных эффектов
 • Новая парадигма НИЛ: разрабатываем не продукт, а звено цепочки. Каждый новый SKU удлиняет технологию и увеличивает TCO-выгоду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Гибридная модель: commodities (грунты, стартовые шпатлёвки) — без сегментации, один SKU на все уровни
 • Маржинальные продукты (краски, лаки, декоративные эффекты) — 3 сегмента, маржа растёт с ценой
 • Принцип: не все звенья создают ценность одинаково. Грунт не определяет срок службы — краска и защита определяют
 • Бенчмарк: Tikkurila, Dulux, Caparol — все используют гибридный подход, никто не делает «премиум-грунт»
 • Пример: Грунт ОРЕОЛ + Шпатлёвка NEWTONE + Краска AVANTGARDE + Лак AVANTGARDE = средняя цена цепочки ~420 руб/кг
 • Итог: -30% SKU, +15% маржа на системе, TCO-логика работает (переплата только за ценность)
 • Навигация — по технологии (задаче), не по бренду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TCO — совокупная стоимость владения: материалы + работа + ремонты + простой
 • Главный инсайт: краска = лишь 15-20% сметы, остальное — работа и подготовка
 • Пример: комната 20 м2, стены 45 м2. Технология: грунт + шпатлёвка + краска
 • Эконом: 19 350 руб, 3 года = 6 450 руб/год. Премиум: 24 470 руб, 10 лет = 2 447 руб/год
 • Премиум в 2,6 раза дешевле в пересчёте на год эксплуатации
 • Переплата 5 120 руб при ремонте окупается за 1,3 года, затем чистая экономия
 • За 10 лет: 3 эконом-ремонта = 58 050 руб vs 1 премиум = 24 470 руб, экономия 33 580 руб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Смена парадигмы: каталог продуктов → каталог технологий (решений)
 • Сегодня: клиент приходит за «краской» и покупает 1 банку. Завтра: клиент приходит за «ремонтом в ванной» и покупает систему из 3-4 продуктов
 • Технологические цепочки: «Интерьер под шелкографию», «Влажная зона», «Фасад дома», «Детская комната»
 • 4 шага внедрения: классификатор → новый каталог/сайт → калькулятор TCO → POS-мерчендайзинг
 • Ключевой инструмент — калькулятор TCO (веб + Excel), менеджер считает за 2 минуты
 • Результат: средний чек +40-60%, возвратность +25%, брак -30%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</a:t>
            </a:r>
            <a:r>
              <a:rPr lang="ru-RU" dirty="0" smtClean="0"/>
              <a:t>4</a:t>
            </a:r>
            <a:r>
              <a:rPr lang="en-US" dirty="0" smtClean="0"/>
              <a:t> </a:t>
            </a:r>
            <a:r>
              <a:rPr lang="en-US" dirty="0" err="1"/>
              <a:t>ключевых</a:t>
            </a:r>
            <a:r>
              <a:rPr lang="en-US" dirty="0"/>
              <a:t> </a:t>
            </a:r>
            <a:r>
              <a:rPr lang="en-US" dirty="0" err="1" smtClean="0"/>
              <a:t>риска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 err="1" smtClean="0"/>
              <a:t>каннибализация</a:t>
            </a:r>
            <a:r>
              <a:rPr lang="en-US" dirty="0" smtClean="0"/>
              <a:t> </a:t>
            </a:r>
            <a:r>
              <a:rPr lang="en-US" dirty="0"/>
              <a:t>(средняя), дистрибьюторы (средняя), </a:t>
            </a:r>
            <a:r>
              <a:rPr lang="ru-RU" dirty="0" smtClean="0"/>
              <a:t>инертность системы, </a:t>
            </a:r>
            <a:r>
              <a:rPr lang="en-US" dirty="0" err="1" smtClean="0"/>
              <a:t>рынок</a:t>
            </a:r>
            <a:r>
              <a:rPr lang="en-US" dirty="0" smtClean="0"/>
              <a:t> </a:t>
            </a:r>
            <a:r>
              <a:rPr lang="en-US" dirty="0"/>
              <a:t>(высокая)
 • Сырьё: 82% акриловых смол импорт — диверсификация Китай/Индия, нацпроект, запас 3-6 мес
 • Каннибализация: </a:t>
            </a:r>
            <a:r>
              <a:rPr lang="ru-RU" dirty="0" smtClean="0"/>
              <a:t>Премиальный </a:t>
            </a:r>
            <a:r>
              <a:rPr lang="en-US" dirty="0" err="1" smtClean="0"/>
              <a:t>бренд</a:t>
            </a:r>
            <a:r>
              <a:rPr lang="en-US" dirty="0"/>
              <a:t>, разные каналы, эконом сохраняет объём
 • Дистрибьюторы: Премиум-лаборатория, финансовая мотивация, стартовый пакет
 • Рынок -7,8%: фокус на водные ЛКМ +3,9%, профессиональный канал, экспорт СНГ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4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8385" y="1321593"/>
            <a:ext cx="2500313" cy="2500313"/>
          </a:xfrm>
          <a:prstGeom prst="ellipse">
            <a:avLst/>
          </a:prstGeom>
          <a:solidFill>
            <a:srgbClr val="E3F4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0" y="1285875"/>
            <a:ext cx="1428750" cy="1428750"/>
          </a:xfrm>
          <a:prstGeom prst="ellipse">
            <a:avLst/>
          </a:prstGeom>
          <a:solidFill>
            <a:srgbClr val="F0E6FF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h2p-fit-1781414104264-sctg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250" y="1347378"/>
            <a:ext cx="4490427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56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развития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56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3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0" y="2370274"/>
            <a:ext cx="571500" cy="428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250" y="2613161"/>
            <a:ext cx="4082207" cy="48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2"/>
              </a:lnSpc>
              <a:buNone/>
            </a:pPr>
            <a:r>
              <a:rPr lang="ru-RU" sz="1215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Системная трансформация</a:t>
            </a:r>
            <a:endParaRPr lang="en-US" sz="1215" dirty="0"/>
          </a:p>
        </p:txBody>
      </p:sp>
      <p:sp>
        <p:nvSpPr>
          <p:cNvPr id="10" name="Text 6"/>
          <p:cNvSpPr/>
          <p:nvPr/>
        </p:nvSpPr>
        <p:spPr>
          <a:xfrm>
            <a:off x="603250" y="3101727"/>
            <a:ext cx="93121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</a:t>
            </a:r>
            <a:endParaRPr lang="en-US" sz="990" dirty="0"/>
          </a:p>
        </p:txBody>
      </p:sp>
      <p:sp>
        <p:nvSpPr>
          <p:cNvPr id="11" name="Text 7"/>
          <p:cNvSpPr/>
          <p:nvPr/>
        </p:nvSpPr>
        <p:spPr>
          <a:xfrm>
            <a:off x="1340172" y="3167360"/>
            <a:ext cx="57150" cy="57150"/>
          </a:xfrm>
          <a:prstGeom prst="ellipse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483047" y="3101727"/>
            <a:ext cx="79841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Продажи</a:t>
            </a:r>
            <a:endParaRPr lang="en-US" sz="990" dirty="0"/>
          </a:p>
        </p:txBody>
      </p:sp>
      <p:sp>
        <p:nvSpPr>
          <p:cNvPr id="13" name="Text 9"/>
          <p:cNvSpPr/>
          <p:nvPr/>
        </p:nvSpPr>
        <p:spPr>
          <a:xfrm>
            <a:off x="2127101" y="3167360"/>
            <a:ext cx="57150" cy="57150"/>
          </a:xfrm>
          <a:prstGeom prst="ellipse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269976" y="3101727"/>
            <a:ext cx="241548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НИЛ</a:t>
            </a:r>
            <a:endParaRPr lang="en-US" sz="990" dirty="0"/>
          </a:p>
        </p:txBody>
      </p:sp>
      <p:sp>
        <p:nvSpPr>
          <p:cNvPr id="15" name="Text 11"/>
          <p:cNvSpPr/>
          <p:nvPr/>
        </p:nvSpPr>
        <p:spPr>
          <a:xfrm>
            <a:off x="603250" y="3808078"/>
            <a:ext cx="4624710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kern="0" spc="28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Эмпилс · Июнь 2026</a:t>
            </a:r>
            <a:endParaRPr lang="en-US" sz="85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00050" y="285750"/>
            <a:ext cx="8636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сейчас: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системные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особенности</a:t>
            </a:r>
            <a:endParaRPr lang="ru-RU" sz="1238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542925"/>
            <a:ext cx="457200" cy="357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0050" y="818356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8638" y="93265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9712" y="9537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0" name="Text 7"/>
          <p:cNvSpPr/>
          <p:nvPr/>
        </p:nvSpPr>
        <p:spPr>
          <a:xfrm>
            <a:off x="814388" y="982663"/>
            <a:ext cx="13475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ПРОДУКТОВАЯ МОДЕЛЬ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28638" y="1232694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Продаем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банку 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DIY</a:t>
            </a:r>
            <a:endParaRPr lang="ru-RU" sz="800" b="1" dirty="0"/>
          </a:p>
        </p:txBody>
      </p:sp>
      <p:sp>
        <p:nvSpPr>
          <p:cNvPr id="12" name="Text 9"/>
          <p:cNvSpPr/>
          <p:nvPr/>
        </p:nvSpPr>
        <p:spPr>
          <a:xfrm>
            <a:off x="528638" y="1418531"/>
            <a:ext cx="2466938" cy="57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Сложность создания продуктов для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других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высоко маржинальных каналов. </a:t>
            </a: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>
              <a:lnSpc>
                <a:spcPct val="150000"/>
              </a:lnSpc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Конкурируем только ценой за килограмм.</a:t>
            </a:r>
            <a:endParaRPr lang="en-US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6538" y="2098702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14" name="Text 11"/>
          <p:cNvSpPr/>
          <p:nvPr/>
        </p:nvSpPr>
        <p:spPr>
          <a:xfrm>
            <a:off x="639254" y="2129631"/>
            <a:ext cx="178482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Цена за тонну растет медленно</a:t>
            </a:r>
            <a:endParaRPr lang="en-US" sz="800" b="1" dirty="0"/>
          </a:p>
        </p:txBody>
      </p:sp>
      <p:sp>
        <p:nvSpPr>
          <p:cNvPr id="15" name="Text 12"/>
          <p:cNvSpPr/>
          <p:nvPr/>
        </p:nvSpPr>
        <p:spPr>
          <a:xfrm>
            <a:off x="3203538" y="818356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38475" y="93265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59549" y="9537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3624225" y="982663"/>
            <a:ext cx="7320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338475" y="1232694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заточена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вокруг продукта</a:t>
            </a:r>
            <a:endParaRPr lang="en-US" sz="800" b="1" dirty="0"/>
          </a:p>
        </p:txBody>
      </p:sp>
      <p:sp>
        <p:nvSpPr>
          <p:cNvPr id="20" name="Text 17"/>
          <p:cNvSpPr/>
          <p:nvPr/>
        </p:nvSpPr>
        <p:spPr>
          <a:xfrm>
            <a:off x="3338475" y="1414859"/>
            <a:ext cx="2466938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Каталог, сайт, </a:t>
            </a: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выкрасы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трейд, презентации – маркетинг 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большей степени сфокусированы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вокруг продукта.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071775" y="2070100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22" name="Text 19"/>
          <p:cNvSpPr/>
          <p:nvPr/>
        </p:nvSpPr>
        <p:spPr>
          <a:xfrm>
            <a:off x="3487192" y="2110581"/>
            <a:ext cx="178482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Клиенту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тяжело донести ценность</a:t>
            </a:r>
            <a:endParaRPr lang="en-US" sz="800" b="1" dirty="0"/>
          </a:p>
        </p:txBody>
      </p:sp>
      <p:sp>
        <p:nvSpPr>
          <p:cNvPr id="23" name="Text 20"/>
          <p:cNvSpPr/>
          <p:nvPr/>
        </p:nvSpPr>
        <p:spPr>
          <a:xfrm>
            <a:off x="6026869" y="825500"/>
            <a:ext cx="2709937" cy="1514475"/>
          </a:xfrm>
          <a:prstGeom prst="roundRect">
            <a:avLst>
              <a:gd name="adj" fmla="val 8805"/>
            </a:avLst>
          </a:prstGeom>
          <a:solidFill>
            <a:srgbClr val="FFF9F0"/>
          </a:solidFill>
          <a:ln w="14288">
            <a:noFill/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62601" y="94694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83675" y="9680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6448351" y="920750"/>
            <a:ext cx="1644433" cy="24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ЦЕНОВОЕ ПОЗИЦИОНИРОВАНИЕ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62601" y="1258259"/>
            <a:ext cx="2548202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Застряли между экономом и средним</a:t>
            </a:r>
            <a:endParaRPr lang="en-US" sz="800" b="1" dirty="0"/>
          </a:p>
        </p:txBody>
      </p:sp>
      <p:sp>
        <p:nvSpPr>
          <p:cNvPr id="28" name="Text 25"/>
          <p:cNvSpPr/>
          <p:nvPr/>
        </p:nvSpPr>
        <p:spPr>
          <a:xfrm>
            <a:off x="6162601" y="1479947"/>
            <a:ext cx="2438474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231 ₽/кг — не самый дешёвый (эконом 206 ₽/кг) и не признанный средний (441 ₽/кг). 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889551" y="2082635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30" name="Text 27"/>
          <p:cNvSpPr/>
          <p:nvPr/>
        </p:nvSpPr>
        <p:spPr>
          <a:xfrm>
            <a:off x="6298617" y="2123116"/>
            <a:ext cx="17563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Этот сегмент падает</a:t>
            </a:r>
            <a:endParaRPr lang="en-US" sz="800" b="1" dirty="0"/>
          </a:p>
        </p:txBody>
      </p:sp>
      <p:sp>
        <p:nvSpPr>
          <p:cNvPr id="31" name="Text 28"/>
          <p:cNvSpPr/>
          <p:nvPr/>
        </p:nvSpPr>
        <p:spPr>
          <a:xfrm>
            <a:off x="400050" y="2498679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8638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9712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814388" y="2662985"/>
            <a:ext cx="1010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1565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КАНАЛЫ ПРОДАЖ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7222" y="2913016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Ограниченный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 </a:t>
            </a: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каналам </a:t>
            </a: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</a:t>
            </a:r>
            <a:endParaRPr lang="en-US" sz="800" b="1" dirty="0"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74046" y="3115654"/>
            <a:ext cx="2466938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Есть сложности работы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дистрибьюторами, у которых есть розница, умеющая продавать дорогие продукты.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68288" y="3780375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38" name="Text 35"/>
          <p:cNvSpPr/>
          <p:nvPr/>
        </p:nvSpPr>
        <p:spPr>
          <a:xfrm>
            <a:off x="687529" y="3757356"/>
            <a:ext cx="1890571" cy="248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Ограниченный </a:t>
            </a:r>
            <a:r>
              <a:rPr lang="en-US" sz="800" b="1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на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800" b="1" dirty="0" smtClean="0"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платёжеспособного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клиента</a:t>
            </a:r>
            <a:endParaRPr lang="en-US" sz="800" b="1" dirty="0"/>
          </a:p>
        </p:txBody>
      </p:sp>
      <p:sp>
        <p:nvSpPr>
          <p:cNvPr id="39" name="Text 36"/>
          <p:cNvSpPr/>
          <p:nvPr/>
        </p:nvSpPr>
        <p:spPr>
          <a:xfrm>
            <a:off x="3209888" y="2498679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338475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359549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42" name="Text 39"/>
          <p:cNvSpPr/>
          <p:nvPr/>
        </p:nvSpPr>
        <p:spPr>
          <a:xfrm>
            <a:off x="3624225" y="2662985"/>
            <a:ext cx="872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338475" y="2913016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Одинаково для всех сегментов</a:t>
            </a:r>
            <a:endParaRPr lang="en-US" sz="800" b="1" dirty="0"/>
          </a:p>
        </p:txBody>
      </p:sp>
      <p:sp>
        <p:nvSpPr>
          <p:cNvPr id="44" name="Text 41"/>
          <p:cNvSpPr/>
          <p:nvPr/>
        </p:nvSpPr>
        <p:spPr>
          <a:xfrm>
            <a:off x="3338475" y="3095182"/>
            <a:ext cx="2466938" cy="713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и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продвигаются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одними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инструментами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– фокус на банку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дифференциации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системности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подходе к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разным каналам.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063298" y="3782951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46" name="Text 43"/>
          <p:cNvSpPr/>
          <p:nvPr/>
        </p:nvSpPr>
        <p:spPr>
          <a:xfrm>
            <a:off x="3487594" y="3807877"/>
            <a:ext cx="189750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не выделяется, не обоснован</a:t>
            </a:r>
            <a:endParaRPr lang="en-US" sz="800" b="1" dirty="0"/>
          </a:p>
        </p:txBody>
      </p:sp>
      <p:sp>
        <p:nvSpPr>
          <p:cNvPr id="47" name="Text 44"/>
          <p:cNvSpPr/>
          <p:nvPr/>
        </p:nvSpPr>
        <p:spPr>
          <a:xfrm>
            <a:off x="6019726" y="2498679"/>
            <a:ext cx="2724224" cy="1528763"/>
          </a:xfrm>
          <a:prstGeom prst="roundRect">
            <a:avLst>
              <a:gd name="adj" fmla="val 8723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48313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169387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50" name="Text 47"/>
          <p:cNvSpPr/>
          <p:nvPr/>
        </p:nvSpPr>
        <p:spPr>
          <a:xfrm>
            <a:off x="6434063" y="2662985"/>
            <a:ext cx="6742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ЦЕННОСТЬ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148313" y="2899368"/>
            <a:ext cx="2576777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Нет обоснования цены премиум</a:t>
            </a:r>
            <a:endParaRPr lang="en-US" sz="800" b="1" dirty="0"/>
          </a:p>
        </p:txBody>
      </p:sp>
      <p:sp>
        <p:nvSpPr>
          <p:cNvPr id="52" name="Text 49"/>
          <p:cNvSpPr/>
          <p:nvPr/>
        </p:nvSpPr>
        <p:spPr>
          <a:xfrm>
            <a:off x="6148313" y="3095182"/>
            <a:ext cx="2467049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Сложность в создании дополнительной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ценности, расчёты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портфолио, гарантии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результата, сервис, консультации.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894313" y="3772603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54" name="Text 51"/>
          <p:cNvSpPr/>
          <p:nvPr/>
        </p:nvSpPr>
        <p:spPr>
          <a:xfrm>
            <a:off x="6360530" y="3808472"/>
            <a:ext cx="2254832" cy="191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понимает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за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что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платить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больше</a:t>
            </a:r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4150084"/>
            <a:ext cx="8343900" cy="521494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3540236" y="4117193"/>
            <a:ext cx="93415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969" dirty="0"/>
          </a:p>
        </p:txBody>
      </p:sp>
      <p:sp>
        <p:nvSpPr>
          <p:cNvPr id="57" name="Text 53"/>
          <p:cNvSpPr/>
          <p:nvPr/>
        </p:nvSpPr>
        <p:spPr>
          <a:xfrm>
            <a:off x="1301579" y="4232385"/>
            <a:ext cx="695254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18" charset="0"/>
                <a:ea typeface="Carlito" pitchFamily="34" charset="-122"/>
                <a:cs typeface="Times New Roman" pitchFamily="18" charset="0"/>
              </a:rPr>
              <a:t>Замкнутый круг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1770688" y="4424097"/>
            <a:ext cx="681849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1793548" y="4433741"/>
            <a:ext cx="636129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ценности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2497939" y="444981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2614779" y="4430447"/>
            <a:ext cx="1142981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2676532" y="4434337"/>
            <a:ext cx="981373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обоснования цены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3765062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3883489" y="4430447"/>
            <a:ext cx="643451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3906349" y="4440091"/>
            <a:ext cx="597731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каналов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4527893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4652773" y="4430447"/>
            <a:ext cx="614447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4675530" y="4440091"/>
            <a:ext cx="568933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продаж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5287325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5419458" y="4429375"/>
            <a:ext cx="2343234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5419818" y="4452791"/>
            <a:ext cx="2056089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</a:t>
            </a:r>
            <a:r>
              <a:rPr lang="en-US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прибыли </a:t>
            </a:r>
            <a:r>
              <a:rPr lang="en-US" sz="800" dirty="0" err="1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</a:t>
            </a:r>
            <a:r>
              <a:rPr lang="en-US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 ценностей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3972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6484" y="721606"/>
            <a:ext cx="0" cy="1071563"/>
          </a:xfrm>
          <a:prstGeom prst="line">
            <a:avLst/>
          </a:prstGeom>
          <a:noFill/>
          <a:ln w="35719">
            <a:solidFill>
              <a:srgbClr val="F28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6484" y="1819174"/>
            <a:ext cx="0" cy="1071563"/>
          </a:xfrm>
          <a:prstGeom prst="line">
            <a:avLst/>
          </a:prstGeom>
          <a:noFill/>
          <a:ln w="35719">
            <a:solidFill>
              <a:srgbClr val="5B8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25" y="241300"/>
            <a:ext cx="8286750" cy="24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39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Рыночная возможность: премиум — больше выручки, меньше объёма</a:t>
            </a:r>
            <a:endParaRPr lang="en-US" sz="139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543012"/>
            <a:ext cx="457200" cy="35719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721606"/>
            <a:ext cx="4649912" cy="10715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506" y="762263"/>
            <a:ext cx="10566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11" name="Text 7"/>
          <p:cNvSpPr/>
          <p:nvPr/>
        </p:nvSpPr>
        <p:spPr>
          <a:xfrm>
            <a:off x="1749549" y="822315"/>
            <a:ext cx="3171825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945" dirty="0"/>
          </a:p>
        </p:txBody>
      </p:sp>
      <p:sp>
        <p:nvSpPr>
          <p:cNvPr id="12" name="Text 8"/>
          <p:cNvSpPr/>
          <p:nvPr/>
        </p:nvSpPr>
        <p:spPr>
          <a:xfrm>
            <a:off x="621506" y="1119451"/>
            <a:ext cx="39647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912168" y="1205176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346820" y="1169457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15" name="Text 11"/>
          <p:cNvSpPr/>
          <p:nvPr/>
        </p:nvSpPr>
        <p:spPr>
          <a:xfrm>
            <a:off x="1543943" y="1119451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930040" y="1205176"/>
            <a:ext cx="2991334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21506" y="1448063"/>
            <a:ext cx="1894214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813 руб/кг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endParaRPr lang="en-US" sz="8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883656"/>
            <a:ext cx="4649912" cy="107156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1506" y="1947761"/>
            <a:ext cx="70075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5B8D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9" name="Text 23"/>
          <p:cNvSpPr/>
          <p:nvPr/>
        </p:nvSpPr>
        <p:spPr>
          <a:xfrm>
            <a:off x="1393701" y="2007813"/>
            <a:ext cx="3527673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5B8D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945" dirty="0"/>
          </a:p>
        </p:txBody>
      </p:sp>
      <p:sp>
        <p:nvSpPr>
          <p:cNvPr id="30" name="Text 24"/>
          <p:cNvSpPr/>
          <p:nvPr/>
        </p:nvSpPr>
        <p:spPr>
          <a:xfrm>
            <a:off x="621506" y="2304949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44%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1007604" y="2390674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442256" y="2354955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33" name="Text 27"/>
          <p:cNvSpPr/>
          <p:nvPr/>
        </p:nvSpPr>
        <p:spPr>
          <a:xfrm>
            <a:off x="1639379" y="2304949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5B8D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52%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2025476" y="2390674"/>
            <a:ext cx="2895898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21506" y="2633561"/>
            <a:ext cx="2288657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441 руб/кг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Крупнейший по выручке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35769" y="4243474"/>
            <a:ext cx="4635624" cy="528638"/>
          </a:xfrm>
          <a:prstGeom prst="roundRect">
            <a:avLst>
              <a:gd name="adj" fmla="val 21622"/>
            </a:avLst>
          </a:prstGeom>
          <a:solidFill>
            <a:srgbClr val="FFF9F0"/>
          </a:solidFill>
          <a:ln w="14288">
            <a:solidFill>
              <a:srgbClr val="F28C3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571500" y="4315706"/>
            <a:ext cx="63869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38" name="Text 32"/>
          <p:cNvSpPr/>
          <p:nvPr/>
        </p:nvSpPr>
        <p:spPr>
          <a:xfrm>
            <a:off x="1281633" y="4315706"/>
            <a:ext cx="2657663" cy="124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тонна премиума = 4 тонны эконома по выручке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281633" y="4472868"/>
            <a:ext cx="30166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маржинальности 40–50% vs ≤10% — разница по прибыли ещё больше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278562" y="1073435"/>
            <a:ext cx="3436813" cy="2853928"/>
          </a:xfrm>
          <a:prstGeom prst="roundRect">
            <a:avLst>
              <a:gd name="adj" fmla="val 5340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478587" y="1244885"/>
            <a:ext cx="3146491" cy="170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2"/>
              </a:lnSpc>
              <a:buNone/>
            </a:pPr>
            <a:r>
              <a:rPr lang="en-US" sz="828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сегмента: тонны vs рубли</a:t>
            </a:r>
            <a:endParaRPr lang="en-US" sz="828" dirty="0"/>
          </a:p>
        </p:txBody>
      </p:sp>
      <p:sp>
        <p:nvSpPr>
          <p:cNvPr id="42" name="Text 36"/>
          <p:cNvSpPr/>
          <p:nvPr/>
        </p:nvSpPr>
        <p:spPr>
          <a:xfrm>
            <a:off x="6442770" y="1557089"/>
            <a:ext cx="100013" cy="100013"/>
          </a:xfrm>
          <a:prstGeom prst="roundRect">
            <a:avLst>
              <a:gd name="adj" fmla="val 28571"/>
            </a:avLst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585645" y="1545481"/>
            <a:ext cx="432626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7066508" y="1557089"/>
            <a:ext cx="100013" cy="100013"/>
          </a:xfrm>
          <a:prstGeom prst="roundRect">
            <a:avLst>
              <a:gd name="adj" fmla="val 28571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7209383" y="1545481"/>
            <a:ext cx="437483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5478587" y="1783122"/>
            <a:ext cx="257688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069759" y="1790266"/>
            <a:ext cx="44559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9% → 21%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5478587" y="1952563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5478587" y="1952563"/>
            <a:ext cx="576969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5478587" y="2109725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8587" y="2109725"/>
            <a:ext cx="1275383" cy="128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478587" y="2366900"/>
            <a:ext cx="252732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8020199" y="2374044"/>
            <a:ext cx="49515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5B8D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44% → 52%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478587" y="2536341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5478587" y="2536341"/>
            <a:ext cx="2672321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5478587" y="2693504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5478587" y="2693504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5B8D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5478587" y="2950679"/>
            <a:ext cx="252732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8020199" y="2957823"/>
            <a:ext cx="49515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47% → 27%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5478587" y="3120120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5478587" y="3120120"/>
            <a:ext cx="2854486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5478587" y="3277282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5478587" y="3277282"/>
            <a:ext cx="1639825" cy="128588"/>
          </a:xfrm>
          <a:prstGeom prst="roundRect">
            <a:avLst>
              <a:gd name="adj" fmla="val 66666"/>
            </a:avLst>
          </a:prstGeom>
          <a:solidFill>
            <a:srgbClr val="DC5C5C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5478587" y="3505882"/>
            <a:ext cx="3036763" cy="7144"/>
          </a:xfrm>
          <a:prstGeom prst="rect">
            <a:avLst/>
          </a:prstGeom>
          <a:solidFill>
            <a:srgbClr val="E8DD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5674767" y="3620182"/>
            <a:ext cx="2644402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7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в 2.2× эффективнее по выручке на 1 тонну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5914020" y="4055951"/>
            <a:ext cx="2801355" cy="116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7"/>
              </a:lnSpc>
              <a:buNone/>
            </a:pPr>
            <a:r>
              <a:rPr lang="en-US" sz="800" i="1" dirty="0">
                <a:solidFill>
                  <a:srgbClr val="AAAA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Источник: ФС «Лемана ПРО», Q2 2025, расчёт по ценовым сегментам ВД+ОР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428625" y="4599657"/>
            <a:ext cx="8286750" cy="13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даёт почти столько же выручки, сколько эконом — но в 5 раз меньше объёма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428625" y="4885395"/>
            <a:ext cx="8286750" cy="16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Подтверждено: IndexBox (2026) — «премиум 10–15% объёма, но непропорционально бо́льшая доля выручки»</a:t>
            </a:r>
            <a:endParaRPr lang="en-US" sz="800" dirty="0"/>
          </a:p>
        </p:txBody>
      </p:sp>
      <p:sp>
        <p:nvSpPr>
          <p:cNvPr id="69" name="Shape 3"/>
          <p:cNvSpPr/>
          <p:nvPr/>
        </p:nvSpPr>
        <p:spPr>
          <a:xfrm>
            <a:off x="446484" y="2960463"/>
            <a:ext cx="0" cy="1071563"/>
          </a:xfrm>
          <a:prstGeom prst="line">
            <a:avLst/>
          </a:prstGeom>
          <a:noFill/>
          <a:ln w="35719">
            <a:solidFill>
              <a:srgbClr val="DC5C5C"/>
            </a:solidFill>
            <a:prstDash val="solid"/>
          </a:ln>
        </p:spPr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042531"/>
            <a:ext cx="4649912" cy="1071563"/>
          </a:xfrm>
          <a:prstGeom prst="rect">
            <a:avLst/>
          </a:prstGeom>
        </p:spPr>
      </p:pic>
      <p:sp>
        <p:nvSpPr>
          <p:cNvPr id="71" name="Text 14"/>
          <p:cNvSpPr/>
          <p:nvPr/>
        </p:nvSpPr>
        <p:spPr>
          <a:xfrm>
            <a:off x="621506" y="3089050"/>
            <a:ext cx="131232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969" dirty="0"/>
          </a:p>
        </p:txBody>
      </p:sp>
      <p:sp>
        <p:nvSpPr>
          <p:cNvPr id="72" name="Text 15"/>
          <p:cNvSpPr/>
          <p:nvPr/>
        </p:nvSpPr>
        <p:spPr>
          <a:xfrm>
            <a:off x="2005273" y="3149102"/>
            <a:ext cx="2916101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945" dirty="0"/>
          </a:p>
        </p:txBody>
      </p:sp>
      <p:sp>
        <p:nvSpPr>
          <p:cNvPr id="73" name="Text 16"/>
          <p:cNvSpPr/>
          <p:nvPr/>
        </p:nvSpPr>
        <p:spPr>
          <a:xfrm>
            <a:off x="621506" y="3446238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47%</a:t>
            </a:r>
            <a:endParaRPr lang="en-US" sz="1350" dirty="0"/>
          </a:p>
        </p:txBody>
      </p:sp>
      <p:sp>
        <p:nvSpPr>
          <p:cNvPr id="74" name="Text 17"/>
          <p:cNvSpPr/>
          <p:nvPr/>
        </p:nvSpPr>
        <p:spPr>
          <a:xfrm>
            <a:off x="1007604" y="3531963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75" name="Text 18"/>
          <p:cNvSpPr/>
          <p:nvPr/>
        </p:nvSpPr>
        <p:spPr>
          <a:xfrm>
            <a:off x="1442256" y="3496244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76" name="Text 19"/>
          <p:cNvSpPr/>
          <p:nvPr/>
        </p:nvSpPr>
        <p:spPr>
          <a:xfrm>
            <a:off x="1639379" y="3446238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27%</a:t>
            </a:r>
            <a:endParaRPr lang="en-US" sz="1350" dirty="0"/>
          </a:p>
        </p:txBody>
      </p:sp>
      <p:sp>
        <p:nvSpPr>
          <p:cNvPr id="77" name="Text 20"/>
          <p:cNvSpPr/>
          <p:nvPr/>
        </p:nvSpPr>
        <p:spPr>
          <a:xfrm>
            <a:off x="2025476" y="3531963"/>
            <a:ext cx="2895898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78" name="Text 21"/>
          <p:cNvSpPr/>
          <p:nvPr/>
        </p:nvSpPr>
        <p:spPr>
          <a:xfrm>
            <a:off x="621506" y="3774850"/>
            <a:ext cx="1786442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206 </a:t>
            </a: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549650" y="2859868"/>
            <a:ext cx="920750" cy="288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231 </a:t>
            </a:r>
            <a:r>
              <a:rPr lang="ru-RU" sz="1200" dirty="0" err="1" smtClean="0"/>
              <a:t>руб</a:t>
            </a:r>
            <a:r>
              <a:rPr lang="ru-RU" sz="1200" dirty="0" smtClean="0"/>
              <a:t>/кг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27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8625" y="10882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искать </a:t>
            </a:r>
            <a:r>
              <a:rPr lang="ru-RU" sz="1463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маржинальность</a:t>
            </a:r>
            <a:r>
              <a:rPr lang="en-US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en-US" sz="146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банки к решению</a:t>
            </a:r>
            <a:endParaRPr lang="en-US" sz="14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08686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625" y="499843"/>
            <a:ext cx="3800475" cy="1034256"/>
          </a:xfrm>
          <a:prstGeom prst="roundRect">
            <a:avLst>
              <a:gd name="adj" fmla="val 9481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71074" y="525335"/>
            <a:ext cx="26688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1121586" y="540895"/>
            <a:ext cx="255534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ассортимента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527268" y="758339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865591" y="744051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 нас есть краска за 500 руб/л»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продажа от наличия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7268" y="935049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65591" y="920761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Конкуренция по цене за литр — гонка в никуда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7268" y="1104444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865591" y="1090156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 выбирает сам, часто ошибается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7268" y="1281154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865591" y="1266866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— приёмщик заказа, не эксперт</a:t>
            </a:r>
            <a:endParaRPr lang="en-US" sz="8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745054"/>
            <a:ext cx="400050" cy="4000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26982" y="800061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22" name="Text 18"/>
          <p:cNvSpPr/>
          <p:nvPr/>
        </p:nvSpPr>
        <p:spPr>
          <a:xfrm>
            <a:off x="4914900" y="499843"/>
            <a:ext cx="3800475" cy="1049911"/>
          </a:xfrm>
          <a:prstGeom prst="roundRect">
            <a:avLst>
              <a:gd name="adj" fmla="val 948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416787" y="627690"/>
            <a:ext cx="88551" cy="511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25" name="Text 21"/>
          <p:cNvSpPr/>
          <p:nvPr/>
        </p:nvSpPr>
        <p:spPr>
          <a:xfrm>
            <a:off x="5598369" y="556410"/>
            <a:ext cx="264262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проблеме клиента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4991598" y="751024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3"/>
          <p:cNvSpPr/>
          <p:nvPr/>
        </p:nvSpPr>
        <p:spPr>
          <a:xfrm>
            <a:off x="5361621" y="736736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«Вам нужен ремонт в ванной?»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продажа от задачи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991598" y="92041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5361620" y="906131"/>
            <a:ext cx="3273289" cy="143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— главный аргумент: дешевле в год, а не дороже в моменте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991598" y="108056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1" name="Text 27"/>
          <p:cNvSpPr/>
          <p:nvPr/>
        </p:nvSpPr>
        <p:spPr>
          <a:xfrm>
            <a:off x="5361621" y="1110731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подбирает систему, гарантирующую результат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998913" y="128846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3" name="Text 29"/>
          <p:cNvSpPr/>
          <p:nvPr/>
        </p:nvSpPr>
        <p:spPr>
          <a:xfrm>
            <a:off x="5368936" y="1281496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— эксперт-консультант, а не продавец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2401203" y="1581859"/>
            <a:ext cx="4325094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продаём не банку краски. Мы продаём решение проблемы клиента.</a:t>
            </a:r>
            <a:endParaRPr lang="en-US" sz="900" dirty="0"/>
          </a:p>
        </p:txBody>
      </p:sp>
      <p:sp>
        <p:nvSpPr>
          <p:cNvPr id="59" name="Rounded Rectangle 5"/>
          <p:cNvSpPr/>
          <p:nvPr/>
        </p:nvSpPr>
        <p:spPr>
          <a:xfrm>
            <a:off x="315289" y="1771372"/>
            <a:ext cx="4087500" cy="2882702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0" name="Rounded Rectangle 6"/>
          <p:cNvSpPr/>
          <p:nvPr/>
        </p:nvSpPr>
        <p:spPr>
          <a:xfrm>
            <a:off x="450289" y="1999162"/>
            <a:ext cx="3772500" cy="315000"/>
          </a:xfrm>
          <a:prstGeom prst="roundRect">
            <a:avLst/>
          </a:prstGeom>
          <a:solidFill>
            <a:srgbClr val="E8EFFF"/>
          </a:solidFill>
          <a:ln w="19050">
            <a:solidFill>
              <a:srgbClr val="2D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5289" y="2000087"/>
            <a:ext cx="3750000" cy="3000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500" b="1">
                <a:solidFill>
                  <a:srgbClr val="2D5FFF"/>
                </a:solidFill>
                <a:latin typeface="Calibri"/>
              </a:defRPr>
            </a:pPr>
            <a:r>
              <a:rPr dirty="0"/>
              <a:t>«</a:t>
            </a:r>
            <a:r>
              <a:rPr dirty="0" err="1"/>
              <a:t>Дай</a:t>
            </a:r>
            <a:r>
              <a:rPr dirty="0"/>
              <a:t> </a:t>
            </a:r>
            <a:r>
              <a:rPr dirty="0" err="1"/>
              <a:t>банку</a:t>
            </a:r>
            <a:r>
              <a:rPr dirty="0"/>
              <a:t>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84" y="2303147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rPr sz="1000" dirty="0" err="1">
                <a:solidFill>
                  <a:srgbClr val="6B7B8D"/>
                </a:solidFill>
                <a:latin typeface="Calibri"/>
              </a:rPr>
              <a:t>Массовый</a:t>
            </a:r>
            <a:r>
              <a:rPr sz="1000" dirty="0">
                <a:solidFill>
                  <a:srgbClr val="6B7B8D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B8D"/>
                </a:solidFill>
                <a:latin typeface="Calibri"/>
              </a:rPr>
              <a:t>клиент</a:t>
            </a:r>
            <a:r>
              <a:rPr sz="1000" dirty="0">
                <a:solidFill>
                  <a:srgbClr val="6B7B8D"/>
                </a:solidFill>
                <a:latin typeface="Calibri"/>
              </a:rPr>
              <a:t> · DIY-</a:t>
            </a:r>
            <a:r>
              <a:rPr sz="1000" dirty="0" err="1">
                <a:solidFill>
                  <a:srgbClr val="6B7B8D"/>
                </a:solidFill>
                <a:latin typeface="Calibri"/>
              </a:rPr>
              <a:t>ритейл</a:t>
            </a:r>
            <a:endParaRPr sz="1000" dirty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63" name="Rounded Rectangle 9"/>
          <p:cNvSpPr/>
          <p:nvPr/>
        </p:nvSpPr>
        <p:spPr>
          <a:xfrm>
            <a:off x="3318989" y="2059162"/>
            <a:ext cx="825000" cy="195000"/>
          </a:xfrm>
          <a:prstGeom prst="roundRect">
            <a:avLst/>
          </a:prstGeom>
          <a:solidFill>
            <a:srgbClr val="2D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56489" y="2015642"/>
            <a:ext cx="750000" cy="28469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75-80%</a:t>
            </a:r>
          </a:p>
        </p:txBody>
      </p:sp>
      <p:sp>
        <p:nvSpPr>
          <p:cNvPr id="65" name="Rounded Rectangle 11"/>
          <p:cNvSpPr/>
          <p:nvPr/>
        </p:nvSpPr>
        <p:spPr>
          <a:xfrm>
            <a:off x="3902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0289" y="2514072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lang="ru-RU" sz="1000" dirty="0" smtClean="0"/>
              <a:t>3</a:t>
            </a:r>
            <a:r>
              <a:rPr sz="1000" dirty="0" smtClean="0"/>
              <a:t>00</a:t>
            </a:r>
            <a:r>
              <a:rPr lang="ru-RU" sz="1000" dirty="0" smtClean="0"/>
              <a:t> </a:t>
            </a:r>
            <a:r>
              <a:rPr sz="1000" dirty="0" smtClean="0"/>
              <a:t>-</a:t>
            </a:r>
            <a:r>
              <a:rPr lang="ru-RU" sz="1000" dirty="0" smtClean="0"/>
              <a:t> </a:t>
            </a:r>
            <a:r>
              <a:rPr sz="1000" dirty="0" smtClean="0"/>
              <a:t>3000 </a:t>
            </a:r>
            <a:r>
              <a:rPr sz="1000" dirty="0" err="1"/>
              <a:t>руб</a:t>
            </a:r>
            <a:endParaRPr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450289" y="2780187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Средний</a:t>
            </a:r>
            <a:r>
              <a:rPr dirty="0"/>
              <a:t> </a:t>
            </a:r>
            <a:r>
              <a:rPr dirty="0" err="1"/>
              <a:t>чек</a:t>
            </a:r>
            <a:endParaRPr dirty="0"/>
          </a:p>
        </p:txBody>
      </p:sp>
      <p:sp>
        <p:nvSpPr>
          <p:cNvPr id="68" name="Rounded Rectangle 14"/>
          <p:cNvSpPr/>
          <p:nvPr/>
        </p:nvSpPr>
        <p:spPr>
          <a:xfrm>
            <a:off x="16877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47789" y="2558597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dirty="0"/>
              <a:t>12-15%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5289" y="2774976"/>
            <a:ext cx="141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Маржинальность</a:t>
            </a:r>
            <a:r>
              <a:rPr dirty="0"/>
              <a:t> (МД)</a:t>
            </a:r>
          </a:p>
        </p:txBody>
      </p:sp>
      <p:sp>
        <p:nvSpPr>
          <p:cNvPr id="71" name="Rounded Rectangle 17"/>
          <p:cNvSpPr/>
          <p:nvPr/>
        </p:nvSpPr>
        <p:spPr>
          <a:xfrm>
            <a:off x="29852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046769" y="2562813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b="1" dirty="0">
                <a:solidFill>
                  <a:srgbClr val="1A1A2E"/>
                </a:solidFill>
                <a:latin typeface="Calibri"/>
              </a:rPr>
              <a:t>~40%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45289" y="2780187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t>Доля в прибыли</a:t>
            </a:r>
          </a:p>
        </p:txBody>
      </p:sp>
      <p:sp>
        <p:nvSpPr>
          <p:cNvPr id="74" name="Rounded Rectangle 20"/>
          <p:cNvSpPr/>
          <p:nvPr/>
        </p:nvSpPr>
        <p:spPr>
          <a:xfrm>
            <a:off x="390289" y="30040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20289" y="30119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Канал</a:t>
            </a:r>
            <a:endParaRPr dirty="0"/>
          </a:p>
        </p:txBody>
      </p:sp>
      <p:sp>
        <p:nvSpPr>
          <p:cNvPr id="76" name="TextBox 75"/>
          <p:cNvSpPr txBox="1"/>
          <p:nvPr/>
        </p:nvSpPr>
        <p:spPr>
          <a:xfrm>
            <a:off x="1515289" y="3048522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smtClean="0"/>
              <a:t>DIY-</a:t>
            </a:r>
            <a:r>
              <a:rPr dirty="0" err="1" smtClean="0"/>
              <a:t>ритейл</a:t>
            </a:r>
            <a:r>
              <a:rPr lang="ru-RU" dirty="0" smtClean="0"/>
              <a:t>, РТТ, магазины и т.д.</a:t>
            </a:r>
            <a:r>
              <a:rPr dirty="0" smtClean="0"/>
              <a:t> </a:t>
            </a:r>
            <a:endParaRPr dirty="0"/>
          </a:p>
        </p:txBody>
      </p:sp>
      <p:sp>
        <p:nvSpPr>
          <p:cNvPr id="77" name="Rounded Rectangle 23"/>
          <p:cNvSpPr/>
          <p:nvPr/>
        </p:nvSpPr>
        <p:spPr>
          <a:xfrm>
            <a:off x="390289" y="32665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20289" y="32744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Навигация</a:t>
            </a:r>
            <a:endParaRPr dirty="0"/>
          </a:p>
        </p:txBody>
      </p:sp>
      <p:sp>
        <p:nvSpPr>
          <p:cNvPr id="79" name="TextBox 78"/>
          <p:cNvSpPr txBox="1"/>
          <p:nvPr/>
        </p:nvSpPr>
        <p:spPr>
          <a:xfrm>
            <a:off x="1515289" y="3237872"/>
            <a:ext cx="28125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полке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типу</a:t>
            </a:r>
            <a:r>
              <a:rPr dirty="0"/>
              <a:t> </a:t>
            </a:r>
            <a:r>
              <a:rPr dirty="0" err="1"/>
              <a:t>поверхности</a:t>
            </a:r>
            <a:r>
              <a:rPr dirty="0"/>
              <a:t> («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стен</a:t>
            </a:r>
            <a:r>
              <a:rPr dirty="0"/>
              <a:t>», «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дерева</a:t>
            </a:r>
            <a:r>
              <a:rPr dirty="0"/>
              <a:t>»)</a:t>
            </a:r>
          </a:p>
        </p:txBody>
      </p:sp>
      <p:sp>
        <p:nvSpPr>
          <p:cNvPr id="80" name="Rounded Rectangle 26"/>
          <p:cNvSpPr/>
          <p:nvPr/>
        </p:nvSpPr>
        <p:spPr>
          <a:xfrm>
            <a:off x="390289" y="35290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0289" y="3544262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Продвижение</a:t>
            </a:r>
            <a:endParaRPr dirty="0"/>
          </a:p>
        </p:txBody>
      </p:sp>
      <p:sp>
        <p:nvSpPr>
          <p:cNvPr id="82" name="TextBox 81"/>
          <p:cNvSpPr txBox="1"/>
          <p:nvPr/>
        </p:nvSpPr>
        <p:spPr>
          <a:xfrm>
            <a:off x="1515289" y="3551577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Цена</a:t>
            </a:r>
            <a:r>
              <a:rPr dirty="0"/>
              <a:t>, </a:t>
            </a:r>
            <a:r>
              <a:rPr dirty="0" err="1"/>
              <a:t>скидки</a:t>
            </a:r>
            <a:r>
              <a:rPr dirty="0"/>
              <a:t>, </a:t>
            </a:r>
            <a:r>
              <a:rPr dirty="0" err="1"/>
              <a:t>POSm</a:t>
            </a:r>
            <a:r>
              <a:rPr dirty="0"/>
              <a:t>, </a:t>
            </a:r>
            <a:r>
              <a:rPr dirty="0" err="1"/>
              <a:t>полочное</a:t>
            </a:r>
            <a:r>
              <a:rPr dirty="0"/>
              <a:t> </a:t>
            </a:r>
            <a:r>
              <a:rPr dirty="0" err="1"/>
              <a:t>пространство</a:t>
            </a:r>
            <a:endParaRPr dirty="0"/>
          </a:p>
        </p:txBody>
      </p:sp>
      <p:sp>
        <p:nvSpPr>
          <p:cNvPr id="83" name="Rounded Rectangle 29"/>
          <p:cNvSpPr/>
          <p:nvPr/>
        </p:nvSpPr>
        <p:spPr>
          <a:xfrm>
            <a:off x="390289" y="37915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20289" y="37994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Продукт</a:t>
            </a:r>
            <a:endParaRPr dirty="0"/>
          </a:p>
        </p:txBody>
      </p:sp>
      <p:sp>
        <p:nvSpPr>
          <p:cNvPr id="85" name="TextBox 84"/>
          <p:cNvSpPr txBox="1"/>
          <p:nvPr/>
        </p:nvSpPr>
        <p:spPr>
          <a:xfrm>
            <a:off x="1515289" y="3799447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банка</a:t>
            </a:r>
            <a:r>
              <a:rPr dirty="0"/>
              <a:t> —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клиент</a:t>
            </a:r>
            <a:endParaRPr dirty="0"/>
          </a:p>
        </p:txBody>
      </p:sp>
      <p:sp>
        <p:nvSpPr>
          <p:cNvPr id="86" name="Rounded Rectangle 32"/>
          <p:cNvSpPr/>
          <p:nvPr/>
        </p:nvSpPr>
        <p:spPr>
          <a:xfrm>
            <a:off x="390289" y="4054076"/>
            <a:ext cx="1050000" cy="412639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0289" y="4069262"/>
            <a:ext cx="9900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выбора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1515289" y="4098522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Цена</a:t>
            </a:r>
            <a:r>
              <a:rPr dirty="0"/>
              <a:t> и </a:t>
            </a:r>
            <a:r>
              <a:rPr dirty="0" err="1"/>
              <a:t>знакомый</a:t>
            </a:r>
            <a:r>
              <a:rPr dirty="0"/>
              <a:t> </a:t>
            </a:r>
            <a:r>
              <a:rPr dirty="0" err="1"/>
              <a:t>бренд</a:t>
            </a:r>
            <a:endParaRPr dirty="0"/>
          </a:p>
        </p:txBody>
      </p:sp>
      <p:sp>
        <p:nvSpPr>
          <p:cNvPr id="89" name="Rounded Rectangle 35"/>
          <p:cNvSpPr/>
          <p:nvPr/>
        </p:nvSpPr>
        <p:spPr>
          <a:xfrm>
            <a:off x="4468890" y="1747800"/>
            <a:ext cx="4500000" cy="2882702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0" name="Rounded Rectangle 36"/>
          <p:cNvSpPr/>
          <p:nvPr/>
        </p:nvSpPr>
        <p:spPr>
          <a:xfrm>
            <a:off x="4618890" y="1982905"/>
            <a:ext cx="4173978" cy="315000"/>
          </a:xfrm>
          <a:prstGeom prst="roundRect">
            <a:avLst/>
          </a:prstGeom>
          <a:solidFill>
            <a:srgbClr val="FFF0E8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689042" y="1976515"/>
            <a:ext cx="3785218" cy="3000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alibri"/>
              </a:defRPr>
            </a:pPr>
            <a:r>
              <a:rPr dirty="0"/>
              <a:t>«</a:t>
            </a:r>
            <a:r>
              <a:rPr dirty="0" err="1"/>
              <a:t>Цепочка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>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96205" y="2294205"/>
            <a:ext cx="390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Профессионалы</a:t>
            </a:r>
            <a:r>
              <a:rPr dirty="0"/>
              <a:t> и </a:t>
            </a:r>
            <a:r>
              <a:rPr dirty="0" err="1"/>
              <a:t>осознанные</a:t>
            </a:r>
            <a:r>
              <a:rPr dirty="0"/>
              <a:t> </a:t>
            </a:r>
            <a:r>
              <a:rPr dirty="0" err="1"/>
              <a:t>клиенты</a:t>
            </a:r>
            <a:r>
              <a:rPr dirty="0"/>
              <a:t> ·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каналы</a:t>
            </a:r>
            <a:endParaRPr dirty="0"/>
          </a:p>
        </p:txBody>
      </p:sp>
      <p:sp>
        <p:nvSpPr>
          <p:cNvPr id="93" name="Rounded Rectangle 39"/>
          <p:cNvSpPr/>
          <p:nvPr/>
        </p:nvSpPr>
        <p:spPr>
          <a:xfrm>
            <a:off x="7642770" y="2042905"/>
            <a:ext cx="862500" cy="1950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680270" y="2006700"/>
            <a:ext cx="787500" cy="28469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20-25%</a:t>
            </a:r>
          </a:p>
        </p:txBody>
      </p:sp>
      <p:sp>
        <p:nvSpPr>
          <p:cNvPr id="95" name="Rounded Rectangle 41"/>
          <p:cNvSpPr/>
          <p:nvPr/>
        </p:nvSpPr>
        <p:spPr>
          <a:xfrm>
            <a:off x="45438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603890" y="2519760"/>
            <a:ext cx="123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lang="ru-RU" sz="1000" dirty="0" smtClean="0"/>
              <a:t>3</a:t>
            </a:r>
            <a:r>
              <a:rPr sz="1000" dirty="0" smtClean="0"/>
              <a:t>500</a:t>
            </a:r>
            <a:r>
              <a:rPr lang="ru-RU" sz="1000" dirty="0" smtClean="0"/>
              <a:t> </a:t>
            </a:r>
            <a:r>
              <a:rPr sz="1000" dirty="0" smtClean="0"/>
              <a:t>-</a:t>
            </a:r>
            <a:r>
              <a:rPr lang="ru-RU" sz="1000" dirty="0" smtClean="0"/>
              <a:t> &gt;</a:t>
            </a:r>
            <a:r>
              <a:rPr lang="en-US" sz="1000" dirty="0" smtClean="0"/>
              <a:t> </a:t>
            </a:r>
            <a:r>
              <a:rPr sz="1000" dirty="0" err="1" smtClean="0"/>
              <a:t>руб</a:t>
            </a:r>
            <a:r>
              <a:rPr lang="ru-RU" sz="1000" dirty="0" smtClean="0"/>
              <a:t>.</a:t>
            </a:r>
            <a:endParaRPr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4603890" y="2749300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Средний</a:t>
            </a:r>
            <a:r>
              <a:rPr dirty="0"/>
              <a:t> </a:t>
            </a:r>
            <a:r>
              <a:rPr dirty="0" err="1"/>
              <a:t>чек</a:t>
            </a:r>
            <a:endParaRPr dirty="0"/>
          </a:p>
        </p:txBody>
      </p:sp>
      <p:sp>
        <p:nvSpPr>
          <p:cNvPr id="98" name="Rounded Rectangle 44"/>
          <p:cNvSpPr/>
          <p:nvPr/>
        </p:nvSpPr>
        <p:spPr>
          <a:xfrm>
            <a:off x="58413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850185" y="2518847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dirty="0"/>
              <a:t>22-42%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72130" y="2741985"/>
            <a:ext cx="129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Маржинальность</a:t>
            </a:r>
            <a:r>
              <a:rPr dirty="0"/>
              <a:t> (МД)</a:t>
            </a:r>
          </a:p>
        </p:txBody>
      </p:sp>
      <p:sp>
        <p:nvSpPr>
          <p:cNvPr id="101" name="Rounded Rectangle 47"/>
          <p:cNvSpPr/>
          <p:nvPr/>
        </p:nvSpPr>
        <p:spPr>
          <a:xfrm>
            <a:off x="71388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103795" y="2526520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00A86B"/>
                </a:solidFill>
                <a:latin typeface="Calibri"/>
              </a:defRPr>
            </a:pPr>
            <a:r>
              <a:rPr sz="1000" dirty="0"/>
              <a:t>~60%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98890" y="2741985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Доля</a:t>
            </a:r>
            <a:r>
              <a:rPr dirty="0"/>
              <a:t> в </a:t>
            </a:r>
            <a:r>
              <a:rPr dirty="0" err="1"/>
              <a:t>прибыли</a:t>
            </a:r>
            <a:endParaRPr dirty="0"/>
          </a:p>
        </p:txBody>
      </p:sp>
      <p:sp>
        <p:nvSpPr>
          <p:cNvPr id="104" name="Rounded Rectangle 50"/>
          <p:cNvSpPr/>
          <p:nvPr/>
        </p:nvSpPr>
        <p:spPr>
          <a:xfrm>
            <a:off x="4543890" y="29731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573890" y="29737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Канал</a:t>
            </a:r>
            <a:endParaRPr dirty="0"/>
          </a:p>
        </p:txBody>
      </p:sp>
      <p:sp>
        <p:nvSpPr>
          <p:cNvPr id="106" name="TextBox 105"/>
          <p:cNvSpPr txBox="1"/>
          <p:nvPr/>
        </p:nvSpPr>
        <p:spPr>
          <a:xfrm>
            <a:off x="5668890" y="2995690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Спец</a:t>
            </a:r>
            <a:r>
              <a:rPr dirty="0" smtClean="0"/>
              <a:t>. </a:t>
            </a:r>
            <a:r>
              <a:rPr dirty="0" err="1"/>
              <a:t>дилеры</a:t>
            </a:r>
            <a:r>
              <a:rPr dirty="0"/>
              <a:t>, </a:t>
            </a:r>
            <a:r>
              <a:rPr dirty="0" err="1"/>
              <a:t>дизайн-студии</a:t>
            </a:r>
            <a:r>
              <a:rPr dirty="0"/>
              <a:t>, </a:t>
            </a:r>
            <a:r>
              <a:rPr dirty="0" err="1" smtClean="0"/>
              <a:t>строит</a:t>
            </a:r>
            <a:r>
              <a:rPr lang="ru-RU" dirty="0" err="1" smtClean="0"/>
              <a:t>ельные</a:t>
            </a:r>
            <a:r>
              <a:rPr dirty="0" smtClean="0"/>
              <a:t> </a:t>
            </a:r>
            <a:r>
              <a:rPr dirty="0" err="1"/>
              <a:t>бригады</a:t>
            </a:r>
            <a:endParaRPr dirty="0"/>
          </a:p>
        </p:txBody>
      </p:sp>
      <p:sp>
        <p:nvSpPr>
          <p:cNvPr id="107" name="Rounded Rectangle 53"/>
          <p:cNvSpPr/>
          <p:nvPr/>
        </p:nvSpPr>
        <p:spPr>
          <a:xfrm>
            <a:off x="4543890" y="32356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573890" y="3243560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Навигация</a:t>
            </a:r>
            <a:endParaRPr dirty="0"/>
          </a:p>
        </p:txBody>
      </p:sp>
      <p:sp>
        <p:nvSpPr>
          <p:cNvPr id="109" name="TextBox 108"/>
          <p:cNvSpPr txBox="1"/>
          <p:nvPr/>
        </p:nvSpPr>
        <p:spPr>
          <a:xfrm>
            <a:off x="5668890" y="326550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Набор-решение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задаче</a:t>
            </a:r>
            <a:r>
              <a:rPr dirty="0"/>
              <a:t> (</a:t>
            </a:r>
            <a:r>
              <a:rPr dirty="0" err="1"/>
              <a:t>чек-лист</a:t>
            </a:r>
            <a:r>
              <a:rPr dirty="0"/>
              <a:t> + </a:t>
            </a:r>
            <a:r>
              <a:rPr dirty="0" err="1"/>
              <a:t>инструкция</a:t>
            </a:r>
            <a:r>
              <a:rPr dirty="0"/>
              <a:t>)</a:t>
            </a:r>
          </a:p>
        </p:txBody>
      </p:sp>
      <p:sp>
        <p:nvSpPr>
          <p:cNvPr id="110" name="Rounded Rectangle 56"/>
          <p:cNvSpPr/>
          <p:nvPr/>
        </p:nvSpPr>
        <p:spPr>
          <a:xfrm>
            <a:off x="4543890" y="34981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573890" y="34987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Продвижение</a:t>
            </a:r>
            <a:endParaRPr dirty="0"/>
          </a:p>
        </p:txBody>
      </p:sp>
      <p:sp>
        <p:nvSpPr>
          <p:cNvPr id="112" name="TextBox 111"/>
          <p:cNvSpPr txBox="1"/>
          <p:nvPr/>
        </p:nvSpPr>
        <p:spPr>
          <a:xfrm>
            <a:off x="5668890" y="351337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Обучение</a:t>
            </a:r>
            <a:r>
              <a:rPr dirty="0"/>
              <a:t>, </a:t>
            </a:r>
            <a:r>
              <a:rPr dirty="0" err="1"/>
              <a:t>видео-гайды</a:t>
            </a:r>
            <a:r>
              <a:rPr dirty="0"/>
              <a:t>, </a:t>
            </a:r>
            <a:r>
              <a:rPr dirty="0" err="1"/>
              <a:t>гарантия</a:t>
            </a:r>
            <a:r>
              <a:rPr dirty="0"/>
              <a:t> </a:t>
            </a:r>
            <a:r>
              <a:rPr dirty="0" err="1"/>
              <a:t>результата</a:t>
            </a:r>
            <a:endParaRPr dirty="0"/>
          </a:p>
        </p:txBody>
      </p:sp>
      <p:sp>
        <p:nvSpPr>
          <p:cNvPr id="113" name="Rounded Rectangle 59"/>
          <p:cNvSpPr/>
          <p:nvPr/>
        </p:nvSpPr>
        <p:spPr>
          <a:xfrm>
            <a:off x="4543890" y="37606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3890" y="37612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Продукт</a:t>
            </a:r>
            <a:endParaRPr dirty="0"/>
          </a:p>
        </p:txBody>
      </p:sp>
      <p:sp>
        <p:nvSpPr>
          <p:cNvPr id="115" name="TextBox 114"/>
          <p:cNvSpPr txBox="1"/>
          <p:nvPr/>
        </p:nvSpPr>
        <p:spPr>
          <a:xfrm>
            <a:off x="5668890" y="379050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Комплект</a:t>
            </a:r>
            <a:r>
              <a:rPr dirty="0"/>
              <a:t> </a:t>
            </a:r>
            <a:r>
              <a:rPr dirty="0" err="1"/>
              <a:t>продуктов</a:t>
            </a:r>
            <a:r>
              <a:rPr dirty="0"/>
              <a:t> + </a:t>
            </a:r>
            <a:r>
              <a:rPr dirty="0" err="1"/>
              <a:t>пошаговая</a:t>
            </a:r>
            <a:r>
              <a:rPr dirty="0"/>
              <a:t> </a:t>
            </a:r>
            <a:r>
              <a:rPr dirty="0" err="1"/>
              <a:t>инструкция</a:t>
            </a:r>
            <a:endParaRPr dirty="0"/>
          </a:p>
        </p:txBody>
      </p:sp>
      <p:sp>
        <p:nvSpPr>
          <p:cNvPr id="116" name="Rounded Rectangle 62"/>
          <p:cNvSpPr/>
          <p:nvPr/>
        </p:nvSpPr>
        <p:spPr>
          <a:xfrm>
            <a:off x="4543890" y="4023190"/>
            <a:ext cx="1050000" cy="405324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573890" y="4038375"/>
            <a:ext cx="9900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выбора</a:t>
            </a:r>
            <a:endParaRPr dirty="0"/>
          </a:p>
        </p:txBody>
      </p:sp>
      <p:sp>
        <p:nvSpPr>
          <p:cNvPr id="118" name="TextBox 117"/>
          <p:cNvSpPr txBox="1"/>
          <p:nvPr/>
        </p:nvSpPr>
        <p:spPr>
          <a:xfrm>
            <a:off x="5668890" y="4118840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Результат</a:t>
            </a:r>
            <a:r>
              <a:rPr dirty="0"/>
              <a:t> и </a:t>
            </a:r>
            <a:r>
              <a:rPr dirty="0" err="1"/>
              <a:t>гарантия</a:t>
            </a:r>
            <a:r>
              <a:rPr dirty="0"/>
              <a:t> </a:t>
            </a:r>
            <a:r>
              <a:rPr dirty="0" err="1"/>
              <a:t>качества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232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22448" y="322756"/>
            <a:ext cx="82867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9"/>
              </a:lnSpc>
              <a:buNone/>
            </a:pPr>
            <a:r>
              <a:rPr lang="ru-RU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Решения - сгруппированные</a:t>
            </a:r>
            <a:r>
              <a:rPr lang="en-US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406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технологии: </a:t>
            </a:r>
            <a:r>
              <a:rPr lang="ru-RU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предсказуемость результата и ТСО</a:t>
            </a:r>
            <a:endParaRPr lang="en-US" sz="1406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30" y="639366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3825" y="803672"/>
            <a:ext cx="2571750" cy="1107058"/>
          </a:xfrm>
          <a:prstGeom prst="roundRect">
            <a:avLst>
              <a:gd name="adj" fmla="val 12045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70988" y="849709"/>
            <a:ext cx="228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ЭТО РАБОТАЕТ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70988" y="971947"/>
            <a:ext cx="2286000" cy="88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Продавая один продукт, мы конкурируем по цене за литр. Продавая систему из 3-5 продуктов, мы создаём уникальное предложение, которое невозможно сравнить с банкой конкурента. Клиент видит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ценность решения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цену </a:t>
            </a:r>
            <a:r>
              <a:rPr lang="en-US" sz="800" dirty="0" err="1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отдельного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продукта</a:t>
            </a:r>
            <a:r>
              <a:rPr lang="en-US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46"/>
              </a:lnSpc>
              <a:buNone/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Отстройка от конкурентов.</a:t>
            </a:r>
            <a:endParaRPr lang="en-US" sz="800" dirty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13825" y="2010742"/>
            <a:ext cx="2571750" cy="1504206"/>
          </a:xfrm>
          <a:prstGeom prst="roundRect">
            <a:avLst>
              <a:gd name="adj" fmla="val 8865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62330" y="2067207"/>
            <a:ext cx="4343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13" name="Text 10"/>
          <p:cNvSpPr/>
          <p:nvPr/>
        </p:nvSpPr>
        <p:spPr>
          <a:xfrm>
            <a:off x="1464675" y="2118342"/>
            <a:ext cx="15780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ЭФФЕКТА ГРУППИРОВКИ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42413" y="2352101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216529" y="2382462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413875" y="2352101"/>
            <a:ext cx="174292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Рост среднего чека на 40-60%</a:t>
            </a:r>
          </a:p>
        </p:txBody>
      </p:sp>
      <p:sp>
        <p:nvSpPr>
          <p:cNvPr id="17" name="Text 14"/>
          <p:cNvSpPr/>
          <p:nvPr/>
        </p:nvSpPr>
        <p:spPr>
          <a:xfrm>
            <a:off x="1413875" y="2480689"/>
            <a:ext cx="174292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 покупает систему, а не один продукт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42413" y="2712873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216529" y="2743234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25197" y="2724374"/>
            <a:ext cx="20431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результата</a:t>
            </a:r>
          </a:p>
        </p:txBody>
      </p:sp>
      <p:sp>
        <p:nvSpPr>
          <p:cNvPr id="21" name="Text 18"/>
          <p:cNvSpPr/>
          <p:nvPr/>
        </p:nvSpPr>
        <p:spPr>
          <a:xfrm>
            <a:off x="1420225" y="2847810"/>
            <a:ext cx="2043113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компоненты совместимы, работают как единое целое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42413" y="3081991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216529" y="3112352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413875" y="3107391"/>
            <a:ext cx="20431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Защита от замещения</a:t>
            </a:r>
          </a:p>
        </p:txBody>
      </p:sp>
      <p:sp>
        <p:nvSpPr>
          <p:cNvPr id="25" name="Text 22"/>
          <p:cNvSpPr/>
          <p:nvPr/>
        </p:nvSpPr>
        <p:spPr>
          <a:xfrm>
            <a:off x="1413875" y="3223279"/>
            <a:ext cx="2002259" cy="18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 не может подменить один элемент системы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13825" y="3614961"/>
            <a:ext cx="2571750" cy="957263"/>
          </a:xfrm>
          <a:prstGeom prst="roundRect">
            <a:avLst>
              <a:gd name="adj" fmla="val 1393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142413" y="3718148"/>
            <a:ext cx="231457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СИНЕРГИЯ TCO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42413" y="3878486"/>
            <a:ext cx="2314575" cy="68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Правильный грунт продлевает срок службы краски на 30-50%. Правильная шпатлёвка сокращает расход краски на 20%. 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13"/>
              </a:lnSpc>
              <a:buNone/>
            </a:pPr>
            <a:r>
              <a:rPr lang="ru-RU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</a:t>
            </a:r>
            <a:r>
              <a:rPr lang="en-US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элемент цепочки усиливает следующий.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218242" y="829300"/>
            <a:ext cx="2381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Удлинение технологических цепочек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225870" y="1598333"/>
            <a:ext cx="3397250" cy="578644"/>
          </a:xfrm>
          <a:prstGeom prst="roundRect">
            <a:avLst>
              <a:gd name="adj" fmla="val 19753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340170" y="1698345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КОРОТКАЯ ЦЕПОЧКА 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325726" y="1861151"/>
            <a:ext cx="389982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340170" y="1873367"/>
            <a:ext cx="361094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44127" y="190015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870629" y="1861151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87002" y="1873367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396329" y="1916229"/>
            <a:ext cx="19595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SKU ·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X2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₽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213170" y="2211901"/>
            <a:ext cx="3409950" cy="739378"/>
          </a:xfrm>
          <a:prstGeom prst="roundRect">
            <a:avLst>
              <a:gd name="adj" fmla="val 1545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327470" y="2311914"/>
            <a:ext cx="301566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ЦЕПОЧКА 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313026" y="2474720"/>
            <a:ext cx="389982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327470" y="2486936"/>
            <a:ext cx="361094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724283" y="251372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837154" y="2474720"/>
            <a:ext cx="621238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860014" y="2486936"/>
            <a:ext cx="575518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471251" y="251372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590610" y="2474720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606983" y="2486936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327470" y="273339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SKU ·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225870" y="2992554"/>
            <a:ext cx="3397250" cy="714375"/>
          </a:xfrm>
          <a:prstGeom prst="roundRect">
            <a:avLst>
              <a:gd name="adj" fmla="val 16000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340170" y="3092567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ДЛИННАЯ ЦЕПОЧКА 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327664" y="3256873"/>
            <a:ext cx="337663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4340170" y="3267589"/>
            <a:ext cx="31265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81396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775394" y="3256873"/>
            <a:ext cx="548144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795696" y="3267589"/>
            <a:ext cx="50754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331812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423252" y="3256873"/>
            <a:ext cx="693011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5446112" y="3267589"/>
            <a:ext cx="64729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Финиш. шпатл.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121978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6222017" y="3256873"/>
            <a:ext cx="385039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236278" y="3267589"/>
            <a:ext cx="356518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6621370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6715078" y="3256873"/>
            <a:ext cx="555980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6735670" y="3267589"/>
            <a:ext cx="514796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340170" y="348904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SKU ·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X5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6704737" y="3807053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6" dirty="0"/>
          </a:p>
        </p:txBody>
      </p:sp>
      <p:sp>
        <p:nvSpPr>
          <p:cNvPr id="97" name="Text 27"/>
          <p:cNvSpPr/>
          <p:nvPr/>
        </p:nvSpPr>
        <p:spPr>
          <a:xfrm>
            <a:off x="4251270" y="995083"/>
            <a:ext cx="3371850" cy="578644"/>
          </a:xfrm>
          <a:prstGeom prst="roundRect">
            <a:avLst>
              <a:gd name="adj" fmla="val 1975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8" name="Text 28"/>
          <p:cNvSpPr/>
          <p:nvPr/>
        </p:nvSpPr>
        <p:spPr>
          <a:xfrm>
            <a:off x="4340170" y="1087951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DC5C5C"/>
                </a:solidFill>
                <a:ea typeface="Carlito" pitchFamily="34" charset="-122"/>
              </a:rPr>
              <a:t>ПРОДУКТ</a:t>
            </a:r>
            <a:endParaRPr lang="en-US" sz="800" dirty="0"/>
          </a:p>
        </p:txBody>
      </p:sp>
      <p:sp>
        <p:nvSpPr>
          <p:cNvPr id="102" name="Text 32"/>
          <p:cNvSpPr/>
          <p:nvPr/>
        </p:nvSpPr>
        <p:spPr>
          <a:xfrm>
            <a:off x="4318179" y="1257901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33"/>
          <p:cNvSpPr/>
          <p:nvPr/>
        </p:nvSpPr>
        <p:spPr>
          <a:xfrm>
            <a:off x="4334552" y="1270117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104" name="Text 34"/>
          <p:cNvSpPr/>
          <p:nvPr/>
        </p:nvSpPr>
        <p:spPr>
          <a:xfrm>
            <a:off x="4836996" y="1312979"/>
            <a:ext cx="19595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SKU · средний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300 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₽</a:t>
            </a:r>
            <a:endParaRPr lang="en-US" sz="800" dirty="0"/>
          </a:p>
        </p:txBody>
      </p:sp>
      <p:sp>
        <p:nvSpPr>
          <p:cNvPr id="94" name="Text 46"/>
          <p:cNvSpPr/>
          <p:nvPr/>
        </p:nvSpPr>
        <p:spPr>
          <a:xfrm>
            <a:off x="4225870" y="3735504"/>
            <a:ext cx="3526842" cy="714375"/>
          </a:xfrm>
          <a:prstGeom prst="roundRect">
            <a:avLst>
              <a:gd name="adj" fmla="val 16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47"/>
          <p:cNvSpPr/>
          <p:nvPr/>
        </p:nvSpPr>
        <p:spPr>
          <a:xfrm>
            <a:off x="4276670" y="3835517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СВЕРХ </a:t>
            </a: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ДЛИННАЯ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ЦЕПОЧКА 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6" name="Text 48"/>
          <p:cNvSpPr/>
          <p:nvPr/>
        </p:nvSpPr>
        <p:spPr>
          <a:xfrm>
            <a:off x="4251464" y="3999823"/>
            <a:ext cx="337663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49"/>
          <p:cNvSpPr/>
          <p:nvPr/>
        </p:nvSpPr>
        <p:spPr>
          <a:xfrm>
            <a:off x="4263970" y="4010539"/>
            <a:ext cx="31265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Text 50"/>
          <p:cNvSpPr/>
          <p:nvPr/>
        </p:nvSpPr>
        <p:spPr>
          <a:xfrm>
            <a:off x="4560746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1" name="Text 51"/>
          <p:cNvSpPr/>
          <p:nvPr/>
        </p:nvSpPr>
        <p:spPr>
          <a:xfrm>
            <a:off x="4654744" y="3999823"/>
            <a:ext cx="548144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52"/>
          <p:cNvSpPr/>
          <p:nvPr/>
        </p:nvSpPr>
        <p:spPr>
          <a:xfrm>
            <a:off x="4669514" y="4015922"/>
            <a:ext cx="50754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</a:p>
        </p:txBody>
      </p:sp>
      <p:sp>
        <p:nvSpPr>
          <p:cNvPr id="106" name="Text 53"/>
          <p:cNvSpPr/>
          <p:nvPr/>
        </p:nvSpPr>
        <p:spPr>
          <a:xfrm>
            <a:off x="5192112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7" name="Text 54"/>
          <p:cNvSpPr/>
          <p:nvPr/>
        </p:nvSpPr>
        <p:spPr>
          <a:xfrm>
            <a:off x="5296252" y="3999823"/>
            <a:ext cx="693011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55"/>
          <p:cNvSpPr/>
          <p:nvPr/>
        </p:nvSpPr>
        <p:spPr>
          <a:xfrm>
            <a:off x="5312762" y="4016889"/>
            <a:ext cx="64729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Финиш. шпатл.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Text 56"/>
          <p:cNvSpPr/>
          <p:nvPr/>
        </p:nvSpPr>
        <p:spPr>
          <a:xfrm>
            <a:off x="5975928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0" name="Text 57"/>
          <p:cNvSpPr/>
          <p:nvPr/>
        </p:nvSpPr>
        <p:spPr>
          <a:xfrm>
            <a:off x="6063267" y="3999823"/>
            <a:ext cx="385039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58"/>
          <p:cNvSpPr/>
          <p:nvPr/>
        </p:nvSpPr>
        <p:spPr>
          <a:xfrm>
            <a:off x="6052128" y="4016889"/>
            <a:ext cx="356518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Text 59"/>
          <p:cNvSpPr/>
          <p:nvPr/>
        </p:nvSpPr>
        <p:spPr>
          <a:xfrm>
            <a:off x="6443570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3" name="Text 60"/>
          <p:cNvSpPr/>
          <p:nvPr/>
        </p:nvSpPr>
        <p:spPr>
          <a:xfrm>
            <a:off x="6556328" y="3999823"/>
            <a:ext cx="555980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61"/>
          <p:cNvSpPr/>
          <p:nvPr/>
        </p:nvSpPr>
        <p:spPr>
          <a:xfrm>
            <a:off x="6576920" y="4010539"/>
            <a:ext cx="514796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Text 62"/>
          <p:cNvSpPr/>
          <p:nvPr/>
        </p:nvSpPr>
        <p:spPr>
          <a:xfrm>
            <a:off x="4295720" y="423199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SKU ·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X6</a:t>
            </a:r>
            <a:endParaRPr lang="en-US" sz="800" dirty="0"/>
          </a:p>
        </p:txBody>
      </p:sp>
      <p:sp>
        <p:nvSpPr>
          <p:cNvPr id="116" name="Text 60"/>
          <p:cNvSpPr/>
          <p:nvPr/>
        </p:nvSpPr>
        <p:spPr>
          <a:xfrm>
            <a:off x="7236597" y="3999823"/>
            <a:ext cx="430973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61"/>
          <p:cNvSpPr/>
          <p:nvPr/>
        </p:nvSpPr>
        <p:spPr>
          <a:xfrm>
            <a:off x="7242946" y="4010539"/>
            <a:ext cx="430973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ru-RU" sz="800" dirty="0" smtClean="0">
                <a:solidFill>
                  <a:schemeClr val="bg1">
                    <a:lumMod val="50000"/>
                  </a:schemeClr>
                </a:solidFill>
              </a:rPr>
              <a:t>Декор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Text 59"/>
          <p:cNvSpPr/>
          <p:nvPr/>
        </p:nvSpPr>
        <p:spPr>
          <a:xfrm>
            <a:off x="7127657" y="40228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2403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00050" y="153738"/>
            <a:ext cx="83439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Гибридная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решений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на базовых, маржа на видимых</a:t>
            </a:r>
            <a:endParaRPr lang="en-US" sz="1238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410913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4716" y="483144"/>
            <a:ext cx="2528959" cy="1062632"/>
          </a:xfrm>
          <a:prstGeom prst="roundRect">
            <a:avLst>
              <a:gd name="adj" fmla="val 14756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31667" y="597444"/>
            <a:ext cx="21717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ПРИНЦИП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1667" y="770877"/>
            <a:ext cx="2171700" cy="70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все звенья цепочки создают ценность одинаково. </a:t>
            </a:r>
            <a:r>
              <a:rPr lang="ru-RU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Универсальный г</a:t>
            </a:r>
            <a:r>
              <a:rPr lang="en-US" sz="800" b="1" dirty="0" err="1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рунт</a:t>
            </a:r>
            <a:r>
              <a:rPr lang="en-US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определяет срок службы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его функция одинакова за 100 и 300 руб/кг. А вот краска и защита — определяют.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04716" y="1633875"/>
            <a:ext cx="2528959" cy="1505067"/>
          </a:xfrm>
          <a:prstGeom prst="roundRect">
            <a:avLst>
              <a:gd name="adj" fmla="val 1036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0221" y="1739110"/>
            <a:ext cx="22288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КАРТА ЦЕННОСТИ ЗВЕНЬЕВ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0221" y="1934604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35996" y="1952463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35996" y="1952463"/>
            <a:ext cx="378619" cy="71438"/>
          </a:xfrm>
          <a:prstGeom prst="roundRect">
            <a:avLst>
              <a:gd name="adj" fmla="val 66666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07621" y="1939962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70693" y="2077479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</a:p>
          <a:p>
            <a:pPr marL="0" indent="0" algn="r">
              <a:lnSpc>
                <a:spcPts val="844"/>
              </a:lnSpc>
              <a:buNone/>
            </a:pP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стартовая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5996" y="2095338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35996" y="2095338"/>
            <a:ext cx="529977" cy="71438"/>
          </a:xfrm>
          <a:prstGeom prst="roundRect">
            <a:avLst>
              <a:gd name="adj" fmla="val 66666"/>
            </a:avLst>
          </a:prstGeom>
          <a:solidFill>
            <a:srgbClr val="F5B0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407621" y="2082837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5B04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57045" y="2322714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2820" y="2340573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42820" y="2340573"/>
            <a:ext cx="1211535" cy="71438"/>
          </a:xfrm>
          <a:prstGeom prst="roundRect">
            <a:avLst>
              <a:gd name="adj" fmla="val 66666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414445" y="2328072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57045" y="2465589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42820" y="2483448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42820" y="2483448"/>
            <a:ext cx="1438684" cy="71438"/>
          </a:xfrm>
          <a:prstGeom prst="roundRect">
            <a:avLst>
              <a:gd name="adj" fmla="val 66666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414445" y="2470947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57033" y="2608464"/>
            <a:ext cx="5286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Декор-эффект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42820" y="2679902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842820" y="2679902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414444" y="2667400"/>
            <a:ext cx="2651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6A1B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57045" y="2886111"/>
            <a:ext cx="222885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обоснования переплаты в зависимости от звена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04717" y="3272021"/>
            <a:ext cx="2522608" cy="1423046"/>
          </a:xfrm>
          <a:prstGeom prst="roundRect">
            <a:avLst>
              <a:gd name="adj" fmla="val 17641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71463" y="3361716"/>
            <a:ext cx="368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574836" y="3388505"/>
            <a:ext cx="832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565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БЕНЧМАРК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98463" y="3576029"/>
            <a:ext cx="2228850" cy="106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Tikkurila, Dulux, Caparol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все используют гибридный подход. Один грунт на все сегменты, сегментные краски и </a:t>
            </a:r>
            <a:r>
              <a:rPr lang="en-US" sz="800" dirty="0" err="1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эффекты</a:t>
            </a:r>
            <a:r>
              <a:rPr lang="en-US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97"/>
              </a:lnSpc>
              <a:buNone/>
            </a:pPr>
            <a:endParaRPr lang="en-US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897"/>
              </a:lnSpc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Премиум-грунт продаётся в объёме премиум-сегмента → низкий объём → высокая себестоимость → ещё дороже</a:t>
            </a:r>
            <a:endParaRPr lang="en-US" sz="800" dirty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943225" y="476794"/>
            <a:ext cx="2643188" cy="2478881"/>
          </a:xfrm>
          <a:prstGeom prst="roundRect">
            <a:avLst>
              <a:gd name="adj" fmla="val 5379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057525" y="594666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074670" y="61181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3289299" y="564106"/>
            <a:ext cx="2271713" cy="1539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ЗОНА А: </a:t>
            </a:r>
            <a:r>
              <a:rPr lang="ru-RU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 База</a:t>
            </a:r>
            <a:r>
              <a:rPr lang="en-US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 (</a:t>
            </a:r>
            <a:r>
              <a:rPr lang="ru-RU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специализация не нужна)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89299" y="724428"/>
            <a:ext cx="2085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Даём объём — снижаем себестоимость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032125" y="8506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032125" y="9207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5" name="Text 42"/>
          <p:cNvSpPr/>
          <p:nvPr/>
        </p:nvSpPr>
        <p:spPr>
          <a:xfrm>
            <a:off x="3346562" y="875574"/>
            <a:ext cx="180238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глубокого проникновения</a:t>
            </a:r>
          </a:p>
        </p:txBody>
      </p:sp>
      <p:sp>
        <p:nvSpPr>
          <p:cNvPr id="46" name="Text 43"/>
          <p:cNvSpPr/>
          <p:nvPr/>
        </p:nvSpPr>
        <p:spPr>
          <a:xfrm>
            <a:off x="3340212" y="1025196"/>
            <a:ext cx="2035063" cy="12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044825" y="11935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3044825" y="12636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9" name="Text 46"/>
          <p:cNvSpPr/>
          <p:nvPr/>
        </p:nvSpPr>
        <p:spPr>
          <a:xfrm>
            <a:off x="3384042" y="1212124"/>
            <a:ext cx="107288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бетон-контакт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366018" y="1373731"/>
            <a:ext cx="2002906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044825" y="15364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044825" y="16065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3" name="Text 50"/>
          <p:cNvSpPr/>
          <p:nvPr/>
        </p:nvSpPr>
        <p:spPr>
          <a:xfrm>
            <a:off x="3384042" y="1560859"/>
            <a:ext cx="131147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стартовая</a:t>
            </a:r>
          </a:p>
        </p:txBody>
      </p:sp>
      <p:sp>
        <p:nvSpPr>
          <p:cNvPr id="54" name="Text 51"/>
          <p:cNvSpPr/>
          <p:nvPr/>
        </p:nvSpPr>
        <p:spPr>
          <a:xfrm>
            <a:off x="3384042" y="1704328"/>
            <a:ext cx="190550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59"/>
              </a:lnSpc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ерновой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продукт, не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виден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044825" y="18793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3044825" y="19494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7" name="Text 54"/>
          <p:cNvSpPr/>
          <p:nvPr/>
        </p:nvSpPr>
        <p:spPr>
          <a:xfrm>
            <a:off x="3379124" y="1920498"/>
            <a:ext cx="112248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универсальная</a:t>
            </a:r>
          </a:p>
        </p:txBody>
      </p:sp>
      <p:sp>
        <p:nvSpPr>
          <p:cNvPr id="58" name="Text 55"/>
          <p:cNvSpPr/>
          <p:nvPr/>
        </p:nvSpPr>
        <p:spPr>
          <a:xfrm>
            <a:off x="3369444" y="2066650"/>
            <a:ext cx="1972767" cy="1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044825" y="22222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044825" y="22923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1" name="Text 58"/>
          <p:cNvSpPr/>
          <p:nvPr/>
        </p:nvSpPr>
        <p:spPr>
          <a:xfrm>
            <a:off x="3386783" y="2263906"/>
            <a:ext cx="12624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потолочная</a:t>
            </a:r>
          </a:p>
        </p:txBody>
      </p:sp>
      <p:sp>
        <p:nvSpPr>
          <p:cNvPr id="62" name="Text 59"/>
          <p:cNvSpPr/>
          <p:nvPr/>
        </p:nvSpPr>
        <p:spPr>
          <a:xfrm>
            <a:off x="3385629" y="2409178"/>
            <a:ext cx="195658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Commodity — нет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разницы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057525" y="2598488"/>
            <a:ext cx="2414588" cy="257175"/>
          </a:xfrm>
          <a:prstGeom prst="roundRect">
            <a:avLst>
              <a:gd name="adj" fmla="val 29630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174616" y="2628650"/>
            <a:ext cx="21802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Максимальный</a:t>
            </a:r>
            <a:r>
              <a:rPr lang="en-US" sz="800" dirty="0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· </a:t>
            </a:r>
            <a:endParaRPr lang="ru-RU" sz="800" dirty="0" smtClean="0">
              <a:solidFill>
                <a:srgbClr val="FFFFFF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ct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Минимальная</a:t>
            </a:r>
            <a:r>
              <a:rPr lang="en-US" sz="800" dirty="0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себестоимость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2943225" y="3040100"/>
            <a:ext cx="2643188" cy="1654968"/>
          </a:xfrm>
          <a:prstGeom prst="roundRect">
            <a:avLst>
              <a:gd name="adj" fmla="val 6527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057525" y="310717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3074670" y="312431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68" name="Text 65"/>
          <p:cNvSpPr/>
          <p:nvPr/>
        </p:nvSpPr>
        <p:spPr>
          <a:xfrm>
            <a:off x="3314700" y="3108361"/>
            <a:ext cx="1545507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ЗОНА Б: МАРЖИНАЛЬНЫЕ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3314700" y="3268699"/>
            <a:ext cx="1987550" cy="140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Обоснованная переплата = рост маржи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3057525" y="3433005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3035440" y="3478796"/>
            <a:ext cx="145175" cy="112014"/>
          </a:xfrm>
          <a:prstGeom prst="roundRect">
            <a:avLst>
              <a:gd name="adj" fmla="val 25510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3046413" y="3484797"/>
            <a:ext cx="123230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3172957" y="3478796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3183930" y="3484797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3317506" y="3478796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3328479" y="3484797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3587750" y="3475867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финишная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3057525" y="3665177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6"/>
          <p:cNvSpPr/>
          <p:nvPr/>
        </p:nvSpPr>
        <p:spPr>
          <a:xfrm>
            <a:off x="3035440" y="3710968"/>
            <a:ext cx="145175" cy="112014"/>
          </a:xfrm>
          <a:prstGeom prst="roundRect">
            <a:avLst>
              <a:gd name="adj" fmla="val 25510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3046413" y="3716969"/>
            <a:ext cx="123230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3172957" y="3710968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3183930" y="3716969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3317506" y="3710968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3328479" y="3716969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3587750" y="3708039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3057525" y="3897349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3035440" y="3943140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5"/>
          <p:cNvSpPr/>
          <p:nvPr/>
        </p:nvSpPr>
        <p:spPr>
          <a:xfrm>
            <a:off x="3046413" y="3949141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3179989" y="3943140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7"/>
          <p:cNvSpPr/>
          <p:nvPr/>
        </p:nvSpPr>
        <p:spPr>
          <a:xfrm>
            <a:off x="3190962" y="3949141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3587750" y="3940211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фасадная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3057525" y="4129520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3035440" y="4175312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1"/>
          <p:cNvSpPr/>
          <p:nvPr/>
        </p:nvSpPr>
        <p:spPr>
          <a:xfrm>
            <a:off x="3046413" y="4181313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3179989" y="4175312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3190962" y="4181313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3587750" y="4172383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 / Защитное покрытие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057525" y="4361692"/>
            <a:ext cx="2414588" cy="321469"/>
          </a:xfrm>
          <a:prstGeom prst="roundRect">
            <a:avLst>
              <a:gd name="adj" fmla="val 23704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6"/>
          <p:cNvSpPr/>
          <p:nvPr/>
        </p:nvSpPr>
        <p:spPr>
          <a:xfrm>
            <a:off x="3035440" y="4466420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7"/>
          <p:cNvSpPr/>
          <p:nvPr/>
        </p:nvSpPr>
        <p:spPr>
          <a:xfrm>
            <a:off x="3046413" y="4472420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3580160" y="4404555"/>
            <a:ext cx="192211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 эффекты (сатин, бархат, керамика)</a:t>
            </a:r>
            <a:endParaRPr lang="en-US" sz="800" dirty="0"/>
          </a:p>
        </p:txBody>
      </p:sp>
      <p:sp>
        <p:nvSpPr>
          <p:cNvPr id="104" name="Text 101"/>
          <p:cNvSpPr/>
          <p:nvPr/>
        </p:nvSpPr>
        <p:spPr>
          <a:xfrm>
            <a:off x="5734833" y="531386"/>
            <a:ext cx="30432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Пример: Технологическая карта «Долговечный интерьер»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5688013" y="770877"/>
            <a:ext cx="3043238" cy="1311960"/>
          </a:xfrm>
          <a:prstGeom prst="roundRect">
            <a:avLst>
              <a:gd name="adj" fmla="val 10884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3"/>
          <p:cNvSpPr/>
          <p:nvPr/>
        </p:nvSpPr>
        <p:spPr>
          <a:xfrm>
            <a:off x="5788025" y="843958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5853881" y="876105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6010275" y="840584"/>
            <a:ext cx="1354750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 глубокого проникновения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7299250" y="839592"/>
            <a:ext cx="63824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ru-RU" sz="800" dirty="0" err="1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Субэконом</a:t>
            </a:r>
            <a: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 Эконом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8146120" y="876105"/>
            <a:ext cx="60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· ~130 ₽/кг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5788025" y="113684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5B0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9"/>
          <p:cNvSpPr/>
          <p:nvPr/>
        </p:nvSpPr>
        <p:spPr>
          <a:xfrm>
            <a:off x="5853881" y="1168987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13" name="Text 110"/>
          <p:cNvSpPr/>
          <p:nvPr/>
        </p:nvSpPr>
        <p:spPr>
          <a:xfrm>
            <a:off x="6016625" y="1177917"/>
            <a:ext cx="101934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финишная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7337351" y="1173670"/>
            <a:ext cx="644598" cy="111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8130084" y="1168987"/>
            <a:ext cx="7170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NEWTONE · ~200 ₽/кг</a:t>
            </a:r>
            <a:endParaRPr lang="en-US" sz="800" dirty="0"/>
          </a:p>
        </p:txBody>
      </p:sp>
      <p:sp>
        <p:nvSpPr>
          <p:cNvPr id="116" name="Text 113"/>
          <p:cNvSpPr/>
          <p:nvPr/>
        </p:nvSpPr>
        <p:spPr>
          <a:xfrm>
            <a:off x="5788025" y="1426217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14"/>
          <p:cNvSpPr/>
          <p:nvPr/>
        </p:nvSpPr>
        <p:spPr>
          <a:xfrm>
            <a:off x="5853881" y="1458364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18" name="Text 115"/>
          <p:cNvSpPr/>
          <p:nvPr/>
        </p:nvSpPr>
        <p:spPr>
          <a:xfrm>
            <a:off x="6016625" y="1426349"/>
            <a:ext cx="1330278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 моющаяся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7308342" y="1478737"/>
            <a:ext cx="416481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986923" y="1461870"/>
            <a:ext cx="8348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AVANTGARDE · ~600 ₽/кг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5794375" y="1737598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19"/>
          <p:cNvSpPr/>
          <p:nvPr/>
        </p:nvSpPr>
        <p:spPr>
          <a:xfrm>
            <a:off x="5860231" y="1769745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6022975" y="1719739"/>
            <a:ext cx="1647085" cy="10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 защитный /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en-US" sz="800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Декоративный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</a:t>
            </a:r>
          </a:p>
        </p:txBody>
      </p:sp>
      <p:sp>
        <p:nvSpPr>
          <p:cNvPr id="124" name="Text 121"/>
          <p:cNvSpPr/>
          <p:nvPr/>
        </p:nvSpPr>
        <p:spPr>
          <a:xfrm>
            <a:off x="7324456" y="1817806"/>
            <a:ext cx="4644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 smtClean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7993273" y="1769745"/>
            <a:ext cx="8348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AVANTGARDE · ~800 ₽/кг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5700713" y="2200026"/>
            <a:ext cx="3043238" cy="907144"/>
          </a:xfrm>
          <a:prstGeom prst="roundRect">
            <a:avLst>
              <a:gd name="adj" fmla="val 1592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24"/>
          <p:cNvSpPr/>
          <p:nvPr/>
        </p:nvSpPr>
        <p:spPr>
          <a:xfrm>
            <a:off x="5800725" y="2290897"/>
            <a:ext cx="295294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гибридной цепочки</a:t>
            </a:r>
            <a:endParaRPr lang="en-US" sz="800" dirty="0"/>
          </a:p>
        </p:txBody>
      </p:sp>
      <p:sp>
        <p:nvSpPr>
          <p:cNvPr id="128" name="Text 125"/>
          <p:cNvSpPr/>
          <p:nvPr/>
        </p:nvSpPr>
        <p:spPr>
          <a:xfrm>
            <a:off x="5892800" y="2506223"/>
            <a:ext cx="646199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~140</a:t>
            </a:r>
          </a:p>
        </p:txBody>
      </p:sp>
      <p:sp>
        <p:nvSpPr>
          <p:cNvPr id="129" name="Text 126"/>
          <p:cNvSpPr/>
          <p:nvPr/>
        </p:nvSpPr>
        <p:spPr>
          <a:xfrm>
            <a:off x="5800725" y="2699104"/>
            <a:ext cx="8079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commodities, ₽/кг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6680076" y="2506223"/>
            <a:ext cx="10679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900" dirty="0"/>
          </a:p>
        </p:txBody>
      </p:sp>
      <p:sp>
        <p:nvSpPr>
          <p:cNvPr id="131" name="Text 128"/>
          <p:cNvSpPr/>
          <p:nvPr/>
        </p:nvSpPr>
        <p:spPr>
          <a:xfrm>
            <a:off x="6583936" y="2506223"/>
            <a:ext cx="1276680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E7D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</a:t>
            </a:r>
            <a:r>
              <a:rPr lang="en-US" sz="56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650</a:t>
            </a:r>
            <a:endParaRPr lang="en-US" sz="5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6818263" y="2699104"/>
            <a:ext cx="808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маржинальных, ₽/кг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7697725" y="2506223"/>
            <a:ext cx="10679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7937499" y="2506223"/>
            <a:ext cx="647701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~420</a:t>
            </a:r>
          </a:p>
        </p:txBody>
      </p:sp>
      <p:sp>
        <p:nvSpPr>
          <p:cNvPr id="135" name="Text 132"/>
          <p:cNvSpPr/>
          <p:nvPr/>
        </p:nvSpPr>
        <p:spPr>
          <a:xfrm>
            <a:off x="7835912" y="2699104"/>
            <a:ext cx="808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цепочки, ₽/кг</a:t>
            </a:r>
            <a:endParaRPr lang="en-US" sz="800" dirty="0"/>
          </a:p>
        </p:txBody>
      </p:sp>
      <p:pic>
        <p:nvPicPr>
          <p:cNvPr id="1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713" y="3351014"/>
            <a:ext cx="3043238" cy="682228"/>
          </a:xfrm>
          <a:prstGeom prst="rect">
            <a:avLst/>
          </a:prstGeom>
        </p:spPr>
      </p:pic>
      <p:sp>
        <p:nvSpPr>
          <p:cNvPr id="137" name="Text 133"/>
          <p:cNvSpPr/>
          <p:nvPr/>
        </p:nvSpPr>
        <p:spPr>
          <a:xfrm>
            <a:off x="5815013" y="3411339"/>
            <a:ext cx="281463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 гибридной модели</a:t>
            </a:r>
            <a:endParaRPr lang="en-US" sz="800" dirty="0"/>
          </a:p>
        </p:txBody>
      </p:sp>
      <p:sp>
        <p:nvSpPr>
          <p:cNvPr id="138" name="Text 134"/>
          <p:cNvSpPr/>
          <p:nvPr/>
        </p:nvSpPr>
        <p:spPr>
          <a:xfrm>
            <a:off x="5815013" y="3551436"/>
            <a:ext cx="11277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-30% SKU</a:t>
            </a:r>
            <a:endParaRPr lang="en-US" sz="1000" dirty="0"/>
          </a:p>
        </p:txBody>
      </p:sp>
      <p:sp>
        <p:nvSpPr>
          <p:cNvPr id="139" name="Text 135"/>
          <p:cNvSpPr/>
          <p:nvPr/>
        </p:nvSpPr>
        <p:spPr>
          <a:xfrm>
            <a:off x="5815013" y="3722886"/>
            <a:ext cx="881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чистые сегментные цепочки</a:t>
            </a:r>
            <a:endParaRPr lang="en-US" sz="800" dirty="0"/>
          </a:p>
        </p:txBody>
      </p:sp>
      <p:sp>
        <p:nvSpPr>
          <p:cNvPr id="140" name="Text 136"/>
          <p:cNvSpPr/>
          <p:nvPr/>
        </p:nvSpPr>
        <p:spPr>
          <a:xfrm>
            <a:off x="6654763" y="3551436"/>
            <a:ext cx="103269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+15% маржа</a:t>
            </a:r>
            <a:endParaRPr lang="en-US" sz="1000" dirty="0"/>
          </a:p>
        </p:txBody>
      </p:sp>
      <p:sp>
        <p:nvSpPr>
          <p:cNvPr id="141" name="Text 137"/>
          <p:cNvSpPr/>
          <p:nvPr/>
        </p:nvSpPr>
        <p:spPr>
          <a:xfrm>
            <a:off x="6654763" y="3722886"/>
            <a:ext cx="10326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системе в целом</a:t>
            </a:r>
            <a:endParaRPr lang="en-US" sz="800" dirty="0"/>
          </a:p>
        </p:txBody>
      </p:sp>
      <p:sp>
        <p:nvSpPr>
          <p:cNvPr id="142" name="Text 138"/>
          <p:cNvSpPr/>
          <p:nvPr/>
        </p:nvSpPr>
        <p:spPr>
          <a:xfrm>
            <a:off x="7767675" y="3551436"/>
            <a:ext cx="8810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работает</a:t>
            </a:r>
            <a:endParaRPr lang="en-US" sz="1000" dirty="0"/>
          </a:p>
        </p:txBody>
      </p:sp>
      <p:sp>
        <p:nvSpPr>
          <p:cNvPr id="143" name="Text 139"/>
          <p:cNvSpPr/>
          <p:nvPr/>
        </p:nvSpPr>
        <p:spPr>
          <a:xfrm>
            <a:off x="7767675" y="3722886"/>
            <a:ext cx="881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переплата только за ценность</a:t>
            </a:r>
            <a:endParaRPr lang="en-US" sz="800" dirty="0"/>
          </a:p>
        </p:txBody>
      </p:sp>
      <p:sp>
        <p:nvSpPr>
          <p:cNvPr id="144" name="Text 140"/>
          <p:cNvSpPr/>
          <p:nvPr/>
        </p:nvSpPr>
        <p:spPr>
          <a:xfrm>
            <a:off x="5700713" y="4187230"/>
            <a:ext cx="3043238" cy="472715"/>
          </a:xfrm>
          <a:prstGeom prst="roundRect">
            <a:avLst>
              <a:gd name="adj" fmla="val 2417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5" name="Text 141"/>
          <p:cNvSpPr/>
          <p:nvPr/>
        </p:nvSpPr>
        <p:spPr>
          <a:xfrm>
            <a:off x="5800725" y="4349385"/>
            <a:ext cx="5211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25" dirty="0"/>
          </a:p>
        </p:txBody>
      </p:sp>
      <p:sp>
        <p:nvSpPr>
          <p:cNvPr id="146" name="Text 142"/>
          <p:cNvSpPr/>
          <p:nvPr/>
        </p:nvSpPr>
        <p:spPr>
          <a:xfrm>
            <a:off x="6364746" y="4270246"/>
            <a:ext cx="2279191" cy="3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Навигация — по технологии, не по бренду.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Клиент выбирает задачу, а система сама подбирает оптимальное сочетание звеньев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5666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000" y="233175"/>
            <a:ext cx="8544000" cy="401445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1800" b="1">
                <a:solidFill>
                  <a:srgbClr val="2D2D2D"/>
                </a:solidFill>
                <a:latin typeface="Montserrat"/>
              </a:defRPr>
            </a:pPr>
            <a:r>
              <a:rPr dirty="0" err="1"/>
              <a:t>Ассортиментная</a:t>
            </a:r>
            <a:r>
              <a:rPr dirty="0"/>
              <a:t> </a:t>
            </a:r>
            <a:r>
              <a:rPr dirty="0" err="1"/>
              <a:t>матрица</a:t>
            </a:r>
            <a:r>
              <a:rPr dirty="0"/>
              <a:t>: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× </a:t>
            </a:r>
            <a:r>
              <a:rPr dirty="0" err="1"/>
              <a:t>продукты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00000" y="561888"/>
            <a:ext cx="480000" cy="31500"/>
          </a:xfrm>
          <a:prstGeom prst="roundRect">
            <a:avLst/>
          </a:prstGeom>
          <a:solidFill>
            <a:srgbClr val="F28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0000" y="737220"/>
            <a:ext cx="8544000" cy="150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8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= </a:t>
            </a:r>
            <a:r>
              <a:rPr dirty="0" err="1"/>
              <a:t>комбинация</a:t>
            </a:r>
            <a:r>
              <a:rPr dirty="0"/>
              <a:t> </a:t>
            </a:r>
            <a:r>
              <a:rPr dirty="0" err="1"/>
              <a:t>продуктов</a:t>
            </a:r>
            <a:r>
              <a:rPr dirty="0"/>
              <a:t>.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: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ассортимент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, а </a:t>
            </a:r>
            <a:r>
              <a:rPr dirty="0" err="1"/>
              <a:t>неиспользуемый</a:t>
            </a:r>
            <a:r>
              <a:rPr dirty="0"/>
              <a:t> —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самостоятельным</a:t>
            </a:r>
            <a:r>
              <a:rPr dirty="0"/>
              <a:t> </a:t>
            </a:r>
            <a:r>
              <a:rPr dirty="0" err="1"/>
              <a:t>продуктом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8456" y="1061876"/>
            <a:ext cx="1087500" cy="270000"/>
          </a:xfrm>
          <a:prstGeom prst="roundRect">
            <a:avLst/>
          </a:prstGeom>
          <a:solidFill>
            <a:srgbClr val="F28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6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Грунтовка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8456" y="1061876"/>
            <a:ext cx="1087500" cy="27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7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Шпатлёвка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8456" y="1061876"/>
            <a:ext cx="1087500" cy="270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8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Финишная</a:t>
            </a:r>
            <a:r>
              <a:rPr dirty="0"/>
              <a:t/>
            </a:r>
            <a:br>
              <a:rPr dirty="0"/>
            </a:br>
            <a:r>
              <a:rPr dirty="0" err="1"/>
              <a:t>шпатлёвка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068456" y="1061876"/>
            <a:ext cx="1087500" cy="27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9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Краска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456" y="1061876"/>
            <a:ext cx="1087500" cy="27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Лак</a:t>
            </a:r>
            <a:r>
              <a:rPr dirty="0"/>
              <a:t> /</a:t>
            </a:r>
            <a:br>
              <a:rPr dirty="0"/>
            </a:br>
            <a:r>
              <a:rPr dirty="0" err="1"/>
              <a:t>защита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288456" y="1061876"/>
            <a:ext cx="1087500" cy="270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Декор</a:t>
            </a:r>
            <a:r>
              <a:rPr dirty="0"/>
              <a:t>.</a:t>
            </a:r>
            <a:br>
              <a:rPr dirty="0"/>
            </a:br>
            <a:r>
              <a:rPr dirty="0" err="1"/>
              <a:t>эффект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8456" y="1061876"/>
            <a:ext cx="1575000" cy="270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8456" y="1106876"/>
            <a:ext cx="1485000" cy="180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ЗАДАЧА КЛИЕНТА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456" y="1361876"/>
            <a:ext cx="1575000" cy="49500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8456" y="139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Ремонт комнаты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456" y="162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Интерьер · Полный цикл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 глуб.</a:t>
            </a:r>
            <a:br/>
            <a:r>
              <a:t>проникн.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4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7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Стартовая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5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8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9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интерьерная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8456" y="13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88456" y="13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456" y="1901876"/>
            <a:ext cx="1575000" cy="495000"/>
          </a:xfrm>
          <a:prstGeom prst="roundRect">
            <a:avLst/>
          </a:prstGeom>
          <a:solidFill>
            <a:srgbClr val="E3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8456" y="193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Обновление фасада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456" y="216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Фасад · Защита от погоды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3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6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</a:t>
            </a:r>
            <a:br/>
            <a:r>
              <a:t>фасадный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4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7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Фасадная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8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  <a:br/>
            <a:r>
              <a:t>фасадная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6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9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фасадная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0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Защитный</a:t>
            </a:r>
            <a:br/>
            <a:r>
              <a:t>лак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88456" y="190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456" y="2441876"/>
            <a:ext cx="1575000" cy="495000"/>
          </a:xfrm>
          <a:prstGeom prst="roundRect">
            <a:avLst/>
          </a:prstGeom>
          <a:solidFill>
            <a:srgbClr val="E6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8456" y="247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Покраска</a:t>
            </a:r>
            <a:br/>
            <a:r>
              <a:t>деревянного домика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8456" y="2758968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Дерево</a:t>
            </a:r>
            <a:r>
              <a:rPr dirty="0"/>
              <a:t> · </a:t>
            </a:r>
            <a:r>
              <a:rPr dirty="0" err="1"/>
              <a:t>Защита</a:t>
            </a:r>
            <a:r>
              <a:rPr dirty="0"/>
              <a:t> + </a:t>
            </a:r>
            <a:r>
              <a:rPr dirty="0" err="1"/>
              <a:t>цвет</a:t>
            </a:r>
            <a:endParaRPr dirty="0"/>
          </a:p>
        </p:txBody>
      </p:sp>
      <p:sp>
        <p:nvSpPr>
          <p:cNvPr id="52" name="Rounded Rectangle 51"/>
          <p:cNvSpPr/>
          <p:nvPr/>
        </p:nvSpPr>
        <p:spPr>
          <a:xfrm>
            <a:off x="173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76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Антисептик</a:t>
            </a:r>
            <a:br/>
            <a:r>
              <a:t>для дерева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4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7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5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8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6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9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Деревозащитная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0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Лак</a:t>
            </a:r>
            <a:br/>
            <a:r>
              <a:t>для дерева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8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1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456" y="2981876"/>
            <a:ext cx="1575000" cy="49500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48456" y="301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Ремонт ванной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8456" y="324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Влажная зона · Моющаяся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3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76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</a:t>
            </a:r>
            <a:br/>
            <a:r>
              <a:t>влагостойк.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84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7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Влагостойкая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5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98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  <a:br/>
            <a:r>
              <a:t>влагостойк.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6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9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моющаяся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7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0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Антивандальн.</a:t>
            </a:r>
            <a:br/>
            <a:r>
              <a:t>лак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8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31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Сатин /</a:t>
            </a:r>
            <a:br/>
            <a:r>
              <a:t>бархат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456" y="3521876"/>
            <a:ext cx="1575000" cy="495000"/>
          </a:xfrm>
          <a:prstGeom prst="round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48456" y="355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Декоративный</a:t>
            </a:r>
            <a:br/>
            <a:r>
              <a:t>интерьер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8456" y="3838968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Премиум · Фактура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73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76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 под</a:t>
            </a:r>
            <a:br/>
            <a:r>
              <a:t>шпатлёвку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84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87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Стартовая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5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98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Ультратонкая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6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9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премиум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7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0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Топ-лак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8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31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Керамика /</a:t>
            </a:r>
            <a:br/>
            <a:r>
              <a:t>шёлкография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8456" y="4061876"/>
            <a:ext cx="1575000" cy="495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48456" y="409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Покраска</a:t>
            </a:r>
            <a:br/>
            <a:r>
              <a:t>садовых деревьев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8456" y="4365320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Стandalone</a:t>
            </a:r>
            <a:r>
              <a:rPr dirty="0"/>
              <a:t> · </a:t>
            </a:r>
            <a:r>
              <a:rPr dirty="0" err="1"/>
              <a:t>Сад</a:t>
            </a:r>
            <a:endParaRPr dirty="0"/>
          </a:p>
        </p:txBody>
      </p:sp>
      <p:sp>
        <p:nvSpPr>
          <p:cNvPr id="97" name="Rounded Rectangle 96"/>
          <p:cNvSpPr/>
          <p:nvPr/>
        </p:nvSpPr>
        <p:spPr>
          <a:xfrm>
            <a:off x="173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76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4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87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95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98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68456" y="40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09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Садовая</a:t>
            </a:r>
            <a:br/>
            <a:r>
              <a:t>краска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7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0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28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31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39" name="Rounded Rectangle 18"/>
          <p:cNvSpPr/>
          <p:nvPr/>
        </p:nvSpPr>
        <p:spPr>
          <a:xfrm>
            <a:off x="8394000" y="1055052"/>
            <a:ext cx="674937" cy="270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311468" y="1030728"/>
            <a:ext cx="8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Чек</a:t>
            </a:r>
            <a:r>
              <a:rPr dirty="0"/>
              <a:t>, ₽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11468" y="1165728"/>
            <a:ext cx="8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МД, %</a:t>
            </a:r>
          </a:p>
        </p:txBody>
      </p:sp>
      <p:sp>
        <p:nvSpPr>
          <p:cNvPr id="146" name="Rounded Rectangle 31"/>
          <p:cNvSpPr/>
          <p:nvPr/>
        </p:nvSpPr>
        <p:spPr>
          <a:xfrm>
            <a:off x="8394000" y="135812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7" name="Rounded Rectangle 31"/>
          <p:cNvSpPr/>
          <p:nvPr/>
        </p:nvSpPr>
        <p:spPr>
          <a:xfrm>
            <a:off x="8394000" y="1908992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8" name="Rounded Rectangle 31"/>
          <p:cNvSpPr/>
          <p:nvPr/>
        </p:nvSpPr>
        <p:spPr>
          <a:xfrm>
            <a:off x="8400152" y="245687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9" name="Rounded Rectangle 31"/>
          <p:cNvSpPr/>
          <p:nvPr/>
        </p:nvSpPr>
        <p:spPr>
          <a:xfrm>
            <a:off x="8400152" y="299687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0" name="Rounded Rectangle 31"/>
          <p:cNvSpPr/>
          <p:nvPr/>
        </p:nvSpPr>
        <p:spPr>
          <a:xfrm>
            <a:off x="8400823" y="3518085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1" name="Rounded Rectangle 31"/>
          <p:cNvSpPr/>
          <p:nvPr/>
        </p:nvSpPr>
        <p:spPr>
          <a:xfrm>
            <a:off x="8400823" y="4057820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306467" y="1352503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8 500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06467" y="1575928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15%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02806" y="190261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18 000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10121" y="2111411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25%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32066" y="243611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12 000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46696" y="265222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22%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346696" y="301195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28 000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46696" y="322806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35%</a:t>
            </a:r>
          </a:p>
        </p:txBody>
      </p:sp>
      <p:sp>
        <p:nvSpPr>
          <p:cNvPr id="160" name="Прямоугольник 159"/>
          <p:cNvSpPr/>
          <p:nvPr/>
        </p:nvSpPr>
        <p:spPr>
          <a:xfrm>
            <a:off x="8449129" y="3552412"/>
            <a:ext cx="615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  <a:latin typeface="Montserrat"/>
              </a:defRPr>
            </a:pPr>
            <a:r>
              <a:rPr lang="ru-RU" sz="1100" dirty="0"/>
              <a:t>38 000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53826" y="3733171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42%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46511" y="406537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2 500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353826" y="429611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12%</a:t>
            </a:r>
          </a:p>
        </p:txBody>
      </p:sp>
    </p:spTree>
    <p:extLst>
      <p:ext uri="{BB962C8B-B14F-4D97-AF65-F5344CB8AC3E}">
        <p14:creationId xmlns:p14="http://schemas.microsoft.com/office/powerpoint/2010/main" val="309680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328988" y="2552303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28988" y="2841625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28988" y="3141663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8988" y="3430984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625" y="34290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продаем решения: философия </a:t>
            </a:r>
            <a:r>
              <a:rPr lang="en-US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</a:t>
            </a:r>
            <a:r>
              <a:rPr lang="en-US" sz="146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совокупная стоимость владения</a:t>
            </a:r>
            <a:endParaRPr lang="en-US" sz="1463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650081"/>
            <a:ext cx="457200" cy="3571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6549" y="1076580"/>
            <a:ext cx="8286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Переводим продажу от цены за литр к стоимости года эксплуатации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8625" y="1414066"/>
            <a:ext cx="2714625" cy="768623"/>
          </a:xfrm>
          <a:prstGeom prst="roundRect">
            <a:avLst>
              <a:gd name="adj" fmla="val 17349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00075" y="1556941"/>
            <a:ext cx="24003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ФОРМУЛА TCO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0075" y="1742678"/>
            <a:ext cx="24003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= Материалы + Подготовка + Нанесение + Ремонты + Простой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8625" y="2328737"/>
            <a:ext cx="2714625" cy="1824337"/>
          </a:xfrm>
          <a:prstGeom prst="roundRect">
            <a:avLst>
              <a:gd name="adj" fmla="val 9302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1500" y="2471613"/>
            <a:ext cx="5323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18" name="Text 15"/>
          <p:cNvSpPr/>
          <p:nvPr/>
        </p:nvSpPr>
        <p:spPr>
          <a:xfrm>
            <a:off x="1160971" y="2514476"/>
            <a:ext cx="18394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ИНСАЙТ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73533" y="2687513"/>
            <a:ext cx="96264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100" b="1" dirty="0">
                <a:solidFill>
                  <a:srgbClr val="DC5C5C"/>
                </a:solidFill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733" y="3030413"/>
            <a:ext cx="9626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 и подготовка</a:t>
            </a:r>
            <a:endParaRPr lang="en-US" sz="800" b="1" dirty="0"/>
          </a:p>
        </p:txBody>
      </p:sp>
      <p:sp>
        <p:nvSpPr>
          <p:cNvPr id="21" name="Text 18"/>
          <p:cNvSpPr/>
          <p:nvPr/>
        </p:nvSpPr>
        <p:spPr>
          <a:xfrm>
            <a:off x="1714040" y="2810743"/>
            <a:ext cx="9144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1125" b="1" dirty="0"/>
          </a:p>
        </p:txBody>
      </p:sp>
      <p:sp>
        <p:nvSpPr>
          <p:cNvPr id="22" name="Text 19"/>
          <p:cNvSpPr/>
          <p:nvPr/>
        </p:nvSpPr>
        <p:spPr>
          <a:xfrm>
            <a:off x="1824479" y="2693863"/>
            <a:ext cx="732056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878635" y="3030413"/>
            <a:ext cx="585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b="1" dirty="0"/>
          </a:p>
        </p:txBody>
      </p:sp>
      <p:sp>
        <p:nvSpPr>
          <p:cNvPr id="24" name="Text 21"/>
          <p:cNvSpPr/>
          <p:nvPr/>
        </p:nvSpPr>
        <p:spPr>
          <a:xfrm>
            <a:off x="571500" y="3270522"/>
            <a:ext cx="2428875" cy="72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краски — лишь 15-20% от общей сметы. </a:t>
            </a: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Переплата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премиум — это всего +7% к смете, но -60% к стоимости года эксплуатации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328988" y="1442913"/>
            <a:ext cx="5372100" cy="557213"/>
          </a:xfrm>
          <a:prstGeom prst="roundRect">
            <a:avLst>
              <a:gd name="adj" fmla="val 19444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457576" y="1571501"/>
            <a:ext cx="24574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ПРИМЕР: КОМНАТА 20 М2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57575" y="1777071"/>
            <a:ext cx="45827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Стены ~45 м2. Технология: Грунтовка + Шпатлёвка + Краска (2 слоя)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826014" y="2080816"/>
            <a:ext cx="17282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49092" y="2080816"/>
            <a:ext cx="1582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ru-RU" sz="800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 +</a:t>
            </a:r>
            <a:r>
              <a:rPr lang="en-US" sz="800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14700" y="2252266"/>
            <a:ext cx="5400675" cy="1589484"/>
          </a:xfrm>
          <a:prstGeom prst="roundRect">
            <a:avLst>
              <a:gd name="adj" fmla="val 7191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443288" y="2337991"/>
            <a:ext cx="32918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Материалы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835015" y="2337991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3 600 ₽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940867" y="2337991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8 720 ₽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43288" y="2627313"/>
            <a:ext cx="277749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 (грунт + шпатлёвка + покраска)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835015" y="2627313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15 750 ₽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940867" y="2627313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15 750 ₽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328988" y="2845197"/>
            <a:ext cx="5372100" cy="300038"/>
          </a:xfrm>
          <a:prstGeom prst="rect">
            <a:avLst/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443288" y="2916634"/>
            <a:ext cx="27003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Общая стоимость ремонта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35015" y="2916634"/>
            <a:ext cx="16459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19 350 ₽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940867" y="2916634"/>
            <a:ext cx="16459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24 470 ₽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443288" y="3216672"/>
            <a:ext cx="2700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службы покрытия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835015" y="3216672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года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940867" y="3216672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4CAF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лет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328988" y="3434556"/>
            <a:ext cx="5372100" cy="392906"/>
          </a:xfrm>
          <a:prstGeom prst="rect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3443288" y="3534569"/>
            <a:ext cx="277749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1 года эксплуатации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835015" y="3534569"/>
            <a:ext cx="16459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6 450 ₽</a:t>
            </a:r>
            <a:endParaRPr lang="en-US" sz="1013" dirty="0"/>
          </a:p>
        </p:txBody>
      </p:sp>
      <p:sp>
        <p:nvSpPr>
          <p:cNvPr id="47" name="Text 44"/>
          <p:cNvSpPr/>
          <p:nvPr/>
        </p:nvSpPr>
        <p:spPr>
          <a:xfrm>
            <a:off x="6940867" y="3534569"/>
            <a:ext cx="16459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2 447 ₽</a:t>
            </a:r>
            <a:endParaRPr lang="en-US" sz="1013" dirty="0"/>
          </a:p>
        </p:txBody>
      </p:sp>
      <p:sp>
        <p:nvSpPr>
          <p:cNvPr id="48" name="Text 45"/>
          <p:cNvSpPr/>
          <p:nvPr/>
        </p:nvSpPr>
        <p:spPr>
          <a:xfrm>
            <a:off x="3314700" y="3941763"/>
            <a:ext cx="1733476" cy="567928"/>
          </a:xfrm>
          <a:prstGeom prst="roundRect">
            <a:avLst>
              <a:gd name="adj" fmla="val 20126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3443288" y="4041775"/>
            <a:ext cx="1476301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ru-RU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2,6</a:t>
            </a:r>
            <a:endParaRPr lang="en-US" sz="800" b="1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3443288" y="4291806"/>
            <a:ext cx="147630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дешевле в год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148188" y="3941763"/>
            <a:ext cx="1733587" cy="567928"/>
          </a:xfrm>
          <a:prstGeom prst="roundRect">
            <a:avLst>
              <a:gd name="adj" fmla="val 20126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276776" y="4041775"/>
            <a:ext cx="147641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4 003 ₽</a:t>
            </a:r>
          </a:p>
        </p:txBody>
      </p:sp>
      <p:sp>
        <p:nvSpPr>
          <p:cNvPr id="53" name="Text 50"/>
          <p:cNvSpPr/>
          <p:nvPr/>
        </p:nvSpPr>
        <p:spPr>
          <a:xfrm>
            <a:off x="5276776" y="4291806"/>
            <a:ext cx="14764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экономия в год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6981788" y="3941763"/>
            <a:ext cx="1733587" cy="567928"/>
          </a:xfrm>
          <a:prstGeom prst="roundRect">
            <a:avLst>
              <a:gd name="adj" fmla="val 20126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7110375" y="4041775"/>
            <a:ext cx="147641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33 580 ₽</a:t>
            </a:r>
          </a:p>
        </p:txBody>
      </p:sp>
      <p:sp>
        <p:nvSpPr>
          <p:cNvPr id="56" name="Text 53"/>
          <p:cNvSpPr/>
          <p:nvPr/>
        </p:nvSpPr>
        <p:spPr>
          <a:xfrm>
            <a:off x="7110375" y="4291806"/>
            <a:ext cx="14764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экономия за 10 лет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3182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8625" y="34290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Маркетинг: программа внедрения решений и паттернов</a:t>
            </a:r>
            <a:endParaRPr lang="ru-RU" sz="14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650081"/>
            <a:ext cx="457200" cy="35719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413995" y="816971"/>
            <a:ext cx="4181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внедрения решения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413995" y="992390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542582" y="1106690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39358" y="1149552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899770" y="1106690"/>
            <a:ext cx="3477560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Классификатор технологий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99770" y="1274568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Сгруппировать все продукты в технологические цепочки по задачам клиента: «ванная», «фасад», «детская», «офис»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413995" y="1652666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542582" y="1766966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639358" y="1809828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899770" y="1741566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</a:t>
            </a:r>
            <a:r>
              <a:rPr lang="en-US" sz="800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аталог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сайт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899770" y="1915794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Навигация по задачам, не по продуктам. Каждая технология = карточка с расчётом TCO, списком продуктов, видео-инструкцией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13995" y="2312942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542582" y="2427242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639358" y="2470104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99770" y="2427242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Калькулятор TCO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899770" y="2595120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Веб-инструмент + Excel для менеджеров. Предзаполненные сценарии. Расчёт экономики для клиента за 2 минуты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413995" y="2960518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542582" y="3074818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639358" y="311768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899770" y="307481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 и мерчендайзинг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899770" y="3242696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«под задачу» в DIY-ритейле. Выкрасы по технологиям. Этикетки с TCO-сравнением прямо на полке</a:t>
            </a:r>
            <a:endParaRPr lang="en-US" sz="800" dirty="0"/>
          </a:p>
        </p:txBody>
      </p:sp>
      <p:sp>
        <p:nvSpPr>
          <p:cNvPr id="83" name="Text 71"/>
          <p:cNvSpPr/>
          <p:nvPr/>
        </p:nvSpPr>
        <p:spPr>
          <a:xfrm>
            <a:off x="439395" y="3620918"/>
            <a:ext cx="3982194" cy="636463"/>
          </a:xfrm>
          <a:prstGeom prst="roundRect">
            <a:avLst>
              <a:gd name="adj" fmla="val 17959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2"/>
          <p:cNvSpPr/>
          <p:nvPr/>
        </p:nvSpPr>
        <p:spPr>
          <a:xfrm>
            <a:off x="567982" y="3703468"/>
            <a:ext cx="257175" cy="257175"/>
          </a:xfrm>
          <a:prstGeom prst="roundRect">
            <a:avLst>
              <a:gd name="adj" fmla="val 37037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3"/>
          <p:cNvSpPr/>
          <p:nvPr/>
        </p:nvSpPr>
        <p:spPr>
          <a:xfrm>
            <a:off x="664758" y="374633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ru-RU" sz="900" b="1" dirty="0">
                <a:solidFill>
                  <a:srgbClr val="FFFFFF"/>
                </a:solidFill>
                <a:ea typeface="Liberation Sans Narrow" pitchFamily="34" charset="-122"/>
              </a:rPr>
              <a:t>5</a:t>
            </a:r>
            <a:endParaRPr lang="en-US" sz="900" dirty="0"/>
          </a:p>
        </p:txBody>
      </p:sp>
      <p:sp>
        <p:nvSpPr>
          <p:cNvPr id="86" name="Text 74"/>
          <p:cNvSpPr/>
          <p:nvPr/>
        </p:nvSpPr>
        <p:spPr>
          <a:xfrm>
            <a:off x="925170" y="366536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лидерство</a:t>
            </a:r>
            <a:endParaRPr lang="en-US" sz="800" dirty="0"/>
          </a:p>
        </p:txBody>
      </p:sp>
      <p:sp>
        <p:nvSpPr>
          <p:cNvPr id="87" name="Text 75"/>
          <p:cNvSpPr/>
          <p:nvPr/>
        </p:nvSpPr>
        <p:spPr>
          <a:xfrm>
            <a:off x="925170" y="3826896"/>
            <a:ext cx="3367832" cy="35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SMM,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Rutube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web-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обучение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+ CRM</a:t>
            </a: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945"/>
              </a:lnSpc>
              <a:buNone/>
            </a:pPr>
            <a:endParaRPr lang="en-US" sz="800" dirty="0"/>
          </a:p>
        </p:txBody>
      </p:sp>
      <p:sp>
        <p:nvSpPr>
          <p:cNvPr id="88" name="Text 71"/>
          <p:cNvSpPr/>
          <p:nvPr/>
        </p:nvSpPr>
        <p:spPr>
          <a:xfrm>
            <a:off x="445745" y="4268618"/>
            <a:ext cx="3982194" cy="636463"/>
          </a:xfrm>
          <a:prstGeom prst="roundRect">
            <a:avLst>
              <a:gd name="adj" fmla="val 1795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2"/>
          <p:cNvSpPr/>
          <p:nvPr/>
        </p:nvSpPr>
        <p:spPr>
          <a:xfrm>
            <a:off x="574332" y="4325768"/>
            <a:ext cx="257175" cy="257175"/>
          </a:xfrm>
          <a:prstGeom prst="roundRect">
            <a:avLst>
              <a:gd name="adj" fmla="val 37037"/>
            </a:avLst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3"/>
          <p:cNvSpPr/>
          <p:nvPr/>
        </p:nvSpPr>
        <p:spPr>
          <a:xfrm>
            <a:off x="671108" y="436863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ru-RU" sz="900" b="1" dirty="0">
                <a:solidFill>
                  <a:srgbClr val="FFFFFF"/>
                </a:solidFill>
                <a:ea typeface="Liberation Sans Narrow" pitchFamily="34" charset="-122"/>
              </a:rPr>
              <a:t>6</a:t>
            </a:r>
            <a:endParaRPr lang="en-US" sz="900" dirty="0"/>
          </a:p>
        </p:txBody>
      </p:sp>
      <p:sp>
        <p:nvSpPr>
          <p:cNvPr id="91" name="Text 74"/>
          <p:cNvSpPr/>
          <p:nvPr/>
        </p:nvSpPr>
        <p:spPr>
          <a:xfrm>
            <a:off x="931520" y="428766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Мероприятия и подтверждения решений</a:t>
            </a:r>
            <a:endParaRPr lang="en-US" sz="800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92" name="Text 75"/>
          <p:cNvSpPr/>
          <p:nvPr/>
        </p:nvSpPr>
        <p:spPr>
          <a:xfrm>
            <a:off x="931520" y="4409441"/>
            <a:ext cx="3367832" cy="455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Выставки – продвижение технологий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Полевые мероприятия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Профессиональные форумы и симпозиумы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Видео проекты – конкретных кейсов</a:t>
            </a:r>
          </a:p>
          <a:p>
            <a:pPr marL="0" indent="0" algn="l">
              <a:lnSpc>
                <a:spcPts val="945"/>
              </a:lnSpc>
              <a:buNone/>
            </a:pP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945"/>
              </a:lnSpc>
              <a:buNone/>
            </a:pPr>
            <a:endParaRPr lang="en-US" sz="800" dirty="0"/>
          </a:p>
        </p:txBody>
      </p:sp>
      <p:sp>
        <p:nvSpPr>
          <p:cNvPr id="93" name="Text 2"/>
          <p:cNvSpPr/>
          <p:nvPr/>
        </p:nvSpPr>
        <p:spPr>
          <a:xfrm>
            <a:off x="5214938" y="1231590"/>
            <a:ext cx="1071563" cy="1071563"/>
          </a:xfrm>
          <a:prstGeom prst="ellipse">
            <a:avLst/>
          </a:prstGeom>
          <a:solidFill>
            <a:srgbClr val="F0E6FF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Shape 12"/>
          <p:cNvSpPr/>
          <p:nvPr/>
        </p:nvSpPr>
        <p:spPr>
          <a:xfrm>
            <a:off x="4864723" y="2153011"/>
            <a:ext cx="0" cy="314325"/>
          </a:xfrm>
          <a:prstGeom prst="line">
            <a:avLst/>
          </a:prstGeom>
          <a:noFill/>
          <a:ln w="28575">
            <a:solidFill>
              <a:srgbClr val="F28C38"/>
            </a:solidFill>
            <a:prstDash val="solid"/>
          </a:ln>
        </p:spPr>
      </p:sp>
      <p:sp>
        <p:nvSpPr>
          <p:cNvPr id="95" name="Shape 13"/>
          <p:cNvSpPr/>
          <p:nvPr/>
        </p:nvSpPr>
        <p:spPr>
          <a:xfrm>
            <a:off x="4864723" y="2612266"/>
            <a:ext cx="0" cy="314325"/>
          </a:xfrm>
          <a:prstGeom prst="line">
            <a:avLst/>
          </a:prstGeom>
          <a:noFill/>
          <a:ln w="28575">
            <a:solidFill>
              <a:srgbClr val="4CAF7D"/>
            </a:solidFill>
            <a:prstDash val="solid"/>
          </a:ln>
        </p:spPr>
      </p:sp>
      <p:sp>
        <p:nvSpPr>
          <p:cNvPr id="96" name="Shape 14"/>
          <p:cNvSpPr/>
          <p:nvPr/>
        </p:nvSpPr>
        <p:spPr>
          <a:xfrm>
            <a:off x="4864723" y="3064206"/>
            <a:ext cx="0" cy="314325"/>
          </a:xfrm>
          <a:prstGeom prst="line">
            <a:avLst/>
          </a:prstGeom>
          <a:noFill/>
          <a:ln w="28575">
            <a:solidFill>
              <a:srgbClr val="4CAF7D"/>
            </a:solidFill>
            <a:prstDash val="solid"/>
          </a:ln>
        </p:spPr>
      </p:sp>
      <p:sp>
        <p:nvSpPr>
          <p:cNvPr id="97" name="Shape 15"/>
          <p:cNvSpPr/>
          <p:nvPr/>
        </p:nvSpPr>
        <p:spPr>
          <a:xfrm>
            <a:off x="4864723" y="3516146"/>
            <a:ext cx="0" cy="314325"/>
          </a:xfrm>
          <a:prstGeom prst="line">
            <a:avLst/>
          </a:prstGeom>
          <a:noFill/>
          <a:ln w="28575">
            <a:solidFill>
              <a:srgbClr val="7A7A7A"/>
            </a:solidFill>
            <a:prstDash val="solid"/>
          </a:ln>
        </p:spPr>
      </p:sp>
      <p:sp>
        <p:nvSpPr>
          <p:cNvPr id="98" name="Shape 16"/>
          <p:cNvSpPr/>
          <p:nvPr/>
        </p:nvSpPr>
        <p:spPr>
          <a:xfrm>
            <a:off x="4864723" y="3975401"/>
            <a:ext cx="0" cy="314325"/>
          </a:xfrm>
          <a:prstGeom prst="line">
            <a:avLst/>
          </a:prstGeom>
          <a:noFill/>
          <a:ln w="28575">
            <a:solidFill>
              <a:srgbClr val="7A7A7A"/>
            </a:solidFill>
            <a:prstDash val="solid"/>
          </a:ln>
        </p:spPr>
      </p:sp>
      <p:sp>
        <p:nvSpPr>
          <p:cNvPr id="99" name="Text 44"/>
          <p:cNvSpPr/>
          <p:nvPr/>
        </p:nvSpPr>
        <p:spPr>
          <a:xfrm>
            <a:off x="4686300" y="992390"/>
            <a:ext cx="4000500" cy="3912691"/>
          </a:xfrm>
          <a:prstGeom prst="roundRect">
            <a:avLst>
              <a:gd name="adj" fmla="val 4134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45"/>
          <p:cNvSpPr/>
          <p:nvPr/>
        </p:nvSpPr>
        <p:spPr>
          <a:xfrm>
            <a:off x="4784600" y="1146130"/>
            <a:ext cx="439128" cy="283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CAF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01" name="Text 46"/>
          <p:cNvSpPr/>
          <p:nvPr/>
        </p:nvSpPr>
        <p:spPr>
          <a:xfrm>
            <a:off x="5141786" y="1166296"/>
            <a:ext cx="3352041" cy="27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ru-RU" sz="1200" b="1" dirty="0" smtClean="0"/>
              <a:t>Паттерн поведения компании –</a:t>
            </a:r>
            <a:r>
              <a:rPr lang="en-US" sz="1200" b="1" dirty="0" smtClean="0"/>
              <a:t> </a:t>
            </a:r>
            <a:r>
              <a:rPr lang="ru-RU" sz="1200" b="1" dirty="0" smtClean="0"/>
              <a:t>фокус на премиум</a:t>
            </a:r>
            <a:endParaRPr lang="en-US" sz="1200" dirty="0"/>
          </a:p>
        </p:txBody>
      </p:sp>
      <p:pic>
        <p:nvPicPr>
          <p:cNvPr id="10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435" y="1601573"/>
            <a:ext cx="3657600" cy="435769"/>
          </a:xfrm>
          <a:prstGeom prst="rect">
            <a:avLst/>
          </a:prstGeom>
        </p:spPr>
      </p:pic>
      <p:sp>
        <p:nvSpPr>
          <p:cNvPr id="103" name="Text 47"/>
          <p:cNvSpPr/>
          <p:nvPr/>
        </p:nvSpPr>
        <p:spPr>
          <a:xfrm>
            <a:off x="4950448" y="1673010"/>
            <a:ext cx="97975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ULTRA</a:t>
            </a:r>
            <a:endParaRPr lang="en-US" sz="844" dirty="0"/>
          </a:p>
        </p:txBody>
      </p:sp>
      <p:sp>
        <p:nvSpPr>
          <p:cNvPr id="104" name="Text 48"/>
          <p:cNvSpPr/>
          <p:nvPr/>
        </p:nvSpPr>
        <p:spPr>
          <a:xfrm>
            <a:off x="5779730" y="1677368"/>
            <a:ext cx="315120" cy="152019"/>
          </a:xfrm>
          <a:prstGeom prst="roundRect">
            <a:avLst>
              <a:gd name="adj" fmla="val 751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49"/>
          <p:cNvSpPr/>
          <p:nvPr/>
        </p:nvSpPr>
        <p:spPr>
          <a:xfrm>
            <a:off x="5791401" y="1685512"/>
            <a:ext cx="291778" cy="135731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</a:t>
            </a:r>
            <a:endParaRPr lang="en-US" sz="800" dirty="0"/>
          </a:p>
        </p:txBody>
      </p:sp>
      <p:sp>
        <p:nvSpPr>
          <p:cNvPr id="106" name="Text 50"/>
          <p:cNvSpPr/>
          <p:nvPr/>
        </p:nvSpPr>
        <p:spPr>
          <a:xfrm>
            <a:off x="4950448" y="1848032"/>
            <a:ext cx="356730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Графен · Фотокатализ · Умные покрытия</a:t>
            </a:r>
            <a:endParaRPr lang="en-US" sz="800" dirty="0"/>
          </a:p>
        </p:txBody>
      </p:sp>
      <p:sp>
        <p:nvSpPr>
          <p:cNvPr id="107" name="Text 51"/>
          <p:cNvSpPr/>
          <p:nvPr/>
        </p:nvSpPr>
        <p:spPr>
          <a:xfrm>
            <a:off x="4850435" y="2153011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52"/>
          <p:cNvSpPr/>
          <p:nvPr/>
        </p:nvSpPr>
        <p:spPr>
          <a:xfrm>
            <a:off x="4979023" y="2245880"/>
            <a:ext cx="867467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  <a:endParaRPr lang="en-US" sz="844" dirty="0"/>
          </a:p>
        </p:txBody>
      </p:sp>
      <p:sp>
        <p:nvSpPr>
          <p:cNvPr id="109" name="Text 53"/>
          <p:cNvSpPr/>
          <p:nvPr/>
        </p:nvSpPr>
        <p:spPr>
          <a:xfrm>
            <a:off x="5808144" y="2274455"/>
            <a:ext cx="4100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7A7A7A"/>
                </a:solidFill>
                <a:ea typeface="Carlito" pitchFamily="34" charset="-122"/>
              </a:rPr>
              <a:t>Средний +</a:t>
            </a:r>
            <a:endParaRPr lang="en-US" sz="800" dirty="0"/>
          </a:p>
        </p:txBody>
      </p:sp>
      <p:sp>
        <p:nvSpPr>
          <p:cNvPr id="110" name="Text 54"/>
          <p:cNvSpPr/>
          <p:nvPr/>
        </p:nvSpPr>
        <p:spPr>
          <a:xfrm>
            <a:off x="4850435" y="261226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55"/>
          <p:cNvSpPr/>
          <p:nvPr/>
        </p:nvSpPr>
        <p:spPr>
          <a:xfrm>
            <a:off x="4979023" y="2705135"/>
            <a:ext cx="698659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NEWTONE</a:t>
            </a:r>
            <a:endParaRPr lang="en-US" sz="844" dirty="0"/>
          </a:p>
        </p:txBody>
      </p:sp>
      <p:sp>
        <p:nvSpPr>
          <p:cNvPr id="112" name="Text 56"/>
          <p:cNvSpPr/>
          <p:nvPr/>
        </p:nvSpPr>
        <p:spPr>
          <a:xfrm>
            <a:off x="5613812" y="2733710"/>
            <a:ext cx="47945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113" name="Text 57"/>
          <p:cNvSpPr/>
          <p:nvPr/>
        </p:nvSpPr>
        <p:spPr>
          <a:xfrm>
            <a:off x="4850435" y="306420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58"/>
          <p:cNvSpPr/>
          <p:nvPr/>
        </p:nvSpPr>
        <p:spPr>
          <a:xfrm>
            <a:off x="4979023" y="3157075"/>
            <a:ext cx="485875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844" dirty="0"/>
          </a:p>
        </p:txBody>
      </p:sp>
      <p:sp>
        <p:nvSpPr>
          <p:cNvPr id="115" name="Text 59"/>
          <p:cNvSpPr/>
          <p:nvPr/>
        </p:nvSpPr>
        <p:spPr>
          <a:xfrm>
            <a:off x="5375501" y="3185650"/>
            <a:ext cx="46491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16" name="Text 60"/>
          <p:cNvSpPr/>
          <p:nvPr/>
        </p:nvSpPr>
        <p:spPr>
          <a:xfrm>
            <a:off x="4850435" y="351614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61"/>
          <p:cNvSpPr/>
          <p:nvPr/>
        </p:nvSpPr>
        <p:spPr>
          <a:xfrm>
            <a:off x="4979023" y="3609015"/>
            <a:ext cx="60386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844" dirty="0"/>
          </a:p>
        </p:txBody>
      </p:sp>
      <p:sp>
        <p:nvSpPr>
          <p:cNvPr id="118" name="Text 62"/>
          <p:cNvSpPr/>
          <p:nvPr/>
        </p:nvSpPr>
        <p:spPr>
          <a:xfrm>
            <a:off x="5450175" y="3637590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119" name="Text 63"/>
          <p:cNvSpPr/>
          <p:nvPr/>
        </p:nvSpPr>
        <p:spPr>
          <a:xfrm>
            <a:off x="4850435" y="3975401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0" name="Text 64"/>
          <p:cNvSpPr/>
          <p:nvPr/>
        </p:nvSpPr>
        <p:spPr>
          <a:xfrm>
            <a:off x="4979023" y="4068270"/>
            <a:ext cx="2167985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Расцвет</a:t>
            </a:r>
            <a:endParaRPr lang="en-US" sz="844" dirty="0"/>
          </a:p>
        </p:txBody>
      </p:sp>
      <p:sp>
        <p:nvSpPr>
          <p:cNvPr id="121" name="Text 65"/>
          <p:cNvSpPr/>
          <p:nvPr/>
        </p:nvSpPr>
        <p:spPr>
          <a:xfrm>
            <a:off x="5458359" y="4096845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122" name="Text 53"/>
          <p:cNvSpPr/>
          <p:nvPr/>
        </p:nvSpPr>
        <p:spPr>
          <a:xfrm>
            <a:off x="6165569" y="1693525"/>
            <a:ext cx="4100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ремиум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 </a:t>
            </a:r>
            <a:endParaRPr lang="en-US" sz="800" dirty="0"/>
          </a:p>
        </p:txBody>
      </p:sp>
      <p:cxnSp>
        <p:nvCxnSpPr>
          <p:cNvPr id="123" name="Прямая со стрелкой 122"/>
          <p:cNvCxnSpPr/>
          <p:nvPr/>
        </p:nvCxnSpPr>
        <p:spPr>
          <a:xfrm>
            <a:off x="6086463" y="2681687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 63"/>
          <p:cNvSpPr/>
          <p:nvPr/>
        </p:nvSpPr>
        <p:spPr>
          <a:xfrm>
            <a:off x="4860151" y="4415840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64"/>
          <p:cNvSpPr/>
          <p:nvPr/>
        </p:nvSpPr>
        <p:spPr>
          <a:xfrm>
            <a:off x="4988739" y="4508709"/>
            <a:ext cx="2167985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844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</a:t>
            </a:r>
            <a:r>
              <a:rPr lang="en-US" sz="844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ДИСКОНТ </a:t>
            </a: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Простокрашено!</a:t>
            </a:r>
            <a:endParaRPr lang="en-US" sz="844" dirty="0"/>
          </a:p>
        </p:txBody>
      </p:sp>
      <p:sp>
        <p:nvSpPr>
          <p:cNvPr id="126" name="Text 65"/>
          <p:cNvSpPr/>
          <p:nvPr/>
        </p:nvSpPr>
        <p:spPr>
          <a:xfrm>
            <a:off x="6918573" y="4537284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Суб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cxnSp>
        <p:nvCxnSpPr>
          <p:cNvPr id="127" name="Прямая со стрелкой 126"/>
          <p:cNvCxnSpPr/>
          <p:nvPr/>
        </p:nvCxnSpPr>
        <p:spPr>
          <a:xfrm>
            <a:off x="5857176" y="3160780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>
            <a:off x="5864025" y="3606858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>
            <a:off x="5874763" y="4052264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>
            <a:off x="7545303" y="4487994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/>
          <p:nvPr/>
        </p:nvCxnSpPr>
        <p:spPr>
          <a:xfrm>
            <a:off x="6349322" y="2230861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08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051118" y="285750"/>
            <a:ext cx="1017091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28C38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457200" y="381000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Маркетинг: цифровое лидерство</a:t>
            </a:r>
            <a:endParaRPr lang="en-US" sz="157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23900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07269"/>
            <a:ext cx="4043363" cy="1714500"/>
          </a:xfrm>
          <a:prstGeom prst="roundRect">
            <a:avLst>
              <a:gd name="adj" fmla="val 888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" y="106190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90086" y="107571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688" dirty="0"/>
          </a:p>
        </p:txBody>
      </p:sp>
      <p:sp>
        <p:nvSpPr>
          <p:cNvPr id="11" name="Text 8"/>
          <p:cNvSpPr/>
          <p:nvPr/>
        </p:nvSpPr>
        <p:spPr>
          <a:xfrm>
            <a:off x="1057275" y="1082146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</a:t>
            </a:r>
            <a:r>
              <a:rPr lang="ru-RU" sz="1238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айт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SMM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657225" y="1421155"/>
            <a:ext cx="3710059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VK | Telegram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-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р</a:t>
            </a:r>
            <a:r>
              <a:rPr lang="ru-RU" sz="1000" dirty="0" smtClean="0"/>
              <a:t>азмещение </a:t>
            </a:r>
            <a:r>
              <a:rPr lang="ru-RU" sz="1000" dirty="0"/>
              <a:t>постов про технологические связки</a:t>
            </a:r>
            <a:r>
              <a:rPr lang="en-US" sz="1000" dirty="0"/>
              <a:t> + </a:t>
            </a:r>
            <a:r>
              <a:rPr lang="ru-RU" sz="1000" dirty="0"/>
              <a:t>продвижения 17,5 </a:t>
            </a:r>
            <a:r>
              <a:rPr lang="ru-RU" sz="1000" dirty="0" err="1"/>
              <a:t>тыс</a:t>
            </a:r>
            <a:r>
              <a:rPr lang="en-US" sz="1000" dirty="0"/>
              <a:t>.</a:t>
            </a:r>
            <a:r>
              <a:rPr lang="ru-RU" sz="1000" dirty="0"/>
              <a:t> человек аудитория</a:t>
            </a:r>
            <a:r>
              <a:rPr lang="en-US" sz="1000" dirty="0"/>
              <a:t>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/>
            </a:r>
            <a:b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</a:br>
            <a:r>
              <a:rPr lang="en-US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RuTube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-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с</a:t>
            </a:r>
            <a:r>
              <a:rPr lang="ru-RU" sz="1000" dirty="0" smtClean="0"/>
              <a:t>оздание медиа библиотеки по технологическим связкам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b="1" dirty="0" smtClean="0"/>
              <a:t>Сайт </a:t>
            </a:r>
            <a:r>
              <a:rPr lang="ru-RU" sz="1000" dirty="0" smtClean="0"/>
              <a:t>-</a:t>
            </a:r>
            <a:r>
              <a:rPr lang="ru-RU" sz="1000" b="1" dirty="0" smtClean="0"/>
              <a:t> </a:t>
            </a:r>
            <a:r>
              <a:rPr lang="ru-RU" sz="1000" dirty="0" smtClean="0"/>
              <a:t>обновление основного сайта компании. </a:t>
            </a:r>
            <a:r>
              <a:rPr lang="ru-RU" sz="1000" dirty="0"/>
              <a:t>Портфолио. </a:t>
            </a:r>
            <a:r>
              <a:rPr lang="en-US" sz="1000" dirty="0" smtClean="0"/>
              <a:t> 3D</a:t>
            </a:r>
            <a:r>
              <a:rPr lang="ru-RU" sz="1000" dirty="0" smtClean="0"/>
              <a:t>Тур.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 smtClean="0"/>
              <a:t>Постепенное обновление английской версии сайта.</a:t>
            </a:r>
            <a:br>
              <a:rPr lang="ru-RU" sz="1000" dirty="0" smtClean="0"/>
            </a:br>
            <a:r>
              <a:rPr lang="ru-RU" sz="1000" b="1" dirty="0" smtClean="0"/>
              <a:t>Кейсы применений: </a:t>
            </a:r>
            <a:r>
              <a:rPr lang="ru-RU" sz="1000" dirty="0" smtClean="0"/>
              <a:t>статьи и видеоролики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43438" y="1007269"/>
            <a:ext cx="4043363" cy="1714500"/>
          </a:xfrm>
          <a:prstGeom prst="roundRect">
            <a:avLst>
              <a:gd name="adj" fmla="val 8889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24413" y="120729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57274" y="12401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8" name="Text 15"/>
          <p:cNvSpPr/>
          <p:nvPr/>
        </p:nvSpPr>
        <p:spPr>
          <a:xfrm>
            <a:off x="5199063" y="1246584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обучение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4843462" y="1585119"/>
            <a:ext cx="3643313" cy="94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Создание новых обучающих презентаций и видео скриптов</a:t>
            </a:r>
            <a:r>
              <a:rPr lang="en-US" sz="1000" dirty="0" smtClean="0">
                <a:solidFill>
                  <a:srgbClr val="2D2D2D"/>
                </a:solidFill>
                <a:ea typeface="Carlito" pitchFamily="34" charset="-122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по работе технологических связок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Выездные обучения - </a:t>
            </a:r>
            <a:r>
              <a:rPr lang="ru-RU" sz="1000" dirty="0">
                <a:solidFill>
                  <a:srgbClr val="2D2D2D"/>
                </a:solidFill>
                <a:ea typeface="Carlito" pitchFamily="34" charset="-122"/>
              </a:rPr>
              <a:t>с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истематическая конвейерная система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Групповые онлайн конференции – разбор кейсов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2864643"/>
            <a:ext cx="4043363" cy="1898425"/>
          </a:xfrm>
          <a:prstGeom prst="roundRect">
            <a:avLst>
              <a:gd name="adj" fmla="val 888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7225" y="296941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90086" y="30022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688" dirty="0"/>
          </a:p>
        </p:txBody>
      </p:sp>
      <p:sp>
        <p:nvSpPr>
          <p:cNvPr id="25" name="Text 22"/>
          <p:cNvSpPr/>
          <p:nvPr/>
        </p:nvSpPr>
        <p:spPr>
          <a:xfrm>
            <a:off x="1044575" y="3015059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 продаж</a:t>
            </a:r>
            <a:endParaRPr lang="en-US" sz="1238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57225" y="3359944"/>
            <a:ext cx="364331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8"/>
              </a:lnSpc>
            </a:pP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Презентация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- с</a:t>
            </a:r>
            <a:r>
              <a:rPr lang="ru-RU" sz="1000" dirty="0" smtClean="0"/>
              <a:t>тань </a:t>
            </a:r>
            <a:r>
              <a:rPr lang="ru-RU" sz="1000" dirty="0"/>
              <a:t>партнером </a:t>
            </a:r>
            <a:r>
              <a:rPr lang="ru-RU" sz="1000" dirty="0" err="1"/>
              <a:t>Эмпилс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/>
            </a:r>
            <a:b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Планограмма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по выкладкам решений</a:t>
            </a:r>
          </a:p>
          <a:p>
            <a:pPr>
              <a:lnSpc>
                <a:spcPts val="1308"/>
              </a:lnSpc>
            </a:pPr>
            <a:r>
              <a:rPr lang="ru-RU" sz="1000" dirty="0"/>
              <a:t>Продуктовые технологические связки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b="1" dirty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Материалы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/>
              <a:t>Пригласительные </a:t>
            </a:r>
            <a:r>
              <a:rPr lang="ru-RU" sz="1000" dirty="0" smtClean="0"/>
              <a:t>письма. Коммерческие предложения. Продуктовые презентация</a:t>
            </a:r>
            <a:endParaRPr lang="ru-RU" sz="1000" dirty="0"/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 smtClean="0"/>
              <a:t>Трейд-маркетинг – фокус на продвижение и мотивацию технологических связок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43438" y="2864644"/>
            <a:ext cx="4043363" cy="1898424"/>
          </a:xfrm>
          <a:prstGeom prst="roundRect">
            <a:avLst>
              <a:gd name="adj" fmla="val 8889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843463" y="294183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6324" y="297469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688" dirty="0"/>
          </a:p>
        </p:txBody>
      </p:sp>
      <p:sp>
        <p:nvSpPr>
          <p:cNvPr id="36" name="Text 33"/>
          <p:cNvSpPr/>
          <p:nvPr/>
        </p:nvSpPr>
        <p:spPr>
          <a:xfrm>
            <a:off x="5243513" y="2981127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+ CRM</a:t>
            </a:r>
            <a:endParaRPr lang="en-US" sz="1238" dirty="0"/>
          </a:p>
        </p:txBody>
      </p:sp>
      <p:sp>
        <p:nvSpPr>
          <p:cNvPr id="37" name="Text 34"/>
          <p:cNvSpPr/>
          <p:nvPr/>
        </p:nvSpPr>
        <p:spPr>
          <a:xfrm>
            <a:off x="4843463" y="3343166"/>
            <a:ext cx="3643313" cy="135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UniSender</a:t>
            </a:r>
            <a:endParaRPr lang="ru-RU" sz="1000" b="1" dirty="0" smtClean="0">
              <a:solidFill>
                <a:srgbClr val="2D2D2D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Формирование систематического канала информирования и влияния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Систематическая прямая рассылка по текущим партнерам, потенциальным и не лояльным в связке с торговой командой. Триггерные письма в зависимости от статуса клиента.</a:t>
            </a:r>
          </a:p>
          <a:p>
            <a:pPr marL="0" indent="0" algn="l">
              <a:buNone/>
            </a:pPr>
            <a:endParaRPr lang="ru-RU" sz="1000" dirty="0" smtClean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4"/>
          <p:cNvSpPr/>
          <p:nvPr/>
        </p:nvSpPr>
        <p:spPr>
          <a:xfrm>
            <a:off x="3763412" y="1177561"/>
            <a:ext cx="1879939" cy="154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Ассортимент</a:t>
            </a:r>
            <a:r>
              <a:rPr lang="en-US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1013" b="1" dirty="0" smtClean="0">
              <a:solidFill>
                <a:srgbClr val="F28C38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97"/>
              </a:lnSpc>
              <a:buNone/>
            </a:pPr>
            <a:r>
              <a:rPr lang="en-US" sz="1013" b="1" dirty="0" err="1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</a:t>
            </a:r>
            <a:r>
              <a:rPr lang="en-US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полных цепочек</a:t>
            </a:r>
          </a:p>
        </p:txBody>
      </p:sp>
      <p:sp>
        <p:nvSpPr>
          <p:cNvPr id="8" name="Text 79"/>
          <p:cNvSpPr/>
          <p:nvPr/>
        </p:nvSpPr>
        <p:spPr>
          <a:xfrm>
            <a:off x="3420677" y="1601208"/>
            <a:ext cx="2222674" cy="635532"/>
          </a:xfrm>
          <a:prstGeom prst="roundRect">
            <a:avLst>
              <a:gd name="adj" fmla="val 14875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81"/>
          <p:cNvSpPr/>
          <p:nvPr/>
        </p:nvSpPr>
        <p:spPr>
          <a:xfrm>
            <a:off x="3784066" y="1675820"/>
            <a:ext cx="1233636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Шпатлёвки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b="1" dirty="0"/>
          </a:p>
        </p:txBody>
      </p:sp>
      <p:sp>
        <p:nvSpPr>
          <p:cNvPr id="10" name="Text 82"/>
          <p:cNvSpPr/>
          <p:nvPr/>
        </p:nvSpPr>
        <p:spPr>
          <a:xfrm>
            <a:off x="3784067" y="1836158"/>
            <a:ext cx="1789260" cy="50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Стартовая, финишная, влагостойкая, 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закрываем весь цикл выравнивания</a:t>
            </a:r>
            <a:endParaRPr lang="en-US" sz="800" dirty="0"/>
          </a:p>
        </p:txBody>
      </p:sp>
      <p:sp>
        <p:nvSpPr>
          <p:cNvPr id="11" name="Text 83"/>
          <p:cNvSpPr/>
          <p:nvPr/>
        </p:nvSpPr>
        <p:spPr>
          <a:xfrm>
            <a:off x="3420677" y="2282667"/>
            <a:ext cx="2222674" cy="677094"/>
          </a:xfrm>
          <a:prstGeom prst="roundRect">
            <a:avLst>
              <a:gd name="adj" fmla="val 16881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5"/>
          <p:cNvSpPr/>
          <p:nvPr/>
        </p:nvSpPr>
        <p:spPr>
          <a:xfrm>
            <a:off x="3803115" y="2350930"/>
            <a:ext cx="1560661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Защитные покрытия (лаки, топы)</a:t>
            </a:r>
            <a:endParaRPr lang="en-US" sz="800" b="1" dirty="0"/>
          </a:p>
        </p:txBody>
      </p:sp>
      <p:sp>
        <p:nvSpPr>
          <p:cNvPr id="13" name="Text 86"/>
          <p:cNvSpPr/>
          <p:nvPr/>
        </p:nvSpPr>
        <p:spPr>
          <a:xfrm>
            <a:off x="3803115" y="2620804"/>
            <a:ext cx="1719411" cy="30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Финишный слой, продлевающий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службы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краски</a:t>
            </a:r>
            <a:endParaRPr lang="ru-RU" sz="800" dirty="0"/>
          </a:p>
        </p:txBody>
      </p:sp>
      <p:sp>
        <p:nvSpPr>
          <p:cNvPr id="14" name="Text 87"/>
          <p:cNvSpPr/>
          <p:nvPr/>
        </p:nvSpPr>
        <p:spPr>
          <a:xfrm>
            <a:off x="3420677" y="3525381"/>
            <a:ext cx="2222674" cy="696552"/>
          </a:xfrm>
          <a:prstGeom prst="roundRect">
            <a:avLst>
              <a:gd name="adj" fmla="val 1735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9"/>
          <p:cNvSpPr/>
          <p:nvPr/>
        </p:nvSpPr>
        <p:spPr>
          <a:xfrm>
            <a:off x="3796766" y="3593643"/>
            <a:ext cx="1233636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 эффекты</a:t>
            </a:r>
            <a:endParaRPr lang="en-US" sz="800" b="1" dirty="0"/>
          </a:p>
        </p:txBody>
      </p:sp>
      <p:sp>
        <p:nvSpPr>
          <p:cNvPr id="16" name="Text 90"/>
          <p:cNvSpPr/>
          <p:nvPr/>
        </p:nvSpPr>
        <p:spPr>
          <a:xfrm>
            <a:off x="3796765" y="3747630"/>
            <a:ext cx="1776561" cy="4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Бархат, сатин, керамика, шёлкография — премиум-финиш на вершине цепочки</a:t>
            </a:r>
            <a:endParaRPr lang="en-US" sz="800" dirty="0"/>
          </a:p>
        </p:txBody>
      </p:sp>
      <p:sp>
        <p:nvSpPr>
          <p:cNvPr id="25" name="Text 38"/>
          <p:cNvSpPr/>
          <p:nvPr/>
        </p:nvSpPr>
        <p:spPr>
          <a:xfrm>
            <a:off x="438341" y="1587195"/>
            <a:ext cx="2676562" cy="2634738"/>
          </a:xfrm>
          <a:prstGeom prst="roundRect">
            <a:avLst>
              <a:gd name="adj" fmla="val 743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6" name="Text 39"/>
          <p:cNvSpPr/>
          <p:nvPr/>
        </p:nvSpPr>
        <p:spPr>
          <a:xfrm>
            <a:off x="3425232" y="1160872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40"/>
          <p:cNvSpPr/>
          <p:nvPr/>
        </p:nvSpPr>
        <p:spPr>
          <a:xfrm>
            <a:off x="3454164" y="118980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29" name="Text 42"/>
          <p:cNvSpPr/>
          <p:nvPr/>
        </p:nvSpPr>
        <p:spPr>
          <a:xfrm>
            <a:off x="537669" y="1897623"/>
            <a:ext cx="2419387" cy="278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Новые продукты разрабатываются как звенья цепочки, а не standalone</a:t>
            </a:r>
            <a:endParaRPr lang="en-US" sz="1000" dirty="0"/>
          </a:p>
        </p:txBody>
      </p:sp>
      <p:sp>
        <p:nvSpPr>
          <p:cNvPr id="30" name="Text 43"/>
          <p:cNvSpPr/>
          <p:nvPr/>
        </p:nvSpPr>
        <p:spPr>
          <a:xfrm>
            <a:off x="537669" y="2354215"/>
            <a:ext cx="2419387" cy="278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Приоритет: продукты, удлиняющие TCO-выгоду (грунты, лаки, штукатурки)</a:t>
            </a:r>
            <a:endParaRPr lang="en-US" sz="1000" dirty="0"/>
          </a:p>
        </p:txBody>
      </p:sp>
      <p:sp>
        <p:nvSpPr>
          <p:cNvPr id="31" name="Text 44"/>
          <p:cNvSpPr/>
          <p:nvPr/>
        </p:nvSpPr>
        <p:spPr>
          <a:xfrm>
            <a:off x="537669" y="2910042"/>
            <a:ext cx="2529115" cy="39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ru-RU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Доп. тестирование</a:t>
            </a:r>
            <a:r>
              <a:rPr lang="en-US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по ГОСТ-отдельности, а в составе технологической системы</a:t>
            </a:r>
            <a:endParaRPr lang="en-US" sz="1000" dirty="0"/>
          </a:p>
        </p:txBody>
      </p:sp>
      <p:sp>
        <p:nvSpPr>
          <p:cNvPr id="32" name="Text 45"/>
          <p:cNvSpPr/>
          <p:nvPr/>
        </p:nvSpPr>
        <p:spPr>
          <a:xfrm>
            <a:off x="537669" y="3508261"/>
            <a:ext cx="2529115" cy="279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ru-RU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Новинка</a:t>
            </a:r>
            <a:r>
              <a:rPr lang="en-US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+1 звено к существующей цепочке</a:t>
            </a:r>
            <a:endParaRPr lang="en-US" sz="1000" dirty="0"/>
          </a:p>
        </p:txBody>
      </p:sp>
      <p:sp>
        <p:nvSpPr>
          <p:cNvPr id="42" name="Text 80"/>
          <p:cNvSpPr/>
          <p:nvPr/>
        </p:nvSpPr>
        <p:spPr>
          <a:xfrm>
            <a:off x="3347069" y="1614965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7B1FA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3" name="Text 84"/>
          <p:cNvSpPr/>
          <p:nvPr/>
        </p:nvSpPr>
        <p:spPr>
          <a:xfrm>
            <a:off x="3347069" y="2281795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4" name="Text 88"/>
          <p:cNvSpPr/>
          <p:nvPr/>
        </p:nvSpPr>
        <p:spPr>
          <a:xfrm>
            <a:off x="3347069" y="3531823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5" name="Text 4"/>
          <p:cNvSpPr/>
          <p:nvPr/>
        </p:nvSpPr>
        <p:spPr>
          <a:xfrm>
            <a:off x="457200" y="400050"/>
            <a:ext cx="5533949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НИЛ</a:t>
            </a:r>
            <a:r>
              <a:rPr lang="ru-RU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Маркетинг</a:t>
            </a: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</a:t>
            </a:r>
            <a:r>
              <a:rPr lang="ru-RU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фокус сил на премиум</a:t>
            </a: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575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28320"/>
            <a:ext cx="292974" cy="35719"/>
          </a:xfrm>
          <a:prstGeom prst="rect">
            <a:avLst/>
          </a:prstGeom>
        </p:spPr>
      </p:pic>
      <p:sp>
        <p:nvSpPr>
          <p:cNvPr id="48" name="Text 12"/>
          <p:cNvSpPr/>
          <p:nvPr/>
        </p:nvSpPr>
        <p:spPr>
          <a:xfrm>
            <a:off x="836679" y="1196603"/>
            <a:ext cx="141368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Последовательность</a:t>
            </a:r>
            <a:endParaRPr lang="en-US" sz="1013" dirty="0"/>
          </a:p>
        </p:txBody>
      </p:sp>
      <p:sp>
        <p:nvSpPr>
          <p:cNvPr id="61" name="Text 14"/>
          <p:cNvSpPr/>
          <p:nvPr/>
        </p:nvSpPr>
        <p:spPr>
          <a:xfrm>
            <a:off x="5981661" y="1587195"/>
            <a:ext cx="2676562" cy="2674674"/>
          </a:xfrm>
          <a:prstGeom prst="roundRect">
            <a:avLst>
              <a:gd name="adj" fmla="val 872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16"/>
          <p:cNvSpPr/>
          <p:nvPr/>
        </p:nvSpPr>
        <p:spPr>
          <a:xfrm>
            <a:off x="6049805" y="1911327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Графеновые грунт-эмали</a:t>
            </a:r>
            <a:endParaRPr lang="en-US" sz="1000" dirty="0"/>
          </a:p>
        </p:txBody>
      </p:sp>
      <p:sp>
        <p:nvSpPr>
          <p:cNvPr id="63" name="Text 22"/>
          <p:cNvSpPr/>
          <p:nvPr/>
        </p:nvSpPr>
        <p:spPr>
          <a:xfrm>
            <a:off x="6061441" y="2257212"/>
            <a:ext cx="199567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Фотокаталитические краски</a:t>
            </a:r>
            <a:endParaRPr lang="en-US" sz="1000" dirty="0"/>
          </a:p>
        </p:txBody>
      </p:sp>
      <p:sp>
        <p:nvSpPr>
          <p:cNvPr id="64" name="Text 28"/>
          <p:cNvSpPr/>
          <p:nvPr/>
        </p:nvSpPr>
        <p:spPr>
          <a:xfrm>
            <a:off x="6068071" y="2575794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AI/AR колеровка</a:t>
            </a:r>
            <a:endParaRPr lang="en-US" sz="1000" dirty="0"/>
          </a:p>
        </p:txBody>
      </p:sp>
      <p:sp>
        <p:nvSpPr>
          <p:cNvPr id="65" name="Text 36"/>
          <p:cNvSpPr/>
          <p:nvPr/>
        </p:nvSpPr>
        <p:spPr>
          <a:xfrm>
            <a:off x="6057387" y="2881057"/>
            <a:ext cx="2600835" cy="2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Самовосстанавливающиеся</a:t>
            </a:r>
            <a:r>
              <a:rPr lang="en-US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покрытия</a:t>
            </a:r>
            <a:endParaRPr lang="en-US" sz="1000" dirty="0"/>
          </a:p>
        </p:txBody>
      </p:sp>
      <p:sp>
        <p:nvSpPr>
          <p:cNvPr id="66" name="Text 42"/>
          <p:cNvSpPr/>
          <p:nvPr/>
        </p:nvSpPr>
        <p:spPr>
          <a:xfrm>
            <a:off x="6061441" y="3209466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Bio-based продукция</a:t>
            </a:r>
            <a:endParaRPr lang="en-US" sz="1000" dirty="0"/>
          </a:p>
        </p:txBody>
      </p:sp>
      <p:sp>
        <p:nvSpPr>
          <p:cNvPr id="67" name="Text 48"/>
          <p:cNvSpPr/>
          <p:nvPr/>
        </p:nvSpPr>
        <p:spPr>
          <a:xfrm>
            <a:off x="6077101" y="3528186"/>
            <a:ext cx="199567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Умные хромогенные покрытия</a:t>
            </a:r>
            <a:endParaRPr lang="en-US" sz="1000" dirty="0"/>
          </a:p>
        </p:txBody>
      </p:sp>
      <p:sp>
        <p:nvSpPr>
          <p:cNvPr id="68" name="Text 39"/>
          <p:cNvSpPr/>
          <p:nvPr/>
        </p:nvSpPr>
        <p:spPr>
          <a:xfrm>
            <a:off x="6011266" y="1167373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40"/>
          <p:cNvSpPr/>
          <p:nvPr/>
        </p:nvSpPr>
        <p:spPr>
          <a:xfrm>
            <a:off x="6040198" y="119630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71" name="Text 12"/>
          <p:cNvSpPr/>
          <p:nvPr/>
        </p:nvSpPr>
        <p:spPr>
          <a:xfrm>
            <a:off x="6397139" y="1204075"/>
            <a:ext cx="166260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Передовые технологии</a:t>
            </a:r>
            <a:endParaRPr lang="en-US" sz="1013" dirty="0"/>
          </a:p>
        </p:txBody>
      </p:sp>
      <p:sp>
        <p:nvSpPr>
          <p:cNvPr id="74" name="Text 39"/>
          <p:cNvSpPr/>
          <p:nvPr/>
        </p:nvSpPr>
        <p:spPr>
          <a:xfrm>
            <a:off x="479149" y="114898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40"/>
          <p:cNvSpPr/>
          <p:nvPr/>
        </p:nvSpPr>
        <p:spPr>
          <a:xfrm>
            <a:off x="508081" y="117791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76" name="Text 75"/>
          <p:cNvSpPr/>
          <p:nvPr/>
        </p:nvSpPr>
        <p:spPr>
          <a:xfrm>
            <a:off x="3434237" y="3043461"/>
            <a:ext cx="2222674" cy="421922"/>
          </a:xfrm>
          <a:prstGeom prst="roundRect">
            <a:avLst>
              <a:gd name="adj" fmla="val 1452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77" name="Text 76"/>
          <p:cNvSpPr/>
          <p:nvPr/>
        </p:nvSpPr>
        <p:spPr>
          <a:xfrm>
            <a:off x="3434795" y="3063365"/>
            <a:ext cx="4951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78" name="Text 77"/>
          <p:cNvSpPr/>
          <p:nvPr/>
        </p:nvSpPr>
        <p:spPr>
          <a:xfrm>
            <a:off x="3791833" y="3080890"/>
            <a:ext cx="1725761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18"/>
              </a:lnSpc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штукатурки</a:t>
            </a:r>
          </a:p>
          <a:p>
            <a:pPr>
              <a:lnSpc>
                <a:spcPts val="1418"/>
              </a:lnSpc>
            </a:pP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Кароед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т. д. </a:t>
            </a:r>
          </a:p>
        </p:txBody>
      </p:sp>
    </p:spTree>
    <p:extLst>
      <p:ext uri="{BB962C8B-B14F-4D97-AF65-F5344CB8AC3E}">
        <p14:creationId xmlns:p14="http://schemas.microsoft.com/office/powerpoint/2010/main" val="351651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/>
          <p:cNvSpPr/>
          <p:nvPr/>
        </p:nvSpPr>
        <p:spPr>
          <a:xfrm>
            <a:off x="3159457" y="2503805"/>
            <a:ext cx="2726993" cy="2465756"/>
          </a:xfrm>
          <a:prstGeom prst="roundRect">
            <a:avLst>
              <a:gd name="adj" fmla="val 5797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40738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Продажи: программы развития партнёров</a:t>
            </a:r>
            <a:endParaRPr lang="en-US" sz="157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9188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2792" y="2496981"/>
            <a:ext cx="2628900" cy="2472580"/>
          </a:xfrm>
          <a:prstGeom prst="roundRect">
            <a:avLst>
              <a:gd name="adj" fmla="val 5797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67442" y="2531101"/>
            <a:ext cx="22288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Академия</a:t>
            </a:r>
            <a:r>
              <a:rPr lang="en-US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 </a:t>
            </a:r>
            <a:r>
              <a:rPr lang="ru-RU" sz="1125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ru-RU" sz="1125" dirty="0"/>
          </a:p>
        </p:txBody>
      </p:sp>
      <p:sp>
        <p:nvSpPr>
          <p:cNvPr id="12" name="Text 9"/>
          <p:cNvSpPr/>
          <p:nvPr/>
        </p:nvSpPr>
        <p:spPr>
          <a:xfrm>
            <a:off x="445681" y="352874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7880" y="3528744"/>
            <a:ext cx="2136651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продавцов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дистрибьюторов по продаже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B2C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базе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дистрибьютора. 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5681" y="413298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7880" y="4119336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Практика.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45681" y="436190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37880" y="4341432"/>
            <a:ext cx="21366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продажа через ценность, а не цену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45681" y="4562353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7880" y="4562353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Эксперт Эмпилс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285975" y="2544749"/>
            <a:ext cx="239149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</a:t>
            </a:r>
            <a:r>
              <a:rPr lang="en-US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лаборатория </a:t>
            </a:r>
            <a:r>
              <a:rPr lang="ru-RU" sz="1125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ru-RU" sz="1125" b="1" dirty="0"/>
          </a:p>
        </p:txBody>
      </p:sp>
      <p:sp>
        <p:nvSpPr>
          <p:cNvPr id="27" name="Text 24"/>
          <p:cNvSpPr/>
          <p:nvPr/>
        </p:nvSpPr>
        <p:spPr>
          <a:xfrm>
            <a:off x="3327919" y="387060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057900" y="2496981"/>
            <a:ext cx="2717610" cy="2472580"/>
          </a:xfrm>
          <a:prstGeom prst="roundRect">
            <a:avLst>
              <a:gd name="adj" fmla="val 5797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156904" y="2544470"/>
            <a:ext cx="22288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Экспортная экспансия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6158321" y="3071966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250521" y="3059266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Ассортиментный анализ (свойства, дизайн и т.д.) </a:t>
            </a:r>
            <a:endParaRPr lang="en-US" sz="800" dirty="0"/>
          </a:p>
        </p:txBody>
      </p:sp>
      <p:sp>
        <p:nvSpPr>
          <p:cNvPr id="53" name="Text 4"/>
          <p:cNvSpPr/>
          <p:nvPr/>
        </p:nvSpPr>
        <p:spPr>
          <a:xfrm>
            <a:off x="352792" y="676809"/>
            <a:ext cx="2733308" cy="1269245"/>
          </a:xfrm>
          <a:prstGeom prst="roundRect">
            <a:avLst>
              <a:gd name="adj" fmla="val 14512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7"/>
          <p:cNvSpPr/>
          <p:nvPr/>
        </p:nvSpPr>
        <p:spPr>
          <a:xfrm>
            <a:off x="482955" y="812301"/>
            <a:ext cx="2444489" cy="24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DIY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–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РТТ, </a:t>
            </a:r>
            <a:r>
              <a:rPr lang="en-US" sz="1013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ритейл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магазины…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013" dirty="0"/>
          </a:p>
        </p:txBody>
      </p:sp>
      <p:sp>
        <p:nvSpPr>
          <p:cNvPr id="57" name="Text 8"/>
          <p:cNvSpPr/>
          <p:nvPr/>
        </p:nvSpPr>
        <p:spPr>
          <a:xfrm>
            <a:off x="462483" y="1095812"/>
            <a:ext cx="2444489" cy="6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Текущие партеры - с</a:t>
            </a: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двиг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объёма к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ценности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Белые пятна - соблюдения покрытия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800" dirty="0" smtClean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</a:t>
            </a:r>
            <a:r>
              <a:rPr lang="ru-RU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Потеряшки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анализ ухода партеров</a:t>
            </a:r>
          </a:p>
          <a:p>
            <a:pPr marL="0" indent="0" algn="l">
              <a:lnSpc>
                <a:spcPts val="1181"/>
              </a:lnSpc>
              <a:buNone/>
            </a:pPr>
            <a:endParaRPr lang="en-US" sz="800" dirty="0"/>
          </a:p>
        </p:txBody>
      </p:sp>
      <p:sp>
        <p:nvSpPr>
          <p:cNvPr id="58" name="Text 13"/>
          <p:cNvSpPr/>
          <p:nvPr/>
        </p:nvSpPr>
        <p:spPr>
          <a:xfrm>
            <a:off x="3159457" y="676809"/>
            <a:ext cx="2711118" cy="1269245"/>
          </a:xfrm>
          <a:prstGeom prst="roundRect">
            <a:avLst>
              <a:gd name="adj" fmla="val 14081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61" name="Text 16"/>
          <p:cNvSpPr/>
          <p:nvPr/>
        </p:nvSpPr>
        <p:spPr>
          <a:xfrm>
            <a:off x="3228610" y="757105"/>
            <a:ext cx="208587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Профессиональный канал</a:t>
            </a:r>
            <a:endParaRPr lang="en-US" sz="1013" dirty="0"/>
          </a:p>
        </p:txBody>
      </p:sp>
      <p:sp>
        <p:nvSpPr>
          <p:cNvPr id="62" name="Text 17"/>
          <p:cNvSpPr/>
          <p:nvPr/>
        </p:nvSpPr>
        <p:spPr>
          <a:xfrm>
            <a:off x="3234072" y="969431"/>
            <a:ext cx="2531394" cy="85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Расширение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дистрибьюторской портфеля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счет мотивированного поиска и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региональной командой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представителей профессионального канала.</a:t>
            </a:r>
          </a:p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Точечная работа с каждым при помощи подключения ШК.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63" name="Text 20"/>
          <p:cNvSpPr/>
          <p:nvPr/>
        </p:nvSpPr>
        <p:spPr>
          <a:xfrm>
            <a:off x="6057900" y="676810"/>
            <a:ext cx="2717610" cy="1269244"/>
          </a:xfrm>
          <a:prstGeom prst="roundRect">
            <a:avLst>
              <a:gd name="adj" fmla="val 14270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65" name="Text 22"/>
          <p:cNvSpPr/>
          <p:nvPr/>
        </p:nvSpPr>
        <p:spPr>
          <a:xfrm>
            <a:off x="6265426" y="85663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547" dirty="0"/>
          </a:p>
        </p:txBody>
      </p:sp>
      <p:sp>
        <p:nvSpPr>
          <p:cNvPr id="66" name="Text 23"/>
          <p:cNvSpPr/>
          <p:nvPr/>
        </p:nvSpPr>
        <p:spPr>
          <a:xfrm>
            <a:off x="6189108" y="755595"/>
            <a:ext cx="63341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013" dirty="0"/>
          </a:p>
        </p:txBody>
      </p:sp>
      <p:sp>
        <p:nvSpPr>
          <p:cNvPr id="59" name="Text 39"/>
          <p:cNvSpPr/>
          <p:nvPr/>
        </p:nvSpPr>
        <p:spPr>
          <a:xfrm>
            <a:off x="6145926" y="3286527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60" name="Text 40"/>
          <p:cNvSpPr/>
          <p:nvPr/>
        </p:nvSpPr>
        <p:spPr>
          <a:xfrm>
            <a:off x="6238126" y="327382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Создание посадочных страниц «Стань партнером </a:t>
            </a:r>
            <a:r>
              <a:rPr lang="ru-RU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 </a:t>
            </a:r>
            <a:endParaRPr lang="en-US" sz="800" dirty="0"/>
          </a:p>
        </p:txBody>
      </p:sp>
      <p:sp>
        <p:nvSpPr>
          <p:cNvPr id="64" name="Text 39"/>
          <p:cNvSpPr/>
          <p:nvPr/>
        </p:nvSpPr>
        <p:spPr>
          <a:xfrm>
            <a:off x="6141374" y="3616351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67" name="Text 40"/>
          <p:cNvSpPr/>
          <p:nvPr/>
        </p:nvSpPr>
        <p:spPr>
          <a:xfrm>
            <a:off x="6233574" y="3603651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Рассылка приглашений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 потенциальным партнерам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68" name="Text 40"/>
          <p:cNvSpPr/>
          <p:nvPr/>
        </p:nvSpPr>
        <p:spPr>
          <a:xfrm>
            <a:off x="6244950" y="393200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РЭЦ. Субсидии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69" name="Text 39"/>
          <p:cNvSpPr/>
          <p:nvPr/>
        </p:nvSpPr>
        <p:spPr>
          <a:xfrm>
            <a:off x="6142613" y="3932007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0" name="Text 17"/>
          <p:cNvSpPr/>
          <p:nvPr/>
        </p:nvSpPr>
        <p:spPr>
          <a:xfrm>
            <a:off x="6186957" y="984222"/>
            <a:ext cx="2273930" cy="51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Расширение географии</a:t>
            </a:r>
            <a:b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Выход в премиум-сегмент</a:t>
            </a:r>
            <a:endParaRPr lang="en-US" sz="800" dirty="0"/>
          </a:p>
        </p:txBody>
      </p:sp>
      <p:sp>
        <p:nvSpPr>
          <p:cNvPr id="71" name="Text 10"/>
          <p:cNvSpPr/>
          <p:nvPr/>
        </p:nvSpPr>
        <p:spPr>
          <a:xfrm>
            <a:off x="559641" y="3033805"/>
            <a:ext cx="2136651" cy="41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 имеет свою розничную сеть, лоялен, в наличии средний + и премиум товары</a:t>
            </a:r>
            <a:endParaRPr lang="en-US" sz="800" dirty="0"/>
          </a:p>
        </p:txBody>
      </p:sp>
      <p:sp>
        <p:nvSpPr>
          <p:cNvPr id="72" name="Text 9"/>
          <p:cNvSpPr/>
          <p:nvPr/>
        </p:nvSpPr>
        <p:spPr>
          <a:xfrm>
            <a:off x="434305" y="305333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3" name="Text 11"/>
          <p:cNvSpPr/>
          <p:nvPr/>
        </p:nvSpPr>
        <p:spPr>
          <a:xfrm>
            <a:off x="441129" y="3889592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4" name="Text 12"/>
          <p:cNvSpPr/>
          <p:nvPr/>
        </p:nvSpPr>
        <p:spPr>
          <a:xfrm>
            <a:off x="533328" y="3875944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компании. Теория.</a:t>
            </a:r>
            <a:endParaRPr lang="en-US" sz="800" dirty="0"/>
          </a:p>
        </p:txBody>
      </p:sp>
      <p:sp>
        <p:nvSpPr>
          <p:cNvPr id="75" name="Text 25"/>
          <p:cNvSpPr/>
          <p:nvPr/>
        </p:nvSpPr>
        <p:spPr>
          <a:xfrm>
            <a:off x="3399210" y="3032863"/>
            <a:ext cx="2366256" cy="82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Партнер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нами, но не закупает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ФТМ. </a:t>
            </a:r>
          </a:p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его клиентской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базе дилеров скептические настроения по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ФТМ от </a:t>
            </a:r>
            <a:r>
              <a:rPr lang="ru-RU" sz="800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спроса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либо очень маленький. 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777" y="2790167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Третичные продажи - стимуляция на клиента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endParaRPr lang="en-US" sz="800" dirty="0"/>
          </a:p>
        </p:txBody>
      </p:sp>
      <p:sp>
        <p:nvSpPr>
          <p:cNvPr id="81" name="Text 10"/>
          <p:cNvSpPr/>
          <p:nvPr/>
        </p:nvSpPr>
        <p:spPr>
          <a:xfrm>
            <a:off x="3285976" y="2790009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Первичные/вторичные продажи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82" name="Text 40"/>
          <p:cNvSpPr/>
          <p:nvPr/>
        </p:nvSpPr>
        <p:spPr>
          <a:xfrm>
            <a:off x="6227894" y="413697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Участие в выставочных мероприятиях 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83" name="Text 39"/>
          <p:cNvSpPr/>
          <p:nvPr/>
        </p:nvSpPr>
        <p:spPr>
          <a:xfrm>
            <a:off x="6149406" y="4136194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84" name="Text 10"/>
          <p:cNvSpPr/>
          <p:nvPr/>
        </p:nvSpPr>
        <p:spPr>
          <a:xfrm>
            <a:off x="6156904" y="2807655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Индивидуальный подход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endParaRPr lang="en-US" sz="800" dirty="0"/>
          </a:p>
        </p:txBody>
      </p:sp>
      <p:sp>
        <p:nvSpPr>
          <p:cNvPr id="85" name="Text 24"/>
          <p:cNvSpPr/>
          <p:nvPr/>
        </p:nvSpPr>
        <p:spPr>
          <a:xfrm>
            <a:off x="3316543" y="3060822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87" name="Text 12"/>
          <p:cNvSpPr/>
          <p:nvPr/>
        </p:nvSpPr>
        <p:spPr>
          <a:xfrm>
            <a:off x="3399210" y="3861850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компании. Теория.</a:t>
            </a:r>
            <a:endParaRPr lang="en-US" sz="800" dirty="0"/>
          </a:p>
        </p:txBody>
      </p:sp>
      <p:sp>
        <p:nvSpPr>
          <p:cNvPr id="88" name="Text 12"/>
          <p:cNvSpPr/>
          <p:nvPr/>
        </p:nvSpPr>
        <p:spPr>
          <a:xfrm>
            <a:off x="3399209" y="4071387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Последовательные технологии,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конкуренты</a:t>
            </a:r>
            <a:endParaRPr lang="en-US" sz="800" dirty="0"/>
          </a:p>
        </p:txBody>
      </p:sp>
      <p:sp>
        <p:nvSpPr>
          <p:cNvPr id="89" name="Text 24"/>
          <p:cNvSpPr/>
          <p:nvPr/>
        </p:nvSpPr>
        <p:spPr>
          <a:xfrm>
            <a:off x="3330191" y="409124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0" name="Text 26"/>
          <p:cNvSpPr/>
          <p:nvPr/>
        </p:nvSpPr>
        <p:spPr>
          <a:xfrm>
            <a:off x="3313881" y="367312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1" name="Text 27"/>
          <p:cNvSpPr/>
          <p:nvPr/>
        </p:nvSpPr>
        <p:spPr>
          <a:xfrm>
            <a:off x="3406080" y="3666302"/>
            <a:ext cx="21366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Нелояльные вторичные партнеры</a:t>
            </a:r>
            <a:endParaRPr lang="en-US" sz="800" dirty="0"/>
          </a:p>
        </p:txBody>
      </p:sp>
      <p:sp>
        <p:nvSpPr>
          <p:cNvPr id="92" name="Text 28"/>
          <p:cNvSpPr/>
          <p:nvPr/>
        </p:nvSpPr>
        <p:spPr>
          <a:xfrm>
            <a:off x="3321196" y="439923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3" name="Text 29"/>
          <p:cNvSpPr/>
          <p:nvPr/>
        </p:nvSpPr>
        <p:spPr>
          <a:xfrm>
            <a:off x="3413395" y="4385586"/>
            <a:ext cx="21366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Стартовый пакет: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мерчендайзер, </a:t>
            </a: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сувениры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особые условия</a:t>
            </a:r>
            <a:endParaRPr lang="en-US" sz="800" dirty="0"/>
          </a:p>
        </p:txBody>
      </p:sp>
      <p:sp>
        <p:nvSpPr>
          <p:cNvPr id="55" name="Rounded Rectangle 73"/>
          <p:cNvSpPr/>
          <p:nvPr/>
        </p:nvSpPr>
        <p:spPr>
          <a:xfrm>
            <a:off x="352792" y="2063669"/>
            <a:ext cx="8422718" cy="315000"/>
          </a:xfrm>
          <a:prstGeom prst="roundRect">
            <a:avLst/>
          </a:prstGeom>
          <a:solidFill>
            <a:srgbClr val="E6F7F1"/>
          </a:solidFill>
          <a:ln w="19050">
            <a:solidFill>
              <a:srgbClr val="00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2792" y="2093669"/>
            <a:ext cx="8422718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00A86B"/>
                </a:solidFill>
                <a:latin typeface="Calibri"/>
              </a:defRPr>
            </a:pPr>
            <a:r>
              <a:rPr lang="ru-RU" dirty="0" smtClean="0"/>
              <a:t>Место взаимодействия: либо на территории компании, либо у  партера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400050"/>
            <a:ext cx="8636000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189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и митигация</a:t>
            </a:r>
            <a:endParaRPr lang="en-US" sz="189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02891"/>
            <a:ext cx="514350" cy="3571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1290225"/>
            <a:ext cx="8229600" cy="728770"/>
          </a:xfrm>
          <a:prstGeom prst="roundRect">
            <a:avLst>
              <a:gd name="adj" fmla="val 21506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0654" y="148161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1109849" y="1413832"/>
            <a:ext cx="3535996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Сопротивление дистрибьюторов</a:t>
            </a:r>
            <a:endParaRPr lang="en-US" sz="855" dirty="0"/>
          </a:p>
        </p:txBody>
      </p:sp>
      <p:sp>
        <p:nvSpPr>
          <p:cNvPr id="25" name="Text 22"/>
          <p:cNvSpPr/>
          <p:nvPr/>
        </p:nvSpPr>
        <p:spPr>
          <a:xfrm>
            <a:off x="1109849" y="1640981"/>
            <a:ext cx="2015730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7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Нежелание менять устоявшиеся процессы</a:t>
            </a:r>
            <a:endParaRPr lang="ru-RU" sz="800" dirty="0" smtClean="0"/>
          </a:p>
          <a:p>
            <a:pPr marL="0" indent="0" algn="l">
              <a:lnSpc>
                <a:spcPts val="1070"/>
              </a:lnSpc>
              <a:buNone/>
            </a:pPr>
            <a:endParaRPr lang="ru-RU" sz="800" dirty="0"/>
          </a:p>
        </p:txBody>
      </p:sp>
      <p:sp>
        <p:nvSpPr>
          <p:cNvPr id="28" name="Text 25"/>
          <p:cNvSpPr/>
          <p:nvPr/>
        </p:nvSpPr>
        <p:spPr>
          <a:xfrm>
            <a:off x="4645845" y="1513051"/>
            <a:ext cx="3863031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Премиум-лаборатория. Финансовая мотивация (выше маржа). Стартовый пакет поддержки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3196905"/>
            <a:ext cx="8229600" cy="724041"/>
          </a:xfrm>
          <a:prstGeom prst="roundRect">
            <a:avLst>
              <a:gd name="adj" fmla="val 21506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53759" y="337307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688" dirty="0"/>
          </a:p>
        </p:txBody>
      </p:sp>
      <p:sp>
        <p:nvSpPr>
          <p:cNvPr id="31" name="Text 28"/>
          <p:cNvSpPr/>
          <p:nvPr/>
        </p:nvSpPr>
        <p:spPr>
          <a:xfrm>
            <a:off x="1116868" y="3376697"/>
            <a:ext cx="3041044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Падение рынка ЛКМ</a:t>
            </a:r>
            <a:endParaRPr lang="en-US" sz="855" dirty="0"/>
          </a:p>
        </p:txBody>
      </p:sp>
      <p:sp>
        <p:nvSpPr>
          <p:cNvPr id="32" name="Text 29"/>
          <p:cNvSpPr/>
          <p:nvPr/>
        </p:nvSpPr>
        <p:spPr>
          <a:xfrm>
            <a:off x="1116868" y="3633106"/>
            <a:ext cx="1225783" cy="125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Сжатие рынка на −7,8%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543201" y="3390985"/>
            <a:ext cx="655104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ВЫСОКАЯ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45845" y="3342804"/>
            <a:ext cx="3863031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Фокус на водные ЛКМ (+3,9%). Рост в сервисе и профессиональном канале. Экспорт в СНГ</a:t>
            </a:r>
            <a:endParaRPr lang="en-US" sz="800" dirty="0"/>
          </a:p>
        </p:txBody>
      </p:sp>
      <p:sp>
        <p:nvSpPr>
          <p:cNvPr id="41" name="Text 17"/>
          <p:cNvSpPr/>
          <p:nvPr/>
        </p:nvSpPr>
        <p:spPr>
          <a:xfrm>
            <a:off x="3540968" y="1549729"/>
            <a:ext cx="630548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</a:t>
            </a:r>
            <a:endParaRPr lang="en-US" sz="800" dirty="0"/>
          </a:p>
        </p:txBody>
      </p:sp>
      <p:sp>
        <p:nvSpPr>
          <p:cNvPr id="33" name="Text 12"/>
          <p:cNvSpPr/>
          <p:nvPr/>
        </p:nvSpPr>
        <p:spPr>
          <a:xfrm>
            <a:off x="457200" y="2250765"/>
            <a:ext cx="8229600" cy="763094"/>
          </a:xfrm>
          <a:prstGeom prst="roundRect">
            <a:avLst>
              <a:gd name="adj" fmla="val 21506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13"/>
          <p:cNvSpPr/>
          <p:nvPr/>
        </p:nvSpPr>
        <p:spPr>
          <a:xfrm>
            <a:off x="680654" y="241057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42" name="Text 14"/>
          <p:cNvSpPr/>
          <p:nvPr/>
        </p:nvSpPr>
        <p:spPr>
          <a:xfrm>
            <a:off x="1132408" y="2350498"/>
            <a:ext cx="2067992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83"/>
              </a:lnSpc>
            </a:pPr>
            <a:r>
              <a:rPr lang="ru-RU" sz="855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Репутационный</a:t>
            </a:r>
            <a:r>
              <a:rPr lang="ru-RU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долг</a:t>
            </a:r>
            <a:endParaRPr lang="en-US" sz="855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1132408" y="2548792"/>
            <a:ext cx="2296592" cy="44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7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финансовый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долг, только по доверию. Нужно «отрабатывать», чтобы вернуться к нормальным отношениям.</a:t>
            </a:r>
            <a:endParaRPr lang="en-US" sz="800" dirty="0"/>
          </a:p>
        </p:txBody>
      </p:sp>
      <p:sp>
        <p:nvSpPr>
          <p:cNvPr id="44" name="Text 17"/>
          <p:cNvSpPr/>
          <p:nvPr/>
        </p:nvSpPr>
        <p:spPr>
          <a:xfrm>
            <a:off x="3555479" y="2492491"/>
            <a:ext cx="630548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</a:t>
            </a:r>
            <a:endParaRPr lang="en-US" sz="800" dirty="0"/>
          </a:p>
        </p:txBody>
      </p:sp>
      <p:sp>
        <p:nvSpPr>
          <p:cNvPr id="45" name="Text 18"/>
          <p:cNvSpPr/>
          <p:nvPr/>
        </p:nvSpPr>
        <p:spPr>
          <a:xfrm>
            <a:off x="4645845" y="2445336"/>
            <a:ext cx="3793305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7"/>
              </a:lnSpc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дела перебивают старые обиды: безукоризненные поставки и персональная работа с каждым партнёром.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5000" y="61288"/>
            <a:ext cx="7500000" cy="4385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Что</a:t>
            </a:r>
            <a:r>
              <a:rPr dirty="0" smtClean="0"/>
              <a:t> </a:t>
            </a:r>
            <a:r>
              <a:rPr lang="ru-RU" dirty="0" smtClean="0"/>
              <a:t>делается</a:t>
            </a:r>
            <a:r>
              <a:rPr dirty="0" smtClean="0"/>
              <a:t> </a:t>
            </a:r>
            <a:r>
              <a:rPr lang="ru-RU" dirty="0" smtClean="0"/>
              <a:t>прямо</a:t>
            </a:r>
            <a:r>
              <a:rPr dirty="0" smtClean="0"/>
              <a:t> </a:t>
            </a:r>
            <a:r>
              <a:rPr lang="ru-RU" dirty="0" smtClean="0"/>
              <a:t>сейчас</a:t>
            </a:r>
            <a:endParaRPr lang="ru-RU" dirty="0"/>
          </a:p>
        </p:txBody>
      </p:sp>
      <p:sp>
        <p:nvSpPr>
          <p:cNvPr id="6" name="Rounded Rectangle 5"/>
          <p:cNvSpPr/>
          <p:nvPr/>
        </p:nvSpPr>
        <p:spPr>
          <a:xfrm>
            <a:off x="225000" y="690000"/>
            <a:ext cx="4237500" cy="38888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4732" y="659635"/>
            <a:ext cx="3695601" cy="285000"/>
          </a:xfrm>
          <a:prstGeom prst="roundRect">
            <a:avLst/>
          </a:prstGeom>
          <a:solidFill>
            <a:srgbClr val="2D5FFF"/>
          </a:solidFill>
          <a:ln w="12700">
            <a:solidFill>
              <a:srgbClr val="2D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2896" y="658219"/>
            <a:ext cx="3541903" cy="31547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МАРКЕТИНГ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453" y="1030516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536" y="1018896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648" y="1002544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Каталог</a:t>
            </a:r>
            <a:r>
              <a:rPr dirty="0" smtClean="0"/>
              <a:t> </a:t>
            </a:r>
            <a:r>
              <a:rPr lang="ru-RU" dirty="0" smtClean="0"/>
              <a:t>от</a:t>
            </a:r>
            <a:r>
              <a:rPr dirty="0" smtClean="0"/>
              <a:t> </a:t>
            </a:r>
            <a:r>
              <a:rPr lang="ru-RU" dirty="0" smtClean="0"/>
              <a:t>клиента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43648" y="1130044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lang="ru-RU" dirty="0" smtClean="0"/>
              <a:t>Портфолио</a:t>
            </a:r>
            <a:r>
              <a:rPr dirty="0" smtClean="0"/>
              <a:t> </a:t>
            </a:r>
            <a:r>
              <a:rPr lang="ru-RU" dirty="0" smtClean="0"/>
              <a:t>продуктов</a:t>
            </a:r>
            <a:r>
              <a:rPr dirty="0" smtClean="0"/>
              <a:t> </a:t>
            </a:r>
            <a:r>
              <a:rPr dirty="0"/>
              <a:t>+ </a:t>
            </a:r>
            <a:r>
              <a:rPr lang="ru-RU" dirty="0" smtClean="0"/>
              <a:t>клиентское слово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300486" y="2418979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2569" y="2407359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0</a:t>
            </a:r>
            <a:r>
              <a:rPr lang="ru-RU" dirty="0" smtClean="0"/>
              <a:t>6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43891" y="2384739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TCO-калькулятор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1" y="2512239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Калькулятор совокупной стоимости владения на Excel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4305" y="2711675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6388" y="2700055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0</a:t>
            </a:r>
            <a:r>
              <a:rPr lang="ru-RU" dirty="0" smtClean="0"/>
              <a:t>7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3891" y="2653837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Контент</a:t>
            </a:r>
            <a:r>
              <a:rPr dirty="0" smtClean="0"/>
              <a:t> </a:t>
            </a:r>
            <a:r>
              <a:rPr dirty="0"/>
              <a:t>о </a:t>
            </a:r>
            <a:r>
              <a:rPr lang="ru-RU" dirty="0" smtClean="0"/>
              <a:t>цепочках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43891" y="2781337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lang="ru-RU" dirty="0" smtClean="0"/>
              <a:t>Каталог</a:t>
            </a:r>
            <a:r>
              <a:rPr dirty="0" smtClean="0"/>
              <a:t>, </a:t>
            </a:r>
            <a:r>
              <a:rPr lang="ru-RU" dirty="0" smtClean="0"/>
              <a:t>сайт</a:t>
            </a:r>
            <a:r>
              <a:rPr dirty="0" smtClean="0"/>
              <a:t>, </a:t>
            </a:r>
            <a:r>
              <a:rPr lang="ru-RU" dirty="0" smtClean="0"/>
              <a:t>профильные</a:t>
            </a:r>
            <a:r>
              <a:rPr dirty="0" smtClean="0"/>
              <a:t> </a:t>
            </a:r>
            <a:r>
              <a:rPr lang="ru-RU" dirty="0" smtClean="0"/>
              <a:t>посты</a:t>
            </a:r>
            <a:r>
              <a:rPr dirty="0" smtClean="0"/>
              <a:t> </a:t>
            </a:r>
            <a:r>
              <a:rPr dirty="0"/>
              <a:t>в </a:t>
            </a:r>
            <a:r>
              <a:rPr lang="ru-RU" dirty="0" err="1" smtClean="0"/>
              <a:t>соцсетях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16404" y="1297142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8487" y="1285522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0</a:t>
            </a:r>
            <a:r>
              <a:rPr lang="ru-RU" dirty="0" smtClean="0"/>
              <a:t>2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51599" y="1269170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Картинка приглашение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51599" y="1396670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smtClean="0"/>
              <a:t>«</a:t>
            </a:r>
            <a:r>
              <a:rPr lang="ru-RU" dirty="0" smtClean="0"/>
              <a:t>Присоединяйтесь</a:t>
            </a:r>
            <a:r>
              <a:rPr dirty="0" smtClean="0"/>
              <a:t> </a:t>
            </a:r>
            <a:r>
              <a:rPr dirty="0"/>
              <a:t>к </a:t>
            </a:r>
            <a:r>
              <a:rPr lang="ru-RU" dirty="0" smtClean="0"/>
              <a:t>нам</a:t>
            </a:r>
            <a:r>
              <a:rPr dirty="0" smtClean="0"/>
              <a:t> </a:t>
            </a:r>
            <a:r>
              <a:rPr dirty="0"/>
              <a:t>в </a:t>
            </a:r>
            <a:r>
              <a:rPr lang="ru-RU" dirty="0" err="1" smtClean="0"/>
              <a:t>соцсетях</a:t>
            </a:r>
            <a:r>
              <a:rPr dirty="0" smtClean="0"/>
              <a:t>»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308453" y="1574191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536" y="1554620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0</a:t>
            </a:r>
            <a:r>
              <a:rPr lang="ru-RU" dirty="0" smtClean="0"/>
              <a:t>3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43648" y="1538268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Визуальные</a:t>
            </a:r>
            <a:r>
              <a:rPr dirty="0" smtClean="0"/>
              <a:t> </a:t>
            </a:r>
            <a:r>
              <a:rPr lang="ru-RU" dirty="0" smtClean="0"/>
              <a:t>пригласительные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643648" y="1665768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/>
              <a:t>3 </a:t>
            </a:r>
            <a:r>
              <a:rPr dirty="0" err="1"/>
              <a:t>вида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рассылки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партнёрам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308453" y="3004135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536" y="2983437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0</a:t>
            </a:r>
            <a:r>
              <a:rPr lang="ru-RU" dirty="0" smtClean="0"/>
              <a:t>8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643648" y="2960261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Презентация по цепочкам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648" y="3087761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Отдельная презентация для рассылки дилерам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502" y="3305037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2585" y="3293417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0</a:t>
            </a:r>
            <a:r>
              <a:rPr lang="ru-RU" dirty="0" smtClean="0"/>
              <a:t>9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635697" y="3277065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Курс по продаже цепочек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697" y="3404565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Обучение презентации и продажам сгруппированных технологий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8453" y="2135004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3712" y="2116560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0</a:t>
            </a:r>
            <a:r>
              <a:rPr lang="ru-RU" dirty="0" smtClean="0"/>
              <a:t>5</a:t>
            </a: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643648" y="2107032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Стандартизация демо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648" y="2234532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Единые умения для полевой демонстрации ЛКМ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8453" y="3612654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3712" y="3594210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lang="ru-RU" dirty="0" smtClean="0"/>
              <a:t>10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643648" y="3584682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Rutube-канал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648" y="3712182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Запуск видеоканала с обучающим контентом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8453" y="3897654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13712" y="3879210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1</a:t>
            </a:r>
            <a:r>
              <a:rPr lang="ru-RU" dirty="0" smtClean="0"/>
              <a:t>1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643648" y="3869682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Лендинг «Стань партнёром»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648" y="3997182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Посадочная страница на rus / eng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8453" y="4182654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0536" y="4157386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1</a:t>
            </a:r>
            <a:r>
              <a:rPr lang="ru-RU" dirty="0" smtClean="0"/>
              <a:t>2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643648" y="4154682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3D-тур по заводу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648" y="4282182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t>Виртуальный тур в Яндекс / Google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50000" y="690000"/>
            <a:ext cx="4275000" cy="3888824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904120" y="673283"/>
            <a:ext cx="3761632" cy="28500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04720" y="651395"/>
            <a:ext cx="3750000" cy="31547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ПРОДАЖИ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25000" y="1133062"/>
            <a:ext cx="345000" cy="2850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43176" y="1101979"/>
            <a:ext cx="521888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Calibri"/>
              </a:defRPr>
            </a:pPr>
            <a:r>
              <a:rPr dirty="0"/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15000" y="1024554"/>
            <a:ext cx="3720000" cy="26930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База партнёров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15000" y="1212054"/>
            <a:ext cx="3720000" cy="37702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Систематизация: потенциальные, потерянные, отказавшиеся от работы. Карта для таргетированной работы.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25000" y="1807934"/>
            <a:ext cx="345000" cy="2850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23316" y="1764222"/>
            <a:ext cx="528712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Calibri"/>
              </a:defRPr>
            </a:pPr>
            <a:r>
              <a:rPr dirty="0"/>
              <a:t>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5000" y="1699426"/>
            <a:ext cx="3720000" cy="26930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Рассылка пригласительных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15000" y="1886926"/>
            <a:ext cx="3720000" cy="37702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Партнёрам: «Завод обновился — не только капитальный ремонт, но и подходы к бизнесу». Приглашение к знакомству заново.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25000" y="2503278"/>
            <a:ext cx="345000" cy="2850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96019" y="2486862"/>
            <a:ext cx="573573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Calibri"/>
              </a:defRPr>
            </a:pPr>
            <a:r>
              <a:rPr dirty="0"/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15000" y="2394770"/>
            <a:ext cx="3720000" cy="26930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Обучение региональной команды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15000" y="2582270"/>
            <a:ext cx="3720000" cy="37702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Новый формат полевой демонстрации продукции. Единый стандарт и скрипты для всех регионов.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25000" y="3184974"/>
            <a:ext cx="345000" cy="2850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665102" y="3167753"/>
            <a:ext cx="437092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Calibri"/>
              </a:defRPr>
            </a:pPr>
            <a:r>
              <a:rPr dirty="0"/>
              <a:t>04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15000" y="3076466"/>
            <a:ext cx="3720000" cy="26930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План-график встреч и полевых лабораторий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15000" y="3263966"/>
            <a:ext cx="3720000" cy="37702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Систематическая работа у партнёров. Регулярные демо, обратная связь, корректировка.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34184" y="4711352"/>
            <a:ext cx="8700000" cy="315000"/>
          </a:xfrm>
          <a:prstGeom prst="roundRect">
            <a:avLst/>
          </a:prstGeom>
          <a:solidFill>
            <a:srgbClr val="E6F7F1"/>
          </a:solidFill>
          <a:ln w="19050">
            <a:solidFill>
              <a:srgbClr val="00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6684" y="4741352"/>
            <a:ext cx="84750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00A86B"/>
                </a:solidFill>
                <a:latin typeface="Calibri"/>
              </a:defRPr>
            </a:pPr>
            <a:r>
              <a:rPr lang="ru-RU" dirty="0" smtClean="0"/>
              <a:t>Принцип</a:t>
            </a:r>
            <a:r>
              <a:rPr dirty="0" smtClean="0"/>
              <a:t>: </a:t>
            </a:r>
            <a:r>
              <a:rPr lang="ru-RU" dirty="0" smtClean="0"/>
              <a:t>параллельно</a:t>
            </a:r>
            <a:r>
              <a:rPr dirty="0" smtClean="0"/>
              <a:t>, </a:t>
            </a:r>
            <a:r>
              <a:rPr lang="ru-RU" dirty="0" smtClean="0"/>
              <a:t>не</a:t>
            </a:r>
            <a:r>
              <a:rPr dirty="0" smtClean="0"/>
              <a:t> </a:t>
            </a:r>
            <a:r>
              <a:rPr lang="ru-RU" dirty="0" smtClean="0"/>
              <a:t>последовательно</a:t>
            </a:r>
            <a:r>
              <a:rPr dirty="0" smtClean="0"/>
              <a:t>. </a:t>
            </a:r>
            <a:r>
              <a:rPr lang="ru-RU" dirty="0" smtClean="0"/>
              <a:t>Маркетинг</a:t>
            </a:r>
            <a:r>
              <a:rPr dirty="0" smtClean="0"/>
              <a:t> </a:t>
            </a:r>
            <a:r>
              <a:rPr lang="ru-RU" dirty="0" smtClean="0"/>
              <a:t>готовит</a:t>
            </a:r>
            <a:r>
              <a:rPr dirty="0" smtClean="0"/>
              <a:t> </a:t>
            </a:r>
            <a:r>
              <a:rPr lang="ru-RU" dirty="0" smtClean="0"/>
              <a:t>инструменты</a:t>
            </a:r>
            <a:r>
              <a:rPr dirty="0" smtClean="0"/>
              <a:t> </a:t>
            </a:r>
            <a:r>
              <a:rPr dirty="0"/>
              <a:t>— </a:t>
            </a:r>
            <a:r>
              <a:rPr lang="ru-RU" dirty="0" smtClean="0"/>
              <a:t>продажи</a:t>
            </a:r>
            <a:r>
              <a:rPr dirty="0" smtClean="0"/>
              <a:t> </a:t>
            </a:r>
            <a:r>
              <a:rPr lang="ru-RU" dirty="0" smtClean="0"/>
              <a:t>ведут</a:t>
            </a:r>
            <a:r>
              <a:rPr dirty="0" smtClean="0"/>
              <a:t> </a:t>
            </a:r>
            <a:r>
              <a:rPr lang="ru-RU" dirty="0" smtClean="0"/>
              <a:t>разговор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7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2" y="454867"/>
            <a:ext cx="514350" cy="35719"/>
          </a:xfrm>
          <a:prstGeom prst="rect">
            <a:avLst/>
          </a:prstGeom>
        </p:spPr>
      </p:pic>
      <p:sp>
        <p:nvSpPr>
          <p:cNvPr id="76" name="Rounded Rectangle 37"/>
          <p:cNvSpPr/>
          <p:nvPr/>
        </p:nvSpPr>
        <p:spPr>
          <a:xfrm>
            <a:off x="320536" y="1852279"/>
            <a:ext cx="372083" cy="2100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5795" y="1833835"/>
            <a:ext cx="352500" cy="23852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100" b="1">
                <a:solidFill>
                  <a:srgbClr val="2D5FFF"/>
                </a:solidFill>
                <a:latin typeface="Calibri"/>
              </a:defRPr>
            </a:pPr>
            <a:r>
              <a:rPr dirty="0" smtClean="0"/>
              <a:t>0</a:t>
            </a:r>
            <a:r>
              <a:rPr lang="ru-RU" dirty="0" smtClean="0"/>
              <a:t>4</a:t>
            </a:r>
            <a:endParaRPr dirty="0"/>
          </a:p>
        </p:txBody>
      </p:sp>
      <p:sp>
        <p:nvSpPr>
          <p:cNvPr id="79" name="TextBox 78"/>
          <p:cNvSpPr txBox="1"/>
          <p:nvPr/>
        </p:nvSpPr>
        <p:spPr>
          <a:xfrm>
            <a:off x="655731" y="1808405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Небольшие доработки сайта</a:t>
            </a:r>
            <a:endParaRPr dirty="0"/>
          </a:p>
        </p:txBody>
      </p:sp>
      <p:sp>
        <p:nvSpPr>
          <p:cNvPr id="80" name="TextBox 79"/>
          <p:cNvSpPr txBox="1"/>
          <p:nvPr/>
        </p:nvSpPr>
        <p:spPr>
          <a:xfrm>
            <a:off x="655731" y="1943856"/>
            <a:ext cx="375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lang="ru-RU" dirty="0" smtClean="0"/>
              <a:t>Добавление социальных сетей, актуализация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4051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2620</Words>
  <Application>Microsoft Office PowerPoint</Application>
  <PresentationFormat>Экран (16:9)</PresentationFormat>
  <Paragraphs>659</Paragraphs>
  <Slides>14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368</cp:revision>
  <dcterms:created xsi:type="dcterms:W3CDTF">2026-06-14T05:15:27Z</dcterms:created>
  <dcterms:modified xsi:type="dcterms:W3CDTF">2026-06-17T06:59:31Z</dcterms:modified>
</cp:coreProperties>
</file>