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20" r:id="rId2"/>
    <p:sldId id="306" r:id="rId3"/>
    <p:sldId id="298" r:id="rId4"/>
    <p:sldId id="308" r:id="rId5"/>
    <p:sldId id="309" r:id="rId6"/>
    <p:sldId id="310" r:id="rId7"/>
    <p:sldId id="361" r:id="rId8"/>
    <p:sldId id="311" r:id="rId9"/>
    <p:sldId id="352" r:id="rId10"/>
    <p:sldId id="336" r:id="rId11"/>
    <p:sldId id="258" r:id="rId12"/>
    <p:sldId id="259" r:id="rId13"/>
    <p:sldId id="338" r:id="rId14"/>
    <p:sldId id="317" r:id="rId15"/>
    <p:sldId id="347" r:id="rId16"/>
    <p:sldId id="348" r:id="rId17"/>
    <p:sldId id="337" r:id="rId18"/>
    <p:sldId id="363" r:id="rId19"/>
    <p:sldId id="350" r:id="rId20"/>
    <p:sldId id="354" r:id="rId21"/>
    <p:sldId id="341" r:id="rId22"/>
    <p:sldId id="358" r:id="rId23"/>
    <p:sldId id="356" r:id="rId24"/>
    <p:sldId id="360" r:id="rId25"/>
    <p:sldId id="362" r:id="rId26"/>
    <p:sldId id="359" r:id="rId27"/>
    <p:sldId id="349" r:id="rId28"/>
  </p:sldIdLst>
  <p:sldSz cx="18288000" cy="10287000"/>
  <p:notesSz cx="10234613" cy="7104063"/>
  <p:embeddedFontLst>
    <p:embeddedFont>
      <p:font typeface="Proxima Nova Regular" charset="0"/>
      <p:regular r:id="rId31"/>
    </p:embeddedFont>
    <p:embeddedFont>
      <p:font typeface="Inter Regular" charset="0"/>
      <p:regular r:id="rId32"/>
    </p:embeddedFont>
    <p:embeddedFont>
      <p:font typeface="Calibri" pitchFamily="34" charset="0"/>
      <p:regular r:id="rId33"/>
      <p:bold r:id="rId34"/>
      <p:italic r:id="rId35"/>
      <p:boldItalic r:id="rId36"/>
    </p:embeddedFont>
    <p:embeddedFont>
      <p:font typeface="Calibri Light" pitchFamily="34" charset="0"/>
      <p:regular r:id="rId37"/>
      <p:italic r:id="rId38"/>
    </p:embeddedFont>
    <p:embeddedFont>
      <p:font typeface="Inter Extra Bold" charset="0"/>
      <p:bold r:id="rId39"/>
      <p:boldItalic r:id="rId40"/>
    </p:embeddedFont>
    <p:embeddedFont>
      <p:font typeface="Inter Bold" charset="0"/>
      <p:bold r:id="rId41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24"/>
    <a:srgbClr val="753921"/>
    <a:srgbClr val="DED09F"/>
    <a:srgbClr val="154889"/>
    <a:srgbClr val="A5A8A6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3" autoAdjust="0"/>
    <p:restoredTop sz="86384" autoAdjust="0"/>
  </p:normalViewPr>
  <p:slideViewPr>
    <p:cSldViewPr snapToGrid="0" snapToObjects="1">
      <p:cViewPr>
        <p:scale>
          <a:sx n="70" d="100"/>
          <a:sy n="70" d="100"/>
        </p:scale>
        <p:origin x="-624" y="-72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-2046" y="-102"/>
      </p:cViewPr>
      <p:guideLst>
        <p:guide orient="horz" pos="2238"/>
        <p:guide pos="322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798037" y="1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/>
          <a:lstStyle>
            <a:lvl1pPr algn="r">
              <a:defRPr sz="700"/>
            </a:lvl1pPr>
          </a:lstStyle>
          <a:p>
            <a:fld id="{CF2C94AD-3D0D-4EE6-9A01-721E4375C2EF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798037" y="6747628"/>
            <a:ext cx="4434999" cy="355203"/>
          </a:xfrm>
          <a:prstGeom prst="rect">
            <a:avLst/>
          </a:prstGeom>
        </p:spPr>
        <p:txBody>
          <a:bodyPr vert="horz" lIns="55459" tIns="27729" rIns="55459" bIns="27729" rtlCol="0" anchor="b"/>
          <a:lstStyle>
            <a:lvl1pPr algn="r">
              <a:defRPr sz="700"/>
            </a:lvl1pPr>
          </a:lstStyle>
          <a:p>
            <a:fld id="{EC6922B4-AB00-4323-90FC-2760FD3A00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5215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228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 dirty="0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374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</p:spPr>
        <p:txBody>
          <a:bodyPr lIns="55459" tIns="27729" rIns="55459" bIns="27729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905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834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87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7483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2749550" y="531813"/>
            <a:ext cx="4735513" cy="2665412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3462" y="3374431"/>
            <a:ext cx="8187690" cy="319682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17" tIns="99017" rIns="99017" bIns="99017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29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209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1201808938" y="-834199500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1201807965" y="-834200521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5459" tIns="27729" rIns="55459" bIns="27729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0600" indent="-17330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693231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970523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1247815" indent="-138646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1525108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1802400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2079693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2356985" indent="-1386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42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333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49550" y="531813"/>
            <a:ext cx="4735513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2971" y="3374514"/>
            <a:ext cx="8188672" cy="3196994"/>
          </a:xfrm>
          <a:prstGeom prst="rect">
            <a:avLst/>
          </a:prstGeom>
        </p:spPr>
        <p:txBody>
          <a:bodyPr lIns="94768" tIns="47384" rIns="94768" bIns="47384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970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484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684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3925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023939" y="3374112"/>
            <a:ext cx="8186737" cy="3197782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90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9/22/2026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image" Target="../media/image12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oleObject" Target="../embeddings/oleObject3.bin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4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9.png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4.emf"/><Relationship Id="rId15" Type="http://schemas.openxmlformats.org/officeDocument/2006/relationships/image" Target="../media/image38.png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.emf"/><Relationship Id="rId18" Type="http://schemas.openxmlformats.org/officeDocument/2006/relationships/image" Target="../media/image46.png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49.png"/><Relationship Id="rId7" Type="http://schemas.openxmlformats.org/officeDocument/2006/relationships/image" Target="../media/image15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43.png"/><Relationship Id="rId10" Type="http://schemas.openxmlformats.org/officeDocument/2006/relationships/image" Target="../media/image18.png"/><Relationship Id="rId19" Type="http://schemas.openxmlformats.org/officeDocument/2006/relationships/image" Target="../media/image4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9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87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94.png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6.png"/><Relationship Id="rId11" Type="http://schemas.openxmlformats.org/officeDocument/2006/relationships/image" Target="../media/image4.emf"/><Relationship Id="rId5" Type="http://schemas.openxmlformats.org/officeDocument/2006/relationships/image" Target="../media/image85.png"/><Relationship Id="rId15" Type="http://schemas.openxmlformats.org/officeDocument/2006/relationships/image" Target="../media/image93.png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97.png"/><Relationship Id="rId4" Type="http://schemas.openxmlformats.org/officeDocument/2006/relationships/image" Target="../media/image84.png"/><Relationship Id="rId9" Type="http://schemas.openxmlformats.org/officeDocument/2006/relationships/image" Target="../media/image89.jpeg"/><Relationship Id="rId14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jpe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98.jpeg"/><Relationship Id="rId12" Type="http://schemas.openxmlformats.org/officeDocument/2006/relationships/image" Target="../media/image10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.emf"/><Relationship Id="rId11" Type="http://schemas.openxmlformats.org/officeDocument/2006/relationships/image" Target="../media/image53.png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52.png"/><Relationship Id="rId4" Type="http://schemas.openxmlformats.org/officeDocument/2006/relationships/image" Target="../media/image5.png"/><Relationship Id="rId9" Type="http://schemas.openxmlformats.org/officeDocument/2006/relationships/image" Target="../media/image10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jpe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03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notesSlide" Target="../notesSlides/notesSlide27.xml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.png"/><Relationship Id="rId5" Type="http://schemas.openxmlformats.org/officeDocument/2006/relationships/hyperlink" Target="http://www.empils.ru/" TargetMode="External"/><Relationship Id="rId4" Type="http://schemas.openxmlformats.org/officeDocument/2006/relationships/hyperlink" Target="mailto:info@empils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251" y="3283808"/>
            <a:ext cx="6273607" cy="1934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11500" b="1" dirty="0" err="1" smtClean="0">
                <a:solidFill>
                  <a:srgbClr val="656565"/>
                </a:solidFill>
                <a:latin typeface="Inter Extra Bold" panose="02000903000000020004" pitchFamily="2" charset="0"/>
              </a:rPr>
              <a:t>Эмпилс</a:t>
            </a:r>
            <a:endParaRPr lang="ru-RU" altLang="ru-RU" sz="9600" dirty="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2278037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 dirty="0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987425"/>
            <a:ext cx="83851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О КОМПАНИИ «ЭМПИЛС»</a:t>
            </a: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92256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220119" y="1476529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32" name="Text 6">
            <a:extLst>
              <a:ext uri="{FF2B5EF4-FFF2-40B4-BE49-F238E27FC236}">
                <a16:creationId xmlns="" xmlns:a16="http://schemas.microsoft.com/office/drawing/2014/main" id="{FA14128C-96F7-4005-966F-6B3A22AD1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31" y="2572035"/>
            <a:ext cx="3177821" cy="149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3000" dirty="0" smtClean="0">
                <a:solidFill>
                  <a:srgbClr val="F47629"/>
                </a:solidFill>
                <a:latin typeface="Inter Extra Bold" panose="02000903000000020004" pitchFamily="2" charset="0"/>
              </a:rPr>
              <a:t>Крупнейший </a:t>
            </a:r>
            <a:endParaRPr lang="ru-RU" altLang="ru-RU" sz="3000" dirty="0">
              <a:solidFill>
                <a:srgbClr val="F47629"/>
              </a:solidFill>
              <a:latin typeface="Inter Extra Bold" panose="020009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3000" dirty="0">
                <a:solidFill>
                  <a:srgbClr val="F47629"/>
                </a:solidFill>
                <a:latin typeface="Inter Extra Bold" panose="02000903000000020004" pitchFamily="2" charset="0"/>
              </a:rPr>
              <a:t>производитель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органических ЛКМ</a:t>
            </a:r>
          </a:p>
        </p:txBody>
      </p: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313993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выражении</a:t>
            </a:r>
            <a:r>
              <a:rPr lang="en-US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*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688518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 dirty="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 dirty="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5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9902067" y="3324983"/>
            <a:ext cx="965200" cy="4424434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тыс</a:t>
            </a: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за 2025 </a:t>
            </a:r>
            <a:r>
              <a:rPr lang="ru-RU" altLang="ru-RU" sz="2000" dirty="0" smtClean="0">
                <a:solidFill>
                  <a:srgbClr val="000000"/>
                </a:solidFill>
                <a:latin typeface="Inter Regular" panose="02000503000000020004" pitchFamily="2" charset="0"/>
              </a:rPr>
              <a:t>год* </a:t>
            </a:r>
            <a:endParaRPr lang="ru-RU" altLang="ru-RU" sz="2000" dirty="0">
              <a:solidFill>
                <a:srgbClr val="000000"/>
              </a:solidFill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9747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51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 dirty="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76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 dirty="0" err="1" smtClean="0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 dirty="0" smtClean="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Крупно- тоннажные</a:t>
            </a:r>
            <a:endParaRPr lang="ru-RU" altLang="ru-RU" dirty="0" smtClean="0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 dirty="0" smtClean="0">
                <a:solidFill>
                  <a:srgbClr val="FFFFFF"/>
                </a:solidFill>
                <a:latin typeface="Inter Regular" panose="02000503000000020004" pitchFamily="2" charset="0"/>
              </a:rPr>
              <a:t>партии</a:t>
            </a:r>
            <a:endParaRPr lang="ru-RU" altLang="ru-RU" dirty="0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9874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4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 dirty="0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 dirty="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Компания проводит программу «Декомпозиция целей» направленную на более точное планирование деятельности и эффективное </a:t>
            </a:r>
            <a:r>
              <a:rPr lang="ru-RU" altLang="ru-RU" sz="1900" dirty="0" err="1">
                <a:solidFill>
                  <a:srgbClr val="1D1D1B"/>
                </a:solidFill>
                <a:latin typeface="Inter Regular" panose="02000503000000020004" pitchFamily="2" charset="0"/>
              </a:rPr>
              <a:t>распрелеление</a:t>
            </a:r>
            <a:r>
              <a:rPr lang="ru-RU" altLang="ru-RU" sz="1900" dirty="0">
                <a:solidFill>
                  <a:srgbClr val="1D1D1B"/>
                </a:solidFill>
                <a:latin typeface="Inter Regular" panose="02000503000000020004" pitchFamily="2" charset="0"/>
              </a:rPr>
              <a:t> обязанностей между сотрудниками для достижения высоких результатов.</a:t>
            </a: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6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14794" y="7647823"/>
            <a:ext cx="45719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 dirty="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581273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9035298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581273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9001961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579686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9014661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579686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9001961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774698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72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1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98300" y="546387"/>
            <a:ext cx="5131533" cy="63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ПРОИЗВОДСТВО</a:t>
            </a:r>
            <a:endParaRPr lang="en-US" sz="4400" b="1" dirty="0">
              <a:solidFill>
                <a:srgbClr val="656565"/>
              </a:solidFill>
              <a:latin typeface="Inter Extra Bold" panose="02000903000000020004" pitchFamily="2" charset="0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10966825" y="4270886"/>
            <a:ext cx="6650583" cy="189539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Производство </a:t>
            </a:r>
            <a:r>
              <a:rPr lang="ru-RU" sz="40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органических связующих для лаков</a:t>
            </a:r>
            <a:endParaRPr lang="ru-RU" sz="4000" b="1" spc="-10" dirty="0" smtClean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1169806" y="7632827"/>
            <a:ext cx="7002558" cy="1251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Востребованы у российских </a:t>
            </a:r>
          </a:p>
          <a:p>
            <a:pPr marL="12700" marR="5080" algn="ctr">
              <a:spcBef>
                <a:spcPts val="380"/>
              </a:spcBef>
            </a:pPr>
            <a:r>
              <a:rPr lang="ru-RU" sz="3600" b="1" dirty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производителей ЛКМ</a:t>
            </a:r>
          </a:p>
        </p:txBody>
      </p:sp>
      <p:grpSp>
        <p:nvGrpSpPr>
          <p:cNvPr id="22" name="object 12"/>
          <p:cNvGrpSpPr/>
          <p:nvPr/>
        </p:nvGrpSpPr>
        <p:grpSpPr>
          <a:xfrm>
            <a:off x="14300049" y="6535578"/>
            <a:ext cx="99447" cy="539962"/>
            <a:chOff x="5099900" y="5831371"/>
            <a:chExt cx="52705" cy="278130"/>
          </a:xfrm>
        </p:grpSpPr>
        <p:sp>
          <p:nvSpPr>
            <p:cNvPr id="23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305" y="2419186"/>
            <a:ext cx="9953056" cy="6638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Прямоугольник 26"/>
          <p:cNvSpPr/>
          <p:nvPr/>
        </p:nvSpPr>
        <p:spPr>
          <a:xfrm>
            <a:off x="11037457" y="2414348"/>
            <a:ext cx="64655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spcBef>
                <a:spcPts val="380"/>
              </a:spcBef>
            </a:pPr>
            <a:r>
              <a:rPr lang="ru-RU" sz="4000" b="1" dirty="0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Собственная </a:t>
            </a:r>
            <a:r>
              <a:rPr lang="ru-RU" sz="4000" b="1" dirty="0" err="1" smtClean="0">
                <a:solidFill>
                  <a:schemeClr val="bg1">
                    <a:lumMod val="50000"/>
                  </a:schemeClr>
                </a:solidFill>
                <a:latin typeface="Inter Bold" charset="0"/>
                <a:ea typeface="Inter Bold" charset="0"/>
                <a:cs typeface="Inter Bold" charset="0"/>
              </a:rPr>
              <a:t>лаковарка</a:t>
            </a:r>
            <a:endParaRPr lang="ru-RU" sz="4000" b="1" dirty="0">
              <a:solidFill>
                <a:schemeClr val="bg1">
                  <a:lumMod val="50000"/>
                </a:schemeClr>
              </a:solidFill>
              <a:latin typeface="Inter Bold" charset="0"/>
              <a:ea typeface="Inter Bold" charset="0"/>
              <a:cs typeface="Inter Bold" charset="0"/>
            </a:endParaRPr>
          </a:p>
        </p:txBody>
      </p:sp>
      <p:grpSp>
        <p:nvGrpSpPr>
          <p:cNvPr id="28" name="object 12"/>
          <p:cNvGrpSpPr/>
          <p:nvPr/>
        </p:nvGrpSpPr>
        <p:grpSpPr>
          <a:xfrm>
            <a:off x="14280492" y="3449478"/>
            <a:ext cx="99447" cy="539962"/>
            <a:chOff x="5099900" y="5831371"/>
            <a:chExt cx="52705" cy="278130"/>
          </a:xfrm>
        </p:grpSpPr>
        <p:sp>
          <p:nvSpPr>
            <p:cNvPr id="29" name="object 13"/>
            <p:cNvSpPr/>
            <p:nvPr/>
          </p:nvSpPr>
          <p:spPr>
            <a:xfrm>
              <a:off x="5126067" y="5857647"/>
              <a:ext cx="0" cy="226060"/>
            </a:xfrm>
            <a:custGeom>
              <a:avLst/>
              <a:gdLst/>
              <a:ahLst/>
              <a:cxnLst/>
              <a:rect l="l" t="t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4"/>
            <p:cNvSpPr/>
            <p:nvPr/>
          </p:nvSpPr>
          <p:spPr>
            <a:xfrm>
              <a:off x="5099900" y="5831382"/>
              <a:ext cx="52705" cy="278130"/>
            </a:xfrm>
            <a:custGeom>
              <a:avLst/>
              <a:gdLst/>
              <a:ahLst/>
              <a:cxnLst/>
              <a:rect l="l" t="t" r="r" b="b"/>
              <a:pathLst>
                <a:path w="52704" h="278129">
                  <a:moveTo>
                    <a:pt x="52336" y="251815"/>
                  </a:moveTo>
                  <a:lnTo>
                    <a:pt x="50279" y="241579"/>
                  </a:lnTo>
                  <a:lnTo>
                    <a:pt x="44665" y="233235"/>
                  </a:lnTo>
                  <a:lnTo>
                    <a:pt x="36347" y="227596"/>
                  </a:lnTo>
                  <a:lnTo>
                    <a:pt x="26162" y="225539"/>
                  </a:lnTo>
                  <a:lnTo>
                    <a:pt x="15976" y="227596"/>
                  </a:lnTo>
                  <a:lnTo>
                    <a:pt x="7658" y="233235"/>
                  </a:lnTo>
                  <a:lnTo>
                    <a:pt x="2044" y="241579"/>
                  </a:lnTo>
                  <a:lnTo>
                    <a:pt x="0" y="251815"/>
                  </a:lnTo>
                  <a:lnTo>
                    <a:pt x="2044" y="262039"/>
                  </a:lnTo>
                  <a:lnTo>
                    <a:pt x="7658" y="270395"/>
                  </a:lnTo>
                  <a:lnTo>
                    <a:pt x="15976" y="276021"/>
                  </a:lnTo>
                  <a:lnTo>
                    <a:pt x="26162" y="278091"/>
                  </a:lnTo>
                  <a:lnTo>
                    <a:pt x="36347" y="276021"/>
                  </a:lnTo>
                  <a:lnTo>
                    <a:pt x="44665" y="270395"/>
                  </a:lnTo>
                  <a:lnTo>
                    <a:pt x="50279" y="262039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40"/>
                  </a:lnTo>
                  <a:lnTo>
                    <a:pt x="44665" y="7683"/>
                  </a:lnTo>
                  <a:lnTo>
                    <a:pt x="36347" y="2057"/>
                  </a:lnTo>
                  <a:lnTo>
                    <a:pt x="26162" y="0"/>
                  </a:lnTo>
                  <a:lnTo>
                    <a:pt x="15976" y="2057"/>
                  </a:lnTo>
                  <a:lnTo>
                    <a:pt x="7658" y="7683"/>
                  </a:lnTo>
                  <a:lnTo>
                    <a:pt x="2044" y="16040"/>
                  </a:lnTo>
                  <a:lnTo>
                    <a:pt x="0" y="26276"/>
                  </a:lnTo>
                  <a:lnTo>
                    <a:pt x="2044" y="36499"/>
                  </a:lnTo>
                  <a:lnTo>
                    <a:pt x="7658" y="44856"/>
                  </a:lnTo>
                  <a:lnTo>
                    <a:pt x="15976" y="50482"/>
                  </a:lnTo>
                  <a:lnTo>
                    <a:pt x="26162" y="52552"/>
                  </a:lnTo>
                  <a:lnTo>
                    <a:pt x="36347" y="50482"/>
                  </a:lnTo>
                  <a:lnTo>
                    <a:pt x="44665" y="44856"/>
                  </a:lnTo>
                  <a:lnTo>
                    <a:pt x="50279" y="36499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904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 dirty="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 dirty="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221" y="8824296"/>
            <a:ext cx="16092488" cy="78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ts val="0"/>
              </a:spcBef>
            </a:pP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«</a:t>
            </a:r>
            <a:r>
              <a:rPr lang="ru-RU" altLang="ru-RU" sz="2500" b="1" dirty="0" err="1">
                <a:solidFill>
                  <a:srgbClr val="656565"/>
                </a:solidFill>
                <a:latin typeface="Inter Regular" panose="02000503000000020004" pitchFamily="2" charset="0"/>
              </a:rPr>
              <a:t>Эмпилс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» обеспечивает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гибкий подход к объему партий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, доставляя грузы автомобильным и железнодорожным транспортом </a:t>
            </a:r>
            <a:r>
              <a:rPr lang="ru-RU" altLang="ru-RU" sz="2500" b="1" dirty="0">
                <a:solidFill>
                  <a:srgbClr val="F18324"/>
                </a:solidFill>
                <a:latin typeface="Inter Regular" panose="02000503000000020004" pitchFamily="2" charset="0"/>
              </a:rPr>
              <a:t>во все регионы страны и за рубеж </a:t>
            </a:r>
            <a:r>
              <a:rPr lang="ru-RU" altLang="ru-RU" sz="2500" b="1" dirty="0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 b="1" dirty="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21637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 dirty="0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 dirty="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175" y="21510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 dirty="0">
              <a:latin typeface="Inter Regular" panose="020005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4084638" y="27940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9458325" y="27813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82700" y="579438"/>
            <a:ext cx="9925050" cy="1377298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ЛОГИСТИКА И СКЛАДСКОЙ КОМПЛЕКС</a:t>
            </a: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920044"/>
              </p:ext>
            </p:extLst>
          </p:nvPr>
        </p:nvGraphicFramePr>
        <p:xfrm>
          <a:off x="14295438" y="635752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8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752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833926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219D98CA-1D33-4644-A3D8-D415ECF15CE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100" y="1570507"/>
            <a:ext cx="8051800" cy="8160969"/>
          </a:xfrm>
          <a:custGeom>
            <a:avLst/>
            <a:gdLst>
              <a:gd name="connsiteX0" fmla="*/ -983 w 6720839"/>
              <a:gd name="connsiteY0" fmla="*/ -996 h 6811962"/>
              <a:gd name="connsiteX1" fmla="*/ 6719857 w 6720839"/>
              <a:gd name="connsiteY1" fmla="*/ -996 h 6811962"/>
              <a:gd name="connsiteX2" fmla="*/ 6719857 w 6720839"/>
              <a:gd name="connsiteY2" fmla="*/ 6810967 h 6811962"/>
              <a:gd name="connsiteX3" fmla="*/ -983 w 6720839"/>
              <a:gd name="connsiteY3" fmla="*/ 6810967 h 6811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20839" h="6811962">
                <a:moveTo>
                  <a:pt x="-983" y="-996"/>
                </a:moveTo>
                <a:lnTo>
                  <a:pt x="6719857" y="-996"/>
                </a:lnTo>
                <a:lnTo>
                  <a:pt x="6719857" y="6810967"/>
                </a:lnTo>
                <a:lnTo>
                  <a:pt x="-983" y="6810967"/>
                </a:lnTo>
                <a:close/>
              </a:path>
            </a:pathLst>
          </a:cu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034A54D-104B-45D1-B1C3-D67C999EEE7D}"/>
              </a:ext>
            </a:extLst>
          </p:cNvPr>
          <p:cNvSpPr txBox="1"/>
          <p:nvPr/>
        </p:nvSpPr>
        <p:spPr>
          <a:xfrm>
            <a:off x="9521243" y="5290470"/>
            <a:ext cx="3551934" cy="1508105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89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2 900 т</a:t>
            </a:r>
          </a:p>
        </p:txBody>
      </p:sp>
      <p:grpSp>
        <p:nvGrpSpPr>
          <p:cNvPr id="17" name="Рисунок 4">
            <a:extLst>
              <a:ext uri="{FF2B5EF4-FFF2-40B4-BE49-F238E27FC236}">
                <a16:creationId xmlns="" xmlns:a16="http://schemas.microsoft.com/office/drawing/2014/main" id="{1F48E081-DF18-4901-896A-3303AF626A10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18" name="Полилиния: фигура 17">
              <a:extLst>
                <a:ext uri="{FF2B5EF4-FFF2-40B4-BE49-F238E27FC236}">
                  <a16:creationId xmlns="" xmlns:a16="http://schemas.microsoft.com/office/drawing/2014/main" id="{A4027B60-FAC4-4D35-808C-B284D4D05BAF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="" xmlns:a16="http://schemas.microsoft.com/office/drawing/2014/main" id="{DEC85F07-0AB5-4594-ADA4-40C3AFAA2664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="" xmlns:a16="http://schemas.microsoft.com/office/drawing/2014/main" id="{14963F55-EF2A-4B55-BF6B-BC0E12427A87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="" xmlns:a16="http://schemas.microsoft.com/office/drawing/2014/main" id="{68F6BF51-4CDA-4BED-AE11-02B726B31B49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="" xmlns:a16="http://schemas.microsoft.com/office/drawing/2014/main" id="{6DD7BF4B-D64D-4A35-9494-5FC95CA77FDF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="" xmlns:a16="http://schemas.microsoft.com/office/drawing/2014/main" id="{F8DA7F8A-457C-4EE8-BB34-3082DC88D4D2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9429295" y="3840163"/>
            <a:ext cx="7261580" cy="1239798"/>
            <a:chOff x="9746073" y="6253036"/>
            <a:chExt cx="7261580" cy="1239798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C76D195-ABB2-4B96-99F3-F67F972F2C23}"/>
                </a:ext>
              </a:extLst>
            </p:cNvPr>
            <p:cNvSpPr txBox="1"/>
            <p:nvPr/>
          </p:nvSpPr>
          <p:spPr>
            <a:xfrm>
              <a:off x="9746073" y="6253036"/>
              <a:ext cx="2232662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Собственный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5BD4F65F-3521-4486-B508-914E83E4BAB9}"/>
                </a:ext>
              </a:extLst>
            </p:cNvPr>
            <p:cNvSpPr txBox="1"/>
            <p:nvPr/>
          </p:nvSpPr>
          <p:spPr>
            <a:xfrm>
              <a:off x="11685459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DD361E8C-6696-4672-8653-CCBFAB694452}"/>
                </a:ext>
              </a:extLst>
            </p:cNvPr>
            <p:cNvSpPr txBox="1"/>
            <p:nvPr/>
          </p:nvSpPr>
          <p:spPr>
            <a:xfrm>
              <a:off x="12113513" y="6253036"/>
              <a:ext cx="112204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резер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5E17A4AE-CBE5-40DE-A07C-95F1B68F2885}"/>
                </a:ext>
              </a:extLst>
            </p:cNvPr>
            <p:cNvSpPr txBox="1"/>
            <p:nvPr/>
          </p:nvSpPr>
          <p:spPr>
            <a:xfrm>
              <a:off x="12959999" y="6253036"/>
              <a:ext cx="44210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660A8699-AB64-47EF-86CB-28306E484F6B}"/>
                </a:ext>
              </a:extLst>
            </p:cNvPr>
            <p:cNvSpPr txBox="1"/>
            <p:nvPr/>
          </p:nvSpPr>
          <p:spPr>
            <a:xfrm>
              <a:off x="13122782" y="6253036"/>
              <a:ext cx="138307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уарный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93E15C4-6EE6-4E1C-B0B9-2093B0EF1AC2}"/>
                </a:ext>
              </a:extLst>
            </p:cNvPr>
            <p:cNvSpPr txBox="1"/>
            <p:nvPr/>
          </p:nvSpPr>
          <p:spPr>
            <a:xfrm>
              <a:off x="14219394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5C27A0D9-664A-4199-8F51-C9FE39676626}"/>
                </a:ext>
              </a:extLst>
            </p:cNvPr>
            <p:cNvSpPr txBox="1"/>
            <p:nvPr/>
          </p:nvSpPr>
          <p:spPr>
            <a:xfrm>
              <a:off x="14647448" y="6253036"/>
              <a:ext cx="9601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парк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41249ECE-1EBB-41E3-A533-F38AF5124797}"/>
                </a:ext>
              </a:extLst>
            </p:cNvPr>
            <p:cNvSpPr txBox="1"/>
            <p:nvPr/>
          </p:nvSpPr>
          <p:spPr>
            <a:xfrm>
              <a:off x="15329438" y="6253036"/>
              <a:ext cx="708720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275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EAE640D6-8618-4A91-B2E3-8C3F3C9DEE59}"/>
                </a:ext>
              </a:extLst>
            </p:cNvPr>
            <p:cNvSpPr txBox="1"/>
            <p:nvPr/>
          </p:nvSpPr>
          <p:spPr>
            <a:xfrm>
              <a:off x="15757491" y="6253036"/>
              <a:ext cx="12268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сырья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7C2382E2-6093-43DC-9218-5A621B487E7D}"/>
                </a:ext>
              </a:extLst>
            </p:cNvPr>
            <p:cNvSpPr txBox="1"/>
            <p:nvPr/>
          </p:nvSpPr>
          <p:spPr>
            <a:xfrm>
              <a:off x="9746073" y="6595936"/>
              <a:ext cx="397225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7C8FDBF8-AE29-4E2A-86F3-42B58052019D}"/>
                </a:ext>
              </a:extLst>
            </p:cNvPr>
            <p:cNvSpPr txBox="1"/>
            <p:nvPr/>
          </p:nvSpPr>
          <p:spPr>
            <a:xfrm>
              <a:off x="9863421" y="6595936"/>
              <a:ext cx="1294906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аранти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A5DAD387-D2AD-45F7-8F68-5C9403D977E1}"/>
                </a:ext>
              </a:extLst>
            </p:cNvPr>
            <p:cNvSpPr txBox="1"/>
            <p:nvPr/>
          </p:nvSpPr>
          <p:spPr>
            <a:xfrm>
              <a:off x="10873549" y="6595936"/>
              <a:ext cx="455294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6AAF8E6B-8F68-4E6A-902E-BD9291D04539}"/>
                </a:ext>
              </a:extLst>
            </p:cNvPr>
            <p:cNvSpPr txBox="1"/>
            <p:nvPr/>
          </p:nvSpPr>
          <p:spPr>
            <a:xfrm>
              <a:off x="11051189" y="6595936"/>
              <a:ext cx="42672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051C54D7-CEB5-4329-B7F2-39B50C325941}"/>
                </a:ext>
              </a:extLst>
            </p:cNvPr>
            <p:cNvSpPr txBox="1"/>
            <p:nvPr/>
          </p:nvSpPr>
          <p:spPr>
            <a:xfrm>
              <a:off x="11202921" y="6595936"/>
              <a:ext cx="4457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E9C470C2-D3A0-49F1-A919-5ABA1BA1F917}"/>
                </a:ext>
              </a:extLst>
            </p:cNvPr>
            <p:cNvSpPr txBox="1"/>
            <p:nvPr/>
          </p:nvSpPr>
          <p:spPr>
            <a:xfrm>
              <a:off x="11372181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23AACE46-FAFA-4A2E-B1AB-0C0BE2903A3D}"/>
                </a:ext>
              </a:extLst>
            </p:cNvPr>
            <p:cNvSpPr txBox="1"/>
            <p:nvPr/>
          </p:nvSpPr>
          <p:spPr>
            <a:xfrm>
              <a:off x="11504960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E0F0AA0A-BCD9-4FBF-BFD2-D71DA7B8F576}"/>
                </a:ext>
              </a:extLst>
            </p:cNvPr>
            <p:cNvSpPr txBox="1"/>
            <p:nvPr/>
          </p:nvSpPr>
          <p:spPr>
            <a:xfrm>
              <a:off x="11657741" y="6595936"/>
              <a:ext cx="165397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дистрибь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E8D7ED65-713B-42DC-82D9-64DD29E3F661}"/>
                </a:ext>
              </a:extLst>
            </p:cNvPr>
            <p:cNvSpPr txBox="1"/>
            <p:nvPr/>
          </p:nvSpPr>
          <p:spPr>
            <a:xfrm>
              <a:off x="13021530" y="6595936"/>
              <a:ext cx="5219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ю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FD4027CE-9A18-416C-BB5E-3A08004107D2}"/>
                </a:ext>
              </a:extLst>
            </p:cNvPr>
            <p:cNvSpPr txBox="1"/>
            <p:nvPr/>
          </p:nvSpPr>
          <p:spPr>
            <a:xfrm>
              <a:off x="13266417" y="6595936"/>
              <a:ext cx="407670" cy="556260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-27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F692C182-21AC-474D-BD00-CCDAB40A9CD3}"/>
                </a:ext>
              </a:extLst>
            </p:cNvPr>
            <p:cNvSpPr txBox="1"/>
            <p:nvPr/>
          </p:nvSpPr>
          <p:spPr>
            <a:xfrm>
              <a:off x="13395387" y="6595936"/>
              <a:ext cx="1040028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орам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1FB33362-01C7-4FF5-807F-12A073D4DAFE}"/>
                </a:ext>
              </a:extLst>
            </p:cNvPr>
            <p:cNvSpPr txBox="1"/>
            <p:nvPr/>
          </p:nvSpPr>
          <p:spPr>
            <a:xfrm>
              <a:off x="14152529" y="6595936"/>
              <a:ext cx="431721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spc="5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412B1069-2584-4657-80FC-128A6913F422}"/>
                </a:ext>
              </a:extLst>
            </p:cNvPr>
            <p:cNvSpPr txBox="1"/>
            <p:nvPr/>
          </p:nvSpPr>
          <p:spPr>
            <a:xfrm>
              <a:off x="14305310" y="6595936"/>
              <a:ext cx="2702343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бесперебойные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AEE4CFF9-E755-4CCD-B073-4E2B9EBF8207}"/>
                </a:ext>
              </a:extLst>
            </p:cNvPr>
            <p:cNvSpPr txBox="1"/>
            <p:nvPr/>
          </p:nvSpPr>
          <p:spPr>
            <a:xfrm>
              <a:off x="9746073" y="6938836"/>
              <a:ext cx="1686039" cy="553998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7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</a:t>
              </a:r>
              <a:r>
                <a:rPr lang="ru-RU" sz="27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оставки.</a:t>
              </a:r>
              <a:endParaRPr lang="ru-RU" sz="27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sp>
        <p:nvSpPr>
          <p:cNvPr id="68" name="Полилиния: фигура 67">
            <a:extLst>
              <a:ext uri="{FF2B5EF4-FFF2-40B4-BE49-F238E27FC236}">
                <a16:creationId xmlns="" xmlns:a16="http://schemas.microsoft.com/office/drawing/2014/main" id="{0A26C659-6E44-4931-8759-D70A54D4174C}"/>
              </a:ext>
            </a:extLst>
          </p:cNvPr>
          <p:cNvSpPr/>
          <p:nvPr/>
        </p:nvSpPr>
        <p:spPr>
          <a:xfrm>
            <a:off x="106984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98301" y="407339"/>
            <a:ext cx="7586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9878" eaLnBrk="1" fontAlgn="auto" hangingPunct="1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СКЛАДСКОЙ КОМПЛЕКС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6643" y="7103375"/>
            <a:ext cx="73332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МЫ </a:t>
            </a:r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ВЫПОЛНЯЕМ ОБЯЗАТЕЛЬСТВА </a:t>
            </a:r>
          </a:p>
          <a:p>
            <a:r>
              <a:rPr lang="ru-RU" sz="3200" b="1" dirty="0" smtClean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НЕЗАВИСИМО </a:t>
            </a:r>
            <a:r>
              <a:rPr lang="ru-RU" sz="3200" b="1" dirty="0">
                <a:solidFill>
                  <a:srgbClr val="F18324"/>
                </a:solidFill>
                <a:latin typeface="Calibri"/>
                <a:ea typeface="Calibri"/>
                <a:cs typeface="Calibri"/>
                <a:rtl val="0"/>
              </a:rPr>
              <a:t>ОТ ВНЕШНИХ ФАКТОРОВ.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9858" y="1760561"/>
            <a:ext cx="70595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Автоматизированный</a:t>
            </a:r>
          </a:p>
          <a:p>
            <a:r>
              <a:rPr lang="ru-RU" sz="5600" b="1" dirty="0" smtClean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резервуарный </a:t>
            </a:r>
            <a:r>
              <a:rPr lang="ru-RU" sz="5600" b="1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rtl val="0"/>
              </a:rPr>
              <a:t>парк</a:t>
            </a:r>
          </a:p>
        </p:txBody>
      </p:sp>
    </p:spTree>
    <p:extLst>
      <p:ext uri="{BB962C8B-B14F-4D97-AF65-F5344CB8AC3E}">
        <p14:creationId xmlns:p14="http://schemas.microsoft.com/office/powerpoint/2010/main" val="166537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6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49830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 err="1">
                <a:latin typeface="+mn-lt"/>
              </a:rPr>
              <a:t>Дистрибуция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России</a:t>
            </a:r>
            <a:r>
              <a:rPr sz="3200" b="1" dirty="0">
                <a:latin typeface="+mn-lt"/>
              </a:rPr>
              <a:t> и </a:t>
            </a:r>
            <a:r>
              <a:rPr sz="3200" b="1" dirty="0" err="1">
                <a:latin typeface="+mn-lt"/>
              </a:rPr>
              <a:t>экспорт</a:t>
            </a:r>
            <a:r>
              <a:rPr sz="3200" b="1" dirty="0">
                <a:latin typeface="+mn-lt"/>
              </a:rPr>
              <a:t> в </a:t>
            </a:r>
            <a:r>
              <a:rPr sz="3200" b="1" dirty="0" err="1">
                <a:latin typeface="+mn-lt"/>
              </a:rPr>
              <a:t>страны</a:t>
            </a:r>
            <a:r>
              <a:rPr sz="3200" b="1" dirty="0">
                <a:latin typeface="+mn-lt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 dirty="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758833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&gt;150</a:t>
            </a:r>
            <a:endParaRPr lang="en-US" altLang="ru-RU" sz="9600" dirty="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в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России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и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за</a:t>
            </a:r>
            <a:r>
              <a:rPr lang="en-US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 </a:t>
            </a:r>
            <a:r>
              <a:rPr lang="en-US" altLang="ru-RU" sz="3200" b="1" spc="100" dirty="0" err="1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рубежом</a:t>
            </a:r>
            <a:endParaRPr lang="en-US" altLang="ru-RU" sz="3200" b="1" spc="100" dirty="0">
              <a:latin typeface="Proxima Nova Regular" panose="02000506030000020004" pitchFamily="2" charset="0"/>
              <a:ea typeface="Proxima Nova Bold" pitchFamily="34" charset="-122"/>
              <a:cs typeface="Proxima Nova Bold" pitchFamily="34" charset="-120"/>
            </a:endParaRPr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5265669"/>
            <a:ext cx="3314700" cy="56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РОДАЖИ</a:t>
            </a:r>
            <a:endParaRPr lang="en-US" altLang="ru-RU" sz="28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9874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3200" b="1" spc="100" dirty="0" smtClean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федеральных </a:t>
            </a:r>
            <a:r>
              <a:rPr lang="ru-RU" altLang="ru-RU" sz="3200" b="1" spc="100" dirty="0"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19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13406" y="4335580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&gt;</a:t>
            </a:r>
            <a:r>
              <a:rPr lang="ru-RU" altLang="ru-RU" sz="96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40</a:t>
            </a:r>
            <a:endParaRPr lang="en-US" altLang="ru-RU" sz="9600" dirty="0"/>
          </a:p>
        </p:txBody>
      </p:sp>
      <p:sp>
        <p:nvSpPr>
          <p:cNvPr id="20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736" y="3924305"/>
            <a:ext cx="4358149" cy="4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П</a:t>
            </a:r>
            <a:r>
              <a:rPr lang="ru-RU" altLang="ru-RU" sz="2800" dirty="0" smtClean="0">
                <a:solidFill>
                  <a:srgbClr val="FFFFFF"/>
                </a:solidFill>
                <a:latin typeface="Inter Extra Bold" panose="02000903000000020004" pitchFamily="2" charset="0"/>
              </a:rPr>
              <a:t>РЕДСТАВЛЕННОСТЬ</a:t>
            </a:r>
            <a:endParaRPr lang="en-US" altLang="ru-RU" sz="4400" dirty="0">
              <a:solidFill>
                <a:srgbClr val="FFFFFF"/>
              </a:solidFill>
              <a:latin typeface="Inter Extra Bold" panose="020009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49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ГЕОГРАФИЯ БИЗНЕСА</a:t>
            </a:r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967141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 b="1" dirty="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 b="1" dirty="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  <p:sp>
        <p:nvSpPr>
          <p:cNvPr id="43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4192433" y="3706648"/>
            <a:ext cx="2642394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00" b="1" kern="0" spc="300" dirty="0" smtClean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693921"/>
            <a:ext cx="16848000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9600" b="1" dirty="0" smtClean="0">
                <a:solidFill>
                  <a:srgbClr val="F47629"/>
                </a:solidFill>
                <a:latin typeface="+mn-lt"/>
              </a:rPr>
              <a:t>ПОРТФОЛИО</a:t>
            </a:r>
            <a:endParaRPr lang="en-US" sz="9600" b="1" dirty="0">
              <a:solidFill>
                <a:srgbClr val="F47629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4750" y="5227976"/>
            <a:ext cx="1684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 err="1">
                <a:latin typeface="+mn-lt"/>
              </a:rPr>
              <a:t>Реальные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кейсы</a:t>
            </a:r>
            <a:r>
              <a:rPr sz="4000" b="1" dirty="0">
                <a:latin typeface="+mn-lt"/>
              </a:rPr>
              <a:t> и </a:t>
            </a:r>
            <a:r>
              <a:rPr sz="4000" b="1" dirty="0" err="1">
                <a:latin typeface="+mn-lt"/>
              </a:rPr>
              <a:t>промышленные</a:t>
            </a:r>
            <a:r>
              <a:rPr sz="4000" b="1" dirty="0">
                <a:latin typeface="+mn-lt"/>
              </a:rPr>
              <a:t> </a:t>
            </a:r>
            <a:r>
              <a:rPr sz="4000" b="1" dirty="0" err="1">
                <a:latin typeface="+mn-lt"/>
              </a:rPr>
              <a:t>партнёры</a:t>
            </a:r>
            <a:endParaRPr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50" y="679602"/>
            <a:ext cx="4945063" cy="695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ПРОДУКЦИЯ</a:t>
            </a: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482121"/>
              </p:ext>
            </p:extLst>
          </p:nvPr>
        </p:nvGraphicFramePr>
        <p:xfrm>
          <a:off x="14295438" y="79630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9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79630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609" name="Picture 12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1864410"/>
            <a:ext cx="16298863" cy="8128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047750"/>
            <a:ext cx="4931683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4548329"/>
              </p:ext>
            </p:extLst>
          </p:nvPr>
        </p:nvGraphicFramePr>
        <p:xfrm>
          <a:off x="14295438" y="93506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24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3506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3492501"/>
            <a:ext cx="8254855" cy="530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899" y="3492500"/>
            <a:ext cx="8671001" cy="532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38150" y="550863"/>
            <a:ext cx="5492750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algn="l" eaLnBrk="1" hangingPunct="1">
              <a:spcBef>
                <a:spcPts val="138"/>
              </a:spcBef>
            </a:pPr>
            <a:r>
              <a:rPr lang="ru-RU" alt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КЕЙСЫ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6613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152436"/>
              </p:ext>
            </p:extLst>
          </p:nvPr>
        </p:nvGraphicFramePr>
        <p:xfrm>
          <a:off x="14295438" y="10033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47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10033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95678" y="563563"/>
            <a:ext cx="7046521" cy="137228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400" dirty="0">
                <a:solidFill>
                  <a:srgbClr val="656565"/>
                </a:solidFill>
                <a:latin typeface="Inter Extra Bold" panose="02000903000000020004" pitchFamily="2" charset="0"/>
                <a:ea typeface="+mn-ea"/>
                <a:cs typeface="Arial" panose="020B0604020202020204" pitchFamily="34" charset="0"/>
              </a:rPr>
              <a:t>ПРОМЫШЛЕННЫЕ ПАРТНЕРЫ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0199" y="3902023"/>
            <a:ext cx="858281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2100" y="3914723"/>
            <a:ext cx="8674100" cy="5207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3305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137859"/>
            <a:ext cx="16848000" cy="415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9422856"/>
              </p:ext>
            </p:extLst>
          </p:nvPr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802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016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Livvic"/>
                        </a:rPr>
                        <a:t>ПРЕМИУМ</a:t>
                      </a: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Livvic"/>
                        </a:rPr>
                        <a:t>СРЕДНИЙ +</a:t>
                      </a: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Livvic"/>
                        </a:rPr>
                        <a:t>ЭКОНОМ</a:t>
                      </a: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Livvic"/>
                        </a:rPr>
                        <a:t>СУБЭКОНОМ</a:t>
                      </a: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078369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09754"/>
            <a:ext cx="2305050" cy="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624307"/>
            <a:ext cx="2305050" cy="38100"/>
          </a:xfrm>
          <a:prstGeom prst="line">
            <a:avLst/>
          </a:prstGeom>
          <a:ln w="2159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843936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5164507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sym typeface="Livvic"/>
              </a:rPr>
              <a:t>ВОДНЫЕ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7335282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 dirty="0">
                <a:solidFill>
                  <a:schemeClr val="bg1">
                    <a:lumMod val="50000"/>
                  </a:schemeClr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6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658" y="5183544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8" y="3626762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8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51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95515"/>
              </p:ext>
            </p:extLst>
          </p:nvPr>
        </p:nvGraphicFramePr>
        <p:xfrm>
          <a:off x="10306833" y="2153006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6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6833" y="2153006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0645" y="3708756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262" y="5108931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308" y="2680056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5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12593593" y="3705214"/>
            <a:ext cx="2133600" cy="1127125"/>
            <a:chOff x="2695140" y="3445895"/>
            <a:chExt cx="1436370" cy="758825"/>
          </a:xfrm>
        </p:grpSpPr>
        <p:sp>
          <p:nvSpPr>
            <p:cNvPr id="46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47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48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52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54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1975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Рисунок 4">
            <a:extLst>
              <a:ext uri="{FF2B5EF4-FFF2-40B4-BE49-F238E27FC236}">
                <a16:creationId xmlns="" xmlns:a16="http://schemas.microsoft.com/office/drawing/2014/main" id="{BE4E25F9-2EF8-451B-BEC3-EFB632CD6205}"/>
              </a:ext>
            </a:extLst>
          </p:cNvPr>
          <p:cNvGrpSpPr/>
          <p:nvPr/>
        </p:nvGrpSpPr>
        <p:grpSpPr>
          <a:xfrm>
            <a:off x="13979886" y="7576799"/>
            <a:ext cx="4051649" cy="1890807"/>
            <a:chOff x="6384036" y="4432490"/>
            <a:chExt cx="2701099" cy="1260538"/>
          </a:xfrm>
        </p:grpSpPr>
        <p:sp>
          <p:nvSpPr>
            <p:cNvPr id="57" name="Полилиния: фигура 56">
              <a:extLst>
                <a:ext uri="{FF2B5EF4-FFF2-40B4-BE49-F238E27FC236}">
                  <a16:creationId xmlns="" xmlns:a16="http://schemas.microsoft.com/office/drawing/2014/main" id="{D43444B5-CAFD-4297-A160-7CECF25C95CD}"/>
                </a:ext>
              </a:extLst>
            </p:cNvPr>
            <p:cNvSpPr/>
            <p:nvPr/>
          </p:nvSpPr>
          <p:spPr>
            <a:xfrm>
              <a:off x="6503253" y="4558929"/>
              <a:ext cx="2046985" cy="223647"/>
            </a:xfrm>
            <a:custGeom>
              <a:avLst/>
              <a:gdLst>
                <a:gd name="connsiteX0" fmla="*/ 1412177 w 1488376"/>
                <a:gd name="connsiteY0" fmla="*/ 0 h 223647"/>
                <a:gd name="connsiteX1" fmla="*/ 1488377 w 1488376"/>
                <a:gd name="connsiteY1" fmla="*/ 76200 h 223647"/>
                <a:gd name="connsiteX2" fmla="*/ 1488377 w 1488376"/>
                <a:gd name="connsiteY2" fmla="*/ 147447 h 223647"/>
                <a:gd name="connsiteX3" fmla="*/ 1412177 w 1488376"/>
                <a:gd name="connsiteY3" fmla="*/ 223647 h 223647"/>
                <a:gd name="connsiteX4" fmla="*/ 76200 w 1488376"/>
                <a:gd name="connsiteY4" fmla="*/ 223647 h 223647"/>
                <a:gd name="connsiteX5" fmla="*/ 0 w 1488376"/>
                <a:gd name="connsiteY5" fmla="*/ 147447 h 223647"/>
                <a:gd name="connsiteX6" fmla="*/ 0 w 1488376"/>
                <a:gd name="connsiteY6" fmla="*/ 76200 h 223647"/>
                <a:gd name="connsiteX7" fmla="*/ 76200 w 1488376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8376" h="223647">
                  <a:moveTo>
                    <a:pt x="1412177" y="0"/>
                  </a:moveTo>
                  <a:cubicBezTo>
                    <a:pt x="1454261" y="0"/>
                    <a:pt x="1488377" y="34116"/>
                    <a:pt x="1488377" y="76200"/>
                  </a:cubicBezTo>
                  <a:lnTo>
                    <a:pt x="1488377" y="147447"/>
                  </a:lnTo>
                  <a:cubicBezTo>
                    <a:pt x="1488377" y="189531"/>
                    <a:pt x="1454261" y="223647"/>
                    <a:pt x="1412177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5EB125BD-99AB-4BA8-91A5-04F6F55FA859}"/>
                </a:ext>
              </a:extLst>
            </p:cNvPr>
            <p:cNvGrpSpPr/>
            <p:nvPr/>
          </p:nvGrpSpPr>
          <p:grpSpPr>
            <a:xfrm>
              <a:off x="6384036" y="4432490"/>
              <a:ext cx="2701099" cy="1260538"/>
              <a:chOff x="6384036" y="4432490"/>
              <a:chExt cx="2701099" cy="1260538"/>
            </a:xfrm>
          </p:grpSpPr>
          <p:sp>
            <p:nvSpPr>
              <p:cNvPr id="78" name="TextBox 77">
                <a:extLst>
                  <a:ext uri="{FF2B5EF4-FFF2-40B4-BE49-F238E27FC236}">
                    <a16:creationId xmlns="" xmlns:a16="http://schemas.microsoft.com/office/drawing/2014/main" id="{933A14B2-A479-4390-AB74-541BE9EF1C6F}"/>
                  </a:ext>
                </a:extLst>
              </p:cNvPr>
              <p:cNvSpPr txBox="1"/>
              <p:nvPr/>
            </p:nvSpPr>
            <p:spPr>
              <a:xfrm>
                <a:off x="8415909" y="4771517"/>
                <a:ext cx="160600" cy="20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1400" spc="126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 </a:t>
                </a:r>
              </a:p>
            </p:txBody>
          </p:sp>
          <p:sp>
            <p:nvSpPr>
              <p:cNvPr id="104" name="Полилиния: фигура 103">
                <a:extLst>
                  <a:ext uri="{FF2B5EF4-FFF2-40B4-BE49-F238E27FC236}">
                    <a16:creationId xmlns="" xmlns:a16="http://schemas.microsoft.com/office/drawing/2014/main" id="{091F0C23-7CEB-4823-A46F-63FD565C25EC}"/>
                  </a:ext>
                </a:extLst>
              </p:cNvPr>
              <p:cNvSpPr/>
              <p:nvPr/>
            </p:nvSpPr>
            <p:spPr>
              <a:xfrm>
                <a:off x="6384036" y="4432490"/>
                <a:ext cx="2701099" cy="1260538"/>
              </a:xfrm>
              <a:custGeom>
                <a:avLst/>
                <a:gdLst>
                  <a:gd name="connsiteX0" fmla="*/ 2624900 w 2701099"/>
                  <a:gd name="connsiteY0" fmla="*/ 0 h 1260538"/>
                  <a:gd name="connsiteX1" fmla="*/ 2701100 w 2701099"/>
                  <a:gd name="connsiteY1" fmla="*/ 76200 h 1260538"/>
                  <a:gd name="connsiteX2" fmla="*/ 2701100 w 2701099"/>
                  <a:gd name="connsiteY2" fmla="*/ 1184339 h 1260538"/>
                  <a:gd name="connsiteX3" fmla="*/ 2624900 w 2701099"/>
                  <a:gd name="connsiteY3" fmla="*/ 1260539 h 1260538"/>
                  <a:gd name="connsiteX4" fmla="*/ 76200 w 2701099"/>
                  <a:gd name="connsiteY4" fmla="*/ 1260539 h 1260538"/>
                  <a:gd name="connsiteX5" fmla="*/ 0 w 2701099"/>
                  <a:gd name="connsiteY5" fmla="*/ 1184339 h 1260538"/>
                  <a:gd name="connsiteX6" fmla="*/ 0 w 2701099"/>
                  <a:gd name="connsiteY6" fmla="*/ 76200 h 1260538"/>
                  <a:gd name="connsiteX7" fmla="*/ 76200 w 2701099"/>
                  <a:gd name="connsiteY7" fmla="*/ 0 h 1260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01099" h="1260538">
                    <a:moveTo>
                      <a:pt x="2624900" y="0"/>
                    </a:moveTo>
                    <a:cubicBezTo>
                      <a:pt x="2666984" y="0"/>
                      <a:pt x="2701100" y="34116"/>
                      <a:pt x="2701100" y="76200"/>
                    </a:cubicBezTo>
                    <a:lnTo>
                      <a:pt x="2701100" y="1184339"/>
                    </a:lnTo>
                    <a:cubicBezTo>
                      <a:pt x="2701100" y="1226423"/>
                      <a:pt x="2666984" y="1260539"/>
                      <a:pt x="2624900" y="1260539"/>
                    </a:cubicBezTo>
                    <a:lnTo>
                      <a:pt x="76200" y="1260539"/>
                    </a:lnTo>
                    <a:cubicBezTo>
                      <a:pt x="34116" y="1260539"/>
                      <a:pt x="0" y="1226423"/>
                      <a:pt x="0" y="1184339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12700" cap="flat">
                <a:solidFill>
                  <a:srgbClr val="FF83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05" name="Рисунок 4">
            <a:extLst>
              <a:ext uri="{FF2B5EF4-FFF2-40B4-BE49-F238E27FC236}">
                <a16:creationId xmlns="" xmlns:a16="http://schemas.microsoft.com/office/drawing/2014/main" id="{B9282743-4529-4C74-AE6C-151B290EF7CB}"/>
              </a:ext>
            </a:extLst>
          </p:cNvPr>
          <p:cNvGrpSpPr/>
          <p:nvPr/>
        </p:nvGrpSpPr>
        <p:grpSpPr>
          <a:xfrm>
            <a:off x="9695605" y="7576799"/>
            <a:ext cx="4051652" cy="1890807"/>
            <a:chOff x="3521455" y="4432490"/>
            <a:chExt cx="2701099" cy="1260538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="" xmlns:a16="http://schemas.microsoft.com/office/drawing/2014/main" id="{DEEEDAF6-85B8-400C-AE32-35154050B356}"/>
                </a:ext>
              </a:extLst>
            </p:cNvPr>
            <p:cNvSpPr/>
            <p:nvPr/>
          </p:nvSpPr>
          <p:spPr>
            <a:xfrm>
              <a:off x="3654932" y="4570158"/>
              <a:ext cx="2070227" cy="223647"/>
            </a:xfrm>
            <a:custGeom>
              <a:avLst/>
              <a:gdLst>
                <a:gd name="connsiteX0" fmla="*/ 1072198 w 1148397"/>
                <a:gd name="connsiteY0" fmla="*/ 0 h 223647"/>
                <a:gd name="connsiteX1" fmla="*/ 1148398 w 1148397"/>
                <a:gd name="connsiteY1" fmla="*/ 76200 h 223647"/>
                <a:gd name="connsiteX2" fmla="*/ 1148398 w 1148397"/>
                <a:gd name="connsiteY2" fmla="*/ 147447 h 223647"/>
                <a:gd name="connsiteX3" fmla="*/ 1072198 w 1148397"/>
                <a:gd name="connsiteY3" fmla="*/ 223647 h 223647"/>
                <a:gd name="connsiteX4" fmla="*/ 76200 w 1148397"/>
                <a:gd name="connsiteY4" fmla="*/ 223647 h 223647"/>
                <a:gd name="connsiteX5" fmla="*/ 0 w 1148397"/>
                <a:gd name="connsiteY5" fmla="*/ 147447 h 223647"/>
                <a:gd name="connsiteX6" fmla="*/ 0 w 1148397"/>
                <a:gd name="connsiteY6" fmla="*/ 76200 h 223647"/>
                <a:gd name="connsiteX7" fmla="*/ 76200 w 1148397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8397" h="223647">
                  <a:moveTo>
                    <a:pt x="1072198" y="0"/>
                  </a:moveTo>
                  <a:cubicBezTo>
                    <a:pt x="1114282" y="0"/>
                    <a:pt x="1148398" y="34116"/>
                    <a:pt x="1148398" y="76200"/>
                  </a:cubicBezTo>
                  <a:lnTo>
                    <a:pt x="1148398" y="147447"/>
                  </a:lnTo>
                  <a:cubicBezTo>
                    <a:pt x="1148398" y="189531"/>
                    <a:pt x="1114282" y="223647"/>
                    <a:pt x="1072198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="" xmlns:a16="http://schemas.microsoft.com/office/drawing/2014/main" id="{1C371174-68A7-4133-AF6A-6735A1699546}"/>
                </a:ext>
              </a:extLst>
            </p:cNvPr>
            <p:cNvSpPr txBox="1"/>
            <p:nvPr/>
          </p:nvSpPr>
          <p:spPr>
            <a:xfrm>
              <a:off x="4168140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="" xmlns:a16="http://schemas.microsoft.com/office/drawing/2014/main" id="{FD69B804-7C6D-40B9-9DDC-914122ADA718}"/>
                </a:ext>
              </a:extLst>
            </p:cNvPr>
            <p:cNvSpPr txBox="1"/>
            <p:nvPr/>
          </p:nvSpPr>
          <p:spPr>
            <a:xfrm>
              <a:off x="4766691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="" xmlns:a16="http://schemas.microsoft.com/office/drawing/2014/main" id="{9627B337-CBC2-49CD-A636-8B012D8BA7C4}"/>
                </a:ext>
              </a:extLst>
            </p:cNvPr>
            <p:cNvSpPr txBox="1"/>
            <p:nvPr/>
          </p:nvSpPr>
          <p:spPr>
            <a:xfrm>
              <a:off x="4861877" y="4755451"/>
              <a:ext cx="15461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5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="" xmlns:a16="http://schemas.microsoft.com/office/drawing/2014/main" id="{5C283233-D4D6-400A-AB63-A0CAC5C67BDD}"/>
                </a:ext>
              </a:extLst>
            </p:cNvPr>
            <p:cNvSpPr txBox="1"/>
            <p:nvPr/>
          </p:nvSpPr>
          <p:spPr>
            <a:xfrm>
              <a:off x="3597084" y="5151993"/>
              <a:ext cx="1626941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Шпатлевки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Грунтовки</a:t>
              </a:r>
            </a:p>
            <a:p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Краски-базы под колеровку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158" name="Полилиния: фигура 157">
              <a:extLst>
                <a:ext uri="{FF2B5EF4-FFF2-40B4-BE49-F238E27FC236}">
                  <a16:creationId xmlns="" xmlns:a16="http://schemas.microsoft.com/office/drawing/2014/main" id="{ED116280-2942-4457-A513-0CC9A8D226DA}"/>
                </a:ext>
              </a:extLst>
            </p:cNvPr>
            <p:cNvSpPr/>
            <p:nvPr/>
          </p:nvSpPr>
          <p:spPr>
            <a:xfrm>
              <a:off x="3521455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9" name="Рисунок 4">
            <a:extLst>
              <a:ext uri="{FF2B5EF4-FFF2-40B4-BE49-F238E27FC236}">
                <a16:creationId xmlns="" xmlns:a16="http://schemas.microsoft.com/office/drawing/2014/main" id="{67F3703C-A3E1-4E53-9D3A-5DDC07F98388}"/>
              </a:ext>
            </a:extLst>
          </p:cNvPr>
          <p:cNvGrpSpPr/>
          <p:nvPr/>
        </p:nvGrpSpPr>
        <p:grpSpPr>
          <a:xfrm>
            <a:off x="5396483" y="5387954"/>
            <a:ext cx="4051649" cy="1890807"/>
            <a:chOff x="3521455" y="2973260"/>
            <a:chExt cx="2701099" cy="1260538"/>
          </a:xfrm>
        </p:grpSpPr>
        <p:sp>
          <p:nvSpPr>
            <p:cNvPr id="160" name="Полилиния: фигура 159">
              <a:extLst>
                <a:ext uri="{FF2B5EF4-FFF2-40B4-BE49-F238E27FC236}">
                  <a16:creationId xmlns="" xmlns:a16="http://schemas.microsoft.com/office/drawing/2014/main" id="{04DF00A9-BF71-4D75-99D5-B2F669344355}"/>
                </a:ext>
              </a:extLst>
            </p:cNvPr>
            <p:cNvSpPr/>
            <p:nvPr/>
          </p:nvSpPr>
          <p:spPr>
            <a:xfrm>
              <a:off x="3643884" y="3054210"/>
              <a:ext cx="2099012" cy="223646"/>
            </a:xfrm>
            <a:custGeom>
              <a:avLst/>
              <a:gdLst>
                <a:gd name="connsiteX0" fmla="*/ 749173 w 825373"/>
                <a:gd name="connsiteY0" fmla="*/ 0 h 223646"/>
                <a:gd name="connsiteX1" fmla="*/ 825373 w 825373"/>
                <a:gd name="connsiteY1" fmla="*/ 76200 h 223646"/>
                <a:gd name="connsiteX2" fmla="*/ 825373 w 825373"/>
                <a:gd name="connsiteY2" fmla="*/ 147447 h 223646"/>
                <a:gd name="connsiteX3" fmla="*/ 749173 w 825373"/>
                <a:gd name="connsiteY3" fmla="*/ 223647 h 223646"/>
                <a:gd name="connsiteX4" fmla="*/ 76200 w 825373"/>
                <a:gd name="connsiteY4" fmla="*/ 223647 h 223646"/>
                <a:gd name="connsiteX5" fmla="*/ 0 w 825373"/>
                <a:gd name="connsiteY5" fmla="*/ 147447 h 223646"/>
                <a:gd name="connsiteX6" fmla="*/ 0 w 825373"/>
                <a:gd name="connsiteY6" fmla="*/ 76200 h 223646"/>
                <a:gd name="connsiteX7" fmla="*/ 76200 w 825373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5373" h="223646">
                  <a:moveTo>
                    <a:pt x="749173" y="0"/>
                  </a:moveTo>
                  <a:cubicBezTo>
                    <a:pt x="791257" y="0"/>
                    <a:pt x="825373" y="34116"/>
                    <a:pt x="825373" y="76200"/>
                  </a:cubicBezTo>
                  <a:lnTo>
                    <a:pt x="825373" y="147447"/>
                  </a:lnTo>
                  <a:cubicBezTo>
                    <a:pt x="825373" y="189531"/>
                    <a:pt x="791257" y="223647"/>
                    <a:pt x="749173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6EF6ED7F-DCFF-4EBD-900B-AFBD6A530C1A}"/>
                </a:ext>
              </a:extLst>
            </p:cNvPr>
            <p:cNvSpPr txBox="1"/>
            <p:nvPr/>
          </p:nvSpPr>
          <p:spPr>
            <a:xfrm>
              <a:off x="397694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="" xmlns:a16="http://schemas.microsoft.com/office/drawing/2014/main" id="{11732A5D-03CD-4081-A785-A8437F2529C9}"/>
                </a:ext>
              </a:extLst>
            </p:cNvPr>
            <p:cNvSpPr txBox="1"/>
            <p:nvPr/>
          </p:nvSpPr>
          <p:spPr>
            <a:xfrm>
              <a:off x="479151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27" name="Полилиния: фигура 226">
              <a:extLst>
                <a:ext uri="{FF2B5EF4-FFF2-40B4-BE49-F238E27FC236}">
                  <a16:creationId xmlns="" xmlns:a16="http://schemas.microsoft.com/office/drawing/2014/main" id="{C9AAC3EA-CE24-4C89-8F58-B5BA61144E14}"/>
                </a:ext>
              </a:extLst>
            </p:cNvPr>
            <p:cNvSpPr/>
            <p:nvPr/>
          </p:nvSpPr>
          <p:spPr>
            <a:xfrm>
              <a:off x="3521455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8" name="Рисунок 4">
            <a:extLst>
              <a:ext uri="{FF2B5EF4-FFF2-40B4-BE49-F238E27FC236}">
                <a16:creationId xmlns="" xmlns:a16="http://schemas.microsoft.com/office/drawing/2014/main" id="{415E3862-3A91-4950-AC22-3F522EA1CC02}"/>
              </a:ext>
            </a:extLst>
          </p:cNvPr>
          <p:cNvGrpSpPr/>
          <p:nvPr/>
        </p:nvGrpSpPr>
        <p:grpSpPr>
          <a:xfrm>
            <a:off x="1102709" y="7576799"/>
            <a:ext cx="4051650" cy="1890807"/>
            <a:chOff x="658939" y="4432490"/>
            <a:chExt cx="2701099" cy="1260538"/>
          </a:xfrm>
        </p:grpSpPr>
        <p:sp>
          <p:nvSpPr>
            <p:cNvPr id="229" name="Полилиния: фигура 228">
              <a:extLst>
                <a:ext uri="{FF2B5EF4-FFF2-40B4-BE49-F238E27FC236}">
                  <a16:creationId xmlns="" xmlns:a16="http://schemas.microsoft.com/office/drawing/2014/main" id="{1FBE393A-FBED-4515-9012-6C44A0AB0996}"/>
                </a:ext>
              </a:extLst>
            </p:cNvPr>
            <p:cNvSpPr/>
            <p:nvPr/>
          </p:nvSpPr>
          <p:spPr>
            <a:xfrm>
              <a:off x="764159" y="4558930"/>
              <a:ext cx="1895518" cy="223647"/>
            </a:xfrm>
            <a:custGeom>
              <a:avLst/>
              <a:gdLst>
                <a:gd name="connsiteX0" fmla="*/ 650939 w 727138"/>
                <a:gd name="connsiteY0" fmla="*/ 0 h 223647"/>
                <a:gd name="connsiteX1" fmla="*/ 727139 w 727138"/>
                <a:gd name="connsiteY1" fmla="*/ 76200 h 223647"/>
                <a:gd name="connsiteX2" fmla="*/ 727139 w 727138"/>
                <a:gd name="connsiteY2" fmla="*/ 147447 h 223647"/>
                <a:gd name="connsiteX3" fmla="*/ 650939 w 727138"/>
                <a:gd name="connsiteY3" fmla="*/ 223647 h 223647"/>
                <a:gd name="connsiteX4" fmla="*/ 76200 w 727138"/>
                <a:gd name="connsiteY4" fmla="*/ 223647 h 223647"/>
                <a:gd name="connsiteX5" fmla="*/ 0 w 727138"/>
                <a:gd name="connsiteY5" fmla="*/ 147447 h 223647"/>
                <a:gd name="connsiteX6" fmla="*/ 0 w 727138"/>
                <a:gd name="connsiteY6" fmla="*/ 76200 h 223647"/>
                <a:gd name="connsiteX7" fmla="*/ 76200 w 727138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138" h="223647">
                  <a:moveTo>
                    <a:pt x="650939" y="0"/>
                  </a:moveTo>
                  <a:cubicBezTo>
                    <a:pt x="693023" y="0"/>
                    <a:pt x="727139" y="34116"/>
                    <a:pt x="727139" y="76200"/>
                  </a:cubicBezTo>
                  <a:lnTo>
                    <a:pt x="727139" y="147447"/>
                  </a:lnTo>
                  <a:cubicBezTo>
                    <a:pt x="727139" y="189531"/>
                    <a:pt x="693023" y="223647"/>
                    <a:pt x="65093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89846706-61BE-4BED-B75A-48B6B2D473FC}"/>
                </a:ext>
              </a:extLst>
            </p:cNvPr>
            <p:cNvSpPr txBox="1"/>
            <p:nvPr/>
          </p:nvSpPr>
          <p:spPr>
            <a:xfrm>
              <a:off x="821991" y="4483213"/>
              <a:ext cx="729858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TI</a:t>
              </a:r>
              <a:r>
                <a:rPr lang="en-US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TAN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0CBC5536-A0F0-47DA-9500-6A404255F4D6}"/>
                </a:ext>
              </a:extLst>
            </p:cNvPr>
            <p:cNvSpPr txBox="1"/>
            <p:nvPr/>
          </p:nvSpPr>
          <p:spPr>
            <a:xfrm>
              <a:off x="1294828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9BFF1D86-E078-48B1-BB83-AAE4D90D0490}"/>
                </a:ext>
              </a:extLst>
            </p:cNvPr>
            <p:cNvSpPr txBox="1"/>
            <p:nvPr/>
          </p:nvSpPr>
          <p:spPr>
            <a:xfrm>
              <a:off x="1930527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CF65F936-F08A-4689-94C7-C7D834B04DC2}"/>
                </a:ext>
              </a:extLst>
            </p:cNvPr>
            <p:cNvSpPr txBox="1"/>
            <p:nvPr/>
          </p:nvSpPr>
          <p:spPr>
            <a:xfrm>
              <a:off x="2690749" y="4771517"/>
              <a:ext cx="160600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26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91" name="Полилиния: фигура 290">
              <a:extLst>
                <a:ext uri="{FF2B5EF4-FFF2-40B4-BE49-F238E27FC236}">
                  <a16:creationId xmlns="" xmlns:a16="http://schemas.microsoft.com/office/drawing/2014/main" id="{12B364E8-4A63-4260-A552-689464629EED}"/>
                </a:ext>
              </a:extLst>
            </p:cNvPr>
            <p:cNvSpPr/>
            <p:nvPr/>
          </p:nvSpPr>
          <p:spPr>
            <a:xfrm>
              <a:off x="658939" y="443249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92" name="Рисунок 4">
            <a:extLst>
              <a:ext uri="{FF2B5EF4-FFF2-40B4-BE49-F238E27FC236}">
                <a16:creationId xmlns="" xmlns:a16="http://schemas.microsoft.com/office/drawing/2014/main" id="{9E34DBE8-FFC1-46AD-8193-B87CD2FDA6D0}"/>
              </a:ext>
            </a:extLst>
          </p:cNvPr>
          <p:cNvGrpSpPr/>
          <p:nvPr/>
        </p:nvGrpSpPr>
        <p:grpSpPr>
          <a:xfrm>
            <a:off x="5388125" y="7586372"/>
            <a:ext cx="4051649" cy="1890807"/>
            <a:chOff x="6384036" y="2973260"/>
            <a:chExt cx="2701099" cy="1260538"/>
          </a:xfrm>
        </p:grpSpPr>
        <p:sp>
          <p:nvSpPr>
            <p:cNvPr id="293" name="Полилиния: фигура 292">
              <a:extLst>
                <a:ext uri="{FF2B5EF4-FFF2-40B4-BE49-F238E27FC236}">
                  <a16:creationId xmlns="" xmlns:a16="http://schemas.microsoft.com/office/drawing/2014/main" id="{92343E09-B907-42A6-B9EA-A8F31058694F}"/>
                </a:ext>
              </a:extLst>
            </p:cNvPr>
            <p:cNvSpPr/>
            <p:nvPr/>
          </p:nvSpPr>
          <p:spPr>
            <a:xfrm>
              <a:off x="6521449" y="3044032"/>
              <a:ext cx="2055059" cy="223647"/>
            </a:xfrm>
            <a:custGeom>
              <a:avLst/>
              <a:gdLst>
                <a:gd name="connsiteX0" fmla="*/ 1322705 w 1398904"/>
                <a:gd name="connsiteY0" fmla="*/ 0 h 223647"/>
                <a:gd name="connsiteX1" fmla="*/ 1398905 w 1398904"/>
                <a:gd name="connsiteY1" fmla="*/ 76200 h 223647"/>
                <a:gd name="connsiteX2" fmla="*/ 1398905 w 1398904"/>
                <a:gd name="connsiteY2" fmla="*/ 147447 h 223647"/>
                <a:gd name="connsiteX3" fmla="*/ 1322705 w 1398904"/>
                <a:gd name="connsiteY3" fmla="*/ 223647 h 223647"/>
                <a:gd name="connsiteX4" fmla="*/ 76200 w 1398904"/>
                <a:gd name="connsiteY4" fmla="*/ 223647 h 223647"/>
                <a:gd name="connsiteX5" fmla="*/ 0 w 1398904"/>
                <a:gd name="connsiteY5" fmla="*/ 147447 h 223647"/>
                <a:gd name="connsiteX6" fmla="*/ 0 w 1398904"/>
                <a:gd name="connsiteY6" fmla="*/ 76200 h 223647"/>
                <a:gd name="connsiteX7" fmla="*/ 76200 w 139890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8904" h="223647">
                  <a:moveTo>
                    <a:pt x="1322705" y="0"/>
                  </a:moveTo>
                  <a:cubicBezTo>
                    <a:pt x="1364790" y="0"/>
                    <a:pt x="1398905" y="34116"/>
                    <a:pt x="1398905" y="76200"/>
                  </a:cubicBezTo>
                  <a:lnTo>
                    <a:pt x="1398905" y="147447"/>
                  </a:lnTo>
                  <a:cubicBezTo>
                    <a:pt x="1398905" y="189531"/>
                    <a:pt x="1364790" y="223647"/>
                    <a:pt x="1322705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0" name="Полилиния: фигура 329">
              <a:extLst>
                <a:ext uri="{FF2B5EF4-FFF2-40B4-BE49-F238E27FC236}">
                  <a16:creationId xmlns="" xmlns:a16="http://schemas.microsoft.com/office/drawing/2014/main" id="{4301C103-9EED-46D2-B04C-5F78BD297A9A}"/>
                </a:ext>
              </a:extLst>
            </p:cNvPr>
            <p:cNvSpPr/>
            <p:nvPr/>
          </p:nvSpPr>
          <p:spPr>
            <a:xfrm>
              <a:off x="6384036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31" name="Рисунок 4">
            <a:extLst>
              <a:ext uri="{FF2B5EF4-FFF2-40B4-BE49-F238E27FC236}">
                <a16:creationId xmlns="" xmlns:a16="http://schemas.microsoft.com/office/drawing/2014/main" id="{F5107B3D-915C-4087-93FE-B2BBCDA3A3B2}"/>
              </a:ext>
            </a:extLst>
          </p:cNvPr>
          <p:cNvGrpSpPr/>
          <p:nvPr/>
        </p:nvGrpSpPr>
        <p:grpSpPr>
          <a:xfrm>
            <a:off x="1102709" y="5387954"/>
            <a:ext cx="4051649" cy="1890807"/>
            <a:chOff x="658939" y="2973260"/>
            <a:chExt cx="2701099" cy="1260538"/>
          </a:xfrm>
        </p:grpSpPr>
        <p:sp>
          <p:nvSpPr>
            <p:cNvPr id="332" name="Полилиния: фигура 331">
              <a:extLst>
                <a:ext uri="{FF2B5EF4-FFF2-40B4-BE49-F238E27FC236}">
                  <a16:creationId xmlns="" xmlns:a16="http://schemas.microsoft.com/office/drawing/2014/main" id="{8A1A2CD5-88A7-47A3-B868-3E6F862428B4}"/>
                </a:ext>
              </a:extLst>
            </p:cNvPr>
            <p:cNvSpPr/>
            <p:nvPr/>
          </p:nvSpPr>
          <p:spPr>
            <a:xfrm>
              <a:off x="779018" y="3044031"/>
              <a:ext cx="1992030" cy="223647"/>
            </a:xfrm>
            <a:custGeom>
              <a:avLst/>
              <a:gdLst>
                <a:gd name="connsiteX0" fmla="*/ 955484 w 1031684"/>
                <a:gd name="connsiteY0" fmla="*/ 0 h 223647"/>
                <a:gd name="connsiteX1" fmla="*/ 1031684 w 1031684"/>
                <a:gd name="connsiteY1" fmla="*/ 76200 h 223647"/>
                <a:gd name="connsiteX2" fmla="*/ 1031684 w 1031684"/>
                <a:gd name="connsiteY2" fmla="*/ 147447 h 223647"/>
                <a:gd name="connsiteX3" fmla="*/ 955484 w 1031684"/>
                <a:gd name="connsiteY3" fmla="*/ 223647 h 223647"/>
                <a:gd name="connsiteX4" fmla="*/ 76200 w 1031684"/>
                <a:gd name="connsiteY4" fmla="*/ 223647 h 223647"/>
                <a:gd name="connsiteX5" fmla="*/ 0 w 1031684"/>
                <a:gd name="connsiteY5" fmla="*/ 147447 h 223647"/>
                <a:gd name="connsiteX6" fmla="*/ 0 w 1031684"/>
                <a:gd name="connsiteY6" fmla="*/ 76200 h 223647"/>
                <a:gd name="connsiteX7" fmla="*/ 76200 w 1031684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31684" h="223647">
                  <a:moveTo>
                    <a:pt x="955484" y="0"/>
                  </a:moveTo>
                  <a:cubicBezTo>
                    <a:pt x="997569" y="0"/>
                    <a:pt x="1031684" y="34116"/>
                    <a:pt x="1031684" y="76200"/>
                  </a:cubicBezTo>
                  <a:lnTo>
                    <a:pt x="1031684" y="147447"/>
                  </a:lnTo>
                  <a:cubicBezTo>
                    <a:pt x="1031684" y="189531"/>
                    <a:pt x="997569" y="223647"/>
                    <a:pt x="95548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1" name="TextBox 340">
              <a:extLst>
                <a:ext uri="{FF2B5EF4-FFF2-40B4-BE49-F238E27FC236}">
                  <a16:creationId xmlns="" xmlns:a16="http://schemas.microsoft.com/office/drawing/2014/main" id="{0981D7EF-9EC8-47C7-8914-D33A2D9FE49B}"/>
                </a:ext>
              </a:extLst>
            </p:cNvPr>
            <p:cNvSpPr txBox="1"/>
            <p:nvPr/>
          </p:nvSpPr>
          <p:spPr>
            <a:xfrm>
              <a:off x="1418399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="" xmlns:a16="http://schemas.microsoft.com/office/drawing/2014/main" id="{21A98982-4662-4EB2-AC84-C86F5073C938}"/>
                </a:ext>
              </a:extLst>
            </p:cNvPr>
            <p:cNvSpPr txBox="1"/>
            <p:nvPr/>
          </p:nvSpPr>
          <p:spPr>
            <a:xfrm>
              <a:off x="1682051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="" xmlns:a16="http://schemas.microsoft.com/office/drawing/2014/main" id="{91C89395-4C51-461D-B1EB-DF49527A85AE}"/>
                </a:ext>
              </a:extLst>
            </p:cNvPr>
            <p:cNvSpPr txBox="1"/>
            <p:nvPr/>
          </p:nvSpPr>
          <p:spPr>
            <a:xfrm>
              <a:off x="2104580" y="3312287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00" name="Полилиния: фигура 399">
              <a:extLst>
                <a:ext uri="{FF2B5EF4-FFF2-40B4-BE49-F238E27FC236}">
                  <a16:creationId xmlns="" xmlns:a16="http://schemas.microsoft.com/office/drawing/2014/main" id="{D30A7646-ADCF-447B-A8D3-58A854803F53}"/>
                </a:ext>
              </a:extLst>
            </p:cNvPr>
            <p:cNvSpPr/>
            <p:nvPr/>
          </p:nvSpPr>
          <p:spPr>
            <a:xfrm>
              <a:off x="658939" y="297326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01" name="Рисунок 4">
            <a:extLst>
              <a:ext uri="{FF2B5EF4-FFF2-40B4-BE49-F238E27FC236}">
                <a16:creationId xmlns="" xmlns:a16="http://schemas.microsoft.com/office/drawing/2014/main" id="{A46210DE-793F-4E90-B55E-79DF53E6EDA4}"/>
              </a:ext>
            </a:extLst>
          </p:cNvPr>
          <p:cNvGrpSpPr/>
          <p:nvPr/>
        </p:nvGrpSpPr>
        <p:grpSpPr>
          <a:xfrm>
            <a:off x="9690355" y="3199109"/>
            <a:ext cx="4051649" cy="1890807"/>
            <a:chOff x="6384036" y="1514030"/>
            <a:chExt cx="2701099" cy="1260538"/>
          </a:xfrm>
        </p:grpSpPr>
        <p:sp>
          <p:nvSpPr>
            <p:cNvPr id="402" name="Полилиния: фигура 401">
              <a:extLst>
                <a:ext uri="{FF2B5EF4-FFF2-40B4-BE49-F238E27FC236}">
                  <a16:creationId xmlns="" xmlns:a16="http://schemas.microsoft.com/office/drawing/2014/main" id="{6D6B87BD-7AE5-4E6B-9FA1-9B02DA887225}"/>
                </a:ext>
              </a:extLst>
            </p:cNvPr>
            <p:cNvSpPr/>
            <p:nvPr/>
          </p:nvSpPr>
          <p:spPr>
            <a:xfrm>
              <a:off x="6527609" y="1602992"/>
              <a:ext cx="1048321" cy="223647"/>
            </a:xfrm>
            <a:custGeom>
              <a:avLst/>
              <a:gdLst>
                <a:gd name="connsiteX0" fmla="*/ 972122 w 1048321"/>
                <a:gd name="connsiteY0" fmla="*/ 0 h 223647"/>
                <a:gd name="connsiteX1" fmla="*/ 1048322 w 1048321"/>
                <a:gd name="connsiteY1" fmla="*/ 76200 h 223647"/>
                <a:gd name="connsiteX2" fmla="*/ 1048322 w 1048321"/>
                <a:gd name="connsiteY2" fmla="*/ 147447 h 223647"/>
                <a:gd name="connsiteX3" fmla="*/ 972122 w 1048321"/>
                <a:gd name="connsiteY3" fmla="*/ 223647 h 223647"/>
                <a:gd name="connsiteX4" fmla="*/ 76201 w 1048321"/>
                <a:gd name="connsiteY4" fmla="*/ 223647 h 223647"/>
                <a:gd name="connsiteX5" fmla="*/ 1 w 1048321"/>
                <a:gd name="connsiteY5" fmla="*/ 147447 h 223647"/>
                <a:gd name="connsiteX6" fmla="*/ 1 w 1048321"/>
                <a:gd name="connsiteY6" fmla="*/ 76200 h 223647"/>
                <a:gd name="connsiteX7" fmla="*/ 76201 w 1048321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8321" h="223647">
                  <a:moveTo>
                    <a:pt x="972122" y="0"/>
                  </a:moveTo>
                  <a:cubicBezTo>
                    <a:pt x="1014206" y="0"/>
                    <a:pt x="1048322" y="34116"/>
                    <a:pt x="1048322" y="76200"/>
                  </a:cubicBezTo>
                  <a:lnTo>
                    <a:pt x="1048322" y="147447"/>
                  </a:lnTo>
                  <a:cubicBezTo>
                    <a:pt x="1048322" y="189531"/>
                    <a:pt x="1014206" y="223647"/>
                    <a:pt x="972122" y="223647"/>
                  </a:cubicBezTo>
                  <a:lnTo>
                    <a:pt x="76201" y="223647"/>
                  </a:lnTo>
                  <a:cubicBezTo>
                    <a:pt x="34116" y="223647"/>
                    <a:pt x="1" y="189531"/>
                    <a:pt x="1" y="147447"/>
                  </a:cubicBezTo>
                  <a:lnTo>
                    <a:pt x="1" y="76200"/>
                  </a:lnTo>
                  <a:cubicBezTo>
                    <a:pt x="1" y="34116"/>
                    <a:pt x="34116" y="0"/>
                    <a:pt x="76201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3" name="TextBox 402">
              <a:extLst>
                <a:ext uri="{FF2B5EF4-FFF2-40B4-BE49-F238E27FC236}">
                  <a16:creationId xmlns="" xmlns:a16="http://schemas.microsoft.com/office/drawing/2014/main" id="{E62BFC77-E70A-4966-BC8A-B6AC2D5C0A45}"/>
                </a:ext>
              </a:extLst>
            </p:cNvPr>
            <p:cNvSpPr txBox="1"/>
            <p:nvPr/>
          </p:nvSpPr>
          <p:spPr>
            <a:xfrm>
              <a:off x="6492486" y="1537460"/>
              <a:ext cx="1098805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ОПТИМА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="" xmlns:a16="http://schemas.microsoft.com/office/drawing/2014/main" id="{9381FD9D-AA3D-475C-BBC2-6510693BB325}"/>
                </a:ext>
              </a:extLst>
            </p:cNvPr>
            <p:cNvSpPr txBox="1"/>
            <p:nvPr/>
          </p:nvSpPr>
          <p:spPr>
            <a:xfrm>
              <a:off x="6955218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="" xmlns:a16="http://schemas.microsoft.com/office/drawing/2014/main" id="{38725366-580A-46DC-8924-0EB36176E8AA}"/>
                </a:ext>
              </a:extLst>
            </p:cNvPr>
            <p:cNvSpPr txBox="1"/>
            <p:nvPr/>
          </p:nvSpPr>
          <p:spPr>
            <a:xfrm>
              <a:off x="7865173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15" name="TextBox 414">
              <a:extLst>
                <a:ext uri="{FF2B5EF4-FFF2-40B4-BE49-F238E27FC236}">
                  <a16:creationId xmlns="" xmlns:a16="http://schemas.microsoft.com/office/drawing/2014/main" id="{81F10344-30E8-4CB8-B6E1-AD87FE8E6FA0}"/>
                </a:ext>
              </a:extLst>
            </p:cNvPr>
            <p:cNvSpPr txBox="1"/>
            <p:nvPr/>
          </p:nvSpPr>
          <p:spPr>
            <a:xfrm>
              <a:off x="8267636" y="1853057"/>
              <a:ext cx="173681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279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="" xmlns:a16="http://schemas.microsoft.com/office/drawing/2014/main" id="{B840BB47-7DE5-4295-8E2C-9220C65B41C8}"/>
                </a:ext>
              </a:extLst>
            </p:cNvPr>
            <p:cNvSpPr txBox="1"/>
            <p:nvPr/>
          </p:nvSpPr>
          <p:spPr>
            <a:xfrm>
              <a:off x="7101141" y="2129536"/>
              <a:ext cx="149828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62" name="Полилиния: фигура 461">
              <a:extLst>
                <a:ext uri="{FF2B5EF4-FFF2-40B4-BE49-F238E27FC236}">
                  <a16:creationId xmlns="" xmlns:a16="http://schemas.microsoft.com/office/drawing/2014/main" id="{439382A1-5782-464A-A50D-CA4D86EDB6BD}"/>
                </a:ext>
              </a:extLst>
            </p:cNvPr>
            <p:cNvSpPr/>
            <p:nvPr/>
          </p:nvSpPr>
          <p:spPr>
            <a:xfrm>
              <a:off x="638403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63" name="Рисунок 4">
            <a:extLst>
              <a:ext uri="{FF2B5EF4-FFF2-40B4-BE49-F238E27FC236}">
                <a16:creationId xmlns="" xmlns:a16="http://schemas.microsoft.com/office/drawing/2014/main" id="{6EFD30FF-4717-48ED-9852-94033DAA47FB}"/>
              </a:ext>
            </a:extLst>
          </p:cNvPr>
          <p:cNvGrpSpPr/>
          <p:nvPr/>
        </p:nvGrpSpPr>
        <p:grpSpPr>
          <a:xfrm>
            <a:off x="13984225" y="3199109"/>
            <a:ext cx="4051649" cy="1890807"/>
            <a:chOff x="9246616" y="1514030"/>
            <a:chExt cx="2701099" cy="1260538"/>
          </a:xfrm>
        </p:grpSpPr>
        <p:sp>
          <p:nvSpPr>
            <p:cNvPr id="464" name="Полилиния: фигура 463">
              <a:extLst>
                <a:ext uri="{FF2B5EF4-FFF2-40B4-BE49-F238E27FC236}">
                  <a16:creationId xmlns="" xmlns:a16="http://schemas.microsoft.com/office/drawing/2014/main" id="{51D68D20-F3DB-42FF-AC2E-8F469D6CC793}"/>
                </a:ext>
              </a:extLst>
            </p:cNvPr>
            <p:cNvSpPr/>
            <p:nvPr/>
          </p:nvSpPr>
          <p:spPr>
            <a:xfrm>
              <a:off x="9369996" y="1602998"/>
              <a:ext cx="1759203" cy="223647"/>
            </a:xfrm>
            <a:custGeom>
              <a:avLst/>
              <a:gdLst>
                <a:gd name="connsiteX0" fmla="*/ 1683004 w 1759203"/>
                <a:gd name="connsiteY0" fmla="*/ 0 h 223647"/>
                <a:gd name="connsiteX1" fmla="*/ 1759204 w 1759203"/>
                <a:gd name="connsiteY1" fmla="*/ 76200 h 223647"/>
                <a:gd name="connsiteX2" fmla="*/ 1759204 w 1759203"/>
                <a:gd name="connsiteY2" fmla="*/ 147447 h 223647"/>
                <a:gd name="connsiteX3" fmla="*/ 1683004 w 1759203"/>
                <a:gd name="connsiteY3" fmla="*/ 223647 h 223647"/>
                <a:gd name="connsiteX4" fmla="*/ 76200 w 1759203"/>
                <a:gd name="connsiteY4" fmla="*/ 223647 h 223647"/>
                <a:gd name="connsiteX5" fmla="*/ 0 w 1759203"/>
                <a:gd name="connsiteY5" fmla="*/ 147447 h 223647"/>
                <a:gd name="connsiteX6" fmla="*/ 0 w 1759203"/>
                <a:gd name="connsiteY6" fmla="*/ 76200 h 223647"/>
                <a:gd name="connsiteX7" fmla="*/ 76200 w 1759203"/>
                <a:gd name="connsiteY7" fmla="*/ 0 h 223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9203" h="223647">
                  <a:moveTo>
                    <a:pt x="1683004" y="0"/>
                  </a:moveTo>
                  <a:cubicBezTo>
                    <a:pt x="1725088" y="0"/>
                    <a:pt x="1759204" y="34116"/>
                    <a:pt x="1759204" y="76200"/>
                  </a:cubicBezTo>
                  <a:lnTo>
                    <a:pt x="1759204" y="147447"/>
                  </a:lnTo>
                  <a:cubicBezTo>
                    <a:pt x="1759204" y="189531"/>
                    <a:pt x="1725088" y="223647"/>
                    <a:pt x="1683004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="" xmlns:a16="http://schemas.microsoft.com/office/drawing/2014/main" id="{1224E3B5-8974-4552-B557-A762AE443614}"/>
                </a:ext>
              </a:extLst>
            </p:cNvPr>
            <p:cNvSpPr txBox="1"/>
            <p:nvPr/>
          </p:nvSpPr>
          <p:spPr>
            <a:xfrm>
              <a:off x="9898634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0" name="TextBox 469">
              <a:extLst>
                <a:ext uri="{FF2B5EF4-FFF2-40B4-BE49-F238E27FC236}">
                  <a16:creationId xmlns="" xmlns:a16="http://schemas.microsoft.com/office/drawing/2014/main" id="{E96DAEFA-6CEA-4EB9-B24F-13A9DAC92AD6}"/>
                </a:ext>
              </a:extLst>
            </p:cNvPr>
            <p:cNvSpPr txBox="1"/>
            <p:nvPr/>
          </p:nvSpPr>
          <p:spPr>
            <a:xfrm>
              <a:off x="10630280" y="1573847"/>
              <a:ext cx="123154" cy="359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474" name="TextBox 473">
              <a:extLst>
                <a:ext uri="{FF2B5EF4-FFF2-40B4-BE49-F238E27FC236}">
                  <a16:creationId xmlns="" xmlns:a16="http://schemas.microsoft.com/office/drawing/2014/main" id="{27F7FF32-E201-4516-8B55-A52D5CF423D9}"/>
                </a:ext>
              </a:extLst>
            </p:cNvPr>
            <p:cNvSpPr txBox="1"/>
            <p:nvPr/>
          </p:nvSpPr>
          <p:spPr>
            <a:xfrm>
              <a:off x="1047197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="" xmlns:a16="http://schemas.microsoft.com/office/drawing/2014/main" id="{767D4312-F5CF-4929-B0C3-FA3EE5FA484B}"/>
                </a:ext>
              </a:extLst>
            </p:cNvPr>
            <p:cNvSpPr txBox="1"/>
            <p:nvPr/>
          </p:nvSpPr>
          <p:spPr>
            <a:xfrm>
              <a:off x="10983785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="" xmlns:a16="http://schemas.microsoft.com/office/drawing/2014/main" id="{57D9C067-93F5-49C9-802E-17A516861427}"/>
                </a:ext>
              </a:extLst>
            </p:cNvPr>
            <p:cNvSpPr txBox="1"/>
            <p:nvPr/>
          </p:nvSpPr>
          <p:spPr>
            <a:xfrm>
              <a:off x="11135360" y="1853057"/>
              <a:ext cx="151025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400" spc="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512" name="Полилиния: фигура 511">
              <a:extLst>
                <a:ext uri="{FF2B5EF4-FFF2-40B4-BE49-F238E27FC236}">
                  <a16:creationId xmlns="" xmlns:a16="http://schemas.microsoft.com/office/drawing/2014/main" id="{E4C63989-5D51-4718-9399-E217A473873D}"/>
                </a:ext>
              </a:extLst>
            </p:cNvPr>
            <p:cNvSpPr/>
            <p:nvPr/>
          </p:nvSpPr>
          <p:spPr>
            <a:xfrm>
              <a:off x="9246616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13" name="Рисунок 4">
            <a:extLst>
              <a:ext uri="{FF2B5EF4-FFF2-40B4-BE49-F238E27FC236}">
                <a16:creationId xmlns="" xmlns:a16="http://schemas.microsoft.com/office/drawing/2014/main" id="{8707489C-3042-4F57-817C-2AF07106A05C}"/>
              </a:ext>
            </a:extLst>
          </p:cNvPr>
          <p:cNvGrpSpPr/>
          <p:nvPr/>
        </p:nvGrpSpPr>
        <p:grpSpPr>
          <a:xfrm>
            <a:off x="5396484" y="3199109"/>
            <a:ext cx="12234134" cy="1890807"/>
            <a:chOff x="3521455" y="1514030"/>
            <a:chExt cx="8156089" cy="1260538"/>
          </a:xfrm>
        </p:grpSpPr>
        <p:sp>
          <p:nvSpPr>
            <p:cNvPr id="514" name="Полилиния: фигура 513">
              <a:extLst>
                <a:ext uri="{FF2B5EF4-FFF2-40B4-BE49-F238E27FC236}">
                  <a16:creationId xmlns="" xmlns:a16="http://schemas.microsoft.com/office/drawing/2014/main" id="{DCFFF125-9433-4953-8935-CE59A5505B2E}"/>
                </a:ext>
              </a:extLst>
            </p:cNvPr>
            <p:cNvSpPr/>
            <p:nvPr/>
          </p:nvSpPr>
          <p:spPr>
            <a:xfrm>
              <a:off x="3657854" y="1603505"/>
              <a:ext cx="2067305" cy="223646"/>
            </a:xfrm>
            <a:custGeom>
              <a:avLst/>
              <a:gdLst>
                <a:gd name="connsiteX0" fmla="*/ 1991106 w 2067305"/>
                <a:gd name="connsiteY0" fmla="*/ 0 h 223646"/>
                <a:gd name="connsiteX1" fmla="*/ 2067306 w 2067305"/>
                <a:gd name="connsiteY1" fmla="*/ 76200 h 223646"/>
                <a:gd name="connsiteX2" fmla="*/ 2067306 w 2067305"/>
                <a:gd name="connsiteY2" fmla="*/ 147447 h 223646"/>
                <a:gd name="connsiteX3" fmla="*/ 1991106 w 2067305"/>
                <a:gd name="connsiteY3" fmla="*/ 223647 h 223646"/>
                <a:gd name="connsiteX4" fmla="*/ 76200 w 2067305"/>
                <a:gd name="connsiteY4" fmla="*/ 223647 h 223646"/>
                <a:gd name="connsiteX5" fmla="*/ 0 w 2067305"/>
                <a:gd name="connsiteY5" fmla="*/ 147447 h 223646"/>
                <a:gd name="connsiteX6" fmla="*/ 0 w 2067305"/>
                <a:gd name="connsiteY6" fmla="*/ 76200 h 223646"/>
                <a:gd name="connsiteX7" fmla="*/ 76200 w 2067305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7305" h="223646">
                  <a:moveTo>
                    <a:pt x="1991106" y="0"/>
                  </a:moveTo>
                  <a:cubicBezTo>
                    <a:pt x="2033190" y="0"/>
                    <a:pt x="2067306" y="34116"/>
                    <a:pt x="2067306" y="76200"/>
                  </a:cubicBezTo>
                  <a:lnTo>
                    <a:pt x="2067306" y="147447"/>
                  </a:lnTo>
                  <a:cubicBezTo>
                    <a:pt x="2067306" y="189531"/>
                    <a:pt x="2033190" y="223647"/>
                    <a:pt x="1991106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0" name="TextBox 519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3752158" y="1933207"/>
              <a:ext cx="2360925" cy="2257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ЛКМ </a:t>
              </a:r>
              <a:r>
                <a:rPr lang="ru-RU" sz="1600" b="1" i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для 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массового потребителя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30" name="TextBox 52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193207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0" name="Полилиния: фигура 559">
              <a:extLst>
                <a:ext uri="{FF2B5EF4-FFF2-40B4-BE49-F238E27FC236}">
                  <a16:creationId xmlns="" xmlns:a16="http://schemas.microsoft.com/office/drawing/2014/main" id="{76EBBF25-BBF1-4A71-A633-EC5DE4ED1EFC}"/>
                </a:ext>
              </a:extLst>
            </p:cNvPr>
            <p:cNvSpPr/>
            <p:nvPr/>
          </p:nvSpPr>
          <p:spPr>
            <a:xfrm>
              <a:off x="3521455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4" name="TextBox 613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87986" y="2356584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8" name="TextBox 567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3579184" y="2511569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69" name="TextBox 568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26750" y="2228776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0" name="TextBox 569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17652" y="2392152"/>
              <a:ext cx="97928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Грунт-Эмали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1" name="TextBox 570">
              <a:extLst>
                <a:ext uri="{FF2B5EF4-FFF2-40B4-BE49-F238E27FC236}">
                  <a16:creationId xmlns="" xmlns:a16="http://schemas.microsoft.com/office/drawing/2014/main" id="{F41E99BB-485C-4894-9E6B-BD09869B2634}"/>
                </a:ext>
              </a:extLst>
            </p:cNvPr>
            <p:cNvSpPr txBox="1"/>
            <p:nvPr/>
          </p:nvSpPr>
          <p:spPr>
            <a:xfrm>
              <a:off x="6508850" y="2547138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2" name="TextBox 571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6492389" y="185394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Органические покрытия для стран ближнего зарубежья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7" name="TextBox 586">
              <a:extLst>
                <a:ext uri="{FF2B5EF4-FFF2-40B4-BE49-F238E27FC236}">
                  <a16:creationId xmlns="" xmlns:a16="http://schemas.microsoft.com/office/drawing/2014/main" id="{824C426D-084C-426F-BCA3-091DF8533221}"/>
                </a:ext>
              </a:extLst>
            </p:cNvPr>
            <p:cNvSpPr txBox="1"/>
            <p:nvPr/>
          </p:nvSpPr>
          <p:spPr>
            <a:xfrm>
              <a:off x="9316619" y="1853791"/>
              <a:ext cx="2360925" cy="389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1600" b="1" i="1" dirty="0" err="1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Воднодисперсионные</a:t>
              </a:r>
              <a:r>
                <a:rPr lang="ru-RU" sz="1600" b="1" i="1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покрытия по доступной цене</a:t>
              </a:r>
              <a:endPara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61" name="Рисунок 4">
            <a:extLst>
              <a:ext uri="{FF2B5EF4-FFF2-40B4-BE49-F238E27FC236}">
                <a16:creationId xmlns="" xmlns:a16="http://schemas.microsoft.com/office/drawing/2014/main" id="{BC48FFF0-7C45-477B-AA51-43E7CEF9B5FA}"/>
              </a:ext>
            </a:extLst>
          </p:cNvPr>
          <p:cNvGrpSpPr/>
          <p:nvPr/>
        </p:nvGrpSpPr>
        <p:grpSpPr>
          <a:xfrm>
            <a:off x="1102709" y="3199109"/>
            <a:ext cx="7765893" cy="6154665"/>
            <a:chOff x="658939" y="1514030"/>
            <a:chExt cx="5177255" cy="4103108"/>
          </a:xfrm>
        </p:grpSpPr>
        <p:sp>
          <p:nvSpPr>
            <p:cNvPr id="562" name="Полилиния: фигура 561">
              <a:extLst>
                <a:ext uri="{FF2B5EF4-FFF2-40B4-BE49-F238E27FC236}">
                  <a16:creationId xmlns="" xmlns:a16="http://schemas.microsoft.com/office/drawing/2014/main" id="{B4D3A41B-886F-45E8-A0FE-508DBD30A1B2}"/>
                </a:ext>
              </a:extLst>
            </p:cNvPr>
            <p:cNvSpPr/>
            <p:nvPr/>
          </p:nvSpPr>
          <p:spPr>
            <a:xfrm>
              <a:off x="787019" y="1621704"/>
              <a:ext cx="2058414" cy="223646"/>
            </a:xfrm>
            <a:custGeom>
              <a:avLst/>
              <a:gdLst>
                <a:gd name="connsiteX0" fmla="*/ 747649 w 823849"/>
                <a:gd name="connsiteY0" fmla="*/ 0 h 223646"/>
                <a:gd name="connsiteX1" fmla="*/ 823849 w 823849"/>
                <a:gd name="connsiteY1" fmla="*/ 76200 h 223646"/>
                <a:gd name="connsiteX2" fmla="*/ 823849 w 823849"/>
                <a:gd name="connsiteY2" fmla="*/ 147447 h 223646"/>
                <a:gd name="connsiteX3" fmla="*/ 747649 w 823849"/>
                <a:gd name="connsiteY3" fmla="*/ 223647 h 223646"/>
                <a:gd name="connsiteX4" fmla="*/ 76200 w 823849"/>
                <a:gd name="connsiteY4" fmla="*/ 223647 h 223646"/>
                <a:gd name="connsiteX5" fmla="*/ 0 w 823849"/>
                <a:gd name="connsiteY5" fmla="*/ 147447 h 223646"/>
                <a:gd name="connsiteX6" fmla="*/ 0 w 823849"/>
                <a:gd name="connsiteY6" fmla="*/ 76200 h 223646"/>
                <a:gd name="connsiteX7" fmla="*/ 76200 w 823849"/>
                <a:gd name="connsiteY7" fmla="*/ 0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849" h="223646">
                  <a:moveTo>
                    <a:pt x="747649" y="0"/>
                  </a:moveTo>
                  <a:cubicBezTo>
                    <a:pt x="789733" y="0"/>
                    <a:pt x="823849" y="34116"/>
                    <a:pt x="823849" y="76200"/>
                  </a:cubicBezTo>
                  <a:lnTo>
                    <a:pt x="823849" y="147447"/>
                  </a:lnTo>
                  <a:cubicBezTo>
                    <a:pt x="823849" y="189531"/>
                    <a:pt x="789733" y="223647"/>
                    <a:pt x="747649" y="223647"/>
                  </a:cubicBezTo>
                  <a:lnTo>
                    <a:pt x="76200" y="223647"/>
                  </a:lnTo>
                  <a:cubicBezTo>
                    <a:pt x="34116" y="223647"/>
                    <a:pt x="0" y="189531"/>
                    <a:pt x="0" y="147447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3" name="TextBox 56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74332" y="1541761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EMPILS ЭКОНОМ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74" name="TextBox 573">
              <a:extLst>
                <a:ext uri="{FF2B5EF4-FFF2-40B4-BE49-F238E27FC236}">
                  <a16:creationId xmlns="" xmlns:a16="http://schemas.microsoft.com/office/drawing/2014/main" id="{0BE43BC7-3547-49D7-B515-001728CDF243}"/>
                </a:ext>
              </a:extLst>
            </p:cNvPr>
            <p:cNvSpPr txBox="1"/>
            <p:nvPr/>
          </p:nvSpPr>
          <p:spPr>
            <a:xfrm>
              <a:off x="2919793" y="1853057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0" name="TextBox 579">
              <a:extLst>
                <a:ext uri="{FF2B5EF4-FFF2-40B4-BE49-F238E27FC236}">
                  <a16:creationId xmlns="" xmlns:a16="http://schemas.microsoft.com/office/drawing/2014/main" id="{7F6ABF64-3A21-4F76-92CD-F8EA4D059597}"/>
                </a:ext>
              </a:extLst>
            </p:cNvPr>
            <p:cNvSpPr txBox="1"/>
            <p:nvPr/>
          </p:nvSpPr>
          <p:spPr>
            <a:xfrm>
              <a:off x="734504" y="2158087"/>
              <a:ext cx="834545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1" name="TextBox 580">
              <a:extLst>
                <a:ext uri="{FF2B5EF4-FFF2-40B4-BE49-F238E27FC236}">
                  <a16:creationId xmlns="" xmlns:a16="http://schemas.microsoft.com/office/drawing/2014/main" id="{DE19A461-E344-4C14-9519-F48616916316}"/>
                </a:ext>
              </a:extLst>
            </p:cNvPr>
            <p:cNvSpPr txBox="1"/>
            <p:nvPr/>
          </p:nvSpPr>
          <p:spPr>
            <a:xfrm>
              <a:off x="734504" y="2330534"/>
              <a:ext cx="629659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5" name="TextBox 584">
              <a:extLst>
                <a:ext uri="{FF2B5EF4-FFF2-40B4-BE49-F238E27FC236}">
                  <a16:creationId xmlns="" xmlns:a16="http://schemas.microsoft.com/office/drawing/2014/main" id="{3B7F21A7-2143-468C-A578-77200B3DB462}"/>
                </a:ext>
              </a:extLst>
            </p:cNvPr>
            <p:cNvSpPr txBox="1"/>
            <p:nvPr/>
          </p:nvSpPr>
          <p:spPr>
            <a:xfrm>
              <a:off x="1493773" y="2257742"/>
              <a:ext cx="123154" cy="205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88" name="TextBox 587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34504" y="2502921"/>
              <a:ext cx="659581" cy="225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Краски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02" name="Полилиния: фигура 601">
              <a:extLst>
                <a:ext uri="{FF2B5EF4-FFF2-40B4-BE49-F238E27FC236}">
                  <a16:creationId xmlns="" xmlns:a16="http://schemas.microsoft.com/office/drawing/2014/main" id="{1182DC2A-FC0D-4DE0-ABD6-6C7FB764B242}"/>
                </a:ext>
              </a:extLst>
            </p:cNvPr>
            <p:cNvSpPr/>
            <p:nvPr/>
          </p:nvSpPr>
          <p:spPr>
            <a:xfrm>
              <a:off x="658939" y="1514030"/>
              <a:ext cx="2701099" cy="1260538"/>
            </a:xfrm>
            <a:custGeom>
              <a:avLst/>
              <a:gdLst>
                <a:gd name="connsiteX0" fmla="*/ 2624900 w 2701099"/>
                <a:gd name="connsiteY0" fmla="*/ 0 h 1260538"/>
                <a:gd name="connsiteX1" fmla="*/ 2701100 w 2701099"/>
                <a:gd name="connsiteY1" fmla="*/ 76200 h 1260538"/>
                <a:gd name="connsiteX2" fmla="*/ 2701100 w 2701099"/>
                <a:gd name="connsiteY2" fmla="*/ 1184339 h 1260538"/>
                <a:gd name="connsiteX3" fmla="*/ 2624900 w 2701099"/>
                <a:gd name="connsiteY3" fmla="*/ 1260539 h 1260538"/>
                <a:gd name="connsiteX4" fmla="*/ 76200 w 2701099"/>
                <a:gd name="connsiteY4" fmla="*/ 1260539 h 1260538"/>
                <a:gd name="connsiteX5" fmla="*/ 0 w 2701099"/>
                <a:gd name="connsiteY5" fmla="*/ 1184339 h 1260538"/>
                <a:gd name="connsiteX6" fmla="*/ 0 w 2701099"/>
                <a:gd name="connsiteY6" fmla="*/ 76200 h 1260538"/>
                <a:gd name="connsiteX7" fmla="*/ 76200 w 2701099"/>
                <a:gd name="connsiteY7" fmla="*/ 0 h 1260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01099" h="1260538">
                  <a:moveTo>
                    <a:pt x="2624900" y="0"/>
                  </a:moveTo>
                  <a:cubicBezTo>
                    <a:pt x="2666984" y="0"/>
                    <a:pt x="2701100" y="34116"/>
                    <a:pt x="2701100" y="76200"/>
                  </a:cubicBezTo>
                  <a:lnTo>
                    <a:pt x="2701100" y="1184339"/>
                  </a:lnTo>
                  <a:cubicBezTo>
                    <a:pt x="2701100" y="1226423"/>
                    <a:pt x="2666984" y="1260539"/>
                    <a:pt x="2624900" y="1260539"/>
                  </a:cubicBezTo>
                  <a:lnTo>
                    <a:pt x="76200" y="1260539"/>
                  </a:lnTo>
                  <a:cubicBezTo>
                    <a:pt x="34116" y="1260539"/>
                    <a:pt x="0" y="1226423"/>
                    <a:pt x="0" y="1184339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44040" y="3586378"/>
              <a:ext cx="1036992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Грунтовки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594" name="TextBox 593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1845307" y="3595426"/>
              <a:ext cx="628591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6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</a:t>
              </a:r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Лаки</a:t>
              </a:r>
            </a:p>
            <a:p>
              <a:pPr algn="l"/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Краски</a:t>
              </a:r>
            </a:p>
          </p:txBody>
        </p:sp>
        <p:sp>
          <p:nvSpPr>
            <p:cNvPr id="616" name="TextBox 615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804766" y="2969997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РАСЦВЕТ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619" name="TextBox 618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7592" y="2981386"/>
              <a:ext cx="1904396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ОРЕОЛ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="" xmlns:a16="http://schemas.microsoft.com/office/drawing/2014/main" id="{4C46B7C8-7838-4FCA-B0CE-B892BB928D3F}"/>
                </a:ext>
              </a:extLst>
            </p:cNvPr>
            <p:cNvSpPr txBox="1"/>
            <p:nvPr/>
          </p:nvSpPr>
          <p:spPr>
            <a:xfrm>
              <a:off x="3685831" y="1535820"/>
              <a:ext cx="2150363" cy="359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ru-RU" sz="2900" b="1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ПРОСТОКРАШЕНО</a:t>
              </a:r>
              <a:endParaRPr lang="ru-RU" sz="2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336" name="TextBox 335">
              <a:extLst>
                <a:ext uri="{FF2B5EF4-FFF2-40B4-BE49-F238E27FC236}">
                  <a16:creationId xmlns="" xmlns:a16="http://schemas.microsoft.com/office/drawing/2014/main" id="{597071B6-5D7E-49AA-BB30-E1251BFC7358}"/>
                </a:ext>
              </a:extLst>
            </p:cNvPr>
            <p:cNvSpPr txBox="1"/>
            <p:nvPr/>
          </p:nvSpPr>
          <p:spPr>
            <a:xfrm>
              <a:off x="716308" y="5227288"/>
              <a:ext cx="1036992" cy="3898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Грунт – Эмали</a:t>
              </a:r>
            </a:p>
            <a:p>
              <a:r>
                <a:rPr lang="ru-RU" sz="1600" dirty="0" smtClea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• Эмали</a:t>
              </a:r>
              <a:endPara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271197" y="3430339"/>
            <a:ext cx="507831" cy="1525005"/>
            <a:chOff x="180798" y="1622690"/>
            <a:chExt cx="338554" cy="1016670"/>
          </a:xfrm>
        </p:grpSpPr>
        <p:sp>
          <p:nvSpPr>
            <p:cNvPr id="603" name="TextBox 602">
              <a:extLst>
                <a:ext uri="{FF2B5EF4-FFF2-40B4-BE49-F238E27FC236}">
                  <a16:creationId xmlns="" xmlns:a16="http://schemas.microsoft.com/office/drawing/2014/main" id="{79C021F8-446B-49BC-8091-C8C59D915FFF}"/>
                </a:ext>
              </a:extLst>
            </p:cNvPr>
            <p:cNvSpPr txBox="1"/>
            <p:nvPr/>
          </p:nvSpPr>
          <p:spPr>
            <a:xfrm rot="16200000">
              <a:off x="225468" y="2345477"/>
              <a:ext cx="2492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Э</a:t>
              </a:r>
            </a:p>
          </p:txBody>
        </p:sp>
        <p:sp>
          <p:nvSpPr>
            <p:cNvPr id="604" name="TextBox 603">
              <a:extLst>
                <a:ext uri="{FF2B5EF4-FFF2-40B4-BE49-F238E27FC236}">
                  <a16:creationId xmlns="" xmlns:a16="http://schemas.microsoft.com/office/drawing/2014/main" id="{C1784FD7-F7F3-4373-A642-F47D58EA5307}"/>
                </a:ext>
              </a:extLst>
            </p:cNvPr>
            <p:cNvSpPr txBox="1"/>
            <p:nvPr/>
          </p:nvSpPr>
          <p:spPr>
            <a:xfrm rot="16200000">
              <a:off x="225639" y="2228419"/>
              <a:ext cx="248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spc="-54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="" xmlns:a16="http://schemas.microsoft.com/office/drawing/2014/main" id="{C5D696B7-8A25-4A86-9310-32ED48EB9A0D}"/>
                </a:ext>
              </a:extLst>
            </p:cNvPr>
            <p:cNvSpPr txBox="1"/>
            <p:nvPr/>
          </p:nvSpPr>
          <p:spPr>
            <a:xfrm rot="16200000">
              <a:off x="-41165" y="1844653"/>
              <a:ext cx="7824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2700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ОНОМ</a:t>
              </a:r>
            </a:p>
          </p:txBody>
        </p:sp>
      </p:grpSp>
      <p:sp>
        <p:nvSpPr>
          <p:cNvPr id="612" name="TextBox 611">
            <a:extLst>
              <a:ext uri="{FF2B5EF4-FFF2-40B4-BE49-F238E27FC236}">
                <a16:creationId xmlns="" xmlns:a16="http://schemas.microsoft.com/office/drawing/2014/main" id="{A5F99CBD-B2CF-4F80-A51A-DD026FF4EF8E}"/>
              </a:ext>
            </a:extLst>
          </p:cNvPr>
          <p:cNvSpPr txBox="1"/>
          <p:nvPr/>
        </p:nvSpPr>
        <p:spPr>
          <a:xfrm rot="16200000">
            <a:off x="-196883" y="8240748"/>
            <a:ext cx="1868781" cy="55399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27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ПРЕМИУМ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4293" y="3812478"/>
            <a:ext cx="1742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Крупная фасовка</a:t>
            </a:r>
          </a:p>
        </p:txBody>
      </p:sp>
      <p:grpSp>
        <p:nvGrpSpPr>
          <p:cNvPr id="573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575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6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7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8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9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2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83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584" name="TextBox 58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11915"/>
            <a:ext cx="9216947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АССОРТИМЕНТНАЯ МАТРИЦА</a:t>
            </a:r>
            <a:endParaRPr lang="ru-RU" dirty="0">
              <a:sym typeface="Calibri"/>
            </a:endParaRPr>
          </a:p>
        </p:txBody>
      </p:sp>
      <p:sp>
        <p:nvSpPr>
          <p:cNvPr id="586" name="TextBox 585"/>
          <p:cNvSpPr txBox="1"/>
          <p:nvPr/>
        </p:nvSpPr>
        <p:spPr>
          <a:xfrm>
            <a:off x="444601" y="1420246"/>
            <a:ext cx="1684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latin typeface="+mn-lt"/>
              </a:rPr>
              <a:t>11 БРЕНДОВ </a:t>
            </a:r>
          </a:p>
          <a:p>
            <a:pPr algn="ctr"/>
            <a:r>
              <a:rPr lang="ru-RU" sz="4800" b="1" dirty="0">
                <a:latin typeface="+mn-lt"/>
              </a:rPr>
              <a:t> от эконом до премиума</a:t>
            </a:r>
            <a:endParaRPr sz="4800" b="1" dirty="0">
              <a:latin typeface="+mn-lt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98157" y="4231577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510" y="4476641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1" name="TextBox 59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4084955" y="4709120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15658921" y="4242442"/>
            <a:ext cx="2316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 для потолков, </a:t>
            </a:r>
          </a:p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интерьерные, фасадные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6" name="TextBox 595"/>
          <p:cNvSpPr txBox="1"/>
          <p:nvPr/>
        </p:nvSpPr>
        <p:spPr>
          <a:xfrm>
            <a:off x="1256872" y="5982471"/>
            <a:ext cx="2602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по ГОСТ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97" name="TextBox 596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38504" y="6359774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Шпатлевки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8" name="TextBox 597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4857" y="6604838"/>
            <a:ext cx="1251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Грунтовки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599" name="TextBox 598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5525302" y="6837317"/>
            <a:ext cx="2019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Грунт концентраты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8020" y="6247807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Краски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508" y="6687592"/>
            <a:ext cx="944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Эмали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Лаки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15" name="TextBox 614">
            <a:extLst>
              <a:ext uri="{FF2B5EF4-FFF2-40B4-BE49-F238E27FC236}">
                <a16:creationId xmlns="" xmlns:a16="http://schemas.microsoft.com/office/drawing/2014/main" id="{F41E99BB-485C-4894-9E6B-BD09869B2634}"/>
              </a:ext>
            </a:extLst>
          </p:cNvPr>
          <p:cNvSpPr txBox="1"/>
          <p:nvPr/>
        </p:nvSpPr>
        <p:spPr>
          <a:xfrm>
            <a:off x="7763419" y="6465040"/>
            <a:ext cx="1481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21" name="TextBox 620"/>
          <p:cNvSpPr txBox="1"/>
          <p:nvPr/>
        </p:nvSpPr>
        <p:spPr>
          <a:xfrm>
            <a:off x="5398078" y="5955608"/>
            <a:ext cx="40781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Классические ЛКМ проверенные временем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5419149" y="8154026"/>
            <a:ext cx="2871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Профессиональная защита и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декор древесины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4" name="TextBox 333">
            <a:extLst>
              <a:ext uri="{FF2B5EF4-FFF2-40B4-BE49-F238E27FC236}">
                <a16:creationId xmlns="" xmlns:a16="http://schemas.microsoft.com/office/drawing/2014/main" id="{E62BFC77-E70A-4966-BC8A-B6AC2D5C0A45}"/>
              </a:ext>
            </a:extLst>
          </p:cNvPr>
          <p:cNvSpPr txBox="1"/>
          <p:nvPr/>
        </p:nvSpPr>
        <p:spPr>
          <a:xfrm>
            <a:off x="14112328" y="3218105"/>
            <a:ext cx="275177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ОРЕОЛ </a:t>
            </a:r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DISCONT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1107529" y="8181693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Специализированная линейка материалов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По металлу </a:t>
            </a:r>
            <a:r>
              <a:rPr lang="en-US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TITAN</a:t>
            </a:r>
            <a:endParaRPr lang="ru-RU" sz="1600" b="1" i="1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9772328" y="8132466"/>
            <a:ext cx="3758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Передовые технологии и современные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материалы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4066040" y="8174168"/>
            <a:ext cx="383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Гибридные технологии: </a:t>
            </a:r>
            <a:r>
              <a:rPr lang="ru-RU" sz="1600" b="1" i="1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экологичность</a:t>
            </a:r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 </a:t>
            </a:r>
          </a:p>
          <a:p>
            <a:r>
              <a:rPr lang="ru-RU" sz="1600" b="1" i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водных + износостойкость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294230" y="6053049"/>
            <a:ext cx="162089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="" xmlns:a16="http://schemas.microsoft.com/office/drawing/2014/main" id="{C5D696B7-8A25-4A86-9310-32ED48EB9A0D}"/>
              </a:ext>
            </a:extLst>
          </p:cNvPr>
          <p:cNvSpPr txBox="1"/>
          <p:nvPr/>
        </p:nvSpPr>
        <p:spPr>
          <a:xfrm rot="16200000">
            <a:off x="-609966" y="8254638"/>
            <a:ext cx="187256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700" b="1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СРЕДНИЙ +</a:t>
            </a:r>
            <a:endParaRPr lang="ru-RU" sz="27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="" xmlns:a16="http://schemas.microsoft.com/office/drawing/2014/main" id="{5C283233-D4D6-400A-AB63-A0CAC5C67BDD}"/>
              </a:ext>
            </a:extLst>
          </p:cNvPr>
          <p:cNvSpPr txBox="1"/>
          <p:nvPr/>
        </p:nvSpPr>
        <p:spPr>
          <a:xfrm>
            <a:off x="14073950" y="8760296"/>
            <a:ext cx="24804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Краски-базы под колеровку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Лаки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4173669" y="7667616"/>
            <a:ext cx="2325318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AVANTGARDE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89846706-61BE-4BED-B75A-48B6B2D473FC}"/>
              </a:ext>
            </a:extLst>
          </p:cNvPr>
          <p:cNvSpPr txBox="1"/>
          <p:nvPr/>
        </p:nvSpPr>
        <p:spPr>
          <a:xfrm>
            <a:off x="10000427" y="7680926"/>
            <a:ext cx="1800109" cy="538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NEWTONE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="" xmlns:a16="http://schemas.microsoft.com/office/drawing/2014/main" id="{597071B6-5D7E-49AA-BB30-E1251BFC7358}"/>
              </a:ext>
            </a:extLst>
          </p:cNvPr>
          <p:cNvSpPr txBox="1"/>
          <p:nvPr/>
        </p:nvSpPr>
        <p:spPr>
          <a:xfrm>
            <a:off x="5449709" y="8642406"/>
            <a:ext cx="38930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Лаки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</a:t>
            </a:r>
            <a:r>
              <a:rPr lang="ru-RU" sz="16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Огнебиозащитные</a:t>
            </a:r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 составы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• Защитно-декоративные покрытия</a:t>
            </a:r>
            <a:endParaRPr lang="ru-RU"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4C46B7C8-7838-4FCA-B0CE-B892BB928D3F}"/>
              </a:ext>
            </a:extLst>
          </p:cNvPr>
          <p:cNvSpPr txBox="1"/>
          <p:nvPr/>
        </p:nvSpPr>
        <p:spPr>
          <a:xfrm>
            <a:off x="5641676" y="7597004"/>
            <a:ext cx="2856598" cy="538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9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rPr>
              <a:t>PROFIWOOD</a:t>
            </a:r>
            <a:endParaRPr lang="ru-RU" sz="29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18138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E58069D-8897-4D87-AED6-66BD3163D9F4}"/>
              </a:ext>
            </a:extLst>
          </p:cNvPr>
          <p:cNvSpPr txBox="1"/>
          <p:nvPr/>
        </p:nvSpPr>
        <p:spPr>
          <a:xfrm>
            <a:off x="559022" y="378555"/>
            <a:ext cx="47589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НОВИНКИ 2027</a:t>
            </a:r>
          </a:p>
        </p:txBody>
      </p:sp>
      <p:grpSp>
        <p:nvGrpSpPr>
          <p:cNvPr id="8" name="Рисунок 4">
            <a:extLst>
              <a:ext uri="{FF2B5EF4-FFF2-40B4-BE49-F238E27FC236}">
                <a16:creationId xmlns="" xmlns:a16="http://schemas.microsoft.com/office/drawing/2014/main" id="{47DC1E48-7F89-4B1B-85F6-1F3B3DE0D5A2}"/>
              </a:ext>
            </a:extLst>
          </p:cNvPr>
          <p:cNvGrpSpPr/>
          <p:nvPr/>
        </p:nvGrpSpPr>
        <p:grpSpPr>
          <a:xfrm>
            <a:off x="15035974" y="541205"/>
            <a:ext cx="2655647" cy="531405"/>
            <a:chOff x="10023982" y="360803"/>
            <a:chExt cx="1770431" cy="354270"/>
          </a:xfrm>
          <a:solidFill>
            <a:srgbClr val="FF8300"/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="" xmlns:a16="http://schemas.microsoft.com/office/drawing/2014/main" id="{E2D6C22B-C6B6-45F2-8CC7-E3E39C0D2E4D}"/>
                </a:ext>
              </a:extLst>
            </p:cNvPr>
            <p:cNvSpPr/>
            <p:nvPr/>
          </p:nvSpPr>
          <p:spPr>
            <a:xfrm>
              <a:off x="11166284" y="361505"/>
              <a:ext cx="102616" cy="353250"/>
            </a:xfrm>
            <a:custGeom>
              <a:avLst/>
              <a:gdLst>
                <a:gd name="connsiteX0" fmla="*/ 0 w 102616"/>
                <a:gd name="connsiteY0" fmla="*/ 0 h 353250"/>
                <a:gd name="connsiteX1" fmla="*/ 102616 w 102616"/>
                <a:gd name="connsiteY1" fmla="*/ 0 h 353250"/>
                <a:gd name="connsiteX2" fmla="*/ 102616 w 102616"/>
                <a:gd name="connsiteY2" fmla="*/ 353251 h 353250"/>
                <a:gd name="connsiteX3" fmla="*/ 0 w 102616"/>
                <a:gd name="connsiteY3" fmla="*/ 353251 h 35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6" h="353250">
                  <a:moveTo>
                    <a:pt x="0" y="0"/>
                  </a:moveTo>
                  <a:lnTo>
                    <a:pt x="102616" y="0"/>
                  </a:lnTo>
                  <a:lnTo>
                    <a:pt x="102616" y="353251"/>
                  </a:lnTo>
                  <a:lnTo>
                    <a:pt x="0" y="353251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="" xmlns:a16="http://schemas.microsoft.com/office/drawing/2014/main" id="{A5BDBE3F-6F6B-402B-A3AF-4B545867EDAC}"/>
                </a:ext>
              </a:extLst>
            </p:cNvPr>
            <p:cNvSpPr/>
            <p:nvPr/>
          </p:nvSpPr>
          <p:spPr>
            <a:xfrm>
              <a:off x="10333291" y="361505"/>
              <a:ext cx="413892" cy="353377"/>
            </a:xfrm>
            <a:custGeom>
              <a:avLst/>
              <a:gdLst>
                <a:gd name="connsiteX0" fmla="*/ 406336 w 413892"/>
                <a:gd name="connsiteY0" fmla="*/ 0 h 353377"/>
                <a:gd name="connsiteX1" fmla="*/ 311340 w 413892"/>
                <a:gd name="connsiteY1" fmla="*/ 0 h 353377"/>
                <a:gd name="connsiteX2" fmla="*/ 216979 w 413892"/>
                <a:gd name="connsiteY2" fmla="*/ 199707 h 353377"/>
                <a:gd name="connsiteX3" fmla="*/ 119888 w 413892"/>
                <a:gd name="connsiteY3" fmla="*/ 0 h 353377"/>
                <a:gd name="connsiteX4" fmla="*/ 68263 w 413892"/>
                <a:gd name="connsiteY4" fmla="*/ 0 h 353377"/>
                <a:gd name="connsiteX5" fmla="*/ 5016 w 413892"/>
                <a:gd name="connsiteY5" fmla="*/ 0 h 353377"/>
                <a:gd name="connsiteX6" fmla="*/ 0 w 413892"/>
                <a:gd name="connsiteY6" fmla="*/ 0 h 353377"/>
                <a:gd name="connsiteX7" fmla="*/ 0 w 413892"/>
                <a:gd name="connsiteY7" fmla="*/ 353378 h 353377"/>
                <a:gd name="connsiteX8" fmla="*/ 68263 w 413892"/>
                <a:gd name="connsiteY8" fmla="*/ 353378 h 353377"/>
                <a:gd name="connsiteX9" fmla="*/ 68263 w 413892"/>
                <a:gd name="connsiteY9" fmla="*/ 155385 h 353377"/>
                <a:gd name="connsiteX10" fmla="*/ 166306 w 413892"/>
                <a:gd name="connsiteY10" fmla="*/ 353378 h 353377"/>
                <a:gd name="connsiteX11" fmla="*/ 216471 w 413892"/>
                <a:gd name="connsiteY11" fmla="*/ 353378 h 353377"/>
                <a:gd name="connsiteX12" fmla="*/ 311340 w 413892"/>
                <a:gd name="connsiteY12" fmla="*/ 150749 h 353377"/>
                <a:gd name="connsiteX13" fmla="*/ 311340 w 413892"/>
                <a:gd name="connsiteY13" fmla="*/ 353378 h 353377"/>
                <a:gd name="connsiteX14" fmla="*/ 413893 w 413892"/>
                <a:gd name="connsiteY14" fmla="*/ 353378 h 353377"/>
                <a:gd name="connsiteX15" fmla="*/ 413893 w 413892"/>
                <a:gd name="connsiteY15" fmla="*/ 0 h 353377"/>
                <a:gd name="connsiteX16" fmla="*/ 406336 w 413892"/>
                <a:gd name="connsiteY16" fmla="*/ 0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13892" h="353377">
                  <a:moveTo>
                    <a:pt x="406336" y="0"/>
                  </a:moveTo>
                  <a:lnTo>
                    <a:pt x="311340" y="0"/>
                  </a:lnTo>
                  <a:lnTo>
                    <a:pt x="216979" y="199707"/>
                  </a:lnTo>
                  <a:lnTo>
                    <a:pt x="119888" y="0"/>
                  </a:lnTo>
                  <a:lnTo>
                    <a:pt x="68263" y="0"/>
                  </a:lnTo>
                  <a:lnTo>
                    <a:pt x="50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68263" y="353378"/>
                  </a:lnTo>
                  <a:lnTo>
                    <a:pt x="68263" y="155385"/>
                  </a:lnTo>
                  <a:lnTo>
                    <a:pt x="166306" y="353378"/>
                  </a:lnTo>
                  <a:lnTo>
                    <a:pt x="216471" y="353378"/>
                  </a:lnTo>
                  <a:lnTo>
                    <a:pt x="311340" y="150749"/>
                  </a:lnTo>
                  <a:lnTo>
                    <a:pt x="311340" y="353378"/>
                  </a:lnTo>
                  <a:lnTo>
                    <a:pt x="413893" y="353378"/>
                  </a:lnTo>
                  <a:lnTo>
                    <a:pt x="413893" y="0"/>
                  </a:lnTo>
                  <a:lnTo>
                    <a:pt x="406336" y="0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="" xmlns:a16="http://schemas.microsoft.com/office/drawing/2014/main" id="{8C2022FB-5A02-4284-AC60-2348B7D40FC4}"/>
                </a:ext>
              </a:extLst>
            </p:cNvPr>
            <p:cNvSpPr/>
            <p:nvPr/>
          </p:nvSpPr>
          <p:spPr>
            <a:xfrm>
              <a:off x="10023982" y="361505"/>
              <a:ext cx="259778" cy="353377"/>
            </a:xfrm>
            <a:custGeom>
              <a:avLst/>
              <a:gdLst>
                <a:gd name="connsiteX0" fmla="*/ 102553 w 259778"/>
                <a:gd name="connsiteY0" fmla="*/ 285877 h 353377"/>
                <a:gd name="connsiteX1" fmla="*/ 102553 w 259778"/>
                <a:gd name="connsiteY1" fmla="*/ 201359 h 353377"/>
                <a:gd name="connsiteX2" fmla="*/ 222759 w 259778"/>
                <a:gd name="connsiteY2" fmla="*/ 201359 h 353377"/>
                <a:gd name="connsiteX3" fmla="*/ 222759 w 259778"/>
                <a:gd name="connsiteY3" fmla="*/ 144780 h 353377"/>
                <a:gd name="connsiteX4" fmla="*/ 102553 w 259778"/>
                <a:gd name="connsiteY4" fmla="*/ 144780 h 353377"/>
                <a:gd name="connsiteX5" fmla="*/ 102553 w 259778"/>
                <a:gd name="connsiteY5" fmla="*/ 62928 h 353377"/>
                <a:gd name="connsiteX6" fmla="*/ 257175 w 259778"/>
                <a:gd name="connsiteY6" fmla="*/ 62928 h 353377"/>
                <a:gd name="connsiteX7" fmla="*/ 257175 w 259778"/>
                <a:gd name="connsiteY7" fmla="*/ 0 h 353377"/>
                <a:gd name="connsiteX8" fmla="*/ 102553 w 259778"/>
                <a:gd name="connsiteY8" fmla="*/ 0 h 353377"/>
                <a:gd name="connsiteX9" fmla="*/ 82677 w 259778"/>
                <a:gd name="connsiteY9" fmla="*/ 0 h 353377"/>
                <a:gd name="connsiteX10" fmla="*/ 0 w 259778"/>
                <a:gd name="connsiteY10" fmla="*/ 0 h 353377"/>
                <a:gd name="connsiteX11" fmla="*/ 0 w 259778"/>
                <a:gd name="connsiteY11" fmla="*/ 353378 h 353377"/>
                <a:gd name="connsiteX12" fmla="*/ 85344 w 259778"/>
                <a:gd name="connsiteY12" fmla="*/ 353378 h 353377"/>
                <a:gd name="connsiteX13" fmla="*/ 102553 w 259778"/>
                <a:gd name="connsiteY13" fmla="*/ 353378 h 353377"/>
                <a:gd name="connsiteX14" fmla="*/ 259779 w 259778"/>
                <a:gd name="connsiteY14" fmla="*/ 353378 h 353377"/>
                <a:gd name="connsiteX15" fmla="*/ 259779 w 259778"/>
                <a:gd name="connsiteY15" fmla="*/ 285877 h 353377"/>
                <a:gd name="connsiteX16" fmla="*/ 102553 w 259778"/>
                <a:gd name="connsiteY16" fmla="*/ 285877 h 353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9778" h="353377">
                  <a:moveTo>
                    <a:pt x="102553" y="285877"/>
                  </a:moveTo>
                  <a:lnTo>
                    <a:pt x="102553" y="201359"/>
                  </a:lnTo>
                  <a:lnTo>
                    <a:pt x="222759" y="201359"/>
                  </a:lnTo>
                  <a:lnTo>
                    <a:pt x="222759" y="144780"/>
                  </a:lnTo>
                  <a:lnTo>
                    <a:pt x="102553" y="144780"/>
                  </a:lnTo>
                  <a:lnTo>
                    <a:pt x="102553" y="62928"/>
                  </a:lnTo>
                  <a:lnTo>
                    <a:pt x="257175" y="62928"/>
                  </a:lnTo>
                  <a:lnTo>
                    <a:pt x="257175" y="0"/>
                  </a:lnTo>
                  <a:lnTo>
                    <a:pt x="102553" y="0"/>
                  </a:lnTo>
                  <a:lnTo>
                    <a:pt x="82677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85344" y="353378"/>
                  </a:lnTo>
                  <a:lnTo>
                    <a:pt x="102553" y="353378"/>
                  </a:lnTo>
                  <a:lnTo>
                    <a:pt x="259779" y="353378"/>
                  </a:lnTo>
                  <a:lnTo>
                    <a:pt x="259779" y="285877"/>
                  </a:lnTo>
                  <a:lnTo>
                    <a:pt x="102553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="" xmlns:a16="http://schemas.microsoft.com/office/drawing/2014/main" id="{0DAEC7BD-9E5C-40B4-A4D2-A0B65D6CD45C}"/>
                </a:ext>
              </a:extLst>
            </p:cNvPr>
            <p:cNvSpPr/>
            <p:nvPr/>
          </p:nvSpPr>
          <p:spPr>
            <a:xfrm>
              <a:off x="11322748" y="361505"/>
              <a:ext cx="202057" cy="353568"/>
            </a:xfrm>
            <a:custGeom>
              <a:avLst/>
              <a:gdLst>
                <a:gd name="connsiteX0" fmla="*/ 102616 w 202057"/>
                <a:gd name="connsiteY0" fmla="*/ 285877 h 353568"/>
                <a:gd name="connsiteX1" fmla="*/ 102616 w 202057"/>
                <a:gd name="connsiteY1" fmla="*/ 0 h 353568"/>
                <a:gd name="connsiteX2" fmla="*/ 0 w 202057"/>
                <a:gd name="connsiteY2" fmla="*/ 0 h 353568"/>
                <a:gd name="connsiteX3" fmla="*/ 0 w 202057"/>
                <a:gd name="connsiteY3" fmla="*/ 353378 h 353568"/>
                <a:gd name="connsiteX4" fmla="*/ 9589 w 202057"/>
                <a:gd name="connsiteY4" fmla="*/ 353378 h 353568"/>
                <a:gd name="connsiteX5" fmla="*/ 9589 w 202057"/>
                <a:gd name="connsiteY5" fmla="*/ 353568 h 353568"/>
                <a:gd name="connsiteX6" fmla="*/ 171450 w 202057"/>
                <a:gd name="connsiteY6" fmla="*/ 353568 h 353568"/>
                <a:gd name="connsiteX7" fmla="*/ 202057 w 202057"/>
                <a:gd name="connsiteY7" fmla="*/ 285877 h 353568"/>
                <a:gd name="connsiteX8" fmla="*/ 102616 w 202057"/>
                <a:gd name="connsiteY8" fmla="*/ 285877 h 35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057" h="353568">
                  <a:moveTo>
                    <a:pt x="102616" y="285877"/>
                  </a:moveTo>
                  <a:lnTo>
                    <a:pt x="102616" y="0"/>
                  </a:lnTo>
                  <a:lnTo>
                    <a:pt x="0" y="0"/>
                  </a:lnTo>
                  <a:lnTo>
                    <a:pt x="0" y="353378"/>
                  </a:lnTo>
                  <a:lnTo>
                    <a:pt x="9589" y="353378"/>
                  </a:lnTo>
                  <a:lnTo>
                    <a:pt x="9589" y="353568"/>
                  </a:lnTo>
                  <a:lnTo>
                    <a:pt x="171450" y="353568"/>
                  </a:lnTo>
                  <a:lnTo>
                    <a:pt x="202057" y="285877"/>
                  </a:lnTo>
                  <a:lnTo>
                    <a:pt x="102616" y="285877"/>
                  </a:ln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="" xmlns:a16="http://schemas.microsoft.com/office/drawing/2014/main" id="{11848257-466B-4DDE-8ACF-9C096B4D0212}"/>
                </a:ext>
              </a:extLst>
            </p:cNvPr>
            <p:cNvSpPr/>
            <p:nvPr/>
          </p:nvSpPr>
          <p:spPr>
            <a:xfrm>
              <a:off x="10802873" y="361441"/>
              <a:ext cx="320802" cy="353441"/>
            </a:xfrm>
            <a:custGeom>
              <a:avLst/>
              <a:gdLst>
                <a:gd name="connsiteX0" fmla="*/ 191897 w 320802"/>
                <a:gd name="connsiteY0" fmla="*/ 64 h 353441"/>
                <a:gd name="connsiteX1" fmla="*/ 0 w 320802"/>
                <a:gd name="connsiteY1" fmla="*/ 64 h 353441"/>
                <a:gd name="connsiteX2" fmla="*/ 0 w 320802"/>
                <a:gd name="connsiteY2" fmla="*/ 353441 h 353441"/>
                <a:gd name="connsiteX3" fmla="*/ 102426 w 320802"/>
                <a:gd name="connsiteY3" fmla="*/ 353441 h 353441"/>
                <a:gd name="connsiteX4" fmla="*/ 102426 w 320802"/>
                <a:gd name="connsiteY4" fmla="*/ 268605 h 353441"/>
                <a:gd name="connsiteX5" fmla="*/ 140526 w 320802"/>
                <a:gd name="connsiteY5" fmla="*/ 268605 h 353441"/>
                <a:gd name="connsiteX6" fmla="*/ 140526 w 320802"/>
                <a:gd name="connsiteY6" fmla="*/ 267843 h 353441"/>
                <a:gd name="connsiteX7" fmla="*/ 191897 w 320802"/>
                <a:gd name="connsiteY7" fmla="*/ 267843 h 353441"/>
                <a:gd name="connsiteX8" fmla="*/ 320802 w 320802"/>
                <a:gd name="connsiteY8" fmla="*/ 138938 h 353441"/>
                <a:gd name="connsiteX9" fmla="*/ 320802 w 320802"/>
                <a:gd name="connsiteY9" fmla="*/ 128842 h 353441"/>
                <a:gd name="connsiteX10" fmla="*/ 191897 w 320802"/>
                <a:gd name="connsiteY10" fmla="*/ 0 h 353441"/>
                <a:gd name="connsiteX11" fmla="*/ 152971 w 320802"/>
                <a:gd name="connsiteY11" fmla="*/ 201422 h 353441"/>
                <a:gd name="connsiteX12" fmla="*/ 108458 w 320802"/>
                <a:gd name="connsiteY12" fmla="*/ 201422 h 353441"/>
                <a:gd name="connsiteX13" fmla="*/ 102426 w 320802"/>
                <a:gd name="connsiteY13" fmla="*/ 201168 h 353441"/>
                <a:gd name="connsiteX14" fmla="*/ 102426 w 320802"/>
                <a:gd name="connsiteY14" fmla="*/ 63373 h 353441"/>
                <a:gd name="connsiteX15" fmla="*/ 108458 w 320802"/>
                <a:gd name="connsiteY15" fmla="*/ 63056 h 353441"/>
                <a:gd name="connsiteX16" fmla="*/ 152971 w 320802"/>
                <a:gd name="connsiteY16" fmla="*/ 63056 h 353441"/>
                <a:gd name="connsiteX17" fmla="*/ 214122 w 320802"/>
                <a:gd name="connsiteY17" fmla="*/ 132271 h 353441"/>
                <a:gd name="connsiteX18" fmla="*/ 152971 w 320802"/>
                <a:gd name="connsiteY18" fmla="*/ 201422 h 353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20802" h="353441">
                  <a:moveTo>
                    <a:pt x="191897" y="64"/>
                  </a:moveTo>
                  <a:lnTo>
                    <a:pt x="0" y="64"/>
                  </a:lnTo>
                  <a:lnTo>
                    <a:pt x="0" y="353441"/>
                  </a:lnTo>
                  <a:lnTo>
                    <a:pt x="102426" y="353441"/>
                  </a:lnTo>
                  <a:lnTo>
                    <a:pt x="102426" y="268605"/>
                  </a:lnTo>
                  <a:lnTo>
                    <a:pt x="140526" y="268605"/>
                  </a:lnTo>
                  <a:lnTo>
                    <a:pt x="140526" y="267843"/>
                  </a:lnTo>
                  <a:lnTo>
                    <a:pt x="191897" y="267843"/>
                  </a:lnTo>
                  <a:cubicBezTo>
                    <a:pt x="263081" y="267843"/>
                    <a:pt x="320802" y="210122"/>
                    <a:pt x="320802" y="138938"/>
                  </a:cubicBezTo>
                  <a:lnTo>
                    <a:pt x="320802" y="128842"/>
                  </a:lnTo>
                  <a:cubicBezTo>
                    <a:pt x="320802" y="57658"/>
                    <a:pt x="263081" y="0"/>
                    <a:pt x="191897" y="0"/>
                  </a:cubicBezTo>
                  <a:moveTo>
                    <a:pt x="152971" y="201422"/>
                  </a:moveTo>
                  <a:lnTo>
                    <a:pt x="108458" y="201422"/>
                  </a:lnTo>
                  <a:cubicBezTo>
                    <a:pt x="106426" y="201422"/>
                    <a:pt x="104457" y="201422"/>
                    <a:pt x="102426" y="201168"/>
                  </a:cubicBezTo>
                  <a:lnTo>
                    <a:pt x="102426" y="63373"/>
                  </a:lnTo>
                  <a:cubicBezTo>
                    <a:pt x="104457" y="63183"/>
                    <a:pt x="106363" y="63056"/>
                    <a:pt x="108458" y="63056"/>
                  </a:cubicBezTo>
                  <a:lnTo>
                    <a:pt x="152971" y="63056"/>
                  </a:lnTo>
                  <a:cubicBezTo>
                    <a:pt x="186754" y="63056"/>
                    <a:pt x="214122" y="94044"/>
                    <a:pt x="214122" y="132271"/>
                  </a:cubicBezTo>
                  <a:cubicBezTo>
                    <a:pt x="214122" y="170497"/>
                    <a:pt x="186754" y="201422"/>
                    <a:pt x="152971" y="201422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="" xmlns:a16="http://schemas.microsoft.com/office/drawing/2014/main" id="{5BCB1897-B3EA-424B-83AB-0BA379588A13}"/>
                </a:ext>
              </a:extLst>
            </p:cNvPr>
            <p:cNvSpPr/>
            <p:nvPr/>
          </p:nvSpPr>
          <p:spPr>
            <a:xfrm>
              <a:off x="11520360" y="360803"/>
              <a:ext cx="274054" cy="354016"/>
            </a:xfrm>
            <a:custGeom>
              <a:avLst/>
              <a:gdLst>
                <a:gd name="connsiteX0" fmla="*/ 218313 w 274054"/>
                <a:gd name="connsiteY0" fmla="*/ 165294 h 354016"/>
                <a:gd name="connsiteX1" fmla="*/ 218313 w 274054"/>
                <a:gd name="connsiteY1" fmla="*/ 165294 h 354016"/>
                <a:gd name="connsiteX2" fmla="*/ 118808 w 274054"/>
                <a:gd name="connsiteY2" fmla="*/ 105985 h 354016"/>
                <a:gd name="connsiteX3" fmla="*/ 118808 w 274054"/>
                <a:gd name="connsiteY3" fmla="*/ 105985 h 354016"/>
                <a:gd name="connsiteX4" fmla="*/ 111379 w 274054"/>
                <a:gd name="connsiteY4" fmla="*/ 85284 h 354016"/>
                <a:gd name="connsiteX5" fmla="*/ 137605 w 274054"/>
                <a:gd name="connsiteY5" fmla="*/ 63694 h 354016"/>
                <a:gd name="connsiteX6" fmla="*/ 257111 w 274054"/>
                <a:gd name="connsiteY6" fmla="*/ 63694 h 354016"/>
                <a:gd name="connsiteX7" fmla="*/ 257111 w 274054"/>
                <a:gd name="connsiteY7" fmla="*/ 194 h 354016"/>
                <a:gd name="connsiteX8" fmla="*/ 117031 w 274054"/>
                <a:gd name="connsiteY8" fmla="*/ 194 h 354016"/>
                <a:gd name="connsiteX9" fmla="*/ 6033 w 274054"/>
                <a:gd name="connsiteY9" fmla="*/ 88332 h 354016"/>
                <a:gd name="connsiteX10" fmla="*/ 53531 w 274054"/>
                <a:gd name="connsiteY10" fmla="*/ 183519 h 354016"/>
                <a:gd name="connsiteX11" fmla="*/ 65786 w 274054"/>
                <a:gd name="connsiteY11" fmla="*/ 191012 h 354016"/>
                <a:gd name="connsiteX12" fmla="*/ 124334 w 274054"/>
                <a:gd name="connsiteY12" fmla="*/ 226762 h 354016"/>
                <a:gd name="connsiteX13" fmla="*/ 153162 w 274054"/>
                <a:gd name="connsiteY13" fmla="*/ 245304 h 354016"/>
                <a:gd name="connsiteX14" fmla="*/ 157226 w 274054"/>
                <a:gd name="connsiteY14" fmla="*/ 271657 h 354016"/>
                <a:gd name="connsiteX15" fmla="*/ 130175 w 274054"/>
                <a:gd name="connsiteY15" fmla="*/ 286516 h 354016"/>
                <a:gd name="connsiteX16" fmla="*/ 32512 w 274054"/>
                <a:gd name="connsiteY16" fmla="*/ 286516 h 354016"/>
                <a:gd name="connsiteX17" fmla="*/ 0 w 274054"/>
                <a:gd name="connsiteY17" fmla="*/ 354016 h 354016"/>
                <a:gd name="connsiteX18" fmla="*/ 167449 w 274054"/>
                <a:gd name="connsiteY18" fmla="*/ 354016 h 354016"/>
                <a:gd name="connsiteX19" fmla="*/ 269621 w 274054"/>
                <a:gd name="connsiteY19" fmla="*/ 280801 h 354016"/>
                <a:gd name="connsiteX20" fmla="*/ 218313 w 274054"/>
                <a:gd name="connsiteY20" fmla="*/ 165231 h 35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054" h="354016">
                  <a:moveTo>
                    <a:pt x="218313" y="165294"/>
                  </a:moveTo>
                  <a:lnTo>
                    <a:pt x="218313" y="165294"/>
                  </a:lnTo>
                  <a:lnTo>
                    <a:pt x="118808" y="105985"/>
                  </a:lnTo>
                  <a:lnTo>
                    <a:pt x="118808" y="105985"/>
                  </a:lnTo>
                  <a:cubicBezTo>
                    <a:pt x="115253" y="102620"/>
                    <a:pt x="111379" y="96397"/>
                    <a:pt x="111379" y="85284"/>
                  </a:cubicBezTo>
                  <a:cubicBezTo>
                    <a:pt x="111379" y="68711"/>
                    <a:pt x="129921" y="64456"/>
                    <a:pt x="137605" y="63694"/>
                  </a:cubicBezTo>
                  <a:lnTo>
                    <a:pt x="257111" y="63694"/>
                  </a:lnTo>
                  <a:lnTo>
                    <a:pt x="257111" y="194"/>
                  </a:lnTo>
                  <a:lnTo>
                    <a:pt x="117031" y="194"/>
                  </a:lnTo>
                  <a:cubicBezTo>
                    <a:pt x="117031" y="194"/>
                    <a:pt x="15558" y="-8378"/>
                    <a:pt x="6033" y="88332"/>
                  </a:cubicBezTo>
                  <a:cubicBezTo>
                    <a:pt x="2604" y="137418"/>
                    <a:pt x="29083" y="166945"/>
                    <a:pt x="53531" y="183519"/>
                  </a:cubicBezTo>
                  <a:cubicBezTo>
                    <a:pt x="57721" y="186440"/>
                    <a:pt x="61849" y="188916"/>
                    <a:pt x="65786" y="191012"/>
                  </a:cubicBezTo>
                  <a:lnTo>
                    <a:pt x="124334" y="226762"/>
                  </a:lnTo>
                  <a:lnTo>
                    <a:pt x="153162" y="245304"/>
                  </a:lnTo>
                  <a:cubicBezTo>
                    <a:pt x="153162" y="245304"/>
                    <a:pt x="166433" y="256925"/>
                    <a:pt x="157226" y="271657"/>
                  </a:cubicBezTo>
                  <a:cubicBezTo>
                    <a:pt x="148082" y="286516"/>
                    <a:pt x="130175" y="286516"/>
                    <a:pt x="130175" y="286516"/>
                  </a:cubicBezTo>
                  <a:lnTo>
                    <a:pt x="32512" y="286516"/>
                  </a:lnTo>
                  <a:lnTo>
                    <a:pt x="0" y="354016"/>
                  </a:lnTo>
                  <a:lnTo>
                    <a:pt x="167449" y="354016"/>
                  </a:lnTo>
                  <a:cubicBezTo>
                    <a:pt x="167449" y="354016"/>
                    <a:pt x="248793" y="354143"/>
                    <a:pt x="269621" y="280801"/>
                  </a:cubicBezTo>
                  <a:cubicBezTo>
                    <a:pt x="289687" y="210125"/>
                    <a:pt x="236157" y="175962"/>
                    <a:pt x="218313" y="165231"/>
                  </a:cubicBezTo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5" name="Полилиния: фигура 14">
            <a:extLst>
              <a:ext uri="{FF2B5EF4-FFF2-40B4-BE49-F238E27FC236}">
                <a16:creationId xmlns="" xmlns:a16="http://schemas.microsoft.com/office/drawing/2014/main" id="{74CA07E6-3079-4264-AFAF-A7D3EFF609B6}"/>
              </a:ext>
            </a:extLst>
          </p:cNvPr>
          <p:cNvSpPr/>
          <p:nvPr/>
        </p:nvSpPr>
        <p:spPr>
          <a:xfrm>
            <a:off x="10863548" y="816484"/>
            <a:ext cx="3954494" cy="32099"/>
          </a:xfrm>
          <a:custGeom>
            <a:avLst/>
            <a:gdLst>
              <a:gd name="connsiteX0" fmla="*/ 0 w 2636329"/>
              <a:gd name="connsiteY0" fmla="*/ 0 h 21399"/>
              <a:gd name="connsiteX1" fmla="*/ 2636330 w 2636329"/>
              <a:gd name="connsiteY1" fmla="*/ 0 h 21399"/>
              <a:gd name="connsiteX2" fmla="*/ 2636330 w 2636329"/>
              <a:gd name="connsiteY2" fmla="*/ 21400 h 21399"/>
              <a:gd name="connsiteX3" fmla="*/ 0 w 2636329"/>
              <a:gd name="connsiteY3" fmla="*/ 21400 h 2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6329" h="21399">
                <a:moveTo>
                  <a:pt x="0" y="0"/>
                </a:moveTo>
                <a:lnTo>
                  <a:pt x="2636330" y="0"/>
                </a:lnTo>
                <a:lnTo>
                  <a:pt x="2636330" y="21400"/>
                </a:lnTo>
                <a:lnTo>
                  <a:pt x="0" y="21400"/>
                </a:ln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8F96BF0E-C727-422C-835B-915AC33A562B}"/>
              </a:ext>
            </a:extLst>
          </p:cNvPr>
          <p:cNvSpPr txBox="1"/>
          <p:nvPr/>
        </p:nvSpPr>
        <p:spPr>
          <a:xfrm>
            <a:off x="1984613" y="2150624"/>
            <a:ext cx="14202927" cy="2354491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/>
          <a:p>
            <a:pPr algn="ctr"/>
            <a:r>
              <a:rPr lang="ru-RU" sz="7200" b="1" dirty="0">
                <a:latin typeface="+mn-lt"/>
                <a:sym typeface="Calibri"/>
              </a:rPr>
              <a:t>Расширяем ассортимент </a:t>
            </a:r>
          </a:p>
          <a:p>
            <a:pPr algn="ctr"/>
            <a:r>
              <a:rPr lang="ru-RU" sz="5400" b="1" dirty="0" smtClean="0">
                <a:latin typeface="Calibri"/>
                <a:ea typeface="Calibri"/>
                <a:cs typeface="Calibri"/>
                <a:sym typeface="Calibri"/>
                <a:rtl val="0"/>
              </a:rPr>
              <a:t> </a:t>
            </a:r>
            <a:r>
              <a:rPr lang="ru-RU" sz="7200" b="1" dirty="0">
                <a:latin typeface="+mn-lt"/>
                <a:sym typeface="Calibri"/>
              </a:rPr>
              <a:t>28 новых продуктов по 6 брендам</a:t>
            </a:r>
          </a:p>
        </p:txBody>
      </p:sp>
      <p:grpSp>
        <p:nvGrpSpPr>
          <p:cNvPr id="26" name="Рисунок 4">
            <a:extLst>
              <a:ext uri="{FF2B5EF4-FFF2-40B4-BE49-F238E27FC236}">
                <a16:creationId xmlns="" xmlns:a16="http://schemas.microsoft.com/office/drawing/2014/main" id="{55C165D3-39F3-493D-98DF-2D0A5D9EC5B3}"/>
              </a:ext>
            </a:extLst>
          </p:cNvPr>
          <p:cNvGrpSpPr/>
          <p:nvPr/>
        </p:nvGrpSpPr>
        <p:grpSpPr>
          <a:xfrm>
            <a:off x="2166442" y="4991517"/>
            <a:ext cx="4286060" cy="1726451"/>
            <a:chOff x="1825752" y="3315843"/>
            <a:chExt cx="2231326" cy="831185"/>
          </a:xfrm>
        </p:grpSpPr>
        <p:grpSp>
          <p:nvGrpSpPr>
            <p:cNvPr id="27" name="Рисунок 4">
              <a:extLst>
                <a:ext uri="{FF2B5EF4-FFF2-40B4-BE49-F238E27FC236}">
                  <a16:creationId xmlns="" xmlns:a16="http://schemas.microsoft.com/office/drawing/2014/main" id="{A4AF6D78-2E48-4115-9F2E-6133E1CA8BBD}"/>
                </a:ext>
              </a:extLst>
            </p:cNvPr>
            <p:cNvGrpSpPr/>
            <p:nvPr/>
          </p:nvGrpSpPr>
          <p:grpSpPr>
            <a:xfrm>
              <a:off x="1825752" y="3315843"/>
              <a:ext cx="2231326" cy="489520"/>
              <a:chOff x="1825752" y="3315843"/>
              <a:chExt cx="2231326" cy="489520"/>
            </a:xfrm>
          </p:grpSpPr>
          <p:sp>
            <p:nvSpPr>
              <p:cNvPr id="28" name="Полилиния: фигура 27">
                <a:extLst>
                  <a:ext uri="{FF2B5EF4-FFF2-40B4-BE49-F238E27FC236}">
                    <a16:creationId xmlns="" xmlns:a16="http://schemas.microsoft.com/office/drawing/2014/main" id="{5023D9AB-D031-447E-AC08-2A2FF6F96267}"/>
                  </a:ext>
                </a:extLst>
              </p:cNvPr>
              <p:cNvSpPr/>
              <p:nvPr/>
            </p:nvSpPr>
            <p:spPr>
              <a:xfrm>
                <a:off x="1825752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id="{713367CC-22BA-41AA-925A-6513895B9831}"/>
                  </a:ext>
                </a:extLst>
              </p:cNvPr>
              <p:cNvSpPr txBox="1"/>
              <p:nvPr/>
            </p:nvSpPr>
            <p:spPr>
              <a:xfrm>
                <a:off x="2161809" y="3407554"/>
                <a:ext cx="155481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AV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GARDE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id="{33E3D05E-2C23-4AF9-98B7-D6020E0A2B8D}"/>
                  </a:ext>
                </a:extLst>
              </p:cNvPr>
              <p:cNvSpPr txBox="1"/>
              <p:nvPr/>
            </p:nvSpPr>
            <p:spPr>
              <a:xfrm>
                <a:off x="2655887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BEB34744-16B8-426B-9C0F-7FA251731666}"/>
                </a:ext>
              </a:extLst>
            </p:cNvPr>
            <p:cNvSpPr txBox="1"/>
            <p:nvPr/>
          </p:nvSpPr>
          <p:spPr>
            <a:xfrm>
              <a:off x="2721298" y="3821040"/>
              <a:ext cx="408249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3 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35" name="Рисунок 4">
            <a:extLst>
              <a:ext uri="{FF2B5EF4-FFF2-40B4-BE49-F238E27FC236}">
                <a16:creationId xmlns="" xmlns:a16="http://schemas.microsoft.com/office/drawing/2014/main" id="{1C3DD746-82D6-41EE-86C5-E5A907FCF375}"/>
              </a:ext>
            </a:extLst>
          </p:cNvPr>
          <p:cNvGrpSpPr/>
          <p:nvPr/>
        </p:nvGrpSpPr>
        <p:grpSpPr>
          <a:xfrm>
            <a:off x="7028859" y="5048365"/>
            <a:ext cx="4286060" cy="1669603"/>
            <a:chOff x="5067363" y="3343211"/>
            <a:chExt cx="2231326" cy="803816"/>
          </a:xfrm>
        </p:grpSpPr>
        <p:grpSp>
          <p:nvGrpSpPr>
            <p:cNvPr id="36" name="Рисунок 4">
              <a:extLst>
                <a:ext uri="{FF2B5EF4-FFF2-40B4-BE49-F238E27FC236}">
                  <a16:creationId xmlns="" xmlns:a16="http://schemas.microsoft.com/office/drawing/2014/main" id="{A6648A5C-ACB3-4470-A9D3-ED1F2C6171B0}"/>
                </a:ext>
              </a:extLst>
            </p:cNvPr>
            <p:cNvGrpSpPr/>
            <p:nvPr/>
          </p:nvGrpSpPr>
          <p:grpSpPr>
            <a:xfrm>
              <a:off x="5067363" y="3343211"/>
              <a:ext cx="2231326" cy="462152"/>
              <a:chOff x="5067363" y="3343211"/>
              <a:chExt cx="2231326" cy="462152"/>
            </a:xfrm>
          </p:grpSpPr>
          <p:sp>
            <p:nvSpPr>
              <p:cNvPr id="37" name="Полилиния: фигура 36">
                <a:extLst>
                  <a:ext uri="{FF2B5EF4-FFF2-40B4-BE49-F238E27FC236}">
                    <a16:creationId xmlns="" xmlns:a16="http://schemas.microsoft.com/office/drawing/2014/main" id="{AA3E6630-1F3D-438D-9EBE-1E3979A91CCF}"/>
                  </a:ext>
                </a:extLst>
              </p:cNvPr>
              <p:cNvSpPr/>
              <p:nvPr/>
            </p:nvSpPr>
            <p:spPr>
              <a:xfrm>
                <a:off x="5067363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D99B44E2-53D9-48F4-8E00-4411046F22BA}"/>
                  </a:ext>
                </a:extLst>
              </p:cNvPr>
              <p:cNvSpPr txBox="1"/>
              <p:nvPr/>
            </p:nvSpPr>
            <p:spPr>
              <a:xfrm>
                <a:off x="5824041" y="3408513"/>
                <a:ext cx="716289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TIT</a:t>
                </a:r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AN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="" xmlns:a16="http://schemas.microsoft.com/office/drawing/2014/main" id="{B8D1C7FC-69E1-4769-86F9-2505DFC39A8E}"/>
                </a:ext>
              </a:extLst>
            </p:cNvPr>
            <p:cNvSpPr txBox="1"/>
            <p:nvPr/>
          </p:nvSpPr>
          <p:spPr>
            <a:xfrm>
              <a:off x="5990838" y="3821039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4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2" name="Рисунок 4">
            <a:extLst>
              <a:ext uri="{FF2B5EF4-FFF2-40B4-BE49-F238E27FC236}">
                <a16:creationId xmlns="" xmlns:a16="http://schemas.microsoft.com/office/drawing/2014/main" id="{F80AC400-D71B-4B8A-B879-BAD7DE21329E}"/>
              </a:ext>
            </a:extLst>
          </p:cNvPr>
          <p:cNvGrpSpPr/>
          <p:nvPr/>
        </p:nvGrpSpPr>
        <p:grpSpPr>
          <a:xfrm>
            <a:off x="11891188" y="4991520"/>
            <a:ext cx="4286062" cy="1713750"/>
            <a:chOff x="8308911" y="3315843"/>
            <a:chExt cx="2231326" cy="825070"/>
          </a:xfrm>
        </p:grpSpPr>
        <p:grpSp>
          <p:nvGrpSpPr>
            <p:cNvPr id="43" name="Рисунок 4">
              <a:extLst>
                <a:ext uri="{FF2B5EF4-FFF2-40B4-BE49-F238E27FC236}">
                  <a16:creationId xmlns="" xmlns:a16="http://schemas.microsoft.com/office/drawing/2014/main" id="{1EFFD785-A630-497D-9D75-A4631C735EF3}"/>
                </a:ext>
              </a:extLst>
            </p:cNvPr>
            <p:cNvGrpSpPr/>
            <p:nvPr/>
          </p:nvGrpSpPr>
          <p:grpSpPr>
            <a:xfrm>
              <a:off x="8308911" y="3315843"/>
              <a:ext cx="2231326" cy="489520"/>
              <a:chOff x="8308911" y="3315843"/>
              <a:chExt cx="2231326" cy="489520"/>
            </a:xfrm>
          </p:grpSpPr>
          <p:sp>
            <p:nvSpPr>
              <p:cNvPr id="44" name="Полилиния: фигура 43">
                <a:extLst>
                  <a:ext uri="{FF2B5EF4-FFF2-40B4-BE49-F238E27FC236}">
                    <a16:creationId xmlns="" xmlns:a16="http://schemas.microsoft.com/office/drawing/2014/main" id="{DA80E52F-CE0E-4F05-99F4-24B710B27215}"/>
                  </a:ext>
                </a:extLst>
              </p:cNvPr>
              <p:cNvSpPr/>
              <p:nvPr/>
            </p:nvSpPr>
            <p:spPr>
              <a:xfrm>
                <a:off x="8308911" y="334321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="" xmlns:a16="http://schemas.microsoft.com/office/drawing/2014/main" id="{733F0B62-460E-4C2D-874E-6120429527AB}"/>
                  </a:ext>
                </a:extLst>
              </p:cNvPr>
              <p:cNvSpPr txBox="1"/>
              <p:nvPr/>
            </p:nvSpPr>
            <p:spPr>
              <a:xfrm>
                <a:off x="8825345" y="3395326"/>
                <a:ext cx="119841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NEW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TONE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="" xmlns:a16="http://schemas.microsoft.com/office/drawing/2014/main" id="{4A5B23C9-90C0-4AF3-BE63-A911F21AB40D}"/>
                  </a:ext>
                </a:extLst>
              </p:cNvPr>
              <p:cNvSpPr txBox="1"/>
              <p:nvPr/>
            </p:nvSpPr>
            <p:spPr>
              <a:xfrm>
                <a:off x="9265538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="" xmlns:a16="http://schemas.microsoft.com/office/drawing/2014/main" id="{5DFD9EB6-799C-475C-AF5C-CF99E23F7445}"/>
                  </a:ext>
                </a:extLst>
              </p:cNvPr>
              <p:cNvSpPr txBox="1"/>
              <p:nvPr/>
            </p:nvSpPr>
            <p:spPr>
              <a:xfrm>
                <a:off x="9414192" y="3315843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57D26E7D-3CDF-40D5-9122-730AA51A1896}"/>
                </a:ext>
              </a:extLst>
            </p:cNvPr>
            <p:cNvSpPr txBox="1"/>
            <p:nvPr/>
          </p:nvSpPr>
          <p:spPr>
            <a:xfrm>
              <a:off x="9222320" y="38149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2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49" name="Рисунок 4">
            <a:extLst>
              <a:ext uri="{FF2B5EF4-FFF2-40B4-BE49-F238E27FC236}">
                <a16:creationId xmlns="" xmlns:a16="http://schemas.microsoft.com/office/drawing/2014/main" id="{3DE5856B-7108-4D95-9100-7CDF6D31D82E}"/>
              </a:ext>
            </a:extLst>
          </p:cNvPr>
          <p:cNvGrpSpPr/>
          <p:nvPr/>
        </p:nvGrpSpPr>
        <p:grpSpPr>
          <a:xfrm>
            <a:off x="2166442" y="7273403"/>
            <a:ext cx="4286060" cy="1764681"/>
            <a:chOff x="1825752" y="4815522"/>
            <a:chExt cx="2231326" cy="849591"/>
          </a:xfrm>
        </p:grpSpPr>
        <p:grpSp>
          <p:nvGrpSpPr>
            <p:cNvPr id="50" name="Рисунок 4">
              <a:extLst>
                <a:ext uri="{FF2B5EF4-FFF2-40B4-BE49-F238E27FC236}">
                  <a16:creationId xmlns="" xmlns:a16="http://schemas.microsoft.com/office/drawing/2014/main" id="{16B3037D-FF15-4184-BA12-C3E1C373D3B3}"/>
                </a:ext>
              </a:extLst>
            </p:cNvPr>
            <p:cNvGrpSpPr/>
            <p:nvPr/>
          </p:nvGrpSpPr>
          <p:grpSpPr>
            <a:xfrm>
              <a:off x="1825752" y="4815522"/>
              <a:ext cx="2231326" cy="489521"/>
              <a:chOff x="1825752" y="4815522"/>
              <a:chExt cx="2231326" cy="489521"/>
            </a:xfrm>
          </p:grpSpPr>
          <p:sp>
            <p:nvSpPr>
              <p:cNvPr id="51" name="Полилиния: фигура 50">
                <a:extLst>
                  <a:ext uri="{FF2B5EF4-FFF2-40B4-BE49-F238E27FC236}">
                    <a16:creationId xmlns="" xmlns:a16="http://schemas.microsoft.com/office/drawing/2014/main" id="{209742C6-888A-46F2-870C-824E88D79C0D}"/>
                  </a:ext>
                </a:extLst>
              </p:cNvPr>
              <p:cNvSpPr/>
              <p:nvPr/>
            </p:nvSpPr>
            <p:spPr>
              <a:xfrm>
                <a:off x="1825752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6 w 2231326"/>
                  <a:gd name="connsiteY1" fmla="*/ 218630 h 462152"/>
                  <a:gd name="connsiteX2" fmla="*/ 2231326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6" y="97884"/>
                      <a:pt x="2231326" y="218630"/>
                    </a:cubicBezTo>
                    <a:lnTo>
                      <a:pt x="2231326" y="243522"/>
                    </a:lnTo>
                    <a:cubicBezTo>
                      <a:pt x="2231326" y="364268"/>
                      <a:pt x="2133442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25594756-14E9-461C-BAFD-0ED45E8012D9}"/>
                  </a:ext>
                </a:extLst>
              </p:cNvPr>
              <p:cNvSpPr txBox="1"/>
              <p:nvPr/>
            </p:nvSpPr>
            <p:spPr>
              <a:xfrm>
                <a:off x="2516443" y="4907233"/>
                <a:ext cx="846175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ОРЕОЛ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489C5B48-1EEF-4A83-A6D7-792B6246C32B}"/>
                  </a:ext>
                </a:extLst>
              </p:cNvPr>
              <p:cNvSpPr txBox="1"/>
              <p:nvPr/>
            </p:nvSpPr>
            <p:spPr>
              <a:xfrm>
                <a:off x="2714982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75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="" xmlns:a16="http://schemas.microsoft.com/office/drawing/2014/main" id="{4B53B1A7-AF21-4DB3-92C9-3D274E68C736}"/>
                  </a:ext>
                </a:extLst>
              </p:cNvPr>
              <p:cNvSpPr txBox="1"/>
              <p:nvPr/>
            </p:nvSpPr>
            <p:spPr>
              <a:xfrm>
                <a:off x="288321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="" xmlns:a16="http://schemas.microsoft.com/office/drawing/2014/main" id="{409AAED4-1373-4A26-B9BD-1C8ACC307A9E}"/>
                  </a:ext>
                </a:extLst>
              </p:cNvPr>
              <p:cNvSpPr txBox="1"/>
              <p:nvPr/>
            </p:nvSpPr>
            <p:spPr>
              <a:xfrm>
                <a:off x="3089528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2147B504-446C-49E4-88EE-F653FA377DF0}"/>
                </a:ext>
              </a:extLst>
            </p:cNvPr>
            <p:cNvSpPr txBox="1"/>
            <p:nvPr/>
          </p:nvSpPr>
          <p:spPr>
            <a:xfrm>
              <a:off x="2762943" y="5339125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8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57" name="Рисунок 4">
            <a:extLst>
              <a:ext uri="{FF2B5EF4-FFF2-40B4-BE49-F238E27FC236}">
                <a16:creationId xmlns="" xmlns:a16="http://schemas.microsoft.com/office/drawing/2014/main" id="{9AFAF904-E2BB-4614-9964-922C08262574}"/>
              </a:ext>
            </a:extLst>
          </p:cNvPr>
          <p:cNvGrpSpPr/>
          <p:nvPr/>
        </p:nvGrpSpPr>
        <p:grpSpPr>
          <a:xfrm>
            <a:off x="7028875" y="7330258"/>
            <a:ext cx="4286065" cy="1695133"/>
            <a:chOff x="5067363" y="4842891"/>
            <a:chExt cx="2231326" cy="816107"/>
          </a:xfrm>
        </p:grpSpPr>
        <p:grpSp>
          <p:nvGrpSpPr>
            <p:cNvPr id="58" name="Рисунок 4">
              <a:extLst>
                <a:ext uri="{FF2B5EF4-FFF2-40B4-BE49-F238E27FC236}">
                  <a16:creationId xmlns="" xmlns:a16="http://schemas.microsoft.com/office/drawing/2014/main" id="{E5E92686-6DDF-479D-BD0D-6A3F952F8C08}"/>
                </a:ext>
              </a:extLst>
            </p:cNvPr>
            <p:cNvGrpSpPr/>
            <p:nvPr/>
          </p:nvGrpSpPr>
          <p:grpSpPr>
            <a:xfrm>
              <a:off x="5067363" y="4842891"/>
              <a:ext cx="2231326" cy="462152"/>
              <a:chOff x="5067363" y="4842891"/>
              <a:chExt cx="2231326" cy="462152"/>
            </a:xfrm>
          </p:grpSpPr>
          <p:sp>
            <p:nvSpPr>
              <p:cNvPr id="59" name="Полилиния: фигура 58">
                <a:extLst>
                  <a:ext uri="{FF2B5EF4-FFF2-40B4-BE49-F238E27FC236}">
                    <a16:creationId xmlns="" xmlns:a16="http://schemas.microsoft.com/office/drawing/2014/main" id="{7B92CFF5-9D5F-445D-9429-8B77CD487F53}"/>
                  </a:ext>
                </a:extLst>
              </p:cNvPr>
              <p:cNvSpPr/>
              <p:nvPr/>
            </p:nvSpPr>
            <p:spPr>
              <a:xfrm>
                <a:off x="5067363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0 w 2231326"/>
                  <a:gd name="connsiteY5" fmla="*/ 243522 h 462152"/>
                  <a:gd name="connsiteX6" fmla="*/ 0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0" y="364268"/>
                      <a:pt x="0" y="243522"/>
                    </a:cubicBezTo>
                    <a:lnTo>
                      <a:pt x="0" y="218630"/>
                    </a:lnTo>
                    <a:cubicBezTo>
                      <a:pt x="0" y="97884"/>
                      <a:pt x="97884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="" xmlns:a16="http://schemas.microsoft.com/office/drawing/2014/main" id="{0204A586-293E-47AA-9CAC-9B3598EDBC3A}"/>
                  </a:ext>
                </a:extLst>
              </p:cNvPr>
              <p:cNvSpPr txBox="1"/>
              <p:nvPr/>
            </p:nvSpPr>
            <p:spPr>
              <a:xfrm>
                <a:off x="5448192" y="4907234"/>
                <a:ext cx="1459183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P</a:t>
                </a:r>
                <a:r>
                  <a:rPr lang="en-US" sz="3800" b="1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ROFIWOOD</a:t>
                </a:r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="" xmlns:a16="http://schemas.microsoft.com/office/drawing/2014/main" id="{BDD0E484-1B17-45B8-B199-92769CD245FF}"/>
                </a:ext>
              </a:extLst>
            </p:cNvPr>
            <p:cNvSpPr txBox="1"/>
            <p:nvPr/>
          </p:nvSpPr>
          <p:spPr>
            <a:xfrm>
              <a:off x="5927749" y="5333010"/>
              <a:ext cx="479184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10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66" name="Рисунок 4">
            <a:extLst>
              <a:ext uri="{FF2B5EF4-FFF2-40B4-BE49-F238E27FC236}">
                <a16:creationId xmlns="" xmlns:a16="http://schemas.microsoft.com/office/drawing/2014/main" id="{FE3AD134-B9B9-4B69-8598-6B0A0F3785B0}"/>
              </a:ext>
            </a:extLst>
          </p:cNvPr>
          <p:cNvGrpSpPr/>
          <p:nvPr/>
        </p:nvGrpSpPr>
        <p:grpSpPr>
          <a:xfrm>
            <a:off x="11891185" y="7273405"/>
            <a:ext cx="4286061" cy="1751982"/>
            <a:chOff x="8308911" y="4815522"/>
            <a:chExt cx="2231326" cy="843477"/>
          </a:xfrm>
        </p:grpSpPr>
        <p:grpSp>
          <p:nvGrpSpPr>
            <p:cNvPr id="67" name="Рисунок 4">
              <a:extLst>
                <a:ext uri="{FF2B5EF4-FFF2-40B4-BE49-F238E27FC236}">
                  <a16:creationId xmlns="" xmlns:a16="http://schemas.microsoft.com/office/drawing/2014/main" id="{59C055B7-CDDA-4393-9C33-A8316D783CF2}"/>
                </a:ext>
              </a:extLst>
            </p:cNvPr>
            <p:cNvGrpSpPr/>
            <p:nvPr/>
          </p:nvGrpSpPr>
          <p:grpSpPr>
            <a:xfrm>
              <a:off x="8308911" y="4815522"/>
              <a:ext cx="2231326" cy="489521"/>
              <a:chOff x="8308911" y="4815522"/>
              <a:chExt cx="2231326" cy="489521"/>
            </a:xfrm>
          </p:grpSpPr>
          <p:sp>
            <p:nvSpPr>
              <p:cNvPr id="68" name="Полилиния: фигура 67">
                <a:extLst>
                  <a:ext uri="{FF2B5EF4-FFF2-40B4-BE49-F238E27FC236}">
                    <a16:creationId xmlns="" xmlns:a16="http://schemas.microsoft.com/office/drawing/2014/main" id="{FF5A1137-13E3-4BE1-9538-86C0BC866073}"/>
                  </a:ext>
                </a:extLst>
              </p:cNvPr>
              <p:cNvSpPr/>
              <p:nvPr/>
            </p:nvSpPr>
            <p:spPr>
              <a:xfrm>
                <a:off x="8308911" y="4842891"/>
                <a:ext cx="2231326" cy="462152"/>
              </a:xfrm>
              <a:custGeom>
                <a:avLst/>
                <a:gdLst>
                  <a:gd name="connsiteX0" fmla="*/ 2012696 w 2231326"/>
                  <a:gd name="connsiteY0" fmla="*/ 0 h 462152"/>
                  <a:gd name="connsiteX1" fmla="*/ 2231327 w 2231326"/>
                  <a:gd name="connsiteY1" fmla="*/ 218630 h 462152"/>
                  <a:gd name="connsiteX2" fmla="*/ 2231327 w 2231326"/>
                  <a:gd name="connsiteY2" fmla="*/ 243522 h 462152"/>
                  <a:gd name="connsiteX3" fmla="*/ 2012696 w 2231326"/>
                  <a:gd name="connsiteY3" fmla="*/ 462153 h 462152"/>
                  <a:gd name="connsiteX4" fmla="*/ 218630 w 2231326"/>
                  <a:gd name="connsiteY4" fmla="*/ 462153 h 462152"/>
                  <a:gd name="connsiteX5" fmla="*/ -1 w 2231326"/>
                  <a:gd name="connsiteY5" fmla="*/ 243522 h 462152"/>
                  <a:gd name="connsiteX6" fmla="*/ -1 w 2231326"/>
                  <a:gd name="connsiteY6" fmla="*/ 218630 h 462152"/>
                  <a:gd name="connsiteX7" fmla="*/ 218630 w 2231326"/>
                  <a:gd name="connsiteY7" fmla="*/ 0 h 462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31326" h="462152">
                    <a:moveTo>
                      <a:pt x="2012696" y="0"/>
                    </a:moveTo>
                    <a:cubicBezTo>
                      <a:pt x="2133442" y="0"/>
                      <a:pt x="2231327" y="97884"/>
                      <a:pt x="2231327" y="218630"/>
                    </a:cubicBezTo>
                    <a:lnTo>
                      <a:pt x="2231327" y="243522"/>
                    </a:lnTo>
                    <a:cubicBezTo>
                      <a:pt x="2231327" y="364268"/>
                      <a:pt x="2133443" y="462153"/>
                      <a:pt x="2012696" y="462153"/>
                    </a:cubicBezTo>
                    <a:lnTo>
                      <a:pt x="218630" y="462153"/>
                    </a:lnTo>
                    <a:cubicBezTo>
                      <a:pt x="97884" y="462153"/>
                      <a:pt x="-1" y="364268"/>
                      <a:pt x="-1" y="243522"/>
                    </a:cubicBezTo>
                    <a:lnTo>
                      <a:pt x="-1" y="218630"/>
                    </a:lnTo>
                    <a:cubicBezTo>
                      <a:pt x="-1" y="97884"/>
                      <a:pt x="97883" y="0"/>
                      <a:pt x="218630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id="{FB1389F8-B55B-43E2-A452-D10A77842CDF}"/>
                  </a:ext>
                </a:extLst>
              </p:cNvPr>
              <p:cNvSpPr txBox="1"/>
              <p:nvPr/>
            </p:nvSpPr>
            <p:spPr>
              <a:xfrm>
                <a:off x="8927168" y="4895005"/>
                <a:ext cx="100243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ru-RU" sz="3800" b="1" spc="-113" dirty="0" smtClean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РАСЦВЕТ</a:t>
                </a:r>
                <a:endParaRPr lang="ru-RU" sz="3800" b="1" spc="-113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id="{A8293E53-C981-4E3E-B125-7F06EF49A0A3}"/>
                  </a:ext>
                </a:extLst>
              </p:cNvPr>
              <p:cNvSpPr txBox="1"/>
              <p:nvPr/>
            </p:nvSpPr>
            <p:spPr>
              <a:xfrm>
                <a:off x="9592500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="" xmlns:a16="http://schemas.microsoft.com/office/drawing/2014/main" id="{F9053D41-71DD-42A5-A734-19BC19FA8B4B}"/>
                  </a:ext>
                </a:extLst>
              </p:cNvPr>
              <p:cNvSpPr txBox="1"/>
              <p:nvPr/>
            </p:nvSpPr>
            <p:spPr>
              <a:xfrm>
                <a:off x="9746297" y="4815522"/>
                <a:ext cx="96171" cy="325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endParaRPr lang="ru-RU" sz="3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="" xmlns:a16="http://schemas.microsoft.com/office/drawing/2014/main" id="{959C973D-3AF5-47E9-A3CF-ECDC3C56A2FD}"/>
                </a:ext>
              </a:extLst>
            </p:cNvPr>
            <p:cNvSpPr txBox="1"/>
            <p:nvPr/>
          </p:nvSpPr>
          <p:spPr>
            <a:xfrm>
              <a:off x="9259820" y="5333011"/>
              <a:ext cx="350667" cy="3259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+</a:t>
              </a:r>
              <a:r>
                <a:rPr lang="ru-RU" sz="3800" b="1" dirty="0" smtClean="0">
                  <a:latin typeface="Calibri"/>
                  <a:ea typeface="Calibri"/>
                  <a:cs typeface="Calibri"/>
                  <a:sym typeface="Calibri"/>
                  <a:rtl val="0"/>
                </a:rPr>
                <a:t>1</a:t>
              </a:r>
              <a:endParaRPr lang="ru-RU" sz="3800" b="1" dirty="0"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94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2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3776868"/>
            <a:ext cx="16848000" cy="28007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ПАРТНЕРСКАЯ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+mn-lt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17BE049-1777-413B-B528-A3579A6F628A}"/>
              </a:ext>
            </a:extLst>
          </p:cNvPr>
          <p:cNvSpPr txBox="1"/>
          <p:nvPr/>
        </p:nvSpPr>
        <p:spPr>
          <a:xfrm>
            <a:off x="614316" y="353155"/>
            <a:ext cx="7195392" cy="815608"/>
          </a:xfrm>
          <a:prstGeom prst="rect">
            <a:avLst/>
          </a:prstGeom>
          <a:noFill/>
        </p:spPr>
        <p:txBody>
          <a:bodyPr wrap="square" lIns="137160" tIns="68580" rIns="137160" bIns="68580" rtlCol="0">
            <a:spAutoFit/>
          </a:bodyPr>
          <a:lstStyle/>
          <a:p>
            <a:pPr algn="l"/>
            <a:r>
              <a:rPr lang="ru-RU" sz="4400" b="1" dirty="0">
                <a:solidFill>
                  <a:srgbClr val="656565"/>
                </a:solidFill>
                <a:latin typeface="Inter Extra Bold" panose="02000903000000020004" pitchFamily="2" charset="0"/>
                <a:sym typeface="Calibri"/>
              </a:rPr>
              <a:t>ВМЕСТЕ С ЭМПИЛС</a:t>
            </a:r>
          </a:p>
        </p:txBody>
      </p:sp>
      <p:grpSp>
        <p:nvGrpSpPr>
          <p:cNvPr id="32" name="Рисунок 4">
            <a:extLst>
              <a:ext uri="{FF2B5EF4-FFF2-40B4-BE49-F238E27FC236}">
                <a16:creationId xmlns="" xmlns:a16="http://schemas.microsoft.com/office/drawing/2014/main" id="{F5840A9B-16AC-4147-BD22-EA3976C413A6}"/>
              </a:ext>
            </a:extLst>
          </p:cNvPr>
          <p:cNvGrpSpPr/>
          <p:nvPr/>
        </p:nvGrpSpPr>
        <p:grpSpPr>
          <a:xfrm>
            <a:off x="676751" y="2489201"/>
            <a:ext cx="16934498" cy="6801707"/>
            <a:chOff x="451167" y="1803400"/>
            <a:chExt cx="11289665" cy="4534471"/>
          </a:xfrm>
        </p:grpSpPr>
        <p:grpSp>
          <p:nvGrpSpPr>
            <p:cNvPr id="33" name="Рисунок 4">
              <a:extLst>
                <a:ext uri="{FF2B5EF4-FFF2-40B4-BE49-F238E27FC236}">
                  <a16:creationId xmlns="" xmlns:a16="http://schemas.microsoft.com/office/drawing/2014/main" id="{FCB936C5-CDAA-4E19-86B6-E189EB9AF5D8}"/>
                </a:ext>
              </a:extLst>
            </p:cNvPr>
            <p:cNvGrpSpPr/>
            <p:nvPr/>
          </p:nvGrpSpPr>
          <p:grpSpPr>
            <a:xfrm>
              <a:off x="451167" y="1803400"/>
              <a:ext cx="7955725" cy="4534471"/>
              <a:chOff x="451167" y="1803400"/>
              <a:chExt cx="7955725" cy="4534471"/>
            </a:xfrm>
          </p:grpSpPr>
          <p:grpSp>
            <p:nvGrpSpPr>
              <p:cNvPr id="34" name="Рисунок 4">
                <a:extLst>
                  <a:ext uri="{FF2B5EF4-FFF2-40B4-BE49-F238E27FC236}">
                    <a16:creationId xmlns="" xmlns:a16="http://schemas.microsoft.com/office/drawing/2014/main" id="{3C6F0FEB-FB1C-45F9-8BE1-E40014C663AD}"/>
                  </a:ext>
                </a:extLst>
              </p:cNvPr>
              <p:cNvGrpSpPr/>
              <p:nvPr/>
            </p:nvGrpSpPr>
            <p:grpSpPr>
              <a:xfrm>
                <a:off x="451167" y="1803400"/>
                <a:ext cx="3154680" cy="4534471"/>
                <a:chOff x="451167" y="1803400"/>
                <a:chExt cx="3154680" cy="4534471"/>
              </a:xfrm>
            </p:grpSpPr>
            <p:grpSp>
              <p:nvGrpSpPr>
                <p:cNvPr id="45" name="Рисунок 4">
                  <a:extLst>
                    <a:ext uri="{FF2B5EF4-FFF2-40B4-BE49-F238E27FC236}">
                      <a16:creationId xmlns="" xmlns:a16="http://schemas.microsoft.com/office/drawing/2014/main" id="{837B8E62-BEEE-4D10-9229-F39B0327CD32}"/>
                    </a:ext>
                  </a:extLst>
                </p:cNvPr>
                <p:cNvGrpSpPr/>
                <p:nvPr/>
              </p:nvGrpSpPr>
              <p:grpSpPr>
                <a:xfrm>
                  <a:off x="451167" y="1803400"/>
                  <a:ext cx="3154680" cy="1178115"/>
                  <a:chOff x="451167" y="1803400"/>
                  <a:chExt cx="3154680" cy="1178115"/>
                </a:xfrm>
              </p:grpSpPr>
              <p:sp>
                <p:nvSpPr>
                  <p:cNvPr id="46" name="Полилиния: фигура 45">
                    <a:extLst>
                      <a:ext uri="{FF2B5EF4-FFF2-40B4-BE49-F238E27FC236}">
                        <a16:creationId xmlns="" xmlns:a16="http://schemas.microsoft.com/office/drawing/2014/main" id="{639BAF63-3EF0-4D5D-834A-6E31B3361F29}"/>
                      </a:ext>
                    </a:extLst>
                  </p:cNvPr>
                  <p:cNvSpPr/>
                  <p:nvPr/>
                </p:nvSpPr>
                <p:spPr>
                  <a:xfrm>
                    <a:off x="866330" y="1995551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7 h 237426"/>
                      <a:gd name="connsiteX3" fmla="*/ 2468245 w 2544445"/>
                      <a:gd name="connsiteY3" fmla="*/ 237427 h 237426"/>
                      <a:gd name="connsiteX4" fmla="*/ 76200 w 2544445"/>
                      <a:gd name="connsiteY4" fmla="*/ 237427 h 237426"/>
                      <a:gd name="connsiteX5" fmla="*/ 0 w 2544445"/>
                      <a:gd name="connsiteY5" fmla="*/ 161227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7"/>
                        </a:lnTo>
                        <a:cubicBezTo>
                          <a:pt x="2544445" y="203311"/>
                          <a:pt x="2510329" y="237427"/>
                          <a:pt x="2468245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="" xmlns:a16="http://schemas.microsoft.com/office/drawing/2014/main" id="{8E2EB340-664B-4DC9-A262-673D505A8FC3}"/>
                      </a:ext>
                    </a:extLst>
                  </p:cNvPr>
                  <p:cNvSpPr txBox="1"/>
                  <p:nvPr/>
                </p:nvSpPr>
                <p:spPr>
                  <a:xfrm>
                    <a:off x="870349" y="1973045"/>
                    <a:ext cx="206167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ДИРЕ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="" xmlns:a16="http://schemas.microsoft.com/office/drawing/2014/main" id="{5B17C297-F7FE-41CF-816D-31FAD03B1465}"/>
                      </a:ext>
                    </a:extLst>
                  </p:cNvPr>
                  <p:cNvSpPr txBox="1"/>
                  <p:nvPr/>
                </p:nvSpPr>
                <p:spPr>
                  <a:xfrm>
                    <a:off x="2760789" y="1954847"/>
                    <a:ext cx="23425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К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="" xmlns:a16="http://schemas.microsoft.com/office/drawing/2014/main" id="{DB6843F5-D94F-4004-B79A-343AE9A7807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7786" y="1954847"/>
                    <a:ext cx="2165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spc="-45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Т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="" xmlns:a16="http://schemas.microsoft.com/office/drawing/2014/main" id="{4DC6B8F8-3988-4A6D-BA3D-6D319CE138EE}"/>
                      </a:ext>
                    </a:extLst>
                  </p:cNvPr>
                  <p:cNvSpPr txBox="1"/>
                  <p:nvPr/>
                </p:nvSpPr>
                <p:spPr>
                  <a:xfrm>
                    <a:off x="2958973" y="1954847"/>
                    <a:ext cx="360355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ОР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="" xmlns:a16="http://schemas.microsoft.com/office/drawing/2014/main" id="{4780493A-FF5B-4422-8C11-0FC32845CA02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438" y="2234755"/>
                    <a:ext cx="160515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50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89" name="Полилиния: фигура 88">
                    <a:extLst>
                      <a:ext uri="{FF2B5EF4-FFF2-40B4-BE49-F238E27FC236}">
                        <a16:creationId xmlns="" xmlns:a16="http://schemas.microsoft.com/office/drawing/2014/main" id="{C365F087-86FD-4C64-B690-23151BDF3EE1}"/>
                      </a:ext>
                    </a:extLst>
                  </p:cNvPr>
                  <p:cNvSpPr/>
                  <p:nvPr/>
                </p:nvSpPr>
                <p:spPr>
                  <a:xfrm>
                    <a:off x="451167" y="1803400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0" name="Полилиния: фигура 89">
                    <a:extLst>
                      <a:ext uri="{FF2B5EF4-FFF2-40B4-BE49-F238E27FC236}">
                        <a16:creationId xmlns="" xmlns:a16="http://schemas.microsoft.com/office/drawing/2014/main" id="{99E847E8-2EDD-4210-9097-E919DCF46202}"/>
                      </a:ext>
                    </a:extLst>
                  </p:cNvPr>
                  <p:cNvSpPr/>
                  <p:nvPr/>
                </p:nvSpPr>
                <p:spPr>
                  <a:xfrm>
                    <a:off x="601513" y="1982913"/>
                    <a:ext cx="228824" cy="261241"/>
                  </a:xfrm>
                  <a:custGeom>
                    <a:avLst/>
                    <a:gdLst>
                      <a:gd name="connsiteX0" fmla="*/ 90001 w 228824"/>
                      <a:gd name="connsiteY0" fmla="*/ 131065 h 261241"/>
                      <a:gd name="connsiteX1" fmla="*/ 48980 w 228824"/>
                      <a:gd name="connsiteY1" fmla="*/ 50102 h 261241"/>
                      <a:gd name="connsiteX2" fmla="*/ 114322 w 228824"/>
                      <a:gd name="connsiteY2" fmla="*/ 1 h 261241"/>
                      <a:gd name="connsiteX3" fmla="*/ 179663 w 228824"/>
                      <a:gd name="connsiteY3" fmla="*/ 50102 h 261241"/>
                      <a:gd name="connsiteX4" fmla="*/ 140103 w 228824"/>
                      <a:gd name="connsiteY4" fmla="*/ 130557 h 261241"/>
                      <a:gd name="connsiteX5" fmla="*/ 164868 w 228824"/>
                      <a:gd name="connsiteY5" fmla="*/ 137288 h 261241"/>
                      <a:gd name="connsiteX6" fmla="*/ 225447 w 228824"/>
                      <a:gd name="connsiteY6" fmla="*/ 195581 h 261241"/>
                      <a:gd name="connsiteX7" fmla="*/ 216811 w 228824"/>
                      <a:gd name="connsiteY7" fmla="*/ 240412 h 261241"/>
                      <a:gd name="connsiteX8" fmla="*/ 168868 w 228824"/>
                      <a:gd name="connsiteY8" fmla="*/ 261240 h 261241"/>
                      <a:gd name="connsiteX9" fmla="*/ 58886 w 228824"/>
                      <a:gd name="connsiteY9" fmla="*/ 261240 h 261241"/>
                      <a:gd name="connsiteX10" fmla="*/ 7705 w 228824"/>
                      <a:gd name="connsiteY10" fmla="*/ 234062 h 261241"/>
                      <a:gd name="connsiteX11" fmla="*/ 4467 w 228824"/>
                      <a:gd name="connsiteY11" fmla="*/ 192279 h 261241"/>
                      <a:gd name="connsiteX12" fmla="*/ 49044 w 228824"/>
                      <a:gd name="connsiteY12" fmla="*/ 143765 h 261241"/>
                      <a:gd name="connsiteX13" fmla="*/ 85556 w 228824"/>
                      <a:gd name="connsiteY13" fmla="*/ 131827 h 261241"/>
                      <a:gd name="connsiteX14" fmla="*/ 90001 w 228824"/>
                      <a:gd name="connsiteY14" fmla="*/ 131128 h 261241"/>
                      <a:gd name="connsiteX15" fmla="*/ 91398 w 228824"/>
                      <a:gd name="connsiteY15" fmla="*/ 38545 h 261241"/>
                      <a:gd name="connsiteX16" fmla="*/ 57299 w 228824"/>
                      <a:gd name="connsiteY16" fmla="*/ 59691 h 261241"/>
                      <a:gd name="connsiteX17" fmla="*/ 85239 w 228824"/>
                      <a:gd name="connsiteY17" fmla="*/ 118365 h 261241"/>
                      <a:gd name="connsiteX18" fmla="*/ 152993 w 228824"/>
                      <a:gd name="connsiteY18" fmla="*/ 111062 h 261241"/>
                      <a:gd name="connsiteX19" fmla="*/ 168297 w 228824"/>
                      <a:gd name="connsiteY19" fmla="*/ 49594 h 261241"/>
                      <a:gd name="connsiteX20" fmla="*/ 127784 w 228824"/>
                      <a:gd name="connsiteY20" fmla="*/ 58865 h 261241"/>
                      <a:gd name="connsiteX21" fmla="*/ 91398 w 228824"/>
                      <a:gd name="connsiteY21" fmla="*/ 38609 h 261241"/>
                      <a:gd name="connsiteX22" fmla="*/ 176298 w 228824"/>
                      <a:gd name="connsiteY22" fmla="*/ 153353 h 261241"/>
                      <a:gd name="connsiteX23" fmla="*/ 121307 w 228824"/>
                      <a:gd name="connsiteY23" fmla="*/ 251270 h 261241"/>
                      <a:gd name="connsiteX24" fmla="*/ 123402 w 228824"/>
                      <a:gd name="connsiteY24" fmla="*/ 251461 h 261241"/>
                      <a:gd name="connsiteX25" fmla="*/ 172932 w 228824"/>
                      <a:gd name="connsiteY25" fmla="*/ 251397 h 261241"/>
                      <a:gd name="connsiteX26" fmla="*/ 183664 w 228824"/>
                      <a:gd name="connsiteY26" fmla="*/ 249937 h 261241"/>
                      <a:gd name="connsiteX27" fmla="*/ 214398 w 228824"/>
                      <a:gd name="connsiteY27" fmla="*/ 227013 h 261241"/>
                      <a:gd name="connsiteX28" fmla="*/ 216938 w 228824"/>
                      <a:gd name="connsiteY28" fmla="*/ 201042 h 261241"/>
                      <a:gd name="connsiteX29" fmla="*/ 201634 w 228824"/>
                      <a:gd name="connsiteY29" fmla="*/ 174816 h 261241"/>
                      <a:gd name="connsiteX30" fmla="*/ 176298 w 228824"/>
                      <a:gd name="connsiteY30" fmla="*/ 153353 h 261241"/>
                      <a:gd name="connsiteX31" fmla="*/ 52600 w 228824"/>
                      <a:gd name="connsiteY31" fmla="*/ 153417 h 261241"/>
                      <a:gd name="connsiteX32" fmla="*/ 51139 w 228824"/>
                      <a:gd name="connsiteY32" fmla="*/ 154179 h 261241"/>
                      <a:gd name="connsiteX33" fmla="*/ 12404 w 228824"/>
                      <a:gd name="connsiteY33" fmla="*/ 200089 h 261241"/>
                      <a:gd name="connsiteX34" fmla="*/ 16151 w 228824"/>
                      <a:gd name="connsiteY34" fmla="*/ 229807 h 261241"/>
                      <a:gd name="connsiteX35" fmla="*/ 58251 w 228824"/>
                      <a:gd name="connsiteY35" fmla="*/ 251461 h 261241"/>
                      <a:gd name="connsiteX36" fmla="*/ 103908 w 228824"/>
                      <a:gd name="connsiteY36" fmla="*/ 251461 h 261241"/>
                      <a:gd name="connsiteX37" fmla="*/ 107718 w 228824"/>
                      <a:gd name="connsiteY37" fmla="*/ 251461 h 261241"/>
                      <a:gd name="connsiteX38" fmla="*/ 52663 w 228824"/>
                      <a:gd name="connsiteY38" fmla="*/ 153417 h 261241"/>
                      <a:gd name="connsiteX39" fmla="*/ 89874 w 228824"/>
                      <a:gd name="connsiteY39" fmla="*/ 15368 h 261241"/>
                      <a:gd name="connsiteX40" fmla="*/ 122577 w 228824"/>
                      <a:gd name="connsiteY40" fmla="*/ 47308 h 261241"/>
                      <a:gd name="connsiteX41" fmla="*/ 165122 w 228824"/>
                      <a:gd name="connsiteY41" fmla="*/ 39879 h 261241"/>
                      <a:gd name="connsiteX42" fmla="*/ 89938 w 228824"/>
                      <a:gd name="connsiteY42" fmla="*/ 15431 h 261241"/>
                      <a:gd name="connsiteX43" fmla="*/ 133118 w 228824"/>
                      <a:gd name="connsiteY43" fmla="*/ 140209 h 261241"/>
                      <a:gd name="connsiteX44" fmla="*/ 130260 w 228824"/>
                      <a:gd name="connsiteY44" fmla="*/ 160719 h 261241"/>
                      <a:gd name="connsiteX45" fmla="*/ 129498 w 228824"/>
                      <a:gd name="connsiteY45" fmla="*/ 162053 h 261241"/>
                      <a:gd name="connsiteX46" fmla="*/ 128800 w 228824"/>
                      <a:gd name="connsiteY46" fmla="*/ 165990 h 261241"/>
                      <a:gd name="connsiteX47" fmla="*/ 132610 w 228824"/>
                      <a:gd name="connsiteY47" fmla="*/ 193485 h 261241"/>
                      <a:gd name="connsiteX48" fmla="*/ 134578 w 228824"/>
                      <a:gd name="connsiteY48" fmla="*/ 206376 h 261241"/>
                      <a:gd name="connsiteX49" fmla="*/ 135213 w 228824"/>
                      <a:gd name="connsiteY49" fmla="*/ 206439 h 261241"/>
                      <a:gd name="connsiteX50" fmla="*/ 168043 w 228824"/>
                      <a:gd name="connsiteY50" fmla="*/ 148464 h 261241"/>
                      <a:gd name="connsiteX51" fmla="*/ 133118 w 228824"/>
                      <a:gd name="connsiteY51" fmla="*/ 140209 h 261241"/>
                      <a:gd name="connsiteX52" fmla="*/ 93557 w 228824"/>
                      <a:gd name="connsiteY52" fmla="*/ 206503 h 261241"/>
                      <a:gd name="connsiteX53" fmla="*/ 94256 w 228824"/>
                      <a:gd name="connsiteY53" fmla="*/ 206249 h 261241"/>
                      <a:gd name="connsiteX54" fmla="*/ 99463 w 228824"/>
                      <a:gd name="connsiteY54" fmla="*/ 171070 h 261241"/>
                      <a:gd name="connsiteX55" fmla="*/ 96542 w 228824"/>
                      <a:gd name="connsiteY55" fmla="*/ 157354 h 261241"/>
                      <a:gd name="connsiteX56" fmla="*/ 94383 w 228824"/>
                      <a:gd name="connsiteY56" fmla="*/ 143130 h 261241"/>
                      <a:gd name="connsiteX57" fmla="*/ 94954 w 228824"/>
                      <a:gd name="connsiteY57" fmla="*/ 140272 h 261241"/>
                      <a:gd name="connsiteX58" fmla="*/ 60791 w 228824"/>
                      <a:gd name="connsiteY58" fmla="*/ 148527 h 261241"/>
                      <a:gd name="connsiteX59" fmla="*/ 93621 w 228824"/>
                      <a:gd name="connsiteY59" fmla="*/ 206503 h 261241"/>
                      <a:gd name="connsiteX60" fmla="*/ 119783 w 228824"/>
                      <a:gd name="connsiteY60" fmla="*/ 169482 h 261241"/>
                      <a:gd name="connsiteX61" fmla="*/ 109115 w 228824"/>
                      <a:gd name="connsiteY61" fmla="*/ 169482 h 261241"/>
                      <a:gd name="connsiteX62" fmla="*/ 102828 w 228824"/>
                      <a:gd name="connsiteY62" fmla="*/ 213297 h 261241"/>
                      <a:gd name="connsiteX63" fmla="*/ 106003 w 228824"/>
                      <a:gd name="connsiteY63" fmla="*/ 229172 h 261241"/>
                      <a:gd name="connsiteX64" fmla="*/ 112925 w 228824"/>
                      <a:gd name="connsiteY64" fmla="*/ 241555 h 261241"/>
                      <a:gd name="connsiteX65" fmla="*/ 114512 w 228824"/>
                      <a:gd name="connsiteY65" fmla="*/ 244031 h 261241"/>
                      <a:gd name="connsiteX66" fmla="*/ 126450 w 228824"/>
                      <a:gd name="connsiteY66" fmla="*/ 222314 h 261241"/>
                      <a:gd name="connsiteX67" fmla="*/ 126704 w 228824"/>
                      <a:gd name="connsiteY67" fmla="*/ 220028 h 261241"/>
                      <a:gd name="connsiteX68" fmla="*/ 119719 w 228824"/>
                      <a:gd name="connsiteY68" fmla="*/ 169546 h 261241"/>
                      <a:gd name="connsiteX69" fmla="*/ 123974 w 228824"/>
                      <a:gd name="connsiteY69" fmla="*/ 140272 h 261241"/>
                      <a:gd name="connsiteX70" fmla="*/ 106956 w 228824"/>
                      <a:gd name="connsiteY70" fmla="*/ 140272 h 261241"/>
                      <a:gd name="connsiteX71" fmla="*/ 105876 w 228824"/>
                      <a:gd name="connsiteY71" fmla="*/ 140526 h 261241"/>
                      <a:gd name="connsiteX72" fmla="*/ 104225 w 228824"/>
                      <a:gd name="connsiteY72" fmla="*/ 150178 h 261241"/>
                      <a:gd name="connsiteX73" fmla="*/ 108289 w 228824"/>
                      <a:gd name="connsiteY73" fmla="*/ 158116 h 261241"/>
                      <a:gd name="connsiteX74" fmla="*/ 120672 w 228824"/>
                      <a:gd name="connsiteY74" fmla="*/ 158497 h 261241"/>
                      <a:gd name="connsiteX75" fmla="*/ 123910 w 228824"/>
                      <a:gd name="connsiteY75" fmla="*/ 140209 h 261241"/>
                      <a:gd name="connsiteX76" fmla="*/ 80857 w 228824"/>
                      <a:gd name="connsiteY76" fmla="*/ 20511 h 261241"/>
                      <a:gd name="connsiteX77" fmla="*/ 59521 w 228824"/>
                      <a:gd name="connsiteY77" fmla="*/ 48959 h 261241"/>
                      <a:gd name="connsiteX78" fmla="*/ 84540 w 228824"/>
                      <a:gd name="connsiteY78" fmla="*/ 29465 h 261241"/>
                      <a:gd name="connsiteX79" fmla="*/ 84413 w 228824"/>
                      <a:gd name="connsiteY79" fmla="*/ 27750 h 261241"/>
                      <a:gd name="connsiteX80" fmla="*/ 80857 w 228824"/>
                      <a:gd name="connsiteY80" fmla="*/ 20511 h 2612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</a:cxnLst>
                    <a:rect l="l" t="t" r="r" b="b"/>
                    <a:pathLst>
                      <a:path w="228824" h="261241">
                        <a:moveTo>
                          <a:pt x="90001" y="131065"/>
                        </a:moveTo>
                        <a:cubicBezTo>
                          <a:pt x="55711" y="117095"/>
                          <a:pt x="40598" y="81281"/>
                          <a:pt x="48980" y="50102"/>
                        </a:cubicBezTo>
                        <a:cubicBezTo>
                          <a:pt x="56918" y="20892"/>
                          <a:pt x="83588" y="128"/>
                          <a:pt x="114322" y="1"/>
                        </a:cubicBezTo>
                        <a:cubicBezTo>
                          <a:pt x="144675" y="-126"/>
                          <a:pt x="171281" y="20511"/>
                          <a:pt x="179663" y="50102"/>
                        </a:cubicBezTo>
                        <a:cubicBezTo>
                          <a:pt x="188109" y="79884"/>
                          <a:pt x="173885" y="116714"/>
                          <a:pt x="140103" y="130557"/>
                        </a:cubicBezTo>
                        <a:cubicBezTo>
                          <a:pt x="147913" y="132652"/>
                          <a:pt x="156676" y="134240"/>
                          <a:pt x="164868" y="137288"/>
                        </a:cubicBezTo>
                        <a:cubicBezTo>
                          <a:pt x="193506" y="147829"/>
                          <a:pt x="213890" y="167450"/>
                          <a:pt x="225447" y="195581"/>
                        </a:cubicBezTo>
                        <a:cubicBezTo>
                          <a:pt x="232178" y="211964"/>
                          <a:pt x="228622" y="227204"/>
                          <a:pt x="216811" y="240412"/>
                        </a:cubicBezTo>
                        <a:cubicBezTo>
                          <a:pt x="204047" y="254636"/>
                          <a:pt x="188109" y="261367"/>
                          <a:pt x="168868" y="261240"/>
                        </a:cubicBezTo>
                        <a:cubicBezTo>
                          <a:pt x="132229" y="260922"/>
                          <a:pt x="95526" y="260986"/>
                          <a:pt x="58886" y="261240"/>
                        </a:cubicBezTo>
                        <a:cubicBezTo>
                          <a:pt x="36788" y="261367"/>
                          <a:pt x="20151" y="251334"/>
                          <a:pt x="7705" y="234062"/>
                        </a:cubicBezTo>
                        <a:cubicBezTo>
                          <a:pt x="-1629" y="221108"/>
                          <a:pt x="-2201" y="206820"/>
                          <a:pt x="4467" y="192279"/>
                        </a:cubicBezTo>
                        <a:cubicBezTo>
                          <a:pt x="14119" y="171260"/>
                          <a:pt x="28787" y="154814"/>
                          <a:pt x="49044" y="143765"/>
                        </a:cubicBezTo>
                        <a:cubicBezTo>
                          <a:pt x="60410" y="137542"/>
                          <a:pt x="72729" y="133795"/>
                          <a:pt x="85556" y="131827"/>
                        </a:cubicBezTo>
                        <a:cubicBezTo>
                          <a:pt x="86826" y="131636"/>
                          <a:pt x="88160" y="131446"/>
                          <a:pt x="90001" y="131128"/>
                        </a:cubicBezTo>
                        <a:close/>
                        <a:moveTo>
                          <a:pt x="91398" y="38545"/>
                        </a:moveTo>
                        <a:cubicBezTo>
                          <a:pt x="78444" y="54547"/>
                          <a:pt x="76603" y="55690"/>
                          <a:pt x="57299" y="59691"/>
                        </a:cubicBezTo>
                        <a:cubicBezTo>
                          <a:pt x="53806" y="75883"/>
                          <a:pt x="60093" y="103442"/>
                          <a:pt x="85239" y="118365"/>
                        </a:cubicBezTo>
                        <a:cubicBezTo>
                          <a:pt x="106765" y="131128"/>
                          <a:pt x="134451" y="128080"/>
                          <a:pt x="152993" y="111062"/>
                        </a:cubicBezTo>
                        <a:cubicBezTo>
                          <a:pt x="172107" y="93536"/>
                          <a:pt x="175790" y="67374"/>
                          <a:pt x="168297" y="49594"/>
                        </a:cubicBezTo>
                        <a:cubicBezTo>
                          <a:pt x="155851" y="57405"/>
                          <a:pt x="142452" y="61088"/>
                          <a:pt x="127784" y="58865"/>
                        </a:cubicBezTo>
                        <a:cubicBezTo>
                          <a:pt x="113115" y="56706"/>
                          <a:pt x="101241" y="49404"/>
                          <a:pt x="91398" y="38609"/>
                        </a:cubicBezTo>
                        <a:close/>
                        <a:moveTo>
                          <a:pt x="176298" y="153353"/>
                        </a:moveTo>
                        <a:cubicBezTo>
                          <a:pt x="157946" y="185992"/>
                          <a:pt x="139722" y="218504"/>
                          <a:pt x="121307" y="251270"/>
                        </a:cubicBezTo>
                        <a:cubicBezTo>
                          <a:pt x="122259" y="251334"/>
                          <a:pt x="122831" y="251461"/>
                          <a:pt x="123402" y="251461"/>
                        </a:cubicBezTo>
                        <a:cubicBezTo>
                          <a:pt x="139912" y="251461"/>
                          <a:pt x="156422" y="251524"/>
                          <a:pt x="172932" y="251397"/>
                        </a:cubicBezTo>
                        <a:cubicBezTo>
                          <a:pt x="176488" y="251397"/>
                          <a:pt x="180171" y="250762"/>
                          <a:pt x="183664" y="249937"/>
                        </a:cubicBezTo>
                        <a:cubicBezTo>
                          <a:pt x="197126" y="246698"/>
                          <a:pt x="206841" y="238062"/>
                          <a:pt x="214398" y="227013"/>
                        </a:cubicBezTo>
                        <a:cubicBezTo>
                          <a:pt x="219795" y="219139"/>
                          <a:pt x="220684" y="209995"/>
                          <a:pt x="216938" y="201042"/>
                        </a:cubicBezTo>
                        <a:cubicBezTo>
                          <a:pt x="213064" y="191644"/>
                          <a:pt x="208175" y="182754"/>
                          <a:pt x="201634" y="174816"/>
                        </a:cubicBezTo>
                        <a:cubicBezTo>
                          <a:pt x="194522" y="166180"/>
                          <a:pt x="186204" y="159005"/>
                          <a:pt x="176298" y="153353"/>
                        </a:cubicBezTo>
                        <a:close/>
                        <a:moveTo>
                          <a:pt x="52600" y="153417"/>
                        </a:moveTo>
                        <a:cubicBezTo>
                          <a:pt x="51965" y="153734"/>
                          <a:pt x="51520" y="153925"/>
                          <a:pt x="51139" y="154179"/>
                        </a:cubicBezTo>
                        <a:cubicBezTo>
                          <a:pt x="33550" y="165482"/>
                          <a:pt x="20405" y="180722"/>
                          <a:pt x="12404" y="200089"/>
                        </a:cubicBezTo>
                        <a:cubicBezTo>
                          <a:pt x="8086" y="210503"/>
                          <a:pt x="9293" y="220854"/>
                          <a:pt x="16151" y="229807"/>
                        </a:cubicBezTo>
                        <a:cubicBezTo>
                          <a:pt x="26628" y="243587"/>
                          <a:pt x="40408" y="251588"/>
                          <a:pt x="58251" y="251461"/>
                        </a:cubicBezTo>
                        <a:cubicBezTo>
                          <a:pt x="73491" y="251334"/>
                          <a:pt x="88668" y="251461"/>
                          <a:pt x="103908" y="251461"/>
                        </a:cubicBezTo>
                        <a:lnTo>
                          <a:pt x="107718" y="251461"/>
                        </a:lnTo>
                        <a:cubicBezTo>
                          <a:pt x="89239" y="218504"/>
                          <a:pt x="70951" y="186056"/>
                          <a:pt x="52663" y="153417"/>
                        </a:cubicBezTo>
                        <a:close/>
                        <a:moveTo>
                          <a:pt x="89874" y="15368"/>
                        </a:moveTo>
                        <a:cubicBezTo>
                          <a:pt x="95526" y="31370"/>
                          <a:pt x="106194" y="42355"/>
                          <a:pt x="122577" y="47308"/>
                        </a:cubicBezTo>
                        <a:cubicBezTo>
                          <a:pt x="137880" y="51880"/>
                          <a:pt x="152104" y="49086"/>
                          <a:pt x="165122" y="39879"/>
                        </a:cubicBezTo>
                        <a:cubicBezTo>
                          <a:pt x="150263" y="11939"/>
                          <a:pt x="115211" y="2731"/>
                          <a:pt x="89938" y="15431"/>
                        </a:cubicBezTo>
                        <a:close/>
                        <a:moveTo>
                          <a:pt x="133118" y="140209"/>
                        </a:moveTo>
                        <a:cubicBezTo>
                          <a:pt x="137817" y="148273"/>
                          <a:pt x="134642" y="154623"/>
                          <a:pt x="130260" y="160719"/>
                        </a:cubicBezTo>
                        <a:cubicBezTo>
                          <a:pt x="129943" y="161100"/>
                          <a:pt x="129625" y="161545"/>
                          <a:pt x="129498" y="162053"/>
                        </a:cubicBezTo>
                        <a:cubicBezTo>
                          <a:pt x="129181" y="163386"/>
                          <a:pt x="128609" y="164720"/>
                          <a:pt x="128800" y="165990"/>
                        </a:cubicBezTo>
                        <a:cubicBezTo>
                          <a:pt x="130006" y="175197"/>
                          <a:pt x="131340" y="184341"/>
                          <a:pt x="132610" y="193485"/>
                        </a:cubicBezTo>
                        <a:cubicBezTo>
                          <a:pt x="133245" y="197803"/>
                          <a:pt x="133943" y="202058"/>
                          <a:pt x="134578" y="206376"/>
                        </a:cubicBezTo>
                        <a:cubicBezTo>
                          <a:pt x="134769" y="206376"/>
                          <a:pt x="135023" y="206376"/>
                          <a:pt x="135213" y="206439"/>
                        </a:cubicBezTo>
                        <a:cubicBezTo>
                          <a:pt x="146135" y="187135"/>
                          <a:pt x="156994" y="167895"/>
                          <a:pt x="168043" y="148464"/>
                        </a:cubicBezTo>
                        <a:cubicBezTo>
                          <a:pt x="156994" y="143447"/>
                          <a:pt x="145818" y="140844"/>
                          <a:pt x="133118" y="140209"/>
                        </a:cubicBezTo>
                        <a:close/>
                        <a:moveTo>
                          <a:pt x="93557" y="206503"/>
                        </a:moveTo>
                        <a:cubicBezTo>
                          <a:pt x="93557" y="206503"/>
                          <a:pt x="94002" y="206312"/>
                          <a:pt x="94256" y="206249"/>
                        </a:cubicBezTo>
                        <a:cubicBezTo>
                          <a:pt x="95970" y="194501"/>
                          <a:pt x="97304" y="182754"/>
                          <a:pt x="99463" y="171070"/>
                        </a:cubicBezTo>
                        <a:cubicBezTo>
                          <a:pt x="100415" y="165799"/>
                          <a:pt x="99844" y="161418"/>
                          <a:pt x="96542" y="157354"/>
                        </a:cubicBezTo>
                        <a:cubicBezTo>
                          <a:pt x="92986" y="152972"/>
                          <a:pt x="92287" y="148273"/>
                          <a:pt x="94383" y="143130"/>
                        </a:cubicBezTo>
                        <a:cubicBezTo>
                          <a:pt x="94700" y="142304"/>
                          <a:pt x="94700" y="141415"/>
                          <a:pt x="94954" y="140272"/>
                        </a:cubicBezTo>
                        <a:cubicBezTo>
                          <a:pt x="83016" y="140780"/>
                          <a:pt x="71840" y="143511"/>
                          <a:pt x="60791" y="148527"/>
                        </a:cubicBezTo>
                        <a:cubicBezTo>
                          <a:pt x="71840" y="168022"/>
                          <a:pt x="82699" y="187262"/>
                          <a:pt x="93621" y="206503"/>
                        </a:cubicBezTo>
                        <a:close/>
                        <a:moveTo>
                          <a:pt x="119783" y="169482"/>
                        </a:moveTo>
                        <a:lnTo>
                          <a:pt x="109115" y="169482"/>
                        </a:lnTo>
                        <a:cubicBezTo>
                          <a:pt x="107083" y="184214"/>
                          <a:pt x="105305" y="198819"/>
                          <a:pt x="102828" y="213297"/>
                        </a:cubicBezTo>
                        <a:cubicBezTo>
                          <a:pt x="101812" y="219266"/>
                          <a:pt x="102701" y="224219"/>
                          <a:pt x="106003" y="229172"/>
                        </a:cubicBezTo>
                        <a:cubicBezTo>
                          <a:pt x="108607" y="233109"/>
                          <a:pt x="110639" y="237427"/>
                          <a:pt x="112925" y="241555"/>
                        </a:cubicBezTo>
                        <a:cubicBezTo>
                          <a:pt x="113369" y="242317"/>
                          <a:pt x="113877" y="242952"/>
                          <a:pt x="114512" y="244031"/>
                        </a:cubicBezTo>
                        <a:cubicBezTo>
                          <a:pt x="118640" y="236538"/>
                          <a:pt x="122577" y="229426"/>
                          <a:pt x="126450" y="222314"/>
                        </a:cubicBezTo>
                        <a:cubicBezTo>
                          <a:pt x="126768" y="221679"/>
                          <a:pt x="126768" y="220790"/>
                          <a:pt x="126704" y="220028"/>
                        </a:cubicBezTo>
                        <a:cubicBezTo>
                          <a:pt x="124418" y="203264"/>
                          <a:pt x="122069" y="186564"/>
                          <a:pt x="119719" y="169546"/>
                        </a:cubicBezTo>
                        <a:close/>
                        <a:moveTo>
                          <a:pt x="123974" y="140272"/>
                        </a:moveTo>
                        <a:cubicBezTo>
                          <a:pt x="118576" y="140272"/>
                          <a:pt x="112798" y="140272"/>
                          <a:pt x="106956" y="140272"/>
                        </a:cubicBezTo>
                        <a:cubicBezTo>
                          <a:pt x="106575" y="140272"/>
                          <a:pt x="105876" y="140399"/>
                          <a:pt x="105876" y="140526"/>
                        </a:cubicBezTo>
                        <a:cubicBezTo>
                          <a:pt x="105241" y="143765"/>
                          <a:pt x="103844" y="147067"/>
                          <a:pt x="104225" y="150178"/>
                        </a:cubicBezTo>
                        <a:cubicBezTo>
                          <a:pt x="104606" y="152972"/>
                          <a:pt x="106829" y="155512"/>
                          <a:pt x="108289" y="158116"/>
                        </a:cubicBezTo>
                        <a:cubicBezTo>
                          <a:pt x="109369" y="159957"/>
                          <a:pt x="119592" y="160338"/>
                          <a:pt x="120672" y="158497"/>
                        </a:cubicBezTo>
                        <a:cubicBezTo>
                          <a:pt x="124037" y="152909"/>
                          <a:pt x="128038" y="147448"/>
                          <a:pt x="123910" y="140209"/>
                        </a:cubicBezTo>
                        <a:close/>
                        <a:moveTo>
                          <a:pt x="80857" y="20511"/>
                        </a:moveTo>
                        <a:cubicBezTo>
                          <a:pt x="70761" y="27750"/>
                          <a:pt x="63839" y="37212"/>
                          <a:pt x="59521" y="48959"/>
                        </a:cubicBezTo>
                        <a:cubicBezTo>
                          <a:pt x="69618" y="48832"/>
                          <a:pt x="82318" y="38736"/>
                          <a:pt x="84540" y="29465"/>
                        </a:cubicBezTo>
                        <a:cubicBezTo>
                          <a:pt x="84667" y="28957"/>
                          <a:pt x="84604" y="28258"/>
                          <a:pt x="84413" y="27750"/>
                        </a:cubicBezTo>
                        <a:cubicBezTo>
                          <a:pt x="83334" y="25401"/>
                          <a:pt x="82127" y="23051"/>
                          <a:pt x="80857" y="20511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91" name="Рисунок 4">
                  <a:extLst>
                    <a:ext uri="{FF2B5EF4-FFF2-40B4-BE49-F238E27FC236}">
                      <a16:creationId xmlns="" xmlns:a16="http://schemas.microsoft.com/office/drawing/2014/main" id="{270F8674-4EAA-460E-97B0-E8C34B5D1954}"/>
                    </a:ext>
                  </a:extLst>
                </p:cNvPr>
                <p:cNvGrpSpPr/>
                <p:nvPr/>
              </p:nvGrpSpPr>
              <p:grpSpPr>
                <a:xfrm>
                  <a:off x="451167" y="3425444"/>
                  <a:ext cx="3154680" cy="1178115"/>
                  <a:chOff x="451167" y="3425444"/>
                  <a:chExt cx="3154680" cy="1178115"/>
                </a:xfrm>
              </p:grpSpPr>
              <p:sp>
                <p:nvSpPr>
                  <p:cNvPr id="92" name="Полилиния: фигура 91">
                    <a:extLst>
                      <a:ext uri="{FF2B5EF4-FFF2-40B4-BE49-F238E27FC236}">
                        <a16:creationId xmlns="" xmlns:a16="http://schemas.microsoft.com/office/drawing/2014/main" id="{21CEAE44-3D35-4DF8-94E0-CAFCAD0A3F62}"/>
                      </a:ext>
                    </a:extLst>
                  </p:cNvPr>
                  <p:cNvSpPr/>
                  <p:nvPr/>
                </p:nvSpPr>
                <p:spPr>
                  <a:xfrm>
                    <a:off x="866330" y="3594354"/>
                    <a:ext cx="2544445" cy="237426"/>
                  </a:xfrm>
                  <a:custGeom>
                    <a:avLst/>
                    <a:gdLst>
                      <a:gd name="connsiteX0" fmla="*/ 2468245 w 2544445"/>
                      <a:gd name="connsiteY0" fmla="*/ 0 h 237426"/>
                      <a:gd name="connsiteX1" fmla="*/ 2544445 w 2544445"/>
                      <a:gd name="connsiteY1" fmla="*/ 76200 h 237426"/>
                      <a:gd name="connsiteX2" fmla="*/ 2544445 w 2544445"/>
                      <a:gd name="connsiteY2" fmla="*/ 161226 h 237426"/>
                      <a:gd name="connsiteX3" fmla="*/ 2468245 w 2544445"/>
                      <a:gd name="connsiteY3" fmla="*/ 237426 h 237426"/>
                      <a:gd name="connsiteX4" fmla="*/ 76200 w 2544445"/>
                      <a:gd name="connsiteY4" fmla="*/ 237426 h 237426"/>
                      <a:gd name="connsiteX5" fmla="*/ 0 w 2544445"/>
                      <a:gd name="connsiteY5" fmla="*/ 161226 h 237426"/>
                      <a:gd name="connsiteX6" fmla="*/ 0 w 2544445"/>
                      <a:gd name="connsiteY6" fmla="*/ 76200 h 237426"/>
                      <a:gd name="connsiteX7" fmla="*/ 76200 w 2544445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237426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161226"/>
                        </a:lnTo>
                        <a:cubicBezTo>
                          <a:pt x="2544445" y="203311"/>
                          <a:pt x="2510329" y="237426"/>
                          <a:pt x="2468245" y="237426"/>
                        </a:cubicBezTo>
                        <a:lnTo>
                          <a:pt x="76200" y="237426"/>
                        </a:lnTo>
                        <a:cubicBezTo>
                          <a:pt x="34116" y="237426"/>
                          <a:pt x="0" y="203311"/>
                          <a:pt x="0" y="16122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93" name="TextBox 92">
                    <a:extLst>
                      <a:ext uri="{FF2B5EF4-FFF2-40B4-BE49-F238E27FC236}">
                        <a16:creationId xmlns="" xmlns:a16="http://schemas.microsoft.com/office/drawing/2014/main" id="{A3C8C0CD-B94A-40CB-A8B5-CF553224D1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1250" y="3553650"/>
                    <a:ext cx="1992213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РЕГИОНАЛЬНЫЙ МЕН</a:t>
                    </a:r>
                  </a:p>
                </p:txBody>
              </p:sp>
              <p:sp>
                <p:nvSpPr>
                  <p:cNvPr id="94" name="TextBox 93">
                    <a:extLst>
                      <a:ext uri="{FF2B5EF4-FFF2-40B4-BE49-F238E27FC236}">
                        <a16:creationId xmlns="" xmlns:a16="http://schemas.microsoft.com/office/drawing/2014/main" id="{6E1FA37D-BE85-4706-BC87-1D95DB3B7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2908" y="3553650"/>
                    <a:ext cx="219291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Е</a:t>
                    </a: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="" xmlns:a16="http://schemas.microsoft.com/office/drawing/2014/main" id="{E920901E-C195-4B2D-B248-1B19A686061B}"/>
                      </a:ext>
                    </a:extLst>
                  </p:cNvPr>
                  <p:cNvSpPr txBox="1"/>
                  <p:nvPr/>
                </p:nvSpPr>
                <p:spPr>
                  <a:xfrm>
                    <a:off x="2785998" y="3553650"/>
                    <a:ext cx="620042" cy="29751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3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ДЖЕР</a:t>
                    </a:r>
                  </a:p>
                </p:txBody>
              </p:sp>
              <p:sp>
                <p:nvSpPr>
                  <p:cNvPr id="99" name="TextBox 98">
                    <a:extLst>
                      <a:ext uri="{FF2B5EF4-FFF2-40B4-BE49-F238E27FC236}">
                        <a16:creationId xmlns="" xmlns:a16="http://schemas.microsoft.com/office/drawing/2014/main" id="{B7309095-4E9F-4694-81C0-CFAFFCDC9E96}"/>
                      </a:ext>
                    </a:extLst>
                  </p:cNvPr>
                  <p:cNvSpPr txBox="1"/>
                  <p:nvPr/>
                </p:nvSpPr>
                <p:spPr>
                  <a:xfrm>
                    <a:off x="133210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="" xmlns:a16="http://schemas.microsoft.com/office/drawing/2014/main" id="{38E840BE-E676-4757-9C8A-CA2AF8FA768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7534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="" xmlns:a16="http://schemas.microsoft.com/office/drawing/2014/main" id="{C3D5551F-C970-4693-A567-DD11A397FA9C}"/>
                      </a:ext>
                    </a:extLst>
                  </p:cNvPr>
                  <p:cNvSpPr txBox="1"/>
                  <p:nvPr/>
                </p:nvSpPr>
                <p:spPr>
                  <a:xfrm>
                    <a:off x="2725673" y="3833558"/>
                    <a:ext cx="184111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326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36" name="Полилиния: фигура 135">
                    <a:extLst>
                      <a:ext uri="{FF2B5EF4-FFF2-40B4-BE49-F238E27FC236}">
                        <a16:creationId xmlns="" xmlns:a16="http://schemas.microsoft.com/office/drawing/2014/main" id="{36D8DDDF-05E3-4A44-8270-DDAB760B35B2}"/>
                      </a:ext>
                    </a:extLst>
                  </p:cNvPr>
                  <p:cNvSpPr/>
                  <p:nvPr/>
                </p:nvSpPr>
                <p:spPr>
                  <a:xfrm>
                    <a:off x="451167" y="3425444"/>
                    <a:ext cx="3154680" cy="1178115"/>
                  </a:xfrm>
                  <a:custGeom>
                    <a:avLst/>
                    <a:gdLst>
                      <a:gd name="connsiteX0" fmla="*/ 3078480 w 3154680"/>
                      <a:gd name="connsiteY0" fmla="*/ 0 h 1178115"/>
                      <a:gd name="connsiteX1" fmla="*/ 3154680 w 3154680"/>
                      <a:gd name="connsiteY1" fmla="*/ 76200 h 1178115"/>
                      <a:gd name="connsiteX2" fmla="*/ 3154680 w 3154680"/>
                      <a:gd name="connsiteY2" fmla="*/ 1101916 h 1178115"/>
                      <a:gd name="connsiteX3" fmla="*/ 3078480 w 3154680"/>
                      <a:gd name="connsiteY3" fmla="*/ 1178116 h 1178115"/>
                      <a:gd name="connsiteX4" fmla="*/ 76200 w 3154680"/>
                      <a:gd name="connsiteY4" fmla="*/ 1178116 h 1178115"/>
                      <a:gd name="connsiteX5" fmla="*/ 0 w 3154680"/>
                      <a:gd name="connsiteY5" fmla="*/ 1101916 h 1178115"/>
                      <a:gd name="connsiteX6" fmla="*/ 0 w 3154680"/>
                      <a:gd name="connsiteY6" fmla="*/ 76200 h 1178115"/>
                      <a:gd name="connsiteX7" fmla="*/ 76200 w 3154680"/>
                      <a:gd name="connsiteY7" fmla="*/ 0 h 11781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178115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101916"/>
                        </a:lnTo>
                        <a:cubicBezTo>
                          <a:pt x="3154680" y="1144000"/>
                          <a:pt x="3120564" y="1178116"/>
                          <a:pt x="3078480" y="1178116"/>
                        </a:cubicBezTo>
                        <a:lnTo>
                          <a:pt x="76200" y="1178116"/>
                        </a:lnTo>
                        <a:cubicBezTo>
                          <a:pt x="34116" y="1178116"/>
                          <a:pt x="0" y="1144000"/>
                          <a:pt x="0" y="1101916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37" name="Рисунок 4">
                    <a:extLst>
                      <a:ext uri="{FF2B5EF4-FFF2-40B4-BE49-F238E27FC236}">
                        <a16:creationId xmlns="" xmlns:a16="http://schemas.microsoft.com/office/drawing/2014/main" id="{997CFD38-8B67-47A2-8A90-FED3AB2936FC}"/>
                      </a:ext>
                    </a:extLst>
                  </p:cNvPr>
                  <p:cNvGrpSpPr/>
                  <p:nvPr/>
                </p:nvGrpSpPr>
                <p:grpSpPr>
                  <a:xfrm>
                    <a:off x="583247" y="3581842"/>
                    <a:ext cx="241681" cy="260352"/>
                    <a:chOff x="583247" y="3581842"/>
                    <a:chExt cx="241681" cy="260352"/>
                  </a:xfrm>
                  <a:solidFill>
                    <a:srgbClr val="000000"/>
                  </a:solidFill>
                </p:grpSpPr>
                <p:sp>
                  <p:nvSpPr>
                    <p:cNvPr id="138" name="Полилиния: фигура 137">
                      <a:extLst>
                        <a:ext uri="{FF2B5EF4-FFF2-40B4-BE49-F238E27FC236}">
                          <a16:creationId xmlns="" xmlns:a16="http://schemas.microsoft.com/office/drawing/2014/main" id="{67FB457F-933E-4E28-8F55-0F8810DCFB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247" y="3732193"/>
                      <a:ext cx="241681" cy="110000"/>
                    </a:xfrm>
                    <a:custGeom>
                      <a:avLst/>
                      <a:gdLst>
                        <a:gd name="connsiteX0" fmla="*/ 2540 w 241681"/>
                        <a:gd name="connsiteY0" fmla="*/ 109937 h 110000"/>
                        <a:gd name="connsiteX1" fmla="*/ 0 w 241681"/>
                        <a:gd name="connsiteY1" fmla="*/ 104222 h 110000"/>
                        <a:gd name="connsiteX2" fmla="*/ 0 w 241681"/>
                        <a:gd name="connsiteY2" fmla="*/ 62820 h 110000"/>
                        <a:gd name="connsiteX3" fmla="*/ 19812 w 241681"/>
                        <a:gd name="connsiteY3" fmla="*/ 25863 h 110000"/>
                        <a:gd name="connsiteX4" fmla="*/ 31940 w 241681"/>
                        <a:gd name="connsiteY4" fmla="*/ 20148 h 110000"/>
                        <a:gd name="connsiteX5" fmla="*/ 79502 w 241681"/>
                        <a:gd name="connsiteY5" fmla="*/ 1098 h 110000"/>
                        <a:gd name="connsiteX6" fmla="*/ 87757 w 241681"/>
                        <a:gd name="connsiteY6" fmla="*/ 4845 h 110000"/>
                        <a:gd name="connsiteX7" fmla="*/ 102045 w 241681"/>
                        <a:gd name="connsiteY7" fmla="*/ 44469 h 110000"/>
                        <a:gd name="connsiteX8" fmla="*/ 103188 w 241681"/>
                        <a:gd name="connsiteY8" fmla="*/ 47263 h 110000"/>
                        <a:gd name="connsiteX9" fmla="*/ 108204 w 241681"/>
                        <a:gd name="connsiteY9" fmla="*/ 32658 h 110000"/>
                        <a:gd name="connsiteX10" fmla="*/ 107823 w 241681"/>
                        <a:gd name="connsiteY10" fmla="*/ 30499 h 110000"/>
                        <a:gd name="connsiteX11" fmla="*/ 104013 w 241681"/>
                        <a:gd name="connsiteY11" fmla="*/ 21101 h 110000"/>
                        <a:gd name="connsiteX12" fmla="*/ 107823 w 241681"/>
                        <a:gd name="connsiteY12" fmla="*/ 15259 h 110000"/>
                        <a:gd name="connsiteX13" fmla="*/ 133731 w 241681"/>
                        <a:gd name="connsiteY13" fmla="*/ 15259 h 110000"/>
                        <a:gd name="connsiteX14" fmla="*/ 137604 w 241681"/>
                        <a:gd name="connsiteY14" fmla="*/ 21101 h 110000"/>
                        <a:gd name="connsiteX15" fmla="*/ 137097 w 241681"/>
                        <a:gd name="connsiteY15" fmla="*/ 22244 h 110000"/>
                        <a:gd name="connsiteX16" fmla="*/ 138557 w 241681"/>
                        <a:gd name="connsiteY16" fmla="*/ 46882 h 110000"/>
                        <a:gd name="connsiteX17" fmla="*/ 139573 w 241681"/>
                        <a:gd name="connsiteY17" fmla="*/ 44469 h 110000"/>
                        <a:gd name="connsiteX18" fmla="*/ 154242 w 241681"/>
                        <a:gd name="connsiteY18" fmla="*/ 3956 h 110000"/>
                        <a:gd name="connsiteX19" fmla="*/ 161227 w 241681"/>
                        <a:gd name="connsiteY19" fmla="*/ 717 h 110000"/>
                        <a:gd name="connsiteX20" fmla="*/ 214440 w 241681"/>
                        <a:gd name="connsiteY20" fmla="*/ 22053 h 110000"/>
                        <a:gd name="connsiteX21" fmla="*/ 241110 w 241681"/>
                        <a:gd name="connsiteY21" fmla="*/ 54756 h 110000"/>
                        <a:gd name="connsiteX22" fmla="*/ 241681 w 241681"/>
                        <a:gd name="connsiteY22" fmla="*/ 62884 h 110000"/>
                        <a:gd name="connsiteX23" fmla="*/ 241681 w 241681"/>
                        <a:gd name="connsiteY23" fmla="*/ 104286 h 110000"/>
                        <a:gd name="connsiteX24" fmla="*/ 239141 w 241681"/>
                        <a:gd name="connsiteY24" fmla="*/ 110001 h 110000"/>
                        <a:gd name="connsiteX25" fmla="*/ 2159 w 241681"/>
                        <a:gd name="connsiteY25" fmla="*/ 110001 h 110000"/>
                        <a:gd name="connsiteX26" fmla="*/ 113284 w 241681"/>
                        <a:gd name="connsiteY26" fmla="*/ 23006 h 110000"/>
                        <a:gd name="connsiteX27" fmla="*/ 115888 w 241681"/>
                        <a:gd name="connsiteY27" fmla="*/ 29610 h 110000"/>
                        <a:gd name="connsiteX28" fmla="*/ 116269 w 241681"/>
                        <a:gd name="connsiteY28" fmla="*/ 33293 h 110000"/>
                        <a:gd name="connsiteX29" fmla="*/ 106807 w 241681"/>
                        <a:gd name="connsiteY29" fmla="*/ 60344 h 110000"/>
                        <a:gd name="connsiteX30" fmla="*/ 103315 w 241681"/>
                        <a:gd name="connsiteY30" fmla="*/ 62630 h 110000"/>
                        <a:gd name="connsiteX31" fmla="*/ 99758 w 241681"/>
                        <a:gd name="connsiteY31" fmla="*/ 60344 h 110000"/>
                        <a:gd name="connsiteX32" fmla="*/ 98997 w 241681"/>
                        <a:gd name="connsiteY32" fmla="*/ 58502 h 110000"/>
                        <a:gd name="connsiteX33" fmla="*/ 81788 w 241681"/>
                        <a:gd name="connsiteY33" fmla="*/ 11068 h 110000"/>
                        <a:gd name="connsiteX34" fmla="*/ 80899 w 241681"/>
                        <a:gd name="connsiteY34" fmla="*/ 8972 h 110000"/>
                        <a:gd name="connsiteX35" fmla="*/ 78613 w 241681"/>
                        <a:gd name="connsiteY35" fmla="*/ 9798 h 110000"/>
                        <a:gd name="connsiteX36" fmla="*/ 30797 w 241681"/>
                        <a:gd name="connsiteY36" fmla="*/ 28911 h 110000"/>
                        <a:gd name="connsiteX37" fmla="*/ 7683 w 241681"/>
                        <a:gd name="connsiteY37" fmla="*/ 62884 h 110000"/>
                        <a:gd name="connsiteX38" fmla="*/ 7683 w 241681"/>
                        <a:gd name="connsiteY38" fmla="*/ 99460 h 110000"/>
                        <a:gd name="connsiteX39" fmla="*/ 7811 w 241681"/>
                        <a:gd name="connsiteY39" fmla="*/ 102000 h 110000"/>
                        <a:gd name="connsiteX40" fmla="*/ 233997 w 241681"/>
                        <a:gd name="connsiteY40" fmla="*/ 102000 h 110000"/>
                        <a:gd name="connsiteX41" fmla="*/ 234125 w 241681"/>
                        <a:gd name="connsiteY41" fmla="*/ 100539 h 110000"/>
                        <a:gd name="connsiteX42" fmla="*/ 234061 w 241681"/>
                        <a:gd name="connsiteY42" fmla="*/ 61931 h 110000"/>
                        <a:gd name="connsiteX43" fmla="*/ 232029 w 241681"/>
                        <a:gd name="connsiteY43" fmla="*/ 49993 h 110000"/>
                        <a:gd name="connsiteX44" fmla="*/ 211392 w 241681"/>
                        <a:gd name="connsiteY44" fmla="*/ 28975 h 110000"/>
                        <a:gd name="connsiteX45" fmla="*/ 166878 w 241681"/>
                        <a:gd name="connsiteY45" fmla="*/ 11195 h 110000"/>
                        <a:gd name="connsiteX46" fmla="*/ 160909 w 241681"/>
                        <a:gd name="connsiteY46" fmla="*/ 8845 h 110000"/>
                        <a:gd name="connsiteX47" fmla="*/ 159957 w 241681"/>
                        <a:gd name="connsiteY47" fmla="*/ 11385 h 110000"/>
                        <a:gd name="connsiteX48" fmla="*/ 142685 w 241681"/>
                        <a:gd name="connsiteY48" fmla="*/ 59074 h 110000"/>
                        <a:gd name="connsiteX49" fmla="*/ 138430 w 241681"/>
                        <a:gd name="connsiteY49" fmla="*/ 62757 h 110000"/>
                        <a:gd name="connsiteX50" fmla="*/ 134493 w 241681"/>
                        <a:gd name="connsiteY50" fmla="*/ 59074 h 110000"/>
                        <a:gd name="connsiteX51" fmla="*/ 126047 w 241681"/>
                        <a:gd name="connsiteY51" fmla="*/ 34626 h 110000"/>
                        <a:gd name="connsiteX52" fmla="*/ 126238 w 241681"/>
                        <a:gd name="connsiteY52" fmla="*/ 29038 h 110000"/>
                        <a:gd name="connsiteX53" fmla="*/ 128588 w 241681"/>
                        <a:gd name="connsiteY53" fmla="*/ 23006 h 110000"/>
                        <a:gd name="connsiteX54" fmla="*/ 113157 w 241681"/>
                        <a:gd name="connsiteY54" fmla="*/ 23006 h 1100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</a:cxnLst>
                      <a:rect l="l" t="t" r="r" b="b"/>
                      <a:pathLst>
                        <a:path w="241681" h="110000">
                          <a:moveTo>
                            <a:pt x="2540" y="109937"/>
                          </a:moveTo>
                          <a:cubicBezTo>
                            <a:pt x="635" y="108477"/>
                            <a:pt x="0" y="106635"/>
                            <a:pt x="0" y="104222"/>
                          </a:cubicBezTo>
                          <a:cubicBezTo>
                            <a:pt x="64" y="90443"/>
                            <a:pt x="0" y="76600"/>
                            <a:pt x="0" y="62820"/>
                          </a:cubicBezTo>
                          <a:cubicBezTo>
                            <a:pt x="127" y="47072"/>
                            <a:pt x="6350" y="34436"/>
                            <a:pt x="19812" y="25863"/>
                          </a:cubicBezTo>
                          <a:cubicBezTo>
                            <a:pt x="23558" y="23514"/>
                            <a:pt x="27813" y="21863"/>
                            <a:pt x="31940" y="20148"/>
                          </a:cubicBezTo>
                          <a:cubicBezTo>
                            <a:pt x="47752" y="13735"/>
                            <a:pt x="63627" y="7448"/>
                            <a:pt x="79502" y="1098"/>
                          </a:cubicBezTo>
                          <a:cubicBezTo>
                            <a:pt x="84646" y="-934"/>
                            <a:pt x="85852" y="-362"/>
                            <a:pt x="87757" y="4845"/>
                          </a:cubicBezTo>
                          <a:cubicBezTo>
                            <a:pt x="92520" y="18053"/>
                            <a:pt x="97282" y="31261"/>
                            <a:pt x="102045" y="44469"/>
                          </a:cubicBezTo>
                          <a:cubicBezTo>
                            <a:pt x="102299" y="45231"/>
                            <a:pt x="102679" y="45993"/>
                            <a:pt x="103188" y="47263"/>
                          </a:cubicBezTo>
                          <a:cubicBezTo>
                            <a:pt x="104965" y="42056"/>
                            <a:pt x="106680" y="37357"/>
                            <a:pt x="108204" y="32658"/>
                          </a:cubicBezTo>
                          <a:cubicBezTo>
                            <a:pt x="108395" y="32023"/>
                            <a:pt x="108140" y="31197"/>
                            <a:pt x="107823" y="30499"/>
                          </a:cubicBezTo>
                          <a:cubicBezTo>
                            <a:pt x="106617" y="27324"/>
                            <a:pt x="105220" y="24276"/>
                            <a:pt x="104013" y="21101"/>
                          </a:cubicBezTo>
                          <a:cubicBezTo>
                            <a:pt x="102743" y="17672"/>
                            <a:pt x="104267" y="15259"/>
                            <a:pt x="107823" y="15259"/>
                          </a:cubicBezTo>
                          <a:cubicBezTo>
                            <a:pt x="116459" y="15195"/>
                            <a:pt x="125095" y="15195"/>
                            <a:pt x="133731" y="15259"/>
                          </a:cubicBezTo>
                          <a:cubicBezTo>
                            <a:pt x="137351" y="15259"/>
                            <a:pt x="138811" y="17672"/>
                            <a:pt x="137604" y="21101"/>
                          </a:cubicBezTo>
                          <a:cubicBezTo>
                            <a:pt x="137478" y="21482"/>
                            <a:pt x="137351" y="21926"/>
                            <a:pt x="137097" y="22244"/>
                          </a:cubicBezTo>
                          <a:cubicBezTo>
                            <a:pt x="131128" y="30689"/>
                            <a:pt x="134938" y="38627"/>
                            <a:pt x="138557" y="46882"/>
                          </a:cubicBezTo>
                          <a:cubicBezTo>
                            <a:pt x="138938" y="45929"/>
                            <a:pt x="139319" y="45167"/>
                            <a:pt x="139573" y="44469"/>
                          </a:cubicBezTo>
                          <a:cubicBezTo>
                            <a:pt x="144463" y="30943"/>
                            <a:pt x="149352" y="17418"/>
                            <a:pt x="154242" y="3956"/>
                          </a:cubicBezTo>
                          <a:cubicBezTo>
                            <a:pt x="155702" y="19"/>
                            <a:pt x="157353" y="-807"/>
                            <a:pt x="161227" y="717"/>
                          </a:cubicBezTo>
                          <a:cubicBezTo>
                            <a:pt x="179007" y="7829"/>
                            <a:pt x="196786" y="14814"/>
                            <a:pt x="214440" y="22053"/>
                          </a:cubicBezTo>
                          <a:cubicBezTo>
                            <a:pt x="229235" y="28086"/>
                            <a:pt x="238189" y="39008"/>
                            <a:pt x="241110" y="54756"/>
                          </a:cubicBezTo>
                          <a:cubicBezTo>
                            <a:pt x="241617" y="57423"/>
                            <a:pt x="241681" y="60153"/>
                            <a:pt x="241681" y="62884"/>
                          </a:cubicBezTo>
                          <a:cubicBezTo>
                            <a:pt x="241681" y="76663"/>
                            <a:pt x="241681" y="90506"/>
                            <a:pt x="241681" y="104286"/>
                          </a:cubicBezTo>
                          <a:cubicBezTo>
                            <a:pt x="241681" y="106635"/>
                            <a:pt x="241110" y="108540"/>
                            <a:pt x="239141" y="110001"/>
                          </a:cubicBezTo>
                          <a:lnTo>
                            <a:pt x="2159" y="110001"/>
                          </a:lnTo>
                          <a:close/>
                          <a:moveTo>
                            <a:pt x="113284" y="23006"/>
                          </a:moveTo>
                          <a:cubicBezTo>
                            <a:pt x="114236" y="25419"/>
                            <a:pt x="115189" y="27451"/>
                            <a:pt x="115888" y="29610"/>
                          </a:cubicBezTo>
                          <a:cubicBezTo>
                            <a:pt x="116269" y="30753"/>
                            <a:pt x="116650" y="32213"/>
                            <a:pt x="116269" y="33293"/>
                          </a:cubicBezTo>
                          <a:cubicBezTo>
                            <a:pt x="113221" y="42373"/>
                            <a:pt x="110109" y="51390"/>
                            <a:pt x="106807" y="60344"/>
                          </a:cubicBezTo>
                          <a:cubicBezTo>
                            <a:pt x="106426" y="61423"/>
                            <a:pt x="104521" y="62630"/>
                            <a:pt x="103315" y="62630"/>
                          </a:cubicBezTo>
                          <a:cubicBezTo>
                            <a:pt x="102108" y="62630"/>
                            <a:pt x="100838" y="61296"/>
                            <a:pt x="99758" y="60344"/>
                          </a:cubicBezTo>
                          <a:cubicBezTo>
                            <a:pt x="99314" y="59963"/>
                            <a:pt x="99251" y="59137"/>
                            <a:pt x="98997" y="58502"/>
                          </a:cubicBezTo>
                          <a:cubicBezTo>
                            <a:pt x="93282" y="42691"/>
                            <a:pt x="87503" y="26879"/>
                            <a:pt x="81788" y="11068"/>
                          </a:cubicBezTo>
                          <a:cubicBezTo>
                            <a:pt x="81534" y="10369"/>
                            <a:pt x="81217" y="9735"/>
                            <a:pt x="80899" y="8972"/>
                          </a:cubicBezTo>
                          <a:cubicBezTo>
                            <a:pt x="80010" y="9290"/>
                            <a:pt x="79311" y="9544"/>
                            <a:pt x="78613" y="9798"/>
                          </a:cubicBezTo>
                          <a:cubicBezTo>
                            <a:pt x="62675" y="16148"/>
                            <a:pt x="46736" y="22498"/>
                            <a:pt x="30797" y="28911"/>
                          </a:cubicBezTo>
                          <a:cubicBezTo>
                            <a:pt x="15748" y="34944"/>
                            <a:pt x="7747" y="46755"/>
                            <a:pt x="7683" y="62884"/>
                          </a:cubicBezTo>
                          <a:cubicBezTo>
                            <a:pt x="7683" y="75076"/>
                            <a:pt x="7683" y="87268"/>
                            <a:pt x="7683" y="99460"/>
                          </a:cubicBezTo>
                          <a:cubicBezTo>
                            <a:pt x="7683" y="100349"/>
                            <a:pt x="7747" y="101238"/>
                            <a:pt x="7811" y="102000"/>
                          </a:cubicBezTo>
                          <a:lnTo>
                            <a:pt x="233997" y="102000"/>
                          </a:lnTo>
                          <a:cubicBezTo>
                            <a:pt x="233997" y="101365"/>
                            <a:pt x="234125" y="100984"/>
                            <a:pt x="234125" y="100539"/>
                          </a:cubicBezTo>
                          <a:cubicBezTo>
                            <a:pt x="234125" y="87649"/>
                            <a:pt x="234315" y="74758"/>
                            <a:pt x="234061" y="61931"/>
                          </a:cubicBezTo>
                          <a:cubicBezTo>
                            <a:pt x="233997" y="57931"/>
                            <a:pt x="233299" y="53803"/>
                            <a:pt x="232029" y="49993"/>
                          </a:cubicBezTo>
                          <a:cubicBezTo>
                            <a:pt x="228600" y="39706"/>
                            <a:pt x="221361" y="32975"/>
                            <a:pt x="211392" y="28975"/>
                          </a:cubicBezTo>
                          <a:cubicBezTo>
                            <a:pt x="196533" y="23069"/>
                            <a:pt x="181674" y="17100"/>
                            <a:pt x="166878" y="11195"/>
                          </a:cubicBezTo>
                          <a:cubicBezTo>
                            <a:pt x="164910" y="10433"/>
                            <a:pt x="163004" y="9671"/>
                            <a:pt x="160909" y="8845"/>
                          </a:cubicBezTo>
                          <a:cubicBezTo>
                            <a:pt x="160528" y="9798"/>
                            <a:pt x="160211" y="10623"/>
                            <a:pt x="159957" y="11385"/>
                          </a:cubicBezTo>
                          <a:cubicBezTo>
                            <a:pt x="154178" y="27260"/>
                            <a:pt x="148463" y="43199"/>
                            <a:pt x="142685" y="59074"/>
                          </a:cubicBezTo>
                          <a:cubicBezTo>
                            <a:pt x="141922" y="61106"/>
                            <a:pt x="140970" y="62820"/>
                            <a:pt x="138430" y="62757"/>
                          </a:cubicBezTo>
                          <a:cubicBezTo>
                            <a:pt x="136081" y="62693"/>
                            <a:pt x="135192" y="60979"/>
                            <a:pt x="134493" y="59074"/>
                          </a:cubicBezTo>
                          <a:cubicBezTo>
                            <a:pt x="131699" y="50946"/>
                            <a:pt x="128715" y="42818"/>
                            <a:pt x="126047" y="34626"/>
                          </a:cubicBezTo>
                          <a:cubicBezTo>
                            <a:pt x="125476" y="32975"/>
                            <a:pt x="125794" y="30816"/>
                            <a:pt x="126238" y="29038"/>
                          </a:cubicBezTo>
                          <a:cubicBezTo>
                            <a:pt x="126683" y="27006"/>
                            <a:pt x="127762" y="25165"/>
                            <a:pt x="128588" y="23006"/>
                          </a:cubicBezTo>
                          <a:lnTo>
                            <a:pt x="113157" y="2300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39" name="Полилиния: фигура 138">
                      <a:extLst>
                        <a:ext uri="{FF2B5EF4-FFF2-40B4-BE49-F238E27FC236}">
                          <a16:creationId xmlns="" xmlns:a16="http://schemas.microsoft.com/office/drawing/2014/main" id="{B11EF13C-4322-4745-BB6E-1CE02853E8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438" y="3581842"/>
                      <a:ext cx="131490" cy="149610"/>
                    </a:xfrm>
                    <a:custGeom>
                      <a:avLst/>
                      <a:gdLst>
                        <a:gd name="connsiteX0" fmla="*/ 126990 w 131490"/>
                        <a:gd name="connsiteY0" fmla="*/ 48834 h 149610"/>
                        <a:gd name="connsiteX1" fmla="*/ 123942 w 131490"/>
                        <a:gd name="connsiteY1" fmla="*/ 66296 h 149610"/>
                        <a:gd name="connsiteX2" fmla="*/ 125403 w 131490"/>
                        <a:gd name="connsiteY2" fmla="*/ 70487 h 149610"/>
                        <a:gd name="connsiteX3" fmla="*/ 131435 w 131490"/>
                        <a:gd name="connsiteY3" fmla="*/ 81663 h 149610"/>
                        <a:gd name="connsiteX4" fmla="*/ 122101 w 131490"/>
                        <a:gd name="connsiteY4" fmla="*/ 108016 h 149610"/>
                        <a:gd name="connsiteX5" fmla="*/ 113592 w 131490"/>
                        <a:gd name="connsiteY5" fmla="*/ 112207 h 149610"/>
                        <a:gd name="connsiteX6" fmla="*/ 110290 w 131490"/>
                        <a:gd name="connsiteY6" fmla="*/ 114810 h 149610"/>
                        <a:gd name="connsiteX7" fmla="*/ 98288 w 131490"/>
                        <a:gd name="connsiteY7" fmla="*/ 134495 h 149610"/>
                        <a:gd name="connsiteX8" fmla="*/ 65268 w 131490"/>
                        <a:gd name="connsiteY8" fmla="*/ 149608 h 149610"/>
                        <a:gd name="connsiteX9" fmla="*/ 49139 w 131490"/>
                        <a:gd name="connsiteY9" fmla="*/ 146623 h 149610"/>
                        <a:gd name="connsiteX10" fmla="*/ 32058 w 131490"/>
                        <a:gd name="connsiteY10" fmla="*/ 132844 h 149610"/>
                        <a:gd name="connsiteX11" fmla="*/ 21199 w 131490"/>
                        <a:gd name="connsiteY11" fmla="*/ 114556 h 149610"/>
                        <a:gd name="connsiteX12" fmla="*/ 18151 w 131490"/>
                        <a:gd name="connsiteY12" fmla="*/ 112397 h 149610"/>
                        <a:gd name="connsiteX13" fmla="*/ 3229 w 131490"/>
                        <a:gd name="connsiteY13" fmla="*/ 99253 h 149610"/>
                        <a:gd name="connsiteX14" fmla="*/ 244 w 131490"/>
                        <a:gd name="connsiteY14" fmla="*/ 80901 h 149610"/>
                        <a:gd name="connsiteX15" fmla="*/ 6658 w 131490"/>
                        <a:gd name="connsiteY15" fmla="*/ 70106 h 149610"/>
                        <a:gd name="connsiteX16" fmla="*/ 8182 w 131490"/>
                        <a:gd name="connsiteY16" fmla="*/ 67312 h 149610"/>
                        <a:gd name="connsiteX17" fmla="*/ 6404 w 131490"/>
                        <a:gd name="connsiteY17" fmla="*/ 56073 h 149610"/>
                        <a:gd name="connsiteX18" fmla="*/ 8690 w 131490"/>
                        <a:gd name="connsiteY18" fmla="*/ 28895 h 149610"/>
                        <a:gd name="connsiteX19" fmla="*/ 22025 w 131490"/>
                        <a:gd name="connsiteY19" fmla="*/ 14036 h 149610"/>
                        <a:gd name="connsiteX20" fmla="*/ 33836 w 131490"/>
                        <a:gd name="connsiteY20" fmla="*/ 11877 h 149610"/>
                        <a:gd name="connsiteX21" fmla="*/ 35995 w 131490"/>
                        <a:gd name="connsiteY21" fmla="*/ 11242 h 149610"/>
                        <a:gd name="connsiteX22" fmla="*/ 54219 w 131490"/>
                        <a:gd name="connsiteY22" fmla="*/ 1209 h 149610"/>
                        <a:gd name="connsiteX23" fmla="*/ 94415 w 131490"/>
                        <a:gd name="connsiteY23" fmla="*/ 5971 h 149610"/>
                        <a:gd name="connsiteX24" fmla="*/ 123625 w 131490"/>
                        <a:gd name="connsiteY24" fmla="*/ 32959 h 149610"/>
                        <a:gd name="connsiteX25" fmla="*/ 127054 w 131490"/>
                        <a:gd name="connsiteY25" fmla="*/ 48897 h 149610"/>
                        <a:gd name="connsiteX26" fmla="*/ 41138 w 131490"/>
                        <a:gd name="connsiteY26" fmla="*/ 37721 h 149610"/>
                        <a:gd name="connsiteX27" fmla="*/ 17643 w 131490"/>
                        <a:gd name="connsiteY27" fmla="*/ 61787 h 149610"/>
                        <a:gd name="connsiteX28" fmla="*/ 16119 w 131490"/>
                        <a:gd name="connsiteY28" fmla="*/ 64201 h 149610"/>
                        <a:gd name="connsiteX29" fmla="*/ 15992 w 131490"/>
                        <a:gd name="connsiteY29" fmla="*/ 70804 h 149610"/>
                        <a:gd name="connsiteX30" fmla="*/ 12881 w 131490"/>
                        <a:gd name="connsiteY30" fmla="*/ 75440 h 149610"/>
                        <a:gd name="connsiteX31" fmla="*/ 7801 w 131490"/>
                        <a:gd name="connsiteY31" fmla="*/ 82361 h 149610"/>
                        <a:gd name="connsiteX32" fmla="*/ 12563 w 131490"/>
                        <a:gd name="connsiteY32" fmla="*/ 100142 h 149610"/>
                        <a:gd name="connsiteX33" fmla="*/ 21136 w 131490"/>
                        <a:gd name="connsiteY33" fmla="*/ 104777 h 149610"/>
                        <a:gd name="connsiteX34" fmla="*/ 26724 w 131490"/>
                        <a:gd name="connsiteY34" fmla="*/ 108206 h 149610"/>
                        <a:gd name="connsiteX35" fmla="*/ 36884 w 131490"/>
                        <a:gd name="connsiteY35" fmla="*/ 126049 h 149610"/>
                        <a:gd name="connsiteX36" fmla="*/ 44567 w 131490"/>
                        <a:gd name="connsiteY36" fmla="*/ 135067 h 149610"/>
                        <a:gd name="connsiteX37" fmla="*/ 69459 w 131490"/>
                        <a:gd name="connsiteY37" fmla="*/ 141671 h 149610"/>
                        <a:gd name="connsiteX38" fmla="*/ 93335 w 131490"/>
                        <a:gd name="connsiteY38" fmla="*/ 128272 h 149610"/>
                        <a:gd name="connsiteX39" fmla="*/ 105019 w 131490"/>
                        <a:gd name="connsiteY39" fmla="*/ 108079 h 149610"/>
                        <a:gd name="connsiteX40" fmla="*/ 110417 w 131490"/>
                        <a:gd name="connsiteY40" fmla="*/ 104714 h 149610"/>
                        <a:gd name="connsiteX41" fmla="*/ 118989 w 131490"/>
                        <a:gd name="connsiteY41" fmla="*/ 100205 h 149610"/>
                        <a:gd name="connsiteX42" fmla="*/ 123815 w 131490"/>
                        <a:gd name="connsiteY42" fmla="*/ 81917 h 149610"/>
                        <a:gd name="connsiteX43" fmla="*/ 120069 w 131490"/>
                        <a:gd name="connsiteY43" fmla="*/ 76011 h 149610"/>
                        <a:gd name="connsiteX44" fmla="*/ 115687 w 131490"/>
                        <a:gd name="connsiteY44" fmla="*/ 68836 h 149610"/>
                        <a:gd name="connsiteX45" fmla="*/ 109528 w 131490"/>
                        <a:gd name="connsiteY45" fmla="*/ 60772 h 149610"/>
                        <a:gd name="connsiteX46" fmla="*/ 81207 w 131490"/>
                        <a:gd name="connsiteY46" fmla="*/ 54803 h 149610"/>
                        <a:gd name="connsiteX47" fmla="*/ 50663 w 131490"/>
                        <a:gd name="connsiteY47" fmla="*/ 44516 h 149610"/>
                        <a:gd name="connsiteX48" fmla="*/ 41138 w 131490"/>
                        <a:gd name="connsiteY48" fmla="*/ 37658 h 149610"/>
                        <a:gd name="connsiteX49" fmla="*/ 118037 w 131490"/>
                        <a:gd name="connsiteY49" fmla="*/ 55818 h 149610"/>
                        <a:gd name="connsiteX50" fmla="*/ 107178 w 131490"/>
                        <a:gd name="connsiteY50" fmla="*/ 23370 h 149610"/>
                        <a:gd name="connsiteX51" fmla="*/ 53140 w 131490"/>
                        <a:gd name="connsiteY51" fmla="*/ 9336 h 149610"/>
                        <a:gd name="connsiteX52" fmla="*/ 41646 w 131490"/>
                        <a:gd name="connsiteY52" fmla="*/ 17274 h 149610"/>
                        <a:gd name="connsiteX53" fmla="*/ 35677 w 131490"/>
                        <a:gd name="connsiteY53" fmla="*/ 20068 h 149610"/>
                        <a:gd name="connsiteX54" fmla="*/ 21072 w 131490"/>
                        <a:gd name="connsiteY54" fmla="*/ 24132 h 149610"/>
                        <a:gd name="connsiteX55" fmla="*/ 13071 w 131490"/>
                        <a:gd name="connsiteY55" fmla="*/ 38928 h 149610"/>
                        <a:gd name="connsiteX56" fmla="*/ 14278 w 131490"/>
                        <a:gd name="connsiteY56" fmla="*/ 54803 h 149610"/>
                        <a:gd name="connsiteX57" fmla="*/ 33709 w 131490"/>
                        <a:gd name="connsiteY57" fmla="*/ 35816 h 149610"/>
                        <a:gd name="connsiteX58" fmla="*/ 35741 w 131490"/>
                        <a:gd name="connsiteY58" fmla="*/ 29529 h 149610"/>
                        <a:gd name="connsiteX59" fmla="*/ 38598 w 131490"/>
                        <a:gd name="connsiteY59" fmla="*/ 26164 h 149610"/>
                        <a:gd name="connsiteX60" fmla="*/ 42916 w 131490"/>
                        <a:gd name="connsiteY60" fmla="*/ 27879 h 149610"/>
                        <a:gd name="connsiteX61" fmla="*/ 66729 w 131490"/>
                        <a:gd name="connsiteY61" fmla="*/ 43627 h 149610"/>
                        <a:gd name="connsiteX62" fmla="*/ 90224 w 131490"/>
                        <a:gd name="connsiteY62" fmla="*/ 48834 h 149610"/>
                        <a:gd name="connsiteX63" fmla="*/ 118037 w 131490"/>
                        <a:gd name="connsiteY63" fmla="*/ 55882 h 1496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</a:cxnLst>
                      <a:rect l="l" t="t" r="r" b="b"/>
                      <a:pathLst>
                        <a:path w="131490" h="149610">
                          <a:moveTo>
                            <a:pt x="126990" y="48834"/>
                          </a:moveTo>
                          <a:cubicBezTo>
                            <a:pt x="125974" y="54676"/>
                            <a:pt x="125085" y="60517"/>
                            <a:pt x="123942" y="66296"/>
                          </a:cubicBezTo>
                          <a:cubicBezTo>
                            <a:pt x="123625" y="68074"/>
                            <a:pt x="123561" y="69280"/>
                            <a:pt x="125403" y="70487"/>
                          </a:cubicBezTo>
                          <a:cubicBezTo>
                            <a:pt x="129340" y="73027"/>
                            <a:pt x="131245" y="77091"/>
                            <a:pt x="131435" y="81663"/>
                          </a:cubicBezTo>
                          <a:cubicBezTo>
                            <a:pt x="131880" y="91633"/>
                            <a:pt x="129721" y="100967"/>
                            <a:pt x="122101" y="108016"/>
                          </a:cubicBezTo>
                          <a:cubicBezTo>
                            <a:pt x="119878" y="110111"/>
                            <a:pt x="116640" y="111254"/>
                            <a:pt x="113592" y="112207"/>
                          </a:cubicBezTo>
                          <a:cubicBezTo>
                            <a:pt x="111941" y="112715"/>
                            <a:pt x="111052" y="113413"/>
                            <a:pt x="110290" y="114810"/>
                          </a:cubicBezTo>
                          <a:cubicBezTo>
                            <a:pt x="106353" y="121414"/>
                            <a:pt x="102670" y="128209"/>
                            <a:pt x="98288" y="134495"/>
                          </a:cubicBezTo>
                          <a:cubicBezTo>
                            <a:pt x="90287" y="145861"/>
                            <a:pt x="78476" y="149417"/>
                            <a:pt x="65268" y="149608"/>
                          </a:cubicBezTo>
                          <a:cubicBezTo>
                            <a:pt x="59680" y="149672"/>
                            <a:pt x="54346" y="148465"/>
                            <a:pt x="49139" y="146623"/>
                          </a:cubicBezTo>
                          <a:cubicBezTo>
                            <a:pt x="41837" y="144020"/>
                            <a:pt x="36185" y="139321"/>
                            <a:pt x="32058" y="132844"/>
                          </a:cubicBezTo>
                          <a:cubicBezTo>
                            <a:pt x="28248" y="126875"/>
                            <a:pt x="24692" y="120716"/>
                            <a:pt x="21199" y="114556"/>
                          </a:cubicBezTo>
                          <a:cubicBezTo>
                            <a:pt x="20437" y="113286"/>
                            <a:pt x="19675" y="112651"/>
                            <a:pt x="18151" y="112397"/>
                          </a:cubicBezTo>
                          <a:cubicBezTo>
                            <a:pt x="10531" y="111064"/>
                            <a:pt x="6086" y="105984"/>
                            <a:pt x="3229" y="99253"/>
                          </a:cubicBezTo>
                          <a:cubicBezTo>
                            <a:pt x="752" y="93411"/>
                            <a:pt x="-581" y="87315"/>
                            <a:pt x="244" y="80901"/>
                          </a:cubicBezTo>
                          <a:cubicBezTo>
                            <a:pt x="816" y="76456"/>
                            <a:pt x="2848" y="72773"/>
                            <a:pt x="6658" y="70106"/>
                          </a:cubicBezTo>
                          <a:cubicBezTo>
                            <a:pt x="7483" y="69535"/>
                            <a:pt x="8118" y="68328"/>
                            <a:pt x="8182" y="67312"/>
                          </a:cubicBezTo>
                          <a:cubicBezTo>
                            <a:pt x="8626" y="63439"/>
                            <a:pt x="7991" y="59819"/>
                            <a:pt x="6404" y="56073"/>
                          </a:cubicBezTo>
                          <a:cubicBezTo>
                            <a:pt x="2467" y="46802"/>
                            <a:pt x="4499" y="37658"/>
                            <a:pt x="8690" y="28895"/>
                          </a:cubicBezTo>
                          <a:cubicBezTo>
                            <a:pt x="11674" y="22672"/>
                            <a:pt x="15611" y="17274"/>
                            <a:pt x="22025" y="14036"/>
                          </a:cubicBezTo>
                          <a:cubicBezTo>
                            <a:pt x="25771" y="12194"/>
                            <a:pt x="29708" y="11432"/>
                            <a:pt x="33836" y="11877"/>
                          </a:cubicBezTo>
                          <a:cubicBezTo>
                            <a:pt x="34534" y="11940"/>
                            <a:pt x="35677" y="11749"/>
                            <a:pt x="35995" y="11242"/>
                          </a:cubicBezTo>
                          <a:cubicBezTo>
                            <a:pt x="40503" y="4955"/>
                            <a:pt x="47107" y="2479"/>
                            <a:pt x="54219" y="1209"/>
                          </a:cubicBezTo>
                          <a:cubicBezTo>
                            <a:pt x="68062" y="-1268"/>
                            <a:pt x="81524" y="-61"/>
                            <a:pt x="94415" y="5971"/>
                          </a:cubicBezTo>
                          <a:cubicBezTo>
                            <a:pt x="107051" y="11877"/>
                            <a:pt x="117529" y="19941"/>
                            <a:pt x="123625" y="32959"/>
                          </a:cubicBezTo>
                          <a:cubicBezTo>
                            <a:pt x="125974" y="37975"/>
                            <a:pt x="126546" y="43309"/>
                            <a:pt x="127054" y="48897"/>
                          </a:cubicBezTo>
                          <a:close/>
                          <a:moveTo>
                            <a:pt x="41138" y="37721"/>
                          </a:moveTo>
                          <a:cubicBezTo>
                            <a:pt x="37201" y="49659"/>
                            <a:pt x="28502" y="56771"/>
                            <a:pt x="17643" y="61787"/>
                          </a:cubicBezTo>
                          <a:cubicBezTo>
                            <a:pt x="16881" y="62105"/>
                            <a:pt x="16183" y="63375"/>
                            <a:pt x="16119" y="64201"/>
                          </a:cubicBezTo>
                          <a:cubicBezTo>
                            <a:pt x="15865" y="66360"/>
                            <a:pt x="15929" y="68582"/>
                            <a:pt x="15992" y="70804"/>
                          </a:cubicBezTo>
                          <a:cubicBezTo>
                            <a:pt x="15992" y="73091"/>
                            <a:pt x="15167" y="74678"/>
                            <a:pt x="12881" y="75440"/>
                          </a:cubicBezTo>
                          <a:cubicBezTo>
                            <a:pt x="9579" y="76583"/>
                            <a:pt x="8055" y="79060"/>
                            <a:pt x="7801" y="82361"/>
                          </a:cubicBezTo>
                          <a:cubicBezTo>
                            <a:pt x="7293" y="88839"/>
                            <a:pt x="8880" y="94808"/>
                            <a:pt x="12563" y="100142"/>
                          </a:cubicBezTo>
                          <a:cubicBezTo>
                            <a:pt x="14595" y="103062"/>
                            <a:pt x="17389" y="104967"/>
                            <a:pt x="21136" y="104777"/>
                          </a:cubicBezTo>
                          <a:cubicBezTo>
                            <a:pt x="23930" y="104586"/>
                            <a:pt x="25454" y="105857"/>
                            <a:pt x="26724" y="108206"/>
                          </a:cubicBezTo>
                          <a:cubicBezTo>
                            <a:pt x="29962" y="114239"/>
                            <a:pt x="33201" y="120271"/>
                            <a:pt x="36884" y="126049"/>
                          </a:cubicBezTo>
                          <a:cubicBezTo>
                            <a:pt x="38979" y="129352"/>
                            <a:pt x="41519" y="132654"/>
                            <a:pt x="44567" y="135067"/>
                          </a:cubicBezTo>
                          <a:cubicBezTo>
                            <a:pt x="51806" y="140845"/>
                            <a:pt x="60442" y="142496"/>
                            <a:pt x="69459" y="141671"/>
                          </a:cubicBezTo>
                          <a:cubicBezTo>
                            <a:pt x="79302" y="140782"/>
                            <a:pt x="87874" y="137098"/>
                            <a:pt x="93335" y="128272"/>
                          </a:cubicBezTo>
                          <a:cubicBezTo>
                            <a:pt x="97399" y="121668"/>
                            <a:pt x="101209" y="114873"/>
                            <a:pt x="105019" y="108079"/>
                          </a:cubicBezTo>
                          <a:cubicBezTo>
                            <a:pt x="106289" y="105857"/>
                            <a:pt x="107686" y="104523"/>
                            <a:pt x="110417" y="104714"/>
                          </a:cubicBezTo>
                          <a:cubicBezTo>
                            <a:pt x="114163" y="104967"/>
                            <a:pt x="116957" y="103190"/>
                            <a:pt x="118989" y="100205"/>
                          </a:cubicBezTo>
                          <a:cubicBezTo>
                            <a:pt x="122736" y="94744"/>
                            <a:pt x="124387" y="88585"/>
                            <a:pt x="123815" y="81917"/>
                          </a:cubicBezTo>
                          <a:cubicBezTo>
                            <a:pt x="123561" y="79377"/>
                            <a:pt x="122545" y="76837"/>
                            <a:pt x="120069" y="76011"/>
                          </a:cubicBezTo>
                          <a:cubicBezTo>
                            <a:pt x="116322" y="74805"/>
                            <a:pt x="115497" y="72455"/>
                            <a:pt x="115687" y="68836"/>
                          </a:cubicBezTo>
                          <a:cubicBezTo>
                            <a:pt x="115941" y="63883"/>
                            <a:pt x="114290" y="61851"/>
                            <a:pt x="109528" y="60772"/>
                          </a:cubicBezTo>
                          <a:cubicBezTo>
                            <a:pt x="100130" y="58676"/>
                            <a:pt x="90668" y="56580"/>
                            <a:pt x="81207" y="54803"/>
                          </a:cubicBezTo>
                          <a:cubicBezTo>
                            <a:pt x="70539" y="52771"/>
                            <a:pt x="59934" y="50548"/>
                            <a:pt x="50663" y="44516"/>
                          </a:cubicBezTo>
                          <a:cubicBezTo>
                            <a:pt x="47488" y="42420"/>
                            <a:pt x="44504" y="40071"/>
                            <a:pt x="41138" y="37658"/>
                          </a:cubicBezTo>
                          <a:close/>
                          <a:moveTo>
                            <a:pt x="118037" y="55818"/>
                          </a:moveTo>
                          <a:cubicBezTo>
                            <a:pt x="120894" y="42737"/>
                            <a:pt x="116830" y="31879"/>
                            <a:pt x="107178" y="23370"/>
                          </a:cubicBezTo>
                          <a:cubicBezTo>
                            <a:pt x="91621" y="9717"/>
                            <a:pt x="73523" y="4637"/>
                            <a:pt x="53140" y="9336"/>
                          </a:cubicBezTo>
                          <a:cubicBezTo>
                            <a:pt x="48441" y="10416"/>
                            <a:pt x="43869" y="12258"/>
                            <a:pt x="41646" y="17274"/>
                          </a:cubicBezTo>
                          <a:cubicBezTo>
                            <a:pt x="40249" y="20449"/>
                            <a:pt x="39106" y="20957"/>
                            <a:pt x="35677" y="20068"/>
                          </a:cubicBezTo>
                          <a:cubicBezTo>
                            <a:pt x="30026" y="18608"/>
                            <a:pt x="25136" y="19941"/>
                            <a:pt x="21072" y="24132"/>
                          </a:cubicBezTo>
                          <a:cubicBezTo>
                            <a:pt x="17008" y="28323"/>
                            <a:pt x="14595" y="33403"/>
                            <a:pt x="13071" y="38928"/>
                          </a:cubicBezTo>
                          <a:cubicBezTo>
                            <a:pt x="11611" y="44261"/>
                            <a:pt x="11484" y="49596"/>
                            <a:pt x="14278" y="54803"/>
                          </a:cubicBezTo>
                          <a:cubicBezTo>
                            <a:pt x="23168" y="50802"/>
                            <a:pt x="30343" y="45278"/>
                            <a:pt x="33709" y="35816"/>
                          </a:cubicBezTo>
                          <a:cubicBezTo>
                            <a:pt x="34471" y="33721"/>
                            <a:pt x="34852" y="31561"/>
                            <a:pt x="35741" y="29529"/>
                          </a:cubicBezTo>
                          <a:cubicBezTo>
                            <a:pt x="36376" y="28196"/>
                            <a:pt x="37455" y="26418"/>
                            <a:pt x="38598" y="26164"/>
                          </a:cubicBezTo>
                          <a:cubicBezTo>
                            <a:pt x="39932" y="25910"/>
                            <a:pt x="42027" y="26799"/>
                            <a:pt x="42916" y="27879"/>
                          </a:cubicBezTo>
                          <a:cubicBezTo>
                            <a:pt x="49330" y="35498"/>
                            <a:pt x="57267" y="40896"/>
                            <a:pt x="66729" y="43627"/>
                          </a:cubicBezTo>
                          <a:cubicBezTo>
                            <a:pt x="74412" y="45849"/>
                            <a:pt x="82413" y="47119"/>
                            <a:pt x="90224" y="48834"/>
                          </a:cubicBezTo>
                          <a:cubicBezTo>
                            <a:pt x="99558" y="50866"/>
                            <a:pt x="109083" y="51945"/>
                            <a:pt x="118037" y="5588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140" name="Полилиния: фигура 139">
                      <a:extLst>
                        <a:ext uri="{FF2B5EF4-FFF2-40B4-BE49-F238E27FC236}">
                          <a16:creationId xmlns="" xmlns:a16="http://schemas.microsoft.com/office/drawing/2014/main" id="{7479FF9B-B7B2-40A0-8348-6F54E5A3C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4791" y="3791013"/>
                      <a:ext cx="50800" cy="34289"/>
                    </a:xfrm>
                    <a:custGeom>
                      <a:avLst/>
                      <a:gdLst>
                        <a:gd name="connsiteX0" fmla="*/ 25336 w 50800"/>
                        <a:gd name="connsiteY0" fmla="*/ 0 h 34289"/>
                        <a:gd name="connsiteX1" fmla="*/ 45149 w 50800"/>
                        <a:gd name="connsiteY1" fmla="*/ 0 h 34289"/>
                        <a:gd name="connsiteX2" fmla="*/ 50800 w 50800"/>
                        <a:gd name="connsiteY2" fmla="*/ 5524 h 34289"/>
                        <a:gd name="connsiteX3" fmla="*/ 50800 w 50800"/>
                        <a:gd name="connsiteY3" fmla="*/ 28892 h 34289"/>
                        <a:gd name="connsiteX4" fmla="*/ 45466 w 50800"/>
                        <a:gd name="connsiteY4" fmla="*/ 34290 h 34289"/>
                        <a:gd name="connsiteX5" fmla="*/ 5334 w 50800"/>
                        <a:gd name="connsiteY5" fmla="*/ 34290 h 34289"/>
                        <a:gd name="connsiteX6" fmla="*/ 0 w 50800"/>
                        <a:gd name="connsiteY6" fmla="*/ 29020 h 34289"/>
                        <a:gd name="connsiteX7" fmla="*/ 0 w 50800"/>
                        <a:gd name="connsiteY7" fmla="*/ 5143 h 34289"/>
                        <a:gd name="connsiteX8" fmla="*/ 5017 w 50800"/>
                        <a:gd name="connsiteY8" fmla="*/ 64 h 34289"/>
                        <a:gd name="connsiteX9" fmla="*/ 25336 w 50800"/>
                        <a:gd name="connsiteY9" fmla="*/ 64 h 34289"/>
                        <a:gd name="connsiteX10" fmla="*/ 7810 w 50800"/>
                        <a:gd name="connsiteY10" fmla="*/ 26416 h 34289"/>
                        <a:gd name="connsiteX11" fmla="*/ 42799 w 50800"/>
                        <a:gd name="connsiteY11" fmla="*/ 26416 h 34289"/>
                        <a:gd name="connsiteX12" fmla="*/ 42799 w 50800"/>
                        <a:gd name="connsiteY12" fmla="*/ 7874 h 34289"/>
                        <a:gd name="connsiteX13" fmla="*/ 7810 w 50800"/>
                        <a:gd name="connsiteY13" fmla="*/ 7874 h 34289"/>
                        <a:gd name="connsiteX14" fmla="*/ 7810 w 50800"/>
                        <a:gd name="connsiteY14" fmla="*/ 26416 h 342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50800" h="34289">
                          <a:moveTo>
                            <a:pt x="25336" y="0"/>
                          </a:moveTo>
                          <a:cubicBezTo>
                            <a:pt x="31940" y="0"/>
                            <a:pt x="38545" y="0"/>
                            <a:pt x="45149" y="0"/>
                          </a:cubicBezTo>
                          <a:cubicBezTo>
                            <a:pt x="49593" y="0"/>
                            <a:pt x="50800" y="1207"/>
                            <a:pt x="50800" y="5524"/>
                          </a:cubicBezTo>
                          <a:cubicBezTo>
                            <a:pt x="50800" y="13335"/>
                            <a:pt x="50800" y="21082"/>
                            <a:pt x="50800" y="28892"/>
                          </a:cubicBezTo>
                          <a:cubicBezTo>
                            <a:pt x="50800" y="32957"/>
                            <a:pt x="49467" y="34227"/>
                            <a:pt x="45466" y="34290"/>
                          </a:cubicBezTo>
                          <a:cubicBezTo>
                            <a:pt x="32067" y="34290"/>
                            <a:pt x="18732" y="34290"/>
                            <a:pt x="5334" y="34290"/>
                          </a:cubicBezTo>
                          <a:cubicBezTo>
                            <a:pt x="1270" y="34290"/>
                            <a:pt x="0" y="33020"/>
                            <a:pt x="0" y="29020"/>
                          </a:cubicBezTo>
                          <a:cubicBezTo>
                            <a:pt x="0" y="21082"/>
                            <a:pt x="0" y="13081"/>
                            <a:pt x="0" y="5143"/>
                          </a:cubicBezTo>
                          <a:cubicBezTo>
                            <a:pt x="0" y="1333"/>
                            <a:pt x="1270" y="64"/>
                            <a:pt x="5017" y="64"/>
                          </a:cubicBezTo>
                          <a:cubicBezTo>
                            <a:pt x="11811" y="64"/>
                            <a:pt x="18542" y="64"/>
                            <a:pt x="25336" y="64"/>
                          </a:cubicBezTo>
                          <a:close/>
                          <a:moveTo>
                            <a:pt x="7810" y="26416"/>
                          </a:moveTo>
                          <a:lnTo>
                            <a:pt x="42799" y="26416"/>
                          </a:lnTo>
                          <a:lnTo>
                            <a:pt x="42799" y="7874"/>
                          </a:lnTo>
                          <a:lnTo>
                            <a:pt x="7810" y="7874"/>
                          </a:lnTo>
                          <a:lnTo>
                            <a:pt x="7810" y="264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141" name="Рисунок 4">
                  <a:extLst>
                    <a:ext uri="{FF2B5EF4-FFF2-40B4-BE49-F238E27FC236}">
                      <a16:creationId xmlns="" xmlns:a16="http://schemas.microsoft.com/office/drawing/2014/main" id="{D4774142-7B9D-449E-8AF9-5CB6EF94A8ED}"/>
                    </a:ext>
                  </a:extLst>
                </p:cNvPr>
                <p:cNvGrpSpPr/>
                <p:nvPr/>
              </p:nvGrpSpPr>
              <p:grpSpPr>
                <a:xfrm>
                  <a:off x="451167" y="5047488"/>
                  <a:ext cx="3154680" cy="1290383"/>
                  <a:chOff x="451167" y="5047488"/>
                  <a:chExt cx="3154680" cy="1290383"/>
                </a:xfrm>
              </p:grpSpPr>
              <p:sp>
                <p:nvSpPr>
                  <p:cNvPr id="142" name="Полилиния: фигура 141">
                    <a:extLst>
                      <a:ext uri="{FF2B5EF4-FFF2-40B4-BE49-F238E27FC236}">
                        <a16:creationId xmlns="" xmlns:a16="http://schemas.microsoft.com/office/drawing/2014/main" id="{EA4E63E4-5CCD-4A39-B189-5D8F25E44B1C}"/>
                      </a:ext>
                    </a:extLst>
                  </p:cNvPr>
                  <p:cNvSpPr/>
                  <p:nvPr/>
                </p:nvSpPr>
                <p:spPr>
                  <a:xfrm>
                    <a:off x="866330" y="5216398"/>
                    <a:ext cx="2544445" cy="438594"/>
                  </a:xfrm>
                  <a:custGeom>
                    <a:avLst/>
                    <a:gdLst>
                      <a:gd name="connsiteX0" fmla="*/ 2468245 w 2544445"/>
                      <a:gd name="connsiteY0" fmla="*/ 0 h 438594"/>
                      <a:gd name="connsiteX1" fmla="*/ 2544445 w 2544445"/>
                      <a:gd name="connsiteY1" fmla="*/ 76200 h 438594"/>
                      <a:gd name="connsiteX2" fmla="*/ 2544445 w 2544445"/>
                      <a:gd name="connsiteY2" fmla="*/ 362394 h 438594"/>
                      <a:gd name="connsiteX3" fmla="*/ 2468245 w 2544445"/>
                      <a:gd name="connsiteY3" fmla="*/ 438594 h 438594"/>
                      <a:gd name="connsiteX4" fmla="*/ 76200 w 2544445"/>
                      <a:gd name="connsiteY4" fmla="*/ 438594 h 438594"/>
                      <a:gd name="connsiteX5" fmla="*/ 0 w 2544445"/>
                      <a:gd name="connsiteY5" fmla="*/ 362394 h 438594"/>
                      <a:gd name="connsiteX6" fmla="*/ 0 w 2544445"/>
                      <a:gd name="connsiteY6" fmla="*/ 76200 h 438594"/>
                      <a:gd name="connsiteX7" fmla="*/ 76200 w 2544445"/>
                      <a:gd name="connsiteY7" fmla="*/ 0 h 438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544445" h="438594">
                        <a:moveTo>
                          <a:pt x="2468245" y="0"/>
                        </a:moveTo>
                        <a:cubicBezTo>
                          <a:pt x="2510329" y="0"/>
                          <a:pt x="2544445" y="34116"/>
                          <a:pt x="2544445" y="76200"/>
                        </a:cubicBezTo>
                        <a:lnTo>
                          <a:pt x="2544445" y="362394"/>
                        </a:lnTo>
                        <a:cubicBezTo>
                          <a:pt x="2544445" y="404479"/>
                          <a:pt x="2510329" y="438594"/>
                          <a:pt x="2468245" y="438594"/>
                        </a:cubicBezTo>
                        <a:lnTo>
                          <a:pt x="76200" y="438594"/>
                        </a:lnTo>
                        <a:cubicBezTo>
                          <a:pt x="34116" y="438594"/>
                          <a:pt x="0" y="404479"/>
                          <a:pt x="0" y="36239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="" xmlns:a16="http://schemas.microsoft.com/office/drawing/2014/main" id="{667B306F-E45D-4ECE-9162-9F9F19BF4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352611" y="5711063"/>
                    <a:ext cx="164618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1700" spc="98">
                        <a:solidFill>
                          <a:srgbClr val="FF8300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 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="" xmlns:a16="http://schemas.microsoft.com/office/drawing/2014/main" id="{08A26AF4-7714-408D-B68F-98387E2580ED}"/>
                      </a:ext>
                    </a:extLst>
                  </p:cNvPr>
                  <p:cNvSpPr txBox="1"/>
                  <p:nvPr/>
                </p:nvSpPr>
                <p:spPr>
                  <a:xfrm>
                    <a:off x="554863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="" xmlns:a16="http://schemas.microsoft.com/office/drawing/2014/main" id="{E94F4564-601A-4A8C-8960-91C49F3A22D7}"/>
                      </a:ext>
                    </a:extLst>
                  </p:cNvPr>
                  <p:cNvSpPr txBox="1"/>
                  <p:nvPr/>
                </p:nvSpPr>
                <p:spPr>
                  <a:xfrm>
                    <a:off x="795210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="" xmlns:a16="http://schemas.microsoft.com/office/drawing/2014/main" id="{341BBC63-628D-4F8C-9EDB-307A32CF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02004" y="6035230"/>
                    <a:ext cx="123154" cy="23596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endParaRPr lang="ru-RU" sz="1700" spc="-33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endParaRPr>
                  </a:p>
                </p:txBody>
              </p:sp>
              <p:sp>
                <p:nvSpPr>
                  <p:cNvPr id="197" name="Полилиния: фигура 196">
                    <a:extLst>
                      <a:ext uri="{FF2B5EF4-FFF2-40B4-BE49-F238E27FC236}">
                        <a16:creationId xmlns="" xmlns:a16="http://schemas.microsoft.com/office/drawing/2014/main" id="{77C7BF47-968C-4550-9EC2-EADF7534D4B3}"/>
                      </a:ext>
                    </a:extLst>
                  </p:cNvPr>
                  <p:cNvSpPr/>
                  <p:nvPr/>
                </p:nvSpPr>
                <p:spPr>
                  <a:xfrm>
                    <a:off x="451167" y="5047488"/>
                    <a:ext cx="3154680" cy="1290383"/>
                  </a:xfrm>
                  <a:custGeom>
                    <a:avLst/>
                    <a:gdLst>
                      <a:gd name="connsiteX0" fmla="*/ 3078480 w 3154680"/>
                      <a:gd name="connsiteY0" fmla="*/ 0 h 1290383"/>
                      <a:gd name="connsiteX1" fmla="*/ 3154680 w 3154680"/>
                      <a:gd name="connsiteY1" fmla="*/ 76200 h 1290383"/>
                      <a:gd name="connsiteX2" fmla="*/ 3154680 w 3154680"/>
                      <a:gd name="connsiteY2" fmla="*/ 1214184 h 1290383"/>
                      <a:gd name="connsiteX3" fmla="*/ 3078480 w 3154680"/>
                      <a:gd name="connsiteY3" fmla="*/ 1290384 h 1290383"/>
                      <a:gd name="connsiteX4" fmla="*/ 76200 w 3154680"/>
                      <a:gd name="connsiteY4" fmla="*/ 1290384 h 1290383"/>
                      <a:gd name="connsiteX5" fmla="*/ 0 w 3154680"/>
                      <a:gd name="connsiteY5" fmla="*/ 1214184 h 1290383"/>
                      <a:gd name="connsiteX6" fmla="*/ 0 w 3154680"/>
                      <a:gd name="connsiteY6" fmla="*/ 76200 h 1290383"/>
                      <a:gd name="connsiteX7" fmla="*/ 76200 w 3154680"/>
                      <a:gd name="connsiteY7" fmla="*/ 0 h 12903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154680" h="1290383">
                        <a:moveTo>
                          <a:pt x="3078480" y="0"/>
                        </a:moveTo>
                        <a:cubicBezTo>
                          <a:pt x="3120564" y="0"/>
                          <a:pt x="3154680" y="34116"/>
                          <a:pt x="3154680" y="76200"/>
                        </a:cubicBezTo>
                        <a:lnTo>
                          <a:pt x="3154680" y="1214184"/>
                        </a:lnTo>
                        <a:cubicBezTo>
                          <a:pt x="3154680" y="1256268"/>
                          <a:pt x="3120564" y="1290384"/>
                          <a:pt x="3078480" y="1290384"/>
                        </a:cubicBezTo>
                        <a:lnTo>
                          <a:pt x="76200" y="1290384"/>
                        </a:lnTo>
                        <a:cubicBezTo>
                          <a:pt x="34116" y="1290384"/>
                          <a:pt x="0" y="1256268"/>
                          <a:pt x="0" y="1214184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noFill/>
                  <a:ln w="1270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8" name="Рисунок 4">
                    <a:extLst>
                      <a:ext uri="{FF2B5EF4-FFF2-40B4-BE49-F238E27FC236}">
                        <a16:creationId xmlns="" xmlns:a16="http://schemas.microsoft.com/office/drawing/2014/main" id="{4122F7B9-678B-4BF4-95F6-A1498FB37E40}"/>
                      </a:ext>
                    </a:extLst>
                  </p:cNvPr>
                  <p:cNvGrpSpPr/>
                  <p:nvPr/>
                </p:nvGrpSpPr>
                <p:grpSpPr>
                  <a:xfrm>
                    <a:off x="495297" y="5325554"/>
                    <a:ext cx="339870" cy="220726"/>
                    <a:chOff x="495297" y="5325554"/>
                    <a:chExt cx="339870" cy="220726"/>
                  </a:xfrm>
                  <a:solidFill>
                    <a:srgbClr val="000000"/>
                  </a:solidFill>
                </p:grpSpPr>
                <p:sp>
                  <p:nvSpPr>
                    <p:cNvPr id="199" name="Полилиния: фигура 198">
                      <a:extLst>
                        <a:ext uri="{FF2B5EF4-FFF2-40B4-BE49-F238E27FC236}">
                          <a16:creationId xmlns="" xmlns:a16="http://schemas.microsoft.com/office/drawing/2014/main" id="{5689BFE1-7286-40A7-92A6-A4CCFB3168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5297" y="5325554"/>
                      <a:ext cx="339870" cy="220726"/>
                    </a:xfrm>
                    <a:custGeom>
                      <a:avLst/>
                      <a:gdLst>
                        <a:gd name="connsiteX0" fmla="*/ 261305 w 339870"/>
                        <a:gd name="connsiteY0" fmla="*/ 183896 h 220726"/>
                        <a:gd name="connsiteX1" fmla="*/ 77917 w 339870"/>
                        <a:gd name="connsiteY1" fmla="*/ 183896 h 220726"/>
                        <a:gd name="connsiteX2" fmla="*/ 77917 w 339870"/>
                        <a:gd name="connsiteY2" fmla="*/ 191326 h 220726"/>
                        <a:gd name="connsiteX3" fmla="*/ 77917 w 339870"/>
                        <a:gd name="connsiteY3" fmla="*/ 207391 h 220726"/>
                        <a:gd name="connsiteX4" fmla="*/ 64773 w 339870"/>
                        <a:gd name="connsiteY4" fmla="*/ 220599 h 220726"/>
                        <a:gd name="connsiteX5" fmla="*/ 36071 w 339870"/>
                        <a:gd name="connsiteY5" fmla="*/ 220599 h 220726"/>
                        <a:gd name="connsiteX6" fmla="*/ 23053 w 339870"/>
                        <a:gd name="connsiteY6" fmla="*/ 207582 h 220726"/>
                        <a:gd name="connsiteX7" fmla="*/ 23053 w 339870"/>
                        <a:gd name="connsiteY7" fmla="*/ 184722 h 220726"/>
                        <a:gd name="connsiteX8" fmla="*/ 21021 w 339870"/>
                        <a:gd name="connsiteY8" fmla="*/ 180086 h 220726"/>
                        <a:gd name="connsiteX9" fmla="*/ 14671 w 339870"/>
                        <a:gd name="connsiteY9" fmla="*/ 166370 h 220726"/>
                        <a:gd name="connsiteX10" fmla="*/ 14735 w 339870"/>
                        <a:gd name="connsiteY10" fmla="*/ 117539 h 220726"/>
                        <a:gd name="connsiteX11" fmla="*/ 34801 w 339870"/>
                        <a:gd name="connsiteY11" fmla="*/ 76708 h 220726"/>
                        <a:gd name="connsiteX12" fmla="*/ 37468 w 339870"/>
                        <a:gd name="connsiteY12" fmla="*/ 74549 h 220726"/>
                        <a:gd name="connsiteX13" fmla="*/ 34229 w 339870"/>
                        <a:gd name="connsiteY13" fmla="*/ 74232 h 220726"/>
                        <a:gd name="connsiteX14" fmla="*/ 14100 w 339870"/>
                        <a:gd name="connsiteY14" fmla="*/ 74232 h 220726"/>
                        <a:gd name="connsiteX15" fmla="*/ 3 w 339870"/>
                        <a:gd name="connsiteY15" fmla="*/ 60198 h 220726"/>
                        <a:gd name="connsiteX16" fmla="*/ 447 w 339870"/>
                        <a:gd name="connsiteY16" fmla="*/ 50355 h 220726"/>
                        <a:gd name="connsiteX17" fmla="*/ 11814 w 339870"/>
                        <a:gd name="connsiteY17" fmla="*/ 40323 h 220726"/>
                        <a:gd name="connsiteX18" fmla="*/ 32642 w 339870"/>
                        <a:gd name="connsiteY18" fmla="*/ 40323 h 220726"/>
                        <a:gd name="connsiteX19" fmla="*/ 44643 w 339870"/>
                        <a:gd name="connsiteY19" fmla="*/ 53594 h 220726"/>
                        <a:gd name="connsiteX20" fmla="*/ 44643 w 339870"/>
                        <a:gd name="connsiteY20" fmla="*/ 64643 h 220726"/>
                        <a:gd name="connsiteX21" fmla="*/ 50485 w 339870"/>
                        <a:gd name="connsiteY21" fmla="*/ 62611 h 220726"/>
                        <a:gd name="connsiteX22" fmla="*/ 66551 w 339870"/>
                        <a:gd name="connsiteY22" fmla="*/ 22035 h 220726"/>
                        <a:gd name="connsiteX23" fmla="*/ 93856 w 339870"/>
                        <a:gd name="connsiteY23" fmla="*/ 889 h 220726"/>
                        <a:gd name="connsiteX24" fmla="*/ 102682 w 339870"/>
                        <a:gd name="connsiteY24" fmla="*/ 0 h 220726"/>
                        <a:gd name="connsiteX25" fmla="*/ 237239 w 339870"/>
                        <a:gd name="connsiteY25" fmla="*/ 0 h 220726"/>
                        <a:gd name="connsiteX26" fmla="*/ 268862 w 339870"/>
                        <a:gd name="connsiteY26" fmla="*/ 14859 h 220726"/>
                        <a:gd name="connsiteX27" fmla="*/ 274196 w 339870"/>
                        <a:gd name="connsiteY27" fmla="*/ 23876 h 220726"/>
                        <a:gd name="connsiteX28" fmla="*/ 289753 w 339870"/>
                        <a:gd name="connsiteY28" fmla="*/ 63183 h 220726"/>
                        <a:gd name="connsiteX29" fmla="*/ 293055 w 339870"/>
                        <a:gd name="connsiteY29" fmla="*/ 65659 h 220726"/>
                        <a:gd name="connsiteX30" fmla="*/ 295151 w 339870"/>
                        <a:gd name="connsiteY30" fmla="*/ 62103 h 220726"/>
                        <a:gd name="connsiteX31" fmla="*/ 295151 w 339870"/>
                        <a:gd name="connsiteY31" fmla="*/ 53594 h 220726"/>
                        <a:gd name="connsiteX32" fmla="*/ 308549 w 339870"/>
                        <a:gd name="connsiteY32" fmla="*/ 40323 h 220726"/>
                        <a:gd name="connsiteX33" fmla="*/ 326964 w 339870"/>
                        <a:gd name="connsiteY33" fmla="*/ 40323 h 220726"/>
                        <a:gd name="connsiteX34" fmla="*/ 339537 w 339870"/>
                        <a:gd name="connsiteY34" fmla="*/ 51499 h 220726"/>
                        <a:gd name="connsiteX35" fmla="*/ 339537 w 339870"/>
                        <a:gd name="connsiteY35" fmla="*/ 63055 h 220726"/>
                        <a:gd name="connsiteX36" fmla="*/ 326329 w 339870"/>
                        <a:gd name="connsiteY36" fmla="*/ 74295 h 220726"/>
                        <a:gd name="connsiteX37" fmla="*/ 306200 w 339870"/>
                        <a:gd name="connsiteY37" fmla="*/ 74295 h 220726"/>
                        <a:gd name="connsiteX38" fmla="*/ 302263 w 339870"/>
                        <a:gd name="connsiteY38" fmla="*/ 74549 h 220726"/>
                        <a:gd name="connsiteX39" fmla="*/ 305692 w 339870"/>
                        <a:gd name="connsiteY39" fmla="*/ 77280 h 220726"/>
                        <a:gd name="connsiteX40" fmla="*/ 325059 w 339870"/>
                        <a:gd name="connsiteY40" fmla="*/ 115697 h 220726"/>
                        <a:gd name="connsiteX41" fmla="*/ 325186 w 339870"/>
                        <a:gd name="connsiteY41" fmla="*/ 166942 h 220726"/>
                        <a:gd name="connsiteX42" fmla="*/ 318709 w 339870"/>
                        <a:gd name="connsiteY42" fmla="*/ 180340 h 220726"/>
                        <a:gd name="connsiteX43" fmla="*/ 316931 w 339870"/>
                        <a:gd name="connsiteY43" fmla="*/ 184277 h 220726"/>
                        <a:gd name="connsiteX44" fmla="*/ 316868 w 339870"/>
                        <a:gd name="connsiteY44" fmla="*/ 206820 h 220726"/>
                        <a:gd name="connsiteX45" fmla="*/ 303914 w 339870"/>
                        <a:gd name="connsiteY45" fmla="*/ 220536 h 220726"/>
                        <a:gd name="connsiteX46" fmla="*/ 274513 w 339870"/>
                        <a:gd name="connsiteY46" fmla="*/ 220536 h 220726"/>
                        <a:gd name="connsiteX47" fmla="*/ 261623 w 339870"/>
                        <a:gd name="connsiteY47" fmla="*/ 207010 h 220726"/>
                        <a:gd name="connsiteX48" fmla="*/ 261559 w 339870"/>
                        <a:gd name="connsiteY48" fmla="*/ 185166 h 220726"/>
                        <a:gd name="connsiteX49" fmla="*/ 261242 w 339870"/>
                        <a:gd name="connsiteY49" fmla="*/ 184150 h 220726"/>
                        <a:gd name="connsiteX50" fmla="*/ 169929 w 339870"/>
                        <a:gd name="connsiteY50" fmla="*/ 173736 h 220726"/>
                        <a:gd name="connsiteX51" fmla="*/ 269624 w 339870"/>
                        <a:gd name="connsiteY51" fmla="*/ 173736 h 220726"/>
                        <a:gd name="connsiteX52" fmla="*/ 306517 w 339870"/>
                        <a:gd name="connsiteY52" fmla="*/ 173736 h 220726"/>
                        <a:gd name="connsiteX53" fmla="*/ 314836 w 339870"/>
                        <a:gd name="connsiteY53" fmla="*/ 166053 h 220726"/>
                        <a:gd name="connsiteX54" fmla="*/ 314772 w 339870"/>
                        <a:gd name="connsiteY54" fmla="*/ 116205 h 220726"/>
                        <a:gd name="connsiteX55" fmla="*/ 273116 w 339870"/>
                        <a:gd name="connsiteY55" fmla="*/ 75629 h 220726"/>
                        <a:gd name="connsiteX56" fmla="*/ 69218 w 339870"/>
                        <a:gd name="connsiteY56" fmla="*/ 75629 h 220726"/>
                        <a:gd name="connsiteX57" fmla="*/ 60709 w 339870"/>
                        <a:gd name="connsiteY57" fmla="*/ 76136 h 220726"/>
                        <a:gd name="connsiteX58" fmla="*/ 24577 w 339870"/>
                        <a:gd name="connsiteY58" fmla="*/ 118555 h 220726"/>
                        <a:gd name="connsiteX59" fmla="*/ 24577 w 339870"/>
                        <a:gd name="connsiteY59" fmla="*/ 163259 h 220726"/>
                        <a:gd name="connsiteX60" fmla="*/ 35055 w 339870"/>
                        <a:gd name="connsiteY60" fmla="*/ 173736 h 220726"/>
                        <a:gd name="connsiteX61" fmla="*/ 169929 w 339870"/>
                        <a:gd name="connsiteY61" fmla="*/ 173736 h 220726"/>
                        <a:gd name="connsiteX62" fmla="*/ 279720 w 339870"/>
                        <a:gd name="connsiteY62" fmla="*/ 65596 h 220726"/>
                        <a:gd name="connsiteX63" fmla="*/ 279530 w 339870"/>
                        <a:gd name="connsiteY63" fmla="*/ 64643 h 220726"/>
                        <a:gd name="connsiteX64" fmla="*/ 265623 w 339870"/>
                        <a:gd name="connsiteY64" fmla="*/ 29464 h 220726"/>
                        <a:gd name="connsiteX65" fmla="*/ 236604 w 339870"/>
                        <a:gd name="connsiteY65" fmla="*/ 9525 h 220726"/>
                        <a:gd name="connsiteX66" fmla="*/ 208283 w 339870"/>
                        <a:gd name="connsiteY66" fmla="*/ 9525 h 220726"/>
                        <a:gd name="connsiteX67" fmla="*/ 102428 w 339870"/>
                        <a:gd name="connsiteY67" fmla="*/ 9525 h 220726"/>
                        <a:gd name="connsiteX68" fmla="*/ 73790 w 339870"/>
                        <a:gd name="connsiteY68" fmla="*/ 29020 h 220726"/>
                        <a:gd name="connsiteX69" fmla="*/ 60899 w 339870"/>
                        <a:gd name="connsiteY69" fmla="*/ 62040 h 220726"/>
                        <a:gd name="connsiteX70" fmla="*/ 59756 w 339870"/>
                        <a:gd name="connsiteY70" fmla="*/ 65596 h 220726"/>
                        <a:gd name="connsiteX71" fmla="*/ 279720 w 339870"/>
                        <a:gd name="connsiteY71" fmla="*/ 65596 h 220726"/>
                        <a:gd name="connsiteX72" fmla="*/ 33086 w 339870"/>
                        <a:gd name="connsiteY72" fmla="*/ 183896 h 220726"/>
                        <a:gd name="connsiteX73" fmla="*/ 33086 w 339870"/>
                        <a:gd name="connsiteY73" fmla="*/ 207074 h 220726"/>
                        <a:gd name="connsiteX74" fmla="*/ 36960 w 339870"/>
                        <a:gd name="connsiteY74" fmla="*/ 210312 h 220726"/>
                        <a:gd name="connsiteX75" fmla="*/ 64201 w 339870"/>
                        <a:gd name="connsiteY75" fmla="*/ 210312 h 220726"/>
                        <a:gd name="connsiteX76" fmla="*/ 68075 w 339870"/>
                        <a:gd name="connsiteY76" fmla="*/ 206248 h 220726"/>
                        <a:gd name="connsiteX77" fmla="*/ 68075 w 339870"/>
                        <a:gd name="connsiteY77" fmla="*/ 196723 h 220726"/>
                        <a:gd name="connsiteX78" fmla="*/ 68075 w 339870"/>
                        <a:gd name="connsiteY78" fmla="*/ 183896 h 220726"/>
                        <a:gd name="connsiteX79" fmla="*/ 33086 w 339870"/>
                        <a:gd name="connsiteY79" fmla="*/ 183896 h 220726"/>
                        <a:gd name="connsiteX80" fmla="*/ 271973 w 339870"/>
                        <a:gd name="connsiteY80" fmla="*/ 183896 h 220726"/>
                        <a:gd name="connsiteX81" fmla="*/ 271973 w 339870"/>
                        <a:gd name="connsiteY81" fmla="*/ 206947 h 220726"/>
                        <a:gd name="connsiteX82" fmla="*/ 275466 w 339870"/>
                        <a:gd name="connsiteY82" fmla="*/ 210249 h 220726"/>
                        <a:gd name="connsiteX83" fmla="*/ 303406 w 339870"/>
                        <a:gd name="connsiteY83" fmla="*/ 210122 h 220726"/>
                        <a:gd name="connsiteX84" fmla="*/ 306454 w 339870"/>
                        <a:gd name="connsiteY84" fmla="*/ 207772 h 220726"/>
                        <a:gd name="connsiteX85" fmla="*/ 306581 w 339870"/>
                        <a:gd name="connsiteY85" fmla="*/ 183896 h 220726"/>
                        <a:gd name="connsiteX86" fmla="*/ 271910 w 339870"/>
                        <a:gd name="connsiteY86" fmla="*/ 183896 h 220726"/>
                        <a:gd name="connsiteX87" fmla="*/ 305247 w 339870"/>
                        <a:gd name="connsiteY87" fmla="*/ 64072 h 220726"/>
                        <a:gd name="connsiteX88" fmla="*/ 326393 w 339870"/>
                        <a:gd name="connsiteY88" fmla="*/ 64072 h 220726"/>
                        <a:gd name="connsiteX89" fmla="*/ 329822 w 339870"/>
                        <a:gd name="connsiteY89" fmla="*/ 60770 h 220726"/>
                        <a:gd name="connsiteX90" fmla="*/ 329822 w 339870"/>
                        <a:gd name="connsiteY90" fmla="*/ 53277 h 220726"/>
                        <a:gd name="connsiteX91" fmla="*/ 326456 w 339870"/>
                        <a:gd name="connsiteY91" fmla="*/ 49848 h 220726"/>
                        <a:gd name="connsiteX92" fmla="*/ 308740 w 339870"/>
                        <a:gd name="connsiteY92" fmla="*/ 49848 h 220726"/>
                        <a:gd name="connsiteX93" fmla="*/ 305184 w 339870"/>
                        <a:gd name="connsiteY93" fmla="*/ 53467 h 220726"/>
                        <a:gd name="connsiteX94" fmla="*/ 305184 w 339870"/>
                        <a:gd name="connsiteY94" fmla="*/ 64135 h 220726"/>
                        <a:gd name="connsiteX95" fmla="*/ 34737 w 339870"/>
                        <a:gd name="connsiteY95" fmla="*/ 64072 h 220726"/>
                        <a:gd name="connsiteX96" fmla="*/ 34737 w 339870"/>
                        <a:gd name="connsiteY96" fmla="*/ 53213 h 220726"/>
                        <a:gd name="connsiteX97" fmla="*/ 31245 w 339870"/>
                        <a:gd name="connsiteY97" fmla="*/ 49848 h 220726"/>
                        <a:gd name="connsiteX98" fmla="*/ 13465 w 339870"/>
                        <a:gd name="connsiteY98" fmla="*/ 49848 h 220726"/>
                        <a:gd name="connsiteX99" fmla="*/ 10099 w 339870"/>
                        <a:gd name="connsiteY99" fmla="*/ 53340 h 220726"/>
                        <a:gd name="connsiteX100" fmla="*/ 10099 w 339870"/>
                        <a:gd name="connsiteY100" fmla="*/ 60516 h 220726"/>
                        <a:gd name="connsiteX101" fmla="*/ 13655 w 339870"/>
                        <a:gd name="connsiteY101" fmla="*/ 64072 h 220726"/>
                        <a:gd name="connsiteX102" fmla="*/ 34674 w 339870"/>
                        <a:gd name="connsiteY102" fmla="*/ 64072 h 2207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  <a:cxn ang="0">
                          <a:pos x="connsiteX97" y="connsiteY97"/>
                        </a:cxn>
                        <a:cxn ang="0">
                          <a:pos x="connsiteX98" y="connsiteY98"/>
                        </a:cxn>
                        <a:cxn ang="0">
                          <a:pos x="connsiteX99" y="connsiteY99"/>
                        </a:cxn>
                        <a:cxn ang="0">
                          <a:pos x="connsiteX100" y="connsiteY100"/>
                        </a:cxn>
                        <a:cxn ang="0">
                          <a:pos x="connsiteX101" y="connsiteY101"/>
                        </a:cxn>
                        <a:cxn ang="0">
                          <a:pos x="connsiteX102" y="connsiteY102"/>
                        </a:cxn>
                      </a:cxnLst>
                      <a:rect l="l" t="t" r="r" b="b"/>
                      <a:pathLst>
                        <a:path w="339870" h="220726">
                          <a:moveTo>
                            <a:pt x="261305" y="183896"/>
                          </a:moveTo>
                          <a:lnTo>
                            <a:pt x="77917" y="183896"/>
                          </a:lnTo>
                          <a:cubicBezTo>
                            <a:pt x="77917" y="186436"/>
                            <a:pt x="77917" y="188849"/>
                            <a:pt x="77917" y="191326"/>
                          </a:cubicBezTo>
                          <a:cubicBezTo>
                            <a:pt x="77917" y="196660"/>
                            <a:pt x="77981" y="202057"/>
                            <a:pt x="77917" y="207391"/>
                          </a:cubicBezTo>
                          <a:cubicBezTo>
                            <a:pt x="77790" y="215138"/>
                            <a:pt x="72456" y="220472"/>
                            <a:pt x="64773" y="220599"/>
                          </a:cubicBezTo>
                          <a:cubicBezTo>
                            <a:pt x="55184" y="220663"/>
                            <a:pt x="45659" y="220726"/>
                            <a:pt x="36071" y="220599"/>
                          </a:cubicBezTo>
                          <a:cubicBezTo>
                            <a:pt x="28578" y="220536"/>
                            <a:pt x="23180" y="215074"/>
                            <a:pt x="23053" y="207582"/>
                          </a:cubicBezTo>
                          <a:cubicBezTo>
                            <a:pt x="22990" y="199961"/>
                            <a:pt x="22990" y="192342"/>
                            <a:pt x="23053" y="184722"/>
                          </a:cubicBezTo>
                          <a:cubicBezTo>
                            <a:pt x="23053" y="182817"/>
                            <a:pt x="22736" y="181420"/>
                            <a:pt x="21021" y="180086"/>
                          </a:cubicBezTo>
                          <a:cubicBezTo>
                            <a:pt x="16640" y="176657"/>
                            <a:pt x="14671" y="171958"/>
                            <a:pt x="14671" y="166370"/>
                          </a:cubicBezTo>
                          <a:cubicBezTo>
                            <a:pt x="14671" y="150114"/>
                            <a:pt x="14544" y="133795"/>
                            <a:pt x="14735" y="117539"/>
                          </a:cubicBezTo>
                          <a:cubicBezTo>
                            <a:pt x="14925" y="100838"/>
                            <a:pt x="21910" y="87249"/>
                            <a:pt x="34801" y="76708"/>
                          </a:cubicBezTo>
                          <a:cubicBezTo>
                            <a:pt x="35499" y="76136"/>
                            <a:pt x="36198" y="75565"/>
                            <a:pt x="37468" y="74549"/>
                          </a:cubicBezTo>
                          <a:cubicBezTo>
                            <a:pt x="36007" y="74422"/>
                            <a:pt x="35118" y="74232"/>
                            <a:pt x="34229" y="74232"/>
                          </a:cubicBezTo>
                          <a:cubicBezTo>
                            <a:pt x="27498" y="74232"/>
                            <a:pt x="20767" y="74232"/>
                            <a:pt x="14100" y="74232"/>
                          </a:cubicBezTo>
                          <a:cubicBezTo>
                            <a:pt x="5337" y="74168"/>
                            <a:pt x="66" y="68898"/>
                            <a:pt x="3" y="60198"/>
                          </a:cubicBezTo>
                          <a:cubicBezTo>
                            <a:pt x="3" y="56896"/>
                            <a:pt x="-61" y="53530"/>
                            <a:pt x="447" y="50355"/>
                          </a:cubicBezTo>
                          <a:cubicBezTo>
                            <a:pt x="1400" y="44704"/>
                            <a:pt x="6162" y="40513"/>
                            <a:pt x="11814" y="40323"/>
                          </a:cubicBezTo>
                          <a:cubicBezTo>
                            <a:pt x="18735" y="40068"/>
                            <a:pt x="25720" y="40068"/>
                            <a:pt x="32642" y="40323"/>
                          </a:cubicBezTo>
                          <a:cubicBezTo>
                            <a:pt x="39627" y="40577"/>
                            <a:pt x="44389" y="46101"/>
                            <a:pt x="44643" y="53594"/>
                          </a:cubicBezTo>
                          <a:cubicBezTo>
                            <a:pt x="44770" y="57341"/>
                            <a:pt x="44643" y="61087"/>
                            <a:pt x="44643" y="64643"/>
                          </a:cubicBezTo>
                          <a:cubicBezTo>
                            <a:pt x="47691" y="66294"/>
                            <a:pt x="49279" y="65849"/>
                            <a:pt x="50485" y="62611"/>
                          </a:cubicBezTo>
                          <a:cubicBezTo>
                            <a:pt x="55629" y="49022"/>
                            <a:pt x="60582" y="35306"/>
                            <a:pt x="66551" y="22035"/>
                          </a:cubicBezTo>
                          <a:cubicBezTo>
                            <a:pt x="71758" y="10414"/>
                            <a:pt x="81537" y="3747"/>
                            <a:pt x="93856" y="889"/>
                          </a:cubicBezTo>
                          <a:cubicBezTo>
                            <a:pt x="96713" y="254"/>
                            <a:pt x="99698" y="0"/>
                            <a:pt x="102682" y="0"/>
                          </a:cubicBezTo>
                          <a:cubicBezTo>
                            <a:pt x="147513" y="0"/>
                            <a:pt x="192408" y="0"/>
                            <a:pt x="237239" y="0"/>
                          </a:cubicBezTo>
                          <a:cubicBezTo>
                            <a:pt x="250066" y="0"/>
                            <a:pt x="260734" y="5017"/>
                            <a:pt x="268862" y="14859"/>
                          </a:cubicBezTo>
                          <a:cubicBezTo>
                            <a:pt x="271084" y="17526"/>
                            <a:pt x="272862" y="20701"/>
                            <a:pt x="274196" y="23876"/>
                          </a:cubicBezTo>
                          <a:cubicBezTo>
                            <a:pt x="279530" y="36893"/>
                            <a:pt x="284610" y="50102"/>
                            <a:pt x="289753" y="63183"/>
                          </a:cubicBezTo>
                          <a:cubicBezTo>
                            <a:pt x="290325" y="64707"/>
                            <a:pt x="290769" y="66104"/>
                            <a:pt x="293055" y="65659"/>
                          </a:cubicBezTo>
                          <a:cubicBezTo>
                            <a:pt x="295341" y="65215"/>
                            <a:pt x="295151" y="63754"/>
                            <a:pt x="295151" y="62103"/>
                          </a:cubicBezTo>
                          <a:cubicBezTo>
                            <a:pt x="295151" y="59246"/>
                            <a:pt x="295087" y="56388"/>
                            <a:pt x="295151" y="53594"/>
                          </a:cubicBezTo>
                          <a:cubicBezTo>
                            <a:pt x="295405" y="45593"/>
                            <a:pt x="300612" y="40449"/>
                            <a:pt x="308549" y="40323"/>
                          </a:cubicBezTo>
                          <a:cubicBezTo>
                            <a:pt x="314709" y="40196"/>
                            <a:pt x="320868" y="40196"/>
                            <a:pt x="326964" y="40323"/>
                          </a:cubicBezTo>
                          <a:cubicBezTo>
                            <a:pt x="333695" y="40513"/>
                            <a:pt x="338712" y="44831"/>
                            <a:pt x="339537" y="51499"/>
                          </a:cubicBezTo>
                          <a:cubicBezTo>
                            <a:pt x="339982" y="55309"/>
                            <a:pt x="339982" y="59246"/>
                            <a:pt x="339537" y="63055"/>
                          </a:cubicBezTo>
                          <a:cubicBezTo>
                            <a:pt x="338712" y="69914"/>
                            <a:pt x="333568" y="74168"/>
                            <a:pt x="326329" y="74295"/>
                          </a:cubicBezTo>
                          <a:cubicBezTo>
                            <a:pt x="319598" y="74422"/>
                            <a:pt x="312867" y="74295"/>
                            <a:pt x="306200" y="74295"/>
                          </a:cubicBezTo>
                          <a:cubicBezTo>
                            <a:pt x="305120" y="74295"/>
                            <a:pt x="304041" y="74422"/>
                            <a:pt x="302263" y="74549"/>
                          </a:cubicBezTo>
                          <a:cubicBezTo>
                            <a:pt x="303787" y="75819"/>
                            <a:pt x="304739" y="76517"/>
                            <a:pt x="305692" y="77280"/>
                          </a:cubicBezTo>
                          <a:cubicBezTo>
                            <a:pt x="317693" y="87313"/>
                            <a:pt x="324615" y="100013"/>
                            <a:pt x="325059" y="115697"/>
                          </a:cubicBezTo>
                          <a:cubicBezTo>
                            <a:pt x="325504" y="132779"/>
                            <a:pt x="325250" y="149860"/>
                            <a:pt x="325186" y="166942"/>
                          </a:cubicBezTo>
                          <a:cubicBezTo>
                            <a:pt x="325186" y="172403"/>
                            <a:pt x="322773" y="176721"/>
                            <a:pt x="318709" y="180340"/>
                          </a:cubicBezTo>
                          <a:cubicBezTo>
                            <a:pt x="317693" y="181229"/>
                            <a:pt x="316931" y="182943"/>
                            <a:pt x="316931" y="184277"/>
                          </a:cubicBezTo>
                          <a:cubicBezTo>
                            <a:pt x="316741" y="191770"/>
                            <a:pt x="316931" y="199327"/>
                            <a:pt x="316868" y="206820"/>
                          </a:cubicBezTo>
                          <a:cubicBezTo>
                            <a:pt x="316868" y="214884"/>
                            <a:pt x="311915" y="220282"/>
                            <a:pt x="303914" y="220536"/>
                          </a:cubicBezTo>
                          <a:cubicBezTo>
                            <a:pt x="294135" y="220790"/>
                            <a:pt x="284356" y="220790"/>
                            <a:pt x="274513" y="220536"/>
                          </a:cubicBezTo>
                          <a:cubicBezTo>
                            <a:pt x="266703" y="220282"/>
                            <a:pt x="261750" y="214884"/>
                            <a:pt x="261623" y="207010"/>
                          </a:cubicBezTo>
                          <a:cubicBezTo>
                            <a:pt x="261496" y="199708"/>
                            <a:pt x="261623" y="192468"/>
                            <a:pt x="261559" y="185166"/>
                          </a:cubicBezTo>
                          <a:cubicBezTo>
                            <a:pt x="261559" y="184976"/>
                            <a:pt x="261432" y="184722"/>
                            <a:pt x="261242" y="184150"/>
                          </a:cubicBezTo>
                          <a:close/>
                          <a:moveTo>
                            <a:pt x="169929" y="173736"/>
                          </a:moveTo>
                          <a:cubicBezTo>
                            <a:pt x="203139" y="173736"/>
                            <a:pt x="236413" y="173736"/>
                            <a:pt x="269624" y="173736"/>
                          </a:cubicBezTo>
                          <a:cubicBezTo>
                            <a:pt x="281943" y="173736"/>
                            <a:pt x="294198" y="173736"/>
                            <a:pt x="306517" y="173736"/>
                          </a:cubicBezTo>
                          <a:cubicBezTo>
                            <a:pt x="312042" y="173736"/>
                            <a:pt x="314836" y="171196"/>
                            <a:pt x="314836" y="166053"/>
                          </a:cubicBezTo>
                          <a:cubicBezTo>
                            <a:pt x="314836" y="149416"/>
                            <a:pt x="315090" y="132779"/>
                            <a:pt x="314772" y="116205"/>
                          </a:cubicBezTo>
                          <a:cubicBezTo>
                            <a:pt x="314328" y="94107"/>
                            <a:pt x="295278" y="75629"/>
                            <a:pt x="273116" y="75629"/>
                          </a:cubicBezTo>
                          <a:cubicBezTo>
                            <a:pt x="205171" y="75629"/>
                            <a:pt x="137226" y="75629"/>
                            <a:pt x="69218" y="75629"/>
                          </a:cubicBezTo>
                          <a:cubicBezTo>
                            <a:pt x="66360" y="75629"/>
                            <a:pt x="63503" y="75629"/>
                            <a:pt x="60709" y="76136"/>
                          </a:cubicBezTo>
                          <a:cubicBezTo>
                            <a:pt x="39436" y="79692"/>
                            <a:pt x="24768" y="96901"/>
                            <a:pt x="24577" y="118555"/>
                          </a:cubicBezTo>
                          <a:cubicBezTo>
                            <a:pt x="24450" y="133477"/>
                            <a:pt x="24577" y="148399"/>
                            <a:pt x="24577" y="163259"/>
                          </a:cubicBezTo>
                          <a:cubicBezTo>
                            <a:pt x="24577" y="171704"/>
                            <a:pt x="26609" y="173736"/>
                            <a:pt x="35055" y="173736"/>
                          </a:cubicBezTo>
                          <a:cubicBezTo>
                            <a:pt x="80013" y="173736"/>
                            <a:pt x="124971" y="173736"/>
                            <a:pt x="169929" y="173736"/>
                          </a:cubicBezTo>
                          <a:close/>
                          <a:moveTo>
                            <a:pt x="279720" y="65596"/>
                          </a:moveTo>
                          <a:cubicBezTo>
                            <a:pt x="279657" y="65088"/>
                            <a:pt x="279657" y="64834"/>
                            <a:pt x="279530" y="64643"/>
                          </a:cubicBezTo>
                          <a:cubicBezTo>
                            <a:pt x="274894" y="52896"/>
                            <a:pt x="270259" y="41148"/>
                            <a:pt x="265623" y="29464"/>
                          </a:cubicBezTo>
                          <a:cubicBezTo>
                            <a:pt x="260734" y="16955"/>
                            <a:pt x="250002" y="9589"/>
                            <a:pt x="236604" y="9525"/>
                          </a:cubicBezTo>
                          <a:cubicBezTo>
                            <a:pt x="227142" y="9525"/>
                            <a:pt x="217681" y="9525"/>
                            <a:pt x="208283" y="9525"/>
                          </a:cubicBezTo>
                          <a:cubicBezTo>
                            <a:pt x="172977" y="9525"/>
                            <a:pt x="137671" y="9525"/>
                            <a:pt x="102428" y="9525"/>
                          </a:cubicBezTo>
                          <a:cubicBezTo>
                            <a:pt x="89411" y="9525"/>
                            <a:pt x="78489" y="17082"/>
                            <a:pt x="73790" y="29020"/>
                          </a:cubicBezTo>
                          <a:cubicBezTo>
                            <a:pt x="69472" y="40005"/>
                            <a:pt x="65154" y="51054"/>
                            <a:pt x="60899" y="62040"/>
                          </a:cubicBezTo>
                          <a:cubicBezTo>
                            <a:pt x="60455" y="63119"/>
                            <a:pt x="60201" y="64262"/>
                            <a:pt x="59756" y="65596"/>
                          </a:cubicBezTo>
                          <a:lnTo>
                            <a:pt x="279720" y="65596"/>
                          </a:lnTo>
                          <a:close/>
                          <a:moveTo>
                            <a:pt x="33086" y="183896"/>
                          </a:moveTo>
                          <a:cubicBezTo>
                            <a:pt x="33086" y="191834"/>
                            <a:pt x="33086" y="199454"/>
                            <a:pt x="33086" y="207074"/>
                          </a:cubicBezTo>
                          <a:cubicBezTo>
                            <a:pt x="33086" y="209486"/>
                            <a:pt x="34674" y="210376"/>
                            <a:pt x="36960" y="210312"/>
                          </a:cubicBezTo>
                          <a:cubicBezTo>
                            <a:pt x="46040" y="210312"/>
                            <a:pt x="55121" y="210312"/>
                            <a:pt x="64201" y="210312"/>
                          </a:cubicBezTo>
                          <a:cubicBezTo>
                            <a:pt x="66995" y="210312"/>
                            <a:pt x="68075" y="208852"/>
                            <a:pt x="68075" y="206248"/>
                          </a:cubicBezTo>
                          <a:cubicBezTo>
                            <a:pt x="68075" y="203073"/>
                            <a:pt x="68075" y="199898"/>
                            <a:pt x="68075" y="196723"/>
                          </a:cubicBezTo>
                          <a:cubicBezTo>
                            <a:pt x="68075" y="192468"/>
                            <a:pt x="68075" y="188214"/>
                            <a:pt x="68075" y="183896"/>
                          </a:cubicBezTo>
                          <a:lnTo>
                            <a:pt x="33086" y="183896"/>
                          </a:lnTo>
                          <a:close/>
                          <a:moveTo>
                            <a:pt x="271973" y="183896"/>
                          </a:moveTo>
                          <a:cubicBezTo>
                            <a:pt x="271973" y="191770"/>
                            <a:pt x="271973" y="199390"/>
                            <a:pt x="271973" y="206947"/>
                          </a:cubicBezTo>
                          <a:cubicBezTo>
                            <a:pt x="271973" y="209105"/>
                            <a:pt x="273243" y="210249"/>
                            <a:pt x="275466" y="210249"/>
                          </a:cubicBezTo>
                          <a:cubicBezTo>
                            <a:pt x="284800" y="210249"/>
                            <a:pt x="294135" y="210312"/>
                            <a:pt x="303406" y="210122"/>
                          </a:cubicBezTo>
                          <a:cubicBezTo>
                            <a:pt x="304485" y="210122"/>
                            <a:pt x="306454" y="208598"/>
                            <a:pt x="306454" y="207772"/>
                          </a:cubicBezTo>
                          <a:cubicBezTo>
                            <a:pt x="306708" y="199835"/>
                            <a:pt x="306581" y="191961"/>
                            <a:pt x="306581" y="183896"/>
                          </a:cubicBezTo>
                          <a:lnTo>
                            <a:pt x="271910" y="183896"/>
                          </a:lnTo>
                          <a:close/>
                          <a:moveTo>
                            <a:pt x="305247" y="64072"/>
                          </a:moveTo>
                          <a:cubicBezTo>
                            <a:pt x="312613" y="64072"/>
                            <a:pt x="319471" y="64072"/>
                            <a:pt x="326393" y="64072"/>
                          </a:cubicBezTo>
                          <a:cubicBezTo>
                            <a:pt x="328552" y="64072"/>
                            <a:pt x="329822" y="62992"/>
                            <a:pt x="329822" y="60770"/>
                          </a:cubicBezTo>
                          <a:cubicBezTo>
                            <a:pt x="329822" y="58293"/>
                            <a:pt x="329822" y="55753"/>
                            <a:pt x="329822" y="53277"/>
                          </a:cubicBezTo>
                          <a:cubicBezTo>
                            <a:pt x="329822" y="51054"/>
                            <a:pt x="328679" y="49848"/>
                            <a:pt x="326456" y="49848"/>
                          </a:cubicBezTo>
                          <a:cubicBezTo>
                            <a:pt x="320551" y="49848"/>
                            <a:pt x="314645" y="49848"/>
                            <a:pt x="308740" y="49848"/>
                          </a:cubicBezTo>
                          <a:cubicBezTo>
                            <a:pt x="306390" y="49848"/>
                            <a:pt x="305184" y="51054"/>
                            <a:pt x="305184" y="53467"/>
                          </a:cubicBezTo>
                          <a:cubicBezTo>
                            <a:pt x="305184" y="56833"/>
                            <a:pt x="305184" y="60261"/>
                            <a:pt x="305184" y="64135"/>
                          </a:cubicBezTo>
                          <a:close/>
                          <a:moveTo>
                            <a:pt x="34737" y="64072"/>
                          </a:moveTo>
                          <a:cubicBezTo>
                            <a:pt x="34737" y="60198"/>
                            <a:pt x="34737" y="56705"/>
                            <a:pt x="34737" y="53213"/>
                          </a:cubicBezTo>
                          <a:cubicBezTo>
                            <a:pt x="34737" y="50991"/>
                            <a:pt x="33340" y="49911"/>
                            <a:pt x="31245" y="49848"/>
                          </a:cubicBezTo>
                          <a:cubicBezTo>
                            <a:pt x="25339" y="49848"/>
                            <a:pt x="19434" y="49848"/>
                            <a:pt x="13465" y="49848"/>
                          </a:cubicBezTo>
                          <a:cubicBezTo>
                            <a:pt x="11306" y="49848"/>
                            <a:pt x="10099" y="51054"/>
                            <a:pt x="10099" y="53340"/>
                          </a:cubicBezTo>
                          <a:cubicBezTo>
                            <a:pt x="10099" y="55753"/>
                            <a:pt x="10099" y="58103"/>
                            <a:pt x="10099" y="60516"/>
                          </a:cubicBezTo>
                          <a:cubicBezTo>
                            <a:pt x="10099" y="62929"/>
                            <a:pt x="11306" y="64072"/>
                            <a:pt x="13655" y="64072"/>
                          </a:cubicBezTo>
                          <a:cubicBezTo>
                            <a:pt x="20450" y="64072"/>
                            <a:pt x="27308" y="64072"/>
                            <a:pt x="34674" y="64072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0" name="Полилиния: фигура 199">
                      <a:extLst>
                        <a:ext uri="{FF2B5EF4-FFF2-40B4-BE49-F238E27FC236}">
                          <a16:creationId xmlns="" xmlns:a16="http://schemas.microsoft.com/office/drawing/2014/main" id="{F60DBF3D-7E44-4728-9008-A61CD3484D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440" y="5422985"/>
                      <a:ext cx="143814" cy="35792"/>
                    </a:xfrm>
                    <a:custGeom>
                      <a:avLst/>
                      <a:gdLst>
                        <a:gd name="connsiteX0" fmla="*/ 71722 w 143814"/>
                        <a:gd name="connsiteY0" fmla="*/ 35728 h 35792"/>
                        <a:gd name="connsiteX1" fmla="*/ 10254 w 143814"/>
                        <a:gd name="connsiteY1" fmla="*/ 35728 h 35792"/>
                        <a:gd name="connsiteX2" fmla="*/ 30 w 143814"/>
                        <a:gd name="connsiteY2" fmla="*/ 24933 h 35792"/>
                        <a:gd name="connsiteX3" fmla="*/ 27462 w 143814"/>
                        <a:gd name="connsiteY3" fmla="*/ 42 h 35792"/>
                        <a:gd name="connsiteX4" fmla="*/ 98836 w 143814"/>
                        <a:gd name="connsiteY4" fmla="*/ 42 h 35792"/>
                        <a:gd name="connsiteX5" fmla="*/ 117950 w 143814"/>
                        <a:gd name="connsiteY5" fmla="*/ 105 h 35792"/>
                        <a:gd name="connsiteX6" fmla="*/ 143794 w 143814"/>
                        <a:gd name="connsiteY6" fmla="*/ 25632 h 35792"/>
                        <a:gd name="connsiteX7" fmla="*/ 134269 w 143814"/>
                        <a:gd name="connsiteY7" fmla="*/ 35792 h 35792"/>
                        <a:gd name="connsiteX8" fmla="*/ 71785 w 143814"/>
                        <a:gd name="connsiteY8" fmla="*/ 35792 h 35792"/>
                        <a:gd name="connsiteX9" fmla="*/ 133698 w 143814"/>
                        <a:gd name="connsiteY9" fmla="*/ 25632 h 35792"/>
                        <a:gd name="connsiteX10" fmla="*/ 116552 w 143814"/>
                        <a:gd name="connsiteY10" fmla="*/ 9884 h 35792"/>
                        <a:gd name="connsiteX11" fmla="*/ 27081 w 143814"/>
                        <a:gd name="connsiteY11" fmla="*/ 9884 h 35792"/>
                        <a:gd name="connsiteX12" fmla="*/ 22700 w 143814"/>
                        <a:gd name="connsiteY12" fmla="*/ 10455 h 35792"/>
                        <a:gd name="connsiteX13" fmla="*/ 10380 w 143814"/>
                        <a:gd name="connsiteY13" fmla="*/ 25632 h 35792"/>
                        <a:gd name="connsiteX14" fmla="*/ 133698 w 143814"/>
                        <a:gd name="connsiteY14" fmla="*/ 25632 h 35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143814" h="35792">
                          <a:moveTo>
                            <a:pt x="71722" y="35728"/>
                          </a:moveTo>
                          <a:cubicBezTo>
                            <a:pt x="51211" y="35728"/>
                            <a:pt x="30764" y="35728"/>
                            <a:pt x="10254" y="35728"/>
                          </a:cubicBezTo>
                          <a:cubicBezTo>
                            <a:pt x="2888" y="35728"/>
                            <a:pt x="-351" y="32236"/>
                            <a:pt x="30" y="24933"/>
                          </a:cubicBezTo>
                          <a:cubicBezTo>
                            <a:pt x="792" y="10836"/>
                            <a:pt x="12603" y="42"/>
                            <a:pt x="27462" y="42"/>
                          </a:cubicBezTo>
                          <a:cubicBezTo>
                            <a:pt x="51275" y="-22"/>
                            <a:pt x="75023" y="42"/>
                            <a:pt x="98836" y="42"/>
                          </a:cubicBezTo>
                          <a:cubicBezTo>
                            <a:pt x="105186" y="42"/>
                            <a:pt x="111600" y="-86"/>
                            <a:pt x="117950" y="105"/>
                          </a:cubicBezTo>
                          <a:cubicBezTo>
                            <a:pt x="131920" y="549"/>
                            <a:pt x="143159" y="11662"/>
                            <a:pt x="143794" y="25632"/>
                          </a:cubicBezTo>
                          <a:cubicBezTo>
                            <a:pt x="144112" y="32045"/>
                            <a:pt x="140683" y="35792"/>
                            <a:pt x="134269" y="35792"/>
                          </a:cubicBezTo>
                          <a:cubicBezTo>
                            <a:pt x="113441" y="35792"/>
                            <a:pt x="92613" y="35792"/>
                            <a:pt x="71785" y="35792"/>
                          </a:cubicBezTo>
                          <a:close/>
                          <a:moveTo>
                            <a:pt x="133698" y="25632"/>
                          </a:moveTo>
                          <a:cubicBezTo>
                            <a:pt x="132555" y="16170"/>
                            <a:pt x="125823" y="9947"/>
                            <a:pt x="116552" y="9884"/>
                          </a:cubicBezTo>
                          <a:cubicBezTo>
                            <a:pt x="86708" y="9757"/>
                            <a:pt x="56926" y="9884"/>
                            <a:pt x="27081" y="9884"/>
                          </a:cubicBezTo>
                          <a:cubicBezTo>
                            <a:pt x="25620" y="9884"/>
                            <a:pt x="24097" y="10138"/>
                            <a:pt x="22700" y="10455"/>
                          </a:cubicBezTo>
                          <a:cubicBezTo>
                            <a:pt x="15588" y="12170"/>
                            <a:pt x="10000" y="19028"/>
                            <a:pt x="10380" y="25632"/>
                          </a:cubicBezTo>
                          <a:lnTo>
                            <a:pt x="133698" y="2563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1" name="Полилиния: фигура 200">
                      <a:extLst>
                        <a:ext uri="{FF2B5EF4-FFF2-40B4-BE49-F238E27FC236}">
                          <a16:creationId xmlns="" xmlns:a16="http://schemas.microsoft.com/office/drawing/2014/main" id="{AF109184-AF48-4632-8DF5-E142774003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8073" y="5475478"/>
                      <a:ext cx="154307" cy="9979"/>
                    </a:xfrm>
                    <a:custGeom>
                      <a:avLst/>
                      <a:gdLst>
                        <a:gd name="connsiteX0" fmla="*/ 76835 w 154307"/>
                        <a:gd name="connsiteY0" fmla="*/ 9906 h 9979"/>
                        <a:gd name="connsiteX1" fmla="*/ 7493 w 154307"/>
                        <a:gd name="connsiteY1" fmla="*/ 9906 h 9979"/>
                        <a:gd name="connsiteX2" fmla="*/ 4064 w 154307"/>
                        <a:gd name="connsiteY2" fmla="*/ 9779 h 9979"/>
                        <a:gd name="connsiteX3" fmla="*/ 0 w 154307"/>
                        <a:gd name="connsiteY3" fmla="*/ 5016 h 9979"/>
                        <a:gd name="connsiteX4" fmla="*/ 3937 w 154307"/>
                        <a:gd name="connsiteY4" fmla="*/ 190 h 9979"/>
                        <a:gd name="connsiteX5" fmla="*/ 7366 w 154307"/>
                        <a:gd name="connsiteY5" fmla="*/ 0 h 9979"/>
                        <a:gd name="connsiteX6" fmla="*/ 147003 w 154307"/>
                        <a:gd name="connsiteY6" fmla="*/ 0 h 9979"/>
                        <a:gd name="connsiteX7" fmla="*/ 150432 w 154307"/>
                        <a:gd name="connsiteY7" fmla="*/ 190 h 9979"/>
                        <a:gd name="connsiteX8" fmla="*/ 154305 w 154307"/>
                        <a:gd name="connsiteY8" fmla="*/ 5080 h 9979"/>
                        <a:gd name="connsiteX9" fmla="*/ 150241 w 154307"/>
                        <a:gd name="connsiteY9" fmla="*/ 9842 h 9979"/>
                        <a:gd name="connsiteX10" fmla="*/ 146812 w 154307"/>
                        <a:gd name="connsiteY10" fmla="*/ 9969 h 9979"/>
                        <a:gd name="connsiteX11" fmla="*/ 76835 w 154307"/>
                        <a:gd name="connsiteY11" fmla="*/ 9969 h 997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4307" h="9979">
                          <a:moveTo>
                            <a:pt x="76835" y="9906"/>
                          </a:moveTo>
                          <a:cubicBezTo>
                            <a:pt x="53721" y="9906"/>
                            <a:pt x="30607" y="9906"/>
                            <a:pt x="7493" y="9906"/>
                          </a:cubicBezTo>
                          <a:cubicBezTo>
                            <a:pt x="6350" y="9906"/>
                            <a:pt x="5207" y="10033"/>
                            <a:pt x="4064" y="9779"/>
                          </a:cubicBezTo>
                          <a:cubicBezTo>
                            <a:pt x="1524" y="9271"/>
                            <a:pt x="64" y="7620"/>
                            <a:pt x="0" y="5016"/>
                          </a:cubicBezTo>
                          <a:cubicBezTo>
                            <a:pt x="0" y="2476"/>
                            <a:pt x="1333" y="698"/>
                            <a:pt x="3937" y="190"/>
                          </a:cubicBezTo>
                          <a:cubicBezTo>
                            <a:pt x="5017" y="0"/>
                            <a:pt x="6223" y="0"/>
                            <a:pt x="7366" y="0"/>
                          </a:cubicBezTo>
                          <a:cubicBezTo>
                            <a:pt x="53911" y="0"/>
                            <a:pt x="100457" y="0"/>
                            <a:pt x="147003" y="0"/>
                          </a:cubicBezTo>
                          <a:cubicBezTo>
                            <a:pt x="148146" y="0"/>
                            <a:pt x="149289" y="0"/>
                            <a:pt x="150432" y="190"/>
                          </a:cubicBezTo>
                          <a:cubicBezTo>
                            <a:pt x="153035" y="698"/>
                            <a:pt x="154368" y="2476"/>
                            <a:pt x="154305" y="5080"/>
                          </a:cubicBezTo>
                          <a:cubicBezTo>
                            <a:pt x="154305" y="7683"/>
                            <a:pt x="152781" y="9334"/>
                            <a:pt x="150241" y="9842"/>
                          </a:cubicBezTo>
                          <a:cubicBezTo>
                            <a:pt x="149161" y="10033"/>
                            <a:pt x="147955" y="9969"/>
                            <a:pt x="146812" y="9969"/>
                          </a:cubicBezTo>
                          <a:cubicBezTo>
                            <a:pt x="123507" y="9969"/>
                            <a:pt x="100139" y="9969"/>
                            <a:pt x="76835" y="9969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2" name="Полилиния: фигура 201">
                      <a:extLst>
                        <a:ext uri="{FF2B5EF4-FFF2-40B4-BE49-F238E27FC236}">
                          <a16:creationId xmlns="" xmlns:a16="http://schemas.microsoft.com/office/drawing/2014/main" id="{F37AD1DB-933E-4172-81F6-4ED5EEA0F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5415088"/>
                      <a:ext cx="45537" cy="45530"/>
                    </a:xfrm>
                    <a:custGeom>
                      <a:avLst/>
                      <a:gdLst>
                        <a:gd name="connsiteX0" fmla="*/ 1 w 45537"/>
                        <a:gd name="connsiteY0" fmla="*/ 22544 h 45530"/>
                        <a:gd name="connsiteX1" fmla="*/ 23052 w 45537"/>
                        <a:gd name="connsiteY1" fmla="*/ 1 h 45530"/>
                        <a:gd name="connsiteX2" fmla="*/ 45531 w 45537"/>
                        <a:gd name="connsiteY2" fmla="*/ 23115 h 45530"/>
                        <a:gd name="connsiteX3" fmla="*/ 22671 w 45537"/>
                        <a:gd name="connsiteY3" fmla="*/ 45531 h 45530"/>
                        <a:gd name="connsiteX4" fmla="*/ 1 w 45537"/>
                        <a:gd name="connsiteY4" fmla="*/ 22607 h 45530"/>
                        <a:gd name="connsiteX5" fmla="*/ 22925 w 45537"/>
                        <a:gd name="connsiteY5" fmla="*/ 10034 h 45530"/>
                        <a:gd name="connsiteX6" fmla="*/ 10034 w 45537"/>
                        <a:gd name="connsiteY6" fmla="*/ 22544 h 45530"/>
                        <a:gd name="connsiteX7" fmla="*/ 22607 w 45537"/>
                        <a:gd name="connsiteY7" fmla="*/ 35371 h 45530"/>
                        <a:gd name="connsiteX8" fmla="*/ 35371 w 45537"/>
                        <a:gd name="connsiteY8" fmla="*/ 22607 h 45530"/>
                        <a:gd name="connsiteX9" fmla="*/ 22861 w 45537"/>
                        <a:gd name="connsiteY9" fmla="*/ 9971 h 455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537" h="45530">
                          <a:moveTo>
                            <a:pt x="1" y="22544"/>
                          </a:moveTo>
                          <a:cubicBezTo>
                            <a:pt x="128" y="9971"/>
                            <a:pt x="10542" y="-126"/>
                            <a:pt x="23052" y="1"/>
                          </a:cubicBezTo>
                          <a:cubicBezTo>
                            <a:pt x="35498" y="128"/>
                            <a:pt x="45848" y="10733"/>
                            <a:pt x="45531" y="23115"/>
                          </a:cubicBezTo>
                          <a:cubicBezTo>
                            <a:pt x="45277" y="35561"/>
                            <a:pt x="34990" y="45594"/>
                            <a:pt x="22671" y="45531"/>
                          </a:cubicBezTo>
                          <a:cubicBezTo>
                            <a:pt x="10161" y="45531"/>
                            <a:pt x="-126" y="35053"/>
                            <a:pt x="1" y="22607"/>
                          </a:cubicBezTo>
                          <a:close/>
                          <a:moveTo>
                            <a:pt x="22925" y="10034"/>
                          </a:moveTo>
                          <a:cubicBezTo>
                            <a:pt x="15686" y="10034"/>
                            <a:pt x="10098" y="15432"/>
                            <a:pt x="10034" y="22544"/>
                          </a:cubicBezTo>
                          <a:cubicBezTo>
                            <a:pt x="10034" y="29719"/>
                            <a:pt x="15559" y="35371"/>
                            <a:pt x="22607" y="35371"/>
                          </a:cubicBezTo>
                          <a:cubicBezTo>
                            <a:pt x="29656" y="35371"/>
                            <a:pt x="35371" y="29719"/>
                            <a:pt x="35371" y="22607"/>
                          </a:cubicBezTo>
                          <a:cubicBezTo>
                            <a:pt x="35371" y="15686"/>
                            <a:pt x="29783" y="10034"/>
                            <a:pt x="22861" y="9971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203" name="Полилиния: фигура 202">
                      <a:extLst>
                        <a:ext uri="{FF2B5EF4-FFF2-40B4-BE49-F238E27FC236}">
                          <a16:creationId xmlns="" xmlns:a16="http://schemas.microsoft.com/office/drawing/2014/main" id="{DD5F6E77-208F-4901-8F1D-DC18BBBD5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8289" y="5415089"/>
                      <a:ext cx="45402" cy="45339"/>
                    </a:xfrm>
                    <a:custGeom>
                      <a:avLst/>
                      <a:gdLst>
                        <a:gd name="connsiteX0" fmla="*/ 45403 w 45402"/>
                        <a:gd name="connsiteY0" fmla="*/ 22670 h 45339"/>
                        <a:gd name="connsiteX1" fmla="*/ 22860 w 45402"/>
                        <a:gd name="connsiteY1" fmla="*/ 45339 h 45339"/>
                        <a:gd name="connsiteX2" fmla="*/ 0 w 45402"/>
                        <a:gd name="connsiteY2" fmla="*/ 22670 h 45339"/>
                        <a:gd name="connsiteX3" fmla="*/ 22543 w 45402"/>
                        <a:gd name="connsiteY3" fmla="*/ 0 h 45339"/>
                        <a:gd name="connsiteX4" fmla="*/ 45403 w 45402"/>
                        <a:gd name="connsiteY4" fmla="*/ 22733 h 45339"/>
                        <a:gd name="connsiteX5" fmla="*/ 22797 w 45402"/>
                        <a:gd name="connsiteY5" fmla="*/ 10033 h 45339"/>
                        <a:gd name="connsiteX6" fmla="*/ 10097 w 45402"/>
                        <a:gd name="connsiteY6" fmla="*/ 22415 h 45339"/>
                        <a:gd name="connsiteX7" fmla="*/ 22669 w 45402"/>
                        <a:gd name="connsiteY7" fmla="*/ 35306 h 45339"/>
                        <a:gd name="connsiteX8" fmla="*/ 35433 w 45402"/>
                        <a:gd name="connsiteY8" fmla="*/ 22860 h 45339"/>
                        <a:gd name="connsiteX9" fmla="*/ 22797 w 45402"/>
                        <a:gd name="connsiteY9" fmla="*/ 10033 h 453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45402" h="45339">
                          <a:moveTo>
                            <a:pt x="45403" y="22670"/>
                          </a:moveTo>
                          <a:cubicBezTo>
                            <a:pt x="45403" y="35052"/>
                            <a:pt x="35370" y="45212"/>
                            <a:pt x="22860" y="45339"/>
                          </a:cubicBezTo>
                          <a:cubicBezTo>
                            <a:pt x="10414" y="45466"/>
                            <a:pt x="0" y="35179"/>
                            <a:pt x="0" y="22670"/>
                          </a:cubicBezTo>
                          <a:cubicBezTo>
                            <a:pt x="0" y="10287"/>
                            <a:pt x="10224" y="0"/>
                            <a:pt x="22543" y="0"/>
                          </a:cubicBezTo>
                          <a:cubicBezTo>
                            <a:pt x="35052" y="0"/>
                            <a:pt x="45339" y="10160"/>
                            <a:pt x="45403" y="22733"/>
                          </a:cubicBezTo>
                          <a:close/>
                          <a:moveTo>
                            <a:pt x="22797" y="10033"/>
                          </a:moveTo>
                          <a:cubicBezTo>
                            <a:pt x="15812" y="10033"/>
                            <a:pt x="10224" y="15430"/>
                            <a:pt x="10097" y="22415"/>
                          </a:cubicBezTo>
                          <a:cubicBezTo>
                            <a:pt x="10033" y="29527"/>
                            <a:pt x="15558" y="35306"/>
                            <a:pt x="22669" y="35306"/>
                          </a:cubicBezTo>
                          <a:cubicBezTo>
                            <a:pt x="29528" y="35306"/>
                            <a:pt x="35306" y="29654"/>
                            <a:pt x="35433" y="22860"/>
                          </a:cubicBezTo>
                          <a:cubicBezTo>
                            <a:pt x="35560" y="15811"/>
                            <a:pt x="29909" y="10033"/>
                            <a:pt x="22797" y="10033"/>
                          </a:cubicBez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635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204" name="Рисунок 4">
                  <a:extLst>
                    <a:ext uri="{FF2B5EF4-FFF2-40B4-BE49-F238E27FC236}">
                      <a16:creationId xmlns="" xmlns:a16="http://schemas.microsoft.com/office/drawing/2014/main" id="{604BC646-7F5B-421E-83D3-AE224F52A54B}"/>
                    </a:ext>
                  </a:extLst>
                </p:cNvPr>
                <p:cNvGrpSpPr/>
                <p:nvPr/>
              </p:nvGrpSpPr>
              <p:grpSpPr>
                <a:xfrm>
                  <a:off x="1953323" y="3063303"/>
                  <a:ext cx="150431" cy="280352"/>
                  <a:chOff x="1953323" y="3063303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5" name="Полилиния: фигура 204">
                    <a:extLst>
                      <a:ext uri="{FF2B5EF4-FFF2-40B4-BE49-F238E27FC236}">
                        <a16:creationId xmlns="" xmlns:a16="http://schemas.microsoft.com/office/drawing/2014/main" id="{25C409D4-091C-4843-92E3-66D36B4E806A}"/>
                      </a:ext>
                    </a:extLst>
                  </p:cNvPr>
                  <p:cNvSpPr/>
                  <p:nvPr/>
                </p:nvSpPr>
                <p:spPr>
                  <a:xfrm>
                    <a:off x="2028507" y="3063303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6" name="Полилиния: фигура 205">
                    <a:extLst>
                      <a:ext uri="{FF2B5EF4-FFF2-40B4-BE49-F238E27FC236}">
                        <a16:creationId xmlns="" xmlns:a16="http://schemas.microsoft.com/office/drawing/2014/main" id="{4E0A3484-8310-4EF7-B45C-2231DBEB9DF9}"/>
                      </a:ext>
                    </a:extLst>
                  </p:cNvPr>
                  <p:cNvSpPr/>
                  <p:nvPr/>
                </p:nvSpPr>
                <p:spPr>
                  <a:xfrm>
                    <a:off x="1953323" y="3268471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207" name="Рисунок 4">
                  <a:extLst>
                    <a:ext uri="{FF2B5EF4-FFF2-40B4-BE49-F238E27FC236}">
                      <a16:creationId xmlns="" xmlns:a16="http://schemas.microsoft.com/office/drawing/2014/main" id="{9B8519A8-8930-41AF-90B8-4334C17E3DEB}"/>
                    </a:ext>
                  </a:extLst>
                </p:cNvPr>
                <p:cNvGrpSpPr/>
                <p:nvPr/>
              </p:nvGrpSpPr>
              <p:grpSpPr>
                <a:xfrm>
                  <a:off x="1953323" y="4685347"/>
                  <a:ext cx="150431" cy="280352"/>
                  <a:chOff x="1953323" y="4685347"/>
                  <a:chExt cx="150431" cy="280352"/>
                </a:xfrm>
                <a:solidFill>
                  <a:srgbClr val="FF8300"/>
                </a:solidFill>
              </p:grpSpPr>
              <p:sp>
                <p:nvSpPr>
                  <p:cNvPr id="208" name="Полилиния: фигура 207">
                    <a:extLst>
                      <a:ext uri="{FF2B5EF4-FFF2-40B4-BE49-F238E27FC236}">
                        <a16:creationId xmlns="" xmlns:a16="http://schemas.microsoft.com/office/drawing/2014/main" id="{F5118D1F-BEC6-4667-AF2A-19C9B9D425A3}"/>
                      </a:ext>
                    </a:extLst>
                  </p:cNvPr>
                  <p:cNvSpPr/>
                  <p:nvPr/>
                </p:nvSpPr>
                <p:spPr>
                  <a:xfrm>
                    <a:off x="2028507" y="4685347"/>
                    <a:ext cx="6350" cy="215264"/>
                  </a:xfrm>
                  <a:custGeom>
                    <a:avLst/>
                    <a:gdLst>
                      <a:gd name="connsiteX0" fmla="*/ 0 w 6350"/>
                      <a:gd name="connsiteY0" fmla="*/ 0 h 215264"/>
                      <a:gd name="connsiteX1" fmla="*/ 0 w 6350"/>
                      <a:gd name="connsiteY1" fmla="*/ 215265 h 2152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15264">
                        <a:moveTo>
                          <a:pt x="0" y="0"/>
                        </a:moveTo>
                        <a:lnTo>
                          <a:pt x="0" y="215265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209" name="Полилиния: фигура 208">
                    <a:extLst>
                      <a:ext uri="{FF2B5EF4-FFF2-40B4-BE49-F238E27FC236}">
                        <a16:creationId xmlns="" xmlns:a16="http://schemas.microsoft.com/office/drawing/2014/main" id="{9BF9BA3D-4616-47E1-B638-2AA00086BC83}"/>
                      </a:ext>
                    </a:extLst>
                  </p:cNvPr>
                  <p:cNvSpPr/>
                  <p:nvPr/>
                </p:nvSpPr>
                <p:spPr>
                  <a:xfrm>
                    <a:off x="1953323" y="4890515"/>
                    <a:ext cx="150431" cy="75184"/>
                  </a:xfrm>
                  <a:custGeom>
                    <a:avLst/>
                    <a:gdLst>
                      <a:gd name="connsiteX0" fmla="*/ 150432 w 150431"/>
                      <a:gd name="connsiteY0" fmla="*/ 0 h 75184"/>
                      <a:gd name="connsiteX1" fmla="*/ 0 w 150431"/>
                      <a:gd name="connsiteY1" fmla="*/ 0 h 75184"/>
                      <a:gd name="connsiteX2" fmla="*/ 75184 w 150431"/>
                      <a:gd name="connsiteY2" fmla="*/ 75184 h 75184"/>
                      <a:gd name="connsiteX3" fmla="*/ 150432 w 150431"/>
                      <a:gd name="connsiteY3" fmla="*/ 0 h 751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4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184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</p:grpSp>
          <p:grpSp>
            <p:nvGrpSpPr>
              <p:cNvPr id="210" name="Рисунок 4">
                <a:extLst>
                  <a:ext uri="{FF2B5EF4-FFF2-40B4-BE49-F238E27FC236}">
                    <a16:creationId xmlns="" xmlns:a16="http://schemas.microsoft.com/office/drawing/2014/main" id="{78902AA0-EAD7-4720-940B-D58A5DBEB119}"/>
                  </a:ext>
                </a:extLst>
              </p:cNvPr>
              <p:cNvGrpSpPr/>
              <p:nvPr/>
            </p:nvGrpSpPr>
            <p:grpSpPr>
              <a:xfrm>
                <a:off x="4013708" y="1803400"/>
                <a:ext cx="4393184" cy="4492434"/>
                <a:chOff x="4013708" y="1803400"/>
                <a:chExt cx="4393184" cy="4492434"/>
              </a:xfrm>
            </p:grpSpPr>
            <p:sp>
              <p:nvSpPr>
                <p:cNvPr id="219" name="TextBox 218">
                  <a:extLst>
                    <a:ext uri="{FF2B5EF4-FFF2-40B4-BE49-F238E27FC236}">
                      <a16:creationId xmlns="" xmlns:a16="http://schemas.microsoft.com/office/drawing/2014/main" id="{A77B4034-13A3-43C6-88AA-87254A861E16}"/>
                    </a:ext>
                  </a:extLst>
                </p:cNvPr>
                <p:cNvSpPr txBox="1"/>
                <p:nvPr/>
              </p:nvSpPr>
              <p:spPr>
                <a:xfrm>
                  <a:off x="4368213" y="4528658"/>
                  <a:ext cx="3523871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ЧТО ДЕЛАЕТ КОМАНДА</a:t>
                  </a:r>
                  <a:r>
                    <a:rPr lang="en-US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:</a:t>
                  </a:r>
                  <a:r>
                    <a:rPr lang="ru-RU" sz="3800" b="1" spc="-75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  </a:t>
                  </a:r>
                  <a:endParaRPr lang="ru-RU" sz="3800" b="1" spc="-75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="" xmlns:a16="http://schemas.microsoft.com/office/drawing/2014/main" id="{5E23CE8D-6D69-43BC-B5A9-31D16B938737}"/>
                    </a:ext>
                  </a:extLst>
                </p:cNvPr>
                <p:cNvSpPr txBox="1"/>
                <p:nvPr/>
              </p:nvSpPr>
              <p:spPr>
                <a:xfrm>
                  <a:off x="4830669" y="3391253"/>
                  <a:ext cx="2580279" cy="451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38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120 РТТ НА 1 ЭТП </a:t>
                  </a:r>
                  <a:endParaRPr lang="ru-RU" sz="38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="" xmlns:a16="http://schemas.microsoft.com/office/drawing/2014/main" id="{C0DE3C72-0B01-48A7-ABFD-4AABCAB460DE}"/>
                    </a:ext>
                  </a:extLst>
                </p:cNvPr>
                <p:cNvSpPr txBox="1"/>
                <p:nvPr/>
              </p:nvSpPr>
              <p:spPr>
                <a:xfrm>
                  <a:off x="4116747" y="5439467"/>
                  <a:ext cx="115647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КОНТРОЛЬ </a:t>
                  </a:r>
                  <a:r>
                    <a:rPr lang="en-US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MML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="" xmlns:a16="http://schemas.microsoft.com/office/drawing/2014/main" id="{249FC404-0AC1-48E4-B7C3-E3FAB1527FAC}"/>
                    </a:ext>
                  </a:extLst>
                </p:cNvPr>
                <p:cNvSpPr txBox="1"/>
                <p:nvPr/>
              </p:nvSpPr>
              <p:spPr>
                <a:xfrm>
                  <a:off x="5714221" y="5457663"/>
                  <a:ext cx="986681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 smtClean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ОБУЧЕНИЕ ТП</a:t>
                  </a:r>
                  <a:endParaRPr lang="ru-RU" sz="1700" b="1" dirty="0">
                    <a:solidFill>
                      <a:srgbClr val="FF83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295" name="TextBox 294">
                  <a:extLst>
                    <a:ext uri="{FF2B5EF4-FFF2-40B4-BE49-F238E27FC236}">
                      <a16:creationId xmlns="" xmlns:a16="http://schemas.microsoft.com/office/drawing/2014/main" id="{5DA4DAAA-61F2-4F76-B5E0-828D67036AD9}"/>
                    </a:ext>
                  </a:extLst>
                </p:cNvPr>
                <p:cNvSpPr txBox="1"/>
                <p:nvPr/>
              </p:nvSpPr>
              <p:spPr>
                <a:xfrm>
                  <a:off x="7082817" y="5457663"/>
                  <a:ext cx="1255899" cy="2359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ru-RU" sz="1700" b="1" dirty="0">
                      <a:solidFill>
                        <a:srgbClr val="FF8300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ВЫКЛАДКА И POS</a:t>
                  </a:r>
                </a:p>
              </p:txBody>
            </p:sp>
            <p:grpSp>
              <p:nvGrpSpPr>
                <p:cNvPr id="312" name="Рисунок 4">
                  <a:extLst>
                    <a:ext uri="{FF2B5EF4-FFF2-40B4-BE49-F238E27FC236}">
                      <a16:creationId xmlns="" xmlns:a16="http://schemas.microsoft.com/office/drawing/2014/main" id="{AAE9B2C4-0EB0-45CA-852E-00CF62066472}"/>
                    </a:ext>
                  </a:extLst>
                </p:cNvPr>
                <p:cNvGrpSpPr/>
                <p:nvPr/>
              </p:nvGrpSpPr>
              <p:grpSpPr>
                <a:xfrm>
                  <a:off x="4731552" y="1939824"/>
                  <a:ext cx="2762216" cy="442793"/>
                  <a:chOff x="4731552" y="1939824"/>
                  <a:chExt cx="2762216" cy="442793"/>
                </a:xfrm>
              </p:grpSpPr>
              <p:sp>
                <p:nvSpPr>
                  <p:cNvPr id="313" name="Полилиния: фигура 312">
                    <a:extLst>
                      <a:ext uri="{FF2B5EF4-FFF2-40B4-BE49-F238E27FC236}">
                        <a16:creationId xmlns="" xmlns:a16="http://schemas.microsoft.com/office/drawing/2014/main" id="{F35A1E74-1CD8-4665-9BCC-68840C13C4E0}"/>
                      </a:ext>
                    </a:extLst>
                  </p:cNvPr>
                  <p:cNvSpPr/>
                  <p:nvPr/>
                </p:nvSpPr>
                <p:spPr>
                  <a:xfrm>
                    <a:off x="4731552" y="1939824"/>
                    <a:ext cx="2762216" cy="442793"/>
                  </a:xfrm>
                  <a:custGeom>
                    <a:avLst/>
                    <a:gdLst>
                      <a:gd name="connsiteX0" fmla="*/ 2153349 w 2229548"/>
                      <a:gd name="connsiteY0" fmla="*/ 0 h 237426"/>
                      <a:gd name="connsiteX1" fmla="*/ 2229549 w 2229548"/>
                      <a:gd name="connsiteY1" fmla="*/ 76200 h 237426"/>
                      <a:gd name="connsiteX2" fmla="*/ 2229549 w 2229548"/>
                      <a:gd name="connsiteY2" fmla="*/ 161227 h 237426"/>
                      <a:gd name="connsiteX3" fmla="*/ 2153349 w 2229548"/>
                      <a:gd name="connsiteY3" fmla="*/ 237427 h 237426"/>
                      <a:gd name="connsiteX4" fmla="*/ 76200 w 2229548"/>
                      <a:gd name="connsiteY4" fmla="*/ 237427 h 237426"/>
                      <a:gd name="connsiteX5" fmla="*/ 0 w 2229548"/>
                      <a:gd name="connsiteY5" fmla="*/ 161227 h 237426"/>
                      <a:gd name="connsiteX6" fmla="*/ 0 w 2229548"/>
                      <a:gd name="connsiteY6" fmla="*/ 76200 h 237426"/>
                      <a:gd name="connsiteX7" fmla="*/ 76200 w 2229548"/>
                      <a:gd name="connsiteY7" fmla="*/ 0 h 23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229548" h="237426">
                        <a:moveTo>
                          <a:pt x="2153349" y="0"/>
                        </a:moveTo>
                        <a:cubicBezTo>
                          <a:pt x="2195433" y="0"/>
                          <a:pt x="2229549" y="34116"/>
                          <a:pt x="2229549" y="76200"/>
                        </a:cubicBezTo>
                        <a:lnTo>
                          <a:pt x="2229549" y="161227"/>
                        </a:lnTo>
                        <a:cubicBezTo>
                          <a:pt x="2229549" y="203311"/>
                          <a:pt x="2195433" y="237427"/>
                          <a:pt x="2153349" y="237427"/>
                        </a:cubicBezTo>
                        <a:lnTo>
                          <a:pt x="76200" y="237427"/>
                        </a:lnTo>
                        <a:cubicBezTo>
                          <a:pt x="34116" y="237427"/>
                          <a:pt x="0" y="203311"/>
                          <a:pt x="0" y="161227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16" name="TextBox 315">
                    <a:extLst>
                      <a:ext uri="{FF2B5EF4-FFF2-40B4-BE49-F238E27FC236}">
                        <a16:creationId xmlns="" xmlns:a16="http://schemas.microsoft.com/office/drawing/2014/main" id="{40037EB4-50D5-4E66-AB28-BEE7CA149FC6}"/>
                      </a:ext>
                    </a:extLst>
                  </p:cNvPr>
                  <p:cNvSpPr txBox="1"/>
                  <p:nvPr/>
                </p:nvSpPr>
                <p:spPr>
                  <a:xfrm>
                    <a:off x="4775215" y="2002452"/>
                    <a:ext cx="2651666" cy="34881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ru-RU" sz="2800" b="1" dirty="0" smtClean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БОЛЬШЕ </a:t>
                    </a:r>
                    <a:r>
                      <a:rPr lang="ru-RU" sz="28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  <a:rtl val="0"/>
                      </a:rPr>
                      <a:t>АКБ С ЭМПИЛС</a:t>
                    </a:r>
                  </a:p>
                </p:txBody>
              </p:sp>
            </p:grpSp>
            <p:sp>
              <p:nvSpPr>
                <p:cNvPr id="326" name="Полилиния: фигура 325">
                  <a:extLst>
                    <a:ext uri="{FF2B5EF4-FFF2-40B4-BE49-F238E27FC236}">
                      <a16:creationId xmlns="" xmlns:a16="http://schemas.microsoft.com/office/drawing/2014/main" id="{6B6888E1-084F-4885-81E4-60CE14F1FB92}"/>
                    </a:ext>
                  </a:extLst>
                </p:cNvPr>
                <p:cNvSpPr/>
                <p:nvPr/>
              </p:nvSpPr>
              <p:spPr>
                <a:xfrm>
                  <a:off x="4013708" y="1803400"/>
                  <a:ext cx="4393184" cy="1178115"/>
                </a:xfrm>
                <a:custGeom>
                  <a:avLst/>
                  <a:gdLst>
                    <a:gd name="connsiteX0" fmla="*/ 4316985 w 4393184"/>
                    <a:gd name="connsiteY0" fmla="*/ 0 h 1178115"/>
                    <a:gd name="connsiteX1" fmla="*/ 4393185 w 4393184"/>
                    <a:gd name="connsiteY1" fmla="*/ 76200 h 1178115"/>
                    <a:gd name="connsiteX2" fmla="*/ 4393185 w 4393184"/>
                    <a:gd name="connsiteY2" fmla="*/ 1101916 h 1178115"/>
                    <a:gd name="connsiteX3" fmla="*/ 4316985 w 4393184"/>
                    <a:gd name="connsiteY3" fmla="*/ 1178116 h 1178115"/>
                    <a:gd name="connsiteX4" fmla="*/ 76200 w 4393184"/>
                    <a:gd name="connsiteY4" fmla="*/ 1178116 h 1178115"/>
                    <a:gd name="connsiteX5" fmla="*/ 0 w 4393184"/>
                    <a:gd name="connsiteY5" fmla="*/ 1101916 h 1178115"/>
                    <a:gd name="connsiteX6" fmla="*/ 0 w 4393184"/>
                    <a:gd name="connsiteY6" fmla="*/ 76200 h 1178115"/>
                    <a:gd name="connsiteX7" fmla="*/ 76200 w 4393184"/>
                    <a:gd name="connsiteY7" fmla="*/ 0 h 1178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178115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01916"/>
                      </a:lnTo>
                      <a:cubicBezTo>
                        <a:pt x="4393185" y="1144000"/>
                        <a:pt x="4359069" y="1178116"/>
                        <a:pt x="4316985" y="1178116"/>
                      </a:cubicBezTo>
                      <a:lnTo>
                        <a:pt x="76200" y="1178116"/>
                      </a:lnTo>
                      <a:cubicBezTo>
                        <a:pt x="34116" y="1178116"/>
                        <a:pt x="0" y="1144000"/>
                        <a:pt x="0" y="1101916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7" name="Полилиния: фигура 326">
                  <a:extLst>
                    <a:ext uri="{FF2B5EF4-FFF2-40B4-BE49-F238E27FC236}">
                      <a16:creationId xmlns="" xmlns:a16="http://schemas.microsoft.com/office/drawing/2014/main" id="{61F96896-84B0-4FB6-AAA2-37C5F75D334A}"/>
                    </a:ext>
                  </a:extLst>
                </p:cNvPr>
                <p:cNvSpPr/>
                <p:nvPr/>
              </p:nvSpPr>
              <p:spPr>
                <a:xfrm>
                  <a:off x="4013708" y="3213036"/>
                  <a:ext cx="4393184" cy="1206309"/>
                </a:xfrm>
                <a:custGeom>
                  <a:avLst/>
                  <a:gdLst>
                    <a:gd name="connsiteX0" fmla="*/ 4316985 w 4393184"/>
                    <a:gd name="connsiteY0" fmla="*/ 0 h 1206309"/>
                    <a:gd name="connsiteX1" fmla="*/ 4393185 w 4393184"/>
                    <a:gd name="connsiteY1" fmla="*/ 76200 h 1206309"/>
                    <a:gd name="connsiteX2" fmla="*/ 4393185 w 4393184"/>
                    <a:gd name="connsiteY2" fmla="*/ 1130109 h 1206309"/>
                    <a:gd name="connsiteX3" fmla="*/ 4316985 w 4393184"/>
                    <a:gd name="connsiteY3" fmla="*/ 1206309 h 1206309"/>
                    <a:gd name="connsiteX4" fmla="*/ 76200 w 4393184"/>
                    <a:gd name="connsiteY4" fmla="*/ 1206309 h 1206309"/>
                    <a:gd name="connsiteX5" fmla="*/ 0 w 4393184"/>
                    <a:gd name="connsiteY5" fmla="*/ 1130109 h 1206309"/>
                    <a:gd name="connsiteX6" fmla="*/ 0 w 4393184"/>
                    <a:gd name="connsiteY6" fmla="*/ 76200 h 1206309"/>
                    <a:gd name="connsiteX7" fmla="*/ 76200 w 4393184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393184" h="1206309">
                      <a:moveTo>
                        <a:pt x="4316985" y="0"/>
                      </a:moveTo>
                      <a:cubicBezTo>
                        <a:pt x="4359069" y="0"/>
                        <a:pt x="4393185" y="34116"/>
                        <a:pt x="4393185" y="76200"/>
                      </a:cubicBezTo>
                      <a:lnTo>
                        <a:pt x="4393185" y="1130109"/>
                      </a:lnTo>
                      <a:cubicBezTo>
                        <a:pt x="4393185" y="1172194"/>
                        <a:pt x="4359069" y="1206309"/>
                        <a:pt x="431698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8" name="Полилиния: фигура 327">
                  <a:extLst>
                    <a:ext uri="{FF2B5EF4-FFF2-40B4-BE49-F238E27FC236}">
                      <a16:creationId xmlns="" xmlns:a16="http://schemas.microsoft.com/office/drawing/2014/main" id="{E57E9CEF-AAF2-4C53-912E-238BEC9370E3}"/>
                    </a:ext>
                  </a:extLst>
                </p:cNvPr>
                <p:cNvSpPr/>
                <p:nvPr/>
              </p:nvSpPr>
              <p:spPr>
                <a:xfrm>
                  <a:off x="4013708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5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5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9" name="Полилиния: фигура 328">
                  <a:extLst>
                    <a:ext uri="{FF2B5EF4-FFF2-40B4-BE49-F238E27FC236}">
                      <a16:creationId xmlns="" xmlns:a16="http://schemas.microsoft.com/office/drawing/2014/main" id="{6617E6B4-3DCE-4DC7-A55C-9105ECDAA8AF}"/>
                    </a:ext>
                  </a:extLst>
                </p:cNvPr>
                <p:cNvSpPr/>
                <p:nvPr/>
              </p:nvSpPr>
              <p:spPr>
                <a:xfrm>
                  <a:off x="5519229" y="5089525"/>
                  <a:ext cx="1373695" cy="1206309"/>
                </a:xfrm>
                <a:custGeom>
                  <a:avLst/>
                  <a:gdLst>
                    <a:gd name="connsiteX0" fmla="*/ 1297496 w 1373695"/>
                    <a:gd name="connsiteY0" fmla="*/ 0 h 1206309"/>
                    <a:gd name="connsiteX1" fmla="*/ 1373696 w 1373695"/>
                    <a:gd name="connsiteY1" fmla="*/ 76200 h 1206309"/>
                    <a:gd name="connsiteX2" fmla="*/ 1373696 w 1373695"/>
                    <a:gd name="connsiteY2" fmla="*/ 1130109 h 1206309"/>
                    <a:gd name="connsiteX3" fmla="*/ 1297496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6" y="0"/>
                      </a:moveTo>
                      <a:cubicBezTo>
                        <a:pt x="1339580" y="0"/>
                        <a:pt x="1373696" y="34116"/>
                        <a:pt x="1373696" y="76200"/>
                      </a:cubicBezTo>
                      <a:lnTo>
                        <a:pt x="1373696" y="1130109"/>
                      </a:lnTo>
                      <a:cubicBezTo>
                        <a:pt x="1373696" y="1172194"/>
                        <a:pt x="1339580" y="1206309"/>
                        <a:pt x="1297496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0" name="Полилиния: фигура 329">
                  <a:extLst>
                    <a:ext uri="{FF2B5EF4-FFF2-40B4-BE49-F238E27FC236}">
                      <a16:creationId xmlns="" xmlns:a16="http://schemas.microsoft.com/office/drawing/2014/main" id="{4E20A470-21C1-44BF-B08B-6C88609C19C4}"/>
                    </a:ext>
                  </a:extLst>
                </p:cNvPr>
                <p:cNvSpPr/>
                <p:nvPr/>
              </p:nvSpPr>
              <p:spPr>
                <a:xfrm>
                  <a:off x="7024814" y="5089525"/>
                  <a:ext cx="1373695" cy="1206309"/>
                </a:xfrm>
                <a:custGeom>
                  <a:avLst/>
                  <a:gdLst>
                    <a:gd name="connsiteX0" fmla="*/ 1297495 w 1373695"/>
                    <a:gd name="connsiteY0" fmla="*/ 0 h 1206309"/>
                    <a:gd name="connsiteX1" fmla="*/ 1373695 w 1373695"/>
                    <a:gd name="connsiteY1" fmla="*/ 76200 h 1206309"/>
                    <a:gd name="connsiteX2" fmla="*/ 1373695 w 1373695"/>
                    <a:gd name="connsiteY2" fmla="*/ 1130109 h 1206309"/>
                    <a:gd name="connsiteX3" fmla="*/ 1297495 w 1373695"/>
                    <a:gd name="connsiteY3" fmla="*/ 1206309 h 1206309"/>
                    <a:gd name="connsiteX4" fmla="*/ 76200 w 1373695"/>
                    <a:gd name="connsiteY4" fmla="*/ 1206309 h 1206309"/>
                    <a:gd name="connsiteX5" fmla="*/ 0 w 1373695"/>
                    <a:gd name="connsiteY5" fmla="*/ 1130109 h 1206309"/>
                    <a:gd name="connsiteX6" fmla="*/ 0 w 1373695"/>
                    <a:gd name="connsiteY6" fmla="*/ 76200 h 1206309"/>
                    <a:gd name="connsiteX7" fmla="*/ 76200 w 1373695"/>
                    <a:gd name="connsiteY7" fmla="*/ 0 h 1206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73695" h="1206309">
                      <a:moveTo>
                        <a:pt x="1297495" y="0"/>
                      </a:moveTo>
                      <a:cubicBezTo>
                        <a:pt x="1339580" y="0"/>
                        <a:pt x="1373695" y="34116"/>
                        <a:pt x="1373695" y="76200"/>
                      </a:cubicBezTo>
                      <a:lnTo>
                        <a:pt x="1373695" y="1130109"/>
                      </a:lnTo>
                      <a:cubicBezTo>
                        <a:pt x="1373695" y="1172194"/>
                        <a:pt x="1339580" y="1206309"/>
                        <a:pt x="1297495" y="1206309"/>
                      </a:cubicBezTo>
                      <a:lnTo>
                        <a:pt x="76200" y="1206309"/>
                      </a:lnTo>
                      <a:cubicBezTo>
                        <a:pt x="34116" y="1206309"/>
                        <a:pt x="0" y="1172194"/>
                        <a:pt x="0" y="1130109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noFill/>
                <a:ln w="12700" cap="flat">
                  <a:solidFill>
                    <a:srgbClr val="FF83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grpSp>
              <p:nvGrpSpPr>
                <p:cNvPr id="331" name="Рисунок 4">
                  <a:extLst>
                    <a:ext uri="{FF2B5EF4-FFF2-40B4-BE49-F238E27FC236}">
                      <a16:creationId xmlns="" xmlns:a16="http://schemas.microsoft.com/office/drawing/2014/main" id="{C9D26789-B04A-4476-A451-4F637805CB73}"/>
                    </a:ext>
                  </a:extLst>
                </p:cNvPr>
                <p:cNvGrpSpPr/>
                <p:nvPr/>
              </p:nvGrpSpPr>
              <p:grpSpPr>
                <a:xfrm>
                  <a:off x="6034963" y="2285600"/>
                  <a:ext cx="150431" cy="334791"/>
                  <a:chOff x="6034963" y="2285600"/>
                  <a:chExt cx="150431" cy="334791"/>
                </a:xfrm>
                <a:solidFill>
                  <a:srgbClr val="FF8300"/>
                </a:solidFill>
              </p:grpSpPr>
              <p:sp>
                <p:nvSpPr>
                  <p:cNvPr id="332" name="Полилиния: фигура 331">
                    <a:extLst>
                      <a:ext uri="{FF2B5EF4-FFF2-40B4-BE49-F238E27FC236}">
                        <a16:creationId xmlns="" xmlns:a16="http://schemas.microsoft.com/office/drawing/2014/main" id="{BD133428-5475-4659-B3E3-494D2112C2BB}"/>
                      </a:ext>
                    </a:extLst>
                  </p:cNvPr>
                  <p:cNvSpPr/>
                  <p:nvPr/>
                </p:nvSpPr>
                <p:spPr>
                  <a:xfrm>
                    <a:off x="6092014" y="2285600"/>
                    <a:ext cx="6350" cy="260604"/>
                  </a:xfrm>
                  <a:custGeom>
                    <a:avLst/>
                    <a:gdLst>
                      <a:gd name="connsiteX0" fmla="*/ 0 w 6350"/>
                      <a:gd name="connsiteY0" fmla="*/ 0 h 260604"/>
                      <a:gd name="connsiteX1" fmla="*/ 0 w 6350"/>
                      <a:gd name="connsiteY1" fmla="*/ 260604 h 2606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350" h="260604">
                        <a:moveTo>
                          <a:pt x="0" y="0"/>
                        </a:moveTo>
                        <a:lnTo>
                          <a:pt x="0" y="260604"/>
                        </a:lnTo>
                      </a:path>
                    </a:pathLst>
                  </a:custGeom>
                  <a:ln w="19050" cap="flat">
                    <a:solidFill>
                      <a:srgbClr val="FF8300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3" name="Полилиния: фигура 332">
                    <a:extLst>
                      <a:ext uri="{FF2B5EF4-FFF2-40B4-BE49-F238E27FC236}">
                        <a16:creationId xmlns="" xmlns:a16="http://schemas.microsoft.com/office/drawing/2014/main" id="{BE3D5E3F-E333-42CC-83CB-971E44361739}"/>
                      </a:ext>
                    </a:extLst>
                  </p:cNvPr>
                  <p:cNvSpPr/>
                  <p:nvPr/>
                </p:nvSpPr>
                <p:spPr>
                  <a:xfrm>
                    <a:off x="6034963" y="2545208"/>
                    <a:ext cx="150431" cy="75183"/>
                  </a:xfrm>
                  <a:custGeom>
                    <a:avLst/>
                    <a:gdLst>
                      <a:gd name="connsiteX0" fmla="*/ 150432 w 150431"/>
                      <a:gd name="connsiteY0" fmla="*/ 0 h 75183"/>
                      <a:gd name="connsiteX1" fmla="*/ 0 w 150431"/>
                      <a:gd name="connsiteY1" fmla="*/ 0 h 75183"/>
                      <a:gd name="connsiteX2" fmla="*/ 75247 w 150431"/>
                      <a:gd name="connsiteY2" fmla="*/ 75184 h 75183"/>
                      <a:gd name="connsiteX3" fmla="*/ 150432 w 150431"/>
                      <a:gd name="connsiteY3" fmla="*/ 0 h 75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431" h="75183">
                        <a:moveTo>
                          <a:pt x="150432" y="0"/>
                        </a:moveTo>
                        <a:lnTo>
                          <a:pt x="0" y="0"/>
                        </a:lnTo>
                        <a:lnTo>
                          <a:pt x="75247" y="75184"/>
                        </a:lnTo>
                        <a:lnTo>
                          <a:pt x="150432" y="0"/>
                        </a:lnTo>
                        <a:close/>
                      </a:path>
                    </a:pathLst>
                  </a:custGeom>
                  <a:solidFill>
                    <a:srgbClr val="FF83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334" name="Рисунок 4">
                  <a:extLst>
                    <a:ext uri="{FF2B5EF4-FFF2-40B4-BE49-F238E27FC236}">
                      <a16:creationId xmlns="" xmlns:a16="http://schemas.microsoft.com/office/drawing/2014/main" id="{A23E8AED-6B9D-4159-B2EA-C07CF4B3916C}"/>
                    </a:ext>
                  </a:extLst>
                </p:cNvPr>
                <p:cNvGrpSpPr/>
                <p:nvPr/>
              </p:nvGrpSpPr>
              <p:grpSpPr>
                <a:xfrm>
                  <a:off x="7600632" y="5173726"/>
                  <a:ext cx="221958" cy="222250"/>
                  <a:chOff x="7600632" y="5173726"/>
                  <a:chExt cx="221958" cy="222250"/>
                </a:xfrm>
                <a:solidFill>
                  <a:srgbClr val="000000"/>
                </a:solidFill>
              </p:grpSpPr>
              <p:sp>
                <p:nvSpPr>
                  <p:cNvPr id="335" name="Полилиния: фигура 334">
                    <a:extLst>
                      <a:ext uri="{FF2B5EF4-FFF2-40B4-BE49-F238E27FC236}">
                        <a16:creationId xmlns="" xmlns:a16="http://schemas.microsoft.com/office/drawing/2014/main" id="{4D7CC36E-3CDB-4B70-B1DE-388B49925818}"/>
                      </a:ext>
                    </a:extLst>
                  </p:cNvPr>
                  <p:cNvSpPr/>
                  <p:nvPr/>
                </p:nvSpPr>
                <p:spPr>
                  <a:xfrm>
                    <a:off x="7600632" y="5173726"/>
                    <a:ext cx="221958" cy="222250"/>
                  </a:xfrm>
                  <a:custGeom>
                    <a:avLst/>
                    <a:gdLst>
                      <a:gd name="connsiteX0" fmla="*/ 85789 w 221958"/>
                      <a:gd name="connsiteY0" fmla="*/ 222186 h 222250"/>
                      <a:gd name="connsiteX1" fmla="*/ 85408 w 221958"/>
                      <a:gd name="connsiteY1" fmla="*/ 222186 h 222250"/>
                      <a:gd name="connsiteX2" fmla="*/ 65787 w 221958"/>
                      <a:gd name="connsiteY2" fmla="*/ 210312 h 222250"/>
                      <a:gd name="connsiteX3" fmla="*/ 11812 w 221958"/>
                      <a:gd name="connsiteY3" fmla="*/ 156337 h 222250"/>
                      <a:gd name="connsiteX4" fmla="*/ 0 w 221958"/>
                      <a:gd name="connsiteY4" fmla="*/ 136715 h 222250"/>
                      <a:gd name="connsiteX5" fmla="*/ 0 w 221958"/>
                      <a:gd name="connsiteY5" fmla="*/ 136334 h 222250"/>
                      <a:gd name="connsiteX6" fmla="*/ 0 w 221958"/>
                      <a:gd name="connsiteY6" fmla="*/ 129730 h 222250"/>
                      <a:gd name="connsiteX7" fmla="*/ 0 w 221958"/>
                      <a:gd name="connsiteY7" fmla="*/ 129286 h 222250"/>
                      <a:gd name="connsiteX8" fmla="*/ 11685 w 221958"/>
                      <a:gd name="connsiteY8" fmla="*/ 110046 h 222250"/>
                      <a:gd name="connsiteX9" fmla="*/ 79947 w 221958"/>
                      <a:gd name="connsiteY9" fmla="*/ 38417 h 222250"/>
                      <a:gd name="connsiteX10" fmla="*/ 107569 w 221958"/>
                      <a:gd name="connsiteY10" fmla="*/ 26543 h 222250"/>
                      <a:gd name="connsiteX11" fmla="*/ 124968 w 221958"/>
                      <a:gd name="connsiteY11" fmla="*/ 26543 h 222250"/>
                      <a:gd name="connsiteX12" fmla="*/ 131128 w 221958"/>
                      <a:gd name="connsiteY12" fmla="*/ 26543 h 222250"/>
                      <a:gd name="connsiteX13" fmla="*/ 143511 w 221958"/>
                      <a:gd name="connsiteY13" fmla="*/ 26543 h 222250"/>
                      <a:gd name="connsiteX14" fmla="*/ 143511 w 221958"/>
                      <a:gd name="connsiteY14" fmla="*/ 26543 h 222250"/>
                      <a:gd name="connsiteX15" fmla="*/ 144082 w 221958"/>
                      <a:gd name="connsiteY15" fmla="*/ 26543 h 222250"/>
                      <a:gd name="connsiteX16" fmla="*/ 144399 w 221958"/>
                      <a:gd name="connsiteY16" fmla="*/ 26098 h 222250"/>
                      <a:gd name="connsiteX17" fmla="*/ 191453 w 221958"/>
                      <a:gd name="connsiteY17" fmla="*/ 64 h 222250"/>
                      <a:gd name="connsiteX18" fmla="*/ 194056 w 221958"/>
                      <a:gd name="connsiteY18" fmla="*/ 0 h 222250"/>
                      <a:gd name="connsiteX19" fmla="*/ 214440 w 221958"/>
                      <a:gd name="connsiteY19" fmla="*/ 8128 h 222250"/>
                      <a:gd name="connsiteX20" fmla="*/ 221933 w 221958"/>
                      <a:gd name="connsiteY20" fmla="*/ 29782 h 222250"/>
                      <a:gd name="connsiteX21" fmla="*/ 220853 w 221958"/>
                      <a:gd name="connsiteY21" fmla="*/ 38671 h 222250"/>
                      <a:gd name="connsiteX22" fmla="*/ 211773 w 221958"/>
                      <a:gd name="connsiteY22" fmla="*/ 46736 h 222250"/>
                      <a:gd name="connsiteX23" fmla="*/ 209550 w 221958"/>
                      <a:gd name="connsiteY23" fmla="*/ 46482 h 222250"/>
                      <a:gd name="connsiteX24" fmla="*/ 202629 w 221958"/>
                      <a:gd name="connsiteY24" fmla="*/ 35433 h 222250"/>
                      <a:gd name="connsiteX25" fmla="*/ 203454 w 221958"/>
                      <a:gd name="connsiteY25" fmla="*/ 27496 h 222250"/>
                      <a:gd name="connsiteX26" fmla="*/ 195644 w 221958"/>
                      <a:gd name="connsiteY26" fmla="*/ 18605 h 222250"/>
                      <a:gd name="connsiteX27" fmla="*/ 194120 w 221958"/>
                      <a:gd name="connsiteY27" fmla="*/ 18605 h 222250"/>
                      <a:gd name="connsiteX28" fmla="*/ 169482 w 221958"/>
                      <a:gd name="connsiteY28" fmla="*/ 26860 h 222250"/>
                      <a:gd name="connsiteX29" fmla="*/ 175134 w 221958"/>
                      <a:gd name="connsiteY29" fmla="*/ 27559 h 222250"/>
                      <a:gd name="connsiteX30" fmla="*/ 195453 w 221958"/>
                      <a:gd name="connsiteY30" fmla="*/ 52832 h 222250"/>
                      <a:gd name="connsiteX31" fmla="*/ 195453 w 221958"/>
                      <a:gd name="connsiteY31" fmla="*/ 116840 h 222250"/>
                      <a:gd name="connsiteX32" fmla="*/ 184086 w 221958"/>
                      <a:gd name="connsiteY32" fmla="*/ 141796 h 222250"/>
                      <a:gd name="connsiteX33" fmla="*/ 132462 w 221958"/>
                      <a:gd name="connsiteY33" fmla="*/ 190945 h 222250"/>
                      <a:gd name="connsiteX34" fmla="*/ 112014 w 221958"/>
                      <a:gd name="connsiteY34" fmla="*/ 210502 h 222250"/>
                      <a:gd name="connsiteX35" fmla="*/ 92711 w 221958"/>
                      <a:gd name="connsiteY35" fmla="*/ 222186 h 222250"/>
                      <a:gd name="connsiteX36" fmla="*/ 92266 w 221958"/>
                      <a:gd name="connsiteY36" fmla="*/ 222186 h 222250"/>
                      <a:gd name="connsiteX37" fmla="*/ 85661 w 221958"/>
                      <a:gd name="connsiteY37" fmla="*/ 222250 h 222250"/>
                      <a:gd name="connsiteX38" fmla="*/ 108459 w 221958"/>
                      <a:gd name="connsiteY38" fmla="*/ 45021 h 222250"/>
                      <a:gd name="connsiteX39" fmla="*/ 92266 w 221958"/>
                      <a:gd name="connsiteY39" fmla="*/ 52260 h 222250"/>
                      <a:gd name="connsiteX40" fmla="*/ 39053 w 221958"/>
                      <a:gd name="connsiteY40" fmla="*/ 108267 h 222250"/>
                      <a:gd name="connsiteX41" fmla="*/ 21972 w 221958"/>
                      <a:gd name="connsiteY41" fmla="*/ 126238 h 222250"/>
                      <a:gd name="connsiteX42" fmla="*/ 22099 w 221958"/>
                      <a:gd name="connsiteY42" fmla="*/ 140271 h 222250"/>
                      <a:gd name="connsiteX43" fmla="*/ 82106 w 221958"/>
                      <a:gd name="connsiteY43" fmla="*/ 200279 h 222250"/>
                      <a:gd name="connsiteX44" fmla="*/ 88964 w 221958"/>
                      <a:gd name="connsiteY44" fmla="*/ 203581 h 222250"/>
                      <a:gd name="connsiteX45" fmla="*/ 95759 w 221958"/>
                      <a:gd name="connsiteY45" fmla="*/ 200406 h 222250"/>
                      <a:gd name="connsiteX46" fmla="*/ 144463 w 221958"/>
                      <a:gd name="connsiteY46" fmla="*/ 154051 h 222250"/>
                      <a:gd name="connsiteX47" fmla="*/ 170752 w 221958"/>
                      <a:gd name="connsiteY47" fmla="*/ 129032 h 222250"/>
                      <a:gd name="connsiteX48" fmla="*/ 176657 w 221958"/>
                      <a:gd name="connsiteY48" fmla="*/ 119380 h 222250"/>
                      <a:gd name="connsiteX49" fmla="*/ 177165 w 221958"/>
                      <a:gd name="connsiteY49" fmla="*/ 114745 h 222250"/>
                      <a:gd name="connsiteX50" fmla="*/ 177165 w 221958"/>
                      <a:gd name="connsiteY50" fmla="*/ 54420 h 222250"/>
                      <a:gd name="connsiteX51" fmla="*/ 168656 w 221958"/>
                      <a:gd name="connsiteY51" fmla="*/ 45148 h 222250"/>
                      <a:gd name="connsiteX52" fmla="*/ 162434 w 221958"/>
                      <a:gd name="connsiteY52" fmla="*/ 45085 h 222250"/>
                      <a:gd name="connsiteX53" fmla="*/ 155322 w 221958"/>
                      <a:gd name="connsiteY53" fmla="*/ 45085 h 222250"/>
                      <a:gd name="connsiteX54" fmla="*/ 155004 w 221958"/>
                      <a:gd name="connsiteY54" fmla="*/ 45085 h 222250"/>
                      <a:gd name="connsiteX55" fmla="*/ 152019 w 221958"/>
                      <a:gd name="connsiteY55" fmla="*/ 54991 h 222250"/>
                      <a:gd name="connsiteX56" fmla="*/ 168720 w 221958"/>
                      <a:gd name="connsiteY56" fmla="*/ 84391 h 222250"/>
                      <a:gd name="connsiteX57" fmla="*/ 143129 w 221958"/>
                      <a:gd name="connsiteY57" fmla="*/ 106997 h 222250"/>
                      <a:gd name="connsiteX58" fmla="*/ 141796 w 221958"/>
                      <a:gd name="connsiteY58" fmla="*/ 106997 h 222250"/>
                      <a:gd name="connsiteX59" fmla="*/ 116205 w 221958"/>
                      <a:gd name="connsiteY59" fmla="*/ 87185 h 222250"/>
                      <a:gd name="connsiteX60" fmla="*/ 129731 w 221958"/>
                      <a:gd name="connsiteY60" fmla="*/ 56134 h 222250"/>
                      <a:gd name="connsiteX61" fmla="*/ 132715 w 221958"/>
                      <a:gd name="connsiteY61" fmla="*/ 54991 h 222250"/>
                      <a:gd name="connsiteX62" fmla="*/ 133731 w 221958"/>
                      <a:gd name="connsiteY62" fmla="*/ 54610 h 222250"/>
                      <a:gd name="connsiteX63" fmla="*/ 133731 w 221958"/>
                      <a:gd name="connsiteY63" fmla="*/ 53530 h 222250"/>
                      <a:gd name="connsiteX64" fmla="*/ 134112 w 221958"/>
                      <a:gd name="connsiteY64" fmla="*/ 50165 h 222250"/>
                      <a:gd name="connsiteX65" fmla="*/ 135446 w 221958"/>
                      <a:gd name="connsiteY65" fmla="*/ 44958 h 222250"/>
                      <a:gd name="connsiteX66" fmla="*/ 121222 w 221958"/>
                      <a:gd name="connsiteY66" fmla="*/ 44958 h 222250"/>
                      <a:gd name="connsiteX67" fmla="*/ 109157 w 221958"/>
                      <a:gd name="connsiteY67" fmla="*/ 44895 h 222250"/>
                      <a:gd name="connsiteX68" fmla="*/ 108586 w 221958"/>
                      <a:gd name="connsiteY68" fmla="*/ 44895 h 222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</a:cxnLst>
                    <a:rect l="l" t="t" r="r" b="b"/>
                    <a:pathLst>
                      <a:path w="221958" h="222250">
                        <a:moveTo>
                          <a:pt x="85789" y="222186"/>
                        </a:moveTo>
                        <a:lnTo>
                          <a:pt x="85408" y="222186"/>
                        </a:lnTo>
                        <a:cubicBezTo>
                          <a:pt x="76709" y="220726"/>
                          <a:pt x="70739" y="215328"/>
                          <a:pt x="65787" y="210312"/>
                        </a:cubicBezTo>
                        <a:cubicBezTo>
                          <a:pt x="48006" y="192341"/>
                          <a:pt x="29845" y="174180"/>
                          <a:pt x="11812" y="156337"/>
                        </a:cubicBezTo>
                        <a:cubicBezTo>
                          <a:pt x="6604" y="151193"/>
                          <a:pt x="1398" y="145415"/>
                          <a:pt x="0" y="136715"/>
                        </a:cubicBezTo>
                        <a:lnTo>
                          <a:pt x="0" y="136334"/>
                        </a:lnTo>
                        <a:cubicBezTo>
                          <a:pt x="0" y="136334"/>
                          <a:pt x="0" y="129730"/>
                          <a:pt x="0" y="129730"/>
                        </a:cubicBezTo>
                        <a:lnTo>
                          <a:pt x="0" y="129286"/>
                        </a:lnTo>
                        <a:cubicBezTo>
                          <a:pt x="1524" y="121221"/>
                          <a:pt x="6160" y="115760"/>
                          <a:pt x="11685" y="110046"/>
                        </a:cubicBezTo>
                        <a:cubicBezTo>
                          <a:pt x="34481" y="86233"/>
                          <a:pt x="57214" y="62357"/>
                          <a:pt x="79947" y="38417"/>
                        </a:cubicBezTo>
                        <a:cubicBezTo>
                          <a:pt x="87440" y="30543"/>
                          <a:pt x="96711" y="26543"/>
                          <a:pt x="107569" y="26543"/>
                        </a:cubicBezTo>
                        <a:cubicBezTo>
                          <a:pt x="111506" y="26543"/>
                          <a:pt x="124968" y="26543"/>
                          <a:pt x="124968" y="26543"/>
                        </a:cubicBezTo>
                        <a:lnTo>
                          <a:pt x="131128" y="26543"/>
                        </a:lnTo>
                        <a:cubicBezTo>
                          <a:pt x="135255" y="26543"/>
                          <a:pt x="139383" y="26543"/>
                          <a:pt x="143511" y="26543"/>
                        </a:cubicBezTo>
                        <a:lnTo>
                          <a:pt x="143511" y="26543"/>
                        </a:lnTo>
                        <a:cubicBezTo>
                          <a:pt x="143891" y="26543"/>
                          <a:pt x="144018" y="26543"/>
                          <a:pt x="144082" y="26543"/>
                        </a:cubicBezTo>
                        <a:cubicBezTo>
                          <a:pt x="144082" y="26543"/>
                          <a:pt x="144209" y="26416"/>
                          <a:pt x="144399" y="26098"/>
                        </a:cubicBezTo>
                        <a:cubicBezTo>
                          <a:pt x="155956" y="10223"/>
                          <a:pt x="171831" y="1460"/>
                          <a:pt x="191453" y="64"/>
                        </a:cubicBezTo>
                        <a:cubicBezTo>
                          <a:pt x="192342" y="64"/>
                          <a:pt x="193231" y="0"/>
                          <a:pt x="194056" y="0"/>
                        </a:cubicBezTo>
                        <a:cubicBezTo>
                          <a:pt x="202185" y="0"/>
                          <a:pt x="209424" y="2858"/>
                          <a:pt x="214440" y="8128"/>
                        </a:cubicBezTo>
                        <a:cubicBezTo>
                          <a:pt x="219584" y="13526"/>
                          <a:pt x="222250" y="21209"/>
                          <a:pt x="221933" y="29782"/>
                        </a:cubicBezTo>
                        <a:cubicBezTo>
                          <a:pt x="221806" y="33020"/>
                          <a:pt x="221298" y="36068"/>
                          <a:pt x="220853" y="38671"/>
                        </a:cubicBezTo>
                        <a:cubicBezTo>
                          <a:pt x="219964" y="43497"/>
                          <a:pt x="216345" y="46736"/>
                          <a:pt x="211773" y="46736"/>
                        </a:cubicBezTo>
                        <a:cubicBezTo>
                          <a:pt x="211074" y="46736"/>
                          <a:pt x="210312" y="46672"/>
                          <a:pt x="209550" y="46482"/>
                        </a:cubicBezTo>
                        <a:cubicBezTo>
                          <a:pt x="204724" y="45402"/>
                          <a:pt x="201867" y="40830"/>
                          <a:pt x="202629" y="35433"/>
                        </a:cubicBezTo>
                        <a:cubicBezTo>
                          <a:pt x="203010" y="32576"/>
                          <a:pt x="203391" y="30035"/>
                          <a:pt x="203454" y="27496"/>
                        </a:cubicBezTo>
                        <a:cubicBezTo>
                          <a:pt x="203581" y="22542"/>
                          <a:pt x="200279" y="18796"/>
                          <a:pt x="195644" y="18605"/>
                        </a:cubicBezTo>
                        <a:cubicBezTo>
                          <a:pt x="195136" y="18605"/>
                          <a:pt x="194628" y="18605"/>
                          <a:pt x="194120" y="18605"/>
                        </a:cubicBezTo>
                        <a:cubicBezTo>
                          <a:pt x="185420" y="18605"/>
                          <a:pt x="176657" y="21653"/>
                          <a:pt x="169482" y="26860"/>
                        </a:cubicBezTo>
                        <a:cubicBezTo>
                          <a:pt x="171324" y="26988"/>
                          <a:pt x="173228" y="27178"/>
                          <a:pt x="175134" y="27559"/>
                        </a:cubicBezTo>
                        <a:cubicBezTo>
                          <a:pt x="186817" y="30099"/>
                          <a:pt x="195390" y="40703"/>
                          <a:pt x="195453" y="52832"/>
                        </a:cubicBezTo>
                        <a:cubicBezTo>
                          <a:pt x="195580" y="70295"/>
                          <a:pt x="195644" y="93345"/>
                          <a:pt x="195453" y="116840"/>
                        </a:cubicBezTo>
                        <a:cubicBezTo>
                          <a:pt x="195390" y="126302"/>
                          <a:pt x="191516" y="134683"/>
                          <a:pt x="184086" y="141796"/>
                        </a:cubicBezTo>
                        <a:lnTo>
                          <a:pt x="132462" y="190945"/>
                        </a:lnTo>
                        <a:cubicBezTo>
                          <a:pt x="125603" y="197421"/>
                          <a:pt x="118745" y="203898"/>
                          <a:pt x="112014" y="210502"/>
                        </a:cubicBezTo>
                        <a:cubicBezTo>
                          <a:pt x="106807" y="215583"/>
                          <a:pt x="101029" y="220663"/>
                          <a:pt x="92711" y="222186"/>
                        </a:cubicBezTo>
                        <a:lnTo>
                          <a:pt x="92266" y="222186"/>
                        </a:lnTo>
                        <a:cubicBezTo>
                          <a:pt x="92266" y="222186"/>
                          <a:pt x="85661" y="222250"/>
                          <a:pt x="85661" y="222250"/>
                        </a:cubicBezTo>
                        <a:close/>
                        <a:moveTo>
                          <a:pt x="108459" y="45021"/>
                        </a:moveTo>
                        <a:cubicBezTo>
                          <a:pt x="102109" y="45021"/>
                          <a:pt x="96965" y="47308"/>
                          <a:pt x="92266" y="52260"/>
                        </a:cubicBezTo>
                        <a:cubicBezTo>
                          <a:pt x="74613" y="70993"/>
                          <a:pt x="56833" y="89662"/>
                          <a:pt x="39053" y="108267"/>
                        </a:cubicBezTo>
                        <a:lnTo>
                          <a:pt x="21972" y="126238"/>
                        </a:lnTo>
                        <a:cubicBezTo>
                          <a:pt x="17273" y="131127"/>
                          <a:pt x="17336" y="135446"/>
                          <a:pt x="22099" y="140271"/>
                        </a:cubicBezTo>
                        <a:lnTo>
                          <a:pt x="82106" y="200279"/>
                        </a:lnTo>
                        <a:cubicBezTo>
                          <a:pt x="83630" y="201803"/>
                          <a:pt x="86043" y="203581"/>
                          <a:pt x="88964" y="203581"/>
                        </a:cubicBezTo>
                        <a:cubicBezTo>
                          <a:pt x="91249" y="203581"/>
                          <a:pt x="93599" y="202502"/>
                          <a:pt x="95759" y="200406"/>
                        </a:cubicBezTo>
                        <a:lnTo>
                          <a:pt x="144463" y="154051"/>
                        </a:lnTo>
                        <a:cubicBezTo>
                          <a:pt x="153226" y="145733"/>
                          <a:pt x="161989" y="137351"/>
                          <a:pt x="170752" y="129032"/>
                        </a:cubicBezTo>
                        <a:cubicBezTo>
                          <a:pt x="174117" y="125857"/>
                          <a:pt x="175959" y="122809"/>
                          <a:pt x="176657" y="119380"/>
                        </a:cubicBezTo>
                        <a:cubicBezTo>
                          <a:pt x="176974" y="117729"/>
                          <a:pt x="177165" y="116205"/>
                          <a:pt x="177165" y="114745"/>
                        </a:cubicBezTo>
                        <a:cubicBezTo>
                          <a:pt x="177165" y="94615"/>
                          <a:pt x="177165" y="74485"/>
                          <a:pt x="177165" y="54420"/>
                        </a:cubicBezTo>
                        <a:cubicBezTo>
                          <a:pt x="177165" y="48895"/>
                          <a:pt x="173863" y="45339"/>
                          <a:pt x="168656" y="45148"/>
                        </a:cubicBezTo>
                        <a:cubicBezTo>
                          <a:pt x="166561" y="45148"/>
                          <a:pt x="164529" y="45085"/>
                          <a:pt x="162434" y="45085"/>
                        </a:cubicBezTo>
                        <a:cubicBezTo>
                          <a:pt x="160084" y="45085"/>
                          <a:pt x="157671" y="45085"/>
                          <a:pt x="155322" y="45085"/>
                        </a:cubicBezTo>
                        <a:lnTo>
                          <a:pt x="155004" y="45085"/>
                        </a:lnTo>
                        <a:cubicBezTo>
                          <a:pt x="153543" y="48323"/>
                          <a:pt x="152591" y="51626"/>
                          <a:pt x="152019" y="54991"/>
                        </a:cubicBezTo>
                        <a:cubicBezTo>
                          <a:pt x="163830" y="59627"/>
                          <a:pt x="170752" y="71691"/>
                          <a:pt x="168720" y="84391"/>
                        </a:cubicBezTo>
                        <a:cubicBezTo>
                          <a:pt x="166688" y="96965"/>
                          <a:pt x="156147" y="106299"/>
                          <a:pt x="143129" y="106997"/>
                        </a:cubicBezTo>
                        <a:cubicBezTo>
                          <a:pt x="142685" y="106997"/>
                          <a:pt x="142240" y="106997"/>
                          <a:pt x="141796" y="106997"/>
                        </a:cubicBezTo>
                        <a:cubicBezTo>
                          <a:pt x="130111" y="106997"/>
                          <a:pt x="119317" y="98679"/>
                          <a:pt x="116205" y="87185"/>
                        </a:cubicBezTo>
                        <a:cubicBezTo>
                          <a:pt x="112840" y="74930"/>
                          <a:pt x="118555" y="61913"/>
                          <a:pt x="129731" y="56134"/>
                        </a:cubicBezTo>
                        <a:cubicBezTo>
                          <a:pt x="130620" y="55690"/>
                          <a:pt x="131699" y="55308"/>
                          <a:pt x="132715" y="54991"/>
                        </a:cubicBezTo>
                        <a:cubicBezTo>
                          <a:pt x="133033" y="54864"/>
                          <a:pt x="133414" y="54737"/>
                          <a:pt x="133731" y="54610"/>
                        </a:cubicBezTo>
                        <a:cubicBezTo>
                          <a:pt x="133731" y="54356"/>
                          <a:pt x="133731" y="53911"/>
                          <a:pt x="133731" y="53530"/>
                        </a:cubicBezTo>
                        <a:cubicBezTo>
                          <a:pt x="133795" y="52388"/>
                          <a:pt x="133859" y="51181"/>
                          <a:pt x="134112" y="50165"/>
                        </a:cubicBezTo>
                        <a:cubicBezTo>
                          <a:pt x="134493" y="48451"/>
                          <a:pt x="134938" y="46736"/>
                          <a:pt x="135446" y="44958"/>
                        </a:cubicBezTo>
                        <a:lnTo>
                          <a:pt x="121222" y="44958"/>
                        </a:lnTo>
                        <a:cubicBezTo>
                          <a:pt x="117158" y="44958"/>
                          <a:pt x="113157" y="44958"/>
                          <a:pt x="109157" y="44895"/>
                        </a:cubicBezTo>
                        <a:lnTo>
                          <a:pt x="108586" y="4489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sp>
                <p:nvSpPr>
                  <p:cNvPr id="336" name="Полилиния: фигура 335">
                    <a:extLst>
                      <a:ext uri="{FF2B5EF4-FFF2-40B4-BE49-F238E27FC236}">
                        <a16:creationId xmlns="" xmlns:a16="http://schemas.microsoft.com/office/drawing/2014/main" id="{CD25DB6F-549A-470E-9CC5-239C0A93119B}"/>
                      </a:ext>
                    </a:extLst>
                  </p:cNvPr>
                  <p:cNvSpPr/>
                  <p:nvPr/>
                </p:nvSpPr>
                <p:spPr>
                  <a:xfrm>
                    <a:off x="7605458" y="5178600"/>
                    <a:ext cx="212435" cy="212358"/>
                  </a:xfrm>
                  <a:custGeom>
                    <a:avLst/>
                    <a:gdLst>
                      <a:gd name="connsiteX0" fmla="*/ 0 w 212435"/>
                      <a:gd name="connsiteY0" fmla="*/ 125301 h 212358"/>
                      <a:gd name="connsiteX1" fmla="*/ 10351 w 212435"/>
                      <a:gd name="connsiteY1" fmla="*/ 108537 h 212358"/>
                      <a:gd name="connsiteX2" fmla="*/ 78613 w 212435"/>
                      <a:gd name="connsiteY2" fmla="*/ 36909 h 212358"/>
                      <a:gd name="connsiteX3" fmla="*/ 102998 w 212435"/>
                      <a:gd name="connsiteY3" fmla="*/ 26495 h 212358"/>
                      <a:gd name="connsiteX4" fmla="*/ 138685 w 212435"/>
                      <a:gd name="connsiteY4" fmla="*/ 26558 h 212358"/>
                      <a:gd name="connsiteX5" fmla="*/ 143573 w 212435"/>
                      <a:gd name="connsiteY5" fmla="*/ 24145 h 212358"/>
                      <a:gd name="connsiteX6" fmla="*/ 187072 w 212435"/>
                      <a:gd name="connsiteY6" fmla="*/ 78 h 212358"/>
                      <a:gd name="connsiteX7" fmla="*/ 212408 w 212435"/>
                      <a:gd name="connsiteY7" fmla="*/ 24716 h 212358"/>
                      <a:gd name="connsiteX8" fmla="*/ 211392 w 212435"/>
                      <a:gd name="connsiteY8" fmla="*/ 32908 h 212358"/>
                      <a:gd name="connsiteX9" fmla="*/ 205931 w 212435"/>
                      <a:gd name="connsiteY9" fmla="*/ 36845 h 212358"/>
                      <a:gd name="connsiteX10" fmla="*/ 202756 w 212435"/>
                      <a:gd name="connsiteY10" fmla="*/ 31194 h 212358"/>
                      <a:gd name="connsiteX11" fmla="*/ 203645 w 212435"/>
                      <a:gd name="connsiteY11" fmla="*/ 22748 h 212358"/>
                      <a:gd name="connsiteX12" fmla="*/ 191198 w 212435"/>
                      <a:gd name="connsiteY12" fmla="*/ 8841 h 212358"/>
                      <a:gd name="connsiteX13" fmla="*/ 153036 w 212435"/>
                      <a:gd name="connsiteY13" fmla="*/ 26495 h 212358"/>
                      <a:gd name="connsiteX14" fmla="*/ 155639 w 212435"/>
                      <a:gd name="connsiteY14" fmla="*/ 26495 h 212358"/>
                      <a:gd name="connsiteX15" fmla="*/ 169418 w 212435"/>
                      <a:gd name="connsiteY15" fmla="*/ 27384 h 212358"/>
                      <a:gd name="connsiteX16" fmla="*/ 185928 w 212435"/>
                      <a:gd name="connsiteY16" fmla="*/ 47958 h 212358"/>
                      <a:gd name="connsiteX17" fmla="*/ 185928 w 212435"/>
                      <a:gd name="connsiteY17" fmla="*/ 111839 h 212358"/>
                      <a:gd name="connsiteX18" fmla="*/ 176085 w 212435"/>
                      <a:gd name="connsiteY18" fmla="*/ 133302 h 212358"/>
                      <a:gd name="connsiteX19" fmla="*/ 132842 w 212435"/>
                      <a:gd name="connsiteY19" fmla="*/ 174513 h 212358"/>
                      <a:gd name="connsiteX20" fmla="*/ 104013 w 212435"/>
                      <a:gd name="connsiteY20" fmla="*/ 202009 h 212358"/>
                      <a:gd name="connsiteX21" fmla="*/ 87249 w 212435"/>
                      <a:gd name="connsiteY21" fmla="*/ 212359 h 212358"/>
                      <a:gd name="connsiteX22" fmla="*/ 81471 w 212435"/>
                      <a:gd name="connsiteY22" fmla="*/ 212359 h 212358"/>
                      <a:gd name="connsiteX23" fmla="*/ 64580 w 212435"/>
                      <a:gd name="connsiteY23" fmla="*/ 201945 h 212358"/>
                      <a:gd name="connsiteX24" fmla="*/ 10605 w 212435"/>
                      <a:gd name="connsiteY24" fmla="*/ 147970 h 212358"/>
                      <a:gd name="connsiteX25" fmla="*/ 191 w 212435"/>
                      <a:gd name="connsiteY25" fmla="*/ 131079 h 212358"/>
                      <a:gd name="connsiteX26" fmla="*/ 191 w 212435"/>
                      <a:gd name="connsiteY26" fmla="*/ 125301 h 212358"/>
                      <a:gd name="connsiteX27" fmla="*/ 141860 w 212435"/>
                      <a:gd name="connsiteY27" fmla="*/ 53482 h 212358"/>
                      <a:gd name="connsiteX28" fmla="*/ 143511 w 212435"/>
                      <a:gd name="connsiteY28" fmla="*/ 53990 h 212358"/>
                      <a:gd name="connsiteX29" fmla="*/ 159004 w 212435"/>
                      <a:gd name="connsiteY29" fmla="*/ 78755 h 212358"/>
                      <a:gd name="connsiteX30" fmla="*/ 137923 w 212435"/>
                      <a:gd name="connsiteY30" fmla="*/ 97297 h 212358"/>
                      <a:gd name="connsiteX31" fmla="*/ 115888 w 212435"/>
                      <a:gd name="connsiteY31" fmla="*/ 81104 h 212358"/>
                      <a:gd name="connsiteX32" fmla="*/ 126936 w 212435"/>
                      <a:gd name="connsiteY32" fmla="*/ 55641 h 212358"/>
                      <a:gd name="connsiteX33" fmla="*/ 132715 w 212435"/>
                      <a:gd name="connsiteY33" fmla="*/ 52910 h 212358"/>
                      <a:gd name="connsiteX34" fmla="*/ 133859 w 212435"/>
                      <a:gd name="connsiteY34" fmla="*/ 46497 h 212358"/>
                      <a:gd name="connsiteX35" fmla="*/ 136843 w 212435"/>
                      <a:gd name="connsiteY35" fmla="*/ 35384 h 212358"/>
                      <a:gd name="connsiteX36" fmla="*/ 134557 w 212435"/>
                      <a:gd name="connsiteY36" fmla="*/ 35384 h 212358"/>
                      <a:gd name="connsiteX37" fmla="*/ 104267 w 212435"/>
                      <a:gd name="connsiteY37" fmla="*/ 35384 h 212358"/>
                      <a:gd name="connsiteX38" fmla="*/ 83884 w 212435"/>
                      <a:gd name="connsiteY38" fmla="*/ 44147 h 212358"/>
                      <a:gd name="connsiteX39" fmla="*/ 13526 w 212435"/>
                      <a:gd name="connsiteY39" fmla="*/ 118125 h 212358"/>
                      <a:gd name="connsiteX40" fmla="*/ 13716 w 212435"/>
                      <a:gd name="connsiteY40" fmla="*/ 138890 h 212358"/>
                      <a:gd name="connsiteX41" fmla="*/ 73723 w 212435"/>
                      <a:gd name="connsiteY41" fmla="*/ 198897 h 212358"/>
                      <a:gd name="connsiteX42" fmla="*/ 94107 w 212435"/>
                      <a:gd name="connsiteY42" fmla="*/ 199088 h 212358"/>
                      <a:gd name="connsiteX43" fmla="*/ 132144 w 212435"/>
                      <a:gd name="connsiteY43" fmla="*/ 162893 h 212358"/>
                      <a:gd name="connsiteX44" fmla="*/ 169101 w 212435"/>
                      <a:gd name="connsiteY44" fmla="*/ 127714 h 212358"/>
                      <a:gd name="connsiteX45" fmla="*/ 176403 w 212435"/>
                      <a:gd name="connsiteY45" fmla="*/ 115458 h 212358"/>
                      <a:gd name="connsiteX46" fmla="*/ 176974 w 212435"/>
                      <a:gd name="connsiteY46" fmla="*/ 109934 h 212358"/>
                      <a:gd name="connsiteX47" fmla="*/ 176974 w 212435"/>
                      <a:gd name="connsiteY47" fmla="*/ 49545 h 212358"/>
                      <a:gd name="connsiteX48" fmla="*/ 163767 w 212435"/>
                      <a:gd name="connsiteY48" fmla="*/ 35448 h 212358"/>
                      <a:gd name="connsiteX49" fmla="*/ 148210 w 212435"/>
                      <a:gd name="connsiteY49" fmla="*/ 35448 h 212358"/>
                      <a:gd name="connsiteX50" fmla="*/ 146559 w 212435"/>
                      <a:gd name="connsiteY50" fmla="*/ 36273 h 212358"/>
                      <a:gd name="connsiteX51" fmla="*/ 141796 w 212435"/>
                      <a:gd name="connsiteY51" fmla="*/ 53609 h 212358"/>
                      <a:gd name="connsiteX52" fmla="*/ 132779 w 212435"/>
                      <a:gd name="connsiteY52" fmla="*/ 63007 h 212358"/>
                      <a:gd name="connsiteX53" fmla="*/ 124079 w 212435"/>
                      <a:gd name="connsiteY53" fmla="*/ 77358 h 212358"/>
                      <a:gd name="connsiteX54" fmla="*/ 138367 w 212435"/>
                      <a:gd name="connsiteY54" fmla="*/ 88471 h 212358"/>
                      <a:gd name="connsiteX55" fmla="*/ 150495 w 212435"/>
                      <a:gd name="connsiteY55" fmla="*/ 75263 h 212358"/>
                      <a:gd name="connsiteX56" fmla="*/ 141605 w 212435"/>
                      <a:gd name="connsiteY56" fmla="*/ 63197 h 212358"/>
                      <a:gd name="connsiteX57" fmla="*/ 141605 w 212435"/>
                      <a:gd name="connsiteY57" fmla="*/ 74373 h 212358"/>
                      <a:gd name="connsiteX58" fmla="*/ 141160 w 212435"/>
                      <a:gd name="connsiteY58" fmla="*/ 77168 h 212358"/>
                      <a:gd name="connsiteX59" fmla="*/ 136335 w 212435"/>
                      <a:gd name="connsiteY59" fmla="*/ 79581 h 212358"/>
                      <a:gd name="connsiteX60" fmla="*/ 132842 w 212435"/>
                      <a:gd name="connsiteY60" fmla="*/ 75263 h 212358"/>
                      <a:gd name="connsiteX61" fmla="*/ 132842 w 212435"/>
                      <a:gd name="connsiteY61" fmla="*/ 63007 h 212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</a:cxnLst>
                    <a:rect l="l" t="t" r="r" b="b"/>
                    <a:pathLst>
                      <a:path w="212435" h="212358">
                        <a:moveTo>
                          <a:pt x="0" y="125301"/>
                        </a:moveTo>
                        <a:cubicBezTo>
                          <a:pt x="1207" y="118315"/>
                          <a:pt x="5715" y="113426"/>
                          <a:pt x="10351" y="108537"/>
                        </a:cubicBezTo>
                        <a:cubicBezTo>
                          <a:pt x="33148" y="84724"/>
                          <a:pt x="55880" y="60784"/>
                          <a:pt x="78613" y="36909"/>
                        </a:cubicBezTo>
                        <a:cubicBezTo>
                          <a:pt x="85281" y="29923"/>
                          <a:pt x="93345" y="26431"/>
                          <a:pt x="102998" y="26495"/>
                        </a:cubicBezTo>
                        <a:cubicBezTo>
                          <a:pt x="114872" y="26558"/>
                          <a:pt x="126810" y="26495"/>
                          <a:pt x="138685" y="26558"/>
                        </a:cubicBezTo>
                        <a:cubicBezTo>
                          <a:pt x="140907" y="26558"/>
                          <a:pt x="142177" y="25987"/>
                          <a:pt x="143573" y="24145"/>
                        </a:cubicBezTo>
                        <a:cubicBezTo>
                          <a:pt x="154305" y="9413"/>
                          <a:pt x="168847" y="1348"/>
                          <a:pt x="187072" y="78"/>
                        </a:cubicBezTo>
                        <a:cubicBezTo>
                          <a:pt x="202629" y="-1001"/>
                          <a:pt x="213043" y="9159"/>
                          <a:pt x="212408" y="24716"/>
                        </a:cubicBezTo>
                        <a:cubicBezTo>
                          <a:pt x="212281" y="27447"/>
                          <a:pt x="211899" y="30241"/>
                          <a:pt x="211392" y="32908"/>
                        </a:cubicBezTo>
                        <a:cubicBezTo>
                          <a:pt x="210820" y="35956"/>
                          <a:pt x="208598" y="37480"/>
                          <a:pt x="205931" y="36845"/>
                        </a:cubicBezTo>
                        <a:cubicBezTo>
                          <a:pt x="203518" y="36337"/>
                          <a:pt x="202311" y="34051"/>
                          <a:pt x="202756" y="31194"/>
                        </a:cubicBezTo>
                        <a:cubicBezTo>
                          <a:pt x="203136" y="28400"/>
                          <a:pt x="203518" y="25542"/>
                          <a:pt x="203645" y="22748"/>
                        </a:cubicBezTo>
                        <a:cubicBezTo>
                          <a:pt x="203898" y="15255"/>
                          <a:pt x="198628" y="9159"/>
                          <a:pt x="191198" y="8841"/>
                        </a:cubicBezTo>
                        <a:cubicBezTo>
                          <a:pt x="178118" y="8270"/>
                          <a:pt x="162941" y="14112"/>
                          <a:pt x="153036" y="26495"/>
                        </a:cubicBezTo>
                        <a:cubicBezTo>
                          <a:pt x="154051" y="26495"/>
                          <a:pt x="154877" y="26495"/>
                          <a:pt x="155639" y="26495"/>
                        </a:cubicBezTo>
                        <a:cubicBezTo>
                          <a:pt x="160274" y="26748"/>
                          <a:pt x="164973" y="26431"/>
                          <a:pt x="169418" y="27384"/>
                        </a:cubicBezTo>
                        <a:cubicBezTo>
                          <a:pt x="179007" y="29479"/>
                          <a:pt x="185865" y="38178"/>
                          <a:pt x="185928" y="47958"/>
                        </a:cubicBezTo>
                        <a:cubicBezTo>
                          <a:pt x="186055" y="69230"/>
                          <a:pt x="186119" y="90566"/>
                          <a:pt x="185928" y="111839"/>
                        </a:cubicBezTo>
                        <a:cubicBezTo>
                          <a:pt x="185865" y="120284"/>
                          <a:pt x="182245" y="127459"/>
                          <a:pt x="176085" y="133302"/>
                        </a:cubicBezTo>
                        <a:cubicBezTo>
                          <a:pt x="161672" y="147018"/>
                          <a:pt x="147257" y="160797"/>
                          <a:pt x="132842" y="174513"/>
                        </a:cubicBezTo>
                        <a:cubicBezTo>
                          <a:pt x="123254" y="183657"/>
                          <a:pt x="113538" y="192738"/>
                          <a:pt x="104013" y="202009"/>
                        </a:cubicBezTo>
                        <a:cubicBezTo>
                          <a:pt x="99187" y="206708"/>
                          <a:pt x="94235" y="211089"/>
                          <a:pt x="87249" y="212359"/>
                        </a:cubicBezTo>
                        <a:lnTo>
                          <a:pt x="81471" y="212359"/>
                        </a:lnTo>
                        <a:cubicBezTo>
                          <a:pt x="74359" y="211216"/>
                          <a:pt x="69406" y="206834"/>
                          <a:pt x="64580" y="201945"/>
                        </a:cubicBezTo>
                        <a:cubicBezTo>
                          <a:pt x="46673" y="183847"/>
                          <a:pt x="28702" y="165877"/>
                          <a:pt x="10605" y="147970"/>
                        </a:cubicBezTo>
                        <a:cubicBezTo>
                          <a:pt x="5715" y="143144"/>
                          <a:pt x="1270" y="138128"/>
                          <a:pt x="191" y="131079"/>
                        </a:cubicBezTo>
                        <a:lnTo>
                          <a:pt x="191" y="125301"/>
                        </a:lnTo>
                        <a:close/>
                        <a:moveTo>
                          <a:pt x="141860" y="53482"/>
                        </a:moveTo>
                        <a:cubicBezTo>
                          <a:pt x="142494" y="53672"/>
                          <a:pt x="143002" y="53800"/>
                          <a:pt x="143511" y="53990"/>
                        </a:cubicBezTo>
                        <a:cubicBezTo>
                          <a:pt x="154178" y="57228"/>
                          <a:pt x="160782" y="67770"/>
                          <a:pt x="159004" y="78755"/>
                        </a:cubicBezTo>
                        <a:cubicBezTo>
                          <a:pt x="157290" y="89169"/>
                          <a:pt x="148781" y="96726"/>
                          <a:pt x="137923" y="97297"/>
                        </a:cubicBezTo>
                        <a:cubicBezTo>
                          <a:pt x="128143" y="97869"/>
                          <a:pt x="118555" y="90820"/>
                          <a:pt x="115888" y="81104"/>
                        </a:cubicBezTo>
                        <a:cubicBezTo>
                          <a:pt x="113157" y="71071"/>
                          <a:pt x="117729" y="60340"/>
                          <a:pt x="126936" y="55641"/>
                        </a:cubicBezTo>
                        <a:cubicBezTo>
                          <a:pt x="128842" y="54625"/>
                          <a:pt x="131573" y="54371"/>
                          <a:pt x="132715" y="52910"/>
                        </a:cubicBezTo>
                        <a:cubicBezTo>
                          <a:pt x="133859" y="51323"/>
                          <a:pt x="133414" y="48656"/>
                          <a:pt x="133859" y="46497"/>
                        </a:cubicBezTo>
                        <a:cubicBezTo>
                          <a:pt x="134748" y="42814"/>
                          <a:pt x="135763" y="39195"/>
                          <a:pt x="136843" y="35384"/>
                        </a:cubicBezTo>
                        <a:cubicBezTo>
                          <a:pt x="136017" y="35384"/>
                          <a:pt x="135319" y="35384"/>
                          <a:pt x="134557" y="35384"/>
                        </a:cubicBezTo>
                        <a:cubicBezTo>
                          <a:pt x="124461" y="35384"/>
                          <a:pt x="114364" y="35575"/>
                          <a:pt x="104267" y="35384"/>
                        </a:cubicBezTo>
                        <a:cubicBezTo>
                          <a:pt x="96012" y="35194"/>
                          <a:pt x="89536" y="38178"/>
                          <a:pt x="83884" y="44147"/>
                        </a:cubicBezTo>
                        <a:cubicBezTo>
                          <a:pt x="60516" y="68913"/>
                          <a:pt x="37021" y="93487"/>
                          <a:pt x="13526" y="118125"/>
                        </a:cubicBezTo>
                        <a:cubicBezTo>
                          <a:pt x="7048" y="124920"/>
                          <a:pt x="7112" y="132222"/>
                          <a:pt x="13716" y="138890"/>
                        </a:cubicBezTo>
                        <a:cubicBezTo>
                          <a:pt x="33719" y="158892"/>
                          <a:pt x="53722" y="178895"/>
                          <a:pt x="73723" y="198897"/>
                        </a:cubicBezTo>
                        <a:cubicBezTo>
                          <a:pt x="79947" y="205120"/>
                          <a:pt x="87757" y="205184"/>
                          <a:pt x="94107" y="199088"/>
                        </a:cubicBezTo>
                        <a:cubicBezTo>
                          <a:pt x="106744" y="187022"/>
                          <a:pt x="119444" y="174958"/>
                          <a:pt x="132144" y="162893"/>
                        </a:cubicBezTo>
                        <a:cubicBezTo>
                          <a:pt x="144463" y="151145"/>
                          <a:pt x="156782" y="139397"/>
                          <a:pt x="169101" y="127714"/>
                        </a:cubicBezTo>
                        <a:cubicBezTo>
                          <a:pt x="172720" y="124284"/>
                          <a:pt x="175451" y="120411"/>
                          <a:pt x="176403" y="115458"/>
                        </a:cubicBezTo>
                        <a:cubicBezTo>
                          <a:pt x="176785" y="113616"/>
                          <a:pt x="176974" y="111775"/>
                          <a:pt x="176974" y="109934"/>
                        </a:cubicBezTo>
                        <a:cubicBezTo>
                          <a:pt x="176974" y="89804"/>
                          <a:pt x="176974" y="69675"/>
                          <a:pt x="176974" y="49545"/>
                        </a:cubicBezTo>
                        <a:cubicBezTo>
                          <a:pt x="176974" y="41417"/>
                          <a:pt x="171641" y="35702"/>
                          <a:pt x="163767" y="35448"/>
                        </a:cubicBezTo>
                        <a:cubicBezTo>
                          <a:pt x="158560" y="35321"/>
                          <a:pt x="153416" y="35448"/>
                          <a:pt x="148210" y="35448"/>
                        </a:cubicBezTo>
                        <a:cubicBezTo>
                          <a:pt x="147638" y="35448"/>
                          <a:pt x="146748" y="35829"/>
                          <a:pt x="146559" y="36273"/>
                        </a:cubicBezTo>
                        <a:cubicBezTo>
                          <a:pt x="143891" y="41671"/>
                          <a:pt x="142240" y="47450"/>
                          <a:pt x="141796" y="53609"/>
                        </a:cubicBezTo>
                        <a:close/>
                        <a:moveTo>
                          <a:pt x="132779" y="63007"/>
                        </a:moveTo>
                        <a:cubicBezTo>
                          <a:pt x="127127" y="64214"/>
                          <a:pt x="123190" y="70881"/>
                          <a:pt x="124079" y="77358"/>
                        </a:cubicBezTo>
                        <a:cubicBezTo>
                          <a:pt x="125032" y="84089"/>
                          <a:pt x="131255" y="88915"/>
                          <a:pt x="138367" y="88471"/>
                        </a:cubicBezTo>
                        <a:cubicBezTo>
                          <a:pt x="145035" y="88026"/>
                          <a:pt x="150495" y="82121"/>
                          <a:pt x="150495" y="75263"/>
                        </a:cubicBezTo>
                        <a:cubicBezTo>
                          <a:pt x="150495" y="69611"/>
                          <a:pt x="146114" y="63578"/>
                          <a:pt x="141605" y="63197"/>
                        </a:cubicBezTo>
                        <a:cubicBezTo>
                          <a:pt x="141605" y="66944"/>
                          <a:pt x="141605" y="70627"/>
                          <a:pt x="141605" y="74373"/>
                        </a:cubicBezTo>
                        <a:cubicBezTo>
                          <a:pt x="141605" y="75326"/>
                          <a:pt x="141478" y="76342"/>
                          <a:pt x="141160" y="77168"/>
                        </a:cubicBezTo>
                        <a:cubicBezTo>
                          <a:pt x="140398" y="79009"/>
                          <a:pt x="138240" y="80025"/>
                          <a:pt x="136335" y="79581"/>
                        </a:cubicBezTo>
                        <a:cubicBezTo>
                          <a:pt x="134303" y="79136"/>
                          <a:pt x="132842" y="77485"/>
                          <a:pt x="132842" y="75263"/>
                        </a:cubicBezTo>
                        <a:cubicBezTo>
                          <a:pt x="132779" y="71198"/>
                          <a:pt x="132842" y="67134"/>
                          <a:pt x="132842" y="63007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63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37" name="Полилиния: фигура 336">
                  <a:extLst>
                    <a:ext uri="{FF2B5EF4-FFF2-40B4-BE49-F238E27FC236}">
                      <a16:creationId xmlns="" xmlns:a16="http://schemas.microsoft.com/office/drawing/2014/main" id="{FAE22E57-9320-4FC9-9468-3B5C49E0CD29}"/>
                    </a:ext>
                  </a:extLst>
                </p:cNvPr>
                <p:cNvSpPr/>
                <p:nvPr/>
              </p:nvSpPr>
              <p:spPr>
                <a:xfrm>
                  <a:off x="6069203" y="5168011"/>
                  <a:ext cx="273621" cy="233562"/>
                </a:xfrm>
                <a:custGeom>
                  <a:avLst/>
                  <a:gdLst>
                    <a:gd name="connsiteX0" fmla="*/ 127 w 273621"/>
                    <a:gd name="connsiteY0" fmla="*/ 61659 h 233562"/>
                    <a:gd name="connsiteX1" fmla="*/ 7556 w 273621"/>
                    <a:gd name="connsiteY1" fmla="*/ 55309 h 233562"/>
                    <a:gd name="connsiteX2" fmla="*/ 134239 w 273621"/>
                    <a:gd name="connsiteY2" fmla="*/ 953 h 233562"/>
                    <a:gd name="connsiteX3" fmla="*/ 142938 w 273621"/>
                    <a:gd name="connsiteY3" fmla="*/ 953 h 233562"/>
                    <a:gd name="connsiteX4" fmla="*/ 267652 w 273621"/>
                    <a:gd name="connsiteY4" fmla="*/ 55880 h 233562"/>
                    <a:gd name="connsiteX5" fmla="*/ 273621 w 273621"/>
                    <a:gd name="connsiteY5" fmla="*/ 63881 h 233562"/>
                    <a:gd name="connsiteX6" fmla="*/ 267716 w 273621"/>
                    <a:gd name="connsiteY6" fmla="*/ 71692 h 233562"/>
                    <a:gd name="connsiteX7" fmla="*/ 250825 w 273621"/>
                    <a:gd name="connsiteY7" fmla="*/ 78930 h 233562"/>
                    <a:gd name="connsiteX8" fmla="*/ 248158 w 273621"/>
                    <a:gd name="connsiteY8" fmla="*/ 83058 h 233562"/>
                    <a:gd name="connsiteX9" fmla="*/ 248158 w 273621"/>
                    <a:gd name="connsiteY9" fmla="*/ 222758 h 233562"/>
                    <a:gd name="connsiteX10" fmla="*/ 248031 w 273621"/>
                    <a:gd name="connsiteY10" fmla="*/ 226505 h 233562"/>
                    <a:gd name="connsiteX11" fmla="*/ 240474 w 273621"/>
                    <a:gd name="connsiteY11" fmla="*/ 233553 h 233562"/>
                    <a:gd name="connsiteX12" fmla="*/ 232410 w 273621"/>
                    <a:gd name="connsiteY12" fmla="*/ 227457 h 233562"/>
                    <a:gd name="connsiteX13" fmla="*/ 232092 w 273621"/>
                    <a:gd name="connsiteY13" fmla="*/ 223203 h 233562"/>
                    <a:gd name="connsiteX14" fmla="*/ 232092 w 273621"/>
                    <a:gd name="connsiteY14" fmla="*/ 90996 h 233562"/>
                    <a:gd name="connsiteX15" fmla="*/ 232092 w 273621"/>
                    <a:gd name="connsiteY15" fmla="*/ 87186 h 233562"/>
                    <a:gd name="connsiteX16" fmla="*/ 226377 w 273621"/>
                    <a:gd name="connsiteY16" fmla="*/ 89598 h 233562"/>
                    <a:gd name="connsiteX17" fmla="*/ 210947 w 273621"/>
                    <a:gd name="connsiteY17" fmla="*/ 96266 h 233562"/>
                    <a:gd name="connsiteX18" fmla="*/ 208407 w 273621"/>
                    <a:gd name="connsiteY18" fmla="*/ 100203 h 233562"/>
                    <a:gd name="connsiteX19" fmla="*/ 208407 w 273621"/>
                    <a:gd name="connsiteY19" fmla="*/ 190246 h 233562"/>
                    <a:gd name="connsiteX20" fmla="*/ 198564 w 273621"/>
                    <a:gd name="connsiteY20" fmla="*/ 200088 h 233562"/>
                    <a:gd name="connsiteX21" fmla="*/ 75946 w 273621"/>
                    <a:gd name="connsiteY21" fmla="*/ 200088 h 233562"/>
                    <a:gd name="connsiteX22" fmla="*/ 66230 w 273621"/>
                    <a:gd name="connsiteY22" fmla="*/ 190310 h 233562"/>
                    <a:gd name="connsiteX23" fmla="*/ 66294 w 273621"/>
                    <a:gd name="connsiteY23" fmla="*/ 101600 h 233562"/>
                    <a:gd name="connsiteX24" fmla="*/ 62928 w 273621"/>
                    <a:gd name="connsiteY24" fmla="*/ 96330 h 233562"/>
                    <a:gd name="connsiteX25" fmla="*/ 7366 w 273621"/>
                    <a:gd name="connsiteY25" fmla="*/ 72327 h 233562"/>
                    <a:gd name="connsiteX26" fmla="*/ 0 w 273621"/>
                    <a:gd name="connsiteY26" fmla="*/ 65913 h 233562"/>
                    <a:gd name="connsiteX27" fmla="*/ 0 w 273621"/>
                    <a:gd name="connsiteY27" fmla="*/ 61659 h 233562"/>
                    <a:gd name="connsiteX28" fmla="*/ 28511 w 273621"/>
                    <a:gd name="connsiteY28" fmla="*/ 63881 h 233562"/>
                    <a:gd name="connsiteX29" fmla="*/ 30797 w 273621"/>
                    <a:gd name="connsiteY29" fmla="*/ 64961 h 233562"/>
                    <a:gd name="connsiteX30" fmla="*/ 135001 w 273621"/>
                    <a:gd name="connsiteY30" fmla="*/ 110173 h 233562"/>
                    <a:gd name="connsiteX31" fmla="*/ 139192 w 273621"/>
                    <a:gd name="connsiteY31" fmla="*/ 110046 h 233562"/>
                    <a:gd name="connsiteX32" fmla="*/ 243141 w 273621"/>
                    <a:gd name="connsiteY32" fmla="*/ 64961 h 233562"/>
                    <a:gd name="connsiteX33" fmla="*/ 245300 w 273621"/>
                    <a:gd name="connsiteY33" fmla="*/ 63817 h 233562"/>
                    <a:gd name="connsiteX34" fmla="*/ 243967 w 273621"/>
                    <a:gd name="connsiteY34" fmla="*/ 63119 h 233562"/>
                    <a:gd name="connsiteX35" fmla="*/ 140208 w 273621"/>
                    <a:gd name="connsiteY35" fmla="*/ 17526 h 233562"/>
                    <a:gd name="connsiteX36" fmla="*/ 136525 w 273621"/>
                    <a:gd name="connsiteY36" fmla="*/ 17590 h 233562"/>
                    <a:gd name="connsiteX37" fmla="*/ 41656 w 273621"/>
                    <a:gd name="connsiteY37" fmla="*/ 58230 h 233562"/>
                    <a:gd name="connsiteX38" fmla="*/ 28448 w 273621"/>
                    <a:gd name="connsiteY38" fmla="*/ 63944 h 233562"/>
                    <a:gd name="connsiteX39" fmla="*/ 82550 w 273621"/>
                    <a:gd name="connsiteY39" fmla="*/ 151765 h 233562"/>
                    <a:gd name="connsiteX40" fmla="*/ 192468 w 273621"/>
                    <a:gd name="connsiteY40" fmla="*/ 151765 h 233562"/>
                    <a:gd name="connsiteX41" fmla="*/ 192468 w 273621"/>
                    <a:gd name="connsiteY41" fmla="*/ 104521 h 233562"/>
                    <a:gd name="connsiteX42" fmla="*/ 189611 w 273621"/>
                    <a:gd name="connsiteY42" fmla="*/ 105664 h 233562"/>
                    <a:gd name="connsiteX43" fmla="*/ 141732 w 273621"/>
                    <a:gd name="connsiteY43" fmla="*/ 126492 h 233562"/>
                    <a:gd name="connsiteX44" fmla="*/ 132270 w 273621"/>
                    <a:gd name="connsiteY44" fmla="*/ 126492 h 233562"/>
                    <a:gd name="connsiteX45" fmla="*/ 85344 w 273621"/>
                    <a:gd name="connsiteY45" fmla="*/ 106045 h 233562"/>
                    <a:gd name="connsiteX46" fmla="*/ 82550 w 273621"/>
                    <a:gd name="connsiteY46" fmla="*/ 104966 h 233562"/>
                    <a:gd name="connsiteX47" fmla="*/ 82550 w 273621"/>
                    <a:gd name="connsiteY47" fmla="*/ 151702 h 233562"/>
                    <a:gd name="connsiteX48" fmla="*/ 82613 w 273621"/>
                    <a:gd name="connsiteY48" fmla="*/ 183896 h 233562"/>
                    <a:gd name="connsiteX49" fmla="*/ 192468 w 273621"/>
                    <a:gd name="connsiteY49" fmla="*/ 183896 h 233562"/>
                    <a:gd name="connsiteX50" fmla="*/ 192468 w 273621"/>
                    <a:gd name="connsiteY50" fmla="*/ 168085 h 233562"/>
                    <a:gd name="connsiteX51" fmla="*/ 82613 w 273621"/>
                    <a:gd name="connsiteY51" fmla="*/ 168085 h 233562"/>
                    <a:gd name="connsiteX52" fmla="*/ 82613 w 273621"/>
                    <a:gd name="connsiteY52" fmla="*/ 183896 h 23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273621" h="233562">
                      <a:moveTo>
                        <a:pt x="127" y="61659"/>
                      </a:moveTo>
                      <a:cubicBezTo>
                        <a:pt x="1588" y="58356"/>
                        <a:pt x="4318" y="56642"/>
                        <a:pt x="7556" y="55309"/>
                      </a:cubicBezTo>
                      <a:cubicBezTo>
                        <a:pt x="49847" y="37274"/>
                        <a:pt x="92075" y="19113"/>
                        <a:pt x="134239" y="953"/>
                      </a:cubicBezTo>
                      <a:cubicBezTo>
                        <a:pt x="137223" y="-318"/>
                        <a:pt x="139954" y="-318"/>
                        <a:pt x="142938" y="953"/>
                      </a:cubicBezTo>
                      <a:cubicBezTo>
                        <a:pt x="184467" y="19304"/>
                        <a:pt x="226060" y="37592"/>
                        <a:pt x="267652" y="55880"/>
                      </a:cubicBezTo>
                      <a:cubicBezTo>
                        <a:pt x="271208" y="57467"/>
                        <a:pt x="273621" y="59817"/>
                        <a:pt x="273621" y="63881"/>
                      </a:cubicBezTo>
                      <a:cubicBezTo>
                        <a:pt x="273621" y="67818"/>
                        <a:pt x="271208" y="70167"/>
                        <a:pt x="267716" y="71692"/>
                      </a:cubicBezTo>
                      <a:cubicBezTo>
                        <a:pt x="262064" y="74105"/>
                        <a:pt x="256476" y="76644"/>
                        <a:pt x="250825" y="78930"/>
                      </a:cubicBezTo>
                      <a:cubicBezTo>
                        <a:pt x="248793" y="79756"/>
                        <a:pt x="248158" y="80836"/>
                        <a:pt x="248158" y="83058"/>
                      </a:cubicBezTo>
                      <a:cubicBezTo>
                        <a:pt x="248221" y="129604"/>
                        <a:pt x="248158" y="176212"/>
                        <a:pt x="248158" y="222758"/>
                      </a:cubicBezTo>
                      <a:cubicBezTo>
                        <a:pt x="248158" y="224028"/>
                        <a:pt x="248158" y="225235"/>
                        <a:pt x="248031" y="226505"/>
                      </a:cubicBezTo>
                      <a:cubicBezTo>
                        <a:pt x="247586" y="230378"/>
                        <a:pt x="244411" y="233299"/>
                        <a:pt x="240474" y="233553"/>
                      </a:cubicBezTo>
                      <a:cubicBezTo>
                        <a:pt x="236791" y="233743"/>
                        <a:pt x="233235" y="231140"/>
                        <a:pt x="232410" y="227457"/>
                      </a:cubicBezTo>
                      <a:cubicBezTo>
                        <a:pt x="232092" y="226060"/>
                        <a:pt x="232092" y="224663"/>
                        <a:pt x="232092" y="223203"/>
                      </a:cubicBezTo>
                      <a:cubicBezTo>
                        <a:pt x="232092" y="179134"/>
                        <a:pt x="232092" y="135065"/>
                        <a:pt x="232092" y="90996"/>
                      </a:cubicBezTo>
                      <a:lnTo>
                        <a:pt x="232092" y="87186"/>
                      </a:lnTo>
                      <a:cubicBezTo>
                        <a:pt x="229933" y="88074"/>
                        <a:pt x="228155" y="88836"/>
                        <a:pt x="226377" y="89598"/>
                      </a:cubicBezTo>
                      <a:cubicBezTo>
                        <a:pt x="221234" y="91821"/>
                        <a:pt x="216154" y="94171"/>
                        <a:pt x="210947" y="96266"/>
                      </a:cubicBezTo>
                      <a:cubicBezTo>
                        <a:pt x="208915" y="97092"/>
                        <a:pt x="208407" y="98171"/>
                        <a:pt x="208407" y="100203"/>
                      </a:cubicBezTo>
                      <a:cubicBezTo>
                        <a:pt x="208470" y="130238"/>
                        <a:pt x="208407" y="160211"/>
                        <a:pt x="208407" y="190246"/>
                      </a:cubicBezTo>
                      <a:cubicBezTo>
                        <a:pt x="208407" y="197294"/>
                        <a:pt x="205613" y="200088"/>
                        <a:pt x="198564" y="200088"/>
                      </a:cubicBezTo>
                      <a:cubicBezTo>
                        <a:pt x="157670" y="200088"/>
                        <a:pt x="116840" y="200088"/>
                        <a:pt x="75946" y="200088"/>
                      </a:cubicBezTo>
                      <a:cubicBezTo>
                        <a:pt x="69151" y="200088"/>
                        <a:pt x="66230" y="197167"/>
                        <a:pt x="66230" y="190310"/>
                      </a:cubicBezTo>
                      <a:cubicBezTo>
                        <a:pt x="66230" y="160718"/>
                        <a:pt x="66230" y="131191"/>
                        <a:pt x="66294" y="101600"/>
                      </a:cubicBezTo>
                      <a:cubicBezTo>
                        <a:pt x="66294" y="98806"/>
                        <a:pt x="65532" y="97473"/>
                        <a:pt x="62928" y="96330"/>
                      </a:cubicBezTo>
                      <a:cubicBezTo>
                        <a:pt x="44386" y="88392"/>
                        <a:pt x="25908" y="80264"/>
                        <a:pt x="7366" y="72327"/>
                      </a:cubicBezTo>
                      <a:cubicBezTo>
                        <a:pt x="4127" y="70930"/>
                        <a:pt x="1460" y="69215"/>
                        <a:pt x="0" y="65913"/>
                      </a:cubicBezTo>
                      <a:lnTo>
                        <a:pt x="0" y="61659"/>
                      </a:lnTo>
                      <a:close/>
                      <a:moveTo>
                        <a:pt x="28511" y="63881"/>
                      </a:moveTo>
                      <a:cubicBezTo>
                        <a:pt x="29718" y="64453"/>
                        <a:pt x="30226" y="64706"/>
                        <a:pt x="30797" y="64961"/>
                      </a:cubicBezTo>
                      <a:cubicBezTo>
                        <a:pt x="65532" y="80073"/>
                        <a:pt x="100203" y="95186"/>
                        <a:pt x="135001" y="110173"/>
                      </a:cubicBezTo>
                      <a:cubicBezTo>
                        <a:pt x="136207" y="110680"/>
                        <a:pt x="137985" y="110554"/>
                        <a:pt x="139192" y="110046"/>
                      </a:cubicBezTo>
                      <a:cubicBezTo>
                        <a:pt x="173863" y="95060"/>
                        <a:pt x="208470" y="80010"/>
                        <a:pt x="243141" y="64961"/>
                      </a:cubicBezTo>
                      <a:cubicBezTo>
                        <a:pt x="243840" y="64643"/>
                        <a:pt x="244411" y="64262"/>
                        <a:pt x="245300" y="63817"/>
                      </a:cubicBezTo>
                      <a:cubicBezTo>
                        <a:pt x="244602" y="63436"/>
                        <a:pt x="244284" y="63246"/>
                        <a:pt x="243967" y="63119"/>
                      </a:cubicBezTo>
                      <a:cubicBezTo>
                        <a:pt x="209423" y="47879"/>
                        <a:pt x="174815" y="32639"/>
                        <a:pt x="140208" y="17526"/>
                      </a:cubicBezTo>
                      <a:cubicBezTo>
                        <a:pt x="139192" y="17081"/>
                        <a:pt x="137541" y="17145"/>
                        <a:pt x="136525" y="17590"/>
                      </a:cubicBezTo>
                      <a:cubicBezTo>
                        <a:pt x="104902" y="31115"/>
                        <a:pt x="73279" y="44641"/>
                        <a:pt x="41656" y="58230"/>
                      </a:cubicBezTo>
                      <a:cubicBezTo>
                        <a:pt x="37465" y="60071"/>
                        <a:pt x="33210" y="61849"/>
                        <a:pt x="28448" y="63944"/>
                      </a:cubicBezTo>
                      <a:close/>
                      <a:moveTo>
                        <a:pt x="82550" y="151765"/>
                      </a:moveTo>
                      <a:lnTo>
                        <a:pt x="192468" y="151765"/>
                      </a:lnTo>
                      <a:lnTo>
                        <a:pt x="192468" y="104521"/>
                      </a:lnTo>
                      <a:cubicBezTo>
                        <a:pt x="191389" y="104966"/>
                        <a:pt x="190500" y="105283"/>
                        <a:pt x="189611" y="105664"/>
                      </a:cubicBezTo>
                      <a:cubicBezTo>
                        <a:pt x="173609" y="112586"/>
                        <a:pt x="157670" y="119507"/>
                        <a:pt x="141732" y="126492"/>
                      </a:cubicBezTo>
                      <a:cubicBezTo>
                        <a:pt x="138493" y="127953"/>
                        <a:pt x="135572" y="127953"/>
                        <a:pt x="132270" y="126492"/>
                      </a:cubicBezTo>
                      <a:cubicBezTo>
                        <a:pt x="116649" y="119571"/>
                        <a:pt x="101028" y="112840"/>
                        <a:pt x="85344" y="106045"/>
                      </a:cubicBezTo>
                      <a:cubicBezTo>
                        <a:pt x="84455" y="105664"/>
                        <a:pt x="83566" y="105347"/>
                        <a:pt x="82550" y="104966"/>
                      </a:cubicBezTo>
                      <a:lnTo>
                        <a:pt x="82550" y="151702"/>
                      </a:lnTo>
                      <a:close/>
                      <a:moveTo>
                        <a:pt x="82613" y="183896"/>
                      </a:moveTo>
                      <a:lnTo>
                        <a:pt x="192468" y="183896"/>
                      </a:lnTo>
                      <a:lnTo>
                        <a:pt x="192468" y="168085"/>
                      </a:lnTo>
                      <a:lnTo>
                        <a:pt x="82613" y="168085"/>
                      </a:lnTo>
                      <a:lnTo>
                        <a:pt x="82613" y="1838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8" name="Полилиния: фигура 337">
                  <a:extLst>
                    <a:ext uri="{FF2B5EF4-FFF2-40B4-BE49-F238E27FC236}">
                      <a16:creationId xmlns="" xmlns:a16="http://schemas.microsoft.com/office/drawing/2014/main" id="{16722A59-A2FD-493A-9BC9-76FB8EEFCB90}"/>
                    </a:ext>
                  </a:extLst>
                </p:cNvPr>
                <p:cNvSpPr/>
                <p:nvPr/>
              </p:nvSpPr>
              <p:spPr>
                <a:xfrm>
                  <a:off x="4603677" y="5169350"/>
                  <a:ext cx="193795" cy="231007"/>
                </a:xfrm>
                <a:custGeom>
                  <a:avLst/>
                  <a:gdLst>
                    <a:gd name="connsiteX0" fmla="*/ 39062 w 193795"/>
                    <a:gd name="connsiteY0" fmla="*/ 65971 h 231007"/>
                    <a:gd name="connsiteX1" fmla="*/ 94370 w 193795"/>
                    <a:gd name="connsiteY1" fmla="*/ 58 h 231007"/>
                    <a:gd name="connsiteX2" fmla="*/ 126501 w 193795"/>
                    <a:gd name="connsiteY2" fmla="*/ 8503 h 231007"/>
                    <a:gd name="connsiteX3" fmla="*/ 148790 w 193795"/>
                    <a:gd name="connsiteY3" fmla="*/ 32951 h 231007"/>
                    <a:gd name="connsiteX4" fmla="*/ 154505 w 193795"/>
                    <a:gd name="connsiteY4" fmla="*/ 66034 h 231007"/>
                    <a:gd name="connsiteX5" fmla="*/ 157553 w 193795"/>
                    <a:gd name="connsiteY5" fmla="*/ 66034 h 231007"/>
                    <a:gd name="connsiteX6" fmla="*/ 179714 w 193795"/>
                    <a:gd name="connsiteY6" fmla="*/ 66034 h 231007"/>
                    <a:gd name="connsiteX7" fmla="*/ 187589 w 193795"/>
                    <a:gd name="connsiteY7" fmla="*/ 73654 h 231007"/>
                    <a:gd name="connsiteX8" fmla="*/ 192351 w 193795"/>
                    <a:gd name="connsiteY8" fmla="*/ 175381 h 231007"/>
                    <a:gd name="connsiteX9" fmla="*/ 193748 w 193795"/>
                    <a:gd name="connsiteY9" fmla="*/ 203194 h 231007"/>
                    <a:gd name="connsiteX10" fmla="*/ 172031 w 193795"/>
                    <a:gd name="connsiteY10" fmla="*/ 230816 h 231007"/>
                    <a:gd name="connsiteX11" fmla="*/ 168665 w 193795"/>
                    <a:gd name="connsiteY11" fmla="*/ 231007 h 231007"/>
                    <a:gd name="connsiteX12" fmla="*/ 25092 w 193795"/>
                    <a:gd name="connsiteY12" fmla="*/ 231007 h 231007"/>
                    <a:gd name="connsiteX13" fmla="*/ 9 w 193795"/>
                    <a:gd name="connsiteY13" fmla="*/ 205797 h 231007"/>
                    <a:gd name="connsiteX14" fmla="*/ 2168 w 193795"/>
                    <a:gd name="connsiteY14" fmla="*/ 157157 h 231007"/>
                    <a:gd name="connsiteX15" fmla="*/ 5089 w 193795"/>
                    <a:gd name="connsiteY15" fmla="*/ 96133 h 231007"/>
                    <a:gd name="connsiteX16" fmla="*/ 6105 w 193795"/>
                    <a:gd name="connsiteY16" fmla="*/ 73464 h 231007"/>
                    <a:gd name="connsiteX17" fmla="*/ 14107 w 193795"/>
                    <a:gd name="connsiteY17" fmla="*/ 66034 h 231007"/>
                    <a:gd name="connsiteX18" fmla="*/ 36268 w 193795"/>
                    <a:gd name="connsiteY18" fmla="*/ 66034 h 231007"/>
                    <a:gd name="connsiteX19" fmla="*/ 38998 w 193795"/>
                    <a:gd name="connsiteY19" fmla="*/ 66034 h 231007"/>
                    <a:gd name="connsiteX20" fmla="*/ 22298 w 193795"/>
                    <a:gd name="connsiteY20" fmla="*/ 82608 h 231007"/>
                    <a:gd name="connsiteX21" fmla="*/ 22107 w 193795"/>
                    <a:gd name="connsiteY21" fmla="*/ 85211 h 231007"/>
                    <a:gd name="connsiteX22" fmla="*/ 20901 w 193795"/>
                    <a:gd name="connsiteY22" fmla="*/ 111183 h 231007"/>
                    <a:gd name="connsiteX23" fmla="*/ 16456 w 193795"/>
                    <a:gd name="connsiteY23" fmla="*/ 203829 h 231007"/>
                    <a:gd name="connsiteX24" fmla="*/ 26616 w 193795"/>
                    <a:gd name="connsiteY24" fmla="*/ 214434 h 231007"/>
                    <a:gd name="connsiteX25" fmla="*/ 164982 w 193795"/>
                    <a:gd name="connsiteY25" fmla="*/ 214560 h 231007"/>
                    <a:gd name="connsiteX26" fmla="*/ 177111 w 193795"/>
                    <a:gd name="connsiteY26" fmla="*/ 201416 h 231007"/>
                    <a:gd name="connsiteX27" fmla="*/ 175142 w 193795"/>
                    <a:gd name="connsiteY27" fmla="*/ 162554 h 231007"/>
                    <a:gd name="connsiteX28" fmla="*/ 171840 w 193795"/>
                    <a:gd name="connsiteY28" fmla="*/ 92005 h 231007"/>
                    <a:gd name="connsiteX29" fmla="*/ 171332 w 193795"/>
                    <a:gd name="connsiteY29" fmla="*/ 82544 h 231007"/>
                    <a:gd name="connsiteX30" fmla="*/ 154505 w 193795"/>
                    <a:gd name="connsiteY30" fmla="*/ 82544 h 231007"/>
                    <a:gd name="connsiteX31" fmla="*/ 154505 w 193795"/>
                    <a:gd name="connsiteY31" fmla="*/ 90354 h 231007"/>
                    <a:gd name="connsiteX32" fmla="*/ 146377 w 193795"/>
                    <a:gd name="connsiteY32" fmla="*/ 98927 h 231007"/>
                    <a:gd name="connsiteX33" fmla="*/ 138058 w 193795"/>
                    <a:gd name="connsiteY33" fmla="*/ 90354 h 231007"/>
                    <a:gd name="connsiteX34" fmla="*/ 138058 w 193795"/>
                    <a:gd name="connsiteY34" fmla="*/ 82608 h 231007"/>
                    <a:gd name="connsiteX35" fmla="*/ 55572 w 193795"/>
                    <a:gd name="connsiteY35" fmla="*/ 82608 h 231007"/>
                    <a:gd name="connsiteX36" fmla="*/ 55572 w 193795"/>
                    <a:gd name="connsiteY36" fmla="*/ 90418 h 231007"/>
                    <a:gd name="connsiteX37" fmla="*/ 47380 w 193795"/>
                    <a:gd name="connsiteY37" fmla="*/ 98927 h 231007"/>
                    <a:gd name="connsiteX38" fmla="*/ 39062 w 193795"/>
                    <a:gd name="connsiteY38" fmla="*/ 90291 h 231007"/>
                    <a:gd name="connsiteX39" fmla="*/ 39062 w 193795"/>
                    <a:gd name="connsiteY39" fmla="*/ 82544 h 231007"/>
                    <a:gd name="connsiteX40" fmla="*/ 22234 w 193795"/>
                    <a:gd name="connsiteY40" fmla="*/ 82544 h 231007"/>
                    <a:gd name="connsiteX41" fmla="*/ 137868 w 193795"/>
                    <a:gd name="connsiteY41" fmla="*/ 65907 h 231007"/>
                    <a:gd name="connsiteX42" fmla="*/ 116532 w 193795"/>
                    <a:gd name="connsiteY42" fmla="*/ 21647 h 231007"/>
                    <a:gd name="connsiteX43" fmla="*/ 71574 w 193795"/>
                    <a:gd name="connsiteY43" fmla="*/ 25394 h 231007"/>
                    <a:gd name="connsiteX44" fmla="*/ 56016 w 193795"/>
                    <a:gd name="connsiteY44" fmla="*/ 65907 h 231007"/>
                    <a:gd name="connsiteX45" fmla="*/ 137868 w 193795"/>
                    <a:gd name="connsiteY45" fmla="*/ 65907 h 231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193795" h="231007">
                      <a:moveTo>
                        <a:pt x="39062" y="65971"/>
                      </a:moveTo>
                      <a:cubicBezTo>
                        <a:pt x="34807" y="32125"/>
                        <a:pt x="61223" y="1518"/>
                        <a:pt x="94370" y="58"/>
                      </a:cubicBezTo>
                      <a:cubicBezTo>
                        <a:pt x="105927" y="-451"/>
                        <a:pt x="116659" y="2407"/>
                        <a:pt x="126501" y="8503"/>
                      </a:cubicBezTo>
                      <a:cubicBezTo>
                        <a:pt x="136280" y="14472"/>
                        <a:pt x="143646" y="22727"/>
                        <a:pt x="148790" y="32951"/>
                      </a:cubicBezTo>
                      <a:cubicBezTo>
                        <a:pt x="153997" y="43301"/>
                        <a:pt x="155203" y="54350"/>
                        <a:pt x="154505" y="66034"/>
                      </a:cubicBezTo>
                      <a:cubicBezTo>
                        <a:pt x="155711" y="66034"/>
                        <a:pt x="156664" y="66034"/>
                        <a:pt x="157553" y="66034"/>
                      </a:cubicBezTo>
                      <a:cubicBezTo>
                        <a:pt x="164919" y="66034"/>
                        <a:pt x="172348" y="66034"/>
                        <a:pt x="179714" y="66034"/>
                      </a:cubicBezTo>
                      <a:cubicBezTo>
                        <a:pt x="183905" y="66034"/>
                        <a:pt x="187398" y="69527"/>
                        <a:pt x="187589" y="73654"/>
                      </a:cubicBezTo>
                      <a:cubicBezTo>
                        <a:pt x="189176" y="107563"/>
                        <a:pt x="190764" y="141472"/>
                        <a:pt x="192351" y="175381"/>
                      </a:cubicBezTo>
                      <a:cubicBezTo>
                        <a:pt x="192795" y="184652"/>
                        <a:pt x="193303" y="193923"/>
                        <a:pt x="193748" y="203194"/>
                      </a:cubicBezTo>
                      <a:cubicBezTo>
                        <a:pt x="194510" y="217735"/>
                        <a:pt x="186064" y="228467"/>
                        <a:pt x="172031" y="230816"/>
                      </a:cubicBezTo>
                      <a:cubicBezTo>
                        <a:pt x="170951" y="231007"/>
                        <a:pt x="169808" y="231007"/>
                        <a:pt x="168665" y="231007"/>
                      </a:cubicBezTo>
                      <a:cubicBezTo>
                        <a:pt x="120786" y="231007"/>
                        <a:pt x="72971" y="231007"/>
                        <a:pt x="25092" y="231007"/>
                      </a:cubicBezTo>
                      <a:cubicBezTo>
                        <a:pt x="10995" y="231007"/>
                        <a:pt x="-372" y="219895"/>
                        <a:pt x="9" y="205797"/>
                      </a:cubicBezTo>
                      <a:cubicBezTo>
                        <a:pt x="454" y="189541"/>
                        <a:pt x="1407" y="173349"/>
                        <a:pt x="2168" y="157157"/>
                      </a:cubicBezTo>
                      <a:cubicBezTo>
                        <a:pt x="3121" y="136836"/>
                        <a:pt x="4137" y="116453"/>
                        <a:pt x="5089" y="96133"/>
                      </a:cubicBezTo>
                      <a:cubicBezTo>
                        <a:pt x="5470" y="88577"/>
                        <a:pt x="5788" y="81020"/>
                        <a:pt x="6105" y="73464"/>
                      </a:cubicBezTo>
                      <a:cubicBezTo>
                        <a:pt x="6296" y="69336"/>
                        <a:pt x="9852" y="66034"/>
                        <a:pt x="14107" y="66034"/>
                      </a:cubicBezTo>
                      <a:cubicBezTo>
                        <a:pt x="21472" y="66034"/>
                        <a:pt x="28902" y="66034"/>
                        <a:pt x="36268" y="66034"/>
                      </a:cubicBezTo>
                      <a:cubicBezTo>
                        <a:pt x="37093" y="66034"/>
                        <a:pt x="37919" y="66034"/>
                        <a:pt x="38998" y="66034"/>
                      </a:cubicBezTo>
                      <a:close/>
                      <a:moveTo>
                        <a:pt x="22298" y="82608"/>
                      </a:moveTo>
                      <a:cubicBezTo>
                        <a:pt x="22234" y="83560"/>
                        <a:pt x="22171" y="84385"/>
                        <a:pt x="22107" y="85211"/>
                      </a:cubicBezTo>
                      <a:cubicBezTo>
                        <a:pt x="21726" y="93847"/>
                        <a:pt x="21345" y="102546"/>
                        <a:pt x="20901" y="111183"/>
                      </a:cubicBezTo>
                      <a:cubicBezTo>
                        <a:pt x="19440" y="142044"/>
                        <a:pt x="17916" y="172968"/>
                        <a:pt x="16456" y="203829"/>
                      </a:cubicBezTo>
                      <a:cubicBezTo>
                        <a:pt x="16139" y="211195"/>
                        <a:pt x="19250" y="214434"/>
                        <a:pt x="26616" y="214434"/>
                      </a:cubicBezTo>
                      <a:cubicBezTo>
                        <a:pt x="72717" y="214434"/>
                        <a:pt x="118882" y="214307"/>
                        <a:pt x="164982" y="214560"/>
                      </a:cubicBezTo>
                      <a:cubicBezTo>
                        <a:pt x="174444" y="214560"/>
                        <a:pt x="177873" y="210941"/>
                        <a:pt x="177111" y="201416"/>
                      </a:cubicBezTo>
                      <a:cubicBezTo>
                        <a:pt x="176095" y="188462"/>
                        <a:pt x="175777" y="175508"/>
                        <a:pt x="175142" y="162554"/>
                      </a:cubicBezTo>
                      <a:cubicBezTo>
                        <a:pt x="174063" y="139059"/>
                        <a:pt x="172983" y="115564"/>
                        <a:pt x="171840" y="92005"/>
                      </a:cubicBezTo>
                      <a:cubicBezTo>
                        <a:pt x="171714" y="88830"/>
                        <a:pt x="171459" y="85719"/>
                        <a:pt x="171332" y="82544"/>
                      </a:cubicBezTo>
                      <a:lnTo>
                        <a:pt x="154505" y="82544"/>
                      </a:lnTo>
                      <a:cubicBezTo>
                        <a:pt x="154505" y="85211"/>
                        <a:pt x="154505" y="87815"/>
                        <a:pt x="154505" y="90354"/>
                      </a:cubicBezTo>
                      <a:cubicBezTo>
                        <a:pt x="154441" y="95244"/>
                        <a:pt x="150949" y="98864"/>
                        <a:pt x="146377" y="98927"/>
                      </a:cubicBezTo>
                      <a:cubicBezTo>
                        <a:pt x="141678" y="98927"/>
                        <a:pt x="138122" y="95308"/>
                        <a:pt x="138058" y="90354"/>
                      </a:cubicBezTo>
                      <a:cubicBezTo>
                        <a:pt x="138058" y="87815"/>
                        <a:pt x="138058" y="85274"/>
                        <a:pt x="138058" y="82608"/>
                      </a:cubicBezTo>
                      <a:lnTo>
                        <a:pt x="55572" y="82608"/>
                      </a:lnTo>
                      <a:cubicBezTo>
                        <a:pt x="55572" y="85338"/>
                        <a:pt x="55572" y="87878"/>
                        <a:pt x="55572" y="90418"/>
                      </a:cubicBezTo>
                      <a:cubicBezTo>
                        <a:pt x="55508" y="95244"/>
                        <a:pt x="51952" y="98864"/>
                        <a:pt x="47380" y="98927"/>
                      </a:cubicBezTo>
                      <a:cubicBezTo>
                        <a:pt x="42682" y="98927"/>
                        <a:pt x="39126" y="95308"/>
                        <a:pt x="39062" y="90291"/>
                      </a:cubicBezTo>
                      <a:cubicBezTo>
                        <a:pt x="39062" y="87751"/>
                        <a:pt x="39062" y="85211"/>
                        <a:pt x="39062" y="82544"/>
                      </a:cubicBezTo>
                      <a:lnTo>
                        <a:pt x="22234" y="82544"/>
                      </a:lnTo>
                      <a:close/>
                      <a:moveTo>
                        <a:pt x="137868" y="65907"/>
                      </a:moveTo>
                      <a:cubicBezTo>
                        <a:pt x="140090" y="46984"/>
                        <a:pt x="132026" y="30284"/>
                        <a:pt x="116532" y="21647"/>
                      </a:cubicBezTo>
                      <a:cubicBezTo>
                        <a:pt x="102054" y="13583"/>
                        <a:pt x="84655" y="14980"/>
                        <a:pt x="71574" y="25394"/>
                      </a:cubicBezTo>
                      <a:cubicBezTo>
                        <a:pt x="57667" y="36507"/>
                        <a:pt x="54048" y="51683"/>
                        <a:pt x="56016" y="65907"/>
                      </a:cubicBezTo>
                      <a:lnTo>
                        <a:pt x="137868" y="6590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39" name="Полилиния: фигура 338">
              <a:extLst>
                <a:ext uri="{FF2B5EF4-FFF2-40B4-BE49-F238E27FC236}">
                  <a16:creationId xmlns="" xmlns:a16="http://schemas.microsoft.com/office/drawing/2014/main" id="{8D75A8D6-E683-4E10-AE59-F38DD1242A1B}"/>
                </a:ext>
              </a:extLst>
            </p:cNvPr>
            <p:cNvSpPr/>
            <p:nvPr/>
          </p:nvSpPr>
          <p:spPr>
            <a:xfrm>
              <a:off x="8619934" y="1803400"/>
              <a:ext cx="3120898" cy="4492498"/>
            </a:xfrm>
            <a:custGeom>
              <a:avLst/>
              <a:gdLst>
                <a:gd name="connsiteX0" fmla="*/ 3003931 w 3120898"/>
                <a:gd name="connsiteY0" fmla="*/ 0 h 4492498"/>
                <a:gd name="connsiteX1" fmla="*/ 3120899 w 3120898"/>
                <a:gd name="connsiteY1" fmla="*/ 116967 h 4492498"/>
                <a:gd name="connsiteX2" fmla="*/ 3120899 w 3120898"/>
                <a:gd name="connsiteY2" fmla="*/ 4375531 h 4492498"/>
                <a:gd name="connsiteX3" fmla="*/ 3003931 w 3120898"/>
                <a:gd name="connsiteY3" fmla="*/ 4492498 h 4492498"/>
                <a:gd name="connsiteX4" fmla="*/ 116967 w 3120898"/>
                <a:gd name="connsiteY4" fmla="*/ 4492498 h 4492498"/>
                <a:gd name="connsiteX5" fmla="*/ 0 w 3120898"/>
                <a:gd name="connsiteY5" fmla="*/ 4375531 h 4492498"/>
                <a:gd name="connsiteX6" fmla="*/ 0 w 3120898"/>
                <a:gd name="connsiteY6" fmla="*/ 116967 h 4492498"/>
                <a:gd name="connsiteX7" fmla="*/ 116967 w 3120898"/>
                <a:gd name="connsiteY7" fmla="*/ 0 h 449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0898" h="4492498">
                  <a:moveTo>
                    <a:pt x="3003931" y="0"/>
                  </a:moveTo>
                  <a:cubicBezTo>
                    <a:pt x="3068530" y="0"/>
                    <a:pt x="3120899" y="52368"/>
                    <a:pt x="3120899" y="116967"/>
                  </a:cubicBezTo>
                  <a:lnTo>
                    <a:pt x="3120899" y="4375531"/>
                  </a:lnTo>
                  <a:cubicBezTo>
                    <a:pt x="3120899" y="4440130"/>
                    <a:pt x="3068530" y="4492498"/>
                    <a:pt x="3003931" y="4492498"/>
                  </a:cubicBezTo>
                  <a:lnTo>
                    <a:pt x="116967" y="4492498"/>
                  </a:lnTo>
                  <a:cubicBezTo>
                    <a:pt x="52368" y="4492498"/>
                    <a:pt x="0" y="4440130"/>
                    <a:pt x="0" y="4375531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solidFill>
              <a:srgbClr val="FF83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37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4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625176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80138" y="3148500"/>
            <a:ext cx="38865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Разработка и реализация стратегии на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территории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ответственности.</a:t>
            </a:r>
            <a:endParaRPr lang="ru-RU" sz="17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375" name="TextBox 374"/>
          <p:cNvSpPr txBox="1"/>
          <p:nvPr/>
        </p:nvSpPr>
        <p:spPr>
          <a:xfrm>
            <a:off x="768096" y="3711952"/>
            <a:ext cx="4348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Обеспечение партнерских отношений </a:t>
            </a:r>
            <a:r>
              <a:rPr lang="ru-RU" sz="1400" dirty="0" smtClean="0"/>
              <a:t>с каждым </a:t>
            </a:r>
            <a:r>
              <a:rPr lang="ru-RU" sz="1400" dirty="0"/>
              <a:t>дистрибьютором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87103" y="8251450"/>
            <a:ext cx="2154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 smtClean="0"/>
              <a:t>Контроль присутствия </a:t>
            </a:r>
          </a:p>
          <a:p>
            <a:pPr algn="ctr"/>
            <a:r>
              <a:rPr lang="ru-RU" sz="1600" dirty="0" smtClean="0"/>
              <a:t>обязательных </a:t>
            </a:r>
            <a:r>
              <a:rPr lang="en-US" sz="1600" dirty="0" smtClean="0"/>
              <a:t>SKU</a:t>
            </a:r>
            <a:endParaRPr lang="ru-R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645102" y="1705076"/>
            <a:ext cx="496905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>
                <a:latin typeface="Calibri"/>
                <a:ea typeface="Calibri"/>
                <a:cs typeface="Calibri"/>
                <a:rtl val="0"/>
              </a:rPr>
              <a:t>СТРУКТУРА КОМАНДЫ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038729" y="1705076"/>
            <a:ext cx="698306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800" b="1" dirty="0" smtClean="0">
                <a:latin typeface="Calibri"/>
                <a:ea typeface="Calibri"/>
                <a:cs typeface="Calibri"/>
                <a:rtl val="0"/>
              </a:rPr>
              <a:t>ПРИНЦИП МАСШТАБИРОВАНИЯ</a:t>
            </a:r>
            <a:endParaRPr lang="ru-RU" sz="3800" b="1" dirty="0"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785052" y="3764053"/>
            <a:ext cx="4803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Рост </a:t>
            </a:r>
            <a:r>
              <a:rPr lang="ru-RU" dirty="0"/>
              <a:t>нашего присутствия на вашей территории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113853" y="5495049"/>
            <a:ext cx="41139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Каждые 120 активных торговых точек = </a:t>
            </a:r>
            <a:endParaRPr lang="ru-RU" dirty="0" smtClean="0"/>
          </a:p>
          <a:p>
            <a:pPr algn="ctr"/>
            <a:r>
              <a:rPr lang="ru-RU" dirty="0" smtClean="0"/>
              <a:t>+</a:t>
            </a:r>
            <a:r>
              <a:rPr lang="ru-RU" dirty="0"/>
              <a:t>1 ЭТП на вашей территории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682869" y="8263982"/>
            <a:ext cx="12984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Тренинги по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продукту </a:t>
            </a:r>
            <a:r>
              <a:rPr lang="ru-RU" sz="1600" dirty="0"/>
              <a:t>и </a:t>
            </a:r>
            <a:endParaRPr lang="ru-RU" sz="1600" dirty="0" smtClean="0"/>
          </a:p>
          <a:p>
            <a:pPr algn="ctr"/>
            <a:r>
              <a:rPr lang="ru-RU" sz="1600" dirty="0" smtClean="0"/>
              <a:t>продажам </a:t>
            </a:r>
            <a:endParaRPr lang="ru-RU" sz="16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33410" y="8255160"/>
            <a:ext cx="167142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600" dirty="0"/>
              <a:t>Контроль полки, </a:t>
            </a:r>
            <a:endParaRPr lang="ru-RU" sz="1600" dirty="0" smtClean="0"/>
          </a:p>
          <a:p>
            <a:pPr algn="ctr"/>
            <a:r>
              <a:rPr lang="ru-RU" sz="1600" dirty="0" smtClean="0"/>
              <a:t>установка </a:t>
            </a:r>
            <a:r>
              <a:rPr lang="en-US" sz="1600" dirty="0"/>
              <a:t>POS </a:t>
            </a:r>
            <a:endParaRPr lang="ru-RU" sz="1600" dirty="0" smtClean="0"/>
          </a:p>
          <a:p>
            <a:pPr algn="ctr"/>
            <a:r>
              <a:rPr lang="ru-RU" sz="1600" dirty="0" smtClean="0"/>
              <a:t>материалов</a:t>
            </a:r>
            <a:endParaRPr lang="ru-RU" sz="16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3170090" y="3919619"/>
            <a:ext cx="401244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НАЧНИТЕ РАБОТАТЬ </a:t>
            </a:r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 </a:t>
            </a:r>
            <a:r>
              <a:rPr lang="ru-RU" sz="2800" b="1" dirty="0">
                <a:solidFill>
                  <a:schemeClr val="bg1"/>
                </a:solidFill>
              </a:rPr>
              <a:t>ЭМПИЛС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–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НАША КОМАНДА ПОМОЖЕТ </a:t>
            </a: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ВАМ МАСШТАБИРОВАТЬ ПРОДАЖИ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4047" y="5530728"/>
            <a:ext cx="473202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Оперативное управление. Контроль отгрузок.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MML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. </a:t>
            </a:r>
            <a:r>
              <a:rPr lang="ru-RU" sz="1700" b="1" dirty="0" smtClean="0">
                <a:latin typeface="Calibri"/>
                <a:ea typeface="Calibri"/>
                <a:cs typeface="Calibri"/>
                <a:rtl val="0"/>
              </a:rPr>
              <a:t>Маркетинговые 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программы, аналитика</a:t>
            </a:r>
            <a:r>
              <a:rPr lang="ru-RU" sz="1700" b="1" dirty="0"/>
              <a:t>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15049" y="6120726"/>
            <a:ext cx="44545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Точка контакта для дистрибьютора </a:t>
            </a:r>
            <a:r>
              <a:rPr lang="ru-RU" sz="1400" dirty="0" smtClean="0"/>
              <a:t>на ежедневной </a:t>
            </a:r>
          </a:p>
          <a:p>
            <a:r>
              <a:rPr lang="ru-RU" sz="1400" dirty="0" smtClean="0"/>
              <a:t>основе</a:t>
            </a:r>
            <a:r>
              <a:rPr lang="ru-RU" sz="1400" dirty="0"/>
              <a:t>.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403359" y="7551892"/>
            <a:ext cx="379058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ЭТП – ЭКСКЛЮЗИВНЫЙ </a:t>
            </a:r>
          </a:p>
          <a:p>
            <a:r>
              <a:rPr lang="ru-RU" sz="2300" b="1" dirty="0">
                <a:solidFill>
                  <a:srgbClr val="FFFFFF"/>
                </a:solidFill>
                <a:latin typeface="Calibri"/>
                <a:ea typeface="Calibri"/>
                <a:cs typeface="Calibri"/>
                <a:rtl val="0"/>
              </a:rPr>
              <a:t>ТОРГОВЫЙ ПРЕДСТАВИТЕЛЬ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15049" y="8472115"/>
            <a:ext cx="469372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Полевая работа с АКБ. Визиты в РТТ, </a:t>
            </a:r>
          </a:p>
          <a:p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обучение ТП, выкладка, </a:t>
            </a:r>
            <a:r>
              <a:rPr lang="en-US" sz="1700" b="1" dirty="0">
                <a:latin typeface="Calibri"/>
                <a:ea typeface="Calibri"/>
                <a:cs typeface="Calibri"/>
                <a:rtl val="0"/>
              </a:rPr>
              <a:t>POS</a:t>
            </a:r>
            <a:r>
              <a:rPr lang="ru-RU" sz="1700" b="1" dirty="0">
                <a:latin typeface="Calibri"/>
                <a:ea typeface="Calibri"/>
                <a:cs typeface="Calibri"/>
                <a:rtl val="0"/>
              </a:rPr>
              <a:t>-материалы.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339406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6132769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>
                <a:sym typeface="Calibri"/>
              </a:rPr>
              <a:t>ТРЕЙД-МАРКЕТИНГ</a:t>
            </a:r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="" xmlns:a16="http://schemas.microsoft.com/office/drawing/2014/main" id="{65620B3C-AF6F-4AA9-BCE3-142A468FD9BD}"/>
              </a:ext>
            </a:extLst>
          </p:cNvPr>
          <p:cNvSpPr/>
          <p:nvPr/>
        </p:nvSpPr>
        <p:spPr>
          <a:xfrm>
            <a:off x="13538930" y="2768156"/>
            <a:ext cx="3978974" cy="6738747"/>
          </a:xfrm>
          <a:custGeom>
            <a:avLst/>
            <a:gdLst>
              <a:gd name="connsiteX0" fmla="*/ 2535682 w 2652649"/>
              <a:gd name="connsiteY0" fmla="*/ 0 h 4492498"/>
              <a:gd name="connsiteX1" fmla="*/ 2652649 w 2652649"/>
              <a:gd name="connsiteY1" fmla="*/ 116967 h 4492498"/>
              <a:gd name="connsiteX2" fmla="*/ 2652649 w 2652649"/>
              <a:gd name="connsiteY2" fmla="*/ 4375531 h 4492498"/>
              <a:gd name="connsiteX3" fmla="*/ 2535682 w 2652649"/>
              <a:gd name="connsiteY3" fmla="*/ 4492498 h 4492498"/>
              <a:gd name="connsiteX4" fmla="*/ 116967 w 2652649"/>
              <a:gd name="connsiteY4" fmla="*/ 4492498 h 4492498"/>
              <a:gd name="connsiteX5" fmla="*/ -1 w 2652649"/>
              <a:gd name="connsiteY5" fmla="*/ 4375531 h 4492498"/>
              <a:gd name="connsiteX6" fmla="*/ -1 w 2652649"/>
              <a:gd name="connsiteY6" fmla="*/ 116967 h 4492498"/>
              <a:gd name="connsiteX7" fmla="*/ 116967 w 2652649"/>
              <a:gd name="connsiteY7" fmla="*/ 0 h 449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4492498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4375531"/>
                </a:lnTo>
                <a:cubicBezTo>
                  <a:pt x="2652649" y="4440130"/>
                  <a:pt x="2600281" y="4492498"/>
                  <a:pt x="2535682" y="4492498"/>
                </a:cubicBezTo>
                <a:lnTo>
                  <a:pt x="116967" y="4492498"/>
                </a:lnTo>
                <a:cubicBezTo>
                  <a:pt x="52368" y="4492498"/>
                  <a:pt x="-1" y="4440130"/>
                  <a:pt x="-1" y="4375531"/>
                </a:cubicBezTo>
                <a:lnTo>
                  <a:pt x="-1" y="116967"/>
                </a:lnTo>
                <a:cubicBezTo>
                  <a:pt x="-1" y="52368"/>
                  <a:pt x="52368" y="0"/>
                  <a:pt x="116967" y="0"/>
                </a:cubicBezTo>
                <a:close/>
              </a:path>
            </a:pathLst>
          </a:custGeom>
          <a:solidFill>
            <a:srgbClr val="8C96A3"/>
          </a:solidFill>
          <a:ln w="6350" cap="flat">
            <a:noFill/>
            <a:prstDash val="solid"/>
            <a:miter/>
          </a:ln>
        </p:spPr>
        <p:txBody>
          <a:bodyPr lIns="137160" tIns="68580" rIns="137160" bIns="68580" rtlCol="0" anchor="ctr"/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Средняя доходность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rgbClr val="F18324"/>
                </a:solidFill>
              </a:rPr>
              <a:t>230 р/кг </a:t>
            </a:r>
          </a:p>
          <a:p>
            <a:pPr algn="ctr"/>
            <a:endParaRPr lang="ru-RU" sz="28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 Зарабатываем вместе</a:t>
            </a:r>
            <a:endParaRPr lang="ru-RU" sz="2400" b="1" dirty="0">
              <a:solidFill>
                <a:schemeClr val="bg1"/>
              </a:solidFill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735710" y="1910810"/>
            <a:ext cx="6199540" cy="723275"/>
            <a:chOff x="735710" y="1910810"/>
            <a:chExt cx="6199540" cy="723275"/>
          </a:xfrm>
        </p:grpSpPr>
        <p:sp>
          <p:nvSpPr>
            <p:cNvPr id="303" name="TextBox 302">
              <a:extLst>
                <a:ext uri="{FF2B5EF4-FFF2-40B4-BE49-F238E27FC236}">
                  <a16:creationId xmlns="" xmlns:a16="http://schemas.microsoft.com/office/drawing/2014/main" id="{701E903A-E436-4A72-BFE4-EEFEF95AF794}"/>
                </a:ext>
              </a:extLst>
            </p:cNvPr>
            <p:cNvSpPr txBox="1"/>
            <p:nvPr/>
          </p:nvSpPr>
          <p:spPr>
            <a:xfrm>
              <a:off x="735710" y="1910810"/>
              <a:ext cx="1185902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НАП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="" xmlns:a16="http://schemas.microsoft.com/office/drawing/2014/main" id="{EE738E97-52FD-4897-B40C-296EBA10DB35}"/>
                </a:ext>
              </a:extLst>
            </p:cNvPr>
            <p:cNvSpPr txBox="1"/>
            <p:nvPr/>
          </p:nvSpPr>
          <p:spPr>
            <a:xfrm>
              <a:off x="1624679" y="1910810"/>
              <a:ext cx="507831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225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="" xmlns:a16="http://schemas.microsoft.com/office/drawing/2014/main" id="{2168CFAF-8A8F-45B6-B5F9-BA88DB422517}"/>
                </a:ext>
              </a:extLst>
            </p:cNvPr>
            <p:cNvSpPr txBox="1"/>
            <p:nvPr/>
          </p:nvSpPr>
          <p:spPr>
            <a:xfrm>
              <a:off x="1851660" y="1910810"/>
              <a:ext cx="271035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АВЛЕНИЯ П</a:t>
              </a:r>
            </a:p>
          </p:txBody>
        </p:sp>
        <p:sp>
          <p:nvSpPr>
            <p:cNvPr id="306" name="TextBox 305">
              <a:extLst>
                <a:ext uri="{FF2B5EF4-FFF2-40B4-BE49-F238E27FC236}">
                  <a16:creationId xmlns="" xmlns:a16="http://schemas.microsoft.com/office/drawing/2014/main" id="{850EAC2A-731F-40BC-811C-FBA9A790ED1B}"/>
                </a:ext>
              </a:extLst>
            </p:cNvPr>
            <p:cNvSpPr txBox="1"/>
            <p:nvPr/>
          </p:nvSpPr>
          <p:spPr>
            <a:xfrm>
              <a:off x="4231100" y="1910810"/>
              <a:ext cx="598170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113" dirty="0"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307" name="TextBox 306">
              <a:extLst>
                <a:ext uri="{FF2B5EF4-FFF2-40B4-BE49-F238E27FC236}">
                  <a16:creationId xmlns="" xmlns:a16="http://schemas.microsoft.com/office/drawing/2014/main" id="{907CFB88-CB20-41CE-8FAF-62485B819E06}"/>
                </a:ext>
              </a:extLst>
            </p:cNvPr>
            <p:cNvSpPr txBox="1"/>
            <p:nvPr/>
          </p:nvSpPr>
          <p:spPr>
            <a:xfrm>
              <a:off x="4540566" y="1910810"/>
              <a:ext cx="1171475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ДДЕ</a:t>
              </a:r>
            </a:p>
          </p:txBody>
        </p:sp>
        <p:sp>
          <p:nvSpPr>
            <p:cNvPr id="308" name="TextBox 307">
              <a:extLst>
                <a:ext uri="{FF2B5EF4-FFF2-40B4-BE49-F238E27FC236}">
                  <a16:creationId xmlns="" xmlns:a16="http://schemas.microsoft.com/office/drawing/2014/main" id="{66C4D77D-CAFB-460E-A01F-1F27DA43D46D}"/>
                </a:ext>
              </a:extLst>
            </p:cNvPr>
            <p:cNvSpPr txBox="1"/>
            <p:nvPr/>
          </p:nvSpPr>
          <p:spPr>
            <a:xfrm>
              <a:off x="5413820" y="1910810"/>
              <a:ext cx="531495" cy="71818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spc="-38" dirty="0"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309" name="TextBox 308">
              <a:extLst>
                <a:ext uri="{FF2B5EF4-FFF2-40B4-BE49-F238E27FC236}">
                  <a16:creationId xmlns="" xmlns:a16="http://schemas.microsoft.com/office/drawing/2014/main" id="{5F421EDB-886A-420B-8684-7D2DC70F0294}"/>
                </a:ext>
              </a:extLst>
            </p:cNvPr>
            <p:cNvSpPr txBox="1"/>
            <p:nvPr/>
          </p:nvSpPr>
          <p:spPr>
            <a:xfrm>
              <a:off x="5661183" y="1910810"/>
              <a:ext cx="1274067" cy="7232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3800" b="1" dirty="0">
                  <a:latin typeface="Calibri"/>
                  <a:ea typeface="Calibri"/>
                  <a:cs typeface="Calibri"/>
                  <a:sym typeface="Calibri"/>
                  <a:rtl val="0"/>
                </a:rPr>
                <a:t>ЖКИ</a:t>
              </a:r>
            </a:p>
          </p:txBody>
        </p:sp>
      </p:grpSp>
      <p:sp>
        <p:nvSpPr>
          <p:cNvPr id="310" name="Полилиния: фигура 309">
            <a:extLst>
              <a:ext uri="{FF2B5EF4-FFF2-40B4-BE49-F238E27FC236}">
                <a16:creationId xmlns="" xmlns:a16="http://schemas.microsoft.com/office/drawing/2014/main" id="{6086477C-AE5C-4126-9C9E-CE1782823813}"/>
              </a:ext>
            </a:extLst>
          </p:cNvPr>
          <p:cNvSpPr/>
          <p:nvPr/>
        </p:nvSpPr>
        <p:spPr>
          <a:xfrm>
            <a:off x="9316022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1" name="Полилиния: фигура 310">
            <a:extLst>
              <a:ext uri="{FF2B5EF4-FFF2-40B4-BE49-F238E27FC236}">
                <a16:creationId xmlns="" xmlns:a16="http://schemas.microsoft.com/office/drawing/2014/main" id="{93AA7D34-95AB-42A9-B9D8-5A689EDD8CCC}"/>
              </a:ext>
            </a:extLst>
          </p:cNvPr>
          <p:cNvSpPr/>
          <p:nvPr/>
        </p:nvSpPr>
        <p:spPr>
          <a:xfrm>
            <a:off x="5093113" y="2768156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3" name="Группа 2"/>
          <p:cNvGrpSpPr/>
          <p:nvPr/>
        </p:nvGrpSpPr>
        <p:grpSpPr>
          <a:xfrm>
            <a:off x="870109" y="2768156"/>
            <a:ext cx="3978974" cy="2106453"/>
            <a:chOff x="870109" y="2768156"/>
            <a:chExt cx="3978974" cy="2106453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A333E499-EC05-4BD5-80B2-B1D962A94E5D}"/>
                </a:ext>
              </a:extLst>
            </p:cNvPr>
            <p:cNvSpPr txBox="1"/>
            <p:nvPr/>
          </p:nvSpPr>
          <p:spPr>
            <a:xfrm>
              <a:off x="1675733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32AB628B-BA31-40A9-BFA8-A48A45505227}"/>
                </a:ext>
              </a:extLst>
            </p:cNvPr>
            <p:cNvSpPr txBox="1"/>
            <p:nvPr/>
          </p:nvSpPr>
          <p:spPr>
            <a:xfrm>
              <a:off x="2470212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1C6D5489-200F-47A4-BAC1-3C4E04C249BB}"/>
                </a:ext>
              </a:extLst>
            </p:cNvPr>
            <p:cNvSpPr txBox="1"/>
            <p:nvPr/>
          </p:nvSpPr>
          <p:spPr>
            <a:xfrm>
              <a:off x="3055430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0AF062F6-9298-4AD1-ABCA-592F5E44FD1E}"/>
                </a:ext>
              </a:extLst>
            </p:cNvPr>
            <p:cNvSpPr txBox="1"/>
            <p:nvPr/>
          </p:nvSpPr>
          <p:spPr>
            <a:xfrm>
              <a:off x="4280058" y="3970020"/>
              <a:ext cx="33502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14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2" name="Полилиния: фигура 311">
              <a:extLst>
                <a:ext uri="{FF2B5EF4-FFF2-40B4-BE49-F238E27FC236}">
                  <a16:creationId xmlns="" xmlns:a16="http://schemas.microsoft.com/office/drawing/2014/main" id="{9667A68D-D598-487B-98E5-85AFFFEB6CBF}"/>
                </a:ext>
              </a:extLst>
            </p:cNvPr>
            <p:cNvSpPr/>
            <p:nvPr/>
          </p:nvSpPr>
          <p:spPr>
            <a:xfrm>
              <a:off x="870109" y="2768156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sp>
        <p:nvSpPr>
          <p:cNvPr id="313" name="Полилиния: фигура 312">
            <a:extLst>
              <a:ext uri="{FF2B5EF4-FFF2-40B4-BE49-F238E27FC236}">
                <a16:creationId xmlns="" xmlns:a16="http://schemas.microsoft.com/office/drawing/2014/main" id="{18CE31F2-0637-4B47-8816-1AA670D0B4A1}"/>
              </a:ext>
            </a:extLst>
          </p:cNvPr>
          <p:cNvSpPr/>
          <p:nvPr/>
        </p:nvSpPr>
        <p:spPr>
          <a:xfrm>
            <a:off x="9316022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sp>
        <p:nvSpPr>
          <p:cNvPr id="314" name="Полилиния: фигура 313">
            <a:extLst>
              <a:ext uri="{FF2B5EF4-FFF2-40B4-BE49-F238E27FC236}">
                <a16:creationId xmlns="" xmlns:a16="http://schemas.microsoft.com/office/drawing/2014/main" id="{A724A311-D566-4678-AA36-7CAB54D86274}"/>
              </a:ext>
            </a:extLst>
          </p:cNvPr>
          <p:cNvSpPr/>
          <p:nvPr/>
        </p:nvSpPr>
        <p:spPr>
          <a:xfrm>
            <a:off x="5093113" y="5084255"/>
            <a:ext cx="3978974" cy="2106453"/>
          </a:xfrm>
          <a:custGeom>
            <a:avLst/>
            <a:gdLst>
              <a:gd name="connsiteX0" fmla="*/ 2535682 w 2652649"/>
              <a:gd name="connsiteY0" fmla="*/ 0 h 1404302"/>
              <a:gd name="connsiteX1" fmla="*/ 2652649 w 2652649"/>
              <a:gd name="connsiteY1" fmla="*/ 116967 h 1404302"/>
              <a:gd name="connsiteX2" fmla="*/ 2652649 w 2652649"/>
              <a:gd name="connsiteY2" fmla="*/ 1287336 h 1404302"/>
              <a:gd name="connsiteX3" fmla="*/ 2535682 w 2652649"/>
              <a:gd name="connsiteY3" fmla="*/ 1404303 h 1404302"/>
              <a:gd name="connsiteX4" fmla="*/ 116967 w 2652649"/>
              <a:gd name="connsiteY4" fmla="*/ 1404303 h 1404302"/>
              <a:gd name="connsiteX5" fmla="*/ 0 w 2652649"/>
              <a:gd name="connsiteY5" fmla="*/ 1287336 h 1404302"/>
              <a:gd name="connsiteX6" fmla="*/ 0 w 2652649"/>
              <a:gd name="connsiteY6" fmla="*/ 116967 h 1404302"/>
              <a:gd name="connsiteX7" fmla="*/ 116967 w 2652649"/>
              <a:gd name="connsiteY7" fmla="*/ 0 h 1404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2649" h="1404302">
                <a:moveTo>
                  <a:pt x="2535682" y="0"/>
                </a:moveTo>
                <a:cubicBezTo>
                  <a:pt x="2600281" y="0"/>
                  <a:pt x="2652649" y="52368"/>
                  <a:pt x="2652649" y="116967"/>
                </a:cubicBezTo>
                <a:lnTo>
                  <a:pt x="2652649" y="1287336"/>
                </a:lnTo>
                <a:cubicBezTo>
                  <a:pt x="2652649" y="1351935"/>
                  <a:pt x="2600281" y="1404303"/>
                  <a:pt x="2535682" y="1404303"/>
                </a:cubicBezTo>
                <a:lnTo>
                  <a:pt x="116967" y="1404303"/>
                </a:lnTo>
                <a:cubicBezTo>
                  <a:pt x="52368" y="1404303"/>
                  <a:pt x="0" y="1351935"/>
                  <a:pt x="0" y="1287336"/>
                </a:cubicBezTo>
                <a:lnTo>
                  <a:pt x="0" y="116967"/>
                </a:lnTo>
                <a:cubicBezTo>
                  <a:pt x="0" y="52368"/>
                  <a:pt x="52368" y="0"/>
                  <a:pt x="116967" y="0"/>
                </a:cubicBezTo>
                <a:close/>
              </a:path>
            </a:pathLst>
          </a:custGeom>
          <a:noFill/>
          <a:ln w="12700" cap="flat">
            <a:solidFill>
              <a:srgbClr val="FF8300"/>
            </a:solidFill>
            <a:prstDash val="solid"/>
            <a:miter/>
          </a:ln>
        </p:spPr>
        <p:txBody>
          <a:bodyPr lIns="137160" tIns="68580" rIns="137160" bIns="68580" rtlCol="0" anchor="ctr"/>
          <a:lstStyle/>
          <a:p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870109" y="5084255"/>
            <a:ext cx="3978974" cy="2106453"/>
            <a:chOff x="870109" y="5084255"/>
            <a:chExt cx="3978974" cy="2106453"/>
          </a:xfrm>
        </p:grpSpPr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1453D32E-5ECC-4DA9-A443-52882AE5603C}"/>
                </a:ext>
              </a:extLst>
            </p:cNvPr>
            <p:cNvSpPr txBox="1"/>
            <p:nvPr/>
          </p:nvSpPr>
          <p:spPr>
            <a:xfrm>
              <a:off x="1717167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="" xmlns:a16="http://schemas.microsoft.com/office/drawing/2014/main" id="{579E2DD7-484A-4ED3-9D5F-C37D5486E8A1}"/>
                </a:ext>
              </a:extLst>
            </p:cNvPr>
            <p:cNvSpPr txBox="1"/>
            <p:nvPr/>
          </p:nvSpPr>
          <p:spPr>
            <a:xfrm>
              <a:off x="2195036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="" xmlns:a16="http://schemas.microsoft.com/office/drawing/2014/main" id="{CDE3800B-79B7-42CD-9746-ED2ECE379A2E}"/>
                </a:ext>
              </a:extLst>
            </p:cNvPr>
            <p:cNvSpPr txBox="1"/>
            <p:nvPr/>
          </p:nvSpPr>
          <p:spPr>
            <a:xfrm>
              <a:off x="3244214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="" xmlns:a16="http://schemas.microsoft.com/office/drawing/2014/main" id="{CFD69AC5-B4AC-4D1F-A6BE-A78E32832994}"/>
                </a:ext>
              </a:extLst>
            </p:cNvPr>
            <p:cNvSpPr txBox="1"/>
            <p:nvPr/>
          </p:nvSpPr>
          <p:spPr>
            <a:xfrm>
              <a:off x="4088700" y="6286119"/>
              <a:ext cx="361702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34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 </a:t>
              </a:r>
            </a:p>
          </p:txBody>
        </p:sp>
        <p:sp>
          <p:nvSpPr>
            <p:cNvPr id="315" name="Полилиния: фигура 314">
              <a:extLst>
                <a:ext uri="{FF2B5EF4-FFF2-40B4-BE49-F238E27FC236}">
                  <a16:creationId xmlns="" xmlns:a16="http://schemas.microsoft.com/office/drawing/2014/main" id="{ABE6BF83-99D1-4F62-AC8A-30B2A8F8FDCD}"/>
                </a:ext>
              </a:extLst>
            </p:cNvPr>
            <p:cNvSpPr/>
            <p:nvPr/>
          </p:nvSpPr>
          <p:spPr>
            <a:xfrm>
              <a:off x="870109" y="5084255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3 h 1404302"/>
                <a:gd name="connsiteX4" fmla="*/ 116967 w 2652649"/>
                <a:gd name="connsiteY4" fmla="*/ 1404303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3"/>
                    <a:pt x="2535682" y="1404303"/>
                  </a:cubicBezTo>
                  <a:lnTo>
                    <a:pt x="116967" y="1404303"/>
                  </a:lnTo>
                  <a:cubicBezTo>
                    <a:pt x="52368" y="1404303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3" name="Группа 322"/>
          <p:cNvGrpSpPr/>
          <p:nvPr/>
        </p:nvGrpSpPr>
        <p:grpSpPr>
          <a:xfrm>
            <a:off x="9316022" y="7400448"/>
            <a:ext cx="3978974" cy="2106453"/>
            <a:chOff x="9316022" y="7400448"/>
            <a:chExt cx="3978974" cy="2106453"/>
          </a:xfrm>
        </p:grpSpPr>
        <p:sp>
          <p:nvSpPr>
            <p:cNvPr id="232" name="TextBox 231">
              <a:extLst>
                <a:ext uri="{FF2B5EF4-FFF2-40B4-BE49-F238E27FC236}">
                  <a16:creationId xmlns="" xmlns:a16="http://schemas.microsoft.com/office/drawing/2014/main" id="{C9A0E7C2-36EF-4002-94C5-933A8B3AB3CD}"/>
                </a:ext>
              </a:extLst>
            </p:cNvPr>
            <p:cNvSpPr txBox="1"/>
            <p:nvPr/>
          </p:nvSpPr>
          <p:spPr>
            <a:xfrm>
              <a:off x="9551861" y="7483412"/>
              <a:ext cx="20364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="" xmlns:a16="http://schemas.microsoft.com/office/drawing/2014/main" id="{DB94B008-80F4-4F75-98E2-A3A363EB7907}"/>
                </a:ext>
              </a:extLst>
            </p:cNvPr>
            <p:cNvSpPr txBox="1"/>
            <p:nvPr/>
          </p:nvSpPr>
          <p:spPr>
            <a:xfrm>
              <a:off x="1129703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8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="" xmlns:a16="http://schemas.microsoft.com/office/drawing/2014/main" id="{15D48531-D304-4F78-A0BC-2E5BBD6B212B}"/>
                </a:ext>
              </a:extLst>
            </p:cNvPr>
            <p:cNvSpPr txBox="1"/>
            <p:nvPr/>
          </p:nvSpPr>
          <p:spPr>
            <a:xfrm>
              <a:off x="11499152" y="7483412"/>
              <a:ext cx="116014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АНИЕ</a:t>
              </a:r>
            </a:p>
          </p:txBody>
        </p:sp>
        <p:sp>
          <p:nvSpPr>
            <p:cNvPr id="235" name="TextBox 234">
              <a:extLst>
                <a:ext uri="{FF2B5EF4-FFF2-40B4-BE49-F238E27FC236}">
                  <a16:creationId xmlns="" xmlns:a16="http://schemas.microsoft.com/office/drawing/2014/main" id="{28DE0A5C-16BA-4B57-A851-54AD3CD4F567}"/>
                </a:ext>
              </a:extLst>
            </p:cNvPr>
            <p:cNvSpPr txBox="1"/>
            <p:nvPr/>
          </p:nvSpPr>
          <p:spPr>
            <a:xfrm>
              <a:off x="9551861" y="7835837"/>
              <a:ext cx="22078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И РЕКЛАМА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="" xmlns:a16="http://schemas.microsoft.com/office/drawing/2014/main" id="{575919C8-6EB1-4DB1-B486-8F70005A3BCB}"/>
                </a:ext>
              </a:extLst>
            </p:cNvPr>
            <p:cNvSpPr txBox="1"/>
            <p:nvPr/>
          </p:nvSpPr>
          <p:spPr>
            <a:xfrm>
              <a:off x="9393078" y="8602313"/>
              <a:ext cx="21412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Брендирование машин, 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="" xmlns:a16="http://schemas.microsoft.com/office/drawing/2014/main" id="{69023B5A-800B-4E02-8644-36DD6CF90267}"/>
                </a:ext>
              </a:extLst>
            </p:cNvPr>
            <p:cNvSpPr txBox="1"/>
            <p:nvPr/>
          </p:nvSpPr>
          <p:spPr>
            <a:xfrm>
              <a:off x="11237880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в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="" xmlns:a16="http://schemas.microsoft.com/office/drawing/2014/main" id="{9A3C7FFA-7653-4FEB-84F9-4DB3F51CD2D6}"/>
                </a:ext>
              </a:extLst>
            </p:cNvPr>
            <p:cNvSpPr txBox="1"/>
            <p:nvPr/>
          </p:nvSpPr>
          <p:spPr>
            <a:xfrm>
              <a:off x="11321700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х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="" xmlns:a16="http://schemas.microsoft.com/office/drawing/2014/main" id="{069FC4D2-9A4B-4897-8089-60EA5BCD02A6}"/>
                </a:ext>
              </a:extLst>
            </p:cNvPr>
            <p:cNvSpPr txBox="1"/>
            <p:nvPr/>
          </p:nvSpPr>
          <p:spPr>
            <a:xfrm>
              <a:off x="1139542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40" name="TextBox 239">
              <a:extLst>
                <a:ext uri="{FF2B5EF4-FFF2-40B4-BE49-F238E27FC236}">
                  <a16:creationId xmlns="" xmlns:a16="http://schemas.microsoft.com/office/drawing/2014/main" id="{D8F4FFE1-FDA5-4516-B044-D6C7B5F07320}"/>
                </a:ext>
              </a:extLst>
            </p:cNvPr>
            <p:cNvSpPr txBox="1"/>
            <p:nvPr/>
          </p:nvSpPr>
          <p:spPr>
            <a:xfrm>
              <a:off x="11483722" y="8602313"/>
              <a:ext cx="779144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дных г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="" xmlns:a16="http://schemas.microsoft.com/office/drawing/2014/main" id="{439D8E13-E4E7-4944-94ED-23B01B26BBFB}"/>
                </a:ext>
              </a:extLst>
            </p:cNvPr>
            <p:cNvSpPr txBox="1"/>
            <p:nvPr/>
          </p:nvSpPr>
          <p:spPr>
            <a:xfrm>
              <a:off x="11972162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2" name="TextBox 241">
              <a:extLst>
                <a:ext uri="{FF2B5EF4-FFF2-40B4-BE49-F238E27FC236}">
                  <a16:creationId xmlns="" xmlns:a16="http://schemas.microsoft.com/office/drawing/2014/main" id="{92DD24FE-66F9-4D4C-89EB-930D6B23C71A}"/>
                </a:ext>
              </a:extLst>
            </p:cNvPr>
            <p:cNvSpPr txBox="1"/>
            <p:nvPr/>
          </p:nvSpPr>
          <p:spPr>
            <a:xfrm>
              <a:off x="12063794" y="8602313"/>
              <a:ext cx="7124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упп в </a:t>
              </a:r>
            </a:p>
          </p:txBody>
        </p:sp>
        <p:sp>
          <p:nvSpPr>
            <p:cNvPr id="243" name="TextBox 242">
              <a:extLst>
                <a:ext uri="{FF2B5EF4-FFF2-40B4-BE49-F238E27FC236}">
                  <a16:creationId xmlns="" xmlns:a16="http://schemas.microsoft.com/office/drawing/2014/main" id="{F1387C4E-9B54-4C9A-829A-AB88E68C1467}"/>
                </a:ext>
              </a:extLst>
            </p:cNvPr>
            <p:cNvSpPr txBox="1"/>
            <p:nvPr/>
          </p:nvSpPr>
          <p:spPr>
            <a:xfrm>
              <a:off x="12492323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="" xmlns:a16="http://schemas.microsoft.com/office/drawing/2014/main" id="{D1369DDE-8CA3-4246-AF37-4BEE9F0FC65D}"/>
                </a:ext>
              </a:extLst>
            </p:cNvPr>
            <p:cNvSpPr txBox="1"/>
            <p:nvPr/>
          </p:nvSpPr>
          <p:spPr>
            <a:xfrm>
              <a:off x="12582333" y="8602313"/>
              <a:ext cx="36516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5" name="TextBox 244">
              <a:extLst>
                <a:ext uri="{FF2B5EF4-FFF2-40B4-BE49-F238E27FC236}">
                  <a16:creationId xmlns="" xmlns:a16="http://schemas.microsoft.com/office/drawing/2014/main" id="{F2835719-6ACC-4175-8BBF-6FF32C99151D}"/>
                </a:ext>
              </a:extLst>
            </p:cNvPr>
            <p:cNvSpPr txBox="1"/>
            <p:nvPr/>
          </p:nvSpPr>
          <p:spPr>
            <a:xfrm>
              <a:off x="12668439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1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46" name="TextBox 245">
              <a:extLst>
                <a:ext uri="{FF2B5EF4-FFF2-40B4-BE49-F238E27FC236}">
                  <a16:creationId xmlns="" xmlns:a16="http://schemas.microsoft.com/office/drawing/2014/main" id="{1D919295-9291-44FB-9806-A42324AA0508}"/>
                </a:ext>
              </a:extLst>
            </p:cNvPr>
            <p:cNvSpPr txBox="1"/>
            <p:nvPr/>
          </p:nvSpPr>
          <p:spPr>
            <a:xfrm>
              <a:off x="12739877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, 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="" xmlns:a16="http://schemas.microsoft.com/office/drawing/2014/main" id="{285D684A-3A3C-4964-8A99-CCE636AC0BB1}"/>
                </a:ext>
              </a:extLst>
            </p:cNvPr>
            <p:cNvSpPr txBox="1"/>
            <p:nvPr/>
          </p:nvSpPr>
          <p:spPr>
            <a:xfrm>
              <a:off x="9393078" y="8779097"/>
              <a:ext cx="18745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баннерная реклама. </a:t>
              </a:r>
            </a:p>
          </p:txBody>
        </p:sp>
        <p:sp>
          <p:nvSpPr>
            <p:cNvPr id="248" name="TextBox 247">
              <a:extLst>
                <a:ext uri="{FF2B5EF4-FFF2-40B4-BE49-F238E27FC236}">
                  <a16:creationId xmlns="" xmlns:a16="http://schemas.microsoft.com/office/drawing/2014/main" id="{F4F48E72-2E38-4A4C-B532-6B8C07109939}"/>
                </a:ext>
              </a:extLst>
            </p:cNvPr>
            <p:cNvSpPr txBox="1"/>
            <p:nvPr/>
          </p:nvSpPr>
          <p:spPr>
            <a:xfrm>
              <a:off x="10970990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="" xmlns:a16="http://schemas.microsoft.com/office/drawing/2014/main" id="{F72EFA76-2067-498D-9131-C3CBB0DE7AD5}"/>
                </a:ext>
              </a:extLst>
            </p:cNvPr>
            <p:cNvSpPr txBox="1"/>
            <p:nvPr/>
          </p:nvSpPr>
          <p:spPr>
            <a:xfrm>
              <a:off x="11059191" y="8779097"/>
              <a:ext cx="7029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знава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="" xmlns:a16="http://schemas.microsoft.com/office/drawing/2014/main" id="{29F88C65-6ED4-4C0A-B28E-78048643532A}"/>
                </a:ext>
              </a:extLst>
            </p:cNvPr>
            <p:cNvSpPr txBox="1"/>
            <p:nvPr/>
          </p:nvSpPr>
          <p:spPr>
            <a:xfrm>
              <a:off x="11482482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="" xmlns:a16="http://schemas.microsoft.com/office/drawing/2014/main" id="{F85A0460-CE13-4ECC-8A82-1C45FB061DEC}"/>
                </a:ext>
              </a:extLst>
            </p:cNvPr>
            <p:cNvSpPr txBox="1"/>
            <p:nvPr/>
          </p:nvSpPr>
          <p:spPr>
            <a:xfrm>
              <a:off x="11569350" y="8779097"/>
              <a:ext cx="769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мость.</a:t>
              </a:r>
            </a:p>
          </p:txBody>
        </p:sp>
        <p:sp>
          <p:nvSpPr>
            <p:cNvPr id="316" name="Полилиния: фигура 315">
              <a:extLst>
                <a:ext uri="{FF2B5EF4-FFF2-40B4-BE49-F238E27FC236}">
                  <a16:creationId xmlns="" xmlns:a16="http://schemas.microsoft.com/office/drawing/2014/main" id="{F0957C6D-6EC3-4A79-B17C-CEC3F3629A0A}"/>
                </a:ext>
              </a:extLst>
            </p:cNvPr>
            <p:cNvSpPr/>
            <p:nvPr/>
          </p:nvSpPr>
          <p:spPr>
            <a:xfrm>
              <a:off x="9316022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2" name="Группа 321"/>
          <p:cNvGrpSpPr/>
          <p:nvPr/>
        </p:nvGrpSpPr>
        <p:grpSpPr>
          <a:xfrm>
            <a:off x="5093113" y="7400448"/>
            <a:ext cx="3978974" cy="2106453"/>
            <a:chOff x="5093113" y="7400448"/>
            <a:chExt cx="3978974" cy="2106453"/>
          </a:xfrm>
        </p:grpSpPr>
        <p:sp>
          <p:nvSpPr>
            <p:cNvPr id="196" name="TextBox 195">
              <a:extLst>
                <a:ext uri="{FF2B5EF4-FFF2-40B4-BE49-F238E27FC236}">
                  <a16:creationId xmlns="" xmlns:a16="http://schemas.microsoft.com/office/drawing/2014/main" id="{B3C27CE3-E4EB-47DC-B090-F559DFA06F1A}"/>
                </a:ext>
              </a:extLst>
            </p:cNvPr>
            <p:cNvSpPr txBox="1"/>
            <p:nvPr/>
          </p:nvSpPr>
          <p:spPr>
            <a:xfrm>
              <a:off x="5328951" y="7483412"/>
              <a:ext cx="4838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87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="" xmlns:a16="http://schemas.microsoft.com/office/drawing/2014/main" id="{6022BFAD-DEBB-48EE-8C94-458B46D7A441}"/>
                </a:ext>
              </a:extLst>
            </p:cNvPr>
            <p:cNvSpPr txBox="1"/>
            <p:nvPr/>
          </p:nvSpPr>
          <p:spPr>
            <a:xfrm>
              <a:off x="5526881" y="7483412"/>
              <a:ext cx="261746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ОНТЕНТ И DIGI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="" xmlns:a16="http://schemas.microsoft.com/office/drawing/2014/main" id="{C362B678-6D3B-4488-A45D-547C29B70E84}"/>
                </a:ext>
              </a:extLst>
            </p:cNvPr>
            <p:cNvSpPr txBox="1"/>
            <p:nvPr/>
          </p:nvSpPr>
          <p:spPr>
            <a:xfrm>
              <a:off x="7854219" y="7483412"/>
              <a:ext cx="431465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3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="" xmlns:a16="http://schemas.microsoft.com/office/drawing/2014/main" id="{63F5FA7F-1684-493C-9B12-7FE1DF94971D}"/>
                </a:ext>
              </a:extLst>
            </p:cNvPr>
            <p:cNvSpPr txBox="1"/>
            <p:nvPr/>
          </p:nvSpPr>
          <p:spPr>
            <a:xfrm>
              <a:off x="8007572" y="7483412"/>
              <a:ext cx="65532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AL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="" xmlns:a16="http://schemas.microsoft.com/office/drawing/2014/main" id="{FAA2AAB0-2DE1-461F-B42B-C63130492FC5}"/>
                </a:ext>
              </a:extLst>
            </p:cNvPr>
            <p:cNvSpPr txBox="1"/>
            <p:nvPr/>
          </p:nvSpPr>
          <p:spPr>
            <a:xfrm>
              <a:off x="5170170" y="8602313"/>
              <a:ext cx="4267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М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="" xmlns:a16="http://schemas.microsoft.com/office/drawing/2014/main" id="{F7F5EEB2-D4A6-4E6D-972A-59075F93C909}"/>
                </a:ext>
              </a:extLst>
            </p:cNvPr>
            <p:cNvSpPr txBox="1"/>
            <p:nvPr/>
          </p:nvSpPr>
          <p:spPr>
            <a:xfrm>
              <a:off x="5321235" y="8602313"/>
              <a:ext cx="3600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="" xmlns:a16="http://schemas.microsoft.com/office/drawing/2014/main" id="{69F168E3-0EA0-4027-9158-6A5B5331D9F4}"/>
                </a:ext>
              </a:extLst>
            </p:cNvPr>
            <p:cNvSpPr txBox="1"/>
            <p:nvPr/>
          </p:nvSpPr>
          <p:spPr>
            <a:xfrm>
              <a:off x="5405438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="" xmlns:a16="http://schemas.microsoft.com/office/drawing/2014/main" id="{5A69BD93-2D32-4637-9B27-795ABA9A7CA7}"/>
                </a:ext>
              </a:extLst>
            </p:cNvPr>
            <p:cNvSpPr txBox="1"/>
            <p:nvPr/>
          </p:nvSpPr>
          <p:spPr>
            <a:xfrm>
              <a:off x="5472302" y="8602313"/>
              <a:ext cx="13887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ериалы для со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="" xmlns:a16="http://schemas.microsoft.com/office/drawing/2014/main" id="{140EC6C2-3259-4C1B-8382-AFF4AA9B15F8}"/>
                </a:ext>
              </a:extLst>
            </p:cNvPr>
            <p:cNvSpPr txBox="1"/>
            <p:nvPr/>
          </p:nvSpPr>
          <p:spPr>
            <a:xfrm>
              <a:off x="6561677" y="8602313"/>
              <a:ext cx="374783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ц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="" xmlns:a16="http://schemas.microsoft.com/office/drawing/2014/main" id="{0F98B46A-543E-42E9-A66C-89A14B1FACF3}"/>
                </a:ext>
              </a:extLst>
            </p:cNvPr>
            <p:cNvSpPr txBox="1"/>
            <p:nvPr/>
          </p:nvSpPr>
          <p:spPr>
            <a:xfrm>
              <a:off x="6655593" y="8602313"/>
              <a:ext cx="35052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с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="" xmlns:a16="http://schemas.microsoft.com/office/drawing/2014/main" id="{5256469C-5701-4B22-9ADB-CEC72473A0E4}"/>
                </a:ext>
              </a:extLst>
            </p:cNvPr>
            <p:cNvSpPr txBox="1"/>
            <p:nvPr/>
          </p:nvSpPr>
          <p:spPr>
            <a:xfrm>
              <a:off x="6730365" y="8602313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="" xmlns:a16="http://schemas.microsoft.com/office/drawing/2014/main" id="{CF876FE1-941A-491C-958C-84C96C77B9B0}"/>
                </a:ext>
              </a:extLst>
            </p:cNvPr>
            <p:cNvSpPr txBox="1"/>
            <p:nvPr/>
          </p:nvSpPr>
          <p:spPr>
            <a:xfrm>
              <a:off x="6817614" y="8602313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="" xmlns:a16="http://schemas.microsoft.com/office/drawing/2014/main" id="{0EBC3ADA-2B5C-4130-8686-65C7B3942525}"/>
                </a:ext>
              </a:extLst>
            </p:cNvPr>
            <p:cNvSpPr txBox="1"/>
            <p:nvPr/>
          </p:nvSpPr>
          <p:spPr>
            <a:xfrm>
              <a:off x="6884478" y="8602313"/>
              <a:ext cx="73385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ей, ви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="" xmlns:a16="http://schemas.microsoft.com/office/drawing/2014/main" id="{61396354-4000-4497-8704-FC0D8C5A39BE}"/>
                </a:ext>
              </a:extLst>
            </p:cNvPr>
            <p:cNvSpPr txBox="1"/>
            <p:nvPr/>
          </p:nvSpPr>
          <p:spPr>
            <a:xfrm>
              <a:off x="7332249" y="8602313"/>
              <a:ext cx="37909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="" xmlns:a16="http://schemas.microsoft.com/office/drawing/2014/main" id="{4C3C5790-3A9D-42A2-B577-383E50AA6B6F}"/>
                </a:ext>
              </a:extLst>
            </p:cNvPr>
            <p:cNvSpPr txBox="1"/>
            <p:nvPr/>
          </p:nvSpPr>
          <p:spPr>
            <a:xfrm>
              <a:off x="7429214" y="8602313"/>
              <a:ext cx="799578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еоинст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="" xmlns:a16="http://schemas.microsoft.com/office/drawing/2014/main" id="{5DF241B1-5282-49AA-A1F6-3DE297F801D4}"/>
                </a:ext>
              </a:extLst>
            </p:cNvPr>
            <p:cNvSpPr txBox="1"/>
            <p:nvPr/>
          </p:nvSpPr>
          <p:spPr>
            <a:xfrm>
              <a:off x="7943564" y="8602313"/>
              <a:ext cx="369570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="" xmlns:a16="http://schemas.microsoft.com/office/drawing/2014/main" id="{586A6BDC-D69F-430F-8999-6D2C61EFFB4E}"/>
                </a:ext>
              </a:extLst>
            </p:cNvPr>
            <p:cNvSpPr txBox="1"/>
            <p:nvPr/>
          </p:nvSpPr>
          <p:spPr>
            <a:xfrm>
              <a:off x="8035098" y="8602313"/>
              <a:ext cx="817245" cy="3562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укции, 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="" xmlns:a16="http://schemas.microsoft.com/office/drawing/2014/main" id="{3C782CB8-F753-4985-9523-16C8D480875A}"/>
                </a:ext>
              </a:extLst>
            </p:cNvPr>
            <p:cNvSpPr txBox="1"/>
            <p:nvPr/>
          </p:nvSpPr>
          <p:spPr>
            <a:xfrm>
              <a:off x="5170170" y="8779097"/>
              <a:ext cx="3886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ф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="" xmlns:a16="http://schemas.microsoft.com/office/drawing/2014/main" id="{C5C88EF3-9793-49DE-87F2-8FBB80F76B5F}"/>
                </a:ext>
              </a:extLst>
            </p:cNvPr>
            <p:cNvSpPr txBox="1"/>
            <p:nvPr/>
          </p:nvSpPr>
          <p:spPr>
            <a:xfrm>
              <a:off x="5280468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="" xmlns:a16="http://schemas.microsoft.com/office/drawing/2014/main" id="{55A8BB7D-EB69-4002-BFB1-BCB9E0C6F2F7}"/>
                </a:ext>
              </a:extLst>
            </p:cNvPr>
            <p:cNvSpPr txBox="1"/>
            <p:nvPr/>
          </p:nvSpPr>
          <p:spPr>
            <a:xfrm>
              <a:off x="5372385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="" xmlns:a16="http://schemas.microsoft.com/office/drawing/2014/main" id="{B2E2B3F6-A36D-426E-9EE7-05A1D9CEA20F}"/>
                </a:ext>
              </a:extLst>
            </p:cNvPr>
            <p:cNvSpPr txBox="1"/>
            <p:nvPr/>
          </p:nvSpPr>
          <p:spPr>
            <a:xfrm>
              <a:off x="5438776" y="8779097"/>
              <a:ext cx="1341119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 выкрасов. П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="" xmlns:a16="http://schemas.microsoft.com/office/drawing/2014/main" id="{CC1FDB71-53E1-44EE-B7C8-7987CE894222}"/>
                </a:ext>
              </a:extLst>
            </p:cNvPr>
            <p:cNvSpPr txBox="1"/>
            <p:nvPr/>
          </p:nvSpPr>
          <p:spPr>
            <a:xfrm>
              <a:off x="6480905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4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о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="" xmlns:a16="http://schemas.microsoft.com/office/drawing/2014/main" id="{A6107045-D8AF-4688-9CE4-528E5667292A}"/>
                </a:ext>
              </a:extLst>
            </p:cNvPr>
            <p:cNvSpPr txBox="1"/>
            <p:nvPr/>
          </p:nvSpPr>
          <p:spPr>
            <a:xfrm>
              <a:off x="6569106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="" xmlns:a16="http://schemas.microsoft.com/office/drawing/2014/main" id="{E626CE6D-0A84-4D42-AC90-2F252C4822FA}"/>
                </a:ext>
              </a:extLst>
            </p:cNvPr>
            <p:cNvSpPr txBox="1"/>
            <p:nvPr/>
          </p:nvSpPr>
          <p:spPr>
            <a:xfrm>
              <a:off x="6671882" y="8779097"/>
              <a:ext cx="379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д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="" xmlns:a16="http://schemas.microsoft.com/office/drawing/2014/main" id="{4CC5B6E2-B746-4CAB-95AE-7805E1C63EA3}"/>
                </a:ext>
              </a:extLst>
            </p:cNvPr>
            <p:cNvSpPr txBox="1"/>
            <p:nvPr/>
          </p:nvSpPr>
          <p:spPr>
            <a:xfrm>
              <a:off x="6768845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="" xmlns:a16="http://schemas.microsoft.com/office/drawing/2014/main" id="{1D201F9D-9B07-460D-A7F3-9DD93026D1AF}"/>
                </a:ext>
              </a:extLst>
            </p:cNvPr>
            <p:cNvSpPr txBox="1"/>
            <p:nvPr/>
          </p:nvSpPr>
          <p:spPr>
            <a:xfrm>
              <a:off x="6856761" y="8779097"/>
              <a:ext cx="36957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р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="" xmlns:a16="http://schemas.microsoft.com/office/drawing/2014/main" id="{D71E0676-D1DC-4EA0-A4F7-C5B856619A1A}"/>
                </a:ext>
              </a:extLst>
            </p:cNvPr>
            <p:cNvSpPr txBox="1"/>
            <p:nvPr/>
          </p:nvSpPr>
          <p:spPr>
            <a:xfrm>
              <a:off x="6948678" y="8779097"/>
              <a:ext cx="3981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ж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="" xmlns:a16="http://schemas.microsoft.com/office/drawing/2014/main" id="{F950CE5B-179C-4F12-863F-43F949A187B8}"/>
                </a:ext>
              </a:extLst>
            </p:cNvPr>
            <p:cNvSpPr txBox="1"/>
            <p:nvPr/>
          </p:nvSpPr>
          <p:spPr>
            <a:xfrm>
              <a:off x="7070502" y="8779097"/>
              <a:ext cx="36004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1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к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="" xmlns:a16="http://schemas.microsoft.com/office/drawing/2014/main" id="{5CCA7B22-2A48-4F00-88CF-B70555A2B863}"/>
                </a:ext>
              </a:extLst>
            </p:cNvPr>
            <p:cNvSpPr txBox="1"/>
            <p:nvPr/>
          </p:nvSpPr>
          <p:spPr>
            <a:xfrm>
              <a:off x="7149844" y="8779097"/>
              <a:ext cx="59759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 ин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="" xmlns:a16="http://schemas.microsoft.com/office/drawing/2014/main" id="{B315A279-040C-4344-A5A5-CC607F1336C3}"/>
                </a:ext>
              </a:extLst>
            </p:cNvPr>
            <p:cNvSpPr txBox="1"/>
            <p:nvPr/>
          </p:nvSpPr>
          <p:spPr>
            <a:xfrm>
              <a:off x="7464456" y="8779097"/>
              <a:ext cx="345929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="" xmlns:a16="http://schemas.microsoft.com/office/drawing/2014/main" id="{709C3D29-F354-469E-8403-646A89E36633}"/>
                </a:ext>
              </a:extLst>
            </p:cNvPr>
            <p:cNvSpPr txBox="1"/>
            <p:nvPr/>
          </p:nvSpPr>
          <p:spPr>
            <a:xfrm>
              <a:off x="7531416" y="8779097"/>
              <a:ext cx="557525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dirty="0" err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ерн</a:t>
              </a:r>
              <a:endPara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="" xmlns:a16="http://schemas.microsoft.com/office/drawing/2014/main" id="{0917C789-943C-4066-A46C-C4912A8ACA91}"/>
                </a:ext>
              </a:extLst>
            </p:cNvPr>
            <p:cNvSpPr txBox="1"/>
            <p:nvPr/>
          </p:nvSpPr>
          <p:spPr>
            <a:xfrm>
              <a:off x="7806689" y="8779097"/>
              <a:ext cx="366767" cy="353943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е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="" xmlns:a16="http://schemas.microsoft.com/office/drawing/2014/main" id="{30AFE5FA-1CC7-4A50-9FE0-EC06CD2B1DCC}"/>
                </a:ext>
              </a:extLst>
            </p:cNvPr>
            <p:cNvSpPr txBox="1"/>
            <p:nvPr/>
          </p:nvSpPr>
          <p:spPr>
            <a:xfrm>
              <a:off x="7893938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 spc="-28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="" xmlns:a16="http://schemas.microsoft.com/office/drawing/2014/main" id="{218446ED-9194-4FFC-B304-2DF7BF47EA2D}"/>
                </a:ext>
              </a:extLst>
            </p:cNvPr>
            <p:cNvSpPr txBox="1"/>
            <p:nvPr/>
          </p:nvSpPr>
          <p:spPr>
            <a:xfrm>
              <a:off x="7958898" y="8779097"/>
              <a:ext cx="541020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-ма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="" xmlns:a16="http://schemas.microsoft.com/office/drawing/2014/main" id="{3287B130-F252-4449-866B-CDCC9642E3B8}"/>
                </a:ext>
              </a:extLst>
            </p:cNvPr>
            <p:cNvSpPr txBox="1"/>
            <p:nvPr/>
          </p:nvSpPr>
          <p:spPr>
            <a:xfrm>
              <a:off x="8217216" y="8779097"/>
              <a:ext cx="3409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г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="" xmlns:a16="http://schemas.microsoft.com/office/drawing/2014/main" id="{7C481920-D356-4995-8595-85A0EB8E1AC5}"/>
                </a:ext>
              </a:extLst>
            </p:cNvPr>
            <p:cNvSpPr txBox="1"/>
            <p:nvPr/>
          </p:nvSpPr>
          <p:spPr>
            <a:xfrm>
              <a:off x="8277701" y="8779097"/>
              <a:ext cx="760095" cy="356234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азина.</a:t>
              </a:r>
            </a:p>
          </p:txBody>
        </p:sp>
        <p:sp>
          <p:nvSpPr>
            <p:cNvPr id="317" name="Полилиния: фигура 316">
              <a:extLst>
                <a:ext uri="{FF2B5EF4-FFF2-40B4-BE49-F238E27FC236}">
                  <a16:creationId xmlns="" xmlns:a16="http://schemas.microsoft.com/office/drawing/2014/main" id="{2298CCEE-0219-4BF8-A8F6-0B31070B8175}"/>
                </a:ext>
              </a:extLst>
            </p:cNvPr>
            <p:cNvSpPr/>
            <p:nvPr/>
          </p:nvSpPr>
          <p:spPr>
            <a:xfrm>
              <a:off x="5093113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grpSp>
        <p:nvGrpSpPr>
          <p:cNvPr id="321" name="Группа 320"/>
          <p:cNvGrpSpPr/>
          <p:nvPr/>
        </p:nvGrpSpPr>
        <p:grpSpPr>
          <a:xfrm>
            <a:off x="870109" y="7400448"/>
            <a:ext cx="3978974" cy="2106453"/>
            <a:chOff x="870109" y="7400448"/>
            <a:chExt cx="3978974" cy="2106453"/>
          </a:xfrm>
        </p:grpSpPr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D0413974-754D-4601-96D3-5DCBF6B40E03}"/>
                </a:ext>
              </a:extLst>
            </p:cNvPr>
            <p:cNvSpPr txBox="1"/>
            <p:nvPr/>
          </p:nvSpPr>
          <p:spPr>
            <a:xfrm>
              <a:off x="1105947" y="7483412"/>
              <a:ext cx="721995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PO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="" xmlns:a16="http://schemas.microsoft.com/office/drawing/2014/main" id="{234BE674-95A9-4836-BC7C-EB8808592B89}"/>
                </a:ext>
              </a:extLst>
            </p:cNvPr>
            <p:cNvSpPr txBox="1"/>
            <p:nvPr/>
          </p:nvSpPr>
          <p:spPr>
            <a:xfrm>
              <a:off x="1550955" y="7483412"/>
              <a:ext cx="453329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="" xmlns:a16="http://schemas.microsoft.com/office/drawing/2014/main" id="{C710BA10-02E4-4599-82D3-0EECCC051992}"/>
                </a:ext>
              </a:extLst>
            </p:cNvPr>
            <p:cNvSpPr txBox="1"/>
            <p:nvPr/>
          </p:nvSpPr>
          <p:spPr>
            <a:xfrm>
              <a:off x="1723548" y="7483412"/>
              <a:ext cx="712470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-М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="" xmlns:a16="http://schemas.microsoft.com/office/drawing/2014/main" id="{3E682EA0-2679-4170-9B1A-3243E34589F7}"/>
                </a:ext>
              </a:extLst>
            </p:cNvPr>
            <p:cNvSpPr txBox="1"/>
            <p:nvPr/>
          </p:nvSpPr>
          <p:spPr>
            <a:xfrm>
              <a:off x="2158079" y="7483412"/>
              <a:ext cx="476990" cy="58477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 spc="-203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="" xmlns:a16="http://schemas.microsoft.com/office/drawing/2014/main" id="{EDAC0522-6C12-45C8-96D3-6342B9C8657B}"/>
                </a:ext>
              </a:extLst>
            </p:cNvPr>
            <p:cNvSpPr txBox="1"/>
            <p:nvPr/>
          </p:nvSpPr>
          <p:spPr>
            <a:xfrm>
              <a:off x="2356009" y="7483412"/>
              <a:ext cx="1836419" cy="584835"/>
            </a:xfrm>
            <a:prstGeom prst="rect">
              <a:avLst/>
            </a:prstGeom>
            <a:noFill/>
          </p:spPr>
          <p:txBody>
            <a:bodyPr wrap="none" lIns="137160" tIns="68580" rIns="137160" bIns="68580" rtlCol="0">
              <a:spAutoFit/>
            </a:bodyPr>
            <a:lstStyle/>
            <a:p>
              <a:pPr algn="l"/>
              <a:r>
                <a:rPr lang="ru-RU" sz="2900" b="1">
                  <a:solidFill>
                    <a:srgbClr val="FF830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ТЕРИАЛЫ</a:t>
              </a:r>
            </a:p>
          </p:txBody>
        </p:sp>
        <p:sp>
          <p:nvSpPr>
            <p:cNvPr id="318" name="Полилиния: фигура 317">
              <a:extLst>
                <a:ext uri="{FF2B5EF4-FFF2-40B4-BE49-F238E27FC236}">
                  <a16:creationId xmlns="" xmlns:a16="http://schemas.microsoft.com/office/drawing/2014/main" id="{E1B152BE-A4C3-481D-BD3F-D376D6633220}"/>
                </a:ext>
              </a:extLst>
            </p:cNvPr>
            <p:cNvSpPr/>
            <p:nvPr/>
          </p:nvSpPr>
          <p:spPr>
            <a:xfrm>
              <a:off x="870109" y="7400448"/>
              <a:ext cx="3978974" cy="2106453"/>
            </a:xfrm>
            <a:custGeom>
              <a:avLst/>
              <a:gdLst>
                <a:gd name="connsiteX0" fmla="*/ 2535682 w 2652649"/>
                <a:gd name="connsiteY0" fmla="*/ 0 h 1404302"/>
                <a:gd name="connsiteX1" fmla="*/ 2652649 w 2652649"/>
                <a:gd name="connsiteY1" fmla="*/ 116967 h 1404302"/>
                <a:gd name="connsiteX2" fmla="*/ 2652649 w 2652649"/>
                <a:gd name="connsiteY2" fmla="*/ 1287336 h 1404302"/>
                <a:gd name="connsiteX3" fmla="*/ 2535682 w 2652649"/>
                <a:gd name="connsiteY3" fmla="*/ 1404302 h 1404302"/>
                <a:gd name="connsiteX4" fmla="*/ 116967 w 2652649"/>
                <a:gd name="connsiteY4" fmla="*/ 1404302 h 1404302"/>
                <a:gd name="connsiteX5" fmla="*/ 0 w 2652649"/>
                <a:gd name="connsiteY5" fmla="*/ 1287336 h 1404302"/>
                <a:gd name="connsiteX6" fmla="*/ 0 w 2652649"/>
                <a:gd name="connsiteY6" fmla="*/ 116967 h 1404302"/>
                <a:gd name="connsiteX7" fmla="*/ 116967 w 2652649"/>
                <a:gd name="connsiteY7" fmla="*/ 0 h 1404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52649" h="1404302">
                  <a:moveTo>
                    <a:pt x="2535682" y="0"/>
                  </a:moveTo>
                  <a:cubicBezTo>
                    <a:pt x="2600281" y="0"/>
                    <a:pt x="2652649" y="52368"/>
                    <a:pt x="2652649" y="116967"/>
                  </a:cubicBezTo>
                  <a:lnTo>
                    <a:pt x="2652649" y="1287336"/>
                  </a:lnTo>
                  <a:cubicBezTo>
                    <a:pt x="2652649" y="1351935"/>
                    <a:pt x="2600281" y="1404302"/>
                    <a:pt x="2535682" y="1404302"/>
                  </a:cubicBezTo>
                  <a:lnTo>
                    <a:pt x="116967" y="1404302"/>
                  </a:lnTo>
                  <a:cubicBezTo>
                    <a:pt x="52368" y="1404302"/>
                    <a:pt x="0" y="1351935"/>
                    <a:pt x="0" y="1287336"/>
                  </a:cubicBezTo>
                  <a:lnTo>
                    <a:pt x="0" y="116967"/>
                  </a:lnTo>
                  <a:cubicBezTo>
                    <a:pt x="0" y="52368"/>
                    <a:pt x="52368" y="0"/>
                    <a:pt x="116967" y="0"/>
                  </a:cubicBezTo>
                  <a:close/>
                </a:path>
              </a:pathLst>
            </a:custGeom>
            <a:noFill/>
            <a:ln w="12700" cap="flat">
              <a:solidFill>
                <a:srgbClr val="FF8300"/>
              </a:solidFill>
              <a:prstDash val="solid"/>
              <a:miter/>
            </a:ln>
          </p:spPr>
          <p:txBody>
            <a:bodyPr lIns="137160" tIns="68580" rIns="137160" bIns="68580" rtlCol="0" anchor="ctr"/>
            <a:lstStyle/>
            <a:p>
              <a:endParaRPr lang="ru-RU"/>
            </a:p>
          </p:txBody>
        </p:sp>
      </p:grpSp>
      <p:pic>
        <p:nvPicPr>
          <p:cNvPr id="32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138924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411896" y="2802305"/>
            <a:ext cx="367743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ОТСРОЧКА ПЛАТЕЖА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5228709" y="6270543"/>
            <a:ext cx="2723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Бонусная продукция </a:t>
            </a: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бесплатно. </a:t>
            </a: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Стимулирует  увеличение заказа.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960051" y="8596179"/>
            <a:ext cx="35076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каталоги,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шелфтокеры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воблеры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ценникодержатели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r>
              <a:rPr lang="ru-RU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планограммы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, </a:t>
            </a:r>
            <a:endParaRPr lang="ru-RU" sz="1400" dirty="0" smtClean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баннеры </a:t>
            </a:r>
            <a:r>
              <a:rPr lang="ru-RU" sz="1400" dirty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– бесплатно.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119" y="3773861"/>
            <a:ext cx="3568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Конкурсы и премии для ТП </a:t>
            </a:r>
            <a:endParaRPr lang="en-US" sz="1600" dirty="0" smtClean="0"/>
          </a:p>
          <a:p>
            <a:r>
              <a:rPr lang="ru-RU" sz="1600" dirty="0" smtClean="0"/>
              <a:t>дистрибьютора за активные продажи. </a:t>
            </a:r>
            <a:endParaRPr lang="en-US" sz="1600" dirty="0" smtClean="0"/>
          </a:p>
          <a:p>
            <a:r>
              <a:rPr lang="ru-RU" sz="1600" dirty="0" smtClean="0"/>
              <a:t>Призы, бонусы за </a:t>
            </a:r>
            <a:r>
              <a:rPr lang="en-US" sz="1600" dirty="0" smtClean="0"/>
              <a:t>KPI.</a:t>
            </a:r>
            <a:endParaRPr lang="ru-RU" sz="1600" dirty="0"/>
          </a:p>
        </p:txBody>
      </p:sp>
      <p:sp>
        <p:nvSpPr>
          <p:cNvPr id="254" name="TextBox 253"/>
          <p:cNvSpPr txBox="1"/>
          <p:nvPr/>
        </p:nvSpPr>
        <p:spPr>
          <a:xfrm>
            <a:off x="5348523" y="3773542"/>
            <a:ext cx="3147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Программы лояльности для РТТ:</a:t>
            </a:r>
            <a:br>
              <a:rPr lang="ru-RU" sz="1600" dirty="0" smtClean="0"/>
            </a:br>
            <a:r>
              <a:rPr lang="ru-RU" sz="1600" dirty="0" smtClean="0"/>
              <a:t>накопительные бонусы, призы за </a:t>
            </a:r>
          </a:p>
          <a:p>
            <a:r>
              <a:rPr lang="ru-RU" sz="1600" dirty="0"/>
              <a:t>в</a:t>
            </a:r>
            <a:r>
              <a:rPr lang="ru-RU" sz="1600" dirty="0" smtClean="0"/>
              <a:t>ыкладку, рейтинги. </a:t>
            </a:r>
            <a:endParaRPr lang="ru-RU" sz="1600" dirty="0"/>
          </a:p>
        </p:txBody>
      </p:sp>
      <p:sp>
        <p:nvSpPr>
          <p:cNvPr id="255" name="TextBox 254"/>
          <p:cNvSpPr txBox="1"/>
          <p:nvPr/>
        </p:nvSpPr>
        <p:spPr>
          <a:xfrm>
            <a:off x="9381058" y="3764586"/>
            <a:ext cx="381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Гибкий подход к предоставляемой </a:t>
            </a:r>
          </a:p>
          <a:p>
            <a:r>
              <a:rPr lang="ru-RU" sz="1600" dirty="0" smtClean="0"/>
              <a:t>отсрочке,  направленный на реализацию </a:t>
            </a:r>
          </a:p>
          <a:p>
            <a:r>
              <a:rPr lang="ru-RU" sz="1600" dirty="0" smtClean="0"/>
              <a:t>стратегии компании.</a:t>
            </a:r>
            <a:endParaRPr lang="ru-RU" sz="1600" dirty="0"/>
          </a:p>
        </p:txBody>
      </p:sp>
      <p:sp>
        <p:nvSpPr>
          <p:cNvPr id="256" name="TextBox 255"/>
          <p:cNvSpPr txBox="1"/>
          <p:nvPr/>
        </p:nvSpPr>
        <p:spPr>
          <a:xfrm>
            <a:off x="5333915" y="2798219"/>
            <a:ext cx="295176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РОЗНИЦЫ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067205" y="2779348"/>
            <a:ext cx="295176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МОТИВАЦИЯ ТП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030050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ЖЕЛТЫЙ ЦЕННИК </a:t>
            </a:r>
          </a:p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И СПЕЦЦЕНЫ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067205" y="6135524"/>
            <a:ext cx="32059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Снижение цены на полке на </a:t>
            </a:r>
          </a:p>
          <a:p>
            <a:r>
              <a:rPr lang="ru-RU" sz="1600" dirty="0" smtClean="0"/>
              <a:t>ключевые </a:t>
            </a:r>
            <a:r>
              <a:rPr lang="en-US" sz="1600" dirty="0" smtClean="0"/>
              <a:t>SKU.</a:t>
            </a:r>
            <a:r>
              <a:rPr lang="ru-RU" sz="1600" dirty="0" smtClean="0"/>
              <a:t> Сезонное ценовое </a:t>
            </a:r>
          </a:p>
          <a:p>
            <a:r>
              <a:rPr lang="ru-RU" sz="1600" dirty="0" smtClean="0"/>
              <a:t>продвижение.</a:t>
            </a:r>
            <a:endParaRPr lang="ru-RU" sz="1600" dirty="0"/>
          </a:p>
        </p:txBody>
      </p:sp>
      <p:sp>
        <p:nvSpPr>
          <p:cNvPr id="262" name="TextBox 261"/>
          <p:cNvSpPr txBox="1"/>
          <p:nvPr/>
        </p:nvSpPr>
        <p:spPr>
          <a:xfrm>
            <a:off x="5246385" y="5097903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АКЦИИ «ПОДАРОК ЗА ПОКУПКУ»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9489368" y="5102277"/>
            <a:ext cx="369196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b="1" dirty="0" smtClean="0">
                <a:solidFill>
                  <a:srgbClr val="FF8300"/>
                </a:solidFill>
                <a:latin typeface="Calibri"/>
                <a:ea typeface="Calibri"/>
                <a:cs typeface="Calibri"/>
                <a:rtl val="0"/>
              </a:rPr>
              <a:t>ОБУЧЕНИЕ И МОТИВАЦИЯ ТП</a:t>
            </a:r>
            <a:endParaRPr lang="ru-RU" sz="2900" b="1" dirty="0">
              <a:solidFill>
                <a:srgbClr val="FF8300"/>
              </a:solidFill>
              <a:latin typeface="Calibri"/>
              <a:ea typeface="Calibri"/>
              <a:cs typeface="Calibri"/>
              <a:rtl val="0"/>
            </a:endParaRPr>
          </a:p>
        </p:txBody>
      </p:sp>
      <p:sp>
        <p:nvSpPr>
          <p:cNvPr id="265" name="TextBox 264"/>
          <p:cNvSpPr txBox="1"/>
          <p:nvPr/>
        </p:nvSpPr>
        <p:spPr>
          <a:xfrm>
            <a:off x="9567816" y="6289412"/>
            <a:ext cx="3173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Тренинги по продукту. Мастер-классы. </a:t>
            </a:r>
            <a:b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</a:br>
            <a:r>
              <a:rPr lang="ru-RU" sz="140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Сравнительные </a:t>
            </a:r>
            <a:r>
              <a:rPr lang="ru-RU" sz="140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rtl val="0"/>
              </a:rPr>
              <a:t>выкрасы</a:t>
            </a:r>
            <a:endParaRPr lang="ru-RU" sz="1400" dirty="0">
              <a:solidFill>
                <a:srgbClr val="000000"/>
              </a:solidFill>
              <a:latin typeface="Calibri"/>
              <a:ea typeface="Calibri"/>
              <a:cs typeface="Calibri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34453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390459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МАРКЕТИНГ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65702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19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3" t="22132" r="16903" b="21173"/>
          <a:stretch/>
        </p:blipFill>
        <p:spPr bwMode="auto">
          <a:xfrm>
            <a:off x="8704659" y="5519920"/>
            <a:ext cx="3707686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12792889" y="5519920"/>
            <a:ext cx="3748259" cy="434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2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1021" y="5519922"/>
            <a:ext cx="3301249" cy="434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868" y="3941934"/>
            <a:ext cx="3819525" cy="721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>
                <a:latin typeface="Inter Regular" panose="02000503000000020004" pitchFamily="2" charset="0"/>
              </a:rPr>
              <a:t>Работа с </a:t>
            </a:r>
            <a:r>
              <a:rPr lang="ru-RU" altLang="ru-RU" sz="2200" dirty="0" err="1">
                <a:latin typeface="Inter Regular" panose="02000503000000020004" pitchFamily="2" charset="0"/>
              </a:rPr>
              <a:t>блогером</a:t>
            </a:r>
            <a:r>
              <a:rPr lang="ru-RU" altLang="ru-RU" sz="2200" dirty="0">
                <a:latin typeface="Inter Regular" panose="02000503000000020004" pitchFamily="2" charset="0"/>
              </a:rPr>
              <a:t> / </a:t>
            </a:r>
            <a:r>
              <a:rPr lang="ru-RU" altLang="ru-RU" sz="2200" dirty="0" err="1">
                <a:latin typeface="Inter Regular" panose="02000503000000020004" pitchFamily="2" charset="0"/>
              </a:rPr>
              <a:t>инфлюенсером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31" y="1924050"/>
            <a:ext cx="10946162" cy="55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 dirty="0" smtClean="0">
                <a:solidFill>
                  <a:srgbClr val="F18324"/>
                </a:solidFill>
                <a:latin typeface="Inter Extra Bold" panose="02000903000000020004" pitchFamily="2" charset="0"/>
              </a:rPr>
              <a:t>Системный подход</a:t>
            </a:r>
            <a:endParaRPr lang="ru-RU" altLang="ru-RU" sz="3800" dirty="0">
              <a:solidFill>
                <a:srgbClr val="F18324"/>
              </a:solidFill>
              <a:latin typeface="Inter Extra Bold" panose="02000903000000020004" pitchFamily="2" charset="0"/>
            </a:endParaRPr>
          </a:p>
        </p:txBody>
      </p:sp>
      <p:sp>
        <p:nvSpPr>
          <p:cNvPr id="1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1382" y="2785167"/>
            <a:ext cx="4369766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Имиджевые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видеоролики,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видеопортфолио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объектов.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1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045" y="2729451"/>
            <a:ext cx="4276021" cy="112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2400" dirty="0"/>
              <a:t>Event </a:t>
            </a:r>
            <a:r>
              <a:rPr lang="ru-RU" sz="2400" dirty="0"/>
              <a:t>маркетинг:</a:t>
            </a:r>
            <a:br>
              <a:rPr lang="ru-RU" sz="2400" dirty="0"/>
            </a:br>
            <a:r>
              <a:rPr lang="ru-RU" sz="2400" dirty="0"/>
              <a:t>участие в выставках, мастер-классы</a:t>
            </a:r>
          </a:p>
        </p:txBody>
      </p:sp>
      <p:sp>
        <p:nvSpPr>
          <p:cNvPr id="1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591" y="4019291"/>
            <a:ext cx="4295775" cy="744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Контент: фото/видео </a:t>
            </a:r>
            <a:r>
              <a:rPr lang="en-US" sz="2200" dirty="0" err="1">
                <a:latin typeface="Inter Regular" panose="02000503000000020004" pitchFamily="2" charset="0"/>
              </a:rPr>
              <a:t>POSm</a:t>
            </a:r>
            <a:r>
              <a:rPr lang="en-US" sz="2200" dirty="0">
                <a:latin typeface="Inter Regular" panose="02000503000000020004" pitchFamily="2" charset="0"/>
              </a:rPr>
              <a:t> </a:t>
            </a:r>
            <a:r>
              <a:rPr lang="ru-RU" sz="2200" dirty="0" smtClean="0">
                <a:latin typeface="Inter Regular" panose="02000503000000020004" pitchFamily="2" charset="0"/>
              </a:rPr>
              <a:t>на облаке для дистрибьютора</a:t>
            </a:r>
            <a:endParaRPr lang="ru-RU" sz="2200" dirty="0">
              <a:latin typeface="Inter Regular" panose="02000503000000020004" pitchFamily="2" charset="0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874731" y="2878368"/>
            <a:ext cx="11188949" cy="1405263"/>
            <a:chOff x="1190837" y="4644674"/>
            <a:chExt cx="6516332" cy="857951"/>
          </a:xfrm>
        </p:grpSpPr>
        <p:pic>
          <p:nvPicPr>
            <p:cNvPr id="19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4409" y="5357152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7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9584" y="4662396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561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5037" y="540986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8180" y="4659355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854" name="Picture 38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4459625" y="5519923"/>
            <a:ext cx="4057810" cy="434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315" y="2781451"/>
            <a:ext cx="4844278" cy="1106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sz="2200" dirty="0" smtClean="0">
                <a:latin typeface="Inter Regular" panose="02000503000000020004" pitchFamily="2" charset="0"/>
              </a:rPr>
              <a:t>Реклама в интернете:</a:t>
            </a:r>
            <a:br>
              <a:rPr lang="ru-RU" sz="2200" dirty="0" smtClean="0">
                <a:latin typeface="Inter Regular" panose="02000503000000020004" pitchFamily="2" charset="0"/>
              </a:rPr>
            </a:br>
            <a:r>
              <a:rPr lang="ru-RU" sz="2200" dirty="0" smtClean="0">
                <a:latin typeface="Inter Regular" panose="02000503000000020004" pitchFamily="2" charset="0"/>
              </a:rPr>
              <a:t>Яндекс </a:t>
            </a:r>
            <a:r>
              <a:rPr lang="ru-RU" sz="2200" dirty="0" err="1" smtClean="0">
                <a:latin typeface="Inter Regular" panose="02000503000000020004" pitchFamily="2" charset="0"/>
              </a:rPr>
              <a:t>Директ</a:t>
            </a:r>
            <a:r>
              <a:rPr lang="ru-RU" sz="2200" dirty="0" smtClean="0">
                <a:latin typeface="Inter Regular" panose="02000503000000020004" pitchFamily="2" charset="0"/>
              </a:rPr>
              <a:t> (поиск </a:t>
            </a:r>
            <a:r>
              <a:rPr lang="ru-RU" sz="2200" dirty="0">
                <a:latin typeface="Inter Regular" panose="02000503000000020004" pitchFamily="2" charset="0"/>
              </a:rPr>
              <a:t>+ р</a:t>
            </a:r>
            <a:r>
              <a:rPr lang="ru-RU" sz="2200" dirty="0" smtClean="0">
                <a:latin typeface="Inter Regular" panose="02000503000000020004" pitchFamily="2" charset="0"/>
              </a:rPr>
              <a:t>екламная сеть Яндекса)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693" y="3921486"/>
            <a:ext cx="3819525" cy="1494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en-US" altLang="ru-RU" sz="2200" dirty="0" smtClean="0">
                <a:latin typeface="Inter Regular" panose="02000503000000020004" pitchFamily="2" charset="0"/>
              </a:rPr>
              <a:t>POS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материалы на полке:</a:t>
            </a:r>
          </a:p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 dirty="0" err="1" smtClean="0">
                <a:latin typeface="Inter Regular" panose="02000503000000020004" pitchFamily="2" charset="0"/>
              </a:rPr>
              <a:t>выкрасы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шелфтокеры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воблеры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, </a:t>
            </a:r>
            <a:r>
              <a:rPr lang="ru-RU" altLang="ru-RU" sz="2200" dirty="0" err="1" smtClean="0">
                <a:latin typeface="Inter Regular" panose="02000503000000020004" pitchFamily="2" charset="0"/>
              </a:rPr>
              <a:t>брендированные</a:t>
            </a:r>
            <a:r>
              <a:rPr lang="ru-RU" altLang="ru-RU" sz="2200" dirty="0" smtClean="0">
                <a:latin typeface="Inter Regular" panose="02000503000000020004" pitchFamily="2" charset="0"/>
              </a:rPr>
              <a:t> ценники </a:t>
            </a:r>
            <a:endParaRPr lang="ru-RU" altLang="ru-RU" sz="2200" dirty="0">
              <a:latin typeface="Inter Regula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68075" y="2048674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409019" y="6496337"/>
            <a:ext cx="7875171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2AEBF2A-A13C-425A-AD77-43AA55CF4B3A}"/>
              </a:ext>
            </a:extLst>
          </p:cNvPr>
          <p:cNvSpPr txBox="1"/>
          <p:nvPr/>
        </p:nvSpPr>
        <p:spPr>
          <a:xfrm>
            <a:off x="728661" y="480155"/>
            <a:ext cx="5180585" cy="815608"/>
          </a:xfrm>
          <a:prstGeom prst="rect">
            <a:avLst/>
          </a:prstGeom>
          <a:noFill/>
        </p:spPr>
        <p:txBody>
          <a:bodyPr wrap="none" lIns="137160" tIns="68580" rIns="137160" bIns="68580" rtlCol="0">
            <a:spAutoFit/>
          </a:bodyPr>
          <a:lstStyle>
            <a:defPPr>
              <a:defRPr lang="ru-RU"/>
            </a:defPPr>
            <a:lvl1pPr>
              <a:defRPr sz="4400" b="1">
                <a:solidFill>
                  <a:srgbClr val="656565"/>
                </a:solidFill>
                <a:latin typeface="Inter Extra Bold" panose="02000903000000020004" pitchFamily="2" charset="0"/>
              </a:defRPr>
            </a:lvl1pPr>
          </a:lstStyle>
          <a:p>
            <a:r>
              <a:rPr lang="ru-RU" dirty="0" smtClean="0">
                <a:sym typeface="Calibri"/>
              </a:rPr>
              <a:t>ОБОРУДОВАНИЕ</a:t>
            </a:r>
            <a:endParaRPr lang="ru-RU" dirty="0">
              <a:sym typeface="Calibri"/>
            </a:endParaRPr>
          </a:p>
        </p:txBody>
      </p:sp>
      <p:pic>
        <p:nvPicPr>
          <p:cNvPr id="5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8445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74519"/>
              </p:ext>
            </p:extLst>
          </p:nvPr>
        </p:nvGraphicFramePr>
        <p:xfrm>
          <a:off x="14295438" y="6350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9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6350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9942" y="2156347"/>
            <a:ext cx="4786376" cy="7186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2"/>
          <p:cNvSpPr txBox="1">
            <a:spLocks/>
          </p:cNvSpPr>
          <p:nvPr/>
        </p:nvSpPr>
        <p:spPr>
          <a:xfrm>
            <a:off x="657585" y="6537298"/>
            <a:ext cx="8219256" cy="2688608"/>
          </a:xfrm>
          <a:prstGeom prst="rect">
            <a:avLst/>
          </a:prstGeom>
        </p:spPr>
        <p:txBody>
          <a:bodyPr>
            <a:norm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b="1" dirty="0">
                <a:latin typeface="Calibri" panose="020F0502020204030204" pitchFamily="34" charset="0"/>
                <a:cs typeface="Arial" panose="020B0604020202020204" pitchFamily="34" charset="0"/>
              </a:rPr>
              <a:t>Рекомендованный объем колеровки в месяц</a:t>
            </a:r>
            <a:r>
              <a:rPr lang="ru-RU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ru-RU" sz="2800" b="1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100" dirty="0" smtClean="0"/>
              <a:t>«N</a:t>
            </a:r>
            <a:r>
              <a:rPr lang="en-US" sz="2100" dirty="0" err="1" smtClean="0"/>
              <a:t>ew</a:t>
            </a:r>
            <a:r>
              <a:rPr lang="ru-RU" sz="2100" dirty="0" smtClean="0"/>
              <a:t>T</a:t>
            </a:r>
            <a:r>
              <a:rPr lang="en-US" sz="2100" dirty="0" smtClean="0"/>
              <a:t>one</a:t>
            </a:r>
            <a:r>
              <a:rPr lang="ru-RU" sz="2100" dirty="0" smtClean="0"/>
              <a:t>» </a:t>
            </a:r>
          </a:p>
          <a:p>
            <a:pPr marL="0" indent="0">
              <a:buNone/>
            </a:pPr>
            <a:r>
              <a:rPr lang="ru-RU" sz="2100" dirty="0" smtClean="0"/>
              <a:t>                                    1 500 кг.</a:t>
            </a:r>
          </a:p>
          <a:p>
            <a:pPr marL="0" indent="0">
              <a:buNone/>
            </a:pPr>
            <a:r>
              <a:rPr lang="ru-RU" sz="2100" dirty="0" smtClean="0"/>
              <a:t>«</a:t>
            </a:r>
            <a:r>
              <a:rPr lang="en-US" sz="2100" dirty="0" err="1" smtClean="0"/>
              <a:t>AvantGarde</a:t>
            </a:r>
            <a:r>
              <a:rPr lang="ru-RU" sz="2100" dirty="0" smtClean="0"/>
              <a:t>»                                   2 000 кг.      </a:t>
            </a:r>
          </a:p>
          <a:p>
            <a:pPr marL="0" indent="0">
              <a:buNone/>
            </a:pPr>
            <a:endParaRPr lang="ru-RU" sz="2100" dirty="0"/>
          </a:p>
          <a:p>
            <a:pPr marL="0" indent="0">
              <a:buNone/>
            </a:pPr>
            <a:r>
              <a:rPr lang="ru-RU" sz="2100" dirty="0" smtClean="0"/>
              <a:t>«ОРЕОЛ».</a:t>
            </a:r>
          </a:p>
          <a:p>
            <a:pPr marL="0" indent="0">
              <a:buNone/>
            </a:pPr>
            <a:endParaRPr lang="ru-RU" sz="2400" dirty="0" smtClean="0"/>
          </a:p>
          <a:p>
            <a:endParaRPr lang="ru-RU" sz="2400" dirty="0"/>
          </a:p>
        </p:txBody>
      </p:sp>
      <p:sp>
        <p:nvSpPr>
          <p:cNvPr id="12" name="Правая фигурная скобка 11"/>
          <p:cNvSpPr/>
          <p:nvPr/>
        </p:nvSpPr>
        <p:spPr>
          <a:xfrm>
            <a:off x="2552050" y="7190102"/>
            <a:ext cx="155448" cy="946004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3" name="Правая фигурная скобка 12"/>
          <p:cNvSpPr/>
          <p:nvPr/>
        </p:nvSpPr>
        <p:spPr>
          <a:xfrm>
            <a:off x="4097393" y="7196433"/>
            <a:ext cx="155448" cy="1852051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92D050"/>
              </a:solidFill>
            </a:endParaRP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715013" y="2607077"/>
            <a:ext cx="10134956" cy="1773846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 smtClean="0"/>
              <a:t>Обучение персонала</a:t>
            </a:r>
            <a:endParaRPr lang="ru-RU" sz="2400" dirty="0" smtClean="0"/>
          </a:p>
          <a:p>
            <a:r>
              <a:rPr lang="ru-RU" sz="2400" b="1" dirty="0" smtClean="0"/>
              <a:t>Сервисное обслуживание</a:t>
            </a:r>
          </a:p>
          <a:p>
            <a:r>
              <a:rPr lang="ru-RU" sz="2400" b="1" dirty="0" smtClean="0"/>
              <a:t>Условная плата 700 рублей в месяц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742308" y="2087326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latin typeface="+mn-lt"/>
                <a:cs typeface="+mn-cs"/>
              </a:rPr>
              <a:t>Эмпилс</a:t>
            </a:r>
            <a:r>
              <a:rPr lang="ru-RU" sz="2800" b="1" dirty="0" smtClean="0">
                <a:latin typeface="+mn-lt"/>
                <a:cs typeface="+mn-cs"/>
              </a:rPr>
              <a:t> </a:t>
            </a:r>
            <a:r>
              <a:rPr lang="ru-RU" sz="2800" b="1" dirty="0">
                <a:latin typeface="+mn-lt"/>
                <a:cs typeface="+mn-cs"/>
              </a:rPr>
              <a:t>предоставляет </a:t>
            </a:r>
            <a:r>
              <a:rPr lang="ru-RU" sz="2800" b="1" dirty="0" err="1">
                <a:latin typeface="+mn-lt"/>
                <a:cs typeface="+mn-cs"/>
              </a:rPr>
              <a:t>колеровочное</a:t>
            </a:r>
            <a:r>
              <a:rPr lang="ru-RU" sz="2800" b="1" dirty="0">
                <a:latin typeface="+mn-lt"/>
                <a:cs typeface="+mn-cs"/>
              </a:rPr>
              <a:t> </a:t>
            </a:r>
            <a:r>
              <a:rPr lang="ru-RU" sz="2800" b="1" dirty="0" smtClean="0">
                <a:latin typeface="+mn-lt"/>
                <a:cs typeface="+mn-cs"/>
              </a:rPr>
              <a:t>оборудование </a:t>
            </a:r>
            <a:r>
              <a:rPr lang="en-US" sz="2800" b="1" dirty="0">
                <a:latin typeface="+mn-lt"/>
                <a:cs typeface="+mn-cs"/>
              </a:rPr>
              <a:t>COROB D180</a:t>
            </a:r>
            <a:r>
              <a:rPr lang="ru-RU" sz="2800" b="1" dirty="0">
                <a:latin typeface="+mn-lt"/>
                <a:cs typeface="+mn-cs"/>
              </a:rPr>
              <a:t> </a:t>
            </a:r>
          </a:p>
        </p:txBody>
      </p:sp>
      <p:sp>
        <p:nvSpPr>
          <p:cNvPr id="17" name="Полилиния: фигура 27">
            <a:extLst>
              <a:ext uri="{FF2B5EF4-FFF2-40B4-BE49-F238E27FC236}">
                <a16:creationId xmlns="" xmlns:a16="http://schemas.microsoft.com/office/drawing/2014/main" id="{5023D9AB-D031-447E-AC08-2A2FF6F96267}"/>
              </a:ext>
            </a:extLst>
          </p:cNvPr>
          <p:cNvSpPr/>
          <p:nvPr/>
        </p:nvSpPr>
        <p:spPr>
          <a:xfrm>
            <a:off x="340780" y="4521193"/>
            <a:ext cx="10795793" cy="575520"/>
          </a:xfrm>
          <a:custGeom>
            <a:avLst/>
            <a:gdLst>
              <a:gd name="connsiteX0" fmla="*/ 2012696 w 2231326"/>
              <a:gd name="connsiteY0" fmla="*/ 0 h 462152"/>
              <a:gd name="connsiteX1" fmla="*/ 2231326 w 2231326"/>
              <a:gd name="connsiteY1" fmla="*/ 218630 h 462152"/>
              <a:gd name="connsiteX2" fmla="*/ 2231326 w 2231326"/>
              <a:gd name="connsiteY2" fmla="*/ 243522 h 462152"/>
              <a:gd name="connsiteX3" fmla="*/ 2012696 w 2231326"/>
              <a:gd name="connsiteY3" fmla="*/ 462153 h 462152"/>
              <a:gd name="connsiteX4" fmla="*/ 218630 w 2231326"/>
              <a:gd name="connsiteY4" fmla="*/ 462153 h 462152"/>
              <a:gd name="connsiteX5" fmla="*/ 0 w 2231326"/>
              <a:gd name="connsiteY5" fmla="*/ 243522 h 462152"/>
              <a:gd name="connsiteX6" fmla="*/ 0 w 2231326"/>
              <a:gd name="connsiteY6" fmla="*/ 218630 h 462152"/>
              <a:gd name="connsiteX7" fmla="*/ 218630 w 2231326"/>
              <a:gd name="connsiteY7" fmla="*/ 0 h 462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31326" h="462152">
                <a:moveTo>
                  <a:pt x="2012696" y="0"/>
                </a:moveTo>
                <a:cubicBezTo>
                  <a:pt x="2133442" y="0"/>
                  <a:pt x="2231326" y="97884"/>
                  <a:pt x="2231326" y="218630"/>
                </a:cubicBezTo>
                <a:lnTo>
                  <a:pt x="2231326" y="243522"/>
                </a:lnTo>
                <a:cubicBezTo>
                  <a:pt x="2231326" y="364268"/>
                  <a:pt x="2133442" y="462153"/>
                  <a:pt x="2012696" y="462153"/>
                </a:cubicBezTo>
                <a:lnTo>
                  <a:pt x="218630" y="462153"/>
                </a:lnTo>
                <a:cubicBezTo>
                  <a:pt x="97884" y="462153"/>
                  <a:pt x="0" y="364268"/>
                  <a:pt x="0" y="243522"/>
                </a:cubicBezTo>
                <a:lnTo>
                  <a:pt x="0" y="218630"/>
                </a:lnTo>
                <a:cubicBezTo>
                  <a:pt x="0" y="97884"/>
                  <a:pt x="97884" y="0"/>
                  <a:pt x="218630" y="0"/>
                </a:cubicBezTo>
                <a:close/>
              </a:path>
            </a:pathLst>
          </a:custGeom>
          <a:solidFill>
            <a:srgbClr val="FF83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715013" y="4559845"/>
            <a:ext cx="112876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+mn-lt"/>
                <a:cs typeface="+mn-cs"/>
              </a:rPr>
              <a:t>Преимущества для дистрибьютора</a:t>
            </a:r>
            <a:endParaRPr lang="ru-RU" sz="2800" b="1" dirty="0">
              <a:latin typeface="+mn-lt"/>
              <a:cs typeface="+mn-cs"/>
            </a:endParaRPr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695627" y="5177808"/>
            <a:ext cx="10134956" cy="1086512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/>
              <a:t>Бесплатная </a:t>
            </a:r>
            <a:r>
              <a:rPr lang="ru-RU" sz="2400" b="1" dirty="0"/>
              <a:t>установка и </a:t>
            </a:r>
            <a:r>
              <a:rPr lang="ru-RU" sz="2400" b="1" dirty="0" err="1"/>
              <a:t>пусконаладка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b="1" dirty="0"/>
              <a:t>Расширение ассортимента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066523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32"/>
          <p:cNvSpPr/>
          <p:nvPr/>
        </p:nvSpPr>
        <p:spPr>
          <a:xfrm>
            <a:off x="9305504" y="4644028"/>
            <a:ext cx="3960748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32"/>
          <p:cNvSpPr/>
          <p:nvPr/>
        </p:nvSpPr>
        <p:spPr>
          <a:xfrm>
            <a:off x="9248799" y="2475440"/>
            <a:ext cx="4017453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32"/>
          <p:cNvSpPr/>
          <p:nvPr/>
        </p:nvSpPr>
        <p:spPr>
          <a:xfrm>
            <a:off x="13569069" y="2475441"/>
            <a:ext cx="3629539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32"/>
          <p:cNvSpPr/>
          <p:nvPr/>
        </p:nvSpPr>
        <p:spPr>
          <a:xfrm>
            <a:off x="13581007" y="4623203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32"/>
          <p:cNvSpPr/>
          <p:nvPr/>
        </p:nvSpPr>
        <p:spPr>
          <a:xfrm>
            <a:off x="9396187" y="7006453"/>
            <a:ext cx="3870065" cy="19343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660" y="337820"/>
            <a:ext cx="5441874" cy="677108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r>
              <a:rPr sz="4400" b="1" dirty="0">
                <a:solidFill>
                  <a:srgbClr val="656565"/>
                </a:solidFill>
                <a:latin typeface="Inter Extra Bold" panose="02000903000000020004" pitchFamily="2" charset="0"/>
              </a:rPr>
              <a:t>КЕЙС ПАРТНЁРА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2983" y="1363822"/>
            <a:ext cx="8520842" cy="738664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defTabSz="457200" eaLnBrk="1" hangingPunct="1"/>
            <a:r>
              <a:rPr lang="ru-RU" sz="4800" b="1" dirty="0" smtClean="0">
                <a:solidFill>
                  <a:srgbClr val="F47629"/>
                </a:solidFill>
                <a:latin typeface="+mn-lt"/>
              </a:rPr>
              <a:t>ДИСТРИБЬЮТОР </a:t>
            </a:r>
            <a:r>
              <a:rPr lang="en-US" sz="4800" b="1" dirty="0">
                <a:solidFill>
                  <a:srgbClr val="F47629"/>
                </a:solidFill>
                <a:latin typeface="+mn-lt"/>
              </a:rPr>
              <a:t>&amp;</a:t>
            </a:r>
            <a:r>
              <a:rPr sz="4800" b="1" dirty="0" smtClean="0">
                <a:solidFill>
                  <a:srgbClr val="F47629"/>
                </a:solidFill>
                <a:latin typeface="+mn-lt"/>
              </a:rPr>
              <a:t>  </a:t>
            </a:r>
            <a:r>
              <a:rPr sz="4800" b="1" dirty="0">
                <a:solidFill>
                  <a:srgbClr val="F47629"/>
                </a:solidFill>
                <a:latin typeface="+mn-lt"/>
              </a:rPr>
              <a:t>ЭМПИЛС</a:t>
            </a:r>
          </a:p>
        </p:txBody>
      </p:sp>
      <p:pic>
        <p:nvPicPr>
          <p:cNvPr id="40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692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45707"/>
              </p:ext>
            </p:extLst>
          </p:nvPr>
        </p:nvGraphicFramePr>
        <p:xfrm>
          <a:off x="14295438" y="482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482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51" name="Picture 59" descr="C:\Users\zakolodniy\Desktop\IMG_20260812_084630_249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3"/>
          <a:stretch/>
        </p:blipFill>
        <p:spPr bwMode="auto">
          <a:xfrm>
            <a:off x="367491" y="3003262"/>
            <a:ext cx="3857203" cy="506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52" name="Picture 60" descr="C:\Users\zakolodniy\Desktop\IMG_20260812_084754_170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0" b="1732"/>
          <a:stretch/>
        </p:blipFill>
        <p:spPr bwMode="auto">
          <a:xfrm>
            <a:off x="4452686" y="3003261"/>
            <a:ext cx="4541193" cy="5063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9469846" y="2710104"/>
            <a:ext cx="1002197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📐  АКБ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55332" y="3075282"/>
            <a:ext cx="1785361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1 200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точек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455332" y="3705054"/>
            <a:ext cx="2421176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● </a:t>
            </a:r>
            <a:r>
              <a:rPr sz="1600" b="1" dirty="0" err="1">
                <a:latin typeface="Calibri"/>
              </a:rPr>
              <a:t>стабильно</a:t>
            </a:r>
            <a:r>
              <a:rPr sz="1600" b="1" dirty="0">
                <a:latin typeface="Calibri"/>
              </a:rPr>
              <a:t> · </a:t>
            </a:r>
            <a:r>
              <a:rPr sz="1600" b="1" dirty="0" err="1">
                <a:latin typeface="Calibri"/>
              </a:rPr>
              <a:t>удержание</a:t>
            </a:r>
            <a:endParaRPr sz="1600" b="1" dirty="0"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55332" y="3977196"/>
            <a:ext cx="3642151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стратегия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удержания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,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не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расширения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3718168" y="2782674"/>
            <a:ext cx="204152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👥  </a:t>
            </a:r>
            <a:r>
              <a:rPr sz="2000" b="1" dirty="0" err="1">
                <a:latin typeface="Calibri"/>
              </a:rPr>
              <a:t>Команда</a:t>
            </a:r>
            <a:r>
              <a:rPr sz="2000" b="1" dirty="0">
                <a:latin typeface="Calibri"/>
              </a:rPr>
              <a:t> ЭТП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8168" y="3075282"/>
            <a:ext cx="1202380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6</a:t>
            </a:r>
            <a:r>
              <a:rPr sz="1400" dirty="0">
                <a:solidFill>
                  <a:srgbClr val="F18324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F18324"/>
                </a:solidFill>
                <a:latin typeface="Calibri"/>
              </a:rPr>
              <a:t>человек</a:t>
            </a:r>
            <a:endParaRPr sz="1600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3718168" y="3719568"/>
            <a:ext cx="299274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▲ </a:t>
            </a:r>
            <a:r>
              <a:rPr sz="1600" b="1" dirty="0" err="1">
                <a:latin typeface="Calibri"/>
              </a:rPr>
              <a:t>доля</a:t>
            </a:r>
            <a:r>
              <a:rPr sz="1600" b="1" dirty="0">
                <a:latin typeface="Calibri"/>
              </a:rPr>
              <a:t> </a:t>
            </a:r>
            <a:r>
              <a:rPr lang="ru-RU" sz="1600" b="1" dirty="0" smtClean="0">
                <a:latin typeface="Calibri"/>
              </a:rPr>
              <a:t>7</a:t>
            </a:r>
            <a:r>
              <a:rPr sz="1600" b="1" dirty="0" smtClean="0">
                <a:latin typeface="Calibri"/>
              </a:rPr>
              <a:t>0</a:t>
            </a:r>
            <a:r>
              <a:rPr sz="1600" b="1" dirty="0">
                <a:latin typeface="Calibri"/>
              </a:rPr>
              <a:t>% в </a:t>
            </a:r>
            <a:r>
              <a:rPr sz="1600" b="1" dirty="0" err="1">
                <a:latin typeface="Calibri"/>
              </a:rPr>
              <a:t>общих</a:t>
            </a:r>
            <a:r>
              <a:rPr sz="1600" b="1" dirty="0">
                <a:latin typeface="Calibri"/>
              </a:rPr>
              <a:t> </a:t>
            </a:r>
            <a:r>
              <a:rPr sz="1600" b="1" dirty="0" err="1">
                <a:latin typeface="Calibri"/>
              </a:rPr>
              <a:t>продажах</a:t>
            </a:r>
            <a:endParaRPr sz="1600" b="1" dirty="0"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3718168" y="4006224"/>
            <a:ext cx="333411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команда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Эмпилс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поле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у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партнёра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455332" y="4849212"/>
            <a:ext cx="2910861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🚚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логистики</a:t>
            </a:r>
            <a:endParaRPr sz="2000" b="1" dirty="0"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455332" y="5214390"/>
            <a:ext cx="2161169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5%</a:t>
            </a:r>
            <a:r>
              <a:rPr sz="3600" dirty="0">
                <a:solidFill>
                  <a:srgbClr val="F18324"/>
                </a:solidFill>
                <a:latin typeface="Calibri"/>
              </a:rPr>
              <a:t>  →  </a:t>
            </a:r>
            <a:r>
              <a:rPr sz="3600" b="1" dirty="0">
                <a:solidFill>
                  <a:srgbClr val="F18324"/>
                </a:solidFill>
                <a:latin typeface="Calibri"/>
              </a:rPr>
              <a:t>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55332" y="5771592"/>
            <a:ext cx="231666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dirty="0">
                <a:latin typeface="Calibri"/>
              </a:rPr>
              <a:t>▼ </a:t>
            </a:r>
            <a:r>
              <a:rPr sz="1600" b="1" dirty="0">
                <a:latin typeface="Calibri"/>
              </a:rPr>
              <a:t>−1 </a:t>
            </a:r>
            <a:r>
              <a:rPr sz="1600" b="1" dirty="0" err="1">
                <a:latin typeface="Calibri"/>
              </a:rPr>
              <a:t>п.п</a:t>
            </a:r>
            <a:r>
              <a:rPr sz="1600" b="1" dirty="0">
                <a:latin typeface="Calibri"/>
              </a:rPr>
              <a:t>. </a:t>
            </a:r>
            <a:r>
              <a:rPr sz="1600" b="1" dirty="0" err="1">
                <a:latin typeface="Calibri"/>
              </a:rPr>
              <a:t>за</a:t>
            </a:r>
            <a:r>
              <a:rPr sz="1600" b="1" dirty="0">
                <a:latin typeface="Calibri"/>
              </a:rPr>
              <a:t> 2023→2025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98874" y="6116304"/>
            <a:ext cx="3767378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>
                <a:solidFill>
                  <a:srgbClr val="6B6B6B"/>
                </a:solidFill>
                <a:latin typeface="Calibri"/>
              </a:rPr>
              <a:t>%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от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оборота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·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собственный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автопарк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3718168" y="4835423"/>
            <a:ext cx="2482346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💰  </a:t>
            </a:r>
            <a:r>
              <a:rPr sz="2000" b="1" dirty="0" err="1">
                <a:latin typeface="Calibri"/>
              </a:rPr>
              <a:t>Стоимость</a:t>
            </a:r>
            <a:r>
              <a:rPr sz="2000" b="1" dirty="0">
                <a:latin typeface="Calibri"/>
              </a:rPr>
              <a:t> </a:t>
            </a:r>
            <a:r>
              <a:rPr sz="2000" b="1" dirty="0" err="1">
                <a:latin typeface="Calibri"/>
              </a:rPr>
              <a:t>тонны</a:t>
            </a:r>
            <a:endParaRPr sz="2000" b="1" dirty="0">
              <a:latin typeface="Calibri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3718168" y="5186087"/>
            <a:ext cx="1218603" cy="553998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3600" b="1" dirty="0">
                <a:solidFill>
                  <a:srgbClr val="F18324"/>
                </a:solidFill>
                <a:latin typeface="Calibri"/>
              </a:rPr>
              <a:t>+26%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8168" y="5815859"/>
            <a:ext cx="2435282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b="1" dirty="0">
                <a:latin typeface="Calibri"/>
              </a:rPr>
              <a:t>▲ 2024 → 2026 (</a:t>
            </a:r>
            <a:r>
              <a:rPr sz="1600" b="1" dirty="0" err="1">
                <a:latin typeface="Calibri"/>
              </a:rPr>
              <a:t>прогноз</a:t>
            </a:r>
            <a:r>
              <a:rPr sz="1600" b="1" dirty="0">
                <a:latin typeface="Calibri"/>
              </a:rPr>
              <a:t>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718168" y="6088001"/>
            <a:ext cx="3480440" cy="246221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600" i="1" dirty="0" err="1">
                <a:solidFill>
                  <a:srgbClr val="6B6B6B"/>
                </a:solidFill>
                <a:latin typeface="Calibri"/>
              </a:rPr>
              <a:t>сдвиг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в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средний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+ и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премиум</a:t>
            </a:r>
            <a:r>
              <a:rPr sz="160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6B6B6B"/>
                </a:solidFill>
                <a:latin typeface="Calibri"/>
              </a:rPr>
              <a:t>сегмент</a:t>
            </a:r>
            <a:endParaRPr sz="160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455332" y="7111255"/>
            <a:ext cx="275838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📦  SKU: </a:t>
            </a:r>
            <a:r>
              <a:rPr sz="2000" b="1" dirty="0" err="1">
                <a:latin typeface="Calibri"/>
              </a:rPr>
              <a:t>сеть</a:t>
            </a:r>
            <a:r>
              <a:rPr sz="2000" b="1" dirty="0">
                <a:latin typeface="Calibri"/>
              </a:rPr>
              <a:t> + </a:t>
            </a:r>
            <a:r>
              <a:rPr sz="2000" b="1" dirty="0" err="1">
                <a:latin typeface="Calibri"/>
              </a:rPr>
              <a:t>розница</a:t>
            </a:r>
            <a:endParaRPr sz="2000" b="1" dirty="0"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55331" y="7529119"/>
            <a:ext cx="3810921" cy="10361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Дистр</a:t>
            </a:r>
            <a:r>
              <a:rPr lang="ru-RU" sz="1600" dirty="0" err="1" smtClean="0">
                <a:latin typeface="Calibri"/>
              </a:rPr>
              <a:t>ибьюторы</a:t>
            </a:r>
            <a:r>
              <a:rPr sz="1600" dirty="0" smtClean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SKU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 </a:t>
            </a:r>
            <a:r>
              <a:rPr sz="1600" dirty="0" err="1">
                <a:latin typeface="Calibri"/>
              </a:rPr>
              <a:t>очищено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от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неликвидов</a:t>
            </a:r>
            <a:endParaRPr sz="1600" dirty="0"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(</a:t>
            </a:r>
            <a:r>
              <a:rPr sz="1600" dirty="0" err="1">
                <a:latin typeface="Calibri"/>
              </a:rPr>
              <a:t>матрица</a:t>
            </a:r>
            <a:r>
              <a:rPr sz="1600" dirty="0">
                <a:latin typeface="Calibri"/>
              </a:rPr>
              <a:t>):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150→200</a:t>
            </a:r>
            <a:r>
              <a:rPr lang="ru-RU" sz="1600" b="1" dirty="0">
                <a:solidFill>
                  <a:srgbClr val="F18324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▲ +33%</a:t>
            </a:r>
          </a:p>
          <a:p>
            <a:pPr algn="l"/>
            <a:r>
              <a:rPr sz="1600" dirty="0" err="1" smtClean="0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550 </a:t>
            </a:r>
            <a:r>
              <a:rPr sz="1600" b="1" dirty="0" smtClean="0">
                <a:solidFill>
                  <a:srgbClr val="F18324"/>
                </a:solidFill>
                <a:latin typeface="Calibri"/>
              </a:rPr>
              <a:t>SK</a:t>
            </a:r>
            <a:r>
              <a:rPr lang="en-US" sz="1600" b="1" dirty="0" smtClean="0">
                <a:solidFill>
                  <a:srgbClr val="F18324"/>
                </a:solidFill>
                <a:latin typeface="Calibri"/>
              </a:rPr>
              <a:t>U</a:t>
            </a:r>
            <a:endParaRPr sz="1600" b="1" dirty="0">
              <a:solidFill>
                <a:srgbClr val="F18324"/>
              </a:solidFill>
              <a:latin typeface="Calibri"/>
            </a:endParaRPr>
          </a:p>
        </p:txBody>
      </p:sp>
      <p:sp>
        <p:nvSpPr>
          <p:cNvPr id="91" name="Rounded Rectangle 32"/>
          <p:cNvSpPr/>
          <p:nvPr/>
        </p:nvSpPr>
        <p:spPr>
          <a:xfrm>
            <a:off x="13581007" y="6991367"/>
            <a:ext cx="3617601" cy="19784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3718168" y="7080630"/>
            <a:ext cx="2719014" cy="307777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000" b="1" dirty="0">
                <a:latin typeface="Calibri"/>
              </a:rPr>
              <a:t>📈  </a:t>
            </a:r>
            <a:r>
              <a:rPr sz="2000" b="1" dirty="0" err="1">
                <a:latin typeface="Calibri"/>
              </a:rPr>
              <a:t>Рост</a:t>
            </a:r>
            <a:r>
              <a:rPr sz="2000" b="1" dirty="0">
                <a:latin typeface="Calibri"/>
              </a:rPr>
              <a:t> ТО 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5</a:t>
            </a:r>
            <a:r>
              <a:rPr sz="2000" b="1" dirty="0">
                <a:latin typeface="Calibri"/>
              </a:rPr>
              <a:t>→</a:t>
            </a:r>
            <a:r>
              <a:rPr sz="2000" b="1" dirty="0" smtClean="0">
                <a:latin typeface="Calibri"/>
              </a:rPr>
              <a:t>2</a:t>
            </a:r>
            <a:r>
              <a:rPr lang="en-US" sz="2000" b="1" dirty="0" smtClean="0">
                <a:latin typeface="Calibri"/>
              </a:rPr>
              <a:t>02</a:t>
            </a:r>
            <a:r>
              <a:rPr sz="2000" b="1" dirty="0" smtClean="0">
                <a:latin typeface="Calibri"/>
              </a:rPr>
              <a:t>6</a:t>
            </a:r>
            <a:endParaRPr sz="2000" b="1" dirty="0"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3718168" y="7527522"/>
            <a:ext cx="2606040" cy="106182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dirty="0" err="1" smtClean="0">
                <a:latin typeface="Calibri"/>
              </a:rPr>
              <a:t>Первичка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+15% т / +20% ₽</a:t>
            </a:r>
          </a:p>
          <a:p>
            <a:pPr algn="l">
              <a:spcAft>
                <a:spcPts val="200"/>
              </a:spcAft>
            </a:pPr>
            <a:r>
              <a:rPr sz="1600" dirty="0" err="1">
                <a:latin typeface="Calibri"/>
              </a:rPr>
              <a:t>Вторичка</a:t>
            </a:r>
            <a:r>
              <a:rPr sz="1600" b="1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+5% т / +10% ₽</a:t>
            </a:r>
          </a:p>
          <a:p>
            <a:pPr>
              <a:spcAft>
                <a:spcPts val="200"/>
              </a:spcAft>
            </a:pPr>
            <a:r>
              <a:rPr sz="1600" dirty="0" err="1">
                <a:latin typeface="Calibri"/>
              </a:rPr>
              <a:t>Сеть</a:t>
            </a:r>
            <a:r>
              <a:rPr sz="1600" dirty="0">
                <a:latin typeface="Calibri"/>
              </a:rPr>
              <a:t> </a:t>
            </a:r>
            <a:r>
              <a:rPr sz="1600" dirty="0" err="1">
                <a:latin typeface="Calibri"/>
              </a:rPr>
              <a:t>дистры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+17% ₽</a:t>
            </a:r>
          </a:p>
          <a:p>
            <a:pPr algn="l"/>
            <a:r>
              <a:rPr sz="1600" dirty="0" err="1">
                <a:latin typeface="Calibri"/>
              </a:rPr>
              <a:t>Розница</a:t>
            </a:r>
            <a:r>
              <a:rPr sz="1600" dirty="0">
                <a:latin typeface="Calibri"/>
              </a:rPr>
              <a:t>: </a:t>
            </a:r>
            <a:r>
              <a:rPr sz="1600" b="1" dirty="0">
                <a:solidFill>
                  <a:srgbClr val="F18324"/>
                </a:solidFill>
                <a:latin typeface="Calibri"/>
              </a:rPr>
              <a:t>+2% ₽</a:t>
            </a:r>
          </a:p>
        </p:txBody>
      </p:sp>
    </p:spTree>
    <p:extLst>
      <p:ext uri="{BB962C8B-B14F-4D97-AF65-F5344CB8AC3E}">
        <p14:creationId xmlns:p14="http://schemas.microsoft.com/office/powerpoint/2010/main" val="115596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47040" y="510540"/>
            <a:ext cx="15773400" cy="1477328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 algn="l"/>
            <a:r>
              <a:rPr sz="6600" b="1" dirty="0">
                <a:solidFill>
                  <a:srgbClr val="F08327"/>
                </a:solidFill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СТАНЬ ПАРТНЁРОМ </a:t>
            </a:r>
            <a:endParaRPr lang="ru-RU" sz="6600" b="1" dirty="0" smtClean="0">
              <a:solidFill>
                <a:srgbClr val="F08327"/>
              </a:solidFill>
              <a:latin typeface="Inter Extra Bold" panose="02000903000000020004" pitchFamily="2" charset="0"/>
              <a:ea typeface="Inter Extra Bold" panose="02000903000000020004" pitchFamily="2" charset="0"/>
              <a:cs typeface="Inter Extra Bold" panose="02000903000000020004" pitchFamily="2" charset="0"/>
            </a:endParaRPr>
          </a:p>
          <a:p>
            <a:pPr algn="l"/>
            <a:r>
              <a:rPr sz="3000" i="1" dirty="0" err="1" smtClean="0">
                <a:latin typeface="Calibri"/>
              </a:rPr>
              <a:t>Развивайте</a:t>
            </a:r>
            <a:r>
              <a:rPr sz="3000" i="1" dirty="0" smtClean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бизнес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вместе</a:t>
            </a:r>
            <a:r>
              <a:rPr sz="3000" i="1" dirty="0">
                <a:latin typeface="Calibri"/>
              </a:rPr>
              <a:t> с </a:t>
            </a:r>
            <a:r>
              <a:rPr sz="3000" i="1" dirty="0" err="1">
                <a:latin typeface="Calibri"/>
              </a:rPr>
              <a:t>надёжным</a:t>
            </a:r>
            <a:r>
              <a:rPr sz="3000" i="1" dirty="0">
                <a:latin typeface="Calibri"/>
              </a:rPr>
              <a:t> </a:t>
            </a:r>
            <a:r>
              <a:rPr sz="3000" i="1" dirty="0" err="1">
                <a:latin typeface="Calibri"/>
              </a:rPr>
              <a:t>производителем</a:t>
            </a:r>
            <a:r>
              <a:rPr sz="3000" i="1" dirty="0">
                <a:latin typeface="Calibri"/>
              </a:rPr>
              <a:t> ЛКМ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5000" y="2731628"/>
            <a:ext cx="2468880" cy="762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7167" y="3028808"/>
            <a:ext cx="9199577" cy="5701561"/>
          </a:xfrm>
          <a:prstGeom prst="rect">
            <a:avLst/>
          </a:prstGeom>
          <a:noFill/>
        </p:spPr>
        <p:txBody>
          <a:bodyPr wrap="square" lIns="137160" tIns="0" rIns="137160" bIns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ЛИДЕР НА РЫНКЕ ЛКМ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ТОП производитель 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органики 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лет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300" b="1" cap="all" dirty="0">
                <a:solidFill>
                  <a:srgbClr val="313131"/>
                </a:solidFill>
                <a:latin typeface="Calibri"/>
              </a:rPr>
              <a:t>непрерывного развития -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с 1906 года    </a:t>
            </a:r>
          </a:p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rgbClr val="F47629"/>
                </a:solidFill>
                <a:latin typeface="Calibri"/>
              </a:rPr>
              <a:t>▸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&gt;</a:t>
            </a:r>
            <a:r>
              <a:rPr lang="ru-RU" sz="2300" b="1" dirty="0">
                <a:solidFill>
                  <a:srgbClr val="313131"/>
                </a:solidFill>
                <a:latin typeface="Calibri"/>
              </a:rPr>
              <a:t>100 ДИСТРИБЬЮТОРОВ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 уже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работают с нами в РФ и СНГ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11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БРЕНДОВ</a:t>
            </a:r>
            <a:r>
              <a:rPr lang="ru-RU" sz="23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от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эконома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до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премиума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—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полный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спектр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 ЛКМ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dirty="0" smtClean="0">
                <a:solidFill>
                  <a:srgbClr val="313131"/>
                </a:solidFill>
                <a:latin typeface="Calibri"/>
              </a:rPr>
              <a:t>МАРКЕТИНГОВАЯ И </a:t>
            </a:r>
            <a:r>
              <a:rPr sz="2300" b="1" cap="all" dirty="0" err="1">
                <a:solidFill>
                  <a:srgbClr val="313131"/>
                </a:solidFill>
                <a:latin typeface="Calibri"/>
              </a:rPr>
              <a:t>трейд-маркетинговая</a:t>
            </a:r>
            <a:r>
              <a:rPr sz="2300" b="1" cap="all" dirty="0">
                <a:solidFill>
                  <a:srgbClr val="313131"/>
                </a:solidFill>
                <a:latin typeface="Calibri"/>
              </a:rPr>
              <a:t> </a:t>
            </a:r>
            <a:r>
              <a:rPr sz="2300" b="1" cap="all" dirty="0" err="1" smtClean="0">
                <a:solidFill>
                  <a:srgbClr val="313131"/>
                </a:solidFill>
                <a:latin typeface="Calibri"/>
              </a:rPr>
              <a:t>поддержка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для развития вашего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бизнеса</a:t>
            </a: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ПОДДЕРЖКА ТРЕТИЧНЫХ ПРОДАЖ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- 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стимулирование спроса на полке и в рознице</a:t>
            </a:r>
          </a:p>
          <a:p>
            <a:pPr>
              <a:spcBef>
                <a:spcPts val="1500"/>
              </a:spcBef>
            </a:pPr>
            <a:r>
              <a:rPr sz="2400" b="1" dirty="0" smtClean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региональная команда </a:t>
            </a:r>
            <a:r>
              <a:rPr lang="ru-RU" sz="24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РМ 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и ЭТП в вашем регионе </a:t>
            </a:r>
            <a:endParaRPr sz="2000" dirty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sz="2400" b="1" dirty="0">
                <a:solidFill>
                  <a:srgbClr val="F47629"/>
                </a:solidFill>
                <a:latin typeface="Calibri"/>
              </a:rPr>
              <a:t>▸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НАЛИЧИЕ</a:t>
            </a:r>
            <a:r>
              <a:rPr lang="ru-RU" sz="2400" b="1" dirty="0" smtClean="0">
                <a:solidFill>
                  <a:srgbClr val="F47629"/>
                </a:solidFill>
                <a:latin typeface="Calibri"/>
              </a:rPr>
              <a:t> </a:t>
            </a:r>
            <a:r>
              <a:rPr sz="2300" b="1" dirty="0" smtClean="0">
                <a:solidFill>
                  <a:srgbClr val="313131"/>
                </a:solidFill>
                <a:latin typeface="Calibri"/>
              </a:rPr>
              <a:t>ЭТП</a:t>
            </a:r>
            <a:r>
              <a:rPr lang="ru-RU" sz="20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ru-RU" sz="2000" b="1" dirty="0">
                <a:solidFill>
                  <a:srgbClr val="313131"/>
                </a:solidFill>
                <a:latin typeface="Calibri"/>
              </a:rPr>
              <a:t>- </a:t>
            </a:r>
            <a:r>
              <a:rPr lang="ru-RU" sz="2000" b="1" dirty="0" smtClean="0">
                <a:solidFill>
                  <a:srgbClr val="313131"/>
                </a:solidFill>
                <a:latin typeface="Calibri"/>
              </a:rPr>
              <a:t> </a:t>
            </a:r>
            <a:r>
              <a:rPr sz="2000" dirty="0" smtClean="0">
                <a:solidFill>
                  <a:srgbClr val="6B6B6B"/>
                </a:solidFill>
                <a:latin typeface="Calibri"/>
              </a:rPr>
              <a:t>120 </a:t>
            </a:r>
            <a:r>
              <a:rPr sz="2000" dirty="0">
                <a:solidFill>
                  <a:srgbClr val="6B6B6B"/>
                </a:solidFill>
                <a:latin typeface="Calibri"/>
              </a:rPr>
              <a:t>РТТ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на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1 </a:t>
            </a:r>
            <a:r>
              <a:rPr sz="2000" dirty="0" err="1">
                <a:solidFill>
                  <a:srgbClr val="6B6B6B"/>
                </a:solidFill>
                <a:latin typeface="Calibri"/>
              </a:rPr>
              <a:t>представителя</a:t>
            </a:r>
            <a:r>
              <a:rPr sz="2000" dirty="0">
                <a:solidFill>
                  <a:srgbClr val="6B6B6B"/>
                </a:solidFill>
                <a:latin typeface="Calibri"/>
              </a:rPr>
              <a:t> в </a:t>
            </a:r>
            <a:r>
              <a:rPr sz="2000" dirty="0" err="1" smtClean="0">
                <a:solidFill>
                  <a:srgbClr val="6B6B6B"/>
                </a:solidFill>
                <a:latin typeface="Calibri"/>
              </a:rPr>
              <a:t>поле</a:t>
            </a:r>
            <a:endParaRPr lang="ru-RU" sz="2000" dirty="0" smtClean="0">
              <a:solidFill>
                <a:srgbClr val="6B6B6B"/>
              </a:solidFill>
              <a:latin typeface="Calibri"/>
            </a:endParaRPr>
          </a:p>
          <a:p>
            <a:pPr>
              <a:spcBef>
                <a:spcPts val="1500"/>
              </a:spcBef>
            </a:pPr>
            <a:r>
              <a:rPr lang="ru-RU" sz="2000" b="1" dirty="0" smtClean="0">
                <a:solidFill>
                  <a:srgbClr val="F47629"/>
                </a:solidFill>
                <a:latin typeface="Calibri"/>
              </a:rPr>
              <a:t>▸  </a:t>
            </a:r>
            <a:r>
              <a:rPr lang="ru-RU" sz="2300" b="1" cap="all" dirty="0" smtClean="0">
                <a:solidFill>
                  <a:srgbClr val="313131"/>
                </a:solidFill>
                <a:latin typeface="Calibri"/>
              </a:rPr>
              <a:t>Сервис поставок - 98% - </a:t>
            </a:r>
            <a:r>
              <a:rPr lang="ru-RU" sz="2000" dirty="0" smtClean="0">
                <a:solidFill>
                  <a:srgbClr val="6B6B6B"/>
                </a:solidFill>
                <a:latin typeface="Calibri"/>
              </a:rPr>
              <a:t>клиент ориентированность</a:t>
            </a:r>
            <a:endParaRPr sz="200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796744" y="3561080"/>
            <a:ext cx="28575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47792" y="3201494"/>
            <a:ext cx="5771645" cy="738664"/>
          </a:xfrm>
          <a:prstGeom prst="rect">
            <a:avLst/>
          </a:prstGeom>
          <a:noFill/>
        </p:spPr>
        <p:txBody>
          <a:bodyPr wrap="none" lIns="137160" tIns="0" rIns="137160" bIns="0">
            <a:spAutoFit/>
          </a:bodyPr>
          <a:lstStyle/>
          <a:p>
            <a:pPr algn="l"/>
            <a:r>
              <a:rPr sz="4800" b="1" dirty="0">
                <a:solidFill>
                  <a:srgbClr val="F47629"/>
                </a:solidFill>
                <a:latin typeface="Calibri"/>
              </a:rPr>
              <a:t>СВЯЖИТЕСЬ С НАМИ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2423" y="3940158"/>
            <a:ext cx="7806143" cy="36798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0" tIns="304800" rIns="381000" bIns="304800" rtlCol="0" anchor="ctr"/>
          <a:lstStyle/>
          <a:p>
            <a:pPr algn="l"/>
            <a:r>
              <a:rPr sz="2000" b="1" dirty="0">
                <a:solidFill>
                  <a:srgbClr val="F47629"/>
                </a:solidFill>
              </a:rPr>
              <a:t>ВАШ МЕНЕДЖЕР: </a:t>
            </a:r>
            <a:r>
              <a:rPr lang="ru-RU" sz="2000" dirty="0" smtClean="0">
                <a:solidFill>
                  <a:schemeClr val="tx1"/>
                </a:solidFill>
              </a:rPr>
              <a:t>Еремеев Василий</a:t>
            </a:r>
          </a:p>
          <a:p>
            <a:pPr algn="l"/>
            <a:endParaRPr lang="ru-RU" sz="1400" b="1" dirty="0" smtClean="0">
              <a:solidFill>
                <a:schemeClr val="tx1"/>
              </a:solidFill>
            </a:endParaRPr>
          </a:p>
          <a:p>
            <a:pPr algn="l"/>
            <a:r>
              <a:rPr sz="2000" b="1" dirty="0" smtClean="0">
                <a:solidFill>
                  <a:srgbClr val="F47629"/>
                </a:solidFill>
              </a:rPr>
              <a:t>ТЕЛЕФОН</a:t>
            </a:r>
            <a:r>
              <a:rPr sz="2000" dirty="0">
                <a:solidFill>
                  <a:schemeClr val="tx1"/>
                </a:solidFill>
              </a:rPr>
              <a:t>: </a:t>
            </a:r>
            <a:r>
              <a:rPr sz="2000" dirty="0" smtClean="0">
                <a:solidFill>
                  <a:schemeClr val="tx1"/>
                </a:solidFill>
              </a:rPr>
              <a:t>+</a:t>
            </a:r>
            <a:r>
              <a:rPr sz="2000" dirty="0">
                <a:solidFill>
                  <a:schemeClr val="tx1"/>
                </a:solidFill>
              </a:rPr>
              <a:t>7 </a:t>
            </a:r>
            <a:r>
              <a:rPr sz="2000" dirty="0" smtClean="0">
                <a:solidFill>
                  <a:schemeClr val="tx1"/>
                </a:solidFill>
              </a:rPr>
              <a:t>(</a:t>
            </a:r>
            <a:r>
              <a:rPr lang="ru-RU" sz="2000" dirty="0" smtClean="0">
                <a:solidFill>
                  <a:schemeClr val="tx1"/>
                </a:solidFill>
              </a:rPr>
              <a:t>916</a:t>
            </a:r>
            <a:r>
              <a:rPr sz="2000" dirty="0" smtClean="0">
                <a:solidFill>
                  <a:schemeClr val="tx1"/>
                </a:solidFill>
              </a:rPr>
              <a:t>) </a:t>
            </a:r>
            <a:r>
              <a:rPr lang="ru-RU" sz="2000" dirty="0" smtClean="0">
                <a:solidFill>
                  <a:schemeClr val="tx1"/>
                </a:solidFill>
              </a:rPr>
              <a:t>805</a:t>
            </a:r>
            <a:r>
              <a:rPr sz="2000" dirty="0" smtClean="0">
                <a:solidFill>
                  <a:schemeClr val="tx1"/>
                </a:solidFill>
              </a:rPr>
              <a:t>-</a:t>
            </a:r>
            <a:r>
              <a:rPr lang="ru-RU" sz="2000" dirty="0" smtClean="0">
                <a:solidFill>
                  <a:schemeClr val="tx1"/>
                </a:solidFill>
              </a:rPr>
              <a:t>88</a:t>
            </a:r>
            <a:r>
              <a:rPr sz="2000" dirty="0" smtClean="0">
                <a:solidFill>
                  <a:schemeClr val="tx1"/>
                </a:solidFill>
              </a:rPr>
              <a:t>-</a:t>
            </a:r>
            <a:r>
              <a:rPr lang="ru-RU" sz="2000" dirty="0" smtClean="0">
                <a:solidFill>
                  <a:schemeClr val="tx1"/>
                </a:solidFill>
              </a:rPr>
              <a:t>82</a:t>
            </a:r>
          </a:p>
          <a:p>
            <a:pPr algn="l"/>
            <a:endParaRPr lang="ru-RU" sz="1400" i="1" dirty="0">
              <a:solidFill>
                <a:srgbClr val="F47629"/>
              </a:solidFill>
            </a:endParaRPr>
          </a:p>
          <a:p>
            <a:pPr>
              <a:spcBef>
                <a:spcPts val="300"/>
              </a:spcBef>
            </a:pPr>
            <a:r>
              <a:rPr sz="2000" b="1" dirty="0">
                <a:solidFill>
                  <a:srgbClr val="F47629"/>
                </a:solidFill>
              </a:rPr>
              <a:t>EMAIL</a:t>
            </a:r>
            <a:r>
              <a:rPr sz="2000" b="1" dirty="0" smtClean="0">
                <a:solidFill>
                  <a:srgbClr val="F47629"/>
                </a:solidFill>
              </a:rPr>
              <a:t>: </a:t>
            </a:r>
            <a:r>
              <a:rPr sz="2000" dirty="0" smtClean="0">
                <a:solidFill>
                  <a:srgbClr val="313131"/>
                </a:solidFill>
                <a:hlinkClick r:id="rId4"/>
              </a:rPr>
              <a:t>info@empils.ru</a:t>
            </a:r>
            <a:endParaRPr lang="ru-RU" sz="2000" dirty="0" smtClean="0">
              <a:solidFill>
                <a:srgbClr val="313131"/>
              </a:solidFill>
            </a:endParaRPr>
          </a:p>
          <a:p>
            <a:pPr>
              <a:spcBef>
                <a:spcPts val="1500"/>
              </a:spcBef>
            </a:pPr>
            <a:r>
              <a:rPr sz="2000" b="1" dirty="0" smtClean="0">
                <a:solidFill>
                  <a:srgbClr val="F47629"/>
                </a:solidFill>
              </a:rPr>
              <a:t>САЙТ</a:t>
            </a:r>
            <a:r>
              <a:rPr sz="2000" b="1" dirty="0">
                <a:solidFill>
                  <a:srgbClr val="F47629"/>
                </a:solidFill>
              </a:rPr>
              <a:t>: </a:t>
            </a:r>
            <a:r>
              <a:rPr sz="2000" dirty="0" smtClean="0">
                <a:solidFill>
                  <a:schemeClr val="tx1"/>
                </a:solidFill>
                <a:hlinkClick r:id="rId5"/>
              </a:rPr>
              <a:t>www.empils.ru</a:t>
            </a:r>
            <a:endParaRPr lang="ru-RU" sz="2000" dirty="0" smtClean="0">
              <a:solidFill>
                <a:schemeClr val="tx1"/>
              </a:solidFill>
            </a:endParaRPr>
          </a:p>
          <a:p>
            <a:pPr>
              <a:spcBef>
                <a:spcPts val="1500"/>
              </a:spcBef>
            </a:pPr>
            <a:r>
              <a:rPr sz="2000" b="1" dirty="0" smtClean="0">
                <a:solidFill>
                  <a:srgbClr val="F47629"/>
                </a:solidFill>
              </a:rPr>
              <a:t>АДРЕС</a:t>
            </a:r>
            <a:r>
              <a:rPr sz="2000" b="1" dirty="0">
                <a:solidFill>
                  <a:srgbClr val="F47629"/>
                </a:solidFill>
              </a:rPr>
              <a:t>: </a:t>
            </a:r>
            <a:r>
              <a:rPr lang="ru-RU" sz="2000" b="1" dirty="0" smtClean="0">
                <a:solidFill>
                  <a:srgbClr val="F47629"/>
                </a:solidFill>
              </a:rPr>
              <a:t> </a:t>
            </a:r>
            <a:r>
              <a:rPr sz="2000" dirty="0" smtClean="0">
                <a:solidFill>
                  <a:schemeClr val="tx1"/>
                </a:solidFill>
              </a:rPr>
              <a:t>г</a:t>
            </a:r>
            <a:r>
              <a:rPr sz="2000" dirty="0">
                <a:solidFill>
                  <a:schemeClr val="tx1"/>
                </a:solidFill>
              </a:rPr>
              <a:t>. </a:t>
            </a:r>
            <a:r>
              <a:rPr sz="2000" dirty="0" err="1">
                <a:solidFill>
                  <a:schemeClr val="tx1"/>
                </a:solidFill>
              </a:rPr>
              <a:t>Ростов-на-Дону</a:t>
            </a:r>
            <a:r>
              <a:rPr sz="2000" dirty="0">
                <a:solidFill>
                  <a:schemeClr val="tx1"/>
                </a:solidFill>
              </a:rPr>
              <a:t>, </a:t>
            </a:r>
            <a:r>
              <a:rPr lang="ru-RU" sz="2000" dirty="0">
                <a:solidFill>
                  <a:schemeClr val="tx1"/>
                </a:solidFill>
              </a:rPr>
              <a:t>пер. 1-й Машиностроительный, 21</a:t>
            </a: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13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627742" y="14160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826421"/>
              </p:ext>
            </p:extLst>
          </p:nvPr>
        </p:nvGraphicFramePr>
        <p:xfrm>
          <a:off x="14574838" y="5969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3" name="CorelDRAW" r:id="rId7" imgW="3876120" imgH="797040" progId="CorelDraw.Graphic.23">
                  <p:embed/>
                </p:oleObj>
              </mc:Choice>
              <mc:Fallback>
                <p:oleObj name="CorelDRAW" r:id="rId7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4838" y="5969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920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3928</TotalTime>
  <Words>1561</Words>
  <Application>Microsoft Office PowerPoint</Application>
  <PresentationFormat>Произвольный</PresentationFormat>
  <Paragraphs>497</Paragraphs>
  <Slides>27</Slides>
  <Notes>27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43" baseType="lpstr">
      <vt:lpstr>Arial</vt:lpstr>
      <vt:lpstr>Roboto</vt:lpstr>
      <vt:lpstr>Proxima Nova Regular</vt:lpstr>
      <vt:lpstr>Proxima Nova Bold</vt:lpstr>
      <vt:lpstr>Inter Regular</vt:lpstr>
      <vt:lpstr>Livvic Light</vt:lpstr>
      <vt:lpstr>Proxima Nova Lt</vt:lpstr>
      <vt:lpstr>Calibri</vt:lpstr>
      <vt:lpstr>Calibri Light</vt:lpstr>
      <vt:lpstr>Inter Extra Bold</vt:lpstr>
      <vt:lpstr>Livvic</vt:lpstr>
      <vt:lpstr>Inter Bold</vt:lpstr>
      <vt:lpstr>Proxima Nova Semibold</vt:lpstr>
      <vt:lpstr>Gilroy ExtraBold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ПРОДУКЦИЯ</vt:lpstr>
      <vt:lpstr>КЕЙСЫ ПРИМЕНЕНИЯ</vt:lpstr>
      <vt:lpstr>ПРОМЫШЛЕННЫЕ ПАРТНЕРЫ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413</cp:revision>
  <dcterms:created xsi:type="dcterms:W3CDTF">2026-04-13T22:25:45Z</dcterms:created>
  <dcterms:modified xsi:type="dcterms:W3CDTF">2026-09-22T08:24:06Z</dcterms:modified>
</cp:coreProperties>
</file>