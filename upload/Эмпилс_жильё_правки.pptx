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61" r:id="rId6"/>
    <p:sldId id="259" r:id="rId7"/>
    <p:sldId id="260" r:id="rId8"/>
    <p:sldId id="262" r:id="rId9"/>
    <p:sldId id="267" r:id="rId10"/>
    <p:sldId id="264" r:id="rId11"/>
    <p:sldId id="265" r:id="rId12"/>
    <p:sldId id="263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-90" y="-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B8467-38C4-4842-B085-3A5E2A666F82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01294-2977-4189-BE23-42D2B81D6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7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2863" cy="5143500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806" y="571500"/>
            <a:ext cx="7144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5898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4375" y="428625"/>
            <a:ext cx="2992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КАТАЛОГ · ЭМПИЛС · ЛКМ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071563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0072" y="1075134"/>
            <a:ext cx="2278856" cy="2278856"/>
          </a:xfrm>
          <a:prstGeom prst="roundRect">
            <a:avLst>
              <a:gd name="adj" fmla="val 11703"/>
            </a:avLst>
          </a:prstGeom>
          <a:noFill/>
          <a:ln w="7144">
            <a:solidFill>
              <a:srgbClr val="1F4E79"/>
            </a:solidFill>
            <a:prstDash val="solid"/>
          </a:ln>
          <a:effectLst>
            <a:outerShdw blurRad="304800" dist="11430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393656" y="1178719"/>
            <a:ext cx="2071688" cy="2071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6379704" y="3500438"/>
            <a:ext cx="2198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Интерьерные · Фасадные · Эмали · Огнезащита · Полы</a:t>
            </a:r>
            <a:endParaRPr lang="en-US" sz="619" dirty="0"/>
          </a:p>
        </p:txBody>
      </p:sp>
      <p:sp>
        <p:nvSpPr>
          <p:cNvPr id="12" name="Text 8"/>
          <p:cNvSpPr/>
          <p:nvPr/>
        </p:nvSpPr>
        <p:spPr>
          <a:xfrm>
            <a:off x="8472488" y="350936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3" name="Text 9"/>
          <p:cNvSpPr/>
          <p:nvPr/>
        </p:nvSpPr>
        <p:spPr>
          <a:xfrm>
            <a:off x="571500" y="1571625"/>
            <a:ext cx="5400675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1600" b="1" kern="0" spc="-20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Каталог продуктов Эмпилс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571500" y="1983060"/>
            <a:ext cx="4572000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 ЛКМ в жилищном строительстве с учётом классов пожароопасности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71500" y="2605487"/>
            <a:ext cx="400050" cy="21431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500" y="279122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42950" y="2784080"/>
            <a:ext cx="10419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Все классы этажности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803462" y="279122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974912" y="2784080"/>
            <a:ext cx="82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КМ1 · Г1 · В1 · НГ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3232870" y="279122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3364851" y="2778422"/>
            <a:ext cx="23339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Сертификаты соответствия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571500" y="4461272"/>
            <a:ext cx="80010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71500" y="4604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785813" y="4593431"/>
            <a:ext cx="2609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На основании ФЗ-123 и сертификатов соответствия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618251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7782077" y="4593431"/>
            <a:ext cx="7980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1795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00050" y="2857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71500" y="289322"/>
            <a:ext cx="16593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 smtClean="0">
                <a:solidFill>
                  <a:srgbClr val="555555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ЛЕГЕНДА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28625"/>
            <a:ext cx="19223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800" b="1" kern="0" spc="-16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Как читать каталог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211026" y="475059"/>
            <a:ext cx="1532924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КМ-классы · Этажность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89875" y="63222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404992" y="621506"/>
            <a:ext cx="13389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Светофорная кодировка применения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036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072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Цветовая кодировка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21494" y="1367582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8F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439019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934" y="147831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2969" y="1424732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 использовать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892969" y="1564035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Полностью соответствует требованиям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494" y="1895326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1966764"/>
            <a:ext cx="228600" cy="228600"/>
          </a:xfrm>
          <a:prstGeom prst="ellipse">
            <a:avLst/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934" y="200605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36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2969" y="1952476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892969" y="2091779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конкретных зон / этажей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494" y="2423071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2494508"/>
            <a:ext cx="228600" cy="228600"/>
          </a:xfrm>
          <a:prstGeom prst="ellipse">
            <a:avLst/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934" y="253379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2969" y="2480221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 использовать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892969" y="2619524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 нормами пожарной безопасности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494" y="2950815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8644" y="3022253"/>
            <a:ext cx="228600" cy="228600"/>
          </a:xfrm>
          <a:prstGeom prst="ellipse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302225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90A4AE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2969" y="3007965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892969" y="3147268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 не предназначен для данной зоны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27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05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49363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6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Классы пожароопасности (ФЗ-123)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750594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0594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Г1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9206" y="1477417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слабогорючие </a:t>
            </a: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(лучший для горючих)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6729413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29413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58025" y="1477417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трудновоспламеняемые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0594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50594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79206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малодымообразующие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9413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29413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58025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малотоксичные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0594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50594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9206" y="2493615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распр. пламя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9413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29413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58025" y="2493615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комбин.: Г1+В1+Д1+Т1+РП1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0594" y="2860179"/>
            <a:ext cx="38719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4750594" y="3055507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CEFF1"/>
          </a:solidFill>
          <a:ln w="7144">
            <a:solidFill>
              <a:srgbClr val="CFD8D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0594" y="3066008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455A64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НГ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9206" y="3094583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негорючие — </a:t>
            </a:r>
            <a:r>
              <a:rPr lang="en-US" sz="800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зданий &gt;17 этажей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050" y="36379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58" name="Text 56"/>
          <p:cNvSpPr/>
          <p:nvPr/>
        </p:nvSpPr>
        <p:spPr>
          <a:xfrm>
            <a:off x="585788" y="3621881"/>
            <a:ext cx="17111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Этажность жилых зданий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2011859" y="3648670"/>
            <a:ext cx="67320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· требования ужесточаются с ростом этажности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00050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00050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3120591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400050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414338" y="3854053"/>
            <a:ext cx="0" cy="528638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514350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14350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100" b="1" dirty="0">
                <a:solidFill>
                  <a:srgbClr val="00A85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≤9</a:t>
            </a:r>
            <a:endParaRPr lang="en-US" sz="1013" dirty="0"/>
          </a:p>
        </p:txBody>
      </p:sp>
      <p:sp>
        <p:nvSpPr>
          <p:cNvPr id="67" name="Text 65"/>
          <p:cNvSpPr/>
          <p:nvPr/>
        </p:nvSpPr>
        <p:spPr>
          <a:xfrm>
            <a:off x="942975" y="3993691"/>
            <a:ext cx="11178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9 этажей (≤28 м)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942975" y="4132994"/>
            <a:ext cx="104918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самые мягкие требования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3209888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3209888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930429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3209888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3224175" y="3854053"/>
            <a:ext cx="0" cy="528638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3324188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24188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9–17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52813" y="3993691"/>
            <a:ext cx="116429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9–17 этажей (28–50 м)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3752813" y="4132994"/>
            <a:ext cx="1271588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строже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19726" y="3854053"/>
            <a:ext cx="2724224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6019726" y="3857625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8740378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6019726" y="4379119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6034013" y="3854053"/>
            <a:ext cx="0" cy="528638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6134026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34026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&gt;17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62651" y="3993691"/>
            <a:ext cx="120020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Выше 17 этажей (&gt;50 м)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6562651" y="4132994"/>
            <a:ext cx="11783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только НГ на путях эвакуации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8" y="835819"/>
            <a:ext cx="6713417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>
              <a:lnSpc>
                <a:spcPts val="1654"/>
              </a:lnSpc>
            </a:pPr>
            <a:r>
              <a:rPr lang="en-US" sz="56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</a:p>
          <a:p>
            <a:pPr>
              <a:lnSpc>
                <a:spcPts val="1654"/>
              </a:lnSpc>
            </a:pPr>
            <a:r>
              <a:rPr lang="en-US" sz="48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4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интерьерная моющаяся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1031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700" dirty="0" smtClean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СТО 05744283-134-2018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2497" y="992765"/>
            <a:ext cx="1605000" cy="232172"/>
          </a:xfrm>
          <a:prstGeom prst="roundRect">
            <a:avLst>
              <a:gd name="adj" fmla="val 2461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38925" y="989193"/>
            <a:ext cx="1612143" cy="269034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Д2, Т2, РП1)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65034" y="796814"/>
            <a:ext cx="1557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10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959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12892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00050" y="4967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00050" y="375209"/>
            <a:ext cx="6766560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80649" y="558024"/>
            <a:ext cx="15633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26062" y="696041"/>
            <a:ext cx="1340748" cy="224028"/>
          </a:xfrm>
          <a:prstGeom prst="roundRect">
            <a:avLst>
              <a:gd name="adj" fmla="val 25510"/>
            </a:avLst>
          </a:prstGeom>
          <a:solidFill>
            <a:srgbClr val="E3F2FD"/>
          </a:solidFill>
          <a:ln w="7144">
            <a:solidFill>
              <a:srgbClr val="90CAF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0378" y="758049"/>
            <a:ext cx="98070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Д2, Т2, РП1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3622" y="1433242"/>
            <a:ext cx="2064544" cy="1336216"/>
          </a:xfrm>
          <a:prstGeom prst="roundRect">
            <a:avLst>
              <a:gd name="adj" fmla="val 85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5386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53682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726135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800" dirty="0" err="1" smtClean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сертификата</a:t>
            </a:r>
            <a:r>
              <a:rPr lang="en-US" sz="800" dirty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206" y="1876489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Д-RU.PA01.B.00924/23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206" y="2015792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Д-RU.PA01.B.00925/23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206" y="2155095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Д-RU.PA01.B.00923/23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206" y="2294398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Д-RU.RA01.B.00926/23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206" y="2494423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7206" y="256764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35794" y="2555145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Действует до 19.06.2028</a:t>
            </a:r>
            <a:endParaRPr lang="en-US" sz="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858754"/>
            <a:ext cx="2071688" cy="8179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03622" y="2862326"/>
            <a:ext cx="2064544" cy="810816"/>
          </a:xfrm>
          <a:prstGeom prst="roundRect">
            <a:avLst>
              <a:gd name="adj" fmla="val 14097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7206" y="29676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678656" y="2965911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/>
                <a:ea typeface="Carlito" pitchFamily="34" charset="-122"/>
                <a:cs typeface="Carlito" pitchFamily="34" charset="-120"/>
              </a:rPr>
              <a:t>МОДИФИКАЦИИ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206" y="312936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6174" y="3186285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Courier New" pitchFamily="34" charset="-122"/>
                <a:cs typeface="Courier New" pitchFamily="34" charset="-120"/>
              </a:rPr>
              <a:t>INTERIO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31945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1457325" y="312936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621579" y="3186285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3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1500188" y="31945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507206" y="336510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71460" y="3422028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7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50069" y="343025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1457325" y="336510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615192" y="3422028"/>
            <a:ext cx="44208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20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500188" y="343025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2589609" y="1433242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07481" y="15636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878930" y="1551113"/>
            <a:ext cx="24835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633208" y="1567187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19064"/>
              </p:ext>
            </p:extLst>
          </p:nvPr>
        </p:nvGraphicFramePr>
        <p:xfrm>
          <a:off x="2707481" y="1776142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2707481" y="382282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5" name="Text 41"/>
          <p:cNvSpPr/>
          <p:nvPr/>
        </p:nvSpPr>
        <p:spPr>
          <a:xfrm>
            <a:off x="2836069" y="3812110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50" name="TextBox 49"/>
          <p:cNvSpPr txBox="1"/>
          <p:nvPr/>
        </p:nvSpPr>
        <p:spPr>
          <a:xfrm>
            <a:off x="310753" y="93218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05744283-096-2013</a:t>
            </a:r>
          </a:p>
        </p:txBody>
      </p:sp>
      <p:sp>
        <p:nvSpPr>
          <p:cNvPr id="51" name="Text 4"/>
          <p:cNvSpPr/>
          <p:nvPr/>
        </p:nvSpPr>
        <p:spPr>
          <a:xfrm>
            <a:off x="400049" y="615539"/>
            <a:ext cx="5709285" cy="316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</a:t>
            </a: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интерьерная моющаяся латексная </a:t>
            </a:r>
            <a:r>
              <a:rPr lang="en-US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LOTUS 3,7,20</a:t>
            </a:r>
          </a:p>
          <a:p>
            <a:pPr>
              <a:lnSpc>
                <a:spcPts val="1097"/>
              </a:lnSpc>
            </a:pP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</a:t>
            </a: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интерьерная моющаяся </a:t>
            </a:r>
            <a:r>
              <a:rPr lang="ru-RU" sz="800" b="1" kern="0" spc="34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суперстойкая</a:t>
            </a: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латексная</a:t>
            </a:r>
          </a:p>
          <a:p>
            <a:pPr marL="0" indent="0" algn="l">
              <a:lnSpc>
                <a:spcPts val="1097"/>
              </a:lnSpc>
              <a:buNone/>
            </a:pP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3929" y="1289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266" dirty="0"/>
          </a:p>
        </p:txBody>
      </p:sp>
      <p:sp>
        <p:nvSpPr>
          <p:cNvPr id="8" name="Shape 6"/>
          <p:cNvSpPr/>
          <p:nvPr/>
        </p:nvSpPr>
        <p:spPr>
          <a:xfrm>
            <a:off x="400050" y="115230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0768" y="555587"/>
            <a:ext cx="3230091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</a:t>
            </a:r>
            <a:endParaRPr lang="ru-RU" sz="1400" b="1" dirty="0" smtClean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772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768" y="798693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для потолков </a:t>
            </a:r>
            <a:r>
              <a:rPr lang="ru-RU" sz="800" b="1" kern="0" spc="34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супербелая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69994" y="621242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42222" y="785891"/>
            <a:ext cx="1524588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5082" y="798693"/>
            <a:ext cx="147886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· Г1 В1 Д1 Т1 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02964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494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356555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563724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563724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21556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21556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05.02.2028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1968685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0069" y="2057982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Соответствие ФЗ-123 подтверждено декларацией. Класс КМ1 превышает базовые требования для жилых зданий.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202964"/>
            <a:ext cx="5336381" cy="2749595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494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0" y="1356555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127108"/>
              </p:ext>
            </p:extLst>
          </p:nvPr>
        </p:nvGraphicFramePr>
        <p:xfrm>
          <a:off x="3550444" y="1563724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411848" y="4152901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00050" y="970527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ourier New"/>
              </a:rPr>
              <a:t>СТО: ТУ 2316-228-05744283-2005</a:t>
            </a:r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6" y="2575687"/>
            <a:ext cx="2071688" cy="760809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469478" y="2579259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0"/>
          <p:cNvSpPr/>
          <p:nvPr/>
        </p:nvSpPr>
        <p:spPr>
          <a:xfrm>
            <a:off x="573062" y="26846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37" name="Text 21"/>
          <p:cNvSpPr/>
          <p:nvPr/>
        </p:nvSpPr>
        <p:spPr>
          <a:xfrm>
            <a:off x="744512" y="2682843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38" name="Text 22"/>
          <p:cNvSpPr/>
          <p:nvPr/>
        </p:nvSpPr>
        <p:spPr>
          <a:xfrm>
            <a:off x="573062" y="2848007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23"/>
          <p:cNvSpPr/>
          <p:nvPr/>
        </p:nvSpPr>
        <p:spPr>
          <a:xfrm>
            <a:off x="573062" y="2857864"/>
            <a:ext cx="406231" cy="1741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ru-RU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Потолки</a:t>
            </a:r>
            <a:endParaRPr lang="en-US" sz="800" dirty="0">
              <a:solidFill>
                <a:srgbClr val="1565C0"/>
              </a:solidFill>
              <a:latin typeface="Liberation Sans" pitchFamily="34" charset="0"/>
              <a:ea typeface="Liberation Sans" pitchFamily="34" charset="-122"/>
              <a:cs typeface="Liberation 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27640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90487" y="579888"/>
            <a:ext cx="5815013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</a:t>
            </a:r>
          </a:p>
        </p:txBody>
      </p:sp>
      <p:sp>
        <p:nvSpPr>
          <p:cNvPr id="6" name="Text 4"/>
          <p:cNvSpPr/>
          <p:nvPr/>
        </p:nvSpPr>
        <p:spPr>
          <a:xfrm>
            <a:off x="400050" y="906243"/>
            <a:ext cx="57092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06869" y="640610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2535" y="794201"/>
            <a:ext cx="1737844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02034" y="811140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</a:t>
            </a: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(Г1, В1, Д1, Т1, РП1)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3622" y="1427343"/>
            <a:ext cx="2064544" cy="1211200"/>
          </a:xfrm>
          <a:prstGeom prst="roundRect">
            <a:avLst>
              <a:gd name="adj" fmla="val 943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5327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53092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72023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700" dirty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Сертификат: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206" y="1870590"/>
            <a:ext cx="1857375" cy="15473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206" y="2056327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7206" y="2052755"/>
            <a:ext cx="1857375" cy="279749"/>
          </a:xfrm>
          <a:prstGeom prst="rect">
            <a:avLst/>
          </a:prstGeom>
          <a:noFill/>
          <a:ln/>
        </p:spPr>
        <p:txBody>
          <a:bodyPr wrap="square" lIns="0" tIns="42863" rIns="0" bIns="0" rtlCol="0" anchor="t">
            <a:normAutofit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ОРЕОЛ белая моющаяся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 полиакриловая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206" y="2363509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7206" y="243673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635794" y="242423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 05.02.2028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589609" y="1397848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07481" y="152822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2878930" y="1515719"/>
            <a:ext cx="22948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33208" y="1531793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46595"/>
              </p:ext>
            </p:extLst>
          </p:nvPr>
        </p:nvGraphicFramePr>
        <p:xfrm>
          <a:off x="2707481" y="1740748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312186" y="1094406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ourier New"/>
              </a:rPr>
              <a:t>СТО: ТУ 2316-228-05744283-2005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117131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00050" y="504987"/>
            <a:ext cx="555069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772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</a:t>
            </a:r>
          </a:p>
        </p:txBody>
      </p:sp>
      <p:sp>
        <p:nvSpPr>
          <p:cNvPr id="6" name="Text 4"/>
          <p:cNvSpPr/>
          <p:nvPr/>
        </p:nvSpPr>
        <p:spPr>
          <a:xfrm>
            <a:off x="405949" y="758753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14045" y="634928"/>
            <a:ext cx="1826334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19731" y="628271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3622" y="1238575"/>
            <a:ext cx="2064544" cy="1057610"/>
          </a:xfrm>
          <a:prstGeom prst="roundRect">
            <a:avLst>
              <a:gd name="adj" fmla="val 1080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3439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342159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531468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700" dirty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2 сертификата: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206" y="1681822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7206" y="1821125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206" y="2021150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7206" y="20943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35794" y="2081872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05.02.2028 / 2026 г.</a:t>
            </a:r>
            <a:endParaRPr lang="en-US" sz="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385481"/>
            <a:ext cx="2071688" cy="7608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3622" y="2389053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4944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678656" y="249263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" y="2657801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7206" y="2667659"/>
            <a:ext cx="325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Кухни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5444" y="2657801"/>
            <a:ext cx="468139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75444" y="2667659"/>
            <a:ext cx="4681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Прихожие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6446" y="2657801"/>
            <a:ext cx="48276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386446" y="2667659"/>
            <a:ext cx="4827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Коридоры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912069" y="2657801"/>
            <a:ext cx="39804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904486" y="2667659"/>
            <a:ext cx="4132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Детские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4346" y="2864970"/>
            <a:ext cx="902412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7206" y="2874828"/>
            <a:ext cx="8566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Места общего польз.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89609" y="1238575"/>
            <a:ext cx="6150769" cy="2196465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7481" y="136894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2878931" y="1356446"/>
            <a:ext cx="25661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33208" y="1372520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67529"/>
              </p:ext>
            </p:extLst>
          </p:nvPr>
        </p:nvGraphicFramePr>
        <p:xfrm>
          <a:off x="2707481" y="1581475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23363" y="939349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ourier New"/>
              </a:rPr>
              <a:t>СТО: ТУ 2316-228-05744283-2005</a:t>
            </a:r>
          </a:p>
        </p:txBody>
      </p:sp>
      <p:sp>
        <p:nvSpPr>
          <p:cNvPr id="47" name="Text 10"/>
          <p:cNvSpPr/>
          <p:nvPr/>
        </p:nvSpPr>
        <p:spPr>
          <a:xfrm>
            <a:off x="6921953" y="473767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188247" y="394198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404271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64107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050" y="395017"/>
            <a:ext cx="3134806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</a:t>
            </a:r>
            <a:endParaRPr lang="ru-RU" sz="1400" b="1" dirty="0" smtClean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772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914075"/>
            <a:ext cx="32243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6"/>
              </a:lnSpc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СТО </a:t>
            </a:r>
            <a:r>
              <a:rPr lang="en-US" sz="800" dirty="0" smtClean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135-2018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036594" y="653328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7009" y="814063"/>
            <a:ext cx="1953369" cy="257175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5769" y="810491"/>
            <a:ext cx="2200458" cy="264319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>
              <a:lnSpc>
                <a:spcPts val="1181"/>
              </a:lnSpc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(КМ1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ru-RU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</a:t>
            </a: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В1 · Д2 · Т2 ·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85550"/>
            <a:ext cx="2850356" cy="1424955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431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39141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46310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46310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Д-RU.RA01.B.03123/21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804142"/>
            <a:ext cx="209579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СТО: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5134" y="1804142"/>
            <a:ext cx="55741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135-2018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50069" y="1961974"/>
            <a:ext cx="2151720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5011" y="1961974"/>
            <a:ext cx="433586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731" dirty="0"/>
          </a:p>
        </p:txBody>
      </p:sp>
      <p:sp>
        <p:nvSpPr>
          <p:cNvPr id="24" name="Shape 22"/>
          <p:cNvSpPr/>
          <p:nvPr/>
        </p:nvSpPr>
        <p:spPr>
          <a:xfrm>
            <a:off x="550069" y="2209103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403997" y="1285550"/>
            <a:ext cx="5336381" cy="2678797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50444" y="1431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3736180" y="1439141"/>
            <a:ext cx="28474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896673"/>
              </p:ext>
            </p:extLst>
          </p:nvPr>
        </p:nvGraphicFramePr>
        <p:xfrm>
          <a:off x="3550444" y="1646310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0" name="Text 9"/>
          <p:cNvSpPr/>
          <p:nvPr/>
        </p:nvSpPr>
        <p:spPr>
          <a:xfrm>
            <a:off x="400050" y="702692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</a:t>
            </a: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фасадная атмосферостойкая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326664" y="507345"/>
            <a:ext cx="8208169" cy="1057136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пола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акриловая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904" y="704303"/>
            <a:ext cx="7020866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ru-RU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14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18595" y="823017"/>
            <a:ext cx="1378364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041455" y="835819"/>
            <a:ext cx="13326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4154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2666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4453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63027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4453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Д-RU.PA01.B.00229/22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44453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10.02.2027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15558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27346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459199" y="1775222"/>
            <a:ext cx="2906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215304"/>
              </p:ext>
            </p:extLst>
          </p:nvPr>
        </p:nvGraphicFramePr>
        <p:xfrm>
          <a:off x="327346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91442" y="1196848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ourier New"/>
              </a:rPr>
              <a:t>СТО: </a:t>
            </a:r>
            <a:r>
              <a:rPr sz="700" dirty="0" smtClean="0">
                <a:latin typeface="Courier New"/>
              </a:rPr>
              <a:t>05744283-060-2010</a:t>
            </a:r>
            <a:endParaRPr sz="700" dirty="0">
              <a:latin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050" y="456628"/>
            <a:ext cx="4249772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772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762295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775097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Д1 · Т1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0531" y="1250156"/>
            <a:ext cx="2850356" cy="920807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6978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682715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978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68454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Д-RU.PA01.B.01134/26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496978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37493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24.05.2031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496978" y="201587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403997" y="1250156"/>
            <a:ext cx="5336381" cy="2714210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1" y="1403747"/>
            <a:ext cx="29654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32834" y="899813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</a:t>
            </a:r>
            <a:r>
              <a:rPr sz="700" dirty="0" smtClean="0">
                <a:solidFill>
                  <a:srgbClr val="555555"/>
                </a:solidFill>
                <a:latin typeface="Courier New"/>
              </a:rPr>
              <a:t>05744283-062-2010</a:t>
            </a:r>
            <a:endParaRPr sz="700" dirty="0">
              <a:solidFill>
                <a:srgbClr val="555555"/>
              </a:solidFill>
              <a:latin typeface="Courier New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325827" y="646548"/>
            <a:ext cx="2754344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54"/>
              </a:lnSpc>
            </a:pP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акриловая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универсальная</a:t>
            </a:r>
            <a:endParaRPr lang="en-US" sz="12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0050" y="1199501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050" y="465792"/>
            <a:ext cx="4010468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12868" y="671025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815386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828188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В2 · Д2 · Т2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320944"/>
            <a:ext cx="2850356" cy="1130052"/>
          </a:xfrm>
          <a:prstGeom prst="roundRect">
            <a:avLst>
              <a:gd name="adj" fmla="val 10115"/>
            </a:avLst>
          </a:prstGeom>
          <a:solidFill>
            <a:schemeClr val="bg1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5806" y="1474535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</a:t>
            </a: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ВНИМАНИЕ</a:t>
            </a:r>
          </a:p>
        </p:txBody>
      </p:sp>
      <p:sp>
        <p:nvSpPr>
          <p:cNvPr id="18" name="Text 16"/>
          <p:cNvSpPr/>
          <p:nvPr/>
        </p:nvSpPr>
        <p:spPr>
          <a:xfrm>
            <a:off x="550069" y="1681704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81704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Д-RU.RA01.B.00950/26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839536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839536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20.05.2031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86665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403997" y="1320944"/>
            <a:ext cx="5336381" cy="3186113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50444" y="14673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736181" y="1474535"/>
            <a:ext cx="23360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10724"/>
              </p:ext>
            </p:extLst>
          </p:nvPr>
        </p:nvGraphicFramePr>
        <p:xfrm>
          <a:off x="3550444" y="1681704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331752" y="996907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</a:t>
            </a:r>
            <a:r>
              <a:rPr sz="700" dirty="0" smtClean="0">
                <a:solidFill>
                  <a:srgbClr val="555555"/>
                </a:solidFill>
                <a:latin typeface="Courier New"/>
              </a:rPr>
              <a:t>05744283-062-2010</a:t>
            </a:r>
            <a:endParaRPr sz="700" dirty="0">
              <a:solidFill>
                <a:srgbClr val="555555"/>
              </a:solidFill>
              <a:latin typeface="Courier New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901" y="688722"/>
            <a:ext cx="34727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акриловая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универсальная </a:t>
            </a:r>
            <a:r>
              <a:rPr lang="en-US" sz="12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матовая</a:t>
            </a:r>
            <a:r>
              <a:rPr lang="en-US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1200" dirty="0"/>
          </a:p>
        </p:txBody>
      </p:sp>
      <p:sp>
        <p:nvSpPr>
          <p:cNvPr id="35" name="Text 14"/>
          <p:cNvSpPr/>
          <p:nvPr/>
        </p:nvSpPr>
        <p:spPr>
          <a:xfrm>
            <a:off x="561867" y="14715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00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5014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11848" y="425618"/>
            <a:ext cx="4604861" cy="2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29716" y="482203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61619" y="626564"/>
            <a:ext cx="1705191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9085" y="639366"/>
            <a:ext cx="165947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Д2 · Т2 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3622" y="1271588"/>
            <a:ext cx="2850356" cy="1045220"/>
          </a:xfrm>
          <a:prstGeom prst="roundRect">
            <a:avLst>
              <a:gd name="adj" fmla="val 1093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5806" y="142517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E65100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⚠ ДС В БАЗЕ ЗНАНИЙ ОТСУТСТВУЕТ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0069" y="1632347"/>
            <a:ext cx="17603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069" y="1843980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14338" y="903685"/>
            <a:ext cx="3479236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900" dirty="0" smtClean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СТО 012-2011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3997" y="1271589"/>
            <a:ext cx="5336381" cy="2645584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50444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736180" y="1425178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32347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4" name="Прямоугольник 33"/>
          <p:cNvSpPr/>
          <p:nvPr/>
        </p:nvSpPr>
        <p:spPr>
          <a:xfrm>
            <a:off x="325827" y="605255"/>
            <a:ext cx="2815964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54"/>
              </a:lnSpc>
            </a:pP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радиаторов отопления</a:t>
            </a:r>
            <a:endParaRPr lang="en-US" sz="12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00A859">
                    <a:alpha val="5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1506" y="769459"/>
            <a:ext cx="6760454" cy="305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>
              <a:lnSpc>
                <a:spcPts val="1654"/>
              </a:lnSpc>
            </a:pPr>
            <a:r>
              <a:rPr lang="en-US" sz="56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PROFIWOOD</a:t>
            </a:r>
          </a:p>
          <a:p>
            <a:pPr>
              <a:lnSpc>
                <a:spcPts val="1654"/>
              </a:lnSpc>
            </a:pP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48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Огнебиозащитный</a:t>
            </a:r>
            <a:r>
              <a:rPr lang="ru-RU" sz="4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состав 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r>
              <a:rPr lang="ru-RU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48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</a:t>
            </a:r>
            <a:r>
              <a:rPr lang="ru-RU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 </a:t>
            </a:r>
            <a:r>
              <a:rPr lang="ru-RU" sz="48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</a:t>
            </a:r>
            <a:r>
              <a:rPr lang="ru-RU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ББ-</a:t>
            </a:r>
            <a:r>
              <a:rPr lang="en-US" sz="6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4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581466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ЕАЭС RU C-RU.ПБ68.В.02464/26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5814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ТР ЕАЭС 043-2017 · до </a:t>
            </a:r>
            <a:r>
              <a:rPr lang="en-US" sz="700" b="1" dirty="0">
                <a:solidFill>
                  <a:srgbClr val="1F4E7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29.03.2031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332559" y="1671638"/>
            <a:ext cx="5379244" cy="2589609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44" name="Text 40"/>
          <p:cNvSpPr/>
          <p:nvPr/>
        </p:nvSpPr>
        <p:spPr>
          <a:xfrm>
            <a:off x="3636169" y="1775222"/>
            <a:ext cx="279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526648" y="1791295"/>
            <a:ext cx="742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ПРОПИТКИ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2" cy="1123476"/>
        </p:xfrm>
        <a:graphic>
          <a:graphicData uri="http://schemas.openxmlformats.org/drawingml/2006/table">
            <a:tbl>
              <a:tblPr/>
              <a:tblGrid>
                <a:gridCol w="2198489"/>
                <a:gridCol w="888392"/>
                <a:gridCol w="1010617"/>
                <a:gridCol w="97456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Деревянные конструкции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ДСП, МДФ, фанера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Все зоны (после пропитки)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21506" y="12430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ГОСТ 28815-2018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82381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Компаунд эпоксидный EMPILS E 608</a:t>
            </a:r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C-RU.ПБ68.В.02055/24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ТР № 123-ФЗ · до </a:t>
            </a:r>
            <a:r>
              <a:rPr lang="en-US" sz="700" b="1" dirty="0">
                <a:solidFill>
                  <a:srgbClr val="1F4E7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27.10.2029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7056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80213" y="122093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СТО 05744283-174-2023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1313</Words>
  <Application>Microsoft Office PowerPoint</Application>
  <PresentationFormat>Экран (16:9)</PresentationFormat>
  <Paragraphs>590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53</cp:revision>
  <dcterms:created xsi:type="dcterms:W3CDTF">2026-09-29T07:29:24Z</dcterms:created>
  <dcterms:modified xsi:type="dcterms:W3CDTF">2026-09-29T11:32:38Z</dcterms:modified>
</cp:coreProperties>
</file>