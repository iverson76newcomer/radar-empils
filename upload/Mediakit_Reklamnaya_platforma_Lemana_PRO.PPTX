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11309350" cx="20104100"/>
  <p:notesSz cx="20104100" cy="11309350"/>
  <p:embeddedFontLst>
    <p:embeddedFont>
      <p:font typeface="Inter"/>
      <p:regular r:id="rId53"/>
      <p:bold r:id="rId54"/>
      <p:italic r:id="rId55"/>
      <p:boldItalic r:id="rId56"/>
    </p:embeddedFont>
    <p:embeddedFont>
      <p:font typeface="Tahoma"/>
      <p:regular r:id="rId57"/>
      <p:bold r:id="rId58"/>
    </p:embeddedFont>
    <p:embeddedFont>
      <p:font typeface="Open Sans SemiBold"/>
      <p:regular r:id="rId59"/>
      <p:bold r:id="rId60"/>
      <p:italic r:id="rId61"/>
      <p:boldItalic r:id="rId62"/>
    </p:embeddedFont>
    <p:embeddedFont>
      <p:font typeface="Open Sans Light"/>
      <p:regular r:id="rId63"/>
      <p:bold r:id="rId64"/>
      <p:italic r:id="rId65"/>
      <p:boldItalic r:id="rId66"/>
    </p:embeddedFont>
    <p:embeddedFont>
      <p:font typeface="Open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0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OpenSans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SemiBold-boldItalic.fntdata"/><Relationship Id="rId61" Type="http://schemas.openxmlformats.org/officeDocument/2006/relationships/font" Target="fonts/OpenSansSemiBold-italic.fntdata"/><Relationship Id="rId20" Type="http://schemas.openxmlformats.org/officeDocument/2006/relationships/slide" Target="slides/slide15.xml"/><Relationship Id="rId64" Type="http://schemas.openxmlformats.org/officeDocument/2006/relationships/font" Target="fonts/OpenSansLight-bold.fntdata"/><Relationship Id="rId63" Type="http://schemas.openxmlformats.org/officeDocument/2006/relationships/font" Target="fonts/OpenSansLight-regular.fntdata"/><Relationship Id="rId22" Type="http://schemas.openxmlformats.org/officeDocument/2006/relationships/slide" Target="slides/slide17.xml"/><Relationship Id="rId66" Type="http://schemas.openxmlformats.org/officeDocument/2006/relationships/font" Target="fonts/OpenSansLight-boldItalic.fntdata"/><Relationship Id="rId21" Type="http://schemas.openxmlformats.org/officeDocument/2006/relationships/slide" Target="slides/slide16.xml"/><Relationship Id="rId65" Type="http://schemas.openxmlformats.org/officeDocument/2006/relationships/font" Target="fonts/OpenSansLight-italic.fntdata"/><Relationship Id="rId24" Type="http://schemas.openxmlformats.org/officeDocument/2006/relationships/slide" Target="slides/slide19.xml"/><Relationship Id="rId68" Type="http://schemas.openxmlformats.org/officeDocument/2006/relationships/font" Target="fonts/OpenSans-bold.fntdata"/><Relationship Id="rId23" Type="http://schemas.openxmlformats.org/officeDocument/2006/relationships/slide" Target="slides/slide18.xml"/><Relationship Id="rId67" Type="http://schemas.openxmlformats.org/officeDocument/2006/relationships/font" Target="fonts/OpenSans-regular.fntdata"/><Relationship Id="rId60" Type="http://schemas.openxmlformats.org/officeDocument/2006/relationships/font" Target="fonts/OpenSansSemiBold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pen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Inter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Inter-italic.fntdata"/><Relationship Id="rId10" Type="http://schemas.openxmlformats.org/officeDocument/2006/relationships/slide" Target="slides/slide5.xml"/><Relationship Id="rId54" Type="http://schemas.openxmlformats.org/officeDocument/2006/relationships/font" Target="fonts/Inter-bold.fntdata"/><Relationship Id="rId13" Type="http://schemas.openxmlformats.org/officeDocument/2006/relationships/slide" Target="slides/slide8.xml"/><Relationship Id="rId57" Type="http://schemas.openxmlformats.org/officeDocument/2006/relationships/font" Target="fonts/Tahoma-regular.fntdata"/><Relationship Id="rId12" Type="http://schemas.openxmlformats.org/officeDocument/2006/relationships/slide" Target="slides/slide7.xml"/><Relationship Id="rId56" Type="http://schemas.openxmlformats.org/officeDocument/2006/relationships/font" Target="fonts/Inter-boldItalic.fntdata"/><Relationship Id="rId15" Type="http://schemas.openxmlformats.org/officeDocument/2006/relationships/slide" Target="slides/slide10.xml"/><Relationship Id="rId59" Type="http://schemas.openxmlformats.org/officeDocument/2006/relationships/font" Target="fonts/OpenSansSemiBold-regular.fntdata"/><Relationship Id="rId14" Type="http://schemas.openxmlformats.org/officeDocument/2006/relationships/slide" Target="slides/slide9.xml"/><Relationship Id="rId58" Type="http://schemas.openxmlformats.org/officeDocument/2006/relationships/font" Target="fonts/Tahom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573fe4a75_0_3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573fe4a75_0_3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4573fe4a75_0_3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b61b0bae6_0_129:notes"/>
          <p:cNvSpPr txBox="1"/>
          <p:nvPr>
            <p:ph idx="1" type="body"/>
          </p:nvPr>
        </p:nvSpPr>
        <p:spPr>
          <a:xfrm>
            <a:off x="2680547" y="5371941"/>
            <a:ext cx="14742900" cy="50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2b61b0bae6_0_129:notes"/>
          <p:cNvSpPr/>
          <p:nvPr>
            <p:ph idx="2" type="sldImg"/>
          </p:nvPr>
        </p:nvSpPr>
        <p:spPr>
          <a:xfrm>
            <a:off x="3354446" y="848201"/>
            <a:ext cx="133956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ccc75a99b_1_0:notes"/>
          <p:cNvSpPr txBox="1"/>
          <p:nvPr>
            <p:ph idx="1" type="body"/>
          </p:nvPr>
        </p:nvSpPr>
        <p:spPr>
          <a:xfrm>
            <a:off x="2680547" y="5371941"/>
            <a:ext cx="14742900" cy="50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2ccc75a99b_1_0:notes"/>
          <p:cNvSpPr/>
          <p:nvPr>
            <p:ph idx="2" type="sldImg"/>
          </p:nvPr>
        </p:nvSpPr>
        <p:spPr>
          <a:xfrm>
            <a:off x="3354446" y="848201"/>
            <a:ext cx="133956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ccc75a99b_1_87:notes"/>
          <p:cNvSpPr txBox="1"/>
          <p:nvPr>
            <p:ph idx="1" type="body"/>
          </p:nvPr>
        </p:nvSpPr>
        <p:spPr>
          <a:xfrm>
            <a:off x="2680547" y="5371941"/>
            <a:ext cx="14742900" cy="50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2ccc75a99b_1_87:notes"/>
          <p:cNvSpPr/>
          <p:nvPr>
            <p:ph idx="2" type="sldImg"/>
          </p:nvPr>
        </p:nvSpPr>
        <p:spPr>
          <a:xfrm>
            <a:off x="3354446" y="848201"/>
            <a:ext cx="133956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2ccc75a99b_1_202:notes"/>
          <p:cNvSpPr txBox="1"/>
          <p:nvPr>
            <p:ph idx="1" type="body"/>
          </p:nvPr>
        </p:nvSpPr>
        <p:spPr>
          <a:xfrm>
            <a:off x="2680547" y="5371941"/>
            <a:ext cx="14742900" cy="508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2ccc75a99b_1_202:notes"/>
          <p:cNvSpPr/>
          <p:nvPr>
            <p:ph idx="2" type="sldImg"/>
          </p:nvPr>
        </p:nvSpPr>
        <p:spPr>
          <a:xfrm>
            <a:off x="3354446" y="848201"/>
            <a:ext cx="133956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7612d2e5a_1_2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47612d2e5a_1_2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6289f551fd_0_1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6289f551fd_0_1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238b165bd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6238b165bd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238b165bd_0_2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6238b165bd_0_2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238b165bd_0_4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6238b165bd_0_4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4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68445ba22_0_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768445ba22_0_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6238b165bd_0_6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6238b165bd_0_6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58f675275d_0_17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58f675275d_0_17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5d9311f8e8_8_7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5d9311f8e8_8_7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35d9311f8e8_8_7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5d9311f8e8_4_66:notes"/>
          <p:cNvSpPr txBox="1"/>
          <p:nvPr>
            <p:ph idx="1" type="body"/>
          </p:nvPr>
        </p:nvSpPr>
        <p:spPr>
          <a:xfrm>
            <a:off x="2010410" y="5442625"/>
            <a:ext cx="16083300" cy="4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150" lIns="216375" spcFirstLastPara="1" rIns="216375" wrap="square" tIns="10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5d9311f8e8_4_66:notes"/>
          <p:cNvSpPr/>
          <p:nvPr>
            <p:ph idx="2" type="sldImg"/>
          </p:nvPr>
        </p:nvSpPr>
        <p:spPr>
          <a:xfrm>
            <a:off x="2010974" y="1413669"/>
            <a:ext cx="16082100" cy="381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5d9311f8e8_4_172:notes"/>
          <p:cNvSpPr txBox="1"/>
          <p:nvPr>
            <p:ph idx="1" type="body"/>
          </p:nvPr>
        </p:nvSpPr>
        <p:spPr>
          <a:xfrm>
            <a:off x="2010410" y="5442625"/>
            <a:ext cx="16083300" cy="4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150" lIns="216375" spcFirstLastPara="1" rIns="216375" wrap="square" tIns="10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g35d9311f8e8_4_172:notes"/>
          <p:cNvSpPr/>
          <p:nvPr>
            <p:ph idx="2" type="sldImg"/>
          </p:nvPr>
        </p:nvSpPr>
        <p:spPr>
          <a:xfrm>
            <a:off x="2010974" y="1413669"/>
            <a:ext cx="16082100" cy="381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6289f551fd_0_134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6289f551fd_0_134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6289f551fd_0_6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6289f551fd_0_61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5d9311f8e8_4_8:notes"/>
          <p:cNvSpPr txBox="1"/>
          <p:nvPr>
            <p:ph idx="1" type="body"/>
          </p:nvPr>
        </p:nvSpPr>
        <p:spPr>
          <a:xfrm>
            <a:off x="2010410" y="5442625"/>
            <a:ext cx="16083300" cy="4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150" lIns="216375" spcFirstLastPara="1" rIns="216375" wrap="square" tIns="108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5d9311f8e8_4_8:notes"/>
          <p:cNvSpPr/>
          <p:nvPr>
            <p:ph idx="2" type="sldImg"/>
          </p:nvPr>
        </p:nvSpPr>
        <p:spPr>
          <a:xfrm>
            <a:off x="2010974" y="1413669"/>
            <a:ext cx="16082100" cy="381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4573fe4a75_0_12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g34573fe4a75_0_12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2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6289f551fd_0_261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6289f551fd_0_261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6289f551fd_0_261:notes"/>
          <p:cNvSpPr txBox="1"/>
          <p:nvPr>
            <p:ph idx="12" type="sldNum"/>
          </p:nvPr>
        </p:nvSpPr>
        <p:spPr>
          <a:xfrm>
            <a:off x="11387138" y="10742613"/>
            <a:ext cx="8712600" cy="566700"/>
          </a:xfrm>
          <a:prstGeom prst="rect">
            <a:avLst/>
          </a:prstGeom>
        </p:spPr>
        <p:txBody>
          <a:bodyPr anchorCtr="0" anchor="b" bIns="107500" lIns="107500" spcFirstLastPara="1" rIns="107500" wrap="square" tIns="107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745a4eb78d_3_0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745a4eb78d_3_0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745a4eb78d_3_0:notes"/>
          <p:cNvSpPr txBox="1"/>
          <p:nvPr>
            <p:ph idx="12" type="sldNum"/>
          </p:nvPr>
        </p:nvSpPr>
        <p:spPr>
          <a:xfrm>
            <a:off x="11387138" y="10742613"/>
            <a:ext cx="8712600" cy="566700"/>
          </a:xfrm>
          <a:prstGeom prst="rect">
            <a:avLst/>
          </a:prstGeom>
        </p:spPr>
        <p:txBody>
          <a:bodyPr anchorCtr="0" anchor="b" bIns="107500" lIns="107500" spcFirstLastPara="1" rIns="107500" wrap="square" tIns="107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745a4eb78d_3_135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745a4eb78d_3_135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g3745a4eb78d_3_135:notes"/>
          <p:cNvSpPr txBox="1"/>
          <p:nvPr>
            <p:ph idx="12" type="sldNum"/>
          </p:nvPr>
        </p:nvSpPr>
        <p:spPr>
          <a:xfrm>
            <a:off x="11387138" y="10742613"/>
            <a:ext cx="8712600" cy="566700"/>
          </a:xfrm>
          <a:prstGeom prst="rect">
            <a:avLst/>
          </a:prstGeom>
        </p:spPr>
        <p:txBody>
          <a:bodyPr anchorCtr="0" anchor="b" bIns="107500" lIns="107500" spcFirstLastPara="1" rIns="107500" wrap="square" tIns="107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745a4eb78d_3_277:notes"/>
          <p:cNvSpPr/>
          <p:nvPr>
            <p:ph idx="2" type="sldImg"/>
          </p:nvPr>
        </p:nvSpPr>
        <p:spPr>
          <a:xfrm>
            <a:off x="6659563" y="1414463"/>
            <a:ext cx="67854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3745a4eb78d_3_277:notes"/>
          <p:cNvSpPr txBox="1"/>
          <p:nvPr>
            <p:ph idx="1" type="body"/>
          </p:nvPr>
        </p:nvSpPr>
        <p:spPr>
          <a:xfrm>
            <a:off x="2009775" y="5441950"/>
            <a:ext cx="16084200" cy="445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745a4eb78d_3_277:notes"/>
          <p:cNvSpPr txBox="1"/>
          <p:nvPr>
            <p:ph idx="12" type="sldNum"/>
          </p:nvPr>
        </p:nvSpPr>
        <p:spPr>
          <a:xfrm>
            <a:off x="11387138" y="10742613"/>
            <a:ext cx="8712600" cy="566700"/>
          </a:xfrm>
          <a:prstGeom prst="rect">
            <a:avLst/>
          </a:prstGeom>
        </p:spPr>
        <p:txBody>
          <a:bodyPr anchorCtr="0" anchor="b" bIns="107500" lIns="107500" spcFirstLastPara="1" rIns="107500" wrap="square" tIns="107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22798" y="10058197"/>
            <a:ext cx="10369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3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" name="Google Shape;31;p4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3246"/>
            <a:ext cx="20104100" cy="11303000"/>
          </a:xfrm>
          <a:custGeom>
            <a:rect b="b" l="l" r="r" t="t"/>
            <a:pathLst>
              <a:path extrusionOk="0" h="11303000" w="2009775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137902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1">
  <p:cSld name="Table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subTitle"/>
          </p:nvPr>
        </p:nvSpPr>
        <p:spPr>
          <a:xfrm>
            <a:off x="1110892" y="10418750"/>
            <a:ext cx="10369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2">
  <p:cSld name="Table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0" y="3246"/>
            <a:ext cx="20104100" cy="11303000"/>
          </a:xfrm>
          <a:custGeom>
            <a:rect b="b" l="l" r="r" t="t"/>
            <a:pathLst>
              <a:path extrusionOk="0" h="11303000" w="2009775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7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2" type="subTitle"/>
          </p:nvPr>
        </p:nvSpPr>
        <p:spPr>
          <a:xfrm>
            <a:off x="1110892" y="10418750"/>
            <a:ext cx="10369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" name="Google Shape;56;p8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0"/>
          <p:cNvPicPr preferRelativeResize="0"/>
          <p:nvPr/>
        </p:nvPicPr>
        <p:blipFill rotWithShape="1">
          <a:blip r:embed="rId2">
            <a:alphaModFix/>
          </a:blip>
          <a:srcRect b="0" l="47058" r="0" t="0"/>
          <a:stretch/>
        </p:blipFill>
        <p:spPr>
          <a:xfrm>
            <a:off x="-46844" y="-39302"/>
            <a:ext cx="1009889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1"/>
          <p:cNvPicPr preferRelativeResize="0"/>
          <p:nvPr/>
        </p:nvPicPr>
        <p:blipFill rotWithShape="1">
          <a:blip r:embed="rId2">
            <a:alphaModFix/>
          </a:blip>
          <a:srcRect b="0" l="47058" r="0" t="0"/>
          <a:stretch/>
        </p:blipFill>
        <p:spPr>
          <a:xfrm flipH="1">
            <a:off x="10069351" y="-39302"/>
            <a:ext cx="1009889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2">
  <p:cSld name="chapter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and gray sofa chair near window" id="72" name="Google Shape;7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2640" y="-37990"/>
            <a:ext cx="15554546" cy="1138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12"/>
          <p:cNvSpPr txBox="1"/>
          <p:nvPr>
            <p:ph type="ctrTitle"/>
          </p:nvPr>
        </p:nvSpPr>
        <p:spPr>
          <a:xfrm>
            <a:off x="979042" y="2270299"/>
            <a:ext cx="4180432" cy="217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F37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6" name="Google Shape;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">
  <p:cSld name="chapt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and gray sofa chair near window" id="78" name="Google Shape;7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2640" y="-37990"/>
            <a:ext cx="15554546" cy="1138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>
            <p:ph type="ctrTitle"/>
          </p:nvPr>
        </p:nvSpPr>
        <p:spPr>
          <a:xfrm>
            <a:off x="1110892" y="623515"/>
            <a:ext cx="1664908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">
  <p:cSld name="Yellow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0" y="3246"/>
            <a:ext cx="20104100" cy="11303000"/>
          </a:xfrm>
          <a:custGeom>
            <a:rect b="b" l="l" r="r" t="t"/>
            <a:pathLst>
              <a:path extrusionOk="0" h="11303000" w="2009775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6835394" y="10511084"/>
            <a:ext cx="6433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1110892" y="10511084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" name="Google Shape;88;p14"/>
          <p:cNvSpPr txBox="1"/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-43547" y="-21765"/>
            <a:ext cx="20191193" cy="11351966"/>
          </a:xfrm>
          <a:custGeom>
            <a:rect b="b" l="l" r="r" t="t"/>
            <a:pathLst>
              <a:path extrusionOk="0" h="11303000" w="2009775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3547" y="-21765"/>
            <a:ext cx="7132411" cy="1135196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3" name="Google Shape;93;p15"/>
          <p:cNvSpPr txBox="1"/>
          <p:nvPr>
            <p:ph type="ctrTitle"/>
          </p:nvPr>
        </p:nvSpPr>
        <p:spPr>
          <a:xfrm>
            <a:off x="7891810" y="4980761"/>
            <a:ext cx="1094521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200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showMasterSp="0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19076529" y="10516988"/>
            <a:ext cx="24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1110891" y="623864"/>
            <a:ext cx="166491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1122798" y="9971462"/>
            <a:ext cx="1036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2400"/>
              <a:buFont typeface="Arial"/>
              <a:buNone/>
              <a:defRPr sz="2400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2400"/>
              <a:buFont typeface="Arial"/>
              <a:buNone/>
              <a:defRPr sz="2400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2400"/>
              <a:buFont typeface="Arial"/>
              <a:buNone/>
              <a:defRPr sz="2400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2400"/>
              <a:buFont typeface="Arial"/>
              <a:buNone/>
              <a:defRPr sz="2400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2400"/>
              <a:buFont typeface="Arial"/>
              <a:buNone/>
              <a:defRPr sz="2400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110891" y="623864"/>
            <a:ext cx="166491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1122798" y="10063847"/>
            <a:ext cx="10369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19076529" y="10516988"/>
            <a:ext cx="24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азовый макет. Заголовок и подзаголовок в две строки">
  <p:cSld name="Базовый макет. Заголовок и подзаголовок в две строки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52268" y="1457798"/>
            <a:ext cx="19099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3600"/>
              <a:buNone/>
              <a:defRPr b="1" sz="360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82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381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3pPr>
            <a:lvl4pPr indent="-4191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452268" y="2151982"/>
            <a:ext cx="19099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rgbClr val="474747"/>
              </a:buClr>
              <a:buSzPts val="2000"/>
              <a:buNone/>
              <a:defRPr sz="2000">
                <a:solidFill>
                  <a:srgbClr val="474747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452268" y="3204786"/>
            <a:ext cx="19099500" cy="4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33346" y="501861"/>
            <a:ext cx="15552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sz="2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82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381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3pPr>
            <a:lvl4pPr indent="-4191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6pPr>
            <a:lvl7pPr indent="-4191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7pPr>
            <a:lvl8pPr indent="-4191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8pPr>
            <a:lvl9pPr indent="-4191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56">
          <p15:clr>
            <a:srgbClr val="FBAE40"/>
          </p15:clr>
        </p15:guide>
        <p15:guide id="2" orient="horz" pos="199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05205" y="623144"/>
            <a:ext cx="17475305" cy="4077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6355695" y="10517696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A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jpg"/><Relationship Id="rId4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forms.yandex.ru/cloud/6825b5e1505690570addae87/" TargetMode="External"/><Relationship Id="rId4" Type="http://schemas.openxmlformats.org/officeDocument/2006/relationships/hyperlink" Target="https://lemanapro.ru/brands/dexter/?brand=DEXTER" TargetMode="External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hyperlink" Target="https://forms.yandex.ru/cloud/6825b5e1505690570addae87/" TargetMode="External"/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Relationship Id="rId5" Type="http://schemas.openxmlformats.org/officeDocument/2006/relationships/image" Target="../media/image41.png"/><Relationship Id="rId6" Type="http://schemas.openxmlformats.org/officeDocument/2006/relationships/image" Target="../media/image48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47.png"/><Relationship Id="rId13" Type="http://schemas.openxmlformats.org/officeDocument/2006/relationships/hyperlink" Target="https://forms.yandex.ru/cloud/6825b5e1505690570addae87/" TargetMode="External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9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0" Type="http://schemas.openxmlformats.org/officeDocument/2006/relationships/hyperlink" Target="https://forms.yandex.ru/cloud/67e00c99d04688803ad87402/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9" Type="http://schemas.openxmlformats.org/officeDocument/2006/relationships/image" Target="../media/image23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image62.png"/><Relationship Id="rId5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7.png"/><Relationship Id="rId4" Type="http://schemas.openxmlformats.org/officeDocument/2006/relationships/image" Target="../media/image59.png"/><Relationship Id="rId5" Type="http://schemas.openxmlformats.org/officeDocument/2006/relationships/image" Target="../media/image68.png"/><Relationship Id="rId6" Type="http://schemas.openxmlformats.org/officeDocument/2006/relationships/image" Target="../media/image60.png"/><Relationship Id="rId7" Type="http://schemas.openxmlformats.org/officeDocument/2006/relationships/image" Target="../media/image64.png"/><Relationship Id="rId8" Type="http://schemas.openxmlformats.org/officeDocument/2006/relationships/image" Target="../media/image7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4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0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lemanapro.ru/promotion/" TargetMode="External"/><Relationship Id="rId4" Type="http://schemas.openxmlformats.org/officeDocument/2006/relationships/hyperlink" Target="https://partner.lemanapro.ru/help/onboarding" TargetMode="External"/><Relationship Id="rId9" Type="http://schemas.openxmlformats.org/officeDocument/2006/relationships/hyperlink" Target="https://forms.yandex.ru/cloud/670e4e3f73cee7d3673d1016" TargetMode="External"/><Relationship Id="rId5" Type="http://schemas.openxmlformats.org/officeDocument/2006/relationships/hyperlink" Target="https://forms.yandex.ru/cloud/670e4e3f73cee7d3673d1016" TargetMode="External"/><Relationship Id="rId6" Type="http://schemas.openxmlformats.org/officeDocument/2006/relationships/hyperlink" Target="https://forms.yandex.ru/cloud/670e4e3f73cee7d3673d1016" TargetMode="External"/><Relationship Id="rId7" Type="http://schemas.openxmlformats.org/officeDocument/2006/relationships/hyperlink" Target="https://forms.yandex.ru/cloud/670e4e3f73cee7d3673d1016" TargetMode="External"/><Relationship Id="rId8" Type="http://schemas.openxmlformats.org/officeDocument/2006/relationships/hyperlink" Target="https://forms.yandex.ru/cloud/670e4e3f73cee7d3673d1016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hyperlink" Target="mailto:promo_support@leroymerlin.ru" TargetMode="External"/><Relationship Id="rId6" Type="http://schemas.openxmlformats.org/officeDocument/2006/relationships/hyperlink" Target="mailto:promo_support@leroymerlin.ru" TargetMode="External"/><Relationship Id="rId7" Type="http://schemas.openxmlformats.org/officeDocument/2006/relationships/hyperlink" Target="mailto:promo_support@leroymerlin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облако, небо, на открытом воздухе, строительство&#10;&#10;Автоматически созданное описание" id="112" name="Google Shape;112;p20"/>
          <p:cNvPicPr preferRelativeResize="0"/>
          <p:nvPr/>
        </p:nvPicPr>
        <p:blipFill rotWithShape="1">
          <a:blip r:embed="rId3">
            <a:alphaModFix/>
          </a:blip>
          <a:srcRect b="9790" l="0" r="25243" t="21210"/>
          <a:stretch/>
        </p:blipFill>
        <p:spPr>
          <a:xfrm>
            <a:off x="7819802" y="0"/>
            <a:ext cx="12306731" cy="11354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1077" y="-39302"/>
            <a:ext cx="19075484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>
            <p:ph type="ctrTitle"/>
          </p:nvPr>
        </p:nvSpPr>
        <p:spPr>
          <a:xfrm>
            <a:off x="1110892" y="623515"/>
            <a:ext cx="9517222" cy="218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Рекламная платформа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 txBox="1"/>
          <p:nvPr>
            <p:ph type="ctrTitle"/>
          </p:nvPr>
        </p:nvSpPr>
        <p:spPr>
          <a:xfrm>
            <a:off x="1907040" y="832258"/>
            <a:ext cx="16862038" cy="1213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Содержание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861272" y="3062387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Лемана Про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861272" y="8390979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получить доступ в рекламный кабинет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2861272" y="3922571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Рекламная платформа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2886306" y="4782755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Доступные рекламные форматы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861272" y="5714947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Модели закупки и пакетные предложения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853166" y="6581248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Аналитика в рекламном кабинет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861272" y="9349149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Контакты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2160980" y="3112581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213624" y="3075762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2160980" y="3963302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2174179" y="3926483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2160980" y="4862587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2160980" y="5763502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2177660" y="5731528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2160980" y="6673748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2177660" y="6636929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2160980" y="8537143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177660" y="8502515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160980" y="9462912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2201445" y="9426093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2177660" y="4821227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2861272" y="7476949"/>
            <a:ext cx="10118072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Кейсы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2160980" y="7623113"/>
            <a:ext cx="409163" cy="403416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2177660" y="7588485"/>
            <a:ext cx="29149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type="ctrTitle"/>
          </p:nvPr>
        </p:nvSpPr>
        <p:spPr>
          <a:xfrm>
            <a:off x="1110892" y="623515"/>
            <a:ext cx="9517222" cy="1213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О</a:t>
            </a:r>
            <a:r>
              <a:rPr lang="ru-RU"/>
              <a:t> </a:t>
            </a: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Лемана ПРО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ctrTitle"/>
          </p:nvPr>
        </p:nvSpPr>
        <p:spPr>
          <a:xfrm>
            <a:off x="1110892" y="623515"/>
            <a:ext cx="18446213" cy="4567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189865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DC300"/>
                </a:solidFill>
              </a:rPr>
              <a:t>Лемана ПРО –</a:t>
            </a:r>
            <a:r>
              <a:rPr lang="ru-RU">
                <a:solidFill>
                  <a:srgbClr val="000000"/>
                </a:solidFill>
              </a:rPr>
              <a:t> </a:t>
            </a:r>
            <a:r>
              <a:rPr lang="ru-RU"/>
              <a:t>лидер по доле в DIY</a:t>
            </a:r>
            <a:br>
              <a:rPr lang="ru-RU"/>
            </a:br>
            <a:r>
              <a:rPr lang="ru-RU" sz="8000"/>
              <a:t>в городах присутствия сети</a:t>
            </a:r>
            <a:br>
              <a:rPr lang="ru-RU" sz="8000"/>
            </a:br>
            <a:r>
              <a:rPr lang="ru-RU">
                <a:solidFill>
                  <a:srgbClr val="000000"/>
                </a:solidFill>
              </a:rPr>
              <a:t> </a:t>
            </a:r>
            <a:br>
              <a:rPr lang="ru-RU">
                <a:solidFill>
                  <a:srgbClr val="000000"/>
                </a:solidFill>
              </a:rPr>
            </a:br>
            <a:endParaRPr>
              <a:solidFill>
                <a:srgbClr val="FDC300"/>
              </a:solidFill>
            </a:endParaRPr>
          </a:p>
        </p:txBody>
      </p:sp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63" name="Google Shape;163;p23"/>
          <p:cNvGrpSpPr/>
          <p:nvPr/>
        </p:nvGrpSpPr>
        <p:grpSpPr>
          <a:xfrm>
            <a:off x="1080027" y="3914266"/>
            <a:ext cx="5155029" cy="5124785"/>
            <a:chOff x="635190" y="2618867"/>
            <a:chExt cx="3138805" cy="3120390"/>
          </a:xfrm>
        </p:grpSpPr>
        <p:sp>
          <p:nvSpPr>
            <p:cNvPr id="164" name="Google Shape;164;p23"/>
            <p:cNvSpPr/>
            <p:nvPr/>
          </p:nvSpPr>
          <p:spPr>
            <a:xfrm>
              <a:off x="635190" y="2618867"/>
              <a:ext cx="3138805" cy="3120390"/>
            </a:xfrm>
            <a:custGeom>
              <a:rect b="b" l="l" r="r" t="t"/>
              <a:pathLst>
                <a:path extrusionOk="0" h="3120390" w="3138804">
                  <a:moveTo>
                    <a:pt x="1483550" y="0"/>
                  </a:moveTo>
                  <a:lnTo>
                    <a:pt x="1386395" y="5842"/>
                  </a:lnTo>
                  <a:lnTo>
                    <a:pt x="1305877" y="15112"/>
                  </a:lnTo>
                  <a:lnTo>
                    <a:pt x="1231963" y="34671"/>
                  </a:lnTo>
                  <a:lnTo>
                    <a:pt x="1152207" y="49275"/>
                  </a:lnTo>
                  <a:lnTo>
                    <a:pt x="1005649" y="98933"/>
                  </a:lnTo>
                  <a:lnTo>
                    <a:pt x="932624" y="126365"/>
                  </a:lnTo>
                  <a:lnTo>
                    <a:pt x="866076" y="161290"/>
                  </a:lnTo>
                  <a:lnTo>
                    <a:pt x="794067" y="196850"/>
                  </a:lnTo>
                  <a:lnTo>
                    <a:pt x="733361" y="236600"/>
                  </a:lnTo>
                  <a:lnTo>
                    <a:pt x="664654" y="277113"/>
                  </a:lnTo>
                  <a:lnTo>
                    <a:pt x="604596" y="322199"/>
                  </a:lnTo>
                  <a:lnTo>
                    <a:pt x="545185" y="372618"/>
                  </a:lnTo>
                  <a:lnTo>
                    <a:pt x="437083" y="472059"/>
                  </a:lnTo>
                  <a:lnTo>
                    <a:pt x="383654" y="527304"/>
                  </a:lnTo>
                  <a:lnTo>
                    <a:pt x="336207" y="587121"/>
                  </a:lnTo>
                  <a:lnTo>
                    <a:pt x="294131" y="646430"/>
                  </a:lnTo>
                  <a:lnTo>
                    <a:pt x="247319" y="711581"/>
                  </a:lnTo>
                  <a:lnTo>
                    <a:pt x="175145" y="839597"/>
                  </a:lnTo>
                  <a:lnTo>
                    <a:pt x="139687" y="909066"/>
                  </a:lnTo>
                  <a:lnTo>
                    <a:pt x="109588" y="977773"/>
                  </a:lnTo>
                  <a:lnTo>
                    <a:pt x="84848" y="1045845"/>
                  </a:lnTo>
                  <a:lnTo>
                    <a:pt x="60426" y="1116711"/>
                  </a:lnTo>
                  <a:lnTo>
                    <a:pt x="41694" y="1189609"/>
                  </a:lnTo>
                  <a:lnTo>
                    <a:pt x="23571" y="1267841"/>
                  </a:lnTo>
                  <a:lnTo>
                    <a:pt x="10807" y="1345438"/>
                  </a:lnTo>
                  <a:lnTo>
                    <a:pt x="3416" y="1422400"/>
                  </a:lnTo>
                  <a:lnTo>
                    <a:pt x="1396" y="1498854"/>
                  </a:lnTo>
                  <a:lnTo>
                    <a:pt x="0" y="1580515"/>
                  </a:lnTo>
                  <a:lnTo>
                    <a:pt x="3340" y="1656334"/>
                  </a:lnTo>
                  <a:lnTo>
                    <a:pt x="7302" y="1737360"/>
                  </a:lnTo>
                  <a:lnTo>
                    <a:pt x="36703" y="1897126"/>
                  </a:lnTo>
                  <a:lnTo>
                    <a:pt x="56146" y="1971040"/>
                  </a:lnTo>
                  <a:lnTo>
                    <a:pt x="75895" y="2047621"/>
                  </a:lnTo>
                  <a:lnTo>
                    <a:pt x="100711" y="2120900"/>
                  </a:lnTo>
                  <a:lnTo>
                    <a:pt x="130263" y="2188083"/>
                  </a:lnTo>
                  <a:lnTo>
                    <a:pt x="165798" y="2260092"/>
                  </a:lnTo>
                  <a:lnTo>
                    <a:pt x="200723" y="2326767"/>
                  </a:lnTo>
                  <a:lnTo>
                    <a:pt x="241007" y="2392807"/>
                  </a:lnTo>
                  <a:lnTo>
                    <a:pt x="280669" y="2453513"/>
                  </a:lnTo>
                  <a:lnTo>
                    <a:pt x="326313" y="2518918"/>
                  </a:lnTo>
                  <a:lnTo>
                    <a:pt x="376085" y="2572893"/>
                  </a:lnTo>
                  <a:lnTo>
                    <a:pt x="426491" y="2632329"/>
                  </a:lnTo>
                  <a:lnTo>
                    <a:pt x="476262" y="2686431"/>
                  </a:lnTo>
                  <a:lnTo>
                    <a:pt x="536143" y="2733802"/>
                  </a:lnTo>
                  <a:lnTo>
                    <a:pt x="590664" y="2781935"/>
                  </a:lnTo>
                  <a:lnTo>
                    <a:pt x="650176" y="2826639"/>
                  </a:lnTo>
                  <a:lnTo>
                    <a:pt x="779462" y="2909570"/>
                  </a:lnTo>
                  <a:lnTo>
                    <a:pt x="843470" y="2945638"/>
                  </a:lnTo>
                  <a:lnTo>
                    <a:pt x="981011" y="3005848"/>
                  </a:lnTo>
                  <a:lnTo>
                    <a:pt x="1057846" y="3035020"/>
                  </a:lnTo>
                  <a:lnTo>
                    <a:pt x="1125283" y="3054375"/>
                  </a:lnTo>
                  <a:lnTo>
                    <a:pt x="1204150" y="3077870"/>
                  </a:lnTo>
                  <a:lnTo>
                    <a:pt x="1276413" y="3091243"/>
                  </a:lnTo>
                  <a:lnTo>
                    <a:pt x="1354010" y="3104007"/>
                  </a:lnTo>
                  <a:lnTo>
                    <a:pt x="1508061" y="3118777"/>
                  </a:lnTo>
                  <a:lnTo>
                    <a:pt x="1589722" y="3120174"/>
                  </a:lnTo>
                  <a:lnTo>
                    <a:pt x="1665541" y="3116834"/>
                  </a:lnTo>
                  <a:lnTo>
                    <a:pt x="1826450" y="3098177"/>
                  </a:lnTo>
                  <a:lnTo>
                    <a:pt x="1906333" y="3083471"/>
                  </a:lnTo>
                  <a:lnTo>
                    <a:pt x="1980247" y="3064027"/>
                  </a:lnTo>
                  <a:lnTo>
                    <a:pt x="2058860" y="3038602"/>
                  </a:lnTo>
                  <a:lnTo>
                    <a:pt x="2132139" y="3013798"/>
                  </a:lnTo>
                  <a:lnTo>
                    <a:pt x="2204783" y="2983623"/>
                  </a:lnTo>
                  <a:lnTo>
                    <a:pt x="2271966" y="2954020"/>
                  </a:lnTo>
                  <a:lnTo>
                    <a:pt x="2338006" y="2913761"/>
                  </a:lnTo>
                  <a:lnTo>
                    <a:pt x="2404681" y="2878836"/>
                  </a:lnTo>
                  <a:lnTo>
                    <a:pt x="2470086" y="2833243"/>
                  </a:lnTo>
                  <a:lnTo>
                    <a:pt x="2530157" y="2788158"/>
                  </a:lnTo>
                  <a:lnTo>
                    <a:pt x="2584767" y="2743835"/>
                  </a:lnTo>
                  <a:lnTo>
                    <a:pt x="2644203" y="2693416"/>
                  </a:lnTo>
                  <a:lnTo>
                    <a:pt x="2697670" y="2638298"/>
                  </a:lnTo>
                  <a:lnTo>
                    <a:pt x="2796222" y="2526157"/>
                  </a:lnTo>
                  <a:lnTo>
                    <a:pt x="2843593" y="2466340"/>
                  </a:lnTo>
                  <a:lnTo>
                    <a:pt x="2885630" y="2407031"/>
                  </a:lnTo>
                  <a:lnTo>
                    <a:pt x="2927159" y="2342388"/>
                  </a:lnTo>
                  <a:lnTo>
                    <a:pt x="2929560" y="2337689"/>
                  </a:lnTo>
                  <a:lnTo>
                    <a:pt x="1607756" y="2337689"/>
                  </a:lnTo>
                  <a:lnTo>
                    <a:pt x="1526095" y="2336292"/>
                  </a:lnTo>
                  <a:lnTo>
                    <a:pt x="1449006" y="2328926"/>
                  </a:lnTo>
                  <a:lnTo>
                    <a:pt x="1376870" y="2315464"/>
                  </a:lnTo>
                  <a:lnTo>
                    <a:pt x="1303337" y="2291461"/>
                  </a:lnTo>
                  <a:lnTo>
                    <a:pt x="1229169" y="2261997"/>
                  </a:lnTo>
                  <a:lnTo>
                    <a:pt x="1165161" y="2225802"/>
                  </a:lnTo>
                  <a:lnTo>
                    <a:pt x="1100518" y="2184400"/>
                  </a:lnTo>
                  <a:lnTo>
                    <a:pt x="1040701" y="2136902"/>
                  </a:lnTo>
                  <a:lnTo>
                    <a:pt x="941133" y="2028825"/>
                  </a:lnTo>
                  <a:lnTo>
                    <a:pt x="898207" y="1963166"/>
                  </a:lnTo>
                  <a:lnTo>
                    <a:pt x="857948" y="1897126"/>
                  </a:lnTo>
                  <a:lnTo>
                    <a:pt x="828611" y="1832483"/>
                  </a:lnTo>
                  <a:lnTo>
                    <a:pt x="808545" y="1753235"/>
                  </a:lnTo>
                  <a:lnTo>
                    <a:pt x="789114" y="1679448"/>
                  </a:lnTo>
                  <a:lnTo>
                    <a:pt x="781240" y="1517142"/>
                  </a:lnTo>
                  <a:lnTo>
                    <a:pt x="788606" y="1440180"/>
                  </a:lnTo>
                  <a:lnTo>
                    <a:pt x="806767" y="1361948"/>
                  </a:lnTo>
                  <a:lnTo>
                    <a:pt x="825436" y="1289050"/>
                  </a:lnTo>
                  <a:lnTo>
                    <a:pt x="858202" y="1219962"/>
                  </a:lnTo>
                  <a:lnTo>
                    <a:pt x="894270" y="1155954"/>
                  </a:lnTo>
                  <a:lnTo>
                    <a:pt x="935799" y="1091311"/>
                  </a:lnTo>
                  <a:lnTo>
                    <a:pt x="983170" y="1031494"/>
                  </a:lnTo>
                  <a:lnTo>
                    <a:pt x="1037526" y="984377"/>
                  </a:lnTo>
                  <a:lnTo>
                    <a:pt x="1096962" y="933958"/>
                  </a:lnTo>
                  <a:lnTo>
                    <a:pt x="1157668" y="894334"/>
                  </a:lnTo>
                  <a:lnTo>
                    <a:pt x="1223708" y="854075"/>
                  </a:lnTo>
                  <a:lnTo>
                    <a:pt x="1296352" y="823849"/>
                  </a:lnTo>
                  <a:lnTo>
                    <a:pt x="1449514" y="784352"/>
                  </a:lnTo>
                  <a:lnTo>
                    <a:pt x="1524571" y="775716"/>
                  </a:lnTo>
                  <a:lnTo>
                    <a:pt x="1483550" y="0"/>
                  </a:lnTo>
                  <a:close/>
                </a:path>
                <a:path extrusionOk="0" h="3120390" w="3138804">
                  <a:moveTo>
                    <a:pt x="3125025" y="1375918"/>
                  </a:moveTo>
                  <a:lnTo>
                    <a:pt x="2344229" y="1466469"/>
                  </a:lnTo>
                  <a:lnTo>
                    <a:pt x="2349944" y="1514729"/>
                  </a:lnTo>
                  <a:lnTo>
                    <a:pt x="2348547" y="1596517"/>
                  </a:lnTo>
                  <a:lnTo>
                    <a:pt x="2341054" y="1673479"/>
                  </a:lnTo>
                  <a:lnTo>
                    <a:pt x="2327973" y="1748409"/>
                  </a:lnTo>
                  <a:lnTo>
                    <a:pt x="2303970" y="1821942"/>
                  </a:lnTo>
                  <a:lnTo>
                    <a:pt x="2273871" y="1890649"/>
                  </a:lnTo>
                  <a:lnTo>
                    <a:pt x="2238311" y="1959991"/>
                  </a:lnTo>
                  <a:lnTo>
                    <a:pt x="2196274" y="2019300"/>
                  </a:lnTo>
                  <a:lnTo>
                    <a:pt x="2148903" y="2079244"/>
                  </a:lnTo>
                  <a:lnTo>
                    <a:pt x="2095436" y="2134362"/>
                  </a:lnTo>
                  <a:lnTo>
                    <a:pt x="2040699" y="2178685"/>
                  </a:lnTo>
                  <a:lnTo>
                    <a:pt x="1975294" y="2224405"/>
                  </a:lnTo>
                  <a:lnTo>
                    <a:pt x="1908746" y="2259330"/>
                  </a:lnTo>
                  <a:lnTo>
                    <a:pt x="1841436" y="2288794"/>
                  </a:lnTo>
                  <a:lnTo>
                    <a:pt x="1768157" y="2313686"/>
                  </a:lnTo>
                  <a:lnTo>
                    <a:pt x="1688274" y="2328418"/>
                  </a:lnTo>
                  <a:lnTo>
                    <a:pt x="1607756" y="2337689"/>
                  </a:lnTo>
                  <a:lnTo>
                    <a:pt x="2929560" y="2337689"/>
                  </a:lnTo>
                  <a:lnTo>
                    <a:pt x="2962592" y="2273046"/>
                  </a:lnTo>
                  <a:lnTo>
                    <a:pt x="2993326" y="2209673"/>
                  </a:lnTo>
                  <a:lnTo>
                    <a:pt x="3022790" y="2135632"/>
                  </a:lnTo>
                  <a:lnTo>
                    <a:pt x="3052889" y="2066798"/>
                  </a:lnTo>
                  <a:lnTo>
                    <a:pt x="3077019" y="1993392"/>
                  </a:lnTo>
                  <a:lnTo>
                    <a:pt x="3095688" y="1920494"/>
                  </a:lnTo>
                  <a:lnTo>
                    <a:pt x="3108515" y="1842897"/>
                  </a:lnTo>
                  <a:lnTo>
                    <a:pt x="3121850" y="1770634"/>
                  </a:lnTo>
                  <a:lnTo>
                    <a:pt x="3129216" y="1693545"/>
                  </a:lnTo>
                  <a:lnTo>
                    <a:pt x="3136328" y="1613916"/>
                  </a:lnTo>
                  <a:lnTo>
                    <a:pt x="3138360" y="1537589"/>
                  </a:lnTo>
                  <a:lnTo>
                    <a:pt x="3134423" y="1456436"/>
                  </a:lnTo>
                  <a:lnTo>
                    <a:pt x="3125025" y="1375918"/>
                  </a:lnTo>
                  <a:close/>
                </a:path>
              </a:pathLst>
            </a:custGeom>
            <a:solidFill>
              <a:srgbClr val="2F373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2108255" y="2618867"/>
              <a:ext cx="1642110" cy="1475104"/>
            </a:xfrm>
            <a:custGeom>
              <a:rect b="b" l="l" r="r" t="t"/>
              <a:pathLst>
                <a:path extrusionOk="0" h="1475104" w="1642110">
                  <a:moveTo>
                    <a:pt x="75692" y="0"/>
                  </a:moveTo>
                  <a:lnTo>
                    <a:pt x="0" y="3428"/>
                  </a:lnTo>
                  <a:lnTo>
                    <a:pt x="41529" y="784351"/>
                  </a:lnTo>
                  <a:lnTo>
                    <a:pt x="194310" y="788415"/>
                  </a:lnTo>
                  <a:lnTo>
                    <a:pt x="267207" y="807212"/>
                  </a:lnTo>
                  <a:lnTo>
                    <a:pt x="334644" y="826515"/>
                  </a:lnTo>
                  <a:lnTo>
                    <a:pt x="402844" y="851280"/>
                  </a:lnTo>
                  <a:lnTo>
                    <a:pt x="530860" y="923416"/>
                  </a:lnTo>
                  <a:lnTo>
                    <a:pt x="584707" y="966088"/>
                  </a:lnTo>
                  <a:lnTo>
                    <a:pt x="639826" y="1019556"/>
                  </a:lnTo>
                  <a:lnTo>
                    <a:pt x="689610" y="1073658"/>
                  </a:lnTo>
                  <a:lnTo>
                    <a:pt x="736726" y="1128014"/>
                  </a:lnTo>
                  <a:lnTo>
                    <a:pt x="771651" y="1194689"/>
                  </a:lnTo>
                  <a:lnTo>
                    <a:pt x="805561" y="1253236"/>
                  </a:lnTo>
                  <a:lnTo>
                    <a:pt x="830453" y="1326514"/>
                  </a:lnTo>
                  <a:lnTo>
                    <a:pt x="849883" y="1400429"/>
                  </a:lnTo>
                  <a:lnTo>
                    <a:pt x="863981" y="1474851"/>
                  </a:lnTo>
                  <a:lnTo>
                    <a:pt x="1641983" y="1384681"/>
                  </a:lnTo>
                  <a:lnTo>
                    <a:pt x="1627378" y="1304798"/>
                  </a:lnTo>
                  <a:lnTo>
                    <a:pt x="1599183" y="1155827"/>
                  </a:lnTo>
                  <a:lnTo>
                    <a:pt x="1575308" y="1090549"/>
                  </a:lnTo>
                  <a:lnTo>
                    <a:pt x="1550543" y="1017269"/>
                  </a:lnTo>
                  <a:lnTo>
                    <a:pt x="1526285" y="949451"/>
                  </a:lnTo>
                  <a:lnTo>
                    <a:pt x="1496821" y="882141"/>
                  </a:lnTo>
                  <a:lnTo>
                    <a:pt x="1461896" y="815466"/>
                  </a:lnTo>
                  <a:lnTo>
                    <a:pt x="1342897" y="633476"/>
                  </a:lnTo>
                  <a:lnTo>
                    <a:pt x="1297813" y="573532"/>
                  </a:lnTo>
                  <a:lnTo>
                    <a:pt x="1253490" y="518795"/>
                  </a:lnTo>
                  <a:lnTo>
                    <a:pt x="1204214" y="470153"/>
                  </a:lnTo>
                  <a:lnTo>
                    <a:pt x="1149095" y="416687"/>
                  </a:lnTo>
                  <a:lnTo>
                    <a:pt x="1094613" y="368680"/>
                  </a:lnTo>
                  <a:lnTo>
                    <a:pt x="1040764" y="325882"/>
                  </a:lnTo>
                  <a:lnTo>
                    <a:pt x="981837" y="286512"/>
                  </a:lnTo>
                  <a:lnTo>
                    <a:pt x="922528" y="244475"/>
                  </a:lnTo>
                  <a:lnTo>
                    <a:pt x="794512" y="172338"/>
                  </a:lnTo>
                  <a:lnTo>
                    <a:pt x="731138" y="141604"/>
                  </a:lnTo>
                  <a:lnTo>
                    <a:pt x="662432" y="111505"/>
                  </a:lnTo>
                  <a:lnTo>
                    <a:pt x="591566" y="86995"/>
                  </a:lnTo>
                  <a:lnTo>
                    <a:pt x="518032" y="62991"/>
                  </a:lnTo>
                  <a:lnTo>
                    <a:pt x="450595" y="43561"/>
                  </a:lnTo>
                  <a:lnTo>
                    <a:pt x="378332" y="30225"/>
                  </a:lnTo>
                  <a:lnTo>
                    <a:pt x="300736" y="17399"/>
                  </a:lnTo>
                  <a:lnTo>
                    <a:pt x="229107" y="9398"/>
                  </a:lnTo>
                  <a:lnTo>
                    <a:pt x="152019" y="2032"/>
                  </a:lnTo>
                  <a:lnTo>
                    <a:pt x="75692" y="0"/>
                  </a:lnTo>
                  <a:close/>
                </a:path>
              </a:pathLst>
            </a:custGeom>
            <a:solidFill>
              <a:srgbClr val="FDC3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3"/>
          <p:cNvSpPr txBox="1"/>
          <p:nvPr/>
        </p:nvSpPr>
        <p:spPr>
          <a:xfrm>
            <a:off x="7387754" y="4792257"/>
            <a:ext cx="7745250" cy="3089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0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  <a:endParaRPr b="0" baseline="30000" i="0" sz="20000" u="none" cap="none" strike="noStrike">
              <a:solidFill>
                <a:srgbClr val="FDC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1110892" y="10146882"/>
            <a:ext cx="10813366" cy="64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*По результатам опроса в городах присутствия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Без учета услуг и без направления Про. </a:t>
            </a:r>
            <a:r>
              <a:rPr b="0" i="0" lang="ru-RU" sz="20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Период</a:t>
            </a:r>
            <a:r>
              <a:rPr b="0" i="0" lang="ru-RU" sz="2000" u="none" cap="none" strike="noStrik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 октябрь 2022 </a:t>
            </a:r>
            <a:r>
              <a:rPr b="0" i="0" lang="ru-RU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ru-RU" sz="2000" u="none" cap="none" strike="noStrike">
                <a:solidFill>
                  <a:srgbClr val="404040"/>
                </a:solidFill>
                <a:latin typeface="Tahoma"/>
                <a:ea typeface="Tahoma"/>
                <a:cs typeface="Tahoma"/>
                <a:sym typeface="Tahoma"/>
              </a:rPr>
              <a:t>сентябрь 2023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12597749" y="5247595"/>
            <a:ext cx="55064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i="0" lang="ru-RU" sz="10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ctrTitle"/>
          </p:nvPr>
        </p:nvSpPr>
        <p:spPr>
          <a:xfrm>
            <a:off x="1110892" y="623515"/>
            <a:ext cx="18446213" cy="133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189865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Лемана ПРО – </a:t>
            </a:r>
            <a:r>
              <a:rPr b="1" lang="ru-RU" sz="8000">
                <a:latin typeface="Verdana"/>
                <a:ea typeface="Verdana"/>
                <a:cs typeface="Verdana"/>
                <a:sym typeface="Verdana"/>
              </a:rPr>
              <a:t>№1</a:t>
            </a:r>
            <a:endParaRPr/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11174958" y="2321502"/>
            <a:ext cx="7306160" cy="679833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11174958" y="-1097764"/>
            <a:ext cx="10813366" cy="94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Здесь не очень понятно про 11% (в чем этот рост, по сравнению с чем/за какой период)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Может быть пояснить этот момент и выделить на отдельном слайде, а на этом сакцентировать цветом цифры?</a:t>
            </a:r>
            <a:endParaRPr b="0" i="0" sz="2000" u="none" cap="none" strike="noStrike">
              <a:solidFill>
                <a:srgbClr val="7030A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11448854" y="2694343"/>
            <a:ext cx="7745400" cy="27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+11%</a:t>
            </a:r>
            <a:endParaRPr b="0" i="0" sz="18000" u="none" cap="none" strike="noStrike">
              <a:solidFill>
                <a:srgbClr val="FDC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11730954" y="5949965"/>
            <a:ext cx="10058400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4500" u="none" cap="none" strike="noStrik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Растем, опережая рынок</a:t>
            </a:r>
            <a:endParaRPr b="0" i="0" sz="4500" u="none" cap="none" strike="noStrike">
              <a:solidFill>
                <a:srgbClr val="FDC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17180842" y="3681492"/>
            <a:ext cx="55064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i="0" lang="ru-RU" sz="10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11745806" y="8318971"/>
            <a:ext cx="5831205" cy="385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C2CECE"/>
                </a:solidFill>
                <a:latin typeface="Arial"/>
                <a:ea typeface="Arial"/>
                <a:cs typeface="Arial"/>
                <a:sym typeface="Arial"/>
              </a:rPr>
              <a:t>*Источник: Сбериндекс, GreenPlum. Отдел изучения покупательского поведения и аналитики рынка, 2024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892" y="4803901"/>
            <a:ext cx="832482" cy="83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892" y="3701635"/>
            <a:ext cx="832482" cy="83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0892" y="6023224"/>
            <a:ext cx="832482" cy="83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0892" y="2642395"/>
            <a:ext cx="832482" cy="83248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2203178" y="2912666"/>
            <a:ext cx="4810651" cy="382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715" marR="0" rtl="0" algn="l">
              <a:lnSpc>
                <a:spcPct val="7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магазинов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2203178" y="3926483"/>
            <a:ext cx="4810651" cy="382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715" marR="0" rtl="0" algn="l">
              <a:lnSpc>
                <a:spcPct val="7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городов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2203178" y="4868416"/>
            <a:ext cx="756084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10 000 м</a:t>
            </a:r>
            <a:r>
              <a:rPr b="1" baseline="3000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средняя торговая площадь одного магазина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2203178" y="6158731"/>
            <a:ext cx="756084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~ 110 000 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покупателей в месяц в одном магазине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2203178" y="7414932"/>
            <a:ext cx="756084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~50 млн 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сессий на сайте и в мобильном приложении в месяц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2203178" y="8778021"/>
            <a:ext cx="741682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~600 000 </a:t>
            </a:r>
            <a:r>
              <a:rPr b="0" i="0" lang="ru-RU" sz="3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заказов в онлайне в месяц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094" y="8566609"/>
            <a:ext cx="832482" cy="832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9651" y="7415611"/>
            <a:ext cx="832482" cy="83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>
            <p:ph type="ctrTitle"/>
          </p:nvPr>
        </p:nvSpPr>
        <p:spPr>
          <a:xfrm>
            <a:off x="1110892" y="623515"/>
            <a:ext cx="9517222" cy="218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Рекламная платформа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15164619" y="4912211"/>
            <a:ext cx="2088232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10739914" y="4914583"/>
            <a:ext cx="2192455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6732046" y="4914583"/>
            <a:ext cx="1591812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1110892" y="4914583"/>
            <a:ext cx="1956382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 txBox="1"/>
          <p:nvPr>
            <p:ph type="ctrTitle"/>
          </p:nvPr>
        </p:nvSpPr>
        <p:spPr>
          <a:xfrm>
            <a:off x="1110892" y="623515"/>
            <a:ext cx="17726134" cy="1175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Рекламная платформа — </a:t>
            </a:r>
            <a:endParaRPr/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1110892" y="5586923"/>
            <a:ext cx="4836702" cy="10361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В приложении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На сайте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 rot="5400000">
            <a:off x="607575" y="9433427"/>
            <a:ext cx="1125881" cy="1931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6727516" y="5586923"/>
            <a:ext cx="4836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Главная</a:t>
            </a:r>
            <a:endParaRPr sz="3200">
              <a:solidFill>
                <a:srgbClr val="2F37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Поиск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Каталог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Карточка товара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“Спасибо за заказ”</a:t>
            </a:r>
            <a:endParaRPr sz="3200">
              <a:solidFill>
                <a:srgbClr val="2F3738"/>
              </a:solidFill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10759964" y="5586923"/>
            <a:ext cx="48366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Баннеры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Товарн</a:t>
            </a:r>
            <a:r>
              <a:rPr lang="ru-RU" sz="3200">
                <a:solidFill>
                  <a:srgbClr val="2F3738"/>
                </a:solidFill>
              </a:rPr>
              <a:t>ая</a:t>
            </a: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выдач</a:t>
            </a:r>
            <a:r>
              <a:rPr lang="ru-RU" sz="3200">
                <a:solidFill>
                  <a:srgbClr val="2F3738"/>
                </a:solidFill>
              </a:rPr>
              <a:t>а</a:t>
            </a:r>
            <a:endParaRPr sz="3200">
              <a:solidFill>
                <a:srgbClr val="2F3738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Брендовые полки</a:t>
            </a:r>
            <a:endParaRPr sz="3200">
              <a:solidFill>
                <a:srgbClr val="2F3738"/>
              </a:solidFill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15152452" y="5586923"/>
            <a:ext cx="483670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4233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 СРМ, оплата за фактические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4233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1339082" y="4914583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6979733" y="4914583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11012181" y="4914583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Форматы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15452650" y="4914583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Закупка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1411090" y="9001263"/>
            <a:ext cx="17425936" cy="984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6932" marR="4233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Вы сами выбираете форматы и места рекламы, сроки продвижения и суммы, которые готовы платить. Сможете отслеживать продажи по рекламе в реальном времени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1074962" y="1838251"/>
            <a:ext cx="17219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5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инструмент для </a:t>
            </a:r>
            <a:r>
              <a:rPr b="0" i="0" lang="ru-RU" sz="55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самостоятельного запуска</a:t>
            </a:r>
            <a:r>
              <a:rPr b="0" i="0" lang="ru-RU" sz="5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рекламы</a:t>
            </a:r>
            <a:endParaRPr b="0" i="0" sz="5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219" y="378672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39914" y="3787518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76400" y="3787319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0514" y="3786723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3" name="Google Shape;233;p27"/>
          <p:cNvSpPr txBox="1"/>
          <p:nvPr>
            <p:ph type="ctrTitle"/>
          </p:nvPr>
        </p:nvSpPr>
        <p:spPr>
          <a:xfrm>
            <a:off x="1110900" y="623525"/>
            <a:ext cx="17384700" cy="9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Партнеры р</a:t>
            </a:r>
            <a:r>
              <a:rPr lang="ru-RU"/>
              <a:t>екламной платформы</a:t>
            </a:r>
            <a:endParaRPr/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3">
            <a:alphaModFix/>
          </a:blip>
          <a:srcRect b="5526" l="1504" r="1417" t="18032"/>
          <a:stretch/>
        </p:blipFill>
        <p:spPr>
          <a:xfrm>
            <a:off x="998563" y="1845175"/>
            <a:ext cx="18920653" cy="838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ctrTitle"/>
          </p:nvPr>
        </p:nvSpPr>
        <p:spPr>
          <a:xfrm>
            <a:off x="1110892" y="623515"/>
            <a:ext cx="17726134" cy="2159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Что даёт запуск рекламы через платформу</a:t>
            </a:r>
            <a:endParaRPr/>
          </a:p>
        </p:txBody>
      </p:sp>
      <p:sp>
        <p:nvSpPr>
          <p:cNvPr id="240" name="Google Shape;240;p28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3921379" y="4064130"/>
            <a:ext cx="1742593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6932" marR="4233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5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Увеличение продаж </a:t>
            </a:r>
            <a:endParaRPr b="1" i="0" sz="5000" u="none" cap="none" strike="noStrike">
              <a:solidFill>
                <a:srgbClr val="FDC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932" marR="4233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5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и доли в категории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3921379" y="7104706"/>
            <a:ext cx="1742593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6932" marR="4233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50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Рост знания бренда  </a:t>
            </a:r>
            <a:r>
              <a:rPr b="0" i="0" lang="ru-RU" sz="5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среди лояльной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932" marR="42330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5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и целевой аудитории Лемана ПРО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02" y="3737171"/>
            <a:ext cx="2245004" cy="224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302" y="6674702"/>
            <a:ext cx="2245004" cy="224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10716268" y="7373833"/>
            <a:ext cx="4104456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10649819" y="4315751"/>
            <a:ext cx="2761455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1966642" y="7613415"/>
            <a:ext cx="1867884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1986361" y="4298136"/>
            <a:ext cx="2520280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>
            <p:ph type="ctrTitle"/>
          </p:nvPr>
        </p:nvSpPr>
        <p:spPr>
          <a:xfrm>
            <a:off x="1110892" y="623515"/>
            <a:ext cx="18518222" cy="2399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Преимущества рекламной платформы</a:t>
            </a:r>
            <a:endParaRPr/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2190219" y="5013896"/>
            <a:ext cx="4836702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Пр</a:t>
            </a:r>
            <a:r>
              <a:rPr b="0" i="0" lang="ru-RU" sz="3000" u="none" cap="none" strike="noStrike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rPr>
              <a:t>ямое воздействие на продажи и рост доли 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2190219" y="4285033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10793837" y="5033001"/>
            <a:ext cx="52348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Обучение и р</a:t>
            </a:r>
            <a:r>
              <a:rPr b="0" i="0" lang="ru-RU" sz="3000" u="none" cap="none" strike="noStrike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rPr>
              <a:t>екомендации от Лемана Про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10768277" y="4305974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Партнерство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2166175" y="8234579"/>
            <a:ext cx="56535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rPr>
              <a:t>Целевые лиды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20282B"/>
                </a:solidFill>
                <a:latin typeface="Arial"/>
                <a:ea typeface="Arial"/>
                <a:cs typeface="Arial"/>
                <a:sym typeface="Arial"/>
              </a:rPr>
              <a:t>без перегретых аукционов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2179047" y="7589280"/>
            <a:ext cx="2784285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Выгода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10860275" y="8034424"/>
            <a:ext cx="5595000" cy="18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Лояльная целевая аудитория — 48% покупателей покупали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0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в 2023 и в предыдущем году</a:t>
            </a:r>
            <a:endParaRPr b="0" i="0" sz="3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10860284" y="7343058"/>
            <a:ext cx="5006686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Целевая аудитория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символ, логотип, Графика, черный&#10;&#10;Автоматически созданное описание" id="263" name="Google Shape;2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219" y="3409369"/>
            <a:ext cx="733138" cy="733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символ, черный, искусство, Графика&#10;&#10;Автоматически созданное описание" id="264" name="Google Shape;2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3088" y="3500482"/>
            <a:ext cx="733138" cy="733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круг, черный, снимок экрана, дизайн&#10;&#10;Автоматически созданное описание" id="265" name="Google Shape;2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2085854" y="6768103"/>
            <a:ext cx="617024" cy="61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69195" y="6522260"/>
            <a:ext cx="724227" cy="724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/>
          <p:nvPr/>
        </p:nvSpPr>
        <p:spPr>
          <a:xfrm>
            <a:off x="10282795" y="5510659"/>
            <a:ext cx="5169855" cy="59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1894169" y="5510659"/>
            <a:ext cx="5853625" cy="59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 txBox="1"/>
          <p:nvPr>
            <p:ph type="ctrTitle"/>
          </p:nvPr>
        </p:nvSpPr>
        <p:spPr>
          <a:xfrm>
            <a:off x="1110892" y="623515"/>
            <a:ext cx="18518222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Для кого рекламная платформа</a:t>
            </a:r>
            <a:endParaRPr/>
          </a:p>
        </p:txBody>
      </p:sp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2085152" y="6158731"/>
            <a:ext cx="4836702" cy="984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для роста продаж и доли в категории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2085152" y="5510659"/>
            <a:ext cx="6244268" cy="5386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5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Поставщики Лемана ПРО</a:t>
            </a:r>
            <a:endParaRPr b="1" i="0" sz="35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10470675" y="6166647"/>
            <a:ext cx="80838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чьи клиенты продают товары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Лемана Про — запускайте рекламу, которая влияет на продажи ваших клиентов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10470671" y="5510659"/>
            <a:ext cx="5330388" cy="5386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500" u="none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</a:rPr>
              <a:t>Рекламные агентства,</a:t>
            </a:r>
            <a:endParaRPr b="1" i="0" sz="35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169" y="3206403"/>
            <a:ext cx="2245675" cy="22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0671" y="3206403"/>
            <a:ext cx="2245675" cy="22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1"/>
          <p:cNvSpPr txBox="1"/>
          <p:nvPr>
            <p:ph type="ctrTitle"/>
          </p:nvPr>
        </p:nvSpPr>
        <p:spPr>
          <a:xfrm>
            <a:off x="1110901" y="623525"/>
            <a:ext cx="107736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Цели продвижения </a:t>
            </a:r>
            <a:endParaRPr/>
          </a:p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 </a:t>
            </a: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форматы рекламы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1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2"/>
          <p:cNvSpPr/>
          <p:nvPr/>
        </p:nvSpPr>
        <p:spPr>
          <a:xfrm>
            <a:off x="12682206" y="1980526"/>
            <a:ext cx="7031700" cy="9150300"/>
          </a:xfrm>
          <a:prstGeom prst="roundRect">
            <a:avLst>
              <a:gd fmla="val 6321" name="adj"/>
            </a:avLst>
          </a:prstGeom>
          <a:solidFill>
            <a:srgbClr val="FFFFFF"/>
          </a:solidFill>
          <a:ln cap="flat" cmpd="sng" w="50800">
            <a:solidFill>
              <a:srgbClr val="F4C54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1110907" y="814478"/>
            <a:ext cx="107406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6600"/>
              <a:buFont typeface="Arial"/>
              <a:buNone/>
            </a:pP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3 цели продвижения</a:t>
            </a:r>
            <a:endParaRPr sz="1300"/>
          </a:p>
        </p:txBody>
      </p:sp>
      <p:sp>
        <p:nvSpPr>
          <p:cNvPr id="296" name="Google Shape;296;p32"/>
          <p:cNvSpPr txBox="1"/>
          <p:nvPr>
            <p:ph idx="12" type="sldNum"/>
          </p:nvPr>
        </p:nvSpPr>
        <p:spPr>
          <a:xfrm>
            <a:off x="19058469" y="10529695"/>
            <a:ext cx="25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2133271" y="2423314"/>
            <a:ext cx="2819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 цель</a:t>
            </a:r>
            <a:endParaRPr sz="1300"/>
          </a:p>
        </p:txBody>
      </p:sp>
      <p:sp>
        <p:nvSpPr>
          <p:cNvPr id="298" name="Google Shape;298;p32"/>
          <p:cNvSpPr/>
          <p:nvPr/>
        </p:nvSpPr>
        <p:spPr>
          <a:xfrm>
            <a:off x="992358" y="3441677"/>
            <a:ext cx="3436500" cy="10065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1118914" y="3474434"/>
            <a:ext cx="541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Увеличить знание</a:t>
            </a:r>
            <a:b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о бренде/товарах</a:t>
            </a:r>
            <a:endParaRPr sz="1300"/>
          </a:p>
        </p:txBody>
      </p:sp>
      <p:sp>
        <p:nvSpPr>
          <p:cNvPr id="300" name="Google Shape;300;p32"/>
          <p:cNvSpPr txBox="1"/>
          <p:nvPr/>
        </p:nvSpPr>
        <p:spPr>
          <a:xfrm>
            <a:off x="1585625" y="5603850"/>
            <a:ext cx="5417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Сформировать и поддержать</a:t>
            </a:r>
            <a:r>
              <a:rPr lang="ru-RU" sz="3100">
                <a:solidFill>
                  <a:srgbClr val="404040"/>
                </a:solidFill>
              </a:rPr>
              <a:t> </a:t>
            </a: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имидж, спрос.</a:t>
            </a:r>
            <a:endParaRPr sz="1300"/>
          </a:p>
        </p:txBody>
      </p:sp>
      <p:sp>
        <p:nvSpPr>
          <p:cNvPr id="301" name="Google Shape;301;p32"/>
          <p:cNvSpPr/>
          <p:nvPr/>
        </p:nvSpPr>
        <p:spPr>
          <a:xfrm>
            <a:off x="1031945" y="5712626"/>
            <a:ext cx="413700" cy="407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1114050" y="571831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03" name="Google Shape;303;p32"/>
          <p:cNvSpPr/>
          <p:nvPr/>
        </p:nvSpPr>
        <p:spPr>
          <a:xfrm>
            <a:off x="1031945" y="6797058"/>
            <a:ext cx="413700" cy="407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1114050" y="680275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05" name="Google Shape;305;p32"/>
          <p:cNvSpPr txBox="1"/>
          <p:nvPr/>
        </p:nvSpPr>
        <p:spPr>
          <a:xfrm>
            <a:off x="1585627" y="6713800"/>
            <a:ext cx="5417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Поддержка мероприятий</a:t>
            </a:r>
            <a:b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и акций новых продуктов.</a:t>
            </a:r>
            <a:endParaRPr sz="1300"/>
          </a:p>
        </p:txBody>
      </p:sp>
      <p:sp>
        <p:nvSpPr>
          <p:cNvPr id="306" name="Google Shape;306;p32"/>
          <p:cNvSpPr/>
          <p:nvPr/>
        </p:nvSpPr>
        <p:spPr>
          <a:xfrm>
            <a:off x="1031945" y="7999773"/>
            <a:ext cx="413700" cy="407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1114050" y="8005464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308" name="Google Shape;308;p32"/>
          <p:cNvSpPr txBox="1"/>
          <p:nvPr/>
        </p:nvSpPr>
        <p:spPr>
          <a:xfrm>
            <a:off x="1585625" y="7900275"/>
            <a:ext cx="4723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Увеличение </a:t>
            </a: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вовлечённости</a:t>
            </a: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</p:txBody>
      </p:sp>
      <p:sp>
        <p:nvSpPr>
          <p:cNvPr id="309" name="Google Shape;309;p32"/>
          <p:cNvSpPr txBox="1"/>
          <p:nvPr/>
        </p:nvSpPr>
        <p:spPr>
          <a:xfrm>
            <a:off x="1058953" y="4902700"/>
            <a:ext cx="47238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b="1" lang="ru-RU" sz="3100">
                <a:solidFill>
                  <a:srgbClr val="313738"/>
                </a:solidFill>
              </a:rPr>
              <a:t>огда</a:t>
            </a: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использовать?</a:t>
            </a:r>
            <a:endParaRPr sz="1300"/>
          </a:p>
        </p:txBody>
      </p:sp>
      <p:sp>
        <p:nvSpPr>
          <p:cNvPr id="310" name="Google Shape;310;p32"/>
          <p:cNvSpPr txBox="1"/>
          <p:nvPr/>
        </p:nvSpPr>
        <p:spPr>
          <a:xfrm>
            <a:off x="1058941" y="9334373"/>
            <a:ext cx="3632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Как оценить?</a:t>
            </a:r>
            <a:endParaRPr sz="1300"/>
          </a:p>
        </p:txBody>
      </p:sp>
      <p:sp>
        <p:nvSpPr>
          <p:cNvPr id="311" name="Google Shape;311;p32"/>
          <p:cNvSpPr txBox="1"/>
          <p:nvPr/>
        </p:nvSpPr>
        <p:spPr>
          <a:xfrm>
            <a:off x="944641" y="9862171"/>
            <a:ext cx="25584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Показы, СРМ</a:t>
            </a:r>
            <a:endParaRPr sz="1300"/>
          </a:p>
        </p:txBody>
      </p:sp>
      <p:sp>
        <p:nvSpPr>
          <p:cNvPr id="312" name="Google Shape;312;p32"/>
          <p:cNvSpPr txBox="1"/>
          <p:nvPr/>
        </p:nvSpPr>
        <p:spPr>
          <a:xfrm>
            <a:off x="8518352" y="2423334"/>
            <a:ext cx="1651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 цель</a:t>
            </a:r>
            <a:endParaRPr sz="1300"/>
          </a:p>
        </p:txBody>
      </p:sp>
      <p:sp>
        <p:nvSpPr>
          <p:cNvPr id="313" name="Google Shape;313;p32"/>
          <p:cNvSpPr/>
          <p:nvPr/>
        </p:nvSpPr>
        <p:spPr>
          <a:xfrm>
            <a:off x="7377467" y="3441677"/>
            <a:ext cx="4628400" cy="10065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7504057" y="3474427"/>
            <a:ext cx="5313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Увеличить товарооборот</a:t>
            </a:r>
            <a:b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 ассортименту</a:t>
            </a:r>
            <a:endParaRPr sz="1300"/>
          </a:p>
        </p:txBody>
      </p:sp>
      <p:sp>
        <p:nvSpPr>
          <p:cNvPr id="315" name="Google Shape;315;p32"/>
          <p:cNvSpPr txBox="1"/>
          <p:nvPr/>
        </p:nvSpPr>
        <p:spPr>
          <a:xfrm>
            <a:off x="7970725" y="5603850"/>
            <a:ext cx="4723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Увеличение продаж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конкретных товаров.</a:t>
            </a:r>
            <a:endParaRPr sz="1300"/>
          </a:p>
        </p:txBody>
      </p:sp>
      <p:sp>
        <p:nvSpPr>
          <p:cNvPr id="316" name="Google Shape;316;p32"/>
          <p:cNvSpPr/>
          <p:nvPr/>
        </p:nvSpPr>
        <p:spPr>
          <a:xfrm>
            <a:off x="7417054" y="5712626"/>
            <a:ext cx="413700" cy="407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7499159" y="571831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18" name="Google Shape;318;p32"/>
          <p:cNvSpPr/>
          <p:nvPr/>
        </p:nvSpPr>
        <p:spPr>
          <a:xfrm>
            <a:off x="7417054" y="6797058"/>
            <a:ext cx="413700" cy="407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7499159" y="680275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20" name="Google Shape;320;p32"/>
          <p:cNvSpPr txBox="1"/>
          <p:nvPr/>
        </p:nvSpPr>
        <p:spPr>
          <a:xfrm>
            <a:off x="7970725" y="6713800"/>
            <a:ext cx="462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Привлечение новых</a:t>
            </a:r>
            <a:b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покупателей.</a:t>
            </a:r>
            <a:endParaRPr sz="1300"/>
          </a:p>
        </p:txBody>
      </p:sp>
      <p:sp>
        <p:nvSpPr>
          <p:cNvPr id="321" name="Google Shape;321;p32"/>
          <p:cNvSpPr txBox="1"/>
          <p:nvPr/>
        </p:nvSpPr>
        <p:spPr>
          <a:xfrm>
            <a:off x="7444050" y="4902700"/>
            <a:ext cx="4498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b="1" lang="ru-RU" sz="3100">
                <a:solidFill>
                  <a:srgbClr val="313738"/>
                </a:solidFill>
              </a:rPr>
              <a:t>огда</a:t>
            </a: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использовать?</a:t>
            </a:r>
            <a:endParaRPr sz="1300"/>
          </a:p>
        </p:txBody>
      </p:sp>
      <p:sp>
        <p:nvSpPr>
          <p:cNvPr id="322" name="Google Shape;322;p32"/>
          <p:cNvSpPr txBox="1"/>
          <p:nvPr/>
        </p:nvSpPr>
        <p:spPr>
          <a:xfrm>
            <a:off x="7444051" y="9334373"/>
            <a:ext cx="3632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Как оценить?</a:t>
            </a:r>
            <a:endParaRPr sz="1300"/>
          </a:p>
        </p:txBody>
      </p:sp>
      <p:sp>
        <p:nvSpPr>
          <p:cNvPr id="323" name="Google Shape;323;p32"/>
          <p:cNvSpPr txBox="1"/>
          <p:nvPr/>
        </p:nvSpPr>
        <p:spPr>
          <a:xfrm>
            <a:off x="7329751" y="9862171"/>
            <a:ext cx="4723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Рост продаж товара, ДРР</a:t>
            </a:r>
            <a:endParaRPr sz="1300"/>
          </a:p>
        </p:txBody>
      </p:sp>
      <p:sp>
        <p:nvSpPr>
          <p:cNvPr id="324" name="Google Shape;324;p32"/>
          <p:cNvSpPr txBox="1"/>
          <p:nvPr/>
        </p:nvSpPr>
        <p:spPr>
          <a:xfrm>
            <a:off x="14707697" y="2423334"/>
            <a:ext cx="1651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 цель</a:t>
            </a:r>
            <a:endParaRPr sz="1300"/>
          </a:p>
        </p:txBody>
      </p:sp>
      <p:sp>
        <p:nvSpPr>
          <p:cNvPr id="325" name="Google Shape;325;p32"/>
          <p:cNvSpPr/>
          <p:nvPr/>
        </p:nvSpPr>
        <p:spPr>
          <a:xfrm>
            <a:off x="13554113" y="3441677"/>
            <a:ext cx="4628400" cy="10614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13693404" y="3474427"/>
            <a:ext cx="53136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Комплексное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F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продвижение бренда</a:t>
            </a:r>
            <a:endParaRPr sz="1300"/>
          </a:p>
        </p:txBody>
      </p:sp>
      <p:sp>
        <p:nvSpPr>
          <p:cNvPr id="327" name="Google Shape;327;p32"/>
          <p:cNvSpPr txBox="1"/>
          <p:nvPr/>
        </p:nvSpPr>
        <p:spPr>
          <a:xfrm>
            <a:off x="14160072" y="5603847"/>
            <a:ext cx="5334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Увеличение доли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в категории.</a:t>
            </a:r>
            <a:endParaRPr sz="1300"/>
          </a:p>
        </p:txBody>
      </p:sp>
      <p:sp>
        <p:nvSpPr>
          <p:cNvPr id="328" name="Google Shape;328;p32"/>
          <p:cNvSpPr/>
          <p:nvPr/>
        </p:nvSpPr>
        <p:spPr>
          <a:xfrm>
            <a:off x="13610634" y="571262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13692739" y="571831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30" name="Google Shape;330;p32"/>
          <p:cNvSpPr/>
          <p:nvPr/>
        </p:nvSpPr>
        <p:spPr>
          <a:xfrm>
            <a:off x="13610634" y="6797058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13692739" y="680275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32" name="Google Shape;332;p32"/>
          <p:cNvSpPr txBox="1"/>
          <p:nvPr/>
        </p:nvSpPr>
        <p:spPr>
          <a:xfrm>
            <a:off x="14160072" y="6713800"/>
            <a:ext cx="462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Увеличение ТО всего бренда.</a:t>
            </a:r>
            <a:endParaRPr sz="1300"/>
          </a:p>
        </p:txBody>
      </p:sp>
      <p:sp>
        <p:nvSpPr>
          <p:cNvPr id="333" name="Google Shape;333;p32"/>
          <p:cNvSpPr txBox="1"/>
          <p:nvPr/>
        </p:nvSpPr>
        <p:spPr>
          <a:xfrm>
            <a:off x="13633400" y="4902700"/>
            <a:ext cx="55851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b="1" lang="ru-RU" sz="3100">
                <a:solidFill>
                  <a:srgbClr val="313738"/>
                </a:solidFill>
              </a:rPr>
              <a:t>огда</a:t>
            </a: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использовать?</a:t>
            </a:r>
            <a:endParaRPr sz="1300"/>
          </a:p>
        </p:txBody>
      </p:sp>
      <p:sp>
        <p:nvSpPr>
          <p:cNvPr id="334" name="Google Shape;334;p32"/>
          <p:cNvSpPr txBox="1"/>
          <p:nvPr/>
        </p:nvSpPr>
        <p:spPr>
          <a:xfrm>
            <a:off x="13633397" y="9334373"/>
            <a:ext cx="3632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1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Как оценить?</a:t>
            </a:r>
            <a:endParaRPr sz="1300"/>
          </a:p>
        </p:txBody>
      </p:sp>
      <p:sp>
        <p:nvSpPr>
          <p:cNvPr id="335" name="Google Shape;335;p32"/>
          <p:cNvSpPr txBox="1"/>
          <p:nvPr/>
        </p:nvSpPr>
        <p:spPr>
          <a:xfrm>
            <a:off x="13519097" y="9862171"/>
            <a:ext cx="4723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Показы, ДРР,</a:t>
            </a:r>
            <a:endParaRPr sz="1300"/>
          </a:p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рост продаж бренда</a:t>
            </a:r>
            <a:endParaRPr sz="1300"/>
          </a:p>
        </p:txBody>
      </p:sp>
      <p:sp>
        <p:nvSpPr>
          <p:cNvPr id="336" name="Google Shape;336;p32"/>
          <p:cNvSpPr txBox="1"/>
          <p:nvPr/>
        </p:nvSpPr>
        <p:spPr>
          <a:xfrm>
            <a:off x="13631753" y="1111775"/>
            <a:ext cx="6159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543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F4C543"/>
                </a:solidFill>
                <a:latin typeface="Arial"/>
                <a:ea typeface="Arial"/>
                <a:cs typeface="Arial"/>
                <a:sym typeface="Arial"/>
              </a:rPr>
              <a:t>максимальный результат</a:t>
            </a:r>
            <a:endParaRPr sz="1300"/>
          </a:p>
        </p:txBody>
      </p:sp>
      <p:sp>
        <p:nvSpPr>
          <p:cNvPr id="337" name="Google Shape;337;p32"/>
          <p:cNvSpPr/>
          <p:nvPr/>
        </p:nvSpPr>
        <p:spPr>
          <a:xfrm>
            <a:off x="13610634" y="7999773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13692739" y="8005464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339" name="Google Shape;339;p32"/>
          <p:cNvSpPr txBox="1"/>
          <p:nvPr/>
        </p:nvSpPr>
        <p:spPr>
          <a:xfrm>
            <a:off x="14168538" y="7900277"/>
            <a:ext cx="462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3738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Укрепить позицию бренда на рынке DIY.</a:t>
            </a:r>
            <a:endParaRPr sz="1300"/>
          </a:p>
        </p:txBody>
      </p:sp>
      <p:pic>
        <p:nvPicPr>
          <p:cNvPr descr="Рисунок 2" id="340" name="Google Shape;3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6931" y="2217475"/>
            <a:ext cx="1021853" cy="1021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исунок 26" id="341" name="Google Shape;3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655" y="2251388"/>
            <a:ext cx="970359" cy="970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исунок 38" id="342" name="Google Shape;34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0502" y="2197495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idx="12" type="sldNum"/>
          </p:nvPr>
        </p:nvSpPr>
        <p:spPr>
          <a:xfrm>
            <a:off x="19055269" y="10516988"/>
            <a:ext cx="26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1110891" y="814472"/>
            <a:ext cx="102822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4C543"/>
              </a:buClr>
              <a:buSzPct val="100000"/>
              <a:buFont typeface="Arial"/>
              <a:buNone/>
            </a:pPr>
            <a:r>
              <a:rPr b="1" lang="ru-RU" sz="6600">
                <a:solidFill>
                  <a:srgbClr val="F4C543"/>
                </a:solidFill>
              </a:rPr>
              <a:t>Цель 1</a:t>
            </a:r>
            <a:r>
              <a:rPr b="1" i="0" lang="ru-RU" sz="6600" u="none" cap="none" strike="noStrike">
                <a:solidFill>
                  <a:srgbClr val="F4C54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увеличить знание</a:t>
            </a:r>
            <a:r>
              <a:rPr b="1" lang="ru-RU" sz="6600">
                <a:solidFill>
                  <a:srgbClr val="313738"/>
                </a:solidFill>
              </a:rPr>
              <a:t> </a:t>
            </a: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о бренде\товарах</a:t>
            </a:r>
            <a:endParaRPr sz="1300"/>
          </a:p>
        </p:txBody>
      </p:sp>
      <p:sp>
        <p:nvSpPr>
          <p:cNvPr id="349" name="Google Shape;349;p33"/>
          <p:cNvSpPr txBox="1"/>
          <p:nvPr/>
        </p:nvSpPr>
        <p:spPr>
          <a:xfrm>
            <a:off x="1124166" y="3821354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1-я рекламная кампания</a:t>
            </a:r>
            <a:endParaRPr sz="1300"/>
          </a:p>
        </p:txBody>
      </p:sp>
      <p:sp>
        <p:nvSpPr>
          <p:cNvPr id="350" name="Google Shape;350;p33"/>
          <p:cNvSpPr txBox="1"/>
          <p:nvPr/>
        </p:nvSpPr>
        <p:spPr>
          <a:xfrm>
            <a:off x="11000533" y="3821354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2-я рекламная кампания</a:t>
            </a:r>
            <a:endParaRPr sz="1300"/>
          </a:p>
        </p:txBody>
      </p:sp>
      <p:sp>
        <p:nvSpPr>
          <p:cNvPr id="351" name="Google Shape;351;p33"/>
          <p:cNvSpPr txBox="1"/>
          <p:nvPr/>
        </p:nvSpPr>
        <p:spPr>
          <a:xfrm>
            <a:off x="1124166" y="4433338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сайт</a:t>
            </a:r>
            <a:endParaRPr sz="1300"/>
          </a:p>
        </p:txBody>
      </p:sp>
      <p:sp>
        <p:nvSpPr>
          <p:cNvPr id="352" name="Google Shape;352;p33"/>
          <p:cNvSpPr txBox="1"/>
          <p:nvPr/>
        </p:nvSpPr>
        <p:spPr>
          <a:xfrm>
            <a:off x="11000533" y="4433338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приложение</a:t>
            </a:r>
            <a:endParaRPr sz="1300"/>
          </a:p>
        </p:txBody>
      </p:sp>
      <p:sp>
        <p:nvSpPr>
          <p:cNvPr id="353" name="Google Shape;353;p33"/>
          <p:cNvSpPr txBox="1"/>
          <p:nvPr/>
        </p:nvSpPr>
        <p:spPr>
          <a:xfrm>
            <a:off x="1721075" y="5503050"/>
            <a:ext cx="8575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Баннеры на страницах поисковой выдачи.</a:t>
            </a:r>
            <a:endParaRPr sz="1300"/>
          </a:p>
        </p:txBody>
      </p:sp>
      <p:sp>
        <p:nvSpPr>
          <p:cNvPr id="354" name="Google Shape;354;p33"/>
          <p:cNvSpPr/>
          <p:nvPr/>
        </p:nvSpPr>
        <p:spPr>
          <a:xfrm>
            <a:off x="1176874" y="5573603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1258979" y="5579295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56" name="Google Shape;356;p33"/>
          <p:cNvSpPr/>
          <p:nvPr/>
        </p:nvSpPr>
        <p:spPr>
          <a:xfrm>
            <a:off x="1176874" y="631214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1258979" y="631783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58" name="Google Shape;358;p33"/>
          <p:cNvSpPr txBox="1"/>
          <p:nvPr/>
        </p:nvSpPr>
        <p:spPr>
          <a:xfrm>
            <a:off x="1721083" y="6235864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странице каталога.</a:t>
            </a:r>
            <a:endParaRPr sz="1300"/>
          </a:p>
        </p:txBody>
      </p:sp>
      <p:sp>
        <p:nvSpPr>
          <p:cNvPr id="359" name="Google Shape;359;p33"/>
          <p:cNvSpPr txBox="1"/>
          <p:nvPr/>
        </p:nvSpPr>
        <p:spPr>
          <a:xfrm>
            <a:off x="11600207" y="5507935"/>
            <a:ext cx="95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Баннеры на страницах каталога.</a:t>
            </a:r>
            <a:endParaRPr sz="1300"/>
          </a:p>
        </p:txBody>
      </p:sp>
      <p:sp>
        <p:nvSpPr>
          <p:cNvPr id="360" name="Google Shape;360;p33"/>
          <p:cNvSpPr/>
          <p:nvPr/>
        </p:nvSpPr>
        <p:spPr>
          <a:xfrm>
            <a:off x="11055998" y="557848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11138103" y="5584176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62" name="Google Shape;362;p33"/>
          <p:cNvSpPr/>
          <p:nvPr/>
        </p:nvSpPr>
        <p:spPr>
          <a:xfrm>
            <a:off x="11055998" y="6317024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11138103" y="6322714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64" name="Google Shape;364;p33"/>
          <p:cNvSpPr txBox="1"/>
          <p:nvPr/>
        </p:nvSpPr>
        <p:spPr>
          <a:xfrm>
            <a:off x="11600207" y="6246472"/>
            <a:ext cx="95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 txBox="1"/>
          <p:nvPr/>
        </p:nvSpPr>
        <p:spPr>
          <a:xfrm>
            <a:off x="11600207" y="6196292"/>
            <a:ext cx="9577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 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страницах поисковой выдачи.</a:t>
            </a:r>
            <a:endParaRPr sz="1300"/>
          </a:p>
        </p:txBody>
      </p:sp>
      <p:pic>
        <p:nvPicPr>
          <p:cNvPr descr="Рисунок 1" id="366" name="Google Shape;36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1435" y="610344"/>
            <a:ext cx="1270001" cy="127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3"/>
          <p:cNvSpPr/>
          <p:nvPr/>
        </p:nvSpPr>
        <p:spPr>
          <a:xfrm>
            <a:off x="1100674" y="753134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1182779" y="753703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2F3738"/>
                </a:solidFill>
              </a:rPr>
              <a:t>3</a:t>
            </a:r>
            <a:endParaRPr sz="1300"/>
          </a:p>
        </p:txBody>
      </p:sp>
      <p:sp>
        <p:nvSpPr>
          <p:cNvPr id="369" name="Google Shape;369;p33"/>
          <p:cNvSpPr txBox="1"/>
          <p:nvPr/>
        </p:nvSpPr>
        <p:spPr>
          <a:xfrm>
            <a:off x="1644883" y="7455064"/>
            <a:ext cx="757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lang="ru-RU" sz="3100">
                <a:solidFill>
                  <a:srgbClr val="404040"/>
                </a:solidFill>
              </a:rPr>
              <a:t>Бренды в категории</a:t>
            </a:r>
            <a:endParaRPr sz="1300"/>
          </a:p>
        </p:txBody>
      </p:sp>
      <p:sp>
        <p:nvSpPr>
          <p:cNvPr id="370" name="Google Shape;370;p33"/>
          <p:cNvSpPr/>
          <p:nvPr/>
        </p:nvSpPr>
        <p:spPr>
          <a:xfrm>
            <a:off x="1100674" y="836954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 txBox="1"/>
          <p:nvPr/>
        </p:nvSpPr>
        <p:spPr>
          <a:xfrm>
            <a:off x="1182779" y="837523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2F3738"/>
                </a:solidFill>
              </a:rPr>
              <a:t>4</a:t>
            </a:r>
            <a:endParaRPr sz="1300"/>
          </a:p>
        </p:txBody>
      </p:sp>
      <p:sp>
        <p:nvSpPr>
          <p:cNvPr id="372" name="Google Shape;372;p33"/>
          <p:cNvSpPr txBox="1"/>
          <p:nvPr/>
        </p:nvSpPr>
        <p:spPr>
          <a:xfrm>
            <a:off x="1644883" y="8293264"/>
            <a:ext cx="757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lang="ru-RU" sz="3100">
                <a:solidFill>
                  <a:srgbClr val="404040"/>
                </a:solidFill>
              </a:rPr>
              <a:t>Бренды в каталоге</a:t>
            </a:r>
            <a:endParaRPr sz="1300"/>
          </a:p>
        </p:txBody>
      </p:sp>
      <p:sp>
        <p:nvSpPr>
          <p:cNvPr id="373" name="Google Shape;373;p33"/>
          <p:cNvSpPr/>
          <p:nvPr/>
        </p:nvSpPr>
        <p:spPr>
          <a:xfrm>
            <a:off x="11082874" y="768374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11164979" y="768943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2F3738"/>
                </a:solidFill>
              </a:rPr>
              <a:t>3</a:t>
            </a:r>
            <a:endParaRPr sz="1300"/>
          </a:p>
        </p:txBody>
      </p:sp>
      <p:sp>
        <p:nvSpPr>
          <p:cNvPr id="375" name="Google Shape;375;p33"/>
          <p:cNvSpPr txBox="1"/>
          <p:nvPr/>
        </p:nvSpPr>
        <p:spPr>
          <a:xfrm>
            <a:off x="11627083" y="7607464"/>
            <a:ext cx="757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lang="ru-RU" sz="3100">
                <a:solidFill>
                  <a:srgbClr val="404040"/>
                </a:solidFill>
              </a:rPr>
              <a:t>Бренды в каталоге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/>
          <p:nvPr/>
        </p:nvSpPr>
        <p:spPr>
          <a:xfrm>
            <a:off x="10917436" y="8896697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 txBox="1"/>
          <p:nvPr>
            <p:ph idx="12" type="sldNum"/>
          </p:nvPr>
        </p:nvSpPr>
        <p:spPr>
          <a:xfrm>
            <a:off x="19055955" y="10516988"/>
            <a:ext cx="2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1110891" y="814472"/>
            <a:ext cx="133038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4C543"/>
              </a:buClr>
              <a:buSzPts val="6600"/>
              <a:buFont typeface="Arial"/>
              <a:buNone/>
            </a:pPr>
            <a:r>
              <a:rPr b="1" lang="ru-RU" sz="6600">
                <a:solidFill>
                  <a:srgbClr val="F4C543"/>
                </a:solidFill>
              </a:rPr>
              <a:t>Цель 2</a:t>
            </a:r>
            <a:r>
              <a:rPr b="1" i="0" lang="ru-RU" sz="6600" u="none" cap="none" strike="noStrike">
                <a:solidFill>
                  <a:srgbClr val="F4C54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увеличить</a:t>
            </a:r>
            <a:r>
              <a:rPr b="1" lang="ru-RU" sz="6600">
                <a:solidFill>
                  <a:srgbClr val="313738"/>
                </a:solidFill>
              </a:rPr>
              <a:t> </a:t>
            </a: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товарооборот по ассортименту</a:t>
            </a:r>
            <a:endParaRPr sz="1300"/>
          </a:p>
        </p:txBody>
      </p:sp>
      <p:sp>
        <p:nvSpPr>
          <p:cNvPr id="383" name="Google Shape;383;p34"/>
          <p:cNvSpPr txBox="1"/>
          <p:nvPr/>
        </p:nvSpPr>
        <p:spPr>
          <a:xfrm>
            <a:off x="1124166" y="2953759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1-я рекламная кампания</a:t>
            </a:r>
            <a:endParaRPr b="1" i="0" sz="35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10851934" y="2953759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2-я рекламная кампания</a:t>
            </a:r>
            <a:endParaRPr b="1" i="0" sz="35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1124166" y="3524425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сайт</a:t>
            </a:r>
            <a:endParaRPr b="0" i="0" sz="3100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10851934" y="3524425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приложение</a:t>
            </a:r>
            <a:endParaRPr b="0" i="0" sz="3100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1721083" y="4335729"/>
            <a:ext cx="93225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поисковой выдачи.</a:t>
            </a:r>
            <a:endParaRPr sz="1300"/>
          </a:p>
        </p:txBody>
      </p:sp>
      <p:sp>
        <p:nvSpPr>
          <p:cNvPr id="388" name="Google Shape;388;p34"/>
          <p:cNvSpPr/>
          <p:nvPr/>
        </p:nvSpPr>
        <p:spPr>
          <a:xfrm>
            <a:off x="1176874" y="440628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1258979" y="441197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390" name="Google Shape;390;p34"/>
          <p:cNvSpPr/>
          <p:nvPr/>
        </p:nvSpPr>
        <p:spPr>
          <a:xfrm>
            <a:off x="1176874" y="544275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4"/>
          <p:cNvSpPr txBox="1"/>
          <p:nvPr/>
        </p:nvSpPr>
        <p:spPr>
          <a:xfrm>
            <a:off x="1258979" y="544844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392" name="Google Shape;392;p34"/>
          <p:cNvSpPr/>
          <p:nvPr/>
        </p:nvSpPr>
        <p:spPr>
          <a:xfrm>
            <a:off x="1176874" y="6181293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1258979" y="6186984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394" name="Google Shape;394;p34"/>
          <p:cNvSpPr/>
          <p:nvPr/>
        </p:nvSpPr>
        <p:spPr>
          <a:xfrm>
            <a:off x="1176874" y="7320180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 txBox="1"/>
          <p:nvPr/>
        </p:nvSpPr>
        <p:spPr>
          <a:xfrm>
            <a:off x="1258979" y="7325871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/>
          </a:p>
        </p:txBody>
      </p:sp>
      <p:sp>
        <p:nvSpPr>
          <p:cNvPr id="396" name="Google Shape;396;p34"/>
          <p:cNvSpPr txBox="1"/>
          <p:nvPr/>
        </p:nvSpPr>
        <p:spPr>
          <a:xfrm>
            <a:off x="1721074" y="5372200"/>
            <a:ext cx="811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каталога.</a:t>
            </a:r>
            <a:endParaRPr sz="1300"/>
          </a:p>
        </p:txBody>
      </p:sp>
      <p:sp>
        <p:nvSpPr>
          <p:cNvPr id="397" name="Google Shape;397;p34"/>
          <p:cNvSpPr txBox="1"/>
          <p:nvPr/>
        </p:nvSpPr>
        <p:spPr>
          <a:xfrm>
            <a:off x="1721083" y="6110742"/>
            <a:ext cx="62475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страницах каталога.</a:t>
            </a:r>
            <a:endParaRPr sz="1300"/>
          </a:p>
        </p:txBody>
      </p:sp>
      <p:sp>
        <p:nvSpPr>
          <p:cNvPr id="398" name="Google Shape;398;p34"/>
          <p:cNvSpPr txBox="1"/>
          <p:nvPr/>
        </p:nvSpPr>
        <p:spPr>
          <a:xfrm>
            <a:off x="1721083" y="7249629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«Похожие товары»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в карточке товара.</a:t>
            </a:r>
            <a:endParaRPr sz="1300"/>
          </a:p>
        </p:txBody>
      </p:sp>
      <p:sp>
        <p:nvSpPr>
          <p:cNvPr id="399" name="Google Shape;399;p34"/>
          <p:cNvSpPr txBox="1"/>
          <p:nvPr/>
        </p:nvSpPr>
        <p:spPr>
          <a:xfrm>
            <a:off x="11451608" y="4245981"/>
            <a:ext cx="9577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поисковой выдачи.</a:t>
            </a:r>
            <a:endParaRPr sz="1300"/>
          </a:p>
        </p:txBody>
      </p:sp>
      <p:sp>
        <p:nvSpPr>
          <p:cNvPr id="400" name="Google Shape;400;p34"/>
          <p:cNvSpPr/>
          <p:nvPr/>
        </p:nvSpPr>
        <p:spPr>
          <a:xfrm>
            <a:off x="10907399" y="4296990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4"/>
          <p:cNvSpPr txBox="1"/>
          <p:nvPr/>
        </p:nvSpPr>
        <p:spPr>
          <a:xfrm>
            <a:off x="10989504" y="430268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402" name="Google Shape;402;p34"/>
          <p:cNvSpPr/>
          <p:nvPr/>
        </p:nvSpPr>
        <p:spPr>
          <a:xfrm>
            <a:off x="10907399" y="5328582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 txBox="1"/>
          <p:nvPr/>
        </p:nvSpPr>
        <p:spPr>
          <a:xfrm>
            <a:off x="10989504" y="533427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404" name="Google Shape;404;p34"/>
          <p:cNvSpPr/>
          <p:nvPr/>
        </p:nvSpPr>
        <p:spPr>
          <a:xfrm>
            <a:off x="10907399" y="6067119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10989504" y="607281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406" name="Google Shape;406;p34"/>
          <p:cNvSpPr txBox="1"/>
          <p:nvPr/>
        </p:nvSpPr>
        <p:spPr>
          <a:xfrm>
            <a:off x="11451608" y="5258030"/>
            <a:ext cx="95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каталога.</a:t>
            </a:r>
            <a:endParaRPr sz="1300"/>
          </a:p>
        </p:txBody>
      </p:sp>
      <p:sp>
        <p:nvSpPr>
          <p:cNvPr id="407" name="Google Shape;407;p34"/>
          <p:cNvSpPr txBox="1"/>
          <p:nvPr/>
        </p:nvSpPr>
        <p:spPr>
          <a:xfrm>
            <a:off x="11451608" y="5996567"/>
            <a:ext cx="9577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страницах поисковой выдачи.</a:t>
            </a:r>
            <a:endParaRPr sz="1300"/>
          </a:p>
        </p:txBody>
      </p:sp>
      <p:sp>
        <p:nvSpPr>
          <p:cNvPr id="408" name="Google Shape;408;p34"/>
          <p:cNvSpPr/>
          <p:nvPr/>
        </p:nvSpPr>
        <p:spPr>
          <a:xfrm>
            <a:off x="10907399" y="720600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 txBox="1"/>
          <p:nvPr/>
        </p:nvSpPr>
        <p:spPr>
          <a:xfrm>
            <a:off x="10989504" y="721169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/>
          </a:p>
        </p:txBody>
      </p:sp>
      <p:sp>
        <p:nvSpPr>
          <p:cNvPr id="410" name="Google Shape;410;p34"/>
          <p:cNvSpPr txBox="1"/>
          <p:nvPr/>
        </p:nvSpPr>
        <p:spPr>
          <a:xfrm>
            <a:off x="11451608" y="7135454"/>
            <a:ext cx="95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Продвижение товаров в подсказках поиска.</a:t>
            </a:r>
            <a:endParaRPr sz="1300"/>
          </a:p>
        </p:txBody>
      </p:sp>
      <p:sp>
        <p:nvSpPr>
          <p:cNvPr id="411" name="Google Shape;411;p34"/>
          <p:cNvSpPr/>
          <p:nvPr/>
        </p:nvSpPr>
        <p:spPr>
          <a:xfrm>
            <a:off x="10912278" y="7957804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10994383" y="7963495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/>
          </a:p>
        </p:txBody>
      </p:sp>
      <p:sp>
        <p:nvSpPr>
          <p:cNvPr id="413" name="Google Shape;413;p34"/>
          <p:cNvSpPr txBox="1"/>
          <p:nvPr/>
        </p:nvSpPr>
        <p:spPr>
          <a:xfrm>
            <a:off x="11456487" y="7887253"/>
            <a:ext cx="95778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«Похожие товары»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в карточке товара.</a:t>
            </a:r>
            <a:endParaRPr b="0" i="0" sz="31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Рисунок 38" id="414" name="Google Shape;4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6682" y="516311"/>
            <a:ext cx="1359505" cy="135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4"/>
          <p:cNvSpPr/>
          <p:nvPr/>
        </p:nvSpPr>
        <p:spPr>
          <a:xfrm>
            <a:off x="18858629" y="1520516"/>
            <a:ext cx="156900" cy="156900"/>
          </a:xfrm>
          <a:prstGeom prst="ellipse">
            <a:avLst/>
          </a:prstGeom>
          <a:solidFill>
            <a:srgbClr val="F4C543"/>
          </a:solidFill>
          <a:ln cap="flat" cmpd="sng" w="25400">
            <a:solidFill>
              <a:schemeClr val="accen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19404728" y="1520516"/>
            <a:ext cx="156900" cy="156900"/>
          </a:xfrm>
          <a:prstGeom prst="ellipse">
            <a:avLst/>
          </a:prstGeom>
          <a:solidFill>
            <a:srgbClr val="F4C543"/>
          </a:solidFill>
          <a:ln cap="flat" cmpd="sng" w="25400">
            <a:solidFill>
              <a:schemeClr val="accent1">
                <a:alpha val="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1132503" y="8526551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1721083" y="8455999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«Рекомендации для вас» в карточке товара</a:t>
            </a:r>
            <a:endParaRPr b="0" i="0" sz="31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 txBox="1"/>
          <p:nvPr/>
        </p:nvSpPr>
        <p:spPr>
          <a:xfrm>
            <a:off x="1230374" y="8520859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/>
          </a:p>
        </p:txBody>
      </p:sp>
      <p:sp>
        <p:nvSpPr>
          <p:cNvPr id="420" name="Google Shape;420;p34"/>
          <p:cNvSpPr txBox="1"/>
          <p:nvPr/>
        </p:nvSpPr>
        <p:spPr>
          <a:xfrm>
            <a:off x="1721083" y="9652380"/>
            <a:ext cx="694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«С этим товаром покупают» в карточке товара.</a:t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1110891" y="971015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 txBox="1"/>
          <p:nvPr/>
        </p:nvSpPr>
        <p:spPr>
          <a:xfrm>
            <a:off x="1176874" y="9680661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00"/>
          </a:p>
        </p:txBody>
      </p:sp>
      <p:sp>
        <p:nvSpPr>
          <p:cNvPr id="423" name="Google Shape;423;p34"/>
          <p:cNvSpPr txBox="1"/>
          <p:nvPr/>
        </p:nvSpPr>
        <p:spPr>
          <a:xfrm>
            <a:off x="11451608" y="8892607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«Рекомендации для вас» в карточке товара</a:t>
            </a:r>
            <a:endParaRPr b="0" i="0" sz="31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10989504" y="8892768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00"/>
          </a:p>
        </p:txBody>
      </p:sp>
      <p:sp>
        <p:nvSpPr>
          <p:cNvPr id="425" name="Google Shape;425;p34"/>
          <p:cNvSpPr txBox="1"/>
          <p:nvPr/>
        </p:nvSpPr>
        <p:spPr>
          <a:xfrm>
            <a:off x="11451600" y="9903700"/>
            <a:ext cx="736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«С этим товаром покупают» в карточке товара.</a:t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10907399" y="9998605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10999541" y="1002033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5"/>
          <p:cNvSpPr txBox="1"/>
          <p:nvPr>
            <p:ph idx="12" type="sldNum"/>
          </p:nvPr>
        </p:nvSpPr>
        <p:spPr>
          <a:xfrm>
            <a:off x="19054126" y="10516988"/>
            <a:ext cx="26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82B"/>
              </a:buClr>
              <a:buSzPts val="18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1110891" y="814472"/>
            <a:ext cx="176142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4C543"/>
              </a:buClr>
              <a:buSzPct val="100000"/>
              <a:buFont typeface="Arial"/>
              <a:buNone/>
            </a:pPr>
            <a:r>
              <a:rPr b="1" lang="ru-RU" sz="6600">
                <a:solidFill>
                  <a:srgbClr val="F4C543"/>
                </a:solidFill>
              </a:rPr>
              <a:t>Цель 3</a:t>
            </a:r>
            <a:r>
              <a:rPr b="1" i="0" lang="ru-RU" sz="6600" u="none" cap="none" strike="noStrike">
                <a:solidFill>
                  <a:srgbClr val="F4C54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0" lang="ru-RU" sz="6600" u="none" cap="none" strike="noStrike">
                <a:solidFill>
                  <a:srgbClr val="313738"/>
                </a:solidFill>
                <a:latin typeface="Arial"/>
                <a:ea typeface="Arial"/>
                <a:cs typeface="Arial"/>
                <a:sym typeface="Arial"/>
              </a:rPr>
              <a:t> комплексное продвижение бренда</a:t>
            </a:r>
            <a:endParaRPr sz="1300"/>
          </a:p>
        </p:txBody>
      </p:sp>
      <p:sp>
        <p:nvSpPr>
          <p:cNvPr id="434" name="Google Shape;434;p35"/>
          <p:cNvSpPr txBox="1"/>
          <p:nvPr/>
        </p:nvSpPr>
        <p:spPr>
          <a:xfrm>
            <a:off x="1124166" y="2434198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1-я рекламная кампания</a:t>
            </a:r>
            <a:endParaRPr sz="1300"/>
          </a:p>
        </p:txBody>
      </p:sp>
      <p:sp>
        <p:nvSpPr>
          <p:cNvPr id="435" name="Google Shape;435;p35"/>
          <p:cNvSpPr txBox="1"/>
          <p:nvPr/>
        </p:nvSpPr>
        <p:spPr>
          <a:xfrm>
            <a:off x="10557909" y="2434198"/>
            <a:ext cx="624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3500"/>
              <a:buFont typeface="Arial"/>
              <a:buNone/>
            </a:pPr>
            <a:r>
              <a:rPr b="1" i="0" lang="ru-RU" sz="35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2-я рекламная кампания</a:t>
            </a:r>
            <a:endParaRPr sz="1300"/>
          </a:p>
        </p:txBody>
      </p:sp>
      <p:sp>
        <p:nvSpPr>
          <p:cNvPr id="436" name="Google Shape;436;p35"/>
          <p:cNvSpPr txBox="1"/>
          <p:nvPr/>
        </p:nvSpPr>
        <p:spPr>
          <a:xfrm>
            <a:off x="1124166" y="3046182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сайт</a:t>
            </a:r>
            <a:endParaRPr sz="1300"/>
          </a:p>
        </p:txBody>
      </p:sp>
      <p:sp>
        <p:nvSpPr>
          <p:cNvPr id="437" name="Google Shape;437;p35"/>
          <p:cNvSpPr txBox="1"/>
          <p:nvPr/>
        </p:nvSpPr>
        <p:spPr>
          <a:xfrm>
            <a:off x="10557909" y="3046182"/>
            <a:ext cx="3845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приложение</a:t>
            </a:r>
            <a:endParaRPr sz="1300"/>
          </a:p>
        </p:txBody>
      </p:sp>
      <p:sp>
        <p:nvSpPr>
          <p:cNvPr id="438" name="Google Shape;438;p35"/>
          <p:cNvSpPr txBox="1"/>
          <p:nvPr/>
        </p:nvSpPr>
        <p:spPr>
          <a:xfrm>
            <a:off x="1675891" y="3747576"/>
            <a:ext cx="8376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8890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Баннеры на страницах поисковой выдачи.</a:t>
            </a:r>
            <a:endParaRPr sz="1300"/>
          </a:p>
        </p:txBody>
      </p:sp>
      <p:sp>
        <p:nvSpPr>
          <p:cNvPr id="439" name="Google Shape;439;p35"/>
          <p:cNvSpPr/>
          <p:nvPr/>
        </p:nvSpPr>
        <p:spPr>
          <a:xfrm>
            <a:off x="1141582" y="3818140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5"/>
          <p:cNvSpPr txBox="1"/>
          <p:nvPr/>
        </p:nvSpPr>
        <p:spPr>
          <a:xfrm>
            <a:off x="1223687" y="3823831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441" name="Google Shape;441;p35"/>
          <p:cNvSpPr/>
          <p:nvPr/>
        </p:nvSpPr>
        <p:spPr>
          <a:xfrm>
            <a:off x="1141582" y="441955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1223687" y="442524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443" name="Google Shape;443;p35"/>
          <p:cNvSpPr/>
          <p:nvPr/>
        </p:nvSpPr>
        <p:spPr>
          <a:xfrm>
            <a:off x="1141582" y="5430290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5"/>
          <p:cNvSpPr txBox="1"/>
          <p:nvPr/>
        </p:nvSpPr>
        <p:spPr>
          <a:xfrm>
            <a:off x="1223687" y="5435982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445" name="Google Shape;445;p35"/>
          <p:cNvSpPr/>
          <p:nvPr/>
        </p:nvSpPr>
        <p:spPr>
          <a:xfrm>
            <a:off x="1141582" y="646088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5"/>
          <p:cNvSpPr txBox="1"/>
          <p:nvPr/>
        </p:nvSpPr>
        <p:spPr>
          <a:xfrm>
            <a:off x="1223687" y="646657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/>
          </a:p>
        </p:txBody>
      </p:sp>
      <p:sp>
        <p:nvSpPr>
          <p:cNvPr id="447" name="Google Shape;447;p35"/>
          <p:cNvSpPr txBox="1"/>
          <p:nvPr/>
        </p:nvSpPr>
        <p:spPr>
          <a:xfrm>
            <a:off x="1770432" y="4331678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«Похожие товары»в карточке товара.</a:t>
            </a:r>
            <a:endParaRPr sz="1300"/>
          </a:p>
        </p:txBody>
      </p:sp>
      <p:sp>
        <p:nvSpPr>
          <p:cNvPr id="448" name="Google Shape;448;p35"/>
          <p:cNvSpPr txBox="1"/>
          <p:nvPr/>
        </p:nvSpPr>
        <p:spPr>
          <a:xfrm>
            <a:off x="1770439" y="5323724"/>
            <a:ext cx="68901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«Рекомендации для вас» в карточке товара.</a:t>
            </a:r>
            <a:endParaRPr sz="1300"/>
          </a:p>
        </p:txBody>
      </p:sp>
      <p:sp>
        <p:nvSpPr>
          <p:cNvPr id="449" name="Google Shape;449;p35"/>
          <p:cNvSpPr txBox="1"/>
          <p:nvPr/>
        </p:nvSpPr>
        <p:spPr>
          <a:xfrm>
            <a:off x="1675981" y="6348072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«С этим товаром покупают» в карточке товара.</a:t>
            </a:r>
            <a:endParaRPr sz="1300"/>
          </a:p>
        </p:txBody>
      </p:sp>
      <p:sp>
        <p:nvSpPr>
          <p:cNvPr id="450" name="Google Shape;450;p35"/>
          <p:cNvSpPr/>
          <p:nvPr/>
        </p:nvSpPr>
        <p:spPr>
          <a:xfrm>
            <a:off x="1141582" y="7486730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1223687" y="7492421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/>
          </a:p>
        </p:txBody>
      </p:sp>
      <p:sp>
        <p:nvSpPr>
          <p:cNvPr id="452" name="Google Shape;452;p35"/>
          <p:cNvSpPr txBox="1"/>
          <p:nvPr/>
        </p:nvSpPr>
        <p:spPr>
          <a:xfrm>
            <a:off x="1675899" y="7378057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страницах каталога.</a:t>
            </a:r>
            <a:endParaRPr sz="1300"/>
          </a:p>
        </p:txBody>
      </p:sp>
      <p:sp>
        <p:nvSpPr>
          <p:cNvPr id="453" name="Google Shape;453;p35"/>
          <p:cNvSpPr/>
          <p:nvPr/>
        </p:nvSpPr>
        <p:spPr>
          <a:xfrm>
            <a:off x="1141582" y="8399384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 txBox="1"/>
          <p:nvPr/>
        </p:nvSpPr>
        <p:spPr>
          <a:xfrm>
            <a:off x="1223687" y="8405075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00"/>
          </a:p>
        </p:txBody>
      </p:sp>
      <p:sp>
        <p:nvSpPr>
          <p:cNvPr id="455" name="Google Shape;455;p35"/>
          <p:cNvSpPr/>
          <p:nvPr/>
        </p:nvSpPr>
        <p:spPr>
          <a:xfrm>
            <a:off x="1141582" y="8998218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5"/>
          <p:cNvSpPr txBox="1"/>
          <p:nvPr/>
        </p:nvSpPr>
        <p:spPr>
          <a:xfrm>
            <a:off x="1223687" y="900391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/>
          </a:p>
        </p:txBody>
      </p:sp>
      <p:sp>
        <p:nvSpPr>
          <p:cNvPr id="457" name="Google Shape;457;p35"/>
          <p:cNvSpPr txBox="1"/>
          <p:nvPr/>
        </p:nvSpPr>
        <p:spPr>
          <a:xfrm>
            <a:off x="1675891" y="8364488"/>
            <a:ext cx="7893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каталога.</a:t>
            </a:r>
            <a:endParaRPr sz="1300"/>
          </a:p>
        </p:txBody>
      </p:sp>
      <p:sp>
        <p:nvSpPr>
          <p:cNvPr id="458" name="Google Shape;458;p35"/>
          <p:cNvSpPr txBox="1"/>
          <p:nvPr/>
        </p:nvSpPr>
        <p:spPr>
          <a:xfrm>
            <a:off x="1223687" y="1019109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5"/>
          <p:cNvSpPr txBox="1"/>
          <p:nvPr/>
        </p:nvSpPr>
        <p:spPr>
          <a:xfrm>
            <a:off x="1675899" y="8963319"/>
            <a:ext cx="8678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поисковой выдачи.</a:t>
            </a:r>
            <a:endParaRPr sz="1300"/>
          </a:p>
        </p:txBody>
      </p:sp>
      <p:sp>
        <p:nvSpPr>
          <p:cNvPr id="460" name="Google Shape;460;p35"/>
          <p:cNvSpPr txBox="1"/>
          <p:nvPr/>
        </p:nvSpPr>
        <p:spPr>
          <a:xfrm>
            <a:off x="11160452" y="3753956"/>
            <a:ext cx="7466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Баннеры на страницах каталога</a:t>
            </a:r>
            <a:r>
              <a:rPr lang="ru-RU" sz="3100">
                <a:solidFill>
                  <a:srgbClr val="404040"/>
                </a:solidFill>
              </a:rPr>
              <a:t>.</a:t>
            </a:r>
            <a:endParaRPr sz="1300"/>
          </a:p>
        </p:txBody>
      </p:sp>
      <p:sp>
        <p:nvSpPr>
          <p:cNvPr id="461" name="Google Shape;461;p35"/>
          <p:cNvSpPr/>
          <p:nvPr/>
        </p:nvSpPr>
        <p:spPr>
          <a:xfrm>
            <a:off x="10626135" y="3824507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 txBox="1"/>
          <p:nvPr/>
        </p:nvSpPr>
        <p:spPr>
          <a:xfrm>
            <a:off x="10708240" y="3830199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/>
          </a:p>
        </p:txBody>
      </p:sp>
      <p:sp>
        <p:nvSpPr>
          <p:cNvPr id="463" name="Google Shape;463;p35"/>
          <p:cNvSpPr/>
          <p:nvPr/>
        </p:nvSpPr>
        <p:spPr>
          <a:xfrm>
            <a:off x="10626135" y="4425923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10708240" y="4431614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/>
          </a:p>
        </p:txBody>
      </p:sp>
      <p:sp>
        <p:nvSpPr>
          <p:cNvPr id="465" name="Google Shape;465;p35"/>
          <p:cNvSpPr/>
          <p:nvPr/>
        </p:nvSpPr>
        <p:spPr>
          <a:xfrm>
            <a:off x="10626135" y="5436659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5"/>
          <p:cNvSpPr txBox="1"/>
          <p:nvPr/>
        </p:nvSpPr>
        <p:spPr>
          <a:xfrm>
            <a:off x="10708240" y="5442350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/>
          </a:p>
        </p:txBody>
      </p:sp>
      <p:sp>
        <p:nvSpPr>
          <p:cNvPr id="467" name="Google Shape;467;p35"/>
          <p:cNvSpPr/>
          <p:nvPr/>
        </p:nvSpPr>
        <p:spPr>
          <a:xfrm>
            <a:off x="10626135" y="6467254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10708240" y="6472945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/>
          </a:p>
        </p:txBody>
      </p:sp>
      <p:sp>
        <p:nvSpPr>
          <p:cNvPr id="469" name="Google Shape;469;p35"/>
          <p:cNvSpPr txBox="1"/>
          <p:nvPr/>
        </p:nvSpPr>
        <p:spPr>
          <a:xfrm>
            <a:off x="11160423" y="4329974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«Похожие товары»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в карточке товара.</a:t>
            </a:r>
            <a:endParaRPr sz="1300"/>
          </a:p>
        </p:txBody>
      </p:sp>
      <p:sp>
        <p:nvSpPr>
          <p:cNvPr id="470" name="Google Shape;470;p35"/>
          <p:cNvSpPr txBox="1"/>
          <p:nvPr/>
        </p:nvSpPr>
        <p:spPr>
          <a:xfrm>
            <a:off x="11160421" y="5353389"/>
            <a:ext cx="78939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«Рекомендации для вас» в карточке товара.</a:t>
            </a:r>
            <a:endParaRPr sz="1300"/>
          </a:p>
        </p:txBody>
      </p:sp>
      <p:sp>
        <p:nvSpPr>
          <p:cNvPr id="471" name="Google Shape;471;p35"/>
          <p:cNvSpPr txBox="1"/>
          <p:nvPr/>
        </p:nvSpPr>
        <p:spPr>
          <a:xfrm>
            <a:off x="11160452" y="6371288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рекомендаций «С этим товаром покупают» в карточке товара.</a:t>
            </a:r>
            <a:endParaRPr sz="1300"/>
          </a:p>
        </p:txBody>
      </p:sp>
      <p:sp>
        <p:nvSpPr>
          <p:cNvPr id="472" name="Google Shape;472;p35"/>
          <p:cNvSpPr/>
          <p:nvPr/>
        </p:nvSpPr>
        <p:spPr>
          <a:xfrm>
            <a:off x="10626135" y="7493097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10708240" y="7498788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/>
          </a:p>
        </p:txBody>
      </p:sp>
      <p:sp>
        <p:nvSpPr>
          <p:cNvPr id="474" name="Google Shape;474;p35"/>
          <p:cNvSpPr txBox="1"/>
          <p:nvPr/>
        </p:nvSpPr>
        <p:spPr>
          <a:xfrm>
            <a:off x="11160452" y="7384424"/>
            <a:ext cx="75753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</a:t>
            </a:r>
            <a:b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на страницах поисковой выдачи.</a:t>
            </a:r>
            <a:endParaRPr sz="1300"/>
          </a:p>
        </p:txBody>
      </p:sp>
      <p:sp>
        <p:nvSpPr>
          <p:cNvPr id="475" name="Google Shape;475;p35"/>
          <p:cNvSpPr/>
          <p:nvPr/>
        </p:nvSpPr>
        <p:spPr>
          <a:xfrm>
            <a:off x="10626135" y="8595042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10708240" y="8600733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300"/>
          </a:p>
        </p:txBody>
      </p:sp>
      <p:sp>
        <p:nvSpPr>
          <p:cNvPr id="477" name="Google Shape;477;p35"/>
          <p:cNvSpPr/>
          <p:nvPr/>
        </p:nvSpPr>
        <p:spPr>
          <a:xfrm>
            <a:off x="10626135" y="9193876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5"/>
          <p:cNvSpPr txBox="1"/>
          <p:nvPr/>
        </p:nvSpPr>
        <p:spPr>
          <a:xfrm>
            <a:off x="10708240" y="9199567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/>
          </a:p>
        </p:txBody>
      </p:sp>
      <p:sp>
        <p:nvSpPr>
          <p:cNvPr id="479" name="Google Shape;479;p35"/>
          <p:cNvSpPr txBox="1"/>
          <p:nvPr/>
        </p:nvSpPr>
        <p:spPr>
          <a:xfrm>
            <a:off x="11160420" y="8508123"/>
            <a:ext cx="8943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каталога.</a:t>
            </a:r>
            <a:endParaRPr sz="1300"/>
          </a:p>
        </p:txBody>
      </p:sp>
      <p:sp>
        <p:nvSpPr>
          <p:cNvPr id="480" name="Google Shape;480;p35"/>
          <p:cNvSpPr/>
          <p:nvPr/>
        </p:nvSpPr>
        <p:spPr>
          <a:xfrm>
            <a:off x="10626135" y="10239434"/>
            <a:ext cx="413700" cy="4077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028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10708240" y="10245125"/>
            <a:ext cx="2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300"/>
          </a:p>
        </p:txBody>
      </p:sp>
      <p:sp>
        <p:nvSpPr>
          <p:cNvPr id="482" name="Google Shape;482;p35"/>
          <p:cNvSpPr txBox="1"/>
          <p:nvPr/>
        </p:nvSpPr>
        <p:spPr>
          <a:xfrm>
            <a:off x="11160450" y="9096475"/>
            <a:ext cx="83760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поисковой выдачи.</a:t>
            </a:r>
            <a:endParaRPr sz="1300"/>
          </a:p>
        </p:txBody>
      </p:sp>
      <p:sp>
        <p:nvSpPr>
          <p:cNvPr id="483" name="Google Shape;483;p35"/>
          <p:cNvSpPr txBox="1"/>
          <p:nvPr/>
        </p:nvSpPr>
        <p:spPr>
          <a:xfrm>
            <a:off x="11160452" y="10152490"/>
            <a:ext cx="8678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11430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100"/>
              <a:buFont typeface="Arial"/>
              <a:buNone/>
            </a:pPr>
            <a:r>
              <a:rPr b="0" i="0" lang="ru-RU" sz="3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Продвижение товаров в подсказках поиска.</a:t>
            </a:r>
            <a:endParaRPr sz="1300"/>
          </a:p>
        </p:txBody>
      </p:sp>
      <p:pic>
        <p:nvPicPr>
          <p:cNvPr descr="Рисунок 18" id="484" name="Google Shape;48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1969" y="684374"/>
            <a:ext cx="1270001" cy="127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6"/>
          <p:cNvSpPr/>
          <p:nvPr/>
        </p:nvSpPr>
        <p:spPr>
          <a:xfrm>
            <a:off x="1267075" y="7906693"/>
            <a:ext cx="3168352" cy="1827744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6"/>
          <p:cNvSpPr txBox="1"/>
          <p:nvPr>
            <p:ph type="ctrTitle"/>
          </p:nvPr>
        </p:nvSpPr>
        <p:spPr>
          <a:xfrm>
            <a:off x="1110892" y="623515"/>
            <a:ext cx="16862038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Медийная реклама</a:t>
            </a:r>
            <a:endParaRPr/>
          </a:p>
        </p:txBody>
      </p:sp>
      <p:sp>
        <p:nvSpPr>
          <p:cNvPr id="491" name="Google Shape;491;p36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92" name="Google Shape;492;p36"/>
          <p:cNvSpPr/>
          <p:nvPr/>
        </p:nvSpPr>
        <p:spPr>
          <a:xfrm>
            <a:off x="1119331" y="2338592"/>
            <a:ext cx="9796815" cy="49244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6"/>
          <p:cNvSpPr txBox="1"/>
          <p:nvPr/>
        </p:nvSpPr>
        <p:spPr>
          <a:xfrm>
            <a:off x="1267074" y="2338592"/>
            <a:ext cx="108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Баннер на главной странице</a:t>
            </a:r>
            <a:endParaRPr/>
          </a:p>
        </p:txBody>
      </p:sp>
      <p:sp>
        <p:nvSpPr>
          <p:cNvPr id="494" name="Google Shape;494;p36"/>
          <p:cNvSpPr txBox="1"/>
          <p:nvPr/>
        </p:nvSpPr>
        <p:spPr>
          <a:xfrm>
            <a:off x="1102074" y="10387973"/>
            <a:ext cx="6076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A5A5A5"/>
                </a:solidFill>
              </a:rPr>
              <a:t>С</a:t>
            </a: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6"/>
          <p:cNvSpPr txBox="1"/>
          <p:nvPr/>
        </p:nvSpPr>
        <p:spPr>
          <a:xfrm>
            <a:off x="1102074" y="2990379"/>
            <a:ext cx="981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Увеличьте охват рекламного предложения. Баннер 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может вести на бренд-зону, страницу поисковой выдачи или страницу каталога с фильтром</a:t>
            </a:r>
            <a:r>
              <a:rPr lang="ru-RU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 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по вашему бренду. 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Маркировка рекламы в ОРД на нашей стороне.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6" name="Google Shape;496;p36"/>
          <p:cNvSpPr txBox="1"/>
          <p:nvPr/>
        </p:nvSpPr>
        <p:spPr>
          <a:xfrm>
            <a:off x="1411090" y="8497300"/>
            <a:ext cx="2592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</a:t>
            </a:r>
            <a:r>
              <a:rPr lang="ru-RU" sz="2000">
                <a:solidFill>
                  <a:schemeClr val="dk1"/>
                </a:solidFill>
              </a:rPr>
              <a:t>0,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1170219" y="7906693"/>
            <a:ext cx="168863" cy="182774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6"/>
          <p:cNvSpPr txBox="1"/>
          <p:nvPr/>
        </p:nvSpPr>
        <p:spPr>
          <a:xfrm>
            <a:off x="1483098" y="8070473"/>
            <a:ext cx="2016224" cy="3379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1421881" y="9169872"/>
            <a:ext cx="2592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1189082" y="4301919"/>
            <a:ext cx="6076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Вторая карусель баннеров на главной странице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6"/>
          <p:cNvSpPr txBox="1"/>
          <p:nvPr/>
        </p:nvSpPr>
        <p:spPr>
          <a:xfrm>
            <a:off x="1169412" y="6529174"/>
            <a:ext cx="5659988" cy="99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6"/>
          <p:cNvSpPr txBox="1"/>
          <p:nvPr/>
        </p:nvSpPr>
        <p:spPr>
          <a:xfrm>
            <a:off x="1169411" y="539607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  <p:pic>
        <p:nvPicPr>
          <p:cNvPr id="504" name="Google Shape;5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3750" y="1245125"/>
            <a:ext cx="5900226" cy="85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/>
          <p:nvPr/>
        </p:nvSpPr>
        <p:spPr>
          <a:xfrm>
            <a:off x="1119331" y="2338592"/>
            <a:ext cx="97968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1267074" y="7670899"/>
            <a:ext cx="5040600" cy="19965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7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Медийная реклама</a:t>
            </a:r>
            <a:endParaRPr/>
          </a:p>
        </p:txBody>
      </p:sp>
      <p:sp>
        <p:nvSpPr>
          <p:cNvPr id="512" name="Google Shape;512;p37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13" name="Google Shape;513;p37"/>
          <p:cNvSpPr txBox="1"/>
          <p:nvPr/>
        </p:nvSpPr>
        <p:spPr>
          <a:xfrm>
            <a:off x="1267074" y="2333121"/>
            <a:ext cx="914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Продвижение бренда в каталоге и категориях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7"/>
          <p:cNvSpPr txBox="1"/>
          <p:nvPr/>
        </p:nvSpPr>
        <p:spPr>
          <a:xfrm>
            <a:off x="1102074" y="2990379"/>
            <a:ext cx="10318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Напомните о вашем бренде: разместите логотип вашего бренда 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на страницах каталога и релевантных страницах каталога.</a:t>
            </a:r>
            <a:endParaRPr/>
          </a:p>
        </p:txBody>
      </p:sp>
      <p:sp>
        <p:nvSpPr>
          <p:cNvPr id="516" name="Google Shape;516;p37"/>
          <p:cNvSpPr txBox="1"/>
          <p:nvPr/>
        </p:nvSpPr>
        <p:spPr>
          <a:xfrm>
            <a:off x="1411090" y="8261506"/>
            <a:ext cx="35283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Увеличение количества точек входа на страницу с вашими товарами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12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1170219" y="7670899"/>
            <a:ext cx="168900" cy="19965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7"/>
          <p:cNvSpPr txBox="1"/>
          <p:nvPr/>
        </p:nvSpPr>
        <p:spPr>
          <a:xfrm>
            <a:off x="1483098" y="7834679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7"/>
          <p:cNvSpPr txBox="1"/>
          <p:nvPr/>
        </p:nvSpPr>
        <p:spPr>
          <a:xfrm>
            <a:off x="1189074" y="4301925"/>
            <a:ext cx="734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На страницах релевантных категорий + главная каталога</a:t>
            </a:r>
            <a:endParaRPr/>
          </a:p>
        </p:txBody>
      </p:sp>
      <p:sp>
        <p:nvSpPr>
          <p:cNvPr id="520" name="Google Shape;520;p37"/>
          <p:cNvSpPr txBox="1"/>
          <p:nvPr/>
        </p:nvSpPr>
        <p:spPr>
          <a:xfrm>
            <a:off x="1169412" y="6244944"/>
            <a:ext cx="56601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1169411" y="511184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3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4000" y="3327562"/>
            <a:ext cx="9593047" cy="612736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7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/>
          <p:nvPr/>
        </p:nvSpPr>
        <p:spPr>
          <a:xfrm>
            <a:off x="1267075" y="7906693"/>
            <a:ext cx="3168300" cy="18276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8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Медийная реклама</a:t>
            </a:r>
            <a:endParaRPr/>
          </a:p>
        </p:txBody>
      </p:sp>
      <p:sp>
        <p:nvSpPr>
          <p:cNvPr id="530" name="Google Shape;530;p38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1" name="Google Shape;531;p38"/>
          <p:cNvSpPr/>
          <p:nvPr/>
        </p:nvSpPr>
        <p:spPr>
          <a:xfrm>
            <a:off x="1119331" y="2338592"/>
            <a:ext cx="97968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8"/>
          <p:cNvSpPr txBox="1"/>
          <p:nvPr/>
        </p:nvSpPr>
        <p:spPr>
          <a:xfrm>
            <a:off x="1267074" y="2338592"/>
            <a:ext cx="108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Продвижение бренда в поисковой строке</a:t>
            </a:r>
            <a:endParaRPr/>
          </a:p>
        </p:txBody>
      </p:sp>
      <p:sp>
        <p:nvSpPr>
          <p:cNvPr id="533" name="Google Shape;533;p38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A5A5A5"/>
                </a:solidFill>
              </a:rPr>
              <a:t>С</a:t>
            </a: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8"/>
          <p:cNvSpPr txBox="1"/>
          <p:nvPr/>
        </p:nvSpPr>
        <p:spPr>
          <a:xfrm>
            <a:off x="1102074" y="2990379"/>
            <a:ext cx="9814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Постройте ассоциацию бренда с товарной категорией. 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b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Маркировка рекламы в ОРД на нашей стороне.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5" name="Google Shape;535;p38"/>
          <p:cNvSpPr txBox="1"/>
          <p:nvPr/>
        </p:nvSpPr>
        <p:spPr>
          <a:xfrm>
            <a:off x="1411090" y="8497300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</a:t>
            </a:r>
            <a:r>
              <a:rPr lang="ru-RU" sz="2000">
                <a:solidFill>
                  <a:schemeClr val="dk1"/>
                </a:solidFill>
              </a:rPr>
              <a:t>0,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8"/>
          <p:cNvSpPr/>
          <p:nvPr/>
        </p:nvSpPr>
        <p:spPr>
          <a:xfrm>
            <a:off x="1170219" y="7906693"/>
            <a:ext cx="168900" cy="1827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8"/>
          <p:cNvSpPr txBox="1"/>
          <p:nvPr/>
        </p:nvSpPr>
        <p:spPr>
          <a:xfrm>
            <a:off x="1483098" y="8070473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1421881" y="9169872"/>
            <a:ext cx="25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8"/>
          <p:cNvSpPr txBox="1"/>
          <p:nvPr/>
        </p:nvSpPr>
        <p:spPr>
          <a:xfrm>
            <a:off x="1189082" y="4301919"/>
            <a:ext cx="6076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Вторая карусель баннеров на главной странице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8"/>
          <p:cNvSpPr txBox="1"/>
          <p:nvPr/>
        </p:nvSpPr>
        <p:spPr>
          <a:xfrm>
            <a:off x="1169412" y="6529174"/>
            <a:ext cx="56601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1169411" y="539607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1557" y="3923229"/>
            <a:ext cx="10037796" cy="6200103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8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9"/>
          <p:cNvSpPr/>
          <p:nvPr/>
        </p:nvSpPr>
        <p:spPr>
          <a:xfrm>
            <a:off x="1267075" y="7906693"/>
            <a:ext cx="3168300" cy="18276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9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Медийная реклама</a:t>
            </a:r>
            <a:endParaRPr/>
          </a:p>
        </p:txBody>
      </p:sp>
      <p:sp>
        <p:nvSpPr>
          <p:cNvPr id="550" name="Google Shape;550;p39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1" name="Google Shape;551;p39"/>
          <p:cNvSpPr/>
          <p:nvPr/>
        </p:nvSpPr>
        <p:spPr>
          <a:xfrm>
            <a:off x="1119325" y="2338600"/>
            <a:ext cx="10489800" cy="492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9"/>
          <p:cNvSpPr txBox="1"/>
          <p:nvPr/>
        </p:nvSpPr>
        <p:spPr>
          <a:xfrm>
            <a:off x="1267075" y="2338601"/>
            <a:ext cx="1079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Баннеры на страницах поисковой выдачи и каталога</a:t>
            </a:r>
            <a:endParaRPr/>
          </a:p>
        </p:txBody>
      </p:sp>
      <p:sp>
        <p:nvSpPr>
          <p:cNvPr id="553" name="Google Shape;553;p39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9"/>
          <p:cNvSpPr txBox="1"/>
          <p:nvPr/>
        </p:nvSpPr>
        <p:spPr>
          <a:xfrm>
            <a:off x="1102074" y="2990379"/>
            <a:ext cx="981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2000" u="none" cap="none" strike="noStrike">
                <a:solidFill>
                  <a:srgbClr val="252525"/>
                </a:solidFill>
              </a:rPr>
              <a:t>Баннер на самых популярных страницах каталога и поисковой выдачи может вести на брендзону, страницу поисковой выдачи или страницу каталога с фильтром</a:t>
            </a:r>
            <a:r>
              <a:rPr i="0" lang="ru-RU" sz="2000" u="none" cap="none" strike="noStrike">
                <a:solidFill>
                  <a:schemeClr val="dk1"/>
                </a:solidFill>
              </a:rPr>
              <a:t> </a:t>
            </a:r>
            <a:r>
              <a:rPr i="0" lang="ru-RU" sz="2000" u="none" cap="none" strike="noStrike">
                <a:solidFill>
                  <a:srgbClr val="252525"/>
                </a:solidFill>
              </a:rPr>
              <a:t>по вашему бренду. Маркировка рекламы в ОРД на нашей стороне.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555" name="Google Shape;555;p39"/>
          <p:cNvSpPr txBox="1"/>
          <p:nvPr/>
        </p:nvSpPr>
        <p:spPr>
          <a:xfrm>
            <a:off x="1411090" y="8497300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~1.5%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1170219" y="7906693"/>
            <a:ext cx="168900" cy="1827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9"/>
          <p:cNvSpPr txBox="1"/>
          <p:nvPr/>
        </p:nvSpPr>
        <p:spPr>
          <a:xfrm>
            <a:off x="1483098" y="8070473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9"/>
          <p:cNvSpPr txBox="1"/>
          <p:nvPr/>
        </p:nvSpPr>
        <p:spPr>
          <a:xfrm>
            <a:off x="1421881" y="9169872"/>
            <a:ext cx="25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9"/>
          <p:cNvSpPr txBox="1"/>
          <p:nvPr/>
        </p:nvSpPr>
        <p:spPr>
          <a:xfrm>
            <a:off x="1189082" y="4301919"/>
            <a:ext cx="60765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На первой странице релевантных категории или поисковой выдачи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9"/>
          <p:cNvSpPr txBox="1"/>
          <p:nvPr/>
        </p:nvSpPr>
        <p:spPr>
          <a:xfrm>
            <a:off x="1169412" y="6529174"/>
            <a:ext cx="56601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9"/>
          <p:cNvSpPr txBox="1"/>
          <p:nvPr/>
        </p:nvSpPr>
        <p:spPr>
          <a:xfrm>
            <a:off x="1169411" y="539607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3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00 руб.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8726" y="4109513"/>
            <a:ext cx="8216772" cy="545141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9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0"/>
          <p:cNvSpPr/>
          <p:nvPr/>
        </p:nvSpPr>
        <p:spPr>
          <a:xfrm>
            <a:off x="1267075" y="7906693"/>
            <a:ext cx="3168300" cy="18276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0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Медийная реклама</a:t>
            </a:r>
            <a:endParaRPr/>
          </a:p>
        </p:txBody>
      </p:sp>
      <p:sp>
        <p:nvSpPr>
          <p:cNvPr id="570" name="Google Shape;570;p40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1" name="Google Shape;571;p40"/>
          <p:cNvSpPr/>
          <p:nvPr/>
        </p:nvSpPr>
        <p:spPr>
          <a:xfrm>
            <a:off x="1119331" y="2338592"/>
            <a:ext cx="97968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0"/>
          <p:cNvSpPr txBox="1"/>
          <p:nvPr/>
        </p:nvSpPr>
        <p:spPr>
          <a:xfrm>
            <a:off x="1267074" y="2338592"/>
            <a:ext cx="1080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Баннеры на страниц</a:t>
            </a:r>
            <a:r>
              <a:rPr lang="ru-RU" sz="3200">
                <a:solidFill>
                  <a:srgbClr val="2F3738"/>
                </a:solidFill>
              </a:rPr>
              <a:t>е совершенного заказа</a:t>
            </a: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73" name="Google Shape;573;p40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A5A5A5"/>
                </a:solidFill>
              </a:rPr>
              <a:t>С</a:t>
            </a: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айт </a:t>
            </a:r>
            <a:r>
              <a:rPr lang="ru-RU" sz="2000">
                <a:solidFill>
                  <a:srgbClr val="A5A5A5"/>
                </a:solidFill>
              </a:rPr>
              <a:t>и мобильное приложение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0"/>
          <p:cNvSpPr txBox="1"/>
          <p:nvPr/>
        </p:nvSpPr>
        <p:spPr>
          <a:xfrm>
            <a:off x="1102074" y="2990379"/>
            <a:ext cx="981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п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родви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жения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 сопутствующи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х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 товар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ов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, акци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й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 или специальны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х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 предложени</a:t>
            </a:r>
            <a:r>
              <a:rPr lang="ru-RU" sz="2000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й</a:t>
            </a:r>
            <a:r>
              <a:rPr b="0" i="0" lang="ru-RU" sz="2000" u="none" cap="none" strike="noStrike">
                <a:solidFill>
                  <a:srgbClr val="252525"/>
                </a:solidFill>
                <a:latin typeface="Trebuchet MS"/>
                <a:ea typeface="Trebuchet MS"/>
                <a:cs typeface="Trebuchet MS"/>
                <a:sym typeface="Trebuchet MS"/>
              </a:rPr>
              <a:t>, которые могут заинтересовать клиента и побудить его сделать повторный заказ. Маркировка рекламы в ОРД на нашей стороне.</a:t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5" name="Google Shape;575;p40"/>
          <p:cNvSpPr txBox="1"/>
          <p:nvPr/>
        </p:nvSpPr>
        <p:spPr>
          <a:xfrm>
            <a:off x="1411090" y="8497300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</a:t>
            </a:r>
            <a:r>
              <a:rPr lang="ru-RU" sz="2000">
                <a:solidFill>
                  <a:schemeClr val="dk1"/>
                </a:solidFill>
              </a:rPr>
              <a:t>0,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0"/>
          <p:cNvSpPr/>
          <p:nvPr/>
        </p:nvSpPr>
        <p:spPr>
          <a:xfrm>
            <a:off x="1170219" y="7906693"/>
            <a:ext cx="168900" cy="1827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0"/>
          <p:cNvSpPr txBox="1"/>
          <p:nvPr/>
        </p:nvSpPr>
        <p:spPr>
          <a:xfrm>
            <a:off x="1483098" y="8070473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0"/>
          <p:cNvSpPr txBox="1"/>
          <p:nvPr/>
        </p:nvSpPr>
        <p:spPr>
          <a:xfrm>
            <a:off x="1421881" y="9169872"/>
            <a:ext cx="25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0"/>
          <p:cNvSpPr txBox="1"/>
          <p:nvPr/>
        </p:nvSpPr>
        <p:spPr>
          <a:xfrm>
            <a:off x="1189082" y="4301919"/>
            <a:ext cx="6076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Карусель баннеров верху страницы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0"/>
          <p:cNvSpPr txBox="1"/>
          <p:nvPr/>
        </p:nvSpPr>
        <p:spPr>
          <a:xfrm>
            <a:off x="1169412" y="6529174"/>
            <a:ext cx="56601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0"/>
          <p:cNvSpPr txBox="1"/>
          <p:nvPr/>
        </p:nvSpPr>
        <p:spPr>
          <a:xfrm>
            <a:off x="1169411" y="539607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2" name="Google Shape;5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6849" y="1843165"/>
            <a:ext cx="7286822" cy="826307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0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"/>
          <p:cNvSpPr/>
          <p:nvPr/>
        </p:nvSpPr>
        <p:spPr>
          <a:xfrm>
            <a:off x="1119331" y="2338592"/>
            <a:ext cx="97968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1"/>
          <p:cNvSpPr/>
          <p:nvPr/>
        </p:nvSpPr>
        <p:spPr>
          <a:xfrm>
            <a:off x="1267074" y="7670899"/>
            <a:ext cx="5040600" cy="19965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1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591" name="Google Shape;591;p41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2" name="Google Shape;592;p41"/>
          <p:cNvSpPr txBox="1"/>
          <p:nvPr/>
        </p:nvSpPr>
        <p:spPr>
          <a:xfrm>
            <a:off x="1267074" y="2333121"/>
            <a:ext cx="914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Продвижение </a:t>
            </a:r>
            <a:r>
              <a:rPr lang="ru-RU" sz="3200">
                <a:solidFill>
                  <a:srgbClr val="2F3738"/>
                </a:solidFill>
              </a:rPr>
              <a:t>товаров на главной странице </a:t>
            </a:r>
            <a:endParaRPr/>
          </a:p>
        </p:txBody>
      </p:sp>
      <p:sp>
        <p:nvSpPr>
          <p:cNvPr id="593" name="Google Shape;593;p41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A5A5A5"/>
                </a:solidFill>
              </a:rPr>
              <a:t>С</a:t>
            </a: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1"/>
          <p:cNvSpPr txBox="1"/>
          <p:nvPr/>
        </p:nvSpPr>
        <p:spPr>
          <a:xfrm>
            <a:off x="1102074" y="2990379"/>
            <a:ext cx="1031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Напомните о ваш</a:t>
            </a:r>
            <a:r>
              <a:rPr lang="ru-RU" sz="2000">
                <a:solidFill>
                  <a:srgbClr val="252525"/>
                </a:solidFill>
              </a:rPr>
              <a:t>их товарах тем, кто интересовался ими ранее</a:t>
            </a:r>
            <a:endParaRPr/>
          </a:p>
        </p:txBody>
      </p:sp>
      <p:sp>
        <p:nvSpPr>
          <p:cNvPr id="595" name="Google Shape;595;p41"/>
          <p:cNvSpPr txBox="1"/>
          <p:nvPr/>
        </p:nvSpPr>
        <p:spPr>
          <a:xfrm>
            <a:off x="1411090" y="8261506"/>
            <a:ext cx="3528300" cy="1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Увеличение количества точек входа на страницу с вашими товарами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12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1"/>
          <p:cNvSpPr/>
          <p:nvPr/>
        </p:nvSpPr>
        <p:spPr>
          <a:xfrm>
            <a:off x="1170219" y="7670899"/>
            <a:ext cx="168900" cy="19965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1"/>
          <p:cNvSpPr txBox="1"/>
          <p:nvPr/>
        </p:nvSpPr>
        <p:spPr>
          <a:xfrm>
            <a:off x="1483098" y="7834679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1"/>
          <p:cNvSpPr txBox="1"/>
          <p:nvPr/>
        </p:nvSpPr>
        <p:spPr>
          <a:xfrm>
            <a:off x="1189074" y="4301925"/>
            <a:ext cx="734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Вторая товарная карусель на странице</a:t>
            </a:r>
            <a:endParaRPr/>
          </a:p>
        </p:txBody>
      </p:sp>
      <p:sp>
        <p:nvSpPr>
          <p:cNvPr id="599" name="Google Shape;599;p41"/>
          <p:cNvSpPr txBox="1"/>
          <p:nvPr/>
        </p:nvSpPr>
        <p:spPr>
          <a:xfrm>
            <a:off x="1169412" y="6244944"/>
            <a:ext cx="56601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1"/>
          <p:cNvSpPr txBox="1"/>
          <p:nvPr/>
        </p:nvSpPr>
        <p:spPr>
          <a:xfrm>
            <a:off x="1169411" y="511184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3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9924" y="1868865"/>
            <a:ext cx="4387136" cy="8591237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1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2"/>
          <p:cNvSpPr/>
          <p:nvPr/>
        </p:nvSpPr>
        <p:spPr>
          <a:xfrm>
            <a:off x="1267074" y="7427134"/>
            <a:ext cx="5562300" cy="27801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2"/>
          <p:cNvSpPr txBox="1"/>
          <p:nvPr>
            <p:ph type="ctrTitle"/>
          </p:nvPr>
        </p:nvSpPr>
        <p:spPr>
          <a:xfrm>
            <a:off x="1110892" y="623515"/>
            <a:ext cx="168621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609" name="Google Shape;609;p42"/>
          <p:cNvSpPr txBox="1"/>
          <p:nvPr>
            <p:ph idx="12" type="sldNum"/>
          </p:nvPr>
        </p:nvSpPr>
        <p:spPr>
          <a:xfrm>
            <a:off x="16574400" y="10511084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0" name="Google Shape;610;p42"/>
          <p:cNvSpPr/>
          <p:nvPr/>
        </p:nvSpPr>
        <p:spPr>
          <a:xfrm>
            <a:off x="1119325" y="2338600"/>
            <a:ext cx="11812200" cy="4704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2"/>
          <p:cNvSpPr txBox="1"/>
          <p:nvPr/>
        </p:nvSpPr>
        <p:spPr>
          <a:xfrm>
            <a:off x="1267074" y="2338592"/>
            <a:ext cx="11593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Поднятие товара на страницах поисковой выдачи и каталога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2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2"/>
          <p:cNvSpPr txBox="1"/>
          <p:nvPr/>
        </p:nvSpPr>
        <p:spPr>
          <a:xfrm>
            <a:off x="1102075" y="2990375"/>
            <a:ext cx="7435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При выборе товара, пользователи сайта и мобильного приложения, пользуются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поиском и каталогом.</a:t>
            </a:r>
            <a:b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Ваш товар нативно покажем одним из первых в выдаче.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2"/>
          <p:cNvSpPr txBox="1"/>
          <p:nvPr/>
        </p:nvSpPr>
        <p:spPr>
          <a:xfrm>
            <a:off x="1411101" y="8017750"/>
            <a:ext cx="538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Показы карточки товара в ~1.4 раза чаще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1170219" y="7427134"/>
            <a:ext cx="168900" cy="27801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2"/>
          <p:cNvSpPr txBox="1"/>
          <p:nvPr/>
        </p:nvSpPr>
        <p:spPr>
          <a:xfrm>
            <a:off x="1483098" y="7590915"/>
            <a:ext cx="2016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2"/>
          <p:cNvSpPr txBox="1"/>
          <p:nvPr/>
        </p:nvSpPr>
        <p:spPr>
          <a:xfrm>
            <a:off x="1421881" y="9780617"/>
            <a:ext cx="498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2"/>
          <p:cNvSpPr txBox="1"/>
          <p:nvPr/>
        </p:nvSpPr>
        <p:spPr>
          <a:xfrm>
            <a:off x="1411090" y="8428554"/>
            <a:ext cx="498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Конверсия из показа в переход на карточку товара в ~3.4 раза выше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2"/>
          <p:cNvSpPr txBox="1"/>
          <p:nvPr/>
        </p:nvSpPr>
        <p:spPr>
          <a:xfrm>
            <a:off x="1411090" y="9225289"/>
            <a:ext cx="4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Добавления в корзину в ~1.7 раз чаще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2"/>
          <p:cNvSpPr txBox="1"/>
          <p:nvPr/>
        </p:nvSpPr>
        <p:spPr>
          <a:xfrm>
            <a:off x="1189082" y="3983894"/>
            <a:ext cx="435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Первые 3 товара в выдаче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2"/>
          <p:cNvSpPr txBox="1"/>
          <p:nvPr/>
        </p:nvSpPr>
        <p:spPr>
          <a:xfrm>
            <a:off x="1169411" y="5972731"/>
            <a:ext cx="9156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2"/>
          <p:cNvSpPr txBox="1"/>
          <p:nvPr/>
        </p:nvSpPr>
        <p:spPr>
          <a:xfrm>
            <a:off x="1169411" y="4909760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7773" y="3226660"/>
            <a:ext cx="9473449" cy="6610136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2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"/>
          <p:cNvSpPr/>
          <p:nvPr/>
        </p:nvSpPr>
        <p:spPr>
          <a:xfrm>
            <a:off x="1267074" y="7427134"/>
            <a:ext cx="5562325" cy="2780165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3"/>
          <p:cNvSpPr txBox="1"/>
          <p:nvPr>
            <p:ph type="ctrTitle"/>
          </p:nvPr>
        </p:nvSpPr>
        <p:spPr>
          <a:xfrm>
            <a:off x="1110892" y="623515"/>
            <a:ext cx="16862038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631" name="Google Shape;631;p43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32" name="Google Shape;632;p43"/>
          <p:cNvSpPr/>
          <p:nvPr/>
        </p:nvSpPr>
        <p:spPr>
          <a:xfrm>
            <a:off x="1119325" y="2338600"/>
            <a:ext cx="14730600" cy="4704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3"/>
          <p:cNvSpPr txBox="1"/>
          <p:nvPr/>
        </p:nvSpPr>
        <p:spPr>
          <a:xfrm>
            <a:off x="1267074" y="2338592"/>
            <a:ext cx="14833648" cy="4703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Блок рекомендованных товаров на страницах поисковой выдачи и каталога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1102074" y="10387973"/>
            <a:ext cx="6076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3"/>
          <p:cNvSpPr txBox="1"/>
          <p:nvPr/>
        </p:nvSpPr>
        <p:spPr>
          <a:xfrm>
            <a:off x="1102074" y="2990379"/>
            <a:ext cx="7149776" cy="102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Ваш товар покажем в рекомендательном блоке, который хорошо выделяется на фоне основной выдачи товаров.</a:t>
            </a:r>
            <a:endParaRPr/>
          </a:p>
          <a:p>
            <a:pPr indent="0" lvl="0" marL="12700" marR="0" rtl="0" algn="l">
              <a:spcBef>
                <a:spcPts val="12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3"/>
          <p:cNvSpPr txBox="1"/>
          <p:nvPr/>
        </p:nvSpPr>
        <p:spPr>
          <a:xfrm>
            <a:off x="1411101" y="8017750"/>
            <a:ext cx="55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Показы карточки товара в ~1.9 раза чаще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3"/>
          <p:cNvSpPr/>
          <p:nvPr/>
        </p:nvSpPr>
        <p:spPr>
          <a:xfrm>
            <a:off x="1170219" y="7427134"/>
            <a:ext cx="168863" cy="2780165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3"/>
          <p:cNvSpPr txBox="1"/>
          <p:nvPr/>
        </p:nvSpPr>
        <p:spPr>
          <a:xfrm>
            <a:off x="1483098" y="7590915"/>
            <a:ext cx="2016224" cy="3379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3"/>
          <p:cNvSpPr txBox="1"/>
          <p:nvPr/>
        </p:nvSpPr>
        <p:spPr>
          <a:xfrm>
            <a:off x="1421881" y="9780617"/>
            <a:ext cx="49895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3"/>
          <p:cNvSpPr txBox="1"/>
          <p:nvPr/>
        </p:nvSpPr>
        <p:spPr>
          <a:xfrm>
            <a:off x="1411090" y="8428554"/>
            <a:ext cx="49895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Конверсия из показа в переход на карточку товара в ~1.6 раза выше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3"/>
          <p:cNvSpPr txBox="1"/>
          <p:nvPr/>
        </p:nvSpPr>
        <p:spPr>
          <a:xfrm>
            <a:off x="1411090" y="9225289"/>
            <a:ext cx="4989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Добавления в корзину в ~1.1 раз чаще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3"/>
          <p:cNvSpPr txBox="1"/>
          <p:nvPr/>
        </p:nvSpPr>
        <p:spPr>
          <a:xfrm>
            <a:off x="1189082" y="3808259"/>
            <a:ext cx="6630720" cy="9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Блок 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Специально для вас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на первой странице поисковой выдачи или каталога</a:t>
            </a:r>
            <a:endParaRPr/>
          </a:p>
        </p:txBody>
      </p:sp>
      <p:sp>
        <p:nvSpPr>
          <p:cNvPr id="643" name="Google Shape;643;p43"/>
          <p:cNvSpPr txBox="1"/>
          <p:nvPr/>
        </p:nvSpPr>
        <p:spPr>
          <a:xfrm>
            <a:off x="1169411" y="5972731"/>
            <a:ext cx="9156437" cy="99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3"/>
          <p:cNvSpPr txBox="1"/>
          <p:nvPr/>
        </p:nvSpPr>
        <p:spPr>
          <a:xfrm>
            <a:off x="1169411" y="4909760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5" name="Google Shape;6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5373" y="3535335"/>
            <a:ext cx="9473449" cy="6249331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3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4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652" name="Google Shape;652;p44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3" name="Google Shape;653;p44"/>
          <p:cNvSpPr/>
          <p:nvPr/>
        </p:nvSpPr>
        <p:spPr>
          <a:xfrm>
            <a:off x="1119326" y="2338599"/>
            <a:ext cx="12160200" cy="492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4"/>
          <p:cNvSpPr txBox="1"/>
          <p:nvPr/>
        </p:nvSpPr>
        <p:spPr>
          <a:xfrm>
            <a:off x="1267074" y="2338592"/>
            <a:ext cx="148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rgbClr val="2F3738"/>
                </a:solidFill>
              </a:rPr>
              <a:t>Брендовые полки</a:t>
            </a: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на страницах поисковой выдачи и каталога</a:t>
            </a:r>
            <a:endParaRPr b="0" i="0" sz="3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4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 (скоро)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4"/>
          <p:cNvSpPr txBox="1"/>
          <p:nvPr/>
        </p:nvSpPr>
        <p:spPr>
          <a:xfrm>
            <a:off x="1102074" y="2990379"/>
            <a:ext cx="71499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52525"/>
                </a:solidFill>
              </a:rPr>
              <a:t>Выделенная полка только из товаров продвигаемого бренда под заголовком </a:t>
            </a:r>
            <a:r>
              <a:rPr lang="ru-RU" sz="2000">
                <a:solidFill>
                  <a:srgbClr val="2F3738"/>
                </a:solidFill>
              </a:rPr>
              <a:t> </a:t>
            </a:r>
            <a:r>
              <a:rPr lang="ru-RU" sz="2000">
                <a:solidFill>
                  <a:srgbClr val="333333"/>
                </a:solidFill>
              </a:rPr>
              <a:t>«</a:t>
            </a:r>
            <a:r>
              <a:rPr lang="ru-RU" sz="2000">
                <a:solidFill>
                  <a:srgbClr val="2F3738"/>
                </a:solidFill>
              </a:rPr>
              <a:t>Рекомендации для вас</a:t>
            </a:r>
            <a:r>
              <a:rPr lang="ru-RU" sz="2000">
                <a:solidFill>
                  <a:srgbClr val="333333"/>
                </a:solidFill>
              </a:rPr>
              <a:t>»</a:t>
            </a:r>
            <a:endParaRPr/>
          </a:p>
          <a:p>
            <a:pPr indent="0" lvl="0" marL="12700" marR="0" rtl="0" algn="l">
              <a:spcBef>
                <a:spcPts val="125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4"/>
          <p:cNvSpPr txBox="1"/>
          <p:nvPr/>
        </p:nvSpPr>
        <p:spPr>
          <a:xfrm>
            <a:off x="1189082" y="3808259"/>
            <a:ext cx="66306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Блок 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lang="ru-RU" sz="2000">
                <a:solidFill>
                  <a:srgbClr val="2F3738"/>
                </a:solidFill>
              </a:rPr>
              <a:t>Рекомендации для вас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на первой странице поисковой выдачи или каталога</a:t>
            </a:r>
            <a:endParaRPr/>
          </a:p>
        </p:txBody>
      </p:sp>
      <p:sp>
        <p:nvSpPr>
          <p:cNvPr id="658" name="Google Shape;658;p44"/>
          <p:cNvSpPr txBox="1"/>
          <p:nvPr/>
        </p:nvSpPr>
        <p:spPr>
          <a:xfrm>
            <a:off x="1169411" y="5972731"/>
            <a:ext cx="91563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 полки, клики на полку,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4"/>
          <p:cNvSpPr txBox="1"/>
          <p:nvPr/>
        </p:nvSpPr>
        <p:spPr>
          <a:xfrm>
            <a:off x="1169411" y="4909760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400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4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  <p:pic>
        <p:nvPicPr>
          <p:cNvPr id="661" name="Google Shape;661;p44" title="брендовая полк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5325" y="3149125"/>
            <a:ext cx="3320100" cy="71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5"/>
          <p:cNvSpPr/>
          <p:nvPr/>
        </p:nvSpPr>
        <p:spPr>
          <a:xfrm>
            <a:off x="1267075" y="7906693"/>
            <a:ext cx="3168352" cy="1827744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45"/>
          <p:cNvSpPr txBox="1"/>
          <p:nvPr>
            <p:ph type="ctrTitle"/>
          </p:nvPr>
        </p:nvSpPr>
        <p:spPr>
          <a:xfrm>
            <a:off x="1110892" y="623515"/>
            <a:ext cx="16862038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668" name="Google Shape;668;p45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69" name="Google Shape;669;p45"/>
          <p:cNvSpPr/>
          <p:nvPr/>
        </p:nvSpPr>
        <p:spPr>
          <a:xfrm>
            <a:off x="1119325" y="2338600"/>
            <a:ext cx="81156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5"/>
          <p:cNvSpPr txBox="1"/>
          <p:nvPr/>
        </p:nvSpPr>
        <p:spPr>
          <a:xfrm>
            <a:off x="1267074" y="2338592"/>
            <a:ext cx="9217024" cy="4703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Продвижение товара в поисковой строке</a:t>
            </a:r>
            <a:endParaRPr/>
          </a:p>
        </p:txBody>
      </p:sp>
      <p:sp>
        <p:nvSpPr>
          <p:cNvPr id="671" name="Google Shape;671;p45"/>
          <p:cNvSpPr txBox="1"/>
          <p:nvPr/>
        </p:nvSpPr>
        <p:spPr>
          <a:xfrm>
            <a:off x="1102074" y="10387973"/>
            <a:ext cx="6076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5"/>
          <p:cNvSpPr txBox="1"/>
          <p:nvPr/>
        </p:nvSpPr>
        <p:spPr>
          <a:xfrm>
            <a:off x="1102074" y="2990379"/>
            <a:ext cx="9814072" cy="72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Самый короткий путь к вашему товару: от введения поискового запроса — </a:t>
            </a:r>
            <a:endParaRPr b="0" i="0" sz="2000" u="none" cap="none" strike="noStrike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на карточку товара.</a:t>
            </a:r>
            <a:endParaRPr/>
          </a:p>
        </p:txBody>
      </p:sp>
      <p:sp>
        <p:nvSpPr>
          <p:cNvPr id="673" name="Google Shape;673;p45"/>
          <p:cNvSpPr txBox="1"/>
          <p:nvPr/>
        </p:nvSpPr>
        <p:spPr>
          <a:xfrm>
            <a:off x="1411090" y="8497300"/>
            <a:ext cx="2592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~10.3%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5"/>
          <p:cNvSpPr/>
          <p:nvPr/>
        </p:nvSpPr>
        <p:spPr>
          <a:xfrm>
            <a:off x="1170219" y="7906693"/>
            <a:ext cx="168863" cy="1827744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5"/>
          <p:cNvSpPr txBox="1"/>
          <p:nvPr/>
        </p:nvSpPr>
        <p:spPr>
          <a:xfrm>
            <a:off x="1483098" y="8070473"/>
            <a:ext cx="2016224" cy="3379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5"/>
          <p:cNvSpPr txBox="1"/>
          <p:nvPr/>
        </p:nvSpPr>
        <p:spPr>
          <a:xfrm>
            <a:off x="1421881" y="9169872"/>
            <a:ext cx="2592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5"/>
          <p:cNvSpPr txBox="1"/>
          <p:nvPr/>
        </p:nvSpPr>
        <p:spPr>
          <a:xfrm>
            <a:off x="1189082" y="4301919"/>
            <a:ext cx="6630720" cy="674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Поисковая подсказка по релевантному запросу</a:t>
            </a:r>
            <a:endParaRPr/>
          </a:p>
        </p:txBody>
      </p:sp>
      <p:sp>
        <p:nvSpPr>
          <p:cNvPr id="678" name="Google Shape;678;p45"/>
          <p:cNvSpPr txBox="1"/>
          <p:nvPr/>
        </p:nvSpPr>
        <p:spPr>
          <a:xfrm>
            <a:off x="1169412" y="6244944"/>
            <a:ext cx="5659988" cy="99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5"/>
          <p:cNvSpPr txBox="1"/>
          <p:nvPr/>
        </p:nvSpPr>
        <p:spPr>
          <a:xfrm>
            <a:off x="1169411" y="511184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327" y="3587539"/>
            <a:ext cx="10515543" cy="6495196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5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снимок экрана, дизайн&#10;&#10;Автоматически созданное описание" id="686" name="Google Shape;6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7301" y="1910258"/>
            <a:ext cx="3541104" cy="82970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Изображение выглядит как текст, снимок экрана, Веб-сайт, веб-страница&#10;&#10;Автоматически созданное описание" id="687" name="Google Shape;68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3332" y="4142507"/>
            <a:ext cx="5052675" cy="60647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8" name="Google Shape;688;p46"/>
          <p:cNvSpPr/>
          <p:nvPr/>
        </p:nvSpPr>
        <p:spPr>
          <a:xfrm>
            <a:off x="1267074" y="7427134"/>
            <a:ext cx="5562325" cy="2780165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6"/>
          <p:cNvSpPr txBox="1"/>
          <p:nvPr>
            <p:ph type="ctrTitle"/>
          </p:nvPr>
        </p:nvSpPr>
        <p:spPr>
          <a:xfrm>
            <a:off x="1110892" y="623515"/>
            <a:ext cx="16862038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690" name="Google Shape;690;p46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91" name="Google Shape;691;p46"/>
          <p:cNvSpPr/>
          <p:nvPr/>
        </p:nvSpPr>
        <p:spPr>
          <a:xfrm>
            <a:off x="1119325" y="2338600"/>
            <a:ext cx="7947600" cy="4923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6"/>
          <p:cNvSpPr txBox="1"/>
          <p:nvPr/>
        </p:nvSpPr>
        <p:spPr>
          <a:xfrm>
            <a:off x="1267075" y="2338600"/>
            <a:ext cx="89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Блоки рекомендаций в карточке товара</a:t>
            </a:r>
            <a:endParaRPr/>
          </a:p>
        </p:txBody>
      </p:sp>
      <p:sp>
        <p:nvSpPr>
          <p:cNvPr id="693" name="Google Shape;693;p46"/>
          <p:cNvSpPr txBox="1"/>
          <p:nvPr/>
        </p:nvSpPr>
        <p:spPr>
          <a:xfrm>
            <a:off x="1102074" y="10387973"/>
            <a:ext cx="60764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и сайт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6"/>
          <p:cNvSpPr txBox="1"/>
          <p:nvPr/>
        </p:nvSpPr>
        <p:spPr>
          <a:xfrm>
            <a:off x="1102074" y="2990379"/>
            <a:ext cx="981407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Идеальный инструмент для продажи сопутствующих товаров, а также продвижения вашего ассортимента на карточках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000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аналогичных товаров.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6"/>
          <p:cNvSpPr txBox="1"/>
          <p:nvPr/>
        </p:nvSpPr>
        <p:spPr>
          <a:xfrm>
            <a:off x="1411090" y="8017742"/>
            <a:ext cx="49895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Конверсия из показа в переход на карточку товара ~1 – 2.5%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1170219" y="7427134"/>
            <a:ext cx="168863" cy="2780165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6"/>
          <p:cNvSpPr txBox="1"/>
          <p:nvPr/>
        </p:nvSpPr>
        <p:spPr>
          <a:xfrm>
            <a:off x="1483098" y="7590915"/>
            <a:ext cx="2016224" cy="3379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6"/>
          <p:cNvSpPr txBox="1"/>
          <p:nvPr/>
        </p:nvSpPr>
        <p:spPr>
          <a:xfrm>
            <a:off x="1421881" y="9780617"/>
            <a:ext cx="498953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6"/>
          <p:cNvSpPr txBox="1"/>
          <p:nvPr/>
        </p:nvSpPr>
        <p:spPr>
          <a:xfrm>
            <a:off x="1411090" y="8812857"/>
            <a:ext cx="498953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Конверсия из показа в добавление в корзину ~0.5 – 0.7%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6"/>
          <p:cNvSpPr txBox="1"/>
          <p:nvPr/>
        </p:nvSpPr>
        <p:spPr>
          <a:xfrm>
            <a:off x="1189082" y="3808259"/>
            <a:ext cx="6630720" cy="9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В блоках 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Рекомендации для вас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Похожие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 этим товаром покупают</a:t>
            </a:r>
            <a:r>
              <a:rPr b="0" i="0" lang="ru-RU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»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в карточках товара</a:t>
            </a:r>
            <a:endParaRPr/>
          </a:p>
        </p:txBody>
      </p:sp>
      <p:sp>
        <p:nvSpPr>
          <p:cNvPr id="701" name="Google Shape;701;p46"/>
          <p:cNvSpPr txBox="1"/>
          <p:nvPr/>
        </p:nvSpPr>
        <p:spPr>
          <a:xfrm>
            <a:off x="1169411" y="5972731"/>
            <a:ext cx="9156437" cy="99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1169411" y="4909760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6"/>
          <p:cNvSpPr/>
          <p:nvPr/>
        </p:nvSpPr>
        <p:spPr>
          <a:xfrm>
            <a:off x="14876586" y="1910259"/>
            <a:ext cx="3882300" cy="2376300"/>
          </a:xfrm>
          <a:prstGeom prst="rect">
            <a:avLst/>
          </a:prstGeom>
          <a:noFill/>
          <a:ln cap="flat" cmpd="sng" w="38100">
            <a:solidFill>
              <a:srgbClr val="FDC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6"/>
          <p:cNvSpPr/>
          <p:nvPr/>
        </p:nvSpPr>
        <p:spPr>
          <a:xfrm>
            <a:off x="14876586" y="4718570"/>
            <a:ext cx="3882300" cy="2592300"/>
          </a:xfrm>
          <a:prstGeom prst="rect">
            <a:avLst/>
          </a:prstGeom>
          <a:noFill/>
          <a:ln cap="flat" cmpd="sng" w="38100">
            <a:solidFill>
              <a:srgbClr val="FDC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6"/>
          <p:cNvSpPr/>
          <p:nvPr/>
        </p:nvSpPr>
        <p:spPr>
          <a:xfrm>
            <a:off x="14876586" y="7670900"/>
            <a:ext cx="3882300" cy="2536500"/>
          </a:xfrm>
          <a:prstGeom prst="rect">
            <a:avLst/>
          </a:prstGeom>
          <a:noFill/>
          <a:ln cap="flat" cmpd="sng" w="38100">
            <a:solidFill>
              <a:srgbClr val="FDC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6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7"/>
          <p:cNvSpPr/>
          <p:nvPr/>
        </p:nvSpPr>
        <p:spPr>
          <a:xfrm>
            <a:off x="1267075" y="7906693"/>
            <a:ext cx="3168300" cy="1827600"/>
          </a:xfrm>
          <a:prstGeom prst="rect">
            <a:avLst/>
          </a:prstGeom>
          <a:solidFill>
            <a:srgbClr val="FDC3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7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Продвижение товаров</a:t>
            </a:r>
            <a:endParaRPr/>
          </a:p>
        </p:txBody>
      </p:sp>
      <p:sp>
        <p:nvSpPr>
          <p:cNvPr id="713" name="Google Shape;713;p47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4" name="Google Shape;714;p47"/>
          <p:cNvSpPr/>
          <p:nvPr/>
        </p:nvSpPr>
        <p:spPr>
          <a:xfrm>
            <a:off x="1074600" y="2338600"/>
            <a:ext cx="7920600" cy="1029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7"/>
          <p:cNvSpPr txBox="1"/>
          <p:nvPr/>
        </p:nvSpPr>
        <p:spPr>
          <a:xfrm>
            <a:off x="1102074" y="10387973"/>
            <a:ext cx="60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A5A5A5"/>
                </a:solidFill>
              </a:rPr>
              <a:t>Сайт и м</a:t>
            </a: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обильное приложение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7"/>
          <p:cNvSpPr txBox="1"/>
          <p:nvPr/>
        </p:nvSpPr>
        <p:spPr>
          <a:xfrm>
            <a:off x="1102074" y="2990379"/>
            <a:ext cx="981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7"/>
          <p:cNvSpPr txBox="1"/>
          <p:nvPr/>
        </p:nvSpPr>
        <p:spPr>
          <a:xfrm>
            <a:off x="1411090" y="8497300"/>
            <a:ext cx="259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 ~</a:t>
            </a:r>
            <a:r>
              <a:rPr lang="ru-RU" sz="2000">
                <a:solidFill>
                  <a:schemeClr val="dk1"/>
                </a:solidFill>
              </a:rPr>
              <a:t>0,5</a:t>
            </a:r>
            <a:r>
              <a:rPr b="0" i="0" lang="ru-RU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7"/>
          <p:cNvSpPr/>
          <p:nvPr/>
        </p:nvSpPr>
        <p:spPr>
          <a:xfrm>
            <a:off x="1170219" y="7906693"/>
            <a:ext cx="168900" cy="1827600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7"/>
          <p:cNvSpPr txBox="1"/>
          <p:nvPr/>
        </p:nvSpPr>
        <p:spPr>
          <a:xfrm>
            <a:off x="1483098" y="8070473"/>
            <a:ext cx="201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b="1" baseline="30000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1" baseline="3000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7"/>
          <p:cNvSpPr txBox="1"/>
          <p:nvPr/>
        </p:nvSpPr>
        <p:spPr>
          <a:xfrm>
            <a:off x="1421881" y="9169872"/>
            <a:ext cx="259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*средние показатели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7"/>
          <p:cNvSpPr txBox="1"/>
          <p:nvPr/>
        </p:nvSpPr>
        <p:spPr>
          <a:xfrm>
            <a:off x="1102074" y="4759119"/>
            <a:ext cx="6630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Место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Поисковая подсказка по релевантному запросу</a:t>
            </a:r>
            <a:endParaRPr/>
          </a:p>
        </p:txBody>
      </p:sp>
      <p:sp>
        <p:nvSpPr>
          <p:cNvPr id="722" name="Google Shape;722;p47"/>
          <p:cNvSpPr txBox="1"/>
          <p:nvPr/>
        </p:nvSpPr>
        <p:spPr>
          <a:xfrm>
            <a:off x="1102074" y="6702144"/>
            <a:ext cx="56601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Аналитика в режиме онлайн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Показы, клики, CTR, CPC, расход на рекламу, </a:t>
            </a:r>
            <a:b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продажи, DRR (post view, post click)</a:t>
            </a:r>
            <a:endParaRPr b="0" i="0" sz="20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7"/>
          <p:cNvSpPr txBox="1"/>
          <p:nvPr/>
        </p:nvSpPr>
        <p:spPr>
          <a:xfrm>
            <a:off x="1102074" y="5569049"/>
            <a:ext cx="5626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Модель оплаты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45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CPM (цена за 1000 показов)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Минимальная ставка — от </a:t>
            </a:r>
            <a:r>
              <a:rPr lang="ru-RU" sz="2000">
                <a:solidFill>
                  <a:srgbClr val="2F3738"/>
                </a:solidFill>
              </a:rPr>
              <a:t>25</a:t>
            </a:r>
            <a:r>
              <a:rPr b="0" i="0" lang="ru-RU" sz="20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0 руб.*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8674" y="2095615"/>
            <a:ext cx="7277480" cy="826307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7"/>
          <p:cNvSpPr txBox="1"/>
          <p:nvPr/>
        </p:nvSpPr>
        <p:spPr>
          <a:xfrm>
            <a:off x="1102074" y="3417275"/>
            <a:ext cx="824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52525"/>
                </a:solidFill>
              </a:rPr>
              <a:t>Для продвижения сопутствующих товаров, акций или специальных предложений, которые могут заинтересовать клиента и побудить его сделать повторный заказ.</a:t>
            </a:r>
            <a:endParaRPr/>
          </a:p>
        </p:txBody>
      </p:sp>
      <p:sp>
        <p:nvSpPr>
          <p:cNvPr id="726" name="Google Shape;726;p47"/>
          <p:cNvSpPr txBox="1"/>
          <p:nvPr/>
        </p:nvSpPr>
        <p:spPr>
          <a:xfrm>
            <a:off x="1197324" y="2338600"/>
            <a:ext cx="74118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Продвижение товара </a:t>
            </a:r>
            <a:r>
              <a:rPr lang="ru-RU" sz="3200">
                <a:solidFill>
                  <a:srgbClr val="2F3738"/>
                </a:solidFill>
              </a:rPr>
              <a:t>на странице совершенного заказа</a:t>
            </a:r>
            <a:endParaRPr/>
          </a:p>
        </p:txBody>
      </p:sp>
      <p:sp>
        <p:nvSpPr>
          <p:cNvPr id="727" name="Google Shape;727;p47"/>
          <p:cNvSpPr txBox="1"/>
          <p:nvPr/>
        </p:nvSpPr>
        <p:spPr>
          <a:xfrm>
            <a:off x="1051050" y="10839251"/>
            <a:ext cx="184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*Данная минимальная ставка актуальна для периода</a:t>
            </a:r>
            <a:r>
              <a:rPr lang="ru-RU" sz="1800">
                <a:solidFill>
                  <a:srgbClr val="A5A5A5"/>
                </a:solidFill>
              </a:rPr>
              <a:t> август-сентябрь 2025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, Лемана ПРО в праве менять мин</a:t>
            </a:r>
            <a:r>
              <a:rPr lang="ru-RU" sz="1800">
                <a:solidFill>
                  <a:srgbClr val="A5A5A5"/>
                </a:solidFill>
              </a:rPr>
              <a:t>.</a:t>
            </a:r>
            <a:r>
              <a:rPr b="0" i="0" lang="ru-RU" sz="18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ставки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8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8"/>
          <p:cNvSpPr txBox="1"/>
          <p:nvPr>
            <p:ph type="ctrTitle"/>
          </p:nvPr>
        </p:nvSpPr>
        <p:spPr>
          <a:xfrm>
            <a:off x="1110892" y="623515"/>
            <a:ext cx="95172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Модели закупки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5" name="Google Shape;73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8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9"/>
          <p:cNvSpPr/>
          <p:nvPr/>
        </p:nvSpPr>
        <p:spPr>
          <a:xfrm>
            <a:off x="1106153" y="2198291"/>
            <a:ext cx="9665977" cy="53179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9"/>
          <p:cNvSpPr txBox="1"/>
          <p:nvPr>
            <p:ph type="ctrTitle"/>
          </p:nvPr>
        </p:nvSpPr>
        <p:spPr>
          <a:xfrm>
            <a:off x="1110892" y="623515"/>
            <a:ext cx="16862038" cy="13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Модель оплаты</a:t>
            </a:r>
            <a:endParaRPr/>
          </a:p>
        </p:txBody>
      </p:sp>
      <p:sp>
        <p:nvSpPr>
          <p:cNvPr id="743" name="Google Shape;743;p49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4" name="Google Shape;744;p49"/>
          <p:cNvSpPr txBox="1"/>
          <p:nvPr/>
        </p:nvSpPr>
        <p:spPr>
          <a:xfrm>
            <a:off x="1070994" y="2239396"/>
            <a:ext cx="16392056" cy="48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Оплата за фактические показы по модели аукциона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" name="Google Shape;745;p49"/>
          <p:cNvPicPr preferRelativeResize="0"/>
          <p:nvPr/>
        </p:nvPicPr>
        <p:blipFill rotWithShape="1">
          <a:blip r:embed="rId3">
            <a:alphaModFix/>
          </a:blip>
          <a:srcRect b="0" l="-1" r="4090" t="5046"/>
          <a:stretch/>
        </p:blipFill>
        <p:spPr>
          <a:xfrm>
            <a:off x="1070994" y="4406660"/>
            <a:ext cx="1986674" cy="321517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6" name="Google Shape;746;p49"/>
          <p:cNvSpPr txBox="1"/>
          <p:nvPr/>
        </p:nvSpPr>
        <p:spPr>
          <a:xfrm>
            <a:off x="1070994" y="2883476"/>
            <a:ext cx="100584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Аукцион второй цены по CPM (за 1000 показов)</a:t>
            </a:r>
            <a:endParaRPr b="0" i="0" sz="22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9"/>
          <p:cNvSpPr txBox="1"/>
          <p:nvPr/>
        </p:nvSpPr>
        <p:spPr>
          <a:xfrm>
            <a:off x="4650740" y="3212528"/>
            <a:ext cx="3237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Рекламодатель 2: CPM 600 руб.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49"/>
          <p:cNvSpPr/>
          <p:nvPr/>
        </p:nvSpPr>
        <p:spPr>
          <a:xfrm>
            <a:off x="1070993" y="4974102"/>
            <a:ext cx="1986675" cy="869353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9"/>
          <p:cNvSpPr txBox="1"/>
          <p:nvPr/>
        </p:nvSpPr>
        <p:spPr>
          <a:xfrm>
            <a:off x="3383199" y="6254797"/>
            <a:ext cx="3071170" cy="1367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Потенциальный показ: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Баннер в категории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Ставки CPM от 300 руб.</a:t>
            </a:r>
            <a:r>
              <a:rPr b="0" i="0" lang="ru-RU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22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(за 1000 показов)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9"/>
          <p:cNvSpPr txBox="1"/>
          <p:nvPr/>
        </p:nvSpPr>
        <p:spPr>
          <a:xfrm>
            <a:off x="7918242" y="5828850"/>
            <a:ext cx="4582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Рекламодатель 1: CPM </a:t>
            </a:r>
            <a:r>
              <a:rPr b="1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300 руб.</a:t>
            </a:r>
            <a:endParaRPr/>
          </a:p>
        </p:txBody>
      </p:sp>
      <p:sp>
        <p:nvSpPr>
          <p:cNvPr id="751" name="Google Shape;751;p49"/>
          <p:cNvSpPr txBox="1"/>
          <p:nvPr/>
        </p:nvSpPr>
        <p:spPr>
          <a:xfrm>
            <a:off x="7903626" y="6269100"/>
            <a:ext cx="4582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Рекламодатель 2: CPM </a:t>
            </a:r>
            <a:r>
              <a:rPr b="1" i="0" lang="ru-RU" sz="22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600 руб.</a:t>
            </a:r>
            <a:endParaRPr/>
          </a:p>
        </p:txBody>
      </p:sp>
      <p:sp>
        <p:nvSpPr>
          <p:cNvPr id="752" name="Google Shape;752;p49"/>
          <p:cNvSpPr txBox="1"/>
          <p:nvPr/>
        </p:nvSpPr>
        <p:spPr>
          <a:xfrm>
            <a:off x="7918242" y="6743244"/>
            <a:ext cx="4582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Рекламодатель 3: CPM </a:t>
            </a:r>
            <a:r>
              <a:rPr b="1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350 руб.</a:t>
            </a:r>
            <a:endParaRPr/>
          </a:p>
        </p:txBody>
      </p:sp>
      <p:sp>
        <p:nvSpPr>
          <p:cNvPr id="753" name="Google Shape;753;p49"/>
          <p:cNvSpPr txBox="1"/>
          <p:nvPr/>
        </p:nvSpPr>
        <p:spPr>
          <a:xfrm>
            <a:off x="7918242" y="7217374"/>
            <a:ext cx="4582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Рекламодатель 4: CPM </a:t>
            </a:r>
            <a:r>
              <a:rPr b="1" i="0" lang="ru-RU" sz="22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400 руб.</a:t>
            </a:r>
            <a:endParaRPr/>
          </a:p>
        </p:txBody>
      </p:sp>
      <p:sp>
        <p:nvSpPr>
          <p:cNvPr id="754" name="Google Shape;754;p49"/>
          <p:cNvSpPr txBox="1"/>
          <p:nvPr/>
        </p:nvSpPr>
        <p:spPr>
          <a:xfrm>
            <a:off x="3295259" y="5828840"/>
            <a:ext cx="2539507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Запрос ставок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13506000" y="6314775"/>
            <a:ext cx="6229800" cy="13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12700" marR="125920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Победитель: Рекламодатель 2 Победившая ставка: 600 руб.</a:t>
            </a:r>
            <a:endParaRPr/>
          </a:p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Оплата CPM по второй цене + 1 руб.: 401 руб.</a:t>
            </a:r>
            <a:endParaRPr/>
          </a:p>
          <a:p>
            <a:pPr indent="0" lvl="0" marL="12700" marR="0" rtl="0" algn="l">
              <a:spcBef>
                <a:spcPts val="50"/>
              </a:spcBef>
              <a:spcAft>
                <a:spcPts val="0"/>
              </a:spcAft>
              <a:buNone/>
            </a:pPr>
            <a:r>
              <a:rPr b="0" i="0" lang="ru-RU" sz="22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Оплата за фактический 1 показ: 40 копеек</a:t>
            </a:r>
            <a:endParaRPr/>
          </a:p>
        </p:txBody>
      </p:sp>
      <p:sp>
        <p:nvSpPr>
          <p:cNvPr id="756" name="Google Shape;756;p49"/>
          <p:cNvSpPr txBox="1"/>
          <p:nvPr/>
        </p:nvSpPr>
        <p:spPr>
          <a:xfrm>
            <a:off x="13411768" y="5884371"/>
            <a:ext cx="2572857" cy="4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3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Показ рекламы</a:t>
            </a:r>
            <a:endParaRPr b="0" i="0" sz="23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9"/>
          <p:cNvSpPr/>
          <p:nvPr/>
        </p:nvSpPr>
        <p:spPr>
          <a:xfrm>
            <a:off x="3373673" y="5231126"/>
            <a:ext cx="539369" cy="53179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9"/>
          <p:cNvSpPr txBox="1"/>
          <p:nvPr/>
        </p:nvSpPr>
        <p:spPr>
          <a:xfrm>
            <a:off x="3474589" y="5250800"/>
            <a:ext cx="53936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6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26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7891810" y="5213872"/>
            <a:ext cx="539369" cy="53179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9"/>
          <p:cNvSpPr txBox="1"/>
          <p:nvPr/>
        </p:nvSpPr>
        <p:spPr>
          <a:xfrm>
            <a:off x="7980723" y="5242690"/>
            <a:ext cx="53936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6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26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13504694" y="5213872"/>
            <a:ext cx="539369" cy="531793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9"/>
          <p:cNvSpPr txBox="1"/>
          <p:nvPr/>
        </p:nvSpPr>
        <p:spPr>
          <a:xfrm>
            <a:off x="13593607" y="5242690"/>
            <a:ext cx="539369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6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26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12500320" y="6446764"/>
            <a:ext cx="699682" cy="69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6688072" y="6446764"/>
            <a:ext cx="699682" cy="69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9"/>
          <p:cNvSpPr/>
          <p:nvPr/>
        </p:nvSpPr>
        <p:spPr>
          <a:xfrm>
            <a:off x="7747801" y="6254733"/>
            <a:ext cx="4752600" cy="430800"/>
          </a:xfrm>
          <a:prstGeom prst="rect">
            <a:avLst/>
          </a:prstGeom>
          <a:noFill/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0"/>
          <p:cNvSpPr/>
          <p:nvPr/>
        </p:nvSpPr>
        <p:spPr>
          <a:xfrm>
            <a:off x="10700122" y="-39302"/>
            <a:ext cx="9404100" cy="11393700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Google Shape;7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4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0"/>
          <p:cNvSpPr txBox="1"/>
          <p:nvPr>
            <p:ph type="ctrTitle"/>
          </p:nvPr>
        </p:nvSpPr>
        <p:spPr>
          <a:xfrm>
            <a:off x="1110892" y="623515"/>
            <a:ext cx="95172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Пакетные предложения</a:t>
            </a:r>
            <a:r>
              <a:rPr lang="ru-RU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1" cy="70688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0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1"/>
          <p:cNvSpPr/>
          <p:nvPr/>
        </p:nvSpPr>
        <p:spPr>
          <a:xfrm>
            <a:off x="3444750" y="2669400"/>
            <a:ext cx="6036300" cy="8268900"/>
          </a:xfrm>
          <a:prstGeom prst="roundRect">
            <a:avLst>
              <a:gd fmla="val 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3444738" y="2070700"/>
            <a:ext cx="6036300" cy="2574600"/>
          </a:xfrm>
          <a:prstGeom prst="roundRect">
            <a:avLst>
              <a:gd fmla="val 0" name="adj"/>
            </a:avLst>
          </a:prstGeom>
          <a:solidFill>
            <a:srgbClr val="FDC300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1"/>
          <p:cNvSpPr txBox="1"/>
          <p:nvPr/>
        </p:nvSpPr>
        <p:spPr>
          <a:xfrm>
            <a:off x="3730691" y="2228424"/>
            <a:ext cx="396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</a:rPr>
              <a:t>Буст продаж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783" name="Google Shape;783;p51"/>
          <p:cNvSpPr txBox="1"/>
          <p:nvPr/>
        </p:nvSpPr>
        <p:spPr>
          <a:xfrm>
            <a:off x="3748738" y="5325075"/>
            <a:ext cx="573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Баннеры:</a:t>
            </a:r>
            <a:br>
              <a:rPr b="1" lang="ru-RU" sz="2000"/>
            </a:br>
            <a:r>
              <a:rPr lang="ru-RU" sz="2000"/>
              <a:t>Главная, Каталог, Поиск, </a:t>
            </a:r>
            <a:br>
              <a:rPr lang="ru-RU" sz="2000"/>
            </a:br>
            <a:r>
              <a:rPr lang="ru-RU" sz="2000"/>
              <a:t>Спасибо за заказ </a:t>
            </a:r>
            <a:endParaRPr sz="2000"/>
          </a:p>
        </p:txBody>
      </p:sp>
      <p:sp>
        <p:nvSpPr>
          <p:cNvPr id="784" name="Google Shape;784;p51"/>
          <p:cNvSpPr txBox="1"/>
          <p:nvPr/>
        </p:nvSpPr>
        <p:spPr>
          <a:xfrm>
            <a:off x="3766083" y="2823575"/>
            <a:ext cx="543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4-6 месяцев</a:t>
            </a:r>
            <a:br>
              <a:rPr b="1" lang="ru-RU" sz="1900">
                <a:solidFill>
                  <a:schemeClr val="dk1"/>
                </a:solidFill>
              </a:rPr>
            </a:br>
            <a:r>
              <a:rPr lang="ru-RU" sz="1900">
                <a:solidFill>
                  <a:schemeClr val="dk1"/>
                </a:solidFill>
              </a:rPr>
              <a:t>Сайт+мобильное приложение на весь период</a:t>
            </a:r>
            <a:endParaRPr sz="1900">
              <a:solidFill>
                <a:schemeClr val="dk1"/>
              </a:solidFill>
            </a:endParaRPr>
          </a:p>
        </p:txBody>
      </p:sp>
      <p:cxnSp>
        <p:nvCxnSpPr>
          <p:cNvPr id="785" name="Google Shape;785;p51"/>
          <p:cNvCxnSpPr/>
          <p:nvPr/>
        </p:nvCxnSpPr>
        <p:spPr>
          <a:xfrm>
            <a:off x="3445560" y="522357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786" name="Google Shape;786;p51"/>
          <p:cNvSpPr/>
          <p:nvPr/>
        </p:nvSpPr>
        <p:spPr>
          <a:xfrm>
            <a:off x="-325" y="0"/>
            <a:ext cx="20104775" cy="1369916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1"/>
          <p:cNvSpPr txBox="1"/>
          <p:nvPr/>
        </p:nvSpPr>
        <p:spPr>
          <a:xfrm>
            <a:off x="813400" y="309380"/>
            <a:ext cx="16332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800">
                <a:solidFill>
                  <a:schemeClr val="lt1"/>
                </a:solidFill>
              </a:rPr>
              <a:t>Наши рекламные пакеты</a:t>
            </a:r>
            <a:endParaRPr b="1" i="0" sz="4800" u="none" cap="none" strike="noStrike">
              <a:solidFill>
                <a:schemeClr val="lt1"/>
              </a:solidFill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-325" y="0"/>
            <a:ext cx="309642" cy="1369916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1"/>
          <p:cNvSpPr txBox="1"/>
          <p:nvPr/>
        </p:nvSpPr>
        <p:spPr>
          <a:xfrm>
            <a:off x="3748738" y="6351175"/>
            <a:ext cx="378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Продвижение в карточках конкурентов</a:t>
            </a:r>
            <a:endParaRPr b="1" sz="2000"/>
          </a:p>
        </p:txBody>
      </p:sp>
      <p:sp>
        <p:nvSpPr>
          <p:cNvPr id="790" name="Google Shape;790;p51"/>
          <p:cNvSpPr txBox="1"/>
          <p:nvPr/>
        </p:nvSpPr>
        <p:spPr>
          <a:xfrm>
            <a:off x="3748741" y="7146174"/>
            <a:ext cx="449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Первые 3 товара</a:t>
            </a:r>
            <a:r>
              <a:rPr b="1" lang="ru-RU" sz="2000"/>
              <a:t> в каталоге</a:t>
            </a:r>
            <a:endParaRPr b="1" sz="2000"/>
          </a:p>
        </p:txBody>
      </p:sp>
      <p:sp>
        <p:nvSpPr>
          <p:cNvPr id="791" name="Google Shape;791;p51"/>
          <p:cNvSpPr txBox="1"/>
          <p:nvPr/>
        </p:nvSpPr>
        <p:spPr>
          <a:xfrm>
            <a:off x="3748741" y="7712057"/>
            <a:ext cx="449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Первые 3 места</a:t>
            </a:r>
            <a:r>
              <a:rPr b="1" lang="ru-RU" sz="2000"/>
              <a:t> в поиске</a:t>
            </a:r>
            <a:endParaRPr b="1" sz="2000"/>
          </a:p>
        </p:txBody>
      </p:sp>
      <p:sp>
        <p:nvSpPr>
          <p:cNvPr id="792" name="Google Shape;792;p51"/>
          <p:cNvSpPr txBox="1"/>
          <p:nvPr/>
        </p:nvSpPr>
        <p:spPr>
          <a:xfrm>
            <a:off x="3748741" y="10334815"/>
            <a:ext cx="4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Бюджет (с НДС)   </a:t>
            </a:r>
            <a:r>
              <a:rPr b="1" lang="ru-RU" sz="3000">
                <a:solidFill>
                  <a:schemeClr val="dk1"/>
                </a:solidFill>
              </a:rPr>
              <a:t>2</a:t>
            </a:r>
            <a:r>
              <a:rPr b="1" lang="ru-RU" sz="3000">
                <a:solidFill>
                  <a:schemeClr val="dk1"/>
                </a:solidFill>
              </a:rPr>
              <a:t> 000 000</a:t>
            </a:r>
            <a:r>
              <a:rPr b="1" lang="ru-RU" sz="2000">
                <a:solidFill>
                  <a:schemeClr val="dk1"/>
                </a:solidFill>
              </a:rPr>
              <a:t> руб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793" name="Google Shape;793;p51"/>
          <p:cNvSpPr txBox="1"/>
          <p:nvPr/>
        </p:nvSpPr>
        <p:spPr>
          <a:xfrm>
            <a:off x="3748741" y="4786133"/>
            <a:ext cx="439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Выделенный менеджер</a:t>
            </a:r>
            <a:endParaRPr sz="2000"/>
          </a:p>
        </p:txBody>
      </p:sp>
      <p:cxnSp>
        <p:nvCxnSpPr>
          <p:cNvPr id="794" name="Google Shape;794;p51"/>
          <p:cNvCxnSpPr/>
          <p:nvPr/>
        </p:nvCxnSpPr>
        <p:spPr>
          <a:xfrm>
            <a:off x="3423838" y="627347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795" name="Google Shape;795;p51"/>
          <p:cNvCxnSpPr/>
          <p:nvPr/>
        </p:nvCxnSpPr>
        <p:spPr>
          <a:xfrm>
            <a:off x="3423838" y="6984783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796" name="Google Shape;796;p51"/>
          <p:cNvCxnSpPr/>
          <p:nvPr/>
        </p:nvCxnSpPr>
        <p:spPr>
          <a:xfrm>
            <a:off x="3423838" y="7620417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797" name="Google Shape;797;p51"/>
          <p:cNvCxnSpPr/>
          <p:nvPr/>
        </p:nvCxnSpPr>
        <p:spPr>
          <a:xfrm>
            <a:off x="3423838" y="817932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grpSp>
        <p:nvGrpSpPr>
          <p:cNvPr id="798" name="Google Shape;798;p51"/>
          <p:cNvGrpSpPr/>
          <p:nvPr/>
        </p:nvGrpSpPr>
        <p:grpSpPr>
          <a:xfrm>
            <a:off x="3785460" y="3779366"/>
            <a:ext cx="2589574" cy="545720"/>
            <a:chOff x="21168325" y="-391925"/>
            <a:chExt cx="3140400" cy="661800"/>
          </a:xfrm>
        </p:grpSpPr>
        <p:sp>
          <p:nvSpPr>
            <p:cNvPr id="799" name="Google Shape;799;p51"/>
            <p:cNvSpPr/>
            <p:nvPr/>
          </p:nvSpPr>
          <p:spPr>
            <a:xfrm>
              <a:off x="21168325" y="-391925"/>
              <a:ext cx="3140400" cy="661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51"/>
            <p:cNvSpPr txBox="1"/>
            <p:nvPr/>
          </p:nvSpPr>
          <p:spPr>
            <a:xfrm>
              <a:off x="21372326" y="-214925"/>
              <a:ext cx="2732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700">
                  <a:solidFill>
                    <a:schemeClr val="dk1"/>
                  </a:solidFill>
                </a:rPr>
                <a:t>Рекламный кабинет</a:t>
              </a:r>
              <a:endParaRPr sz="1700">
                <a:solidFill>
                  <a:schemeClr val="dk1"/>
                </a:solidFill>
              </a:endParaRPr>
            </a:p>
          </p:txBody>
        </p:sp>
      </p:grpSp>
      <p:sp>
        <p:nvSpPr>
          <p:cNvPr id="801" name="Google Shape;801;p51"/>
          <p:cNvSpPr/>
          <p:nvPr/>
        </p:nvSpPr>
        <p:spPr>
          <a:xfrm>
            <a:off x="11003750" y="2746125"/>
            <a:ext cx="6036300" cy="8268900"/>
          </a:xfrm>
          <a:prstGeom prst="roundRect">
            <a:avLst>
              <a:gd fmla="val 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1"/>
          <p:cNvSpPr/>
          <p:nvPr/>
        </p:nvSpPr>
        <p:spPr>
          <a:xfrm>
            <a:off x="11003738" y="2147425"/>
            <a:ext cx="6036300" cy="2574600"/>
          </a:xfrm>
          <a:prstGeom prst="roundRect">
            <a:avLst>
              <a:gd fmla="val 0" name="adj"/>
            </a:avLst>
          </a:prstGeom>
          <a:solidFill>
            <a:srgbClr val="FDC300"/>
          </a:solidFill>
          <a:ln>
            <a:noFill/>
          </a:ln>
        </p:spPr>
        <p:txBody>
          <a:bodyPr anchorCtr="0" anchor="ctr" bIns="45675" lIns="91400" spcFirstLastPara="1" rIns="91400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1"/>
          <p:cNvSpPr txBox="1"/>
          <p:nvPr/>
        </p:nvSpPr>
        <p:spPr>
          <a:xfrm>
            <a:off x="11289691" y="2305149"/>
            <a:ext cx="396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</a:rPr>
              <a:t>Рост доли бренда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04" name="Google Shape;804;p51"/>
          <p:cNvSpPr txBox="1"/>
          <p:nvPr/>
        </p:nvSpPr>
        <p:spPr>
          <a:xfrm>
            <a:off x="11307741" y="5325608"/>
            <a:ext cx="4392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Баннеры:</a:t>
            </a:r>
            <a:br>
              <a:rPr b="1" lang="ru-RU" sz="2000"/>
            </a:br>
            <a:r>
              <a:rPr lang="ru-RU" sz="2000"/>
              <a:t>Главная, Каталог, Поиск, </a:t>
            </a:r>
            <a:br>
              <a:rPr lang="ru-RU" sz="2000"/>
            </a:br>
            <a:r>
              <a:rPr lang="ru-RU" sz="2000"/>
              <a:t>Спасибо за заказ </a:t>
            </a:r>
            <a:endParaRPr sz="2000"/>
          </a:p>
        </p:txBody>
      </p:sp>
      <p:sp>
        <p:nvSpPr>
          <p:cNvPr id="805" name="Google Shape;805;p51"/>
          <p:cNvSpPr txBox="1"/>
          <p:nvPr/>
        </p:nvSpPr>
        <p:spPr>
          <a:xfrm>
            <a:off x="11325083" y="2900300"/>
            <a:ext cx="543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1900">
                <a:solidFill>
                  <a:schemeClr val="dk1"/>
                </a:solidFill>
              </a:rPr>
              <a:t>3</a:t>
            </a:r>
            <a:r>
              <a:rPr b="1" lang="ru-RU" sz="1900">
                <a:solidFill>
                  <a:schemeClr val="dk1"/>
                </a:solidFill>
              </a:rPr>
              <a:t> месяца </a:t>
            </a:r>
            <a:br>
              <a:rPr lang="ru-RU" sz="1900">
                <a:solidFill>
                  <a:schemeClr val="dk1"/>
                </a:solidFill>
              </a:rPr>
            </a:br>
            <a:r>
              <a:rPr lang="ru-RU" sz="1900">
                <a:solidFill>
                  <a:schemeClr val="dk1"/>
                </a:solidFill>
              </a:rPr>
              <a:t>Сайт+мобильное приложение на весь период</a:t>
            </a:r>
            <a:endParaRPr sz="1900">
              <a:solidFill>
                <a:schemeClr val="dk1"/>
              </a:solidFill>
            </a:endParaRPr>
          </a:p>
        </p:txBody>
      </p:sp>
      <p:cxnSp>
        <p:nvCxnSpPr>
          <p:cNvPr id="806" name="Google Shape;806;p51"/>
          <p:cNvCxnSpPr/>
          <p:nvPr/>
        </p:nvCxnSpPr>
        <p:spPr>
          <a:xfrm>
            <a:off x="11004560" y="522357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807" name="Google Shape;807;p51"/>
          <p:cNvSpPr txBox="1"/>
          <p:nvPr/>
        </p:nvSpPr>
        <p:spPr>
          <a:xfrm>
            <a:off x="11307738" y="6351175"/>
            <a:ext cx="396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Продвижение в карточках конкурентов</a:t>
            </a:r>
            <a:endParaRPr b="1" sz="2000"/>
          </a:p>
        </p:txBody>
      </p:sp>
      <p:sp>
        <p:nvSpPr>
          <p:cNvPr id="808" name="Google Shape;808;p51"/>
          <p:cNvSpPr txBox="1"/>
          <p:nvPr/>
        </p:nvSpPr>
        <p:spPr>
          <a:xfrm>
            <a:off x="11307741" y="7146174"/>
            <a:ext cx="449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Первые 3 товара</a:t>
            </a:r>
            <a:r>
              <a:rPr b="1" lang="ru-RU" sz="2000"/>
              <a:t> в Каталоге</a:t>
            </a:r>
            <a:endParaRPr b="1" sz="2000"/>
          </a:p>
        </p:txBody>
      </p:sp>
      <p:sp>
        <p:nvSpPr>
          <p:cNvPr id="809" name="Google Shape;809;p51"/>
          <p:cNvSpPr txBox="1"/>
          <p:nvPr/>
        </p:nvSpPr>
        <p:spPr>
          <a:xfrm>
            <a:off x="11307741" y="7712057"/>
            <a:ext cx="449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Первые 3 места</a:t>
            </a:r>
            <a:r>
              <a:rPr b="1" lang="ru-RU" sz="2000"/>
              <a:t> в Поиске</a:t>
            </a:r>
            <a:endParaRPr b="1" sz="2000"/>
          </a:p>
        </p:txBody>
      </p:sp>
      <p:sp>
        <p:nvSpPr>
          <p:cNvPr id="810" name="Google Shape;810;p51"/>
          <p:cNvSpPr txBox="1"/>
          <p:nvPr/>
        </p:nvSpPr>
        <p:spPr>
          <a:xfrm>
            <a:off x="11307741" y="10334815"/>
            <a:ext cx="4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</a:rPr>
              <a:t>Бюджет (с НДС)   </a:t>
            </a:r>
            <a:r>
              <a:rPr b="1" lang="ru-RU" sz="3000">
                <a:solidFill>
                  <a:schemeClr val="dk1"/>
                </a:solidFill>
              </a:rPr>
              <a:t>2</a:t>
            </a:r>
            <a:r>
              <a:rPr b="1" lang="ru-RU" sz="3000">
                <a:solidFill>
                  <a:schemeClr val="dk1"/>
                </a:solidFill>
              </a:rPr>
              <a:t> 500 000</a:t>
            </a:r>
            <a:r>
              <a:rPr b="1" lang="ru-RU" sz="2000">
                <a:solidFill>
                  <a:schemeClr val="dk1"/>
                </a:solidFill>
              </a:rPr>
              <a:t> руб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811" name="Google Shape;811;p51"/>
          <p:cNvSpPr txBox="1"/>
          <p:nvPr/>
        </p:nvSpPr>
        <p:spPr>
          <a:xfrm>
            <a:off x="11307741" y="4786133"/>
            <a:ext cx="439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Выделенный менеджер</a:t>
            </a:r>
            <a:endParaRPr sz="2000"/>
          </a:p>
        </p:txBody>
      </p:sp>
      <p:cxnSp>
        <p:nvCxnSpPr>
          <p:cNvPr id="812" name="Google Shape;812;p51"/>
          <p:cNvCxnSpPr/>
          <p:nvPr/>
        </p:nvCxnSpPr>
        <p:spPr>
          <a:xfrm>
            <a:off x="10982838" y="627347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813" name="Google Shape;813;p51"/>
          <p:cNvCxnSpPr/>
          <p:nvPr/>
        </p:nvCxnSpPr>
        <p:spPr>
          <a:xfrm>
            <a:off x="10982838" y="7061508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51"/>
          <p:cNvCxnSpPr/>
          <p:nvPr/>
        </p:nvCxnSpPr>
        <p:spPr>
          <a:xfrm>
            <a:off x="10982838" y="7620417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51"/>
          <p:cNvCxnSpPr/>
          <p:nvPr/>
        </p:nvCxnSpPr>
        <p:spPr>
          <a:xfrm>
            <a:off x="10982838" y="8179325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grpSp>
        <p:nvGrpSpPr>
          <p:cNvPr id="816" name="Google Shape;816;p51"/>
          <p:cNvGrpSpPr/>
          <p:nvPr/>
        </p:nvGrpSpPr>
        <p:grpSpPr>
          <a:xfrm>
            <a:off x="11344460" y="3856091"/>
            <a:ext cx="2589574" cy="545720"/>
            <a:chOff x="21168325" y="-391925"/>
            <a:chExt cx="3140400" cy="661800"/>
          </a:xfrm>
        </p:grpSpPr>
        <p:sp>
          <p:nvSpPr>
            <p:cNvPr id="817" name="Google Shape;817;p51"/>
            <p:cNvSpPr/>
            <p:nvPr/>
          </p:nvSpPr>
          <p:spPr>
            <a:xfrm>
              <a:off x="21168325" y="-391925"/>
              <a:ext cx="3140400" cy="661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51"/>
            <p:cNvSpPr txBox="1"/>
            <p:nvPr/>
          </p:nvSpPr>
          <p:spPr>
            <a:xfrm>
              <a:off x="21372326" y="-214925"/>
              <a:ext cx="2732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700">
                  <a:solidFill>
                    <a:schemeClr val="dk1"/>
                  </a:solidFill>
                </a:rPr>
                <a:t>Рекламный кабинет</a:t>
              </a:r>
              <a:endParaRPr sz="1700">
                <a:solidFill>
                  <a:schemeClr val="dk1"/>
                </a:solidFill>
              </a:endParaRPr>
            </a:p>
          </p:txBody>
        </p:sp>
      </p:grpSp>
      <p:grpSp>
        <p:nvGrpSpPr>
          <p:cNvPr id="819" name="Google Shape;819;p51"/>
          <p:cNvGrpSpPr/>
          <p:nvPr/>
        </p:nvGrpSpPr>
        <p:grpSpPr>
          <a:xfrm>
            <a:off x="14169984" y="3866088"/>
            <a:ext cx="1833366" cy="545720"/>
            <a:chOff x="21168325" y="-391925"/>
            <a:chExt cx="3140400" cy="661800"/>
          </a:xfrm>
        </p:grpSpPr>
        <p:sp>
          <p:nvSpPr>
            <p:cNvPr id="820" name="Google Shape;820;p51"/>
            <p:cNvSpPr/>
            <p:nvPr/>
          </p:nvSpPr>
          <p:spPr>
            <a:xfrm>
              <a:off x="21168325" y="-391925"/>
              <a:ext cx="3140400" cy="661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51"/>
            <p:cNvSpPr txBox="1"/>
            <p:nvPr/>
          </p:nvSpPr>
          <p:spPr>
            <a:xfrm>
              <a:off x="21372326" y="-214925"/>
              <a:ext cx="27324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1700">
                  <a:solidFill>
                    <a:schemeClr val="dk1"/>
                  </a:solidFill>
                </a:rPr>
                <a:t>Бренд-зона</a:t>
              </a:r>
              <a:endParaRPr sz="1700">
                <a:solidFill>
                  <a:schemeClr val="dk1"/>
                </a:solidFill>
              </a:endParaRPr>
            </a:p>
          </p:txBody>
        </p:sp>
      </p:grpSp>
      <p:grpSp>
        <p:nvGrpSpPr>
          <p:cNvPr id="822" name="Google Shape;822;p51"/>
          <p:cNvGrpSpPr/>
          <p:nvPr/>
        </p:nvGrpSpPr>
        <p:grpSpPr>
          <a:xfrm>
            <a:off x="8895609" y="314678"/>
            <a:ext cx="3663266" cy="751805"/>
            <a:chOff x="13205212" y="-387257"/>
            <a:chExt cx="2796600" cy="661800"/>
          </a:xfrm>
        </p:grpSpPr>
        <p:sp>
          <p:nvSpPr>
            <p:cNvPr id="823" name="Google Shape;823;p51"/>
            <p:cNvSpPr/>
            <p:nvPr/>
          </p:nvSpPr>
          <p:spPr>
            <a:xfrm>
              <a:off x="13205212" y="-387257"/>
              <a:ext cx="2796600" cy="66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51"/>
            <p:cNvSpPr txBox="1"/>
            <p:nvPr/>
          </p:nvSpPr>
          <p:spPr>
            <a:xfrm>
              <a:off x="13434562" y="-230093"/>
              <a:ext cx="23379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 u="sng">
                  <a:solidFill>
                    <a:schemeClr val="dk1"/>
                  </a:solidFill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Оставить заявку</a:t>
              </a:r>
              <a:endParaRPr sz="2400">
                <a:solidFill>
                  <a:schemeClr val="dk1"/>
                </a:solidFill>
              </a:endParaRPr>
            </a:p>
          </p:txBody>
        </p:sp>
      </p:grpSp>
      <p:sp>
        <p:nvSpPr>
          <p:cNvPr id="825" name="Google Shape;825;p51"/>
          <p:cNvSpPr txBox="1"/>
          <p:nvPr/>
        </p:nvSpPr>
        <p:spPr>
          <a:xfrm>
            <a:off x="7954238" y="5666650"/>
            <a:ext cx="147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4-6 месяцев</a:t>
            </a:r>
            <a:endParaRPr sz="1700"/>
          </a:p>
        </p:txBody>
      </p:sp>
      <p:sp>
        <p:nvSpPr>
          <p:cNvPr id="826" name="Google Shape;826;p51"/>
          <p:cNvSpPr txBox="1"/>
          <p:nvPr/>
        </p:nvSpPr>
        <p:spPr>
          <a:xfrm>
            <a:off x="7954238" y="6459815"/>
            <a:ext cx="147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4-6 месяцев</a:t>
            </a:r>
            <a:endParaRPr sz="1700"/>
          </a:p>
        </p:txBody>
      </p:sp>
      <p:sp>
        <p:nvSpPr>
          <p:cNvPr id="827" name="Google Shape;827;p51"/>
          <p:cNvSpPr txBox="1"/>
          <p:nvPr/>
        </p:nvSpPr>
        <p:spPr>
          <a:xfrm>
            <a:off x="7954238" y="7201351"/>
            <a:ext cx="147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4-6 месяцев</a:t>
            </a:r>
            <a:endParaRPr sz="1700"/>
          </a:p>
        </p:txBody>
      </p:sp>
      <p:sp>
        <p:nvSpPr>
          <p:cNvPr id="828" name="Google Shape;828;p51"/>
          <p:cNvSpPr txBox="1"/>
          <p:nvPr/>
        </p:nvSpPr>
        <p:spPr>
          <a:xfrm>
            <a:off x="7954238" y="7758397"/>
            <a:ext cx="147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4-6 месяцев</a:t>
            </a:r>
            <a:endParaRPr sz="1700"/>
          </a:p>
        </p:txBody>
      </p:sp>
      <p:sp>
        <p:nvSpPr>
          <p:cNvPr id="829" name="Google Shape;829;p51"/>
          <p:cNvSpPr txBox="1"/>
          <p:nvPr/>
        </p:nvSpPr>
        <p:spPr>
          <a:xfrm>
            <a:off x="15931938" y="5536250"/>
            <a:ext cx="106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3 месяца</a:t>
            </a:r>
            <a:endParaRPr sz="1700"/>
          </a:p>
        </p:txBody>
      </p:sp>
      <p:sp>
        <p:nvSpPr>
          <p:cNvPr id="830" name="Google Shape;830;p51"/>
          <p:cNvSpPr txBox="1"/>
          <p:nvPr/>
        </p:nvSpPr>
        <p:spPr>
          <a:xfrm>
            <a:off x="11318191" y="9253195"/>
            <a:ext cx="4497300" cy="615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0B0B0B"/>
                </a:solidFill>
              </a:rPr>
              <a:t>Создание брендовой страницы на сайте Лемана ПРО (</a:t>
            </a:r>
            <a:r>
              <a:rPr b="1" lang="ru-RU" sz="2000" u="sng">
                <a:solidFill>
                  <a:srgbClr val="0B0B0B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пример</a:t>
            </a:r>
            <a:r>
              <a:rPr b="1" lang="ru-RU" sz="2000">
                <a:solidFill>
                  <a:srgbClr val="0B0B0B"/>
                </a:solidFill>
              </a:rPr>
              <a:t>)</a:t>
            </a:r>
            <a:endParaRPr b="1" sz="2000">
              <a:solidFill>
                <a:srgbClr val="0B0B0B"/>
              </a:solidFill>
            </a:endParaRPr>
          </a:p>
        </p:txBody>
      </p:sp>
      <p:sp>
        <p:nvSpPr>
          <p:cNvPr id="831" name="Google Shape;831;p51"/>
          <p:cNvSpPr txBox="1"/>
          <p:nvPr/>
        </p:nvSpPr>
        <p:spPr>
          <a:xfrm>
            <a:off x="15931938" y="6524450"/>
            <a:ext cx="106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3 месяца</a:t>
            </a:r>
            <a:endParaRPr sz="1700"/>
          </a:p>
        </p:txBody>
      </p:sp>
      <p:sp>
        <p:nvSpPr>
          <p:cNvPr id="832" name="Google Shape;832;p51"/>
          <p:cNvSpPr txBox="1"/>
          <p:nvPr/>
        </p:nvSpPr>
        <p:spPr>
          <a:xfrm>
            <a:off x="15931938" y="7210163"/>
            <a:ext cx="106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3 месяца</a:t>
            </a:r>
            <a:endParaRPr sz="1700"/>
          </a:p>
        </p:txBody>
      </p:sp>
      <p:sp>
        <p:nvSpPr>
          <p:cNvPr id="833" name="Google Shape;833;p51"/>
          <p:cNvSpPr txBox="1"/>
          <p:nvPr/>
        </p:nvSpPr>
        <p:spPr>
          <a:xfrm>
            <a:off x="15931938" y="7769075"/>
            <a:ext cx="106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3 месяца</a:t>
            </a:r>
            <a:endParaRPr sz="1700"/>
          </a:p>
        </p:txBody>
      </p:sp>
      <p:cxnSp>
        <p:nvCxnSpPr>
          <p:cNvPr id="834" name="Google Shape;834;p51"/>
          <p:cNvCxnSpPr/>
          <p:nvPr/>
        </p:nvCxnSpPr>
        <p:spPr>
          <a:xfrm>
            <a:off x="11024978" y="10023107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835" name="Google Shape;835;p51"/>
          <p:cNvSpPr txBox="1"/>
          <p:nvPr/>
        </p:nvSpPr>
        <p:spPr>
          <a:xfrm>
            <a:off x="3748750" y="8328425"/>
            <a:ext cx="47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Реко-блок товаров: </a:t>
            </a:r>
            <a:r>
              <a:rPr lang="ru-RU" sz="2000"/>
              <a:t>Главная,</a:t>
            </a:r>
            <a:br>
              <a:rPr b="1" lang="ru-RU" sz="2000"/>
            </a:br>
            <a:r>
              <a:rPr lang="ru-RU" sz="2000"/>
              <a:t>Каталог, Поиск</a:t>
            </a:r>
            <a:endParaRPr sz="2000"/>
          </a:p>
        </p:txBody>
      </p:sp>
      <p:sp>
        <p:nvSpPr>
          <p:cNvPr id="836" name="Google Shape;836;p51"/>
          <p:cNvSpPr txBox="1"/>
          <p:nvPr/>
        </p:nvSpPr>
        <p:spPr>
          <a:xfrm>
            <a:off x="7954238" y="8748997"/>
            <a:ext cx="147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4-6 месяцев</a:t>
            </a:r>
            <a:endParaRPr sz="1700"/>
          </a:p>
        </p:txBody>
      </p:sp>
      <p:sp>
        <p:nvSpPr>
          <p:cNvPr id="837" name="Google Shape;837;p51"/>
          <p:cNvSpPr txBox="1"/>
          <p:nvPr/>
        </p:nvSpPr>
        <p:spPr>
          <a:xfrm>
            <a:off x="11289700" y="8321975"/>
            <a:ext cx="510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/>
              <a:t>Реко-блок товаров</a:t>
            </a:r>
            <a:r>
              <a:rPr b="1" lang="ru-RU" sz="2000"/>
              <a:t>: </a:t>
            </a:r>
            <a:r>
              <a:rPr lang="ru-RU" sz="2000"/>
              <a:t>Главная, </a:t>
            </a:r>
            <a:br>
              <a:rPr lang="ru-RU" sz="2000"/>
            </a:br>
            <a:r>
              <a:rPr lang="ru-RU" sz="2000"/>
              <a:t>Каталог, Поиск</a:t>
            </a:r>
            <a:endParaRPr sz="2000"/>
          </a:p>
        </p:txBody>
      </p:sp>
      <p:sp>
        <p:nvSpPr>
          <p:cNvPr id="838" name="Google Shape;838;p51"/>
          <p:cNvSpPr txBox="1"/>
          <p:nvPr/>
        </p:nvSpPr>
        <p:spPr>
          <a:xfrm>
            <a:off x="15931938" y="8454800"/>
            <a:ext cx="106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/>
              <a:t> 3 месяца</a:t>
            </a:r>
            <a:endParaRPr sz="1700"/>
          </a:p>
        </p:txBody>
      </p:sp>
      <p:cxnSp>
        <p:nvCxnSpPr>
          <p:cNvPr id="839" name="Google Shape;839;p51"/>
          <p:cNvCxnSpPr/>
          <p:nvPr/>
        </p:nvCxnSpPr>
        <p:spPr>
          <a:xfrm>
            <a:off x="11034828" y="9100807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840" name="Google Shape;840;p51"/>
          <p:cNvCxnSpPr/>
          <p:nvPr/>
        </p:nvCxnSpPr>
        <p:spPr>
          <a:xfrm>
            <a:off x="3423853" y="9329407"/>
            <a:ext cx="6014700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ot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2"/>
          <p:cNvSpPr/>
          <p:nvPr/>
        </p:nvSpPr>
        <p:spPr>
          <a:xfrm>
            <a:off x="14769675" y="1991375"/>
            <a:ext cx="5334300" cy="7355400"/>
          </a:xfrm>
          <a:prstGeom prst="roundRect">
            <a:avLst>
              <a:gd fmla="val 0" name="adj"/>
            </a:avLst>
          </a:prstGeom>
          <a:solidFill>
            <a:srgbClr val="D0DDD8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2"/>
          <p:cNvSpPr/>
          <p:nvPr/>
        </p:nvSpPr>
        <p:spPr>
          <a:xfrm>
            <a:off x="450187" y="1713525"/>
            <a:ext cx="56973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2"/>
          <p:cNvSpPr/>
          <p:nvPr/>
        </p:nvSpPr>
        <p:spPr>
          <a:xfrm>
            <a:off x="6437525" y="1713525"/>
            <a:ext cx="80190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2"/>
          <p:cNvSpPr/>
          <p:nvPr/>
        </p:nvSpPr>
        <p:spPr>
          <a:xfrm>
            <a:off x="-325" y="0"/>
            <a:ext cx="20104775" cy="1991381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2"/>
          <p:cNvSpPr/>
          <p:nvPr/>
        </p:nvSpPr>
        <p:spPr>
          <a:xfrm>
            <a:off x="-323" y="0"/>
            <a:ext cx="450533" cy="1991381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BE8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2"/>
          <p:cNvSpPr txBox="1"/>
          <p:nvPr/>
        </p:nvSpPr>
        <p:spPr>
          <a:xfrm>
            <a:off x="813400" y="231561"/>
            <a:ext cx="16332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800">
                <a:solidFill>
                  <a:srgbClr val="21282B"/>
                </a:solidFill>
              </a:rPr>
              <a:t>Буст продаж</a:t>
            </a:r>
            <a:endParaRPr b="1" i="0" sz="4800" u="none" cap="none" strike="noStrike">
              <a:solidFill>
                <a:srgbClr val="000000"/>
              </a:solidFill>
            </a:endParaRPr>
          </a:p>
        </p:txBody>
      </p:sp>
      <p:sp>
        <p:nvSpPr>
          <p:cNvPr id="851" name="Google Shape;851;p52"/>
          <p:cNvSpPr txBox="1"/>
          <p:nvPr/>
        </p:nvSpPr>
        <p:spPr>
          <a:xfrm>
            <a:off x="16576012" y="-12648"/>
            <a:ext cx="3091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2"/>
          <p:cNvSpPr txBox="1"/>
          <p:nvPr/>
        </p:nvSpPr>
        <p:spPr>
          <a:xfrm>
            <a:off x="15174425" y="9801770"/>
            <a:ext cx="44334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474747"/>
                </a:solidFill>
              </a:rPr>
              <a:t>*Средние показатели на данных Лемана ПРО</a:t>
            </a:r>
            <a:br>
              <a:rPr lang="ru-RU" sz="1700">
                <a:solidFill>
                  <a:srgbClr val="474747"/>
                </a:solidFill>
              </a:rPr>
            </a:br>
            <a:r>
              <a:rPr lang="ru-RU" sz="1700">
                <a:solidFill>
                  <a:srgbClr val="474747"/>
                </a:solidFill>
              </a:rPr>
              <a:t>*</a:t>
            </a:r>
            <a:r>
              <a:rPr b="0" i="0" lang="ru-RU" sz="1700" u="none" cap="none" strike="noStrik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ru-RU" sz="1700">
                <a:solidFill>
                  <a:srgbClr val="474747"/>
                </a:solidFill>
              </a:rPr>
              <a:t>Если ранее не пополняли рекламный кабинет</a:t>
            </a:r>
            <a:endParaRPr sz="1700">
              <a:solidFill>
                <a:srgbClr val="474747"/>
              </a:solidFill>
            </a:endParaRPr>
          </a:p>
        </p:txBody>
      </p:sp>
      <p:sp>
        <p:nvSpPr>
          <p:cNvPr id="853" name="Google Shape;853;p52"/>
          <p:cNvSpPr txBox="1"/>
          <p:nvPr/>
        </p:nvSpPr>
        <p:spPr>
          <a:xfrm>
            <a:off x="834953" y="2270600"/>
            <a:ext cx="511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AC6640"/>
                </a:solidFill>
              </a:rPr>
              <a:t>Баннеры</a:t>
            </a:r>
            <a:endParaRPr b="1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2"/>
          <p:cNvSpPr txBox="1"/>
          <p:nvPr/>
        </p:nvSpPr>
        <p:spPr>
          <a:xfrm>
            <a:off x="6809599" y="2282616"/>
            <a:ext cx="531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AC6640"/>
                </a:solidFill>
              </a:rPr>
              <a:t>Товарное продвижение</a:t>
            </a:r>
            <a:endParaRPr b="1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2"/>
          <p:cNvSpPr txBox="1"/>
          <p:nvPr/>
        </p:nvSpPr>
        <p:spPr>
          <a:xfrm>
            <a:off x="737200" y="930925"/>
            <a:ext cx="166305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/>
              <a:t>4-6 </a:t>
            </a:r>
            <a:r>
              <a:rPr lang="ru-RU" sz="2600"/>
              <a:t>месяцев, сайт+приложение </a:t>
            </a:r>
            <a:br>
              <a:rPr lang="ru-RU" sz="2600"/>
            </a:br>
            <a:r>
              <a:rPr lang="ru-RU" sz="2600"/>
              <a:t>Таргет: ключи, гео, интересы</a:t>
            </a:r>
            <a:endParaRPr sz="2600"/>
          </a:p>
        </p:txBody>
      </p:sp>
      <p:grpSp>
        <p:nvGrpSpPr>
          <p:cNvPr id="856" name="Google Shape;856;p52"/>
          <p:cNvGrpSpPr/>
          <p:nvPr/>
        </p:nvGrpSpPr>
        <p:grpSpPr>
          <a:xfrm>
            <a:off x="15330213" y="2477381"/>
            <a:ext cx="4356872" cy="1382274"/>
            <a:chOff x="15227047" y="5059520"/>
            <a:chExt cx="4056300" cy="825484"/>
          </a:xfrm>
        </p:grpSpPr>
        <p:sp>
          <p:nvSpPr>
            <p:cNvPr id="857" name="Google Shape;857;p52"/>
            <p:cNvSpPr txBox="1"/>
            <p:nvPr/>
          </p:nvSpPr>
          <p:spPr>
            <a:xfrm>
              <a:off x="15353354" y="5664505"/>
              <a:ext cx="30000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~ в 3 раза*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858" name="Google Shape;858;p52"/>
            <p:cNvSpPr txBox="1"/>
            <p:nvPr/>
          </p:nvSpPr>
          <p:spPr>
            <a:xfrm>
              <a:off x="15227047" y="5059520"/>
              <a:ext cx="40563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Увеличение</a:t>
              </a:r>
              <a:r>
                <a:rPr b="1" lang="ru-RU" sz="2800">
                  <a:solidFill>
                    <a:srgbClr val="21282B"/>
                  </a:solidFill>
                </a:rPr>
                <a:t> показов карточек товаров         </a:t>
              </a:r>
              <a:endParaRPr b="1" sz="2800">
                <a:solidFill>
                  <a:srgbClr val="21282B"/>
                </a:solidFill>
              </a:endParaRPr>
            </a:p>
          </p:txBody>
        </p:sp>
      </p:grpSp>
      <p:pic>
        <p:nvPicPr>
          <p:cNvPr id="859" name="Google Shape;859;p52" title="Frame 2087326953 (1).png"/>
          <p:cNvPicPr preferRelativeResize="0"/>
          <p:nvPr/>
        </p:nvPicPr>
        <p:blipFill rotWithShape="1">
          <a:blip r:embed="rId3">
            <a:alphaModFix/>
          </a:blip>
          <a:srcRect b="30948" l="0" r="0" t="0"/>
          <a:stretch/>
        </p:blipFill>
        <p:spPr>
          <a:xfrm>
            <a:off x="835353" y="3396475"/>
            <a:ext cx="4914175" cy="235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2" title="Frame 2087326947 (3).png"/>
          <p:cNvPicPr preferRelativeResize="0"/>
          <p:nvPr/>
        </p:nvPicPr>
        <p:blipFill rotWithShape="1">
          <a:blip r:embed="rId4">
            <a:alphaModFix/>
          </a:blip>
          <a:srcRect b="4012" l="7721" r="2285" t="0"/>
          <a:stretch/>
        </p:blipFill>
        <p:spPr>
          <a:xfrm>
            <a:off x="835353" y="7253675"/>
            <a:ext cx="3000000" cy="39413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1" name="Google Shape;861;p52"/>
          <p:cNvGrpSpPr/>
          <p:nvPr/>
        </p:nvGrpSpPr>
        <p:grpSpPr>
          <a:xfrm>
            <a:off x="15330213" y="4318566"/>
            <a:ext cx="4492540" cy="1335815"/>
            <a:chOff x="15227050" y="5298043"/>
            <a:chExt cx="4182608" cy="836296"/>
          </a:xfrm>
        </p:grpSpPr>
        <p:sp>
          <p:nvSpPr>
            <p:cNvPr id="862" name="Google Shape;862;p52"/>
            <p:cNvSpPr txBox="1"/>
            <p:nvPr/>
          </p:nvSpPr>
          <p:spPr>
            <a:xfrm>
              <a:off x="15353358" y="5903039"/>
              <a:ext cx="4056300" cy="2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~ онлайн и офлайн от 15%*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863" name="Google Shape;863;p52"/>
            <p:cNvSpPr txBox="1"/>
            <p:nvPr/>
          </p:nvSpPr>
          <p:spPr>
            <a:xfrm>
              <a:off x="15227050" y="5298043"/>
              <a:ext cx="4056300" cy="65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Прирост GMW </a:t>
              </a:r>
              <a:r>
                <a:rPr b="1" lang="ru-RU" sz="2800">
                  <a:solidFill>
                    <a:srgbClr val="21282B"/>
                  </a:solidFill>
                </a:rPr>
                <a:t>промо-товаров   </a:t>
              </a:r>
              <a:r>
                <a:rPr b="1" lang="ru-RU" sz="2800">
                  <a:solidFill>
                    <a:srgbClr val="21282B"/>
                  </a:solidFill>
                </a:rPr>
                <a:t> </a:t>
              </a:r>
              <a:r>
                <a:rPr b="1" lang="ru-RU" sz="2800">
                  <a:solidFill>
                    <a:srgbClr val="21282B"/>
                  </a:solidFill>
                </a:rPr>
                <a:t>      </a:t>
              </a:r>
              <a:endParaRPr b="1" sz="2800">
                <a:solidFill>
                  <a:srgbClr val="21282B"/>
                </a:solidFill>
              </a:endParaRPr>
            </a:p>
          </p:txBody>
        </p:sp>
      </p:grpSp>
      <p:grpSp>
        <p:nvGrpSpPr>
          <p:cNvPr id="864" name="Google Shape;864;p52"/>
          <p:cNvGrpSpPr/>
          <p:nvPr/>
        </p:nvGrpSpPr>
        <p:grpSpPr>
          <a:xfrm>
            <a:off x="15330213" y="7014793"/>
            <a:ext cx="4356872" cy="974289"/>
            <a:chOff x="15227050" y="5059516"/>
            <a:chExt cx="4056300" cy="974289"/>
          </a:xfrm>
        </p:grpSpPr>
        <p:sp>
          <p:nvSpPr>
            <p:cNvPr id="865" name="Google Shape;865;p52"/>
            <p:cNvSpPr txBox="1"/>
            <p:nvPr/>
          </p:nvSpPr>
          <p:spPr>
            <a:xfrm>
              <a:off x="15353354" y="566450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2 000 000</a:t>
              </a:r>
              <a:r>
                <a:rPr b="1" lang="ru-RU" sz="2400">
                  <a:solidFill>
                    <a:srgbClr val="BF8900"/>
                  </a:solidFill>
                </a:rPr>
                <a:t> руб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866" name="Google Shape;866;p52"/>
            <p:cNvSpPr txBox="1"/>
            <p:nvPr/>
          </p:nvSpPr>
          <p:spPr>
            <a:xfrm>
              <a:off x="15227050" y="5059516"/>
              <a:ext cx="4056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Бюджет (с НДС)</a:t>
              </a:r>
              <a:endParaRPr b="1" sz="2800">
                <a:solidFill>
                  <a:schemeClr val="accent6"/>
                </a:solidFill>
              </a:endParaRPr>
            </a:p>
          </p:txBody>
        </p:sp>
      </p:grpSp>
      <p:grpSp>
        <p:nvGrpSpPr>
          <p:cNvPr id="867" name="Google Shape;867;p52"/>
          <p:cNvGrpSpPr/>
          <p:nvPr/>
        </p:nvGrpSpPr>
        <p:grpSpPr>
          <a:xfrm>
            <a:off x="16161327" y="361178"/>
            <a:ext cx="3643806" cy="492515"/>
            <a:chOff x="17632422" y="-1196725"/>
            <a:chExt cx="3140400" cy="840900"/>
          </a:xfrm>
        </p:grpSpPr>
        <p:sp>
          <p:nvSpPr>
            <p:cNvPr id="868" name="Google Shape;868;p52"/>
            <p:cNvSpPr/>
            <p:nvPr/>
          </p:nvSpPr>
          <p:spPr>
            <a:xfrm>
              <a:off x="17632422" y="-1196725"/>
              <a:ext cx="3140400" cy="840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52"/>
            <p:cNvSpPr txBox="1"/>
            <p:nvPr/>
          </p:nvSpPr>
          <p:spPr>
            <a:xfrm>
              <a:off x="17836419" y="-1073926"/>
              <a:ext cx="2732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200">
                  <a:solidFill>
                    <a:schemeClr val="dk1"/>
                  </a:solidFill>
                </a:rPr>
                <a:t>Запуск под ключ</a:t>
              </a:r>
              <a:endParaRPr i="1" sz="2200">
                <a:solidFill>
                  <a:schemeClr val="dk1"/>
                </a:solidFill>
              </a:endParaRPr>
            </a:p>
          </p:txBody>
        </p:sp>
      </p:grpSp>
      <p:grpSp>
        <p:nvGrpSpPr>
          <p:cNvPr id="870" name="Google Shape;870;p52"/>
          <p:cNvGrpSpPr/>
          <p:nvPr/>
        </p:nvGrpSpPr>
        <p:grpSpPr>
          <a:xfrm>
            <a:off x="15330213" y="8157793"/>
            <a:ext cx="4356872" cy="974289"/>
            <a:chOff x="15227050" y="5059516"/>
            <a:chExt cx="4056300" cy="974289"/>
          </a:xfrm>
        </p:grpSpPr>
        <p:sp>
          <p:nvSpPr>
            <p:cNvPr id="871" name="Google Shape;871;p52"/>
            <p:cNvSpPr txBox="1"/>
            <p:nvPr/>
          </p:nvSpPr>
          <p:spPr>
            <a:xfrm>
              <a:off x="15353354" y="566450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+100 000 руб**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872" name="Google Shape;872;p52"/>
            <p:cNvSpPr txBox="1"/>
            <p:nvPr/>
          </p:nvSpPr>
          <p:spPr>
            <a:xfrm>
              <a:off x="15227050" y="5059516"/>
              <a:ext cx="4056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Бонус на рекламу</a:t>
              </a:r>
              <a:endParaRPr b="1" sz="2800">
                <a:solidFill>
                  <a:schemeClr val="accent6"/>
                </a:solidFill>
              </a:endParaRPr>
            </a:p>
          </p:txBody>
        </p:sp>
      </p:grpSp>
      <p:sp>
        <p:nvSpPr>
          <p:cNvPr id="873" name="Google Shape;873;p52"/>
          <p:cNvSpPr txBox="1"/>
          <p:nvPr/>
        </p:nvSpPr>
        <p:spPr>
          <a:xfrm>
            <a:off x="835350" y="281808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Поиск/Каталог</a:t>
            </a:r>
            <a:endParaRPr/>
          </a:p>
        </p:txBody>
      </p:sp>
      <p:sp>
        <p:nvSpPr>
          <p:cNvPr id="874" name="Google Shape;874;p52"/>
          <p:cNvSpPr txBox="1"/>
          <p:nvPr/>
        </p:nvSpPr>
        <p:spPr>
          <a:xfrm>
            <a:off x="835350" y="666338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Главная </a:t>
            </a:r>
            <a:endParaRPr/>
          </a:p>
        </p:txBody>
      </p:sp>
      <p:pic>
        <p:nvPicPr>
          <p:cNvPr id="875" name="Google Shape;87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5525" y="6415474"/>
            <a:ext cx="2858326" cy="3241241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2"/>
          <p:cNvSpPr txBox="1"/>
          <p:nvPr/>
        </p:nvSpPr>
        <p:spPr>
          <a:xfrm>
            <a:off x="3024688" y="58848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Спасибо за заказ</a:t>
            </a:r>
            <a:endParaRPr/>
          </a:p>
        </p:txBody>
      </p:sp>
      <p:sp>
        <p:nvSpPr>
          <p:cNvPr id="877" name="Google Shape;877;p52"/>
          <p:cNvSpPr txBox="1"/>
          <p:nvPr/>
        </p:nvSpPr>
        <p:spPr>
          <a:xfrm>
            <a:off x="6809600" y="2782425"/>
            <a:ext cx="407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Продвижение </a:t>
            </a:r>
            <a:br>
              <a:rPr lang="ru-RU" sz="2400">
                <a:solidFill>
                  <a:srgbClr val="404040"/>
                </a:solidFill>
              </a:rPr>
            </a:br>
            <a:r>
              <a:rPr lang="ru-RU" sz="2400">
                <a:solidFill>
                  <a:srgbClr val="404040"/>
                </a:solidFill>
              </a:rPr>
              <a:t>в карточка конкурентов</a:t>
            </a:r>
            <a:endParaRPr/>
          </a:p>
        </p:txBody>
      </p:sp>
      <p:pic>
        <p:nvPicPr>
          <p:cNvPr descr="Изображение выглядит как текст, снимок экрана, Веб-сайт, веб-страница&#10;&#10;Автоматически созданное описание" id="878" name="Google Shape;87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5075" y="3717516"/>
            <a:ext cx="3070395" cy="368544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Изображение выглядит как текст, снимок экрана, дизайн&#10;&#10;Автоматически созданное описание" id="879" name="Google Shape;879;p52"/>
          <p:cNvPicPr preferRelativeResize="0"/>
          <p:nvPr/>
        </p:nvPicPr>
        <p:blipFill rotWithShape="1">
          <a:blip r:embed="rId7">
            <a:alphaModFix/>
          </a:blip>
          <a:srcRect b="67776" l="0" r="0" t="0"/>
          <a:stretch/>
        </p:blipFill>
        <p:spPr>
          <a:xfrm>
            <a:off x="7026425" y="5592800"/>
            <a:ext cx="2151850" cy="1624701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2"/>
          <p:cNvSpPr/>
          <p:nvPr/>
        </p:nvSpPr>
        <p:spPr>
          <a:xfrm>
            <a:off x="7026425" y="5592800"/>
            <a:ext cx="1489200" cy="1624800"/>
          </a:xfrm>
          <a:prstGeom prst="rect">
            <a:avLst/>
          </a:prstGeom>
          <a:noFill/>
          <a:ln cap="flat" cmpd="sng" w="38100">
            <a:solidFill>
              <a:srgbClr val="FDC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1" name="Google Shape;881;p52"/>
          <p:cNvPicPr preferRelativeResize="0"/>
          <p:nvPr/>
        </p:nvPicPr>
        <p:blipFill rotWithShape="1">
          <a:blip r:embed="rId8">
            <a:alphaModFix/>
          </a:blip>
          <a:srcRect b="0" l="7783" r="0" t="0"/>
          <a:stretch/>
        </p:blipFill>
        <p:spPr>
          <a:xfrm>
            <a:off x="10334575" y="4730350"/>
            <a:ext cx="3855811" cy="2917439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52"/>
          <p:cNvSpPr txBox="1"/>
          <p:nvPr/>
        </p:nvSpPr>
        <p:spPr>
          <a:xfrm>
            <a:off x="10243575" y="3785175"/>
            <a:ext cx="407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Первые 3 товара: Каталог,Поиск</a:t>
            </a:r>
            <a:endParaRPr/>
          </a:p>
        </p:txBody>
      </p:sp>
      <p:sp>
        <p:nvSpPr>
          <p:cNvPr id="883" name="Google Shape;883;p52"/>
          <p:cNvSpPr txBox="1"/>
          <p:nvPr/>
        </p:nvSpPr>
        <p:spPr>
          <a:xfrm>
            <a:off x="6733400" y="7574450"/>
            <a:ext cx="385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Реко-блок с товарами:</a:t>
            </a:r>
            <a:br>
              <a:rPr lang="ru-RU" sz="2400">
                <a:solidFill>
                  <a:srgbClr val="404040"/>
                </a:solidFill>
              </a:rPr>
            </a:br>
            <a:r>
              <a:rPr lang="ru-RU" sz="2400">
                <a:solidFill>
                  <a:srgbClr val="404040"/>
                </a:solidFill>
              </a:rPr>
              <a:t>Каталог, Поиск, Главная</a:t>
            </a:r>
            <a:endParaRPr/>
          </a:p>
        </p:txBody>
      </p:sp>
      <p:pic>
        <p:nvPicPr>
          <p:cNvPr id="884" name="Google Shape;884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11474" y="8640610"/>
            <a:ext cx="3855800" cy="254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2"/>
          <p:cNvPicPr preferRelativeResize="0"/>
          <p:nvPr/>
        </p:nvPicPr>
        <p:blipFill rotWithShape="1">
          <a:blip r:embed="rId10">
            <a:alphaModFix/>
          </a:blip>
          <a:srcRect b="0" l="0" r="0" t="24179"/>
          <a:stretch/>
        </p:blipFill>
        <p:spPr>
          <a:xfrm>
            <a:off x="10750275" y="7772924"/>
            <a:ext cx="2381692" cy="3536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6" name="Google Shape;886;p52"/>
          <p:cNvGrpSpPr/>
          <p:nvPr/>
        </p:nvGrpSpPr>
        <p:grpSpPr>
          <a:xfrm>
            <a:off x="16151597" y="1046641"/>
            <a:ext cx="3663266" cy="751805"/>
            <a:chOff x="13205212" y="-387257"/>
            <a:chExt cx="2796600" cy="661800"/>
          </a:xfrm>
        </p:grpSpPr>
        <p:sp>
          <p:nvSpPr>
            <p:cNvPr id="887" name="Google Shape;887;p52"/>
            <p:cNvSpPr/>
            <p:nvPr/>
          </p:nvSpPr>
          <p:spPr>
            <a:xfrm>
              <a:off x="13205212" y="-387257"/>
              <a:ext cx="2796600" cy="66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52"/>
            <p:cNvSpPr txBox="1"/>
            <p:nvPr/>
          </p:nvSpPr>
          <p:spPr>
            <a:xfrm>
              <a:off x="13434562" y="-230093"/>
              <a:ext cx="23379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 u="sng">
                  <a:solidFill>
                    <a:schemeClr val="dk1"/>
                  </a:solidFill>
                  <a:hlinkClick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Оставить заявку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3"/>
          <p:cNvSpPr/>
          <p:nvPr/>
        </p:nvSpPr>
        <p:spPr>
          <a:xfrm>
            <a:off x="205800" y="1713525"/>
            <a:ext cx="49143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3"/>
          <p:cNvSpPr/>
          <p:nvPr/>
        </p:nvSpPr>
        <p:spPr>
          <a:xfrm>
            <a:off x="5300200" y="1713525"/>
            <a:ext cx="64692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3"/>
          <p:cNvSpPr/>
          <p:nvPr/>
        </p:nvSpPr>
        <p:spPr>
          <a:xfrm>
            <a:off x="-325" y="0"/>
            <a:ext cx="20104775" cy="1991381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rgbClr val="FDC3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3"/>
          <p:cNvSpPr/>
          <p:nvPr/>
        </p:nvSpPr>
        <p:spPr>
          <a:xfrm>
            <a:off x="-323" y="0"/>
            <a:ext cx="450533" cy="1991381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BE8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53"/>
          <p:cNvSpPr txBox="1"/>
          <p:nvPr/>
        </p:nvSpPr>
        <p:spPr>
          <a:xfrm>
            <a:off x="813400" y="231561"/>
            <a:ext cx="16332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800">
                <a:solidFill>
                  <a:srgbClr val="21282B"/>
                </a:solidFill>
              </a:rPr>
              <a:t>Рост доли бренда</a:t>
            </a:r>
            <a:endParaRPr b="1" i="0" sz="4800" u="none" cap="none" strike="noStrike">
              <a:solidFill>
                <a:srgbClr val="000000"/>
              </a:solidFill>
            </a:endParaRPr>
          </a:p>
        </p:txBody>
      </p:sp>
      <p:sp>
        <p:nvSpPr>
          <p:cNvPr id="898" name="Google Shape;898;p53"/>
          <p:cNvSpPr txBox="1"/>
          <p:nvPr/>
        </p:nvSpPr>
        <p:spPr>
          <a:xfrm>
            <a:off x="16576012" y="-12648"/>
            <a:ext cx="3091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3"/>
          <p:cNvSpPr txBox="1"/>
          <p:nvPr/>
        </p:nvSpPr>
        <p:spPr>
          <a:xfrm>
            <a:off x="377753" y="2145031"/>
            <a:ext cx="511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AC6640"/>
                </a:solidFill>
              </a:rPr>
              <a:t>Баннеры</a:t>
            </a:r>
            <a:endParaRPr b="1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3"/>
          <p:cNvSpPr/>
          <p:nvPr/>
        </p:nvSpPr>
        <p:spPr>
          <a:xfrm>
            <a:off x="16273750" y="1991375"/>
            <a:ext cx="3830100" cy="6957600"/>
          </a:xfrm>
          <a:prstGeom prst="roundRect">
            <a:avLst>
              <a:gd fmla="val 0" name="adj"/>
            </a:avLst>
          </a:prstGeom>
          <a:solidFill>
            <a:srgbClr val="D0DDD8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3"/>
          <p:cNvSpPr txBox="1"/>
          <p:nvPr/>
        </p:nvSpPr>
        <p:spPr>
          <a:xfrm>
            <a:off x="16576000" y="9674350"/>
            <a:ext cx="3245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74747"/>
              </a:solidFill>
            </a:endParaRPr>
          </a:p>
        </p:txBody>
      </p:sp>
      <p:sp>
        <p:nvSpPr>
          <p:cNvPr id="902" name="Google Shape;902;p53"/>
          <p:cNvSpPr txBox="1"/>
          <p:nvPr/>
        </p:nvSpPr>
        <p:spPr>
          <a:xfrm>
            <a:off x="16576002" y="9108675"/>
            <a:ext cx="32457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500" u="none" cap="none" strike="noStrik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ru-RU" sz="1500">
                <a:solidFill>
                  <a:srgbClr val="474747"/>
                </a:solidFill>
              </a:rPr>
              <a:t>Средние показатели на данных Лемана ПРО. </a:t>
            </a:r>
            <a:endParaRPr sz="1500">
              <a:solidFill>
                <a:srgbClr val="47474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74747"/>
                </a:solidFill>
              </a:rPr>
              <a:t>** Если ранее не пополняли рекламный кабинет</a:t>
            </a:r>
            <a:endParaRPr sz="1500">
              <a:solidFill>
                <a:srgbClr val="474747"/>
              </a:solidFill>
            </a:endParaRPr>
          </a:p>
        </p:txBody>
      </p:sp>
      <p:sp>
        <p:nvSpPr>
          <p:cNvPr id="903" name="Google Shape;903;p53"/>
          <p:cNvSpPr txBox="1"/>
          <p:nvPr/>
        </p:nvSpPr>
        <p:spPr>
          <a:xfrm>
            <a:off x="5645612" y="2145031"/>
            <a:ext cx="531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AC6640"/>
                </a:solidFill>
              </a:rPr>
              <a:t>Товарное продвижение</a:t>
            </a:r>
            <a:endParaRPr b="1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3"/>
          <p:cNvSpPr txBox="1"/>
          <p:nvPr/>
        </p:nvSpPr>
        <p:spPr>
          <a:xfrm>
            <a:off x="737200" y="854725"/>
            <a:ext cx="166305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/>
              <a:t>3</a:t>
            </a:r>
            <a:r>
              <a:rPr lang="ru-RU" sz="2600"/>
              <a:t> месяца, сайт+приложение </a:t>
            </a:r>
            <a:br>
              <a:rPr lang="ru-RU" sz="2600"/>
            </a:br>
            <a:r>
              <a:rPr lang="ru-RU" sz="2600"/>
              <a:t>Таргет: ключи, гео, интересы</a:t>
            </a:r>
            <a:endParaRPr sz="2600"/>
          </a:p>
        </p:txBody>
      </p:sp>
      <p:grpSp>
        <p:nvGrpSpPr>
          <p:cNvPr id="905" name="Google Shape;905;p53"/>
          <p:cNvGrpSpPr/>
          <p:nvPr/>
        </p:nvGrpSpPr>
        <p:grpSpPr>
          <a:xfrm>
            <a:off x="16633288" y="2260307"/>
            <a:ext cx="3357805" cy="1292318"/>
            <a:chOff x="14744204" y="4773674"/>
            <a:chExt cx="4056300" cy="1292318"/>
          </a:xfrm>
        </p:grpSpPr>
        <p:sp>
          <p:nvSpPr>
            <p:cNvPr id="906" name="Google Shape;906;p53"/>
            <p:cNvSpPr txBox="1"/>
            <p:nvPr/>
          </p:nvSpPr>
          <p:spPr>
            <a:xfrm>
              <a:off x="14870508" y="5696692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~ в 3 раза*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907" name="Google Shape;907;p53"/>
            <p:cNvSpPr txBox="1"/>
            <p:nvPr/>
          </p:nvSpPr>
          <p:spPr>
            <a:xfrm>
              <a:off x="14744204" y="4773674"/>
              <a:ext cx="40563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Увеличение показов карточек</a:t>
              </a:r>
              <a:r>
                <a:rPr b="1" lang="ru-RU" sz="2800">
                  <a:solidFill>
                    <a:srgbClr val="21282B"/>
                  </a:solidFill>
                </a:rPr>
                <a:t>          </a:t>
              </a:r>
              <a:endParaRPr b="1" sz="2800">
                <a:solidFill>
                  <a:srgbClr val="21282B"/>
                </a:solidFill>
              </a:endParaRPr>
            </a:p>
          </p:txBody>
        </p:sp>
      </p:grpSp>
      <p:grpSp>
        <p:nvGrpSpPr>
          <p:cNvPr id="908" name="Google Shape;908;p53"/>
          <p:cNvGrpSpPr/>
          <p:nvPr/>
        </p:nvGrpSpPr>
        <p:grpSpPr>
          <a:xfrm>
            <a:off x="16650082" y="3821665"/>
            <a:ext cx="3357966" cy="1746934"/>
            <a:chOff x="14870004" y="4728264"/>
            <a:chExt cx="3126307" cy="1622640"/>
          </a:xfrm>
        </p:grpSpPr>
        <p:sp>
          <p:nvSpPr>
            <p:cNvPr id="909" name="Google Shape;909;p53"/>
            <p:cNvSpPr txBox="1"/>
            <p:nvPr/>
          </p:nvSpPr>
          <p:spPr>
            <a:xfrm>
              <a:off x="14996311" y="5664505"/>
              <a:ext cx="3000000" cy="6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~ онлайн и офлайн от 15%*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910" name="Google Shape;910;p53"/>
            <p:cNvSpPr txBox="1"/>
            <p:nvPr/>
          </p:nvSpPr>
          <p:spPr>
            <a:xfrm>
              <a:off x="14870004" y="4728264"/>
              <a:ext cx="3000000" cy="9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Прирост GMW</a:t>
              </a:r>
              <a:br>
                <a:rPr b="1" lang="ru-RU" sz="2800">
                  <a:solidFill>
                    <a:srgbClr val="21282B"/>
                  </a:solidFill>
                </a:rPr>
              </a:br>
              <a:r>
                <a:rPr b="1" lang="ru-RU" sz="2800">
                  <a:solidFill>
                    <a:srgbClr val="21282B"/>
                  </a:solidFill>
                </a:rPr>
                <a:t>промо-товаров</a:t>
              </a:r>
              <a:r>
                <a:rPr b="1" lang="ru-RU" sz="2800">
                  <a:solidFill>
                    <a:srgbClr val="21282B"/>
                  </a:solidFill>
                </a:rPr>
                <a:t>         </a:t>
              </a:r>
              <a:endParaRPr b="1" sz="2800">
                <a:solidFill>
                  <a:srgbClr val="21282B"/>
                </a:solidFill>
              </a:endParaRPr>
            </a:p>
          </p:txBody>
        </p:sp>
      </p:grpSp>
      <p:grpSp>
        <p:nvGrpSpPr>
          <p:cNvPr id="911" name="Google Shape;911;p53"/>
          <p:cNvGrpSpPr/>
          <p:nvPr/>
        </p:nvGrpSpPr>
        <p:grpSpPr>
          <a:xfrm>
            <a:off x="16650695" y="6550373"/>
            <a:ext cx="3091712" cy="974289"/>
            <a:chOff x="15227050" y="4830916"/>
            <a:chExt cx="4056300" cy="974289"/>
          </a:xfrm>
        </p:grpSpPr>
        <p:sp>
          <p:nvSpPr>
            <p:cNvPr id="912" name="Google Shape;912;p53"/>
            <p:cNvSpPr txBox="1"/>
            <p:nvPr/>
          </p:nvSpPr>
          <p:spPr>
            <a:xfrm>
              <a:off x="15353354" y="543590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2 5</a:t>
              </a:r>
              <a:r>
                <a:rPr b="1" lang="ru-RU" sz="2400">
                  <a:solidFill>
                    <a:srgbClr val="BF8900"/>
                  </a:solidFill>
                </a:rPr>
                <a:t>00 000 руб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913" name="Google Shape;913;p53"/>
            <p:cNvSpPr txBox="1"/>
            <p:nvPr/>
          </p:nvSpPr>
          <p:spPr>
            <a:xfrm>
              <a:off x="15227050" y="4830916"/>
              <a:ext cx="4056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Бюджет (с НДС)</a:t>
              </a:r>
              <a:endParaRPr b="1" sz="2800">
                <a:solidFill>
                  <a:schemeClr val="accent6"/>
                </a:solidFill>
              </a:endParaRPr>
            </a:p>
          </p:txBody>
        </p:sp>
      </p:grpSp>
      <p:sp>
        <p:nvSpPr>
          <p:cNvPr id="914" name="Google Shape;914;p53"/>
          <p:cNvSpPr/>
          <p:nvPr/>
        </p:nvSpPr>
        <p:spPr>
          <a:xfrm>
            <a:off x="11914650" y="1991375"/>
            <a:ext cx="4147500" cy="93180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3"/>
          <p:cNvSpPr txBox="1"/>
          <p:nvPr/>
        </p:nvSpPr>
        <p:spPr>
          <a:xfrm>
            <a:off x="12248803" y="2449831"/>
            <a:ext cx="511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AC6640"/>
                </a:solidFill>
              </a:rPr>
              <a:t>Бренд-зона</a:t>
            </a:r>
            <a:endParaRPr b="1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53"/>
          <p:cNvGrpSpPr/>
          <p:nvPr/>
        </p:nvGrpSpPr>
        <p:grpSpPr>
          <a:xfrm>
            <a:off x="12282800" y="3356000"/>
            <a:ext cx="3359612" cy="7953325"/>
            <a:chOff x="13731350" y="2674800"/>
            <a:chExt cx="3359612" cy="7953325"/>
          </a:xfrm>
        </p:grpSpPr>
        <p:pic>
          <p:nvPicPr>
            <p:cNvPr id="917" name="Google Shape;917;p53"/>
            <p:cNvPicPr preferRelativeResize="0"/>
            <p:nvPr/>
          </p:nvPicPr>
          <p:blipFill rotWithShape="1">
            <a:blip r:embed="rId3">
              <a:alphaModFix/>
            </a:blip>
            <a:srcRect b="21665" l="0" r="0" t="13213"/>
            <a:stretch/>
          </p:blipFill>
          <p:spPr>
            <a:xfrm>
              <a:off x="13739821" y="2674800"/>
              <a:ext cx="3351141" cy="4739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8" name="Google Shape;918;p53"/>
            <p:cNvPicPr preferRelativeResize="0"/>
            <p:nvPr/>
          </p:nvPicPr>
          <p:blipFill rotWithShape="1">
            <a:blip r:embed="rId4">
              <a:alphaModFix/>
            </a:blip>
            <a:srcRect b="28149" l="0" r="1806" t="15324"/>
            <a:stretch/>
          </p:blipFill>
          <p:spPr>
            <a:xfrm>
              <a:off x="13731350" y="6429925"/>
              <a:ext cx="3357976" cy="4198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9" name="Google Shape;919;p53"/>
          <p:cNvGrpSpPr/>
          <p:nvPr/>
        </p:nvGrpSpPr>
        <p:grpSpPr>
          <a:xfrm>
            <a:off x="14976680" y="361191"/>
            <a:ext cx="4827423" cy="492515"/>
            <a:chOff x="17632422" y="-1196725"/>
            <a:chExt cx="3140400" cy="840900"/>
          </a:xfrm>
        </p:grpSpPr>
        <p:sp>
          <p:nvSpPr>
            <p:cNvPr id="920" name="Google Shape;920;p53"/>
            <p:cNvSpPr/>
            <p:nvPr/>
          </p:nvSpPr>
          <p:spPr>
            <a:xfrm>
              <a:off x="17632422" y="-1196725"/>
              <a:ext cx="3140400" cy="840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53"/>
            <p:cNvSpPr txBox="1"/>
            <p:nvPr/>
          </p:nvSpPr>
          <p:spPr>
            <a:xfrm>
              <a:off x="17836419" y="-1073926"/>
              <a:ext cx="2732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200">
                  <a:solidFill>
                    <a:schemeClr val="dk1"/>
                  </a:solidFill>
                </a:rPr>
                <a:t>Запуск под ключ</a:t>
              </a:r>
              <a:endParaRPr i="1" sz="2200">
                <a:solidFill>
                  <a:schemeClr val="dk1"/>
                </a:solidFill>
              </a:endParaRPr>
            </a:p>
          </p:txBody>
        </p:sp>
      </p:grpSp>
      <p:pic>
        <p:nvPicPr>
          <p:cNvPr id="922" name="Google Shape;922;p53" title="Frame 2087326953 (1).png"/>
          <p:cNvPicPr preferRelativeResize="0"/>
          <p:nvPr/>
        </p:nvPicPr>
        <p:blipFill rotWithShape="1">
          <a:blip r:embed="rId5">
            <a:alphaModFix/>
          </a:blip>
          <a:srcRect b="30948" l="0" r="0" t="0"/>
          <a:stretch/>
        </p:blipFill>
        <p:spPr>
          <a:xfrm>
            <a:off x="378150" y="3244075"/>
            <a:ext cx="4563525" cy="2191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3" title="Frame 2087326947 (3).png"/>
          <p:cNvPicPr preferRelativeResize="0"/>
          <p:nvPr/>
        </p:nvPicPr>
        <p:blipFill rotWithShape="1">
          <a:blip r:embed="rId6">
            <a:alphaModFix/>
          </a:blip>
          <a:srcRect b="4012" l="7721" r="2285" t="0"/>
          <a:stretch/>
        </p:blipFill>
        <p:spPr>
          <a:xfrm>
            <a:off x="378153" y="7253675"/>
            <a:ext cx="3000000" cy="3941359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53"/>
          <p:cNvSpPr txBox="1"/>
          <p:nvPr/>
        </p:nvSpPr>
        <p:spPr>
          <a:xfrm>
            <a:off x="378150" y="266568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Поиск/Каталог</a:t>
            </a:r>
            <a:endParaRPr/>
          </a:p>
        </p:txBody>
      </p:sp>
      <p:sp>
        <p:nvSpPr>
          <p:cNvPr id="925" name="Google Shape;925;p53"/>
          <p:cNvSpPr txBox="1"/>
          <p:nvPr/>
        </p:nvSpPr>
        <p:spPr>
          <a:xfrm>
            <a:off x="378150" y="666338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Главная </a:t>
            </a:r>
            <a:endParaRPr/>
          </a:p>
        </p:txBody>
      </p:sp>
      <p:pic>
        <p:nvPicPr>
          <p:cNvPr id="926" name="Google Shape;926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7325" y="6034474"/>
            <a:ext cx="2858326" cy="3241241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53"/>
          <p:cNvSpPr txBox="1"/>
          <p:nvPr/>
        </p:nvSpPr>
        <p:spPr>
          <a:xfrm>
            <a:off x="2186488" y="55038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Спасибо за заказ</a:t>
            </a:r>
            <a:endParaRPr/>
          </a:p>
        </p:txBody>
      </p:sp>
      <p:sp>
        <p:nvSpPr>
          <p:cNvPr id="928" name="Google Shape;928;p53"/>
          <p:cNvSpPr txBox="1"/>
          <p:nvPr/>
        </p:nvSpPr>
        <p:spPr>
          <a:xfrm>
            <a:off x="5518575" y="2821875"/>
            <a:ext cx="407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Продвижение </a:t>
            </a:r>
            <a:br>
              <a:rPr lang="ru-RU" sz="2400">
                <a:solidFill>
                  <a:srgbClr val="404040"/>
                </a:solidFill>
              </a:rPr>
            </a:br>
            <a:r>
              <a:rPr lang="ru-RU" sz="2400">
                <a:solidFill>
                  <a:srgbClr val="404040"/>
                </a:solidFill>
              </a:rPr>
              <a:t>в карточка конкурентов</a:t>
            </a:r>
            <a:endParaRPr/>
          </a:p>
        </p:txBody>
      </p:sp>
      <p:pic>
        <p:nvPicPr>
          <p:cNvPr descr="Изображение выглядит как текст, снимок экрана, Веб-сайт, веб-страница&#10;&#10;Автоматически созданное описание" id="929" name="Google Shape;929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34050" y="3756966"/>
            <a:ext cx="3070395" cy="368544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0" name="Google Shape;930;p53"/>
          <p:cNvPicPr preferRelativeResize="0"/>
          <p:nvPr/>
        </p:nvPicPr>
        <p:blipFill rotWithShape="1">
          <a:blip r:embed="rId9">
            <a:alphaModFix/>
          </a:blip>
          <a:srcRect b="0" l="7783" r="0" t="0"/>
          <a:stretch/>
        </p:blipFill>
        <p:spPr>
          <a:xfrm>
            <a:off x="8891150" y="4922200"/>
            <a:ext cx="2999997" cy="2269913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53"/>
          <p:cNvSpPr txBox="1"/>
          <p:nvPr/>
        </p:nvSpPr>
        <p:spPr>
          <a:xfrm>
            <a:off x="8800150" y="3977025"/>
            <a:ext cx="407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Первые 3 товара: Каталог,Поиск</a:t>
            </a:r>
            <a:endParaRPr/>
          </a:p>
        </p:txBody>
      </p:sp>
      <p:sp>
        <p:nvSpPr>
          <p:cNvPr id="932" name="Google Shape;932;p53"/>
          <p:cNvSpPr txBox="1"/>
          <p:nvPr/>
        </p:nvSpPr>
        <p:spPr>
          <a:xfrm>
            <a:off x="5442375" y="7613900"/>
            <a:ext cx="385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404040"/>
                </a:solidFill>
              </a:rPr>
              <a:t>Реко-блок с товарами:</a:t>
            </a:r>
            <a:br>
              <a:rPr lang="ru-RU" sz="2400">
                <a:solidFill>
                  <a:srgbClr val="404040"/>
                </a:solidFill>
              </a:rPr>
            </a:br>
            <a:r>
              <a:rPr lang="ru-RU" sz="2400">
                <a:solidFill>
                  <a:srgbClr val="404040"/>
                </a:solidFill>
              </a:rPr>
              <a:t>Каталог, Поиск, Главная</a:t>
            </a:r>
            <a:endParaRPr/>
          </a:p>
        </p:txBody>
      </p:sp>
      <p:pic>
        <p:nvPicPr>
          <p:cNvPr id="933" name="Google Shape;933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20449" y="8680060"/>
            <a:ext cx="3855800" cy="254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3"/>
          <p:cNvPicPr preferRelativeResize="0"/>
          <p:nvPr/>
        </p:nvPicPr>
        <p:blipFill rotWithShape="1">
          <a:blip r:embed="rId11">
            <a:alphaModFix/>
          </a:blip>
          <a:srcRect b="0" l="0" r="0" t="24179"/>
          <a:stretch/>
        </p:blipFill>
        <p:spPr>
          <a:xfrm>
            <a:off x="9154450" y="7659974"/>
            <a:ext cx="2381692" cy="353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текст, снимок экрана, дизайн&#10;&#10;Автоматически созданное описание" id="935" name="Google Shape;935;p53"/>
          <p:cNvPicPr preferRelativeResize="0"/>
          <p:nvPr/>
        </p:nvPicPr>
        <p:blipFill rotWithShape="1">
          <a:blip r:embed="rId12">
            <a:alphaModFix/>
          </a:blip>
          <a:srcRect b="67776" l="0" r="0" t="0"/>
          <a:stretch/>
        </p:blipFill>
        <p:spPr>
          <a:xfrm>
            <a:off x="5729400" y="5699025"/>
            <a:ext cx="2151850" cy="1624701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53"/>
          <p:cNvSpPr/>
          <p:nvPr/>
        </p:nvSpPr>
        <p:spPr>
          <a:xfrm>
            <a:off x="5729400" y="5699025"/>
            <a:ext cx="1489200" cy="1624800"/>
          </a:xfrm>
          <a:prstGeom prst="rect">
            <a:avLst/>
          </a:prstGeom>
          <a:noFill/>
          <a:ln cap="flat" cmpd="sng" w="38100">
            <a:solidFill>
              <a:srgbClr val="FDC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7" name="Google Shape;937;p53"/>
          <p:cNvGrpSpPr/>
          <p:nvPr/>
        </p:nvGrpSpPr>
        <p:grpSpPr>
          <a:xfrm>
            <a:off x="16650695" y="7639025"/>
            <a:ext cx="4147435" cy="974287"/>
            <a:chOff x="15227058" y="4830917"/>
            <a:chExt cx="5441400" cy="974287"/>
          </a:xfrm>
        </p:grpSpPr>
        <p:sp>
          <p:nvSpPr>
            <p:cNvPr id="938" name="Google Shape;938;p53"/>
            <p:cNvSpPr txBox="1"/>
            <p:nvPr/>
          </p:nvSpPr>
          <p:spPr>
            <a:xfrm>
              <a:off x="15353354" y="543590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+100 000</a:t>
              </a:r>
              <a:r>
                <a:rPr b="1" lang="ru-RU" sz="2400">
                  <a:solidFill>
                    <a:srgbClr val="BF8900"/>
                  </a:solidFill>
                </a:rPr>
                <a:t> руб**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939" name="Google Shape;939;p53"/>
            <p:cNvSpPr txBox="1"/>
            <p:nvPr/>
          </p:nvSpPr>
          <p:spPr>
            <a:xfrm>
              <a:off x="15227058" y="4830917"/>
              <a:ext cx="5441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Бонус на рекламу</a:t>
              </a:r>
              <a:endParaRPr b="1" sz="2800">
                <a:solidFill>
                  <a:schemeClr val="accent6"/>
                </a:solidFill>
              </a:endParaRPr>
            </a:p>
          </p:txBody>
        </p:sp>
      </p:grpSp>
      <p:grpSp>
        <p:nvGrpSpPr>
          <p:cNvPr id="940" name="Google Shape;940;p53"/>
          <p:cNvGrpSpPr/>
          <p:nvPr/>
        </p:nvGrpSpPr>
        <p:grpSpPr>
          <a:xfrm>
            <a:off x="16138359" y="1035266"/>
            <a:ext cx="3663266" cy="751805"/>
            <a:chOff x="13205212" y="-387257"/>
            <a:chExt cx="2796600" cy="661800"/>
          </a:xfrm>
        </p:grpSpPr>
        <p:sp>
          <p:nvSpPr>
            <p:cNvPr id="941" name="Google Shape;941;p53"/>
            <p:cNvSpPr/>
            <p:nvPr/>
          </p:nvSpPr>
          <p:spPr>
            <a:xfrm>
              <a:off x="13205212" y="-387257"/>
              <a:ext cx="2796600" cy="66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53"/>
            <p:cNvSpPr txBox="1"/>
            <p:nvPr/>
          </p:nvSpPr>
          <p:spPr>
            <a:xfrm>
              <a:off x="13434562" y="-230093"/>
              <a:ext cx="23379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 u="sng">
                  <a:solidFill>
                    <a:schemeClr val="dk1"/>
                  </a:solidFill>
                  <a:hlinkClick r:id="rId1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Оставить заявку</a:t>
              </a:r>
              <a:endParaRPr sz="24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4"/>
          <p:cNvSpPr/>
          <p:nvPr/>
        </p:nvSpPr>
        <p:spPr>
          <a:xfrm>
            <a:off x="-325" y="0"/>
            <a:ext cx="20104775" cy="1856218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4"/>
          <p:cNvSpPr txBox="1"/>
          <p:nvPr>
            <p:ph type="ctrTitle"/>
          </p:nvPr>
        </p:nvSpPr>
        <p:spPr>
          <a:xfrm>
            <a:off x="1086664" y="181398"/>
            <a:ext cx="168621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rgbClr val="F5F4F1"/>
                </a:solidFill>
              </a:rPr>
              <a:t>А</a:t>
            </a:r>
            <a:r>
              <a:rPr lang="ru-RU" sz="4800">
                <a:solidFill>
                  <a:srgbClr val="F5F4F1"/>
                </a:solidFill>
              </a:rPr>
              <a:t>налитика</a:t>
            </a:r>
            <a:endParaRPr sz="4800">
              <a:solidFill>
                <a:srgbClr val="F5F4F1"/>
              </a:solidFill>
            </a:endParaRPr>
          </a:p>
        </p:txBody>
      </p:sp>
      <p:sp>
        <p:nvSpPr>
          <p:cNvPr id="949" name="Google Shape;949;p54"/>
          <p:cNvSpPr txBox="1"/>
          <p:nvPr>
            <p:ph idx="12" type="sldNum"/>
          </p:nvPr>
        </p:nvSpPr>
        <p:spPr>
          <a:xfrm>
            <a:off x="36440660" y="23111408"/>
            <a:ext cx="603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50" name="Google Shape;950;p54"/>
          <p:cNvSpPr txBox="1"/>
          <p:nvPr/>
        </p:nvSpPr>
        <p:spPr>
          <a:xfrm>
            <a:off x="649360" y="2228586"/>
            <a:ext cx="7470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Отчет</a:t>
            </a:r>
            <a:r>
              <a:rPr b="1" i="0" lang="ru-RU" sz="3100" u="none" cap="none" strike="noStrike">
                <a:solidFill>
                  <a:schemeClr val="dk1"/>
                </a:solidFill>
              </a:rPr>
              <a:t> по</a:t>
            </a:r>
            <a:r>
              <a:rPr b="1" lang="ru-RU" sz="3100">
                <a:solidFill>
                  <a:schemeClr val="dk1"/>
                </a:solidFill>
              </a:rPr>
              <a:t> </a:t>
            </a:r>
            <a:r>
              <a:rPr b="1" i="0" lang="ru-RU" sz="3100" u="none" cap="none" strike="noStrike">
                <a:solidFill>
                  <a:schemeClr val="dk1"/>
                </a:solidFill>
              </a:rPr>
              <a:t>основным</a:t>
            </a:r>
            <a:r>
              <a:rPr b="1" lang="ru-RU" sz="3100">
                <a:solidFill>
                  <a:schemeClr val="dk1"/>
                </a:solidFill>
              </a:rPr>
              <a:t> </a:t>
            </a:r>
            <a:r>
              <a:rPr b="1" i="0" lang="ru-RU" sz="3100" u="none" cap="none" strike="noStrike">
                <a:solidFill>
                  <a:schemeClr val="dk1"/>
                </a:solidFill>
              </a:rPr>
              <a:t>показателям</a:t>
            </a:r>
            <a:r>
              <a:rPr b="1" lang="ru-RU" sz="3100">
                <a:solidFill>
                  <a:schemeClr val="dk1"/>
                </a:solidFill>
              </a:rPr>
              <a:t>:</a:t>
            </a:r>
            <a:r>
              <a:rPr b="1" lang="ru-RU" sz="3300">
                <a:solidFill>
                  <a:schemeClr val="dk1"/>
                </a:solidFill>
              </a:rPr>
              <a:t> </a:t>
            </a:r>
            <a:br>
              <a:rPr lang="ru-RU" sz="33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Показы, клики, CTR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Количество проданных товаров, выручка, 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доля рекламных расходов по post-view и post-click</a:t>
            </a:r>
            <a:br>
              <a:rPr lang="ru-RU" sz="3300">
                <a:solidFill>
                  <a:schemeClr val="dk1"/>
                </a:solidFill>
              </a:rPr>
            </a:br>
            <a:br>
              <a:rPr lang="ru-RU" sz="3300">
                <a:solidFill>
                  <a:schemeClr val="dk1"/>
                </a:solidFill>
              </a:rPr>
            </a:br>
            <a:r>
              <a:rPr b="1" lang="ru-RU" sz="2400">
                <a:solidFill>
                  <a:schemeClr val="dk1"/>
                </a:solidFill>
              </a:rPr>
              <a:t>1 раз в неделю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4"/>
          <p:cNvSpPr txBox="1"/>
          <p:nvPr/>
        </p:nvSpPr>
        <p:spPr>
          <a:xfrm>
            <a:off x="9631181" y="2008600"/>
            <a:ext cx="92658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ROPO-отчет</a:t>
            </a:r>
            <a:r>
              <a:rPr lang="ru-RU" sz="3100">
                <a:solidFill>
                  <a:schemeClr val="dk1"/>
                </a:solidFill>
              </a:rPr>
              <a:t> на почту </a:t>
            </a:r>
            <a:br>
              <a:rPr lang="ru-RU" sz="3100">
                <a:solidFill>
                  <a:schemeClr val="dk1"/>
                </a:solidFill>
              </a:rPr>
            </a:br>
            <a:r>
              <a:rPr lang="ru-RU" sz="2600">
                <a:solidFill>
                  <a:schemeClr val="dk1"/>
                </a:solidFill>
              </a:rPr>
              <a:t>Влияние продвижения на офлайн и онлайн продажи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Показы продвигаемых товаров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Динамика по выручке категории, к которой относятся промо-товары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</a:rPr>
              <a:t>- Выручка по промо-товарам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</a:rPr>
              <a:t>- Динамика доли промо-товаров в категории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200">
                <a:solidFill>
                  <a:schemeClr val="dk1"/>
                </a:solidFill>
              </a:rPr>
            </a:br>
            <a:r>
              <a:rPr b="1" lang="ru-RU" sz="2400">
                <a:solidFill>
                  <a:schemeClr val="dk1"/>
                </a:solidFill>
              </a:rPr>
              <a:t>1 раз в месяц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952" name="Google Shape;952;p54"/>
          <p:cNvSpPr/>
          <p:nvPr/>
        </p:nvSpPr>
        <p:spPr>
          <a:xfrm>
            <a:off x="-325" y="0"/>
            <a:ext cx="450612" cy="1856218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4"/>
          <p:cNvSpPr txBox="1"/>
          <p:nvPr/>
        </p:nvSpPr>
        <p:spPr>
          <a:xfrm>
            <a:off x="919125" y="842700"/>
            <a:ext cx="126369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25" lIns="201025" spcFirstLastPara="1" rIns="201025" wrap="square" tIns="201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solidFill>
                  <a:srgbClr val="F5F4F1"/>
                </a:solidFill>
              </a:rPr>
              <a:t>для пакетов “Буст продаж” и “Рост доли бренда”</a:t>
            </a:r>
            <a:endParaRPr sz="2600">
              <a:solidFill>
                <a:srgbClr val="F5F4F1"/>
              </a:solidFill>
            </a:endParaRPr>
          </a:p>
        </p:txBody>
      </p:sp>
      <p:pic>
        <p:nvPicPr>
          <p:cNvPr id="954" name="Google Shape;9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4" y="5329820"/>
            <a:ext cx="8602775" cy="4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54"/>
          <p:cNvPicPr preferRelativeResize="0"/>
          <p:nvPr/>
        </p:nvPicPr>
        <p:blipFill rotWithShape="1">
          <a:blip r:embed="rId4">
            <a:alphaModFix/>
          </a:blip>
          <a:srcRect b="0" l="9302" r="5742" t="0"/>
          <a:stretch/>
        </p:blipFill>
        <p:spPr>
          <a:xfrm>
            <a:off x="9809325" y="5359625"/>
            <a:ext cx="4534251" cy="27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62600" y="8307225"/>
            <a:ext cx="5313312" cy="27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13545" y="5359625"/>
            <a:ext cx="4534262" cy="27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54"/>
          <p:cNvSpPr txBox="1"/>
          <p:nvPr/>
        </p:nvSpPr>
        <p:spPr>
          <a:xfrm>
            <a:off x="450275" y="10670100"/>
            <a:ext cx="831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</a:rPr>
              <a:t>*Возможно предоставление дополнительной аналитики по запросу</a:t>
            </a:r>
            <a:endParaRPr sz="800"/>
          </a:p>
        </p:txBody>
      </p:sp>
      <p:sp>
        <p:nvSpPr>
          <p:cNvPr id="959" name="Google Shape;959;p54"/>
          <p:cNvSpPr txBox="1"/>
          <p:nvPr/>
        </p:nvSpPr>
        <p:spPr>
          <a:xfrm>
            <a:off x="993125" y="1447338"/>
            <a:ext cx="12203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F5F4F1"/>
                </a:solidFill>
              </a:rPr>
              <a:t>Возможно предоставление дополнительной аналитики по запросу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5"/>
          <p:cNvSpPr/>
          <p:nvPr/>
        </p:nvSpPr>
        <p:spPr>
          <a:xfrm>
            <a:off x="10700122" y="-39302"/>
            <a:ext cx="9404100" cy="11393700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5" name="Google Shape;96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4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55"/>
          <p:cNvSpPr txBox="1"/>
          <p:nvPr>
            <p:ph type="ctrTitle"/>
          </p:nvPr>
        </p:nvSpPr>
        <p:spPr>
          <a:xfrm>
            <a:off x="1110892" y="623515"/>
            <a:ext cx="95172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Не знаете, с чего начать?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7" name="Google Shape;96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1" cy="70688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55"/>
          <p:cNvSpPr txBox="1"/>
          <p:nvPr>
            <p:ph idx="12" type="sldNum"/>
          </p:nvPr>
        </p:nvSpPr>
        <p:spPr>
          <a:xfrm>
            <a:off x="16574400" y="10511084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6"/>
          <p:cNvSpPr/>
          <p:nvPr/>
        </p:nvSpPr>
        <p:spPr>
          <a:xfrm>
            <a:off x="14769675" y="1991375"/>
            <a:ext cx="5334300" cy="7952700"/>
          </a:xfrm>
          <a:prstGeom prst="roundRect">
            <a:avLst>
              <a:gd fmla="val 0" name="adj"/>
            </a:avLst>
          </a:prstGeom>
          <a:solidFill>
            <a:srgbClr val="D0DDD8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6"/>
          <p:cNvSpPr/>
          <p:nvPr/>
        </p:nvSpPr>
        <p:spPr>
          <a:xfrm>
            <a:off x="450187" y="1713525"/>
            <a:ext cx="56973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6"/>
          <p:cNvSpPr/>
          <p:nvPr/>
        </p:nvSpPr>
        <p:spPr>
          <a:xfrm>
            <a:off x="6437518" y="1713525"/>
            <a:ext cx="7700700" cy="9595800"/>
          </a:xfrm>
          <a:prstGeom prst="roundRect">
            <a:avLst>
              <a:gd fmla="val 0" name="adj"/>
            </a:avLst>
          </a:prstGeom>
          <a:solidFill>
            <a:srgbClr val="F5F4F1"/>
          </a:solidFill>
          <a:ln>
            <a:noFill/>
          </a:ln>
        </p:spPr>
        <p:txBody>
          <a:bodyPr anchorCtr="0" anchor="ctr" bIns="75325" lIns="150725" spcFirstLastPara="1" rIns="150725" wrap="square" tIns="75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6"/>
          <p:cNvSpPr/>
          <p:nvPr/>
        </p:nvSpPr>
        <p:spPr>
          <a:xfrm>
            <a:off x="-325" y="0"/>
            <a:ext cx="20104775" cy="1991381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rgbClr val="D0DDD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6"/>
          <p:cNvSpPr/>
          <p:nvPr/>
        </p:nvSpPr>
        <p:spPr>
          <a:xfrm>
            <a:off x="-323" y="0"/>
            <a:ext cx="450533" cy="1991381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C2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6"/>
          <p:cNvSpPr txBox="1"/>
          <p:nvPr/>
        </p:nvSpPr>
        <p:spPr>
          <a:xfrm>
            <a:off x="813400" y="231561"/>
            <a:ext cx="16332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800">
                <a:solidFill>
                  <a:srgbClr val="21282B"/>
                </a:solidFill>
              </a:rPr>
              <a:t>Быстрый старт</a:t>
            </a:r>
            <a:endParaRPr b="1" i="0" sz="4800" u="none" cap="none" strike="noStrike">
              <a:solidFill>
                <a:srgbClr val="000000"/>
              </a:solidFill>
            </a:endParaRPr>
          </a:p>
        </p:txBody>
      </p:sp>
      <p:sp>
        <p:nvSpPr>
          <p:cNvPr id="979" name="Google Shape;979;p56"/>
          <p:cNvSpPr txBox="1"/>
          <p:nvPr/>
        </p:nvSpPr>
        <p:spPr>
          <a:xfrm>
            <a:off x="16576012" y="-12648"/>
            <a:ext cx="3091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6"/>
          <p:cNvSpPr txBox="1"/>
          <p:nvPr/>
        </p:nvSpPr>
        <p:spPr>
          <a:xfrm>
            <a:off x="15174435" y="8430177"/>
            <a:ext cx="44334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350" lIns="150750" spcFirstLastPara="1" rIns="150750" wrap="square" tIns="75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700" u="none" cap="none" strike="noStrik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*Минимальный бюджет </a:t>
            </a:r>
            <a:endParaRPr b="0" i="0" sz="1700" u="none" cap="none" strike="noStrike">
              <a:solidFill>
                <a:srgbClr val="47474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700" u="none" cap="none" strike="noStrik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Все стоимости пакетов указаны </a:t>
            </a:r>
            <a:r>
              <a:rPr lang="ru-RU" sz="1700">
                <a:solidFill>
                  <a:srgbClr val="474747"/>
                </a:solidFill>
              </a:rPr>
              <a:t>с</a:t>
            </a:r>
            <a:r>
              <a:rPr b="0" i="0" lang="ru-RU" sz="1700" u="none" cap="none" strike="noStrik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 НДС</a:t>
            </a:r>
            <a:endParaRPr sz="1700">
              <a:solidFill>
                <a:srgbClr val="474747"/>
              </a:solidFill>
            </a:endParaRPr>
          </a:p>
        </p:txBody>
      </p:sp>
      <p:pic>
        <p:nvPicPr>
          <p:cNvPr id="981" name="Google Shape;981;p56" title="Frame 2087326953 (1).png"/>
          <p:cNvPicPr preferRelativeResize="0"/>
          <p:nvPr/>
        </p:nvPicPr>
        <p:blipFill rotWithShape="1">
          <a:blip r:embed="rId3">
            <a:alphaModFix/>
          </a:blip>
          <a:srcRect b="30948" l="0" r="0" t="0"/>
          <a:stretch/>
        </p:blipFill>
        <p:spPr>
          <a:xfrm>
            <a:off x="835353" y="4234675"/>
            <a:ext cx="4914175" cy="235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6" title="Frame 2087326947 (3).png"/>
          <p:cNvPicPr preferRelativeResize="0"/>
          <p:nvPr/>
        </p:nvPicPr>
        <p:blipFill rotWithShape="1">
          <a:blip r:embed="rId4">
            <a:alphaModFix/>
          </a:blip>
          <a:srcRect b="4012" l="7721" r="2285" t="0"/>
          <a:stretch/>
        </p:blipFill>
        <p:spPr>
          <a:xfrm>
            <a:off x="835353" y="7025075"/>
            <a:ext cx="3000000" cy="394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6"/>
          <p:cNvPicPr preferRelativeResize="0"/>
          <p:nvPr/>
        </p:nvPicPr>
        <p:blipFill rotWithShape="1">
          <a:blip r:embed="rId5">
            <a:alphaModFix/>
          </a:blip>
          <a:srcRect b="15376" l="952" r="893" t="0"/>
          <a:stretch/>
        </p:blipFill>
        <p:spPr>
          <a:xfrm>
            <a:off x="6740168" y="4551500"/>
            <a:ext cx="5386326" cy="272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6"/>
          <p:cNvPicPr preferRelativeResize="0"/>
          <p:nvPr/>
        </p:nvPicPr>
        <p:blipFill rotWithShape="1">
          <a:blip r:embed="rId6">
            <a:alphaModFix/>
          </a:blip>
          <a:srcRect b="859" l="1826" r="0" t="3592"/>
          <a:stretch/>
        </p:blipFill>
        <p:spPr>
          <a:xfrm>
            <a:off x="12506460" y="4469649"/>
            <a:ext cx="1336007" cy="28117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pSp>
        <p:nvGrpSpPr>
          <p:cNvPr id="985" name="Google Shape;985;p56"/>
          <p:cNvGrpSpPr/>
          <p:nvPr/>
        </p:nvGrpSpPr>
        <p:grpSpPr>
          <a:xfrm>
            <a:off x="6736687" y="7732051"/>
            <a:ext cx="7102354" cy="3551198"/>
            <a:chOff x="7282525" y="7466575"/>
            <a:chExt cx="7256926" cy="3321049"/>
          </a:xfrm>
        </p:grpSpPr>
        <p:pic>
          <p:nvPicPr>
            <p:cNvPr id="986" name="Google Shape;986;p56"/>
            <p:cNvPicPr preferRelativeResize="0"/>
            <p:nvPr/>
          </p:nvPicPr>
          <p:blipFill rotWithShape="1">
            <a:blip r:embed="rId7">
              <a:alphaModFix/>
            </a:blip>
            <a:srcRect b="18785" l="0" r="0" t="0"/>
            <a:stretch/>
          </p:blipFill>
          <p:spPr>
            <a:xfrm>
              <a:off x="7282525" y="7466575"/>
              <a:ext cx="7256926" cy="3321049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87" name="Google Shape;987;p56"/>
            <p:cNvSpPr/>
            <p:nvPr/>
          </p:nvSpPr>
          <p:spPr>
            <a:xfrm>
              <a:off x="8366750" y="9460925"/>
              <a:ext cx="3563100" cy="791700"/>
            </a:xfrm>
            <a:prstGeom prst="rect">
              <a:avLst/>
            </a:prstGeom>
            <a:noFill/>
            <a:ln cap="flat" cmpd="sng" w="38100">
              <a:solidFill>
                <a:srgbClr val="FDC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56"/>
          <p:cNvGrpSpPr/>
          <p:nvPr/>
        </p:nvGrpSpPr>
        <p:grpSpPr>
          <a:xfrm>
            <a:off x="765525" y="2423000"/>
            <a:ext cx="5188328" cy="1811575"/>
            <a:chOff x="900147" y="2042000"/>
            <a:chExt cx="5188328" cy="1811575"/>
          </a:xfrm>
        </p:grpSpPr>
        <p:sp>
          <p:nvSpPr>
            <p:cNvPr id="989" name="Google Shape;989;p56"/>
            <p:cNvSpPr txBox="1"/>
            <p:nvPr/>
          </p:nvSpPr>
          <p:spPr>
            <a:xfrm>
              <a:off x="969575" y="2042000"/>
              <a:ext cx="511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3400">
                  <a:solidFill>
                    <a:srgbClr val="AC6640"/>
                  </a:solidFill>
                </a:rPr>
                <a:t>Баннеры</a:t>
              </a:r>
              <a:endParaRPr b="1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6"/>
            <p:cNvSpPr txBox="1"/>
            <p:nvPr/>
          </p:nvSpPr>
          <p:spPr>
            <a:xfrm>
              <a:off x="900147" y="2577375"/>
              <a:ext cx="5118900" cy="12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400">
                  <a:solidFill>
                    <a:srgbClr val="404040"/>
                  </a:solidFill>
                </a:rPr>
                <a:t>Любые доступные страницы </a:t>
              </a:r>
              <a:br>
                <a:rPr i="1" lang="ru-RU" sz="2400">
                  <a:solidFill>
                    <a:srgbClr val="404040"/>
                  </a:solidFill>
                </a:rPr>
              </a:br>
              <a:r>
                <a:rPr i="1" lang="ru-RU" sz="2400">
                  <a:solidFill>
                    <a:srgbClr val="404040"/>
                  </a:solidFill>
                </a:rPr>
                <a:t>для продвижения</a:t>
              </a:r>
              <a:r>
                <a:rPr lang="ru-RU" sz="2400">
                  <a:solidFill>
                    <a:srgbClr val="404040"/>
                  </a:solidFill>
                </a:rPr>
                <a:t>: Глав</a:t>
              </a:r>
              <a:r>
                <a:rPr lang="ru-RU" sz="2400">
                  <a:solidFill>
                    <a:srgbClr val="404040"/>
                  </a:solidFill>
                </a:rPr>
                <a:t>ная</a:t>
              </a:r>
              <a:r>
                <a:rPr lang="ru-RU" sz="2400">
                  <a:solidFill>
                    <a:srgbClr val="404040"/>
                  </a:solidFill>
                </a:rPr>
                <a:t>, Каталог, Поиск, Спасибо за заказ</a:t>
              </a:r>
              <a:endParaRPr sz="2400">
                <a:solidFill>
                  <a:srgbClr val="404040"/>
                </a:solidFill>
              </a:endParaRPr>
            </a:p>
          </p:txBody>
        </p:sp>
      </p:grpSp>
      <p:grpSp>
        <p:nvGrpSpPr>
          <p:cNvPr id="991" name="Google Shape;991;p56"/>
          <p:cNvGrpSpPr/>
          <p:nvPr/>
        </p:nvGrpSpPr>
        <p:grpSpPr>
          <a:xfrm>
            <a:off x="6740216" y="2435035"/>
            <a:ext cx="7398363" cy="1943884"/>
            <a:chOff x="905120" y="2041991"/>
            <a:chExt cx="6842100" cy="1943884"/>
          </a:xfrm>
        </p:grpSpPr>
        <p:sp>
          <p:nvSpPr>
            <p:cNvPr id="992" name="Google Shape;992;p56"/>
            <p:cNvSpPr txBox="1"/>
            <p:nvPr/>
          </p:nvSpPr>
          <p:spPr>
            <a:xfrm>
              <a:off x="974544" y="2041991"/>
              <a:ext cx="5316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3400">
                  <a:solidFill>
                    <a:srgbClr val="AC6640"/>
                  </a:solidFill>
                </a:rPr>
                <a:t>Товарное продвижение</a:t>
              </a:r>
              <a:endParaRPr b="1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6"/>
            <p:cNvSpPr txBox="1"/>
            <p:nvPr/>
          </p:nvSpPr>
          <p:spPr>
            <a:xfrm>
              <a:off x="905120" y="2577375"/>
              <a:ext cx="6842100" cy="14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400">
                  <a:solidFill>
                    <a:srgbClr val="404040"/>
                  </a:solidFill>
                </a:rPr>
                <a:t>Любые доступные страницы для продвижения:</a:t>
              </a:r>
              <a:r>
                <a:rPr lang="ru-RU" sz="2400">
                  <a:solidFill>
                    <a:srgbClr val="404040"/>
                  </a:solidFill>
                </a:rPr>
                <a:t> </a:t>
              </a:r>
              <a:br>
                <a:rPr lang="ru-RU" sz="2400">
                  <a:solidFill>
                    <a:srgbClr val="404040"/>
                  </a:solidFill>
                </a:rPr>
              </a:br>
              <a:r>
                <a:rPr lang="ru-RU" sz="2400">
                  <a:solidFill>
                    <a:srgbClr val="404040"/>
                  </a:solidFill>
                </a:rPr>
                <a:t>Главная, Каталог, Поиск, Карточка товара, Спасибо за заказ</a:t>
              </a:r>
              <a:endParaRPr sz="2400">
                <a:solidFill>
                  <a:srgbClr val="404040"/>
                </a:solidFill>
              </a:endParaRPr>
            </a:p>
          </p:txBody>
        </p:sp>
      </p:grpSp>
      <p:sp>
        <p:nvSpPr>
          <p:cNvPr id="994" name="Google Shape;994;p56"/>
          <p:cNvSpPr txBox="1"/>
          <p:nvPr/>
        </p:nvSpPr>
        <p:spPr>
          <a:xfrm>
            <a:off x="737200" y="854725"/>
            <a:ext cx="16630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/>
              <a:t>с</a:t>
            </a:r>
            <a:r>
              <a:rPr lang="ru-RU" sz="2600"/>
              <a:t>амостоятельный запуск рекламных кампаний в кабинете,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/>
              <a:t>но с экспертной поддержкой</a:t>
            </a:r>
            <a:r>
              <a:rPr b="1" lang="ru-RU" sz="2600"/>
              <a:t> 1 месяц</a:t>
            </a:r>
            <a:endParaRPr b="1" sz="2600"/>
          </a:p>
        </p:txBody>
      </p:sp>
      <p:grpSp>
        <p:nvGrpSpPr>
          <p:cNvPr id="995" name="Google Shape;995;p56"/>
          <p:cNvGrpSpPr/>
          <p:nvPr/>
        </p:nvGrpSpPr>
        <p:grpSpPr>
          <a:xfrm>
            <a:off x="15174407" y="4061745"/>
            <a:ext cx="4524837" cy="846600"/>
            <a:chOff x="15048704" y="4628500"/>
            <a:chExt cx="4895421" cy="846600"/>
          </a:xfrm>
        </p:grpSpPr>
        <p:sp>
          <p:nvSpPr>
            <p:cNvPr id="996" name="Google Shape;996;p56"/>
            <p:cNvSpPr txBox="1"/>
            <p:nvPr/>
          </p:nvSpPr>
          <p:spPr>
            <a:xfrm>
              <a:off x="15761825" y="4628500"/>
              <a:ext cx="41823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rgbClr val="21282B"/>
                  </a:solidFill>
                </a:rPr>
                <a:t>помощь с настройками</a:t>
              </a:r>
              <a:endParaRPr b="1" sz="2000">
                <a:solidFill>
                  <a:srgbClr val="21282B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rgbClr val="21282B"/>
                  </a:solidFill>
                </a:rPr>
                <a:t>и 2 консультации</a:t>
              </a:r>
              <a:endParaRPr b="1" sz="2000">
                <a:solidFill>
                  <a:srgbClr val="21282B"/>
                </a:solidFill>
              </a:endParaRPr>
            </a:p>
          </p:txBody>
        </p:sp>
        <p:pic>
          <p:nvPicPr>
            <p:cNvPr id="997" name="Google Shape;997;p56" title="Frame 2131327920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5048704" y="4628514"/>
              <a:ext cx="687520" cy="635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8" name="Google Shape;998;p56"/>
          <p:cNvGrpSpPr/>
          <p:nvPr/>
        </p:nvGrpSpPr>
        <p:grpSpPr>
          <a:xfrm>
            <a:off x="15174435" y="3174808"/>
            <a:ext cx="4524827" cy="846600"/>
            <a:chOff x="15429715" y="3736913"/>
            <a:chExt cx="4895410" cy="846600"/>
          </a:xfrm>
        </p:grpSpPr>
        <p:sp>
          <p:nvSpPr>
            <p:cNvPr id="999" name="Google Shape;999;p56"/>
            <p:cNvSpPr txBox="1"/>
            <p:nvPr/>
          </p:nvSpPr>
          <p:spPr>
            <a:xfrm>
              <a:off x="16142825" y="3736913"/>
              <a:ext cx="4182300" cy="8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rgbClr val="21282B"/>
                  </a:solidFill>
                </a:rPr>
                <a:t>обучение </a:t>
              </a:r>
              <a:endParaRPr b="1" sz="2000">
                <a:solidFill>
                  <a:srgbClr val="21282B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rgbClr val="21282B"/>
                  </a:solidFill>
                </a:rPr>
                <a:t>по рекламной платформе</a:t>
              </a:r>
              <a:endParaRPr sz="2000"/>
            </a:p>
          </p:txBody>
        </p:sp>
        <p:pic>
          <p:nvPicPr>
            <p:cNvPr id="1000" name="Google Shape;1000;p56" title="Frame 2131327920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5429715" y="3736923"/>
              <a:ext cx="687520" cy="635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1" name="Google Shape;1001;p56"/>
          <p:cNvGrpSpPr/>
          <p:nvPr/>
        </p:nvGrpSpPr>
        <p:grpSpPr>
          <a:xfrm>
            <a:off x="15174425" y="2334059"/>
            <a:ext cx="4524837" cy="800411"/>
            <a:chOff x="15429704" y="2748414"/>
            <a:chExt cx="4895421" cy="800411"/>
          </a:xfrm>
        </p:grpSpPr>
        <p:sp>
          <p:nvSpPr>
            <p:cNvPr id="1002" name="Google Shape;1002;p56"/>
            <p:cNvSpPr txBox="1"/>
            <p:nvPr/>
          </p:nvSpPr>
          <p:spPr>
            <a:xfrm>
              <a:off x="16142825" y="2748425"/>
              <a:ext cx="4182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000">
                  <a:solidFill>
                    <a:srgbClr val="21282B"/>
                  </a:solidFill>
                </a:rPr>
                <a:t>п</a:t>
              </a:r>
              <a:r>
                <a:rPr b="1" lang="ru-RU" sz="2000">
                  <a:solidFill>
                    <a:srgbClr val="21282B"/>
                  </a:solidFill>
                </a:rPr>
                <a:t>лан продвижения под бизнес-цели</a:t>
              </a:r>
              <a:endParaRPr b="1" sz="2000"/>
            </a:p>
          </p:txBody>
        </p:sp>
        <p:pic>
          <p:nvPicPr>
            <p:cNvPr id="1003" name="Google Shape;1003;p56" title="Frame 2131327920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5429704" y="2748414"/>
              <a:ext cx="687520" cy="635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4" name="Google Shape;1004;p56"/>
          <p:cNvGrpSpPr/>
          <p:nvPr/>
        </p:nvGrpSpPr>
        <p:grpSpPr>
          <a:xfrm>
            <a:off x="15330229" y="7014793"/>
            <a:ext cx="4356872" cy="974282"/>
            <a:chOff x="15227050" y="5059516"/>
            <a:chExt cx="4056300" cy="974282"/>
          </a:xfrm>
        </p:grpSpPr>
        <p:sp>
          <p:nvSpPr>
            <p:cNvPr id="1005" name="Google Shape;1005;p56"/>
            <p:cNvSpPr txBox="1"/>
            <p:nvPr/>
          </p:nvSpPr>
          <p:spPr>
            <a:xfrm>
              <a:off x="15353363" y="5664498"/>
              <a:ext cx="3542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>
                  <a:solidFill>
                    <a:srgbClr val="BF8900"/>
                  </a:solidFill>
                </a:rPr>
                <a:t>от 100 до 300 000 руб*</a:t>
              </a:r>
              <a:endParaRPr b="1" sz="2400">
                <a:solidFill>
                  <a:srgbClr val="BF8900"/>
                </a:solidFill>
              </a:endParaRPr>
            </a:p>
          </p:txBody>
        </p:sp>
        <p:sp>
          <p:nvSpPr>
            <p:cNvPr id="1006" name="Google Shape;1006;p56"/>
            <p:cNvSpPr txBox="1"/>
            <p:nvPr/>
          </p:nvSpPr>
          <p:spPr>
            <a:xfrm>
              <a:off x="15227050" y="5059516"/>
              <a:ext cx="4056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800">
                  <a:solidFill>
                    <a:srgbClr val="21282B"/>
                  </a:solidFill>
                </a:rPr>
                <a:t>Бюджет</a:t>
              </a:r>
              <a:endParaRPr b="1" sz="2800">
                <a:solidFill>
                  <a:schemeClr val="accent6"/>
                </a:solidFill>
              </a:endParaRPr>
            </a:p>
          </p:txBody>
        </p:sp>
      </p:grpSp>
      <p:grpSp>
        <p:nvGrpSpPr>
          <p:cNvPr id="1007" name="Google Shape;1007;p56"/>
          <p:cNvGrpSpPr/>
          <p:nvPr/>
        </p:nvGrpSpPr>
        <p:grpSpPr>
          <a:xfrm>
            <a:off x="14976680" y="361191"/>
            <a:ext cx="4827423" cy="492515"/>
            <a:chOff x="17632422" y="-1196725"/>
            <a:chExt cx="3140400" cy="840900"/>
          </a:xfrm>
        </p:grpSpPr>
        <p:sp>
          <p:nvSpPr>
            <p:cNvPr id="1008" name="Google Shape;1008;p56"/>
            <p:cNvSpPr/>
            <p:nvPr/>
          </p:nvSpPr>
          <p:spPr>
            <a:xfrm>
              <a:off x="17632422" y="-1196725"/>
              <a:ext cx="3140400" cy="840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56"/>
            <p:cNvSpPr txBox="1"/>
            <p:nvPr/>
          </p:nvSpPr>
          <p:spPr>
            <a:xfrm>
              <a:off x="17836419" y="-1073926"/>
              <a:ext cx="2732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200">
                  <a:solidFill>
                    <a:schemeClr val="dk1"/>
                  </a:solidFill>
                </a:rPr>
                <a:t>Самостоятельный запуск</a:t>
              </a:r>
              <a:endParaRPr i="1" sz="2200">
                <a:solidFill>
                  <a:schemeClr val="dk1"/>
                </a:solidFill>
              </a:endParaRPr>
            </a:p>
          </p:txBody>
        </p:sp>
      </p:grpSp>
      <p:grpSp>
        <p:nvGrpSpPr>
          <p:cNvPr id="1010" name="Google Shape;1010;p56"/>
          <p:cNvGrpSpPr/>
          <p:nvPr/>
        </p:nvGrpSpPr>
        <p:grpSpPr>
          <a:xfrm>
            <a:off x="14976680" y="1046991"/>
            <a:ext cx="4827423" cy="492515"/>
            <a:chOff x="17632422" y="-1196725"/>
            <a:chExt cx="3140400" cy="840900"/>
          </a:xfrm>
        </p:grpSpPr>
        <p:sp>
          <p:nvSpPr>
            <p:cNvPr id="1011" name="Google Shape;1011;p56"/>
            <p:cNvSpPr/>
            <p:nvPr/>
          </p:nvSpPr>
          <p:spPr>
            <a:xfrm>
              <a:off x="17632422" y="-1196725"/>
              <a:ext cx="3140400" cy="840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56"/>
            <p:cNvSpPr txBox="1"/>
            <p:nvPr/>
          </p:nvSpPr>
          <p:spPr>
            <a:xfrm>
              <a:off x="17836419" y="-1073926"/>
              <a:ext cx="27324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ru-RU" sz="2200">
                  <a:solidFill>
                    <a:schemeClr val="dk1"/>
                  </a:solidFill>
                </a:rPr>
                <a:t>Поддержка эксперта</a:t>
              </a:r>
              <a:endParaRPr i="1" sz="2200">
                <a:solidFill>
                  <a:schemeClr val="dk1"/>
                </a:solidFill>
              </a:endParaRPr>
            </a:p>
          </p:txBody>
        </p:sp>
      </p:grpSp>
      <p:pic>
        <p:nvPicPr>
          <p:cNvPr id="1013" name="Google Shape;1013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3450" y="7344727"/>
            <a:ext cx="3460398" cy="221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4" name="Google Shape;1014;p56"/>
          <p:cNvGrpSpPr/>
          <p:nvPr/>
        </p:nvGrpSpPr>
        <p:grpSpPr>
          <a:xfrm>
            <a:off x="10658734" y="619791"/>
            <a:ext cx="3663266" cy="751805"/>
            <a:chOff x="13205212" y="-387257"/>
            <a:chExt cx="2796600" cy="661800"/>
          </a:xfrm>
        </p:grpSpPr>
        <p:sp>
          <p:nvSpPr>
            <p:cNvPr id="1015" name="Google Shape;1015;p56"/>
            <p:cNvSpPr/>
            <p:nvPr/>
          </p:nvSpPr>
          <p:spPr>
            <a:xfrm>
              <a:off x="13205212" y="-387257"/>
              <a:ext cx="2796600" cy="661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56"/>
            <p:cNvSpPr txBox="1"/>
            <p:nvPr/>
          </p:nvSpPr>
          <p:spPr>
            <a:xfrm>
              <a:off x="13434562" y="-230093"/>
              <a:ext cx="23379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-RU" sz="2400" u="sng">
                  <a:solidFill>
                    <a:srgbClr val="0B0B0B"/>
                  </a:solidFill>
                  <a:hlinkClick r:id="rId1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Оставить заявку</a:t>
              </a:r>
              <a:endParaRPr sz="2400">
                <a:solidFill>
                  <a:srgbClr val="0B0B0B"/>
                </a:solidFill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7"/>
          <p:cNvSpPr/>
          <p:nvPr/>
        </p:nvSpPr>
        <p:spPr>
          <a:xfrm>
            <a:off x="-325" y="0"/>
            <a:ext cx="20104775" cy="1856218"/>
          </a:xfrm>
          <a:custGeom>
            <a:rect b="b" l="l" r="r" t="t"/>
            <a:pathLst>
              <a:path extrusionOk="0" h="192404" w="2079625">
                <a:moveTo>
                  <a:pt x="2079218" y="0"/>
                </a:moveTo>
                <a:lnTo>
                  <a:pt x="0" y="0"/>
                </a:lnTo>
                <a:lnTo>
                  <a:pt x="0" y="192049"/>
                </a:lnTo>
                <a:lnTo>
                  <a:pt x="2079218" y="192049"/>
                </a:lnTo>
                <a:lnTo>
                  <a:pt x="2079218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57"/>
          <p:cNvSpPr txBox="1"/>
          <p:nvPr>
            <p:ph type="ctrTitle"/>
          </p:nvPr>
        </p:nvSpPr>
        <p:spPr>
          <a:xfrm>
            <a:off x="1086664" y="181398"/>
            <a:ext cx="168621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rgbClr val="F5F4F1"/>
                </a:solidFill>
              </a:rPr>
              <a:t>Аналитика</a:t>
            </a:r>
            <a:endParaRPr sz="4800">
              <a:solidFill>
                <a:srgbClr val="F5F4F1"/>
              </a:solidFill>
            </a:endParaRPr>
          </a:p>
        </p:txBody>
      </p:sp>
      <p:sp>
        <p:nvSpPr>
          <p:cNvPr id="1023" name="Google Shape;1023;p57"/>
          <p:cNvSpPr txBox="1"/>
          <p:nvPr>
            <p:ph idx="12" type="sldNum"/>
          </p:nvPr>
        </p:nvSpPr>
        <p:spPr>
          <a:xfrm>
            <a:off x="36440660" y="23111408"/>
            <a:ext cx="603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24" name="Google Shape;1024;p57"/>
          <p:cNvSpPr txBox="1"/>
          <p:nvPr/>
        </p:nvSpPr>
        <p:spPr>
          <a:xfrm>
            <a:off x="649360" y="2228586"/>
            <a:ext cx="74703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Статистика в рекламном кабинете</a:t>
            </a:r>
            <a:r>
              <a:rPr b="1" lang="ru-RU" sz="3100">
                <a:solidFill>
                  <a:schemeClr val="dk1"/>
                </a:solidFill>
              </a:rPr>
              <a:t>:</a:t>
            </a:r>
            <a:r>
              <a:rPr b="1" lang="ru-RU" sz="3300">
                <a:solidFill>
                  <a:schemeClr val="dk1"/>
                </a:solidFill>
              </a:rPr>
              <a:t> </a:t>
            </a:r>
            <a:br>
              <a:rPr lang="ru-RU" sz="33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Показы, клики, CTR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Количество проданных товаров, выручка, 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доля рекламных расходов по post-view и post-click</a:t>
            </a:r>
            <a:br>
              <a:rPr lang="ru-RU" sz="33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</a:rPr>
              <a:t>В режиме реального времени</a:t>
            </a:r>
            <a:endParaRPr sz="3300">
              <a:solidFill>
                <a:schemeClr val="dk1"/>
              </a:solidFill>
            </a:endParaRPr>
          </a:p>
        </p:txBody>
      </p:sp>
      <p:sp>
        <p:nvSpPr>
          <p:cNvPr id="1025" name="Google Shape;1025;p57"/>
          <p:cNvSpPr txBox="1"/>
          <p:nvPr/>
        </p:nvSpPr>
        <p:spPr>
          <a:xfrm>
            <a:off x="9631181" y="2008600"/>
            <a:ext cx="92658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ROPO-отчет</a:t>
            </a:r>
            <a:r>
              <a:rPr lang="ru-RU" sz="3100">
                <a:solidFill>
                  <a:schemeClr val="dk1"/>
                </a:solidFill>
              </a:rPr>
              <a:t> на почту</a:t>
            </a:r>
            <a:br>
              <a:rPr lang="ru-RU" sz="3100">
                <a:solidFill>
                  <a:schemeClr val="dk1"/>
                </a:solidFill>
              </a:rPr>
            </a:br>
            <a:r>
              <a:rPr lang="ru-RU" sz="2600">
                <a:solidFill>
                  <a:schemeClr val="dk1"/>
                </a:solidFill>
              </a:rPr>
              <a:t>Влияние продвижения на офлайн и онлайн продажи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Показы продвигаемых товаров</a:t>
            </a:r>
            <a:br>
              <a:rPr lang="ru-RU" sz="2200">
                <a:solidFill>
                  <a:schemeClr val="dk1"/>
                </a:solidFill>
              </a:rPr>
            </a:br>
            <a:r>
              <a:rPr lang="ru-RU" sz="2200">
                <a:solidFill>
                  <a:schemeClr val="dk1"/>
                </a:solidFill>
              </a:rPr>
              <a:t>- Динамика по выручке категории, к которой относятся промо-товары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</a:rPr>
              <a:t>- Выручка по промо-товарам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</a:rPr>
              <a:t>- Динамика доли промо-товаров в категории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200">
                <a:solidFill>
                  <a:schemeClr val="dk1"/>
                </a:solidFill>
              </a:rPr>
            </a:br>
            <a:r>
              <a:rPr b="1" lang="ru-RU" sz="2400">
                <a:solidFill>
                  <a:schemeClr val="dk1"/>
                </a:solidFill>
              </a:rPr>
              <a:t>1 раз в месяц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026" name="Google Shape;1026;p57"/>
          <p:cNvSpPr/>
          <p:nvPr/>
        </p:nvSpPr>
        <p:spPr>
          <a:xfrm>
            <a:off x="-325" y="0"/>
            <a:ext cx="450612" cy="1856218"/>
          </a:xfrm>
          <a:custGeom>
            <a:rect b="b" l="l" r="r" t="t"/>
            <a:pathLst>
              <a:path extrusionOk="0" h="192404" w="31750">
                <a:moveTo>
                  <a:pt x="0" y="0"/>
                </a:moveTo>
                <a:lnTo>
                  <a:pt x="0" y="192049"/>
                </a:lnTo>
                <a:lnTo>
                  <a:pt x="31648" y="192049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57"/>
          <p:cNvSpPr txBox="1"/>
          <p:nvPr/>
        </p:nvSpPr>
        <p:spPr>
          <a:xfrm>
            <a:off x="919129" y="923481"/>
            <a:ext cx="126369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25" lIns="201025" spcFirstLastPara="1" rIns="201025" wrap="square" tIns="2010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solidFill>
                  <a:srgbClr val="F5F4F1"/>
                </a:solidFill>
              </a:rPr>
              <a:t>для самостоятельного запуска рекламы</a:t>
            </a:r>
            <a:endParaRPr sz="3100">
              <a:solidFill>
                <a:srgbClr val="F5F4F1"/>
              </a:solidFill>
            </a:endParaRPr>
          </a:p>
        </p:txBody>
      </p:sp>
      <p:pic>
        <p:nvPicPr>
          <p:cNvPr id="1028" name="Google Shape;10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4" y="5426757"/>
            <a:ext cx="8602775" cy="4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4">
            <a:alphaModFix/>
          </a:blip>
          <a:srcRect b="0" l="9302" r="5742" t="0"/>
          <a:stretch/>
        </p:blipFill>
        <p:spPr>
          <a:xfrm>
            <a:off x="9809325" y="5359625"/>
            <a:ext cx="4534251" cy="27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62600" y="8307225"/>
            <a:ext cx="5313312" cy="27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13545" y="5359625"/>
            <a:ext cx="4534262" cy="27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8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58"/>
          <p:cNvSpPr txBox="1"/>
          <p:nvPr>
            <p:ph type="ctrTitle"/>
          </p:nvPr>
        </p:nvSpPr>
        <p:spPr>
          <a:xfrm>
            <a:off x="1110892" y="623515"/>
            <a:ext cx="9517222" cy="1213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Кейсы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9" name="Google Shape;103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58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9"/>
          <p:cNvSpPr txBox="1"/>
          <p:nvPr>
            <p:ph type="ctrTitle"/>
          </p:nvPr>
        </p:nvSpPr>
        <p:spPr>
          <a:xfrm>
            <a:off x="1110892" y="623515"/>
            <a:ext cx="16862100" cy="1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поставщиков</a:t>
            </a:r>
            <a:endParaRPr/>
          </a:p>
        </p:txBody>
      </p:sp>
      <p:sp>
        <p:nvSpPr>
          <p:cNvPr id="1046" name="Google Shape;1046;p59"/>
          <p:cNvSpPr txBox="1"/>
          <p:nvPr>
            <p:ph idx="12" type="sldNum"/>
          </p:nvPr>
        </p:nvSpPr>
        <p:spPr>
          <a:xfrm>
            <a:off x="16574400" y="10511084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47" name="Google Shape;1047;p59"/>
          <p:cNvSpPr txBox="1"/>
          <p:nvPr/>
        </p:nvSpPr>
        <p:spPr>
          <a:xfrm>
            <a:off x="4650740" y="3212528"/>
            <a:ext cx="3237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Рекламодатель 2: CPM 600 руб.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8" name="Google Shape;1048;p59"/>
          <p:cNvSpPr txBox="1"/>
          <p:nvPr/>
        </p:nvSpPr>
        <p:spPr>
          <a:xfrm>
            <a:off x="1110892" y="3562819"/>
            <a:ext cx="12169500" cy="42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175">
            <a:noAutofit/>
          </a:bodyPr>
          <a:lstStyle/>
          <a:p>
            <a:pPr indent="0" lvl="0" marL="33864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ДРР = 1,3%,</a:t>
            </a:r>
            <a:r>
              <a:rPr b="1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категории: инструменты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Вложенный </a:t>
            </a:r>
            <a:r>
              <a:rPr b="1" i="0" lang="ru-RU" sz="32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1 рубль дает 80 рублей продаж</a:t>
            </a:r>
            <a:endParaRPr b="1" i="0" sz="3200" u="none" cap="none" strike="noStrike">
              <a:solidFill>
                <a:srgbClr val="71B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864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71B8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ДРР = 2%</a:t>
            </a:r>
            <a:r>
              <a:rPr b="0" i="0" lang="ru-RU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категория: бытовая техника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Вложенный </a:t>
            </a:r>
            <a:r>
              <a:rPr b="1" i="0" lang="ru-RU" sz="32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1 рубль дает 50 рублей продаж</a:t>
            </a:r>
            <a:endParaRPr b="1" i="0" sz="3200" u="none" cap="none" strike="noStrike">
              <a:solidFill>
                <a:srgbClr val="FDC3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51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ДРР = 4%</a:t>
            </a: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ru-RU" sz="3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категория: краски</a:t>
            </a:r>
            <a:b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Вложенный </a:t>
            </a:r>
            <a:r>
              <a:rPr b="1" i="0" lang="ru-RU" sz="3200" u="none" cap="none" strike="noStrike">
                <a:solidFill>
                  <a:srgbClr val="FDC300"/>
                </a:solidFill>
                <a:latin typeface="Arial"/>
                <a:ea typeface="Arial"/>
                <a:cs typeface="Arial"/>
                <a:sym typeface="Arial"/>
              </a:rPr>
              <a:t>1 рубль дает 25 рублей продаж</a:t>
            </a:r>
            <a:endParaRPr b="1" i="0" sz="3200" u="none" cap="none" strike="noStrike">
              <a:solidFill>
                <a:srgbClr val="FDC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9"/>
          <p:cNvSpPr txBox="1"/>
          <p:nvPr/>
        </p:nvSpPr>
        <p:spPr>
          <a:xfrm>
            <a:off x="1110892" y="10284441"/>
            <a:ext cx="14017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25" lIns="55425" spcFirstLastPara="1" rIns="55425" wrap="square" tIns="55425">
            <a:spAutoFit/>
          </a:bodyPr>
          <a:lstStyle/>
          <a:p>
            <a:pPr indent="0" lvl="0" marL="33864" marR="575688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ДРР - доля рекламных расходов (= расходы/доходы*100%) - чем меньше показатель, тем эффективнее реклама </a:t>
            </a:r>
            <a:endParaRPr b="0" i="0" sz="20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9"/>
          <p:cNvSpPr txBox="1"/>
          <p:nvPr/>
        </p:nvSpPr>
        <p:spPr>
          <a:xfrm>
            <a:off x="12256452" y="6458457"/>
            <a:ext cx="19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Вложения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9"/>
          <p:cNvSpPr txBox="1"/>
          <p:nvPr/>
        </p:nvSpPr>
        <p:spPr>
          <a:xfrm>
            <a:off x="15128004" y="6458457"/>
            <a:ext cx="19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Товарооборот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2" name="Google Shape;10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7744" y="5308527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60562" y="3732214"/>
            <a:ext cx="3042350" cy="286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13854283" y="5414027"/>
            <a:ext cx="699682" cy="699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0"/>
          <p:cNvSpPr/>
          <p:nvPr/>
        </p:nvSpPr>
        <p:spPr>
          <a:xfrm>
            <a:off x="790730" y="2524403"/>
            <a:ext cx="18867300" cy="3680100"/>
          </a:xfrm>
          <a:prstGeom prst="roundRect">
            <a:avLst>
              <a:gd fmla="val 769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1" name="Google Shape;1061;p60"/>
          <p:cNvSpPr/>
          <p:nvPr/>
        </p:nvSpPr>
        <p:spPr>
          <a:xfrm>
            <a:off x="1190328" y="4715252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0"/>
          <p:cNvSpPr/>
          <p:nvPr/>
        </p:nvSpPr>
        <p:spPr>
          <a:xfrm>
            <a:off x="4064847" y="4762224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0"/>
          <p:cNvSpPr/>
          <p:nvPr/>
        </p:nvSpPr>
        <p:spPr>
          <a:xfrm>
            <a:off x="4049402" y="3299660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0"/>
          <p:cNvSpPr/>
          <p:nvPr/>
        </p:nvSpPr>
        <p:spPr>
          <a:xfrm>
            <a:off x="1190328" y="3299687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0"/>
          <p:cNvSpPr txBox="1"/>
          <p:nvPr>
            <p:ph idx="4294967295" type="ctrTitle"/>
          </p:nvPr>
        </p:nvSpPr>
        <p:spPr>
          <a:xfrm>
            <a:off x="1029994" y="455969"/>
            <a:ext cx="16862100" cy="16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Продвижение </a:t>
            </a:r>
            <a:r>
              <a:rPr lang="ru-RU">
                <a:solidFill>
                  <a:srgbClr val="FDC300"/>
                </a:solidFill>
              </a:rPr>
              <a:t>ECOHEAT </a:t>
            </a:r>
            <a:br>
              <a:rPr lang="ru-RU">
                <a:solidFill>
                  <a:srgbClr val="FDC300"/>
                </a:solidFill>
              </a:rPr>
            </a:br>
            <a:r>
              <a:rPr b="0" lang="ru-RU" sz="2400">
                <a:solidFill>
                  <a:srgbClr val="20282B"/>
                </a:solidFill>
              </a:rPr>
              <a:t>(подложка под ламинат 2 SKU)</a:t>
            </a:r>
            <a:endParaRPr b="0" sz="2400">
              <a:solidFill>
                <a:srgbClr val="20282B"/>
              </a:solidFill>
            </a:endParaRPr>
          </a:p>
        </p:txBody>
      </p:sp>
      <p:sp>
        <p:nvSpPr>
          <p:cNvPr id="1066" name="Google Shape;1066;p60"/>
          <p:cNvSpPr/>
          <p:nvPr/>
        </p:nvSpPr>
        <p:spPr>
          <a:xfrm>
            <a:off x="1029994" y="2600012"/>
            <a:ext cx="2460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SemiBold"/>
              <a:buNone/>
            </a:pPr>
            <a:r>
              <a:rPr b="1" lang="ru-RU" sz="3100">
                <a:solidFill>
                  <a:schemeClr val="dk1"/>
                </a:solidFill>
              </a:rPr>
              <a:t>Результаты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0"/>
          <p:cNvSpPr/>
          <p:nvPr/>
        </p:nvSpPr>
        <p:spPr>
          <a:xfrm>
            <a:off x="1260570" y="3480288"/>
            <a:ext cx="2460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в 1,3 раза</a:t>
            </a:r>
            <a:endParaRPr b="1" sz="3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0"/>
          <p:cNvSpPr/>
          <p:nvPr/>
        </p:nvSpPr>
        <p:spPr>
          <a:xfrm>
            <a:off x="1321922" y="3906876"/>
            <a:ext cx="2338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рост показов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товаров онлайн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0"/>
          <p:cNvSpPr txBox="1"/>
          <p:nvPr/>
        </p:nvSpPr>
        <p:spPr>
          <a:xfrm>
            <a:off x="8392705" y="3772833"/>
            <a:ext cx="52305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Таргетинг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1. По целевым поисковым запросам</a:t>
            </a:r>
            <a:endParaRPr sz="1800"/>
          </a:p>
          <a:p>
            <a:pPr indent="0" lvl="0" marL="2540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2. Интерес пользователей к категориям «Подложки под пол», «Подложка под напольные покрытия»</a:t>
            </a:r>
            <a:endParaRPr sz="1800">
              <a:solidFill>
                <a:srgbClr val="2F3738"/>
              </a:solidFill>
            </a:endParaRPr>
          </a:p>
          <a:p>
            <a:pPr indent="0" lvl="0" marL="2540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3. На карточки конкурентов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0"/>
          <p:cNvSpPr txBox="1"/>
          <p:nvPr/>
        </p:nvSpPr>
        <p:spPr>
          <a:xfrm>
            <a:off x="3398732" y="2600012"/>
            <a:ext cx="299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за 5 месяцев </a:t>
            </a:r>
            <a:endParaRPr sz="1300"/>
          </a:p>
        </p:txBody>
      </p:sp>
      <p:grpSp>
        <p:nvGrpSpPr>
          <p:cNvPr id="1071" name="Google Shape;1071;p60"/>
          <p:cNvGrpSpPr/>
          <p:nvPr/>
        </p:nvGrpSpPr>
        <p:grpSpPr>
          <a:xfrm>
            <a:off x="15923710" y="6461054"/>
            <a:ext cx="2338107" cy="4724634"/>
            <a:chOff x="7988575" y="3346226"/>
            <a:chExt cx="1119300" cy="2261673"/>
          </a:xfrm>
        </p:grpSpPr>
        <p:grpSp>
          <p:nvGrpSpPr>
            <p:cNvPr id="1072" name="Google Shape;1072;p60"/>
            <p:cNvGrpSpPr/>
            <p:nvPr/>
          </p:nvGrpSpPr>
          <p:grpSpPr>
            <a:xfrm>
              <a:off x="8067617" y="3470013"/>
              <a:ext cx="999973" cy="2116951"/>
              <a:chOff x="7167675" y="953475"/>
              <a:chExt cx="2366799" cy="5010534"/>
            </a:xfrm>
          </p:grpSpPr>
          <p:pic>
            <p:nvPicPr>
              <p:cNvPr id="1073" name="Google Shape;1073;p6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0721"/>
              <a:stretch/>
            </p:blipFill>
            <p:spPr>
              <a:xfrm>
                <a:off x="7215538" y="4026750"/>
                <a:ext cx="2271074" cy="19372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4" name="Google Shape;1074;p60"/>
              <p:cNvPicPr preferRelativeResize="0"/>
              <p:nvPr/>
            </p:nvPicPr>
            <p:blipFill rotWithShape="1">
              <a:blip r:embed="rId4">
                <a:alphaModFix/>
              </a:blip>
              <a:srcRect b="40248" l="0" r="0" t="0"/>
              <a:stretch/>
            </p:blipFill>
            <p:spPr>
              <a:xfrm>
                <a:off x="7167675" y="953475"/>
                <a:ext cx="2366799" cy="30732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75" name="Google Shape;1075;p6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8575" y="3346226"/>
              <a:ext cx="1119300" cy="22616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6" name="Google Shape;1076;p60"/>
          <p:cNvSpPr txBox="1"/>
          <p:nvPr/>
        </p:nvSpPr>
        <p:spPr>
          <a:xfrm>
            <a:off x="13826296" y="2935104"/>
            <a:ext cx="52305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Форматы рекламы</a:t>
            </a:r>
            <a:br>
              <a:rPr b="1" lang="ru-RU" sz="1800">
                <a:solidFill>
                  <a:srgbClr val="2F3738"/>
                </a:solidFill>
              </a:rPr>
            </a:br>
            <a:r>
              <a:rPr b="1" lang="ru-RU" sz="1800">
                <a:solidFill>
                  <a:srgbClr val="2F3738"/>
                </a:solidFill>
              </a:rPr>
              <a:t>Категория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Реко-блок с товарами 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3 места в выдаче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Карточка товара 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карточках конкурентов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Поиск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Топ выдача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Реко-блок с товарами</a:t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077" name="Google Shape;1077;p60"/>
          <p:cNvSpPr txBox="1"/>
          <p:nvPr/>
        </p:nvSpPr>
        <p:spPr>
          <a:xfrm>
            <a:off x="8392705" y="2935104"/>
            <a:ext cx="52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Площадк</a:t>
            </a:r>
            <a:r>
              <a:rPr b="1" lang="ru-RU" sz="1800">
                <a:solidFill>
                  <a:srgbClr val="2F3738"/>
                </a:solidFill>
              </a:rPr>
              <a:t>а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Сайт и мобильное приложение Лемана ПРО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0"/>
          <p:cNvSpPr/>
          <p:nvPr/>
        </p:nvSpPr>
        <p:spPr>
          <a:xfrm>
            <a:off x="1260570" y="4792924"/>
            <a:ext cx="2460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на 193%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0"/>
          <p:cNvSpPr/>
          <p:nvPr/>
        </p:nvSpPr>
        <p:spPr>
          <a:xfrm>
            <a:off x="1190335" y="531463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GMV </a:t>
            </a:r>
            <a:r>
              <a:rPr b="1" lang="ru-RU" sz="1800">
                <a:solidFill>
                  <a:srgbClr val="2F3738"/>
                </a:solidFill>
              </a:rPr>
              <a:t>онлайн </a:t>
            </a:r>
            <a:r>
              <a:rPr lang="ru-RU" sz="18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0"/>
          <p:cNvSpPr/>
          <p:nvPr/>
        </p:nvSpPr>
        <p:spPr>
          <a:xfrm>
            <a:off x="4393265" y="4832831"/>
            <a:ext cx="1782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на 55%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0"/>
          <p:cNvSpPr/>
          <p:nvPr/>
        </p:nvSpPr>
        <p:spPr>
          <a:xfrm>
            <a:off x="4049402" y="531463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GMV </a:t>
            </a:r>
            <a:r>
              <a:rPr b="1" lang="ru-RU" sz="1800">
                <a:solidFill>
                  <a:srgbClr val="2F3738"/>
                </a:solidFill>
              </a:rPr>
              <a:t>офлайн 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2" name="Google Shape;1082;p60"/>
          <p:cNvGrpSpPr/>
          <p:nvPr/>
        </p:nvGrpSpPr>
        <p:grpSpPr>
          <a:xfrm>
            <a:off x="8815230" y="6461665"/>
            <a:ext cx="6719136" cy="4725276"/>
            <a:chOff x="4009474" y="2862525"/>
            <a:chExt cx="3056097" cy="2149025"/>
          </a:xfrm>
        </p:grpSpPr>
        <p:pic>
          <p:nvPicPr>
            <p:cNvPr id="1083" name="Google Shape;1083;p60" title="Group 2087326621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09474" y="2862525"/>
              <a:ext cx="3056097" cy="214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4" name="Google Shape;1084;p60"/>
            <p:cNvPicPr preferRelativeResize="0"/>
            <p:nvPr/>
          </p:nvPicPr>
          <p:blipFill rotWithShape="1">
            <a:blip r:embed="rId7">
              <a:alphaModFix/>
            </a:blip>
            <a:srcRect b="0" l="16235" r="14233" t="0"/>
            <a:stretch/>
          </p:blipFill>
          <p:spPr>
            <a:xfrm>
              <a:off x="4261365" y="3028086"/>
              <a:ext cx="2536822" cy="1648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60"/>
            <p:cNvSpPr/>
            <p:nvPr/>
          </p:nvSpPr>
          <p:spPr>
            <a:xfrm>
              <a:off x="4405325" y="3266000"/>
              <a:ext cx="810900" cy="472800"/>
            </a:xfrm>
            <a:prstGeom prst="rect">
              <a:avLst/>
            </a:prstGeom>
            <a:noFill/>
            <a:ln cap="flat" cmpd="sng" w="19050">
              <a:solidFill>
                <a:srgbClr val="FCB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01025" lIns="201025" spcFirstLastPara="1" rIns="201025" wrap="square" tIns="201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6" name="Google Shape;1086;p60"/>
          <p:cNvSpPr/>
          <p:nvPr/>
        </p:nvSpPr>
        <p:spPr>
          <a:xfrm>
            <a:off x="16101638" y="7398681"/>
            <a:ext cx="1059300" cy="1952400"/>
          </a:xfrm>
          <a:prstGeom prst="rect">
            <a:avLst/>
          </a:prstGeom>
          <a:noFill/>
          <a:ln cap="flat" cmpd="sng" w="19050">
            <a:solidFill>
              <a:srgbClr val="FCB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25" lIns="201025" spcFirstLastPara="1" rIns="201025" wrap="square" tIns="201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60"/>
          <p:cNvSpPr/>
          <p:nvPr/>
        </p:nvSpPr>
        <p:spPr>
          <a:xfrm>
            <a:off x="16101638" y="9351184"/>
            <a:ext cx="1059300" cy="1314600"/>
          </a:xfrm>
          <a:prstGeom prst="rect">
            <a:avLst/>
          </a:prstGeom>
          <a:noFill/>
          <a:ln cap="flat" cmpd="sng" w="19050">
            <a:solidFill>
              <a:srgbClr val="FCB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1025" lIns="201025" spcFirstLastPara="1" rIns="201025" wrap="square" tIns="201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0"/>
          <p:cNvSpPr/>
          <p:nvPr/>
        </p:nvSpPr>
        <p:spPr>
          <a:xfrm>
            <a:off x="4474119" y="3485593"/>
            <a:ext cx="1782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1,5%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60"/>
          <p:cNvSpPr/>
          <p:nvPr/>
        </p:nvSpPr>
        <p:spPr>
          <a:xfrm>
            <a:off x="4064847" y="390687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доля рекламных расходов по post-click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0" name="Google Shape;1090;p60" title="Диаграмма"/>
          <p:cNvPicPr preferRelativeResize="0"/>
          <p:nvPr/>
        </p:nvPicPr>
        <p:blipFill rotWithShape="1">
          <a:blip r:embed="rId8">
            <a:alphaModFix/>
          </a:blip>
          <a:srcRect b="0" l="0" r="15511" t="0"/>
          <a:stretch/>
        </p:blipFill>
        <p:spPr>
          <a:xfrm>
            <a:off x="1029994" y="6053756"/>
            <a:ext cx="7129437" cy="521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1"/>
          <p:cNvSpPr/>
          <p:nvPr/>
        </p:nvSpPr>
        <p:spPr>
          <a:xfrm>
            <a:off x="790730" y="2524403"/>
            <a:ext cx="18867300" cy="3680100"/>
          </a:xfrm>
          <a:prstGeom prst="roundRect">
            <a:avLst>
              <a:gd fmla="val 769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7" name="Google Shape;1097;p61"/>
          <p:cNvSpPr/>
          <p:nvPr/>
        </p:nvSpPr>
        <p:spPr>
          <a:xfrm>
            <a:off x="1190328" y="4715252"/>
            <a:ext cx="54078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1"/>
          <p:cNvSpPr/>
          <p:nvPr/>
        </p:nvSpPr>
        <p:spPr>
          <a:xfrm>
            <a:off x="4049402" y="3299660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1"/>
          <p:cNvSpPr/>
          <p:nvPr/>
        </p:nvSpPr>
        <p:spPr>
          <a:xfrm>
            <a:off x="1190328" y="3299687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1"/>
          <p:cNvSpPr txBox="1"/>
          <p:nvPr>
            <p:ph idx="4294967295" type="ctrTitle"/>
          </p:nvPr>
        </p:nvSpPr>
        <p:spPr>
          <a:xfrm>
            <a:off x="1029994" y="455969"/>
            <a:ext cx="16862100" cy="17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chemeClr val="dk1"/>
                </a:solidFill>
              </a:rPr>
              <a:t>Продвижение розеток и выключателей</a:t>
            </a:r>
            <a:br>
              <a:rPr lang="ru-RU" sz="5100">
                <a:solidFill>
                  <a:schemeClr val="dk1"/>
                </a:solidFill>
              </a:rPr>
            </a:br>
            <a:r>
              <a:rPr lang="ru-RU" sz="5500">
                <a:solidFill>
                  <a:srgbClr val="FDC300"/>
                </a:solidFill>
              </a:rPr>
              <a:t>Daccord</a:t>
            </a:r>
            <a:r>
              <a:rPr lang="ru-RU" sz="3700">
                <a:solidFill>
                  <a:schemeClr val="dk1"/>
                </a:solidFill>
              </a:rPr>
              <a:t> и </a:t>
            </a:r>
            <a:r>
              <a:rPr lang="ru-RU" sz="5500">
                <a:solidFill>
                  <a:srgbClr val="FDC300"/>
                </a:solidFill>
              </a:rPr>
              <a:t> Lexman</a:t>
            </a:r>
            <a:endParaRPr b="0" sz="2400">
              <a:solidFill>
                <a:srgbClr val="20282B"/>
              </a:solidFill>
            </a:endParaRPr>
          </a:p>
        </p:txBody>
      </p:sp>
      <p:sp>
        <p:nvSpPr>
          <p:cNvPr id="1101" name="Google Shape;1101;p61"/>
          <p:cNvSpPr/>
          <p:nvPr/>
        </p:nvSpPr>
        <p:spPr>
          <a:xfrm>
            <a:off x="1029994" y="2600012"/>
            <a:ext cx="2460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SemiBold"/>
              <a:buNone/>
            </a:pPr>
            <a:r>
              <a:rPr b="1" lang="ru-RU" sz="3100">
                <a:solidFill>
                  <a:schemeClr val="dk1"/>
                </a:solidFill>
              </a:rPr>
              <a:t>Результаты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61"/>
          <p:cNvSpPr txBox="1"/>
          <p:nvPr/>
        </p:nvSpPr>
        <p:spPr>
          <a:xfrm>
            <a:off x="8392705" y="3772833"/>
            <a:ext cx="52305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Таргетинг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1. По целевым поисковым запросам</a:t>
            </a:r>
            <a:endParaRPr sz="1800"/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2. Интерес пользователей к категории «Розетки, выключатели, рамки»  </a:t>
            </a:r>
            <a:endParaRPr sz="1800">
              <a:solidFill>
                <a:srgbClr val="2F3738"/>
              </a:solidFill>
            </a:endParaRPr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3. В карточках конкурентов и в названии которых есть слово «выключатели» или «розетки»</a:t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103" name="Google Shape;1103;p61"/>
          <p:cNvSpPr txBox="1"/>
          <p:nvPr/>
        </p:nvSpPr>
        <p:spPr>
          <a:xfrm>
            <a:off x="3398732" y="2600012"/>
            <a:ext cx="299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за 6 месяцев </a:t>
            </a:r>
            <a:endParaRPr sz="1300"/>
          </a:p>
        </p:txBody>
      </p:sp>
      <p:sp>
        <p:nvSpPr>
          <p:cNvPr id="1104" name="Google Shape;1104;p61"/>
          <p:cNvSpPr txBox="1"/>
          <p:nvPr/>
        </p:nvSpPr>
        <p:spPr>
          <a:xfrm>
            <a:off x="13826296" y="2935104"/>
            <a:ext cx="5230500" cy="3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Форматы рекламы</a:t>
            </a:r>
            <a:br>
              <a:rPr b="1" lang="ru-RU" sz="1800">
                <a:solidFill>
                  <a:srgbClr val="2F3738"/>
                </a:solidFill>
              </a:rPr>
            </a:br>
            <a:r>
              <a:rPr b="1" lang="ru-RU" sz="1800">
                <a:solidFill>
                  <a:srgbClr val="2F3738"/>
                </a:solidFill>
              </a:rPr>
              <a:t>Категория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3 места в выдаче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Карточка товара 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карточках конкурентов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Поиск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места в поисковой выдачи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105" name="Google Shape;1105;p61"/>
          <p:cNvSpPr txBox="1"/>
          <p:nvPr/>
        </p:nvSpPr>
        <p:spPr>
          <a:xfrm>
            <a:off x="8392705" y="2935104"/>
            <a:ext cx="52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Площадк</a:t>
            </a:r>
            <a:r>
              <a:rPr b="1" lang="ru-RU" sz="1800">
                <a:solidFill>
                  <a:srgbClr val="2F3738"/>
                </a:solidFill>
              </a:rPr>
              <a:t>а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Сайт и мобильное приложение Лемана ПРО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1"/>
          <p:cNvSpPr/>
          <p:nvPr/>
        </p:nvSpPr>
        <p:spPr>
          <a:xfrm>
            <a:off x="1190335" y="531463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61"/>
          <p:cNvSpPr/>
          <p:nvPr/>
        </p:nvSpPr>
        <p:spPr>
          <a:xfrm>
            <a:off x="4137401" y="3375929"/>
            <a:ext cx="246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в 2,5 раза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61"/>
          <p:cNvSpPr/>
          <p:nvPr/>
        </p:nvSpPr>
        <p:spPr>
          <a:xfrm>
            <a:off x="4064847" y="390687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доли по двум брендам </a:t>
            </a:r>
            <a:r>
              <a:rPr b="1" lang="ru-RU" sz="1800">
                <a:solidFill>
                  <a:srgbClr val="2F3738"/>
                </a:solidFill>
              </a:rPr>
              <a:t>онлайн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61"/>
          <p:cNvSpPr/>
          <p:nvPr/>
        </p:nvSpPr>
        <p:spPr>
          <a:xfrm>
            <a:off x="1260574" y="3375929"/>
            <a:ext cx="2460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100">
                <a:solidFill>
                  <a:schemeClr val="dk1"/>
                </a:solidFill>
              </a:rPr>
              <a:t>1,5 раза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61"/>
          <p:cNvSpPr/>
          <p:nvPr/>
        </p:nvSpPr>
        <p:spPr>
          <a:xfrm>
            <a:off x="1190325" y="3874225"/>
            <a:ext cx="26970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доли по двум брендам </a:t>
            </a:r>
            <a:r>
              <a:rPr b="1" lang="ru-RU" sz="1800">
                <a:solidFill>
                  <a:srgbClr val="2F3738"/>
                </a:solidFill>
              </a:rPr>
              <a:t>офлайн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61"/>
          <p:cNvSpPr/>
          <p:nvPr/>
        </p:nvSpPr>
        <p:spPr>
          <a:xfrm>
            <a:off x="2027999" y="4867682"/>
            <a:ext cx="38547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13 р. выручки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1"/>
          <p:cNvSpPr/>
          <p:nvPr/>
        </p:nvSpPr>
        <p:spPr>
          <a:xfrm>
            <a:off x="1230075" y="5449425"/>
            <a:ext cx="5368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2000">
                <a:solidFill>
                  <a:srgbClr val="2F3738"/>
                </a:solidFill>
              </a:rPr>
              <a:t>на 1 вложенный рубль рекламы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3" name="Google Shape;1113;p61" title="скрин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8414" y="6567010"/>
            <a:ext cx="6894577" cy="4844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61" title="Скрин мобилка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9699" y="6362518"/>
            <a:ext cx="2080819" cy="421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525" y="7605100"/>
            <a:ext cx="8150098" cy="338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61"/>
          <p:cNvSpPr txBox="1"/>
          <p:nvPr/>
        </p:nvSpPr>
        <p:spPr>
          <a:xfrm>
            <a:off x="925275" y="6793925"/>
            <a:ext cx="9268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700">
                <a:solidFill>
                  <a:srgbClr val="2F3738"/>
                </a:solidFill>
              </a:rPr>
              <a:t>Рост доли промо-товаров в трех категориях </a:t>
            </a:r>
            <a:br>
              <a:rPr b="1" lang="ru-RU">
                <a:solidFill>
                  <a:srgbClr val="2F3738"/>
                </a:solidFill>
              </a:rPr>
            </a:br>
            <a:r>
              <a:rPr b="1" lang="ru-RU">
                <a:solidFill>
                  <a:srgbClr val="2F3738"/>
                </a:solidFill>
              </a:rPr>
              <a:t>(Скрытая проводка, Модульное оборудование, Открытая проводка)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62"/>
          <p:cNvSpPr/>
          <p:nvPr/>
        </p:nvSpPr>
        <p:spPr>
          <a:xfrm>
            <a:off x="790730" y="2524403"/>
            <a:ext cx="18867300" cy="3680100"/>
          </a:xfrm>
          <a:prstGeom prst="roundRect">
            <a:avLst>
              <a:gd fmla="val 769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3" name="Google Shape;1123;p62"/>
          <p:cNvSpPr txBox="1"/>
          <p:nvPr>
            <p:ph idx="4294967295" type="ctrTitle"/>
          </p:nvPr>
        </p:nvSpPr>
        <p:spPr>
          <a:xfrm>
            <a:off x="1029994" y="455969"/>
            <a:ext cx="190737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chemeClr val="dk1"/>
                </a:solidFill>
              </a:rPr>
              <a:t>Продвижение входных дверей </a:t>
            </a:r>
            <a:br>
              <a:rPr lang="ru-RU" sz="5100">
                <a:solidFill>
                  <a:schemeClr val="dk1"/>
                </a:solidFill>
              </a:rPr>
            </a:br>
            <a:r>
              <a:rPr lang="ru-RU" sz="5100">
                <a:solidFill>
                  <a:schemeClr val="dk1"/>
                </a:solidFill>
              </a:rPr>
              <a:t>для квартир и домов </a:t>
            </a:r>
            <a:r>
              <a:rPr lang="ru-RU" sz="5500">
                <a:solidFill>
                  <a:srgbClr val="FDC300"/>
                </a:solidFill>
              </a:rPr>
              <a:t>Torex</a:t>
            </a:r>
            <a:br>
              <a:rPr lang="ru-RU" sz="5100">
                <a:solidFill>
                  <a:schemeClr val="dk1"/>
                </a:solidFill>
              </a:rPr>
            </a:br>
            <a:r>
              <a:rPr lang="ru-RU" sz="5100">
                <a:solidFill>
                  <a:schemeClr val="dk1"/>
                </a:solidFill>
              </a:rPr>
              <a:t> </a:t>
            </a:r>
            <a:endParaRPr b="0" sz="2400">
              <a:solidFill>
                <a:srgbClr val="20282B"/>
              </a:solidFill>
            </a:endParaRPr>
          </a:p>
        </p:txBody>
      </p:sp>
      <p:sp>
        <p:nvSpPr>
          <p:cNvPr id="1124" name="Google Shape;1124;p62"/>
          <p:cNvSpPr/>
          <p:nvPr/>
        </p:nvSpPr>
        <p:spPr>
          <a:xfrm>
            <a:off x="1029994" y="2600012"/>
            <a:ext cx="2460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SemiBold"/>
              <a:buNone/>
            </a:pPr>
            <a:r>
              <a:rPr b="1" lang="ru-RU" sz="3100">
                <a:solidFill>
                  <a:schemeClr val="dk1"/>
                </a:solidFill>
              </a:rPr>
              <a:t>Результаты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62"/>
          <p:cNvSpPr txBox="1"/>
          <p:nvPr/>
        </p:nvSpPr>
        <p:spPr>
          <a:xfrm>
            <a:off x="8392705" y="3772833"/>
            <a:ext cx="52305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Таргетинг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1. По целевым поисковым запросам</a:t>
            </a:r>
            <a:endParaRPr sz="1800"/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2. Интерес пользователей к категории «Входные двери»  </a:t>
            </a:r>
            <a:endParaRPr sz="1800">
              <a:solidFill>
                <a:srgbClr val="2F3738"/>
              </a:solidFill>
            </a:endParaRPr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3. Кто смотрит товары из категории «Входные двери»</a:t>
            </a:r>
            <a:endParaRPr sz="1800">
              <a:solidFill>
                <a:srgbClr val="2F3738"/>
              </a:solidFill>
            </a:endParaRPr>
          </a:p>
          <a:p>
            <a:pPr indent="0" lvl="0" marL="2540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4. В карточках бренда, исключая карточки промо-товаров бренда</a:t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126" name="Google Shape;1126;p62"/>
          <p:cNvSpPr txBox="1"/>
          <p:nvPr/>
        </p:nvSpPr>
        <p:spPr>
          <a:xfrm>
            <a:off x="3398732" y="2600012"/>
            <a:ext cx="299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за 5 месяцев </a:t>
            </a:r>
            <a:endParaRPr sz="1300"/>
          </a:p>
        </p:txBody>
      </p:sp>
      <p:sp>
        <p:nvSpPr>
          <p:cNvPr id="1127" name="Google Shape;1127;p62"/>
          <p:cNvSpPr txBox="1"/>
          <p:nvPr/>
        </p:nvSpPr>
        <p:spPr>
          <a:xfrm>
            <a:off x="13826296" y="2935104"/>
            <a:ext cx="52305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Форматы рекламы</a:t>
            </a:r>
            <a:br>
              <a:rPr b="1" lang="ru-RU" sz="1800">
                <a:solidFill>
                  <a:srgbClr val="2F3738"/>
                </a:solidFill>
              </a:rPr>
            </a:br>
            <a:r>
              <a:rPr b="1" lang="ru-RU" sz="1800">
                <a:solidFill>
                  <a:srgbClr val="2F3738"/>
                </a:solidFill>
              </a:rPr>
              <a:t>Категория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3 места в выдаче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Карточка товара 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карточках конкурентов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карточках бренда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Поиск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места в поисковой выдачи</a:t>
            </a: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128" name="Google Shape;1128;p62"/>
          <p:cNvSpPr txBox="1"/>
          <p:nvPr/>
        </p:nvSpPr>
        <p:spPr>
          <a:xfrm>
            <a:off x="8392705" y="2935104"/>
            <a:ext cx="523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Площадк</a:t>
            </a:r>
            <a:r>
              <a:rPr b="1" lang="ru-RU" sz="1800">
                <a:solidFill>
                  <a:srgbClr val="2F3738"/>
                </a:solidFill>
              </a:rPr>
              <a:t>а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Сайт и мобильное приложение Лемана ПРО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62"/>
          <p:cNvSpPr/>
          <p:nvPr/>
        </p:nvSpPr>
        <p:spPr>
          <a:xfrm>
            <a:off x="1190335" y="5314636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0" name="Google Shape;1130;p62" title="Group 20873266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6593" y="6701207"/>
            <a:ext cx="6399938" cy="4500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62" title="Group 20873266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7230" y="6212105"/>
            <a:ext cx="2460905" cy="4680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62"/>
          <p:cNvSpPr/>
          <p:nvPr/>
        </p:nvSpPr>
        <p:spPr>
          <a:xfrm>
            <a:off x="4064850" y="4762225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2"/>
          <p:cNvSpPr/>
          <p:nvPr/>
        </p:nvSpPr>
        <p:spPr>
          <a:xfrm>
            <a:off x="4049400" y="3299650"/>
            <a:ext cx="2700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2"/>
          <p:cNvSpPr/>
          <p:nvPr/>
        </p:nvSpPr>
        <p:spPr>
          <a:xfrm>
            <a:off x="1190328" y="3299687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62"/>
          <p:cNvSpPr/>
          <p:nvPr/>
        </p:nvSpPr>
        <p:spPr>
          <a:xfrm>
            <a:off x="4049622" y="4899344"/>
            <a:ext cx="2601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в 588 раз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2"/>
          <p:cNvSpPr/>
          <p:nvPr/>
        </p:nvSpPr>
        <p:spPr>
          <a:xfrm>
            <a:off x="4049402" y="5388789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GMV </a:t>
            </a:r>
            <a:r>
              <a:rPr b="1" lang="ru-RU" sz="1800">
                <a:solidFill>
                  <a:srgbClr val="2F3738"/>
                </a:solidFill>
              </a:rPr>
              <a:t>офлайн 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2"/>
          <p:cNvSpPr/>
          <p:nvPr/>
        </p:nvSpPr>
        <p:spPr>
          <a:xfrm>
            <a:off x="4049402" y="3485593"/>
            <a:ext cx="2700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19 р. выручи</a:t>
            </a:r>
            <a:endParaRPr b="1" sz="3100">
              <a:solidFill>
                <a:schemeClr val="dk1"/>
              </a:solidFill>
            </a:endParaRPr>
          </a:p>
        </p:txBody>
      </p:sp>
      <p:sp>
        <p:nvSpPr>
          <p:cNvPr id="1138" name="Google Shape;1138;p62"/>
          <p:cNvSpPr/>
          <p:nvPr/>
        </p:nvSpPr>
        <p:spPr>
          <a:xfrm>
            <a:off x="1190328" y="4807601"/>
            <a:ext cx="2601300" cy="12672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2"/>
          <p:cNvSpPr/>
          <p:nvPr/>
        </p:nvSpPr>
        <p:spPr>
          <a:xfrm>
            <a:off x="1190328" y="4899317"/>
            <a:ext cx="26013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в 333 раза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2"/>
          <p:cNvSpPr/>
          <p:nvPr/>
        </p:nvSpPr>
        <p:spPr>
          <a:xfrm>
            <a:off x="1190335" y="5388789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прирост GMV </a:t>
            </a:r>
            <a:r>
              <a:rPr b="1" lang="ru-RU" sz="1800">
                <a:solidFill>
                  <a:srgbClr val="2F3738"/>
                </a:solidFill>
              </a:rPr>
              <a:t>онлайн </a:t>
            </a:r>
            <a:br>
              <a:rPr b="1"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2"/>
          <p:cNvSpPr/>
          <p:nvPr/>
        </p:nvSpPr>
        <p:spPr>
          <a:xfrm>
            <a:off x="1534191" y="3360236"/>
            <a:ext cx="1782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100">
                <a:solidFill>
                  <a:schemeClr val="dk1"/>
                </a:solidFill>
              </a:rPr>
              <a:t>в 2 раза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2"/>
          <p:cNvSpPr/>
          <p:nvPr/>
        </p:nvSpPr>
        <p:spPr>
          <a:xfrm>
            <a:off x="1190328" y="3842040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увеличение показов карточек товаров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2"/>
          <p:cNvSpPr/>
          <p:nvPr/>
        </p:nvSpPr>
        <p:spPr>
          <a:xfrm>
            <a:off x="4064847" y="3975038"/>
            <a:ext cx="26013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1800">
                <a:solidFill>
                  <a:srgbClr val="2F3738"/>
                </a:solidFill>
              </a:rPr>
              <a:t>на 1 вложенный рубль 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в рекламу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2"/>
          <p:cNvSpPr txBox="1"/>
          <p:nvPr/>
        </p:nvSpPr>
        <p:spPr>
          <a:xfrm>
            <a:off x="847325" y="6300375"/>
            <a:ext cx="8895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25" lIns="201025" spcFirstLastPara="1" rIns="201025" wrap="square" tIns="201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</a:rPr>
              <a:t>Сравнение GMV по промо-товарам в двух категориях (от года к году)</a:t>
            </a:r>
            <a:endParaRPr sz="2400"/>
          </a:p>
        </p:txBody>
      </p:sp>
      <p:pic>
        <p:nvPicPr>
          <p:cNvPr id="1145" name="Google Shape;114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200" y="7423915"/>
            <a:ext cx="8288742" cy="346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3"/>
          <p:cNvSpPr/>
          <p:nvPr/>
        </p:nvSpPr>
        <p:spPr>
          <a:xfrm>
            <a:off x="1275689" y="4604655"/>
            <a:ext cx="8688600" cy="6507900"/>
          </a:xfrm>
          <a:prstGeom prst="roundRect">
            <a:avLst>
              <a:gd fmla="val 769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Google Shape;1152;p63"/>
          <p:cNvSpPr/>
          <p:nvPr/>
        </p:nvSpPr>
        <p:spPr>
          <a:xfrm>
            <a:off x="8226829" y="2938832"/>
            <a:ext cx="2931900" cy="14373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63"/>
          <p:cNvSpPr/>
          <p:nvPr/>
        </p:nvSpPr>
        <p:spPr>
          <a:xfrm>
            <a:off x="11459327" y="2938815"/>
            <a:ext cx="3204300" cy="14373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63"/>
          <p:cNvSpPr/>
          <p:nvPr/>
        </p:nvSpPr>
        <p:spPr>
          <a:xfrm>
            <a:off x="1275700" y="2938825"/>
            <a:ext cx="2931900" cy="14373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3"/>
          <p:cNvSpPr txBox="1"/>
          <p:nvPr>
            <p:ph idx="4294967295" type="ctrTitle"/>
          </p:nvPr>
        </p:nvSpPr>
        <p:spPr>
          <a:xfrm>
            <a:off x="1110903" y="623515"/>
            <a:ext cx="189933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900">
                <a:solidFill>
                  <a:schemeClr val="dk1"/>
                </a:solidFill>
              </a:rPr>
              <a:t>Продвижение монтажных пен</a:t>
            </a:r>
            <a:endParaRPr sz="5900">
              <a:solidFill>
                <a:schemeClr val="dk1"/>
              </a:solidFill>
            </a:endParaRPr>
          </a:p>
        </p:txBody>
      </p:sp>
      <p:sp>
        <p:nvSpPr>
          <p:cNvPr id="1156" name="Google Shape;1156;p63"/>
          <p:cNvSpPr/>
          <p:nvPr/>
        </p:nvSpPr>
        <p:spPr>
          <a:xfrm>
            <a:off x="1275711" y="2243825"/>
            <a:ext cx="30975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Результаты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3"/>
          <p:cNvSpPr/>
          <p:nvPr/>
        </p:nvSpPr>
        <p:spPr>
          <a:xfrm>
            <a:off x="1610768" y="3142600"/>
            <a:ext cx="2460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в 2 раза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63"/>
          <p:cNvSpPr/>
          <p:nvPr/>
        </p:nvSpPr>
        <p:spPr>
          <a:xfrm>
            <a:off x="1610759" y="3724346"/>
            <a:ext cx="2762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2000">
                <a:solidFill>
                  <a:srgbClr val="2F3738"/>
                </a:solidFill>
              </a:rPr>
              <a:t>Увеличение показов </a:t>
            </a:r>
            <a:br>
              <a:rPr lang="ru-RU" sz="2000">
                <a:solidFill>
                  <a:srgbClr val="2F3738"/>
                </a:solidFill>
              </a:rPr>
            </a:br>
            <a:r>
              <a:rPr lang="ru-RU" sz="2000">
                <a:solidFill>
                  <a:srgbClr val="2F3738"/>
                </a:solidFill>
              </a:rPr>
              <a:t>товара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63"/>
          <p:cNvSpPr/>
          <p:nvPr/>
        </p:nvSpPr>
        <p:spPr>
          <a:xfrm>
            <a:off x="8561897" y="3159833"/>
            <a:ext cx="17472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41,7%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3"/>
          <p:cNvSpPr/>
          <p:nvPr/>
        </p:nvSpPr>
        <p:spPr>
          <a:xfrm>
            <a:off x="8561887" y="3665383"/>
            <a:ext cx="3097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2000">
                <a:solidFill>
                  <a:srgbClr val="2F3738"/>
                </a:solidFill>
              </a:rPr>
              <a:t>Рост GMV онлайн </a:t>
            </a:r>
            <a:br>
              <a:rPr lang="ru-RU" sz="2000">
                <a:solidFill>
                  <a:srgbClr val="2F3738"/>
                </a:solidFill>
              </a:rPr>
            </a:br>
            <a:r>
              <a:rPr lang="ru-RU" sz="20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63"/>
          <p:cNvSpPr/>
          <p:nvPr/>
        </p:nvSpPr>
        <p:spPr>
          <a:xfrm>
            <a:off x="11825636" y="3159833"/>
            <a:ext cx="14556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12,3%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3"/>
          <p:cNvSpPr/>
          <p:nvPr/>
        </p:nvSpPr>
        <p:spPr>
          <a:xfrm>
            <a:off x="11825637" y="3665383"/>
            <a:ext cx="24609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2000">
                <a:solidFill>
                  <a:srgbClr val="2F3738"/>
                </a:solidFill>
              </a:rPr>
              <a:t>Рост GMV офлайн </a:t>
            </a:r>
            <a:br>
              <a:rPr lang="ru-RU" sz="2000">
                <a:solidFill>
                  <a:srgbClr val="2F3738"/>
                </a:solidFill>
              </a:rPr>
            </a:br>
            <a:r>
              <a:rPr lang="ru-RU" sz="2000">
                <a:solidFill>
                  <a:srgbClr val="2F3738"/>
                </a:solidFill>
              </a:rPr>
              <a:t>от года к году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63"/>
          <p:cNvSpPr txBox="1"/>
          <p:nvPr/>
        </p:nvSpPr>
        <p:spPr>
          <a:xfrm>
            <a:off x="1493792" y="6590799"/>
            <a:ext cx="4762200" cy="27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Форматы</a:t>
            </a:r>
            <a:endParaRPr b="1" sz="1800">
              <a:solidFill>
                <a:srgbClr val="2F373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Поиск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места 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в поисковой выдаче 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блоке "Рекомендации для вас"</a:t>
            </a:r>
            <a:br>
              <a:rPr lang="ru-RU" sz="1800">
                <a:solidFill>
                  <a:srgbClr val="2F3738"/>
                </a:solidFill>
              </a:rPr>
            </a:br>
            <a:endParaRPr sz="1800">
              <a:solidFill>
                <a:srgbClr val="2F37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Карточка товара</a:t>
            </a:r>
            <a:endParaRPr b="1"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</a:t>
            </a:r>
            <a:br>
              <a:rPr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в карточках конкурентов</a:t>
            </a:r>
            <a:endParaRPr sz="1800">
              <a:solidFill>
                <a:srgbClr val="2F3738"/>
              </a:solidFill>
            </a:endParaRPr>
          </a:p>
        </p:txBody>
      </p:sp>
      <p:sp>
        <p:nvSpPr>
          <p:cNvPr id="1164" name="Google Shape;1164;p63"/>
          <p:cNvSpPr txBox="1"/>
          <p:nvPr/>
        </p:nvSpPr>
        <p:spPr>
          <a:xfrm>
            <a:off x="1493776" y="5861348"/>
            <a:ext cx="915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Площадки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Сайт и мобильное приложение Лемана ПРО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63"/>
          <p:cNvSpPr txBox="1"/>
          <p:nvPr/>
        </p:nvSpPr>
        <p:spPr>
          <a:xfrm>
            <a:off x="1610755" y="9565014"/>
            <a:ext cx="6951300" cy="15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Таргетинг</a:t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ru-RU" sz="1800">
                <a:solidFill>
                  <a:srgbClr val="2F3738"/>
                </a:solidFill>
              </a:rPr>
              <a:t>По целевым поисковым запросам:пена, монтажная пена</a:t>
            </a:r>
            <a:endParaRPr sz="1800"/>
          </a:p>
          <a:p>
            <a:pPr indent="0" lvl="0" marL="2540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2F3738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ru-RU" sz="1800">
                <a:solidFill>
                  <a:srgbClr val="2F3738"/>
                </a:solidFill>
              </a:rPr>
              <a:t>Интерес пользователей к категории «Монтажные пены»  </a:t>
            </a:r>
            <a:endParaRPr sz="1800">
              <a:solidFill>
                <a:srgbClr val="2F3738"/>
              </a:solidFill>
            </a:endParaRPr>
          </a:p>
          <a:p>
            <a:pPr indent="0" lvl="0" marL="2540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F3738"/>
                </a:solidFill>
              </a:rPr>
              <a:t>3. Во всех карточках монтажных пен конкурентов</a:t>
            </a:r>
            <a:endParaRPr sz="1800">
              <a:solidFill>
                <a:srgbClr val="2F3738"/>
              </a:solidFill>
            </a:endParaRPr>
          </a:p>
          <a:p>
            <a:pPr indent="0" lvl="0" marL="2540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63"/>
          <p:cNvSpPr txBox="1"/>
          <p:nvPr/>
        </p:nvSpPr>
        <p:spPr>
          <a:xfrm>
            <a:off x="3733788" y="2286001"/>
            <a:ext cx="397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2F3738"/>
                </a:solidFill>
              </a:rPr>
              <a:t>за 4 месяца (март-июнь 2025)</a:t>
            </a:r>
            <a:endParaRPr sz="1300"/>
          </a:p>
        </p:txBody>
      </p:sp>
      <p:sp>
        <p:nvSpPr>
          <p:cNvPr id="1167" name="Google Shape;1167;p63"/>
          <p:cNvSpPr txBox="1"/>
          <p:nvPr/>
        </p:nvSpPr>
        <p:spPr>
          <a:xfrm>
            <a:off x="1405215" y="4959689"/>
            <a:ext cx="784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Инструмент</a:t>
            </a:r>
            <a:br>
              <a:rPr b="1" lang="ru-RU" sz="1800">
                <a:solidFill>
                  <a:srgbClr val="2F3738"/>
                </a:solidFill>
              </a:rPr>
            </a:br>
            <a:r>
              <a:rPr lang="ru-RU" sz="1800">
                <a:solidFill>
                  <a:srgbClr val="2F3738"/>
                </a:solidFill>
              </a:rPr>
              <a:t>Рекламный кабинет Лемана ПРО</a:t>
            </a:r>
            <a:endParaRPr sz="1800"/>
          </a:p>
        </p:txBody>
      </p:sp>
      <p:sp>
        <p:nvSpPr>
          <p:cNvPr id="1168" name="Google Shape;1168;p63"/>
          <p:cNvSpPr/>
          <p:nvPr/>
        </p:nvSpPr>
        <p:spPr>
          <a:xfrm>
            <a:off x="4508183" y="2938825"/>
            <a:ext cx="3282000" cy="1437300"/>
          </a:xfrm>
          <a:prstGeom prst="roundRect">
            <a:avLst>
              <a:gd fmla="val 20136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75350" lIns="75350" spcFirstLastPara="1" rIns="75350" wrap="square" tIns="75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3"/>
          <p:cNvSpPr/>
          <p:nvPr/>
        </p:nvSpPr>
        <p:spPr>
          <a:xfrm>
            <a:off x="4708658" y="3233010"/>
            <a:ext cx="2931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2400"/>
              <a:buFont typeface="Montserrat SemiBold"/>
              <a:buNone/>
            </a:pPr>
            <a:r>
              <a:rPr b="1" lang="ru-RU" sz="3300">
                <a:solidFill>
                  <a:schemeClr val="dk1"/>
                </a:solidFill>
              </a:rPr>
              <a:t>16 р. выручки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63"/>
          <p:cNvSpPr/>
          <p:nvPr/>
        </p:nvSpPr>
        <p:spPr>
          <a:xfrm>
            <a:off x="4738887" y="3814770"/>
            <a:ext cx="2762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4B"/>
              </a:buClr>
              <a:buSzPts val="1800"/>
              <a:buFont typeface="Montserrat Medium"/>
              <a:buNone/>
            </a:pPr>
            <a:r>
              <a:rPr lang="ru-RU" sz="2000">
                <a:solidFill>
                  <a:srgbClr val="2F3738"/>
                </a:solidFill>
              </a:rPr>
              <a:t>на 1 рубль рекламы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63"/>
          <p:cNvSpPr txBox="1"/>
          <p:nvPr/>
        </p:nvSpPr>
        <p:spPr>
          <a:xfrm>
            <a:off x="5844293" y="6758345"/>
            <a:ext cx="42918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25" lIns="201025" spcFirstLastPara="1" rIns="201025" wrap="square" tIns="201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2F3738"/>
                </a:solidFill>
              </a:rPr>
              <a:t>Категория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Продвижение в блоке "Рекомендации для вас"</a:t>
            </a:r>
            <a:endParaRPr sz="1800">
              <a:solidFill>
                <a:srgbClr val="2F3738"/>
              </a:solidFill>
            </a:endParaRPr>
          </a:p>
          <a:p>
            <a:pPr indent="-609600" lvl="0" marL="1003300" rtl="0" algn="l">
              <a:spcBef>
                <a:spcPts val="0"/>
              </a:spcBef>
              <a:spcAft>
                <a:spcPts val="0"/>
              </a:spcAft>
              <a:buClr>
                <a:srgbClr val="2F3738"/>
              </a:buClr>
              <a:buSzPts val="1800"/>
              <a:buChar char="-"/>
            </a:pPr>
            <a:r>
              <a:rPr lang="ru-RU" sz="1800">
                <a:solidFill>
                  <a:srgbClr val="2F3738"/>
                </a:solidFill>
              </a:rPr>
              <a:t>Первые места в выдаче</a:t>
            </a:r>
            <a:endParaRPr sz="1800"/>
          </a:p>
        </p:txBody>
      </p:sp>
      <p:pic>
        <p:nvPicPr>
          <p:cNvPr id="1172" name="Google Shape;1172;p63" title="Скрин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072" y="4772217"/>
            <a:ext cx="8783852" cy="6171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64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8" name="Google Shape;117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64"/>
          <p:cNvSpPr txBox="1"/>
          <p:nvPr>
            <p:ph type="ctrTitle"/>
          </p:nvPr>
        </p:nvSpPr>
        <p:spPr>
          <a:xfrm>
            <a:off x="1110892" y="623515"/>
            <a:ext cx="11389430" cy="218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9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Как получить доступ в Рекламный кабинет</a:t>
            </a:r>
            <a:endParaRPr/>
          </a:p>
        </p:txBody>
      </p:sp>
      <p:pic>
        <p:nvPicPr>
          <p:cNvPr id="1180" name="Google Shape;118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64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5"/>
          <p:cNvSpPr/>
          <p:nvPr/>
        </p:nvSpPr>
        <p:spPr>
          <a:xfrm>
            <a:off x="10268074" y="5375354"/>
            <a:ext cx="4392487" cy="59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65"/>
          <p:cNvSpPr/>
          <p:nvPr/>
        </p:nvSpPr>
        <p:spPr>
          <a:xfrm>
            <a:off x="2062100" y="5392460"/>
            <a:ext cx="5781617" cy="59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65"/>
          <p:cNvSpPr txBox="1"/>
          <p:nvPr>
            <p:ph type="ctrTitle"/>
          </p:nvPr>
        </p:nvSpPr>
        <p:spPr>
          <a:xfrm>
            <a:off x="1110892" y="623515"/>
            <a:ext cx="168621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u="none" strike="noStrike"/>
              <a:t>Доступ в </a:t>
            </a:r>
            <a:r>
              <a:rPr lang="ru-RU"/>
              <a:t>Р</a:t>
            </a:r>
            <a:r>
              <a:rPr b="1" i="0" lang="ru-RU" u="none" strike="noStrike"/>
              <a:t>екламный кабинет</a:t>
            </a:r>
            <a:endParaRPr/>
          </a:p>
        </p:txBody>
      </p:sp>
      <p:sp>
        <p:nvSpPr>
          <p:cNvPr id="1189" name="Google Shape;1189;p65"/>
          <p:cNvSpPr txBox="1"/>
          <p:nvPr>
            <p:ph idx="12" type="sldNum"/>
          </p:nvPr>
        </p:nvSpPr>
        <p:spPr>
          <a:xfrm>
            <a:off x="16418336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90" name="Google Shape;1190;p65"/>
          <p:cNvSpPr txBox="1"/>
          <p:nvPr/>
        </p:nvSpPr>
        <p:spPr>
          <a:xfrm>
            <a:off x="1145317" y="5369545"/>
            <a:ext cx="696251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действующих поставщиков: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65"/>
          <p:cNvSpPr txBox="1"/>
          <p:nvPr/>
        </p:nvSpPr>
        <p:spPr>
          <a:xfrm>
            <a:off x="1169325" y="6374750"/>
            <a:ext cx="8110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Перейти в рекламный кабинет </a:t>
            </a:r>
            <a:b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 можете по ссылке </a:t>
            </a:r>
            <a:r>
              <a:rPr b="0" i="0" lang="ru-RU" sz="3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https://lemanapro.ru/promotion/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входа в рекламный кабинет вам нужен доступ в Портал поставщика. Если у вас нет доступа к Порталу поставщика, обратитесь </a:t>
            </a:r>
            <a:r>
              <a:rPr b="0" i="1" lang="ru-RU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к администратору в вашей компании</a:t>
            </a:r>
            <a:br>
              <a:rPr i="1" lang="ru-RU" sz="1800">
                <a:solidFill>
                  <a:schemeClr val="dk1"/>
                </a:solidFill>
              </a:rPr>
            </a:br>
            <a:r>
              <a:rPr b="0" i="1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или</a:t>
            </a:r>
            <a:r>
              <a:rPr b="0" i="1" lang="ru-RU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i="1" lang="ru-RU" sz="1800" u="sng">
                <a:solidFill>
                  <a:schemeClr val="hlink"/>
                </a:solidFill>
                <a:hlinkClick r:id="rId6"/>
              </a:rPr>
              <a:t>заполните форму для </a:t>
            </a:r>
            <a:r>
              <a:rPr b="0" i="1" lang="ru-RU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обращения в поддержку</a:t>
            </a:r>
            <a:r>
              <a:rPr i="1" lang="ru-RU" sz="1800" u="sng">
                <a:solidFill>
                  <a:schemeClr val="hlink"/>
                </a:solidFill>
                <a:hlinkClick r:id="rId8"/>
              </a:rPr>
              <a:t> </a:t>
            </a:r>
            <a:r>
              <a:rPr b="0" i="1" lang="ru-RU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портала партнёра</a:t>
            </a:r>
            <a:r>
              <a:rPr b="0" i="1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b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5"/>
          <p:cNvSpPr txBox="1"/>
          <p:nvPr/>
        </p:nvSpPr>
        <p:spPr>
          <a:xfrm>
            <a:off x="9404249" y="5366643"/>
            <a:ext cx="54723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Для рекламных агентств: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65"/>
          <p:cNvSpPr txBox="1"/>
          <p:nvPr/>
        </p:nvSpPr>
        <p:spPr>
          <a:xfrm>
            <a:off x="9404249" y="6374755"/>
            <a:ext cx="943277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 вы продвигаете товары, которые продаются на Лемана Про, для вас доступен запуск рекламы.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4" name="Google Shape;1194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7034" y="3182114"/>
            <a:ext cx="2245675" cy="224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1691" y="3035707"/>
            <a:ext cx="2245675" cy="224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65"/>
          <p:cNvSpPr txBox="1"/>
          <p:nvPr/>
        </p:nvSpPr>
        <p:spPr>
          <a:xfrm>
            <a:off x="9404249" y="7808895"/>
            <a:ext cx="943277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 можете получить доступ в рекламный кабинет через вашего клиента, компанию, которая продает свои товары на Лемана Про.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6"/>
          <p:cNvSpPr/>
          <p:nvPr/>
        </p:nvSpPr>
        <p:spPr>
          <a:xfrm>
            <a:off x="10700122" y="-39302"/>
            <a:ext cx="9403978" cy="11393606"/>
          </a:xfrm>
          <a:prstGeom prst="rect">
            <a:avLst/>
          </a:prstGeom>
          <a:solidFill>
            <a:srgbClr val="2F37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077" y="-39302"/>
            <a:ext cx="19075483" cy="1139360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66"/>
          <p:cNvSpPr txBox="1"/>
          <p:nvPr>
            <p:ph type="ctrTitle"/>
          </p:nvPr>
        </p:nvSpPr>
        <p:spPr>
          <a:xfrm>
            <a:off x="1110892" y="623515"/>
            <a:ext cx="10813366" cy="1525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12700" marR="5080" rtl="0" algn="l">
              <a:lnSpc>
                <a:spcPct val="141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Контакты для связи</a:t>
            </a:r>
            <a:endParaRPr>
              <a:solidFill>
                <a:srgbClr val="2F37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4" name="Google Shape;120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050" y="9615115"/>
            <a:ext cx="2753682" cy="70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66"/>
          <p:cNvSpPr txBox="1"/>
          <p:nvPr>
            <p:ph idx="12" type="sldNum"/>
          </p:nvPr>
        </p:nvSpPr>
        <p:spPr>
          <a:xfrm>
            <a:off x="16574400" y="10511084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06" name="Google Shape;1206;p66"/>
          <p:cNvSpPr txBox="1"/>
          <p:nvPr/>
        </p:nvSpPr>
        <p:spPr>
          <a:xfrm>
            <a:off x="1110892" y="2690618"/>
            <a:ext cx="108135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sng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promo_support@le</a:t>
            </a:r>
            <a:r>
              <a:rPr b="1" lang="ru-RU" sz="4400" u="sng">
                <a:solidFill>
                  <a:srgbClr val="0B0B0B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manapro</a:t>
            </a:r>
            <a:r>
              <a:rPr b="1" i="0" lang="ru-RU" sz="4400" u="sng" cap="none" strike="noStrike">
                <a:solidFill>
                  <a:srgbClr val="0B0B0B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.ru</a:t>
            </a:r>
            <a:endParaRPr b="1" i="0" sz="4400" u="none" cap="none" strike="noStrike">
              <a:solidFill>
                <a:srgbClr val="0B0B0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Пользовательские 1">
      <a:dk1>
        <a:srgbClr val="20282B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