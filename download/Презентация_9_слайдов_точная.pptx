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60000" y="396000"/>
            <a:ext cx="900000" cy="72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000" y="288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F47629"/>
                </a:solidFill>
                <a:latin typeface="Arial"/>
              </a:rPr>
              <a:t>EMPILS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80000" cy="685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Arial"/>
              </a:rPr>
              <a:t>[Фото резервуарного парка]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20000" y="2160000"/>
            <a:ext cx="46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47629"/>
                </a:solidFill>
                <a:latin typeface="Arial"/>
              </a:rPr>
              <a:t>2 900 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0000" y="3240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rial"/>
              </a:rPr>
              <a:t>Автоматизированный резервуарный парк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0000" y="3960000"/>
            <a:ext cx="46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</a:rPr>
              <a:t>Собственный резервуарный парк сырья гарантирует дистрибьюторам бесперебойные поставки — мы выполняем обязательства независимо от внешних факторов.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60000" y="396000"/>
            <a:ext cx="900000" cy="72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000" y="288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F47629"/>
                </a:solidFill>
                <a:latin typeface="Arial"/>
              </a:rPr>
              <a:t>EMPILS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252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47629"/>
                </a:solidFill>
                <a:latin typeface="Arial"/>
              </a:rPr>
              <a:t>ГЕОГРАФИЯ БИЗНЕСА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360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Дистрибуция в России и экспорт в страны СНГ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60000" y="396000"/>
            <a:ext cx="900000" cy="72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000" y="288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F47629"/>
                </a:solidFill>
                <a:latin typeface="Arial"/>
              </a:rPr>
              <a:t>EMPILS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234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7629"/>
                </a:solidFill>
                <a:latin typeface="Arial"/>
              </a:rPr>
              <a:t>АССОРТИМЕНТ
И ЦЕНОВОЕ
ПОЗИЦИОНИРОВАНИЕ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432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11 брендов · от эконом до премиум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60000" y="396000"/>
            <a:ext cx="900000" cy="72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000" y="288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F47629"/>
                </a:solidFill>
                <a:latin typeface="Arial"/>
              </a:rPr>
              <a:t>EMPILS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80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13131"/>
                </a:solidFill>
                <a:latin typeface="Arial"/>
              </a:rPr>
              <a:t>АССОРТИМЕНТНАЯ МАТРИЦА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11 брендов · от эконом до премиум · полный спектр ЛКМ для любых поверхностей и задач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" y="1007999"/>
            <a:ext cx="2736000" cy="23400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1061999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13131"/>
                </a:solidFill>
                <a:latin typeface="Arial"/>
              </a:rPr>
              <a:t>AVANTGARDE</a:t>
            </a:r>
          </a:p>
          <a:p>
            <a:r>
              <a:rPr sz="800" b="1">
                <a:solidFill>
                  <a:srgbClr val="F47629"/>
                </a:solidFill>
                <a:latin typeface="Arial"/>
              </a:rPr>
              <a:t>ПРЕМИУМ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439999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511998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Гибридные технологии: экологичность водных + износостойкость органических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907999"/>
            <a:ext cx="259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Краска интерьерная моющаяся (база A/C)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Краска для фасадов (база A/C)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Лак яхтный / паркетный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32000" y="1007999"/>
            <a:ext cx="2736000" cy="2340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4000" y="1061999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13131"/>
                </a:solidFill>
                <a:latin typeface="Arial"/>
              </a:rPr>
              <a:t>NEWTONE</a:t>
            </a:r>
          </a:p>
          <a:p>
            <a:r>
              <a:rPr sz="800" b="1">
                <a:solidFill>
                  <a:srgbClr val="F47629"/>
                </a:solidFill>
                <a:latin typeface="Arial"/>
              </a:rPr>
              <a:t>СРЕДНИЙ+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4000" y="1439999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4000" y="1511998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Передовые технологии и современные материалы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4000" y="1907999"/>
            <a:ext cx="259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Краска интерьерная / фасадная (база A/C)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Грунтовка глубокого проникновения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Шпатлёвка суперфинишная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6000" y="1007999"/>
            <a:ext cx="2736000" cy="23400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48000" y="1061999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13131"/>
                </a:solidFill>
                <a:latin typeface="Arial"/>
              </a:rPr>
              <a:t>ОРЕОЛ</a:t>
            </a:r>
          </a:p>
          <a:p>
            <a:r>
              <a:rPr sz="800" b="1">
                <a:solidFill>
                  <a:srgbClr val="F47629"/>
                </a:solidFill>
                <a:latin typeface="Arial"/>
              </a:rPr>
              <a:t>СРЕДНИЙ+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48000" y="1439999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48000" y="1511998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Краски, лаки, грунтовки — надёжный помощник в ремонте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8000" y="1907999"/>
            <a:ext cx="259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Краска для стен и потолков моющаяся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Краска для плит OSB / фасадная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Грунтовка бетоноконтакт / шпатлёвка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Клей, олифа, растворитель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0000" y="1007999"/>
            <a:ext cx="2736000" cy="2340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92000" y="1061999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13131"/>
                </a:solidFill>
                <a:latin typeface="Arial"/>
              </a:rPr>
              <a:t>TITAN</a:t>
            </a:r>
          </a:p>
          <a:p>
            <a:r>
              <a:rPr sz="800" b="1">
                <a:solidFill>
                  <a:srgbClr val="F47629"/>
                </a:solidFill>
                <a:latin typeface="Arial"/>
              </a:rPr>
              <a:t>СРЕДНИЙ+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92000" y="1439999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92000" y="1511998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Грунт-эмаль 3в1 — грунт + эмаль + преобразователь ржавчины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2000" y="1907999"/>
            <a:ext cx="259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3в1 по ржавчине (10 цветов, RAL)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Быстросохнущая матовая (7 цветов)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Молотковая алкидно-стирольная (6 цветов)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«Красишь 1 раз — служит 10 лет»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00" y="3455999"/>
            <a:ext cx="2736000" cy="2340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0000" y="3509999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13131"/>
                </a:solidFill>
                <a:latin typeface="Arial"/>
              </a:rPr>
              <a:t>PROFIWOOD</a:t>
            </a:r>
          </a:p>
          <a:p>
            <a:r>
              <a:rPr sz="800" b="1">
                <a:solidFill>
                  <a:srgbClr val="F47629"/>
                </a:solidFill>
                <a:latin typeface="Arial"/>
              </a:rPr>
              <a:t>СРЕДНИЙ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000" y="3887999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000" y="3959998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Профессиональная защита и декор древесины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4355999"/>
            <a:ext cx="259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Антисептик кроющий / лаковый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Защитно-декоративные покрытия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Лак паркетный / по дереву и камню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Огнебиозащитные составы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32000" y="3455999"/>
            <a:ext cx="2736000" cy="2340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4000" y="3509999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13131"/>
                </a:solidFill>
                <a:latin typeface="Arial"/>
              </a:rPr>
              <a:t>РАСЦВЕТ</a:t>
            </a:r>
          </a:p>
          <a:p>
            <a:r>
              <a:rPr sz="800" b="1">
                <a:solidFill>
                  <a:srgbClr val="F47629"/>
                </a:solidFill>
                <a:latin typeface="Arial"/>
              </a:rPr>
              <a:t>СРЕДНИЙ / ЭКОНОМ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4000" y="3887999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4000" y="3959998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Классические ЛКМ по ГОСТ — эмали, грунт-эмали, грунтовки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4000" y="4355999"/>
            <a:ext cx="259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Эмаль ПФ-115 (ГОСТ)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Грунт-эмаль по ржавчине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Эмаль с молотковым эффектом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Грунтовка ГФ-021 / растворители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76000" y="3455999"/>
            <a:ext cx="2736000" cy="2340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48000" y="3509999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13131"/>
                </a:solidFill>
                <a:latin typeface="Arial"/>
              </a:rPr>
              <a:t>ОПТИМА</a:t>
            </a:r>
          </a:p>
          <a:p>
            <a:r>
              <a:rPr sz="800" b="1">
                <a:solidFill>
                  <a:srgbClr val="F47629"/>
                </a:solidFill>
                <a:latin typeface="Arial"/>
              </a:rPr>
              <a:t>ЭКСПОРТ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48000" y="3887999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48000" y="3959998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Покрытия на органической основе для стран ближнего зарубежья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48000" y="4355999"/>
            <a:ext cx="259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Эмали цветные (яркие оттенки)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Грунтовка ГФ-021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Грунт-эмали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Оптимальное соотношение цены и качества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0000" y="3455999"/>
            <a:ext cx="2736000" cy="2340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92000" y="3509999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13131"/>
                </a:solidFill>
                <a:latin typeface="Arial"/>
              </a:rPr>
              <a:t>ОРЕОЛ Дисконт</a:t>
            </a:r>
          </a:p>
          <a:p>
            <a:r>
              <a:rPr sz="800" b="1">
                <a:solidFill>
                  <a:srgbClr val="F47629"/>
                </a:solidFill>
                <a:latin typeface="Arial"/>
              </a:rPr>
              <a:t>ЭКОНОМ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92000" y="3887999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92000" y="3959998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Водно-дисперсионные покрытия по доступной цене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92000" y="4355999"/>
            <a:ext cx="259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Краска для стен и потолков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Шпатлёвка масляно-клеевая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Грунтовка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«Покрасил и забыл!»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8000" y="5903999"/>
            <a:ext cx="2736000" cy="2340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0000" y="5957999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13131"/>
                </a:solidFill>
                <a:latin typeface="Arial"/>
              </a:rPr>
              <a:t>ПРОСТОКРАШЕНО!</a:t>
            </a:r>
          </a:p>
          <a:p>
            <a:r>
              <a:rPr sz="800" b="1">
                <a:solidFill>
                  <a:srgbClr val="F47629"/>
                </a:solidFill>
                <a:latin typeface="Arial"/>
              </a:rPr>
              <a:t>ЭКОНОМ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0000" y="6335999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0000" y="6407998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Базовые ЛКМ для массового потребителя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0000" y="6803999"/>
            <a:ext cx="259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Эмаль ПФ-115 (БАУЦЕНТР)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Краска водоэмульсионная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Грунтовка / олифа / лак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Растворитель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92000" y="5903999"/>
            <a:ext cx="2736000" cy="2340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4000" y="5957999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13131"/>
                </a:solidFill>
                <a:latin typeface="Arial"/>
              </a:rPr>
              <a:t>EMPILS</a:t>
            </a:r>
          </a:p>
          <a:p>
            <a:r>
              <a:rPr sz="800" b="1">
                <a:solidFill>
                  <a:srgbClr val="F47629"/>
                </a:solidFill>
                <a:latin typeface="Arial"/>
              </a:rPr>
              <a:t>ПРОМЫШЛЕННЫЕ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64000" y="6335999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64000" y="6407998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Покрытия промышленного назначения — для крупных предприятий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4000" y="6803999"/>
            <a:ext cx="259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Огнебиозащитные составы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Защитно-декоративные покрытия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Краски-базы под колеровку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Партнёр: «Ростсельмаш»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36000" y="5903999"/>
            <a:ext cx="2736000" cy="2340000"/>
          </a:xfrm>
          <a:prstGeom prst="roundRect">
            <a:avLst/>
          </a:prstGeom>
          <a:solidFill>
            <a:srgbClr val="FEE5D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8000" y="5957999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13131"/>
                </a:solidFill>
                <a:latin typeface="Arial"/>
              </a:rPr>
              <a:t>СТРОЙКОМПЛЕКТ</a:t>
            </a:r>
          </a:p>
          <a:p>
            <a:r>
              <a:rPr sz="800" b="1">
                <a:solidFill>
                  <a:srgbClr val="F47629"/>
                </a:solidFill>
                <a:latin typeface="Arial"/>
              </a:rPr>
              <a:t>СТРОИТ. ФАСОВКА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8000" y="6335999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8000" y="6407998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Крупная фасовка для строительных объектов большой площади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8000" y="6803999"/>
            <a:ext cx="259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Эмаль ПФ-115 (крупная фасовка)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Краска интерьерная / фасадная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Универсальность · оптимальная цена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Яркая цветовая палитра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480000"/>
            <a:ext cx="12193200" cy="360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0000" y="6443999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11 брендов покрывают весь спектр: от эконом до премиум · металл · дерево · интерьер · фасад · промышленные · экспорт   |   230 ₽/кг — зарабатываем вместе.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60000" y="396000"/>
            <a:ext cx="900000" cy="72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000" y="288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F47629"/>
                </a:solidFill>
                <a:latin typeface="Arial"/>
              </a:rPr>
              <a:t>EMPILS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23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7629"/>
                </a:solidFill>
                <a:latin typeface="Arial"/>
              </a:rPr>
              <a:t>ПОРТФОЛИО:
ОБЪЕКТЫ И B2B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396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Реальные кейсы и промышленные партнёры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60000" y="396000"/>
            <a:ext cx="900000" cy="72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000" y="288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F47629"/>
                </a:solidFill>
                <a:latin typeface="Arial"/>
              </a:rPr>
              <a:t>EMPILS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270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47629"/>
                </a:solidFill>
                <a:latin typeface="Arial"/>
              </a:rPr>
              <a:t>ПОДДЕРЖКА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60000" y="396000"/>
            <a:ext cx="900000" cy="72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000" y="288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F47629"/>
                </a:solidFill>
                <a:latin typeface="Arial"/>
              </a:rPr>
              <a:t>EMPILS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80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13131"/>
                </a:solidFill>
                <a:latin typeface="Arial"/>
              </a:rPr>
              <a:t>КОМАНДА ЭМПИЛС НА ВАШЕЙ ТЕРРИТОРИИ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612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Начните работать с Эмпилс — и наша команда поможет вам масштабировать продажи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007999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7629"/>
                </a:solidFill>
                <a:latin typeface="Arial"/>
              </a:rPr>
              <a:t>СТРУКТУРА КОМАНДЫ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260000"/>
            <a:ext cx="5400000" cy="133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1332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3131"/>
                </a:solidFill>
                <a:latin typeface="Arial"/>
              </a:rPr>
              <a:t>Региональный директор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000" y="1620000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692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Ответственный за территорию. Стратегическое планирование, согласование условий.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2267999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7629"/>
                </a:solidFill>
                <a:latin typeface="Arial"/>
              </a:rPr>
              <a:t>Курирует всех дистрибьюторов на территории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2556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47629"/>
                </a:solidFill>
                <a:latin typeface="Arial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" y="2772000"/>
            <a:ext cx="5400000" cy="1332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000" y="2844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3131"/>
                </a:solidFill>
                <a:latin typeface="Arial"/>
              </a:rPr>
              <a:t>Региональный менеджер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000" y="3132000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" y="3204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Оперативное управление. Контроль отгрузок, MML, маркетинговые программы, аналитика.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000" y="3779999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7629"/>
                </a:solidFill>
                <a:latin typeface="Arial"/>
              </a:rPr>
              <a:t>Точка контакта для дистрибьютора на ежедневной основе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4068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47629"/>
                </a:solidFill>
                <a:latin typeface="Arial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4284000"/>
            <a:ext cx="5400000" cy="1332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000" y="4356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3131"/>
                </a:solidFill>
                <a:latin typeface="Arial"/>
              </a:rPr>
              <a:t>ЭТП — Эксклюзивный торговый представитель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000" y="4644000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" y="4716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Полевая работа с АКБ. Визиты в РТТ, обучение ТП, выкладка, POS-материалы.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000" y="5291999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7629"/>
                </a:solidFill>
                <a:latin typeface="Arial"/>
              </a:rPr>
              <a:t>120 РТТ на 1 ЭТП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000" y="1007999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7629"/>
                </a:solidFill>
                <a:latin typeface="Arial"/>
              </a:rPr>
              <a:t>ПРИНЦИП МАСШТАБИРОВАНИЯ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0000" y="1260000"/>
            <a:ext cx="5400000" cy="1440000"/>
          </a:xfrm>
          <a:prstGeom prst="round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0000" y="136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Больше АКБ с Эмпилс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0000" y="1800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47629"/>
                </a:solidFill>
                <a:latin typeface="Arial"/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0000" y="2088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629"/>
                </a:solidFill>
                <a:latin typeface="Arial"/>
              </a:rPr>
              <a:t>Больше наша команда
на вашей территории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0000" y="2880000"/>
            <a:ext cx="5400000" cy="1260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0000" y="2951999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7629"/>
                </a:solidFill>
                <a:latin typeface="Arial"/>
              </a:rPr>
              <a:t>120 РТТ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0000" y="3528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13131"/>
                </a:solidFill>
                <a:latin typeface="Arial"/>
              </a:rPr>
              <a:t>на 1 ЭТП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0000" y="3780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Каждые 120 активных торговых точек = +1 ЭТП на вашей территории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000" y="4392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7629"/>
                </a:solidFill>
                <a:latin typeface="Arial"/>
              </a:rPr>
              <a:t>ЧТО ДЕЛАЕТ КОМАНДА: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0000" y="4680000"/>
            <a:ext cx="1692000" cy="12600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0000" y="4752000"/>
            <a:ext cx="16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Arial"/>
              </a:rPr>
              <a:t>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2000" y="5076000"/>
            <a:ext cx="15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13131"/>
                </a:solidFill>
                <a:latin typeface="Arial"/>
              </a:rPr>
              <a:t>Контроль MML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2000" y="5328000"/>
            <a:ext cx="15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Слежение за присутствием
всех обязательных SKU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72000" y="4680000"/>
            <a:ext cx="1692000" cy="12600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2000" y="4752000"/>
            <a:ext cx="16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Arial"/>
              </a:rPr>
              <a:t>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4000" y="5076000"/>
            <a:ext cx="15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13131"/>
                </a:solidFill>
                <a:latin typeface="Arial"/>
              </a:rPr>
              <a:t>Обучение ТП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4000" y="5328000"/>
            <a:ext cx="15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Тренинги по продукту,
продажам, TCO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44000" y="4680000"/>
            <a:ext cx="1692000" cy="12600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4000" y="4752000"/>
            <a:ext cx="16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Arial"/>
              </a:rPr>
              <a:t>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16000" y="5076000"/>
            <a:ext cx="15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13131"/>
                </a:solidFill>
                <a:latin typeface="Arial"/>
              </a:rPr>
              <a:t>Выкладка и POS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16000" y="5328000"/>
            <a:ext cx="15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Контроль полки,
установка POS-материалов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80000"/>
            <a:ext cx="12193200" cy="360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0000" y="63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Начните работать с Эмпилс — и наша команда поможет вам масштабировать продажи. Чем больше АКБ, тем больше команда на вашей стороне.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60000" y="396000"/>
            <a:ext cx="900000" cy="72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000" y="288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F47629"/>
                </a:solidFill>
                <a:latin typeface="Arial"/>
              </a:rPr>
              <a:t>EMPILS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80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13131"/>
                </a:solidFill>
                <a:latin typeface="Arial"/>
              </a:rPr>
              <a:t>ТРЕЙД-МАРКЕТИНГ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612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2% от оборота — на совместное продвижение. Мы инвестируем в ваши продажи.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80000"/>
            <a:ext cx="2880000" cy="2520000"/>
          </a:xfrm>
          <a:prstGeom prst="round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260000"/>
            <a:ext cx="25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47629"/>
                </a:solidFill>
                <a:latin typeface="Arial"/>
              </a:rPr>
              <a:t>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232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от оборота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700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Эмпилс выделяет на трейд-маркетинг дистрибьютора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3168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7629"/>
                </a:solidFill>
                <a:latin typeface="Arial"/>
              </a:rPr>
              <a:t>230 ₽/кг — зарабатываем вместе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0" y="900000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7629"/>
                </a:solidFill>
                <a:latin typeface="Arial"/>
              </a:rPr>
              <a:t>НАПРАВЛЕНИЯ ПОДДЕРЖКИ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0" y="1152000"/>
            <a:ext cx="2700000" cy="1620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2000" y="1206000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🏆  Мотивация ТП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72000" y="1476000"/>
            <a:ext cx="72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2000" y="1548000"/>
            <a:ext cx="25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rial"/>
              </a:rPr>
              <a:t>Конкурсы и премии для ТП дистрибьютора за активные продажи. Призы, бонусы за KPI.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2000" y="1152000"/>
            <a:ext cx="2700000" cy="1620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4000" y="1206000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🏪  Мотивация розницы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4000" y="1476000"/>
            <a:ext cx="72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4000" y="1548000"/>
            <a:ext cx="25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rial"/>
              </a:rPr>
              <a:t>Программы лояльности для РТТ: накопительные бонусы, призы за выкладку, рейтинги.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152000"/>
            <a:ext cx="2700000" cy="1620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6000" y="1206000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🟡  Жёлтый ценник и спеццены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16000" y="1476000"/>
            <a:ext cx="72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6000" y="1548000"/>
            <a:ext cx="25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rial"/>
              </a:rPr>
              <a:t>Снижение цены на полке на ключевые SKU. Сезонное ценовое продвижение.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0000" y="2880000"/>
            <a:ext cx="2700000" cy="1620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2000" y="2934000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🎁  Акции «Подарок за покупку»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72000" y="3204000"/>
            <a:ext cx="72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2000" y="3276000"/>
            <a:ext cx="25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rial"/>
              </a:rPr>
              <a:t>При закупке объёма — бонусные банки бесплатно. Стимулирует увеличение заказа.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72000" y="2880000"/>
            <a:ext cx="2700000" cy="16200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4000" y="2934000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🎓  Обучение и мотивация ТП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4000" y="3204000"/>
            <a:ext cx="72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4000" y="3276000"/>
            <a:ext cx="25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rial"/>
              </a:rPr>
              <a:t>Тренинги по продукту. Мастер-классы. Сравнительные выкрасы.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2880000"/>
            <a:ext cx="2700000" cy="1620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16000" y="2934000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📍  POS-материалы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16000" y="3204000"/>
            <a:ext cx="72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16000" y="3276000"/>
            <a:ext cx="25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rial"/>
              </a:rPr>
              <a:t>Шелфтокеры, воблеры, ценникодержатели, планограммы, баннеры — бесплатно.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00000" y="4608000"/>
            <a:ext cx="2700000" cy="16200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72000" y="4662000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📺  Контент и digital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72000" y="4932000"/>
            <a:ext cx="72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2000" y="5004000"/>
            <a:ext cx="25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rial"/>
              </a:rPr>
              <a:t>Материалы для соцсетей, видеоинструкции, фото выкрасов. Поддержка интернет-магазина.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72000" y="4608000"/>
            <a:ext cx="2700000" cy="1620000"/>
          </a:xfrm>
          <a:prstGeom prst="roundRect">
            <a:avLst/>
          </a:prstGeom>
          <a:solidFill>
            <a:srgbClr val="FEE5D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4000" y="4662000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🚐  Брендирование и реклама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4000" y="4932000"/>
            <a:ext cx="72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4000" y="5004000"/>
            <a:ext cx="25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rial"/>
              </a:rPr>
              <a:t>Брендирование машин, входных групп в РТТ, баннерная реклама. Узнаваемость.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4608000"/>
            <a:ext cx="2700000" cy="1620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6000" y="4662000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💰  Ретробонусы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16000" y="4932000"/>
            <a:ext cx="72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6000" y="5004000"/>
            <a:ext cx="25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rial"/>
              </a:rPr>
              <a:t>Возврат части средств за выполнение плана закупок по итогам периода.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80000"/>
            <a:ext cx="12193200" cy="360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0000" y="6443999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2% от оборота — ваш бюджет на рост. Мы не просто поставляем продукт — мы инвестируем в ваши продажи.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60000" y="396000"/>
            <a:ext cx="900000" cy="72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000" y="288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F47629"/>
                </a:solidFill>
                <a:latin typeface="Arial"/>
              </a:rPr>
              <a:t>EMPILS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80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13131"/>
                </a:solidFill>
                <a:latin typeface="Arial"/>
              </a:rPr>
              <a:t>НОВИНКИ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648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Расширяем ассортимент — 28 новых продуктов по 6 брендам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80000"/>
            <a:ext cx="3780000" cy="23400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152000"/>
            <a:ext cx="356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13131"/>
                </a:solidFill>
                <a:latin typeface="Arial"/>
              </a:rPr>
              <a:t>AVANTGARDE</a:t>
            </a:r>
          </a:p>
          <a:p>
            <a:r>
              <a:rPr sz="900" b="1">
                <a:solidFill>
                  <a:srgbClr val="F47629"/>
                </a:solidFill>
                <a:latin typeface="Arial"/>
              </a:rPr>
              <a:t>+3 новинок</a:t>
            </a:r>
          </a:p>
        </p:txBody>
      </p:sp>
      <p:sp>
        <p:nvSpPr>
          <p:cNvPr id="9" name="Rectangle 8"/>
          <p:cNvSpPr/>
          <p:nvPr/>
        </p:nvSpPr>
        <p:spPr>
          <a:xfrm>
            <a:off x="468000" y="1548000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656000"/>
            <a:ext cx="3564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000000"/>
                </a:solidFill>
                <a:latin typeface="Arial"/>
              </a:rPr>
              <a:t>•  Гидроизолирующая грунтовка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000000"/>
                </a:solidFill>
                <a:latin typeface="Arial"/>
              </a:rPr>
              <a:t>•  Пропитка-лак для финишного покрытия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000000"/>
                </a:solidFill>
                <a:latin typeface="Arial"/>
              </a:rPr>
              <a:t>•  Наливные полы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000" y="1080000"/>
            <a:ext cx="3780000" cy="2340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2000" y="1152000"/>
            <a:ext cx="356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13131"/>
                </a:solidFill>
                <a:latin typeface="Arial"/>
              </a:rPr>
              <a:t>TITAN</a:t>
            </a:r>
          </a:p>
          <a:p>
            <a:r>
              <a:rPr sz="900" b="1">
                <a:solidFill>
                  <a:srgbClr val="F47629"/>
                </a:solidFill>
                <a:latin typeface="Arial"/>
              </a:rPr>
              <a:t>+4 новинок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2000" y="1548000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000" y="1656000"/>
            <a:ext cx="3564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000000"/>
                </a:solidFill>
                <a:latin typeface="Arial"/>
              </a:rPr>
              <a:t>•  Термостойкая эмаль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000000"/>
                </a:solidFill>
                <a:latin typeface="Arial"/>
              </a:rPr>
              <a:t>•  Преобразователь ржавчины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000000"/>
                </a:solidFill>
                <a:latin typeface="Arial"/>
              </a:rPr>
              <a:t>•  Очиститель поверхности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000000"/>
                </a:solidFill>
                <a:latin typeface="Arial"/>
              </a:rPr>
              <a:t>•  Растворитель «TITAN»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8000" y="1080000"/>
            <a:ext cx="3780000" cy="2340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6000" y="1152000"/>
            <a:ext cx="356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13131"/>
                </a:solidFill>
                <a:latin typeface="Arial"/>
              </a:rPr>
              <a:t>NEWTONE</a:t>
            </a:r>
          </a:p>
          <a:p>
            <a:r>
              <a:rPr sz="900" b="1">
                <a:solidFill>
                  <a:srgbClr val="F47629"/>
                </a:solidFill>
                <a:latin typeface="Arial"/>
              </a:rPr>
              <a:t>+2 новинок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16000" y="1548000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6000" y="1656000"/>
            <a:ext cx="3564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000000"/>
                </a:solidFill>
                <a:latin typeface="Arial"/>
              </a:rPr>
              <a:t>•  Грунт-концентрат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000000"/>
                </a:solidFill>
                <a:latin typeface="Arial"/>
              </a:rPr>
              <a:t>•  Краска интерьерная в готовых цветах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3564000"/>
            <a:ext cx="3780000" cy="23400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000" y="3636000"/>
            <a:ext cx="356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13131"/>
                </a:solidFill>
                <a:latin typeface="Arial"/>
              </a:rPr>
              <a:t>ОРЕОЛ</a:t>
            </a:r>
          </a:p>
          <a:p>
            <a:r>
              <a:rPr sz="900" b="1">
                <a:solidFill>
                  <a:srgbClr val="F47629"/>
                </a:solidFill>
                <a:latin typeface="Arial"/>
              </a:rPr>
              <a:t>+8 новинок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000" y="4032000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000" y="4140000"/>
            <a:ext cx="3564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Грунтовка глуб. проникновения с антисептиком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Краска для ванной и кухни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Краска для спальни и гостиной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Краска для обоев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Краска резиновая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Краска для детских комнат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Краска для мебели и декора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Декоративная штукатурка «Короед»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4000" y="3564000"/>
            <a:ext cx="3780000" cy="2340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2000" y="3636000"/>
            <a:ext cx="356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13131"/>
                </a:solidFill>
                <a:latin typeface="Arial"/>
              </a:rPr>
              <a:t>PROFIWOOD</a:t>
            </a:r>
          </a:p>
          <a:p>
            <a:r>
              <a:rPr sz="900" b="1">
                <a:solidFill>
                  <a:srgbClr val="F47629"/>
                </a:solidFill>
                <a:latin typeface="Arial"/>
              </a:rPr>
              <a:t>+10 новинок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2000" y="4032000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2000" y="4140000"/>
            <a:ext cx="3564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Масло для террас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Концентрат «Антижук»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Концентрат «Антиплесень»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Концентрат трудновымываемый антисептик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Отбеливатель для древесины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Средство для удаления высолов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Средство для удаления старого покрытия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Гидрофобизатор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Изолирующий грунт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>
                <a:solidFill>
                  <a:srgbClr val="000000"/>
                </a:solidFill>
                <a:latin typeface="Arial"/>
              </a:rPr>
              <a:t>•  Антисмольный изолятор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08000" y="3564000"/>
            <a:ext cx="3780000" cy="2340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6000" y="3636000"/>
            <a:ext cx="356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13131"/>
                </a:solidFill>
                <a:latin typeface="Arial"/>
              </a:rPr>
              <a:t>РАСЦВЕТ</a:t>
            </a:r>
          </a:p>
          <a:p>
            <a:r>
              <a:rPr sz="900" b="1">
                <a:solidFill>
                  <a:srgbClr val="F47629"/>
                </a:solidFill>
                <a:latin typeface="Arial"/>
              </a:rPr>
              <a:t>+1 новинок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16000" y="4032000"/>
            <a:ext cx="900000" cy="1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6000" y="4140000"/>
            <a:ext cx="3564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000000"/>
                </a:solidFill>
                <a:latin typeface="Arial"/>
              </a:rPr>
              <a:t>•  Смывка-гель для ЛКМ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80000"/>
            <a:ext cx="12193200" cy="360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000" y="6443999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28 новых продуктов в 2027 — расширяем категории, закрываем потребности, растём вместе с партнёрами.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