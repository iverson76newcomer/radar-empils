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2"/>
  </p:notesMasterIdLst>
  <p:handoutMasterIdLst>
    <p:handoutMasterId r:id="rId23"/>
  </p:handoutMasterIdLst>
  <p:sldIdLst>
    <p:sldId id="271" r:id="rId3"/>
    <p:sldId id="286" r:id="rId4"/>
    <p:sldId id="284" r:id="rId5"/>
    <p:sldId id="259" r:id="rId6"/>
    <p:sldId id="261" r:id="rId7"/>
    <p:sldId id="262" r:id="rId8"/>
    <p:sldId id="263" r:id="rId9"/>
    <p:sldId id="265" r:id="rId10"/>
    <p:sldId id="266" r:id="rId11"/>
    <p:sldId id="287" r:id="rId28"/>
    <p:sldId id="277" r:id="rId12"/>
    <p:sldId id="278" r:id="rId13"/>
    <p:sldId id="270" r:id="rId14"/>
    <p:sldId id="279" r:id="rId15"/>
    <p:sldId id="276" r:id="rId16"/>
    <p:sldId id="272" r:id="rId17"/>
    <p:sldId id="275" r:id="rId18"/>
    <p:sldId id="273" r:id="rId19"/>
    <p:sldId id="274" r:id="rId20"/>
    <p:sldId id="269" r:id="rId21"/>
  </p:sldIdLst>
  <p:sldSz cx="12192000" cy="6858000"/>
  <p:notesSz cx="9926638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94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-858" y="-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2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5622798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07A6CA-850D-4EF3-A94A-A906330D8CBA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5622798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24A80D-685B-45E5-835E-FDA60ABB44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9182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622798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12E25D-78B6-4A07-B316-4AE7887BB689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DCC15A-4218-4A78-913C-2917A1EC10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929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5826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9337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01770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62902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31344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69475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68170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71270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56040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63910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5143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34275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817663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3750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3000">
              <a:schemeClr val="bg1">
                <a:lumMod val="95000"/>
              </a:schemeClr>
            </a:gs>
            <a:gs pos="100000">
              <a:schemeClr val="bg1">
                <a:lumMod val="5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2957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jpeg"/><Relationship Id="rId6" Type="http://schemas.openxmlformats.org/officeDocument/2006/relationships/image" Target="../media/image15.jpeg"/><Relationship Id="rId7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61152" y="-38100"/>
            <a:ext cx="1695451" cy="806451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84" b="-2003"/>
          <a:stretch/>
        </p:blipFill>
        <p:spPr>
          <a:xfrm>
            <a:off x="7905753" y="2070101"/>
            <a:ext cx="4324351" cy="387985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551" b="12331"/>
          <a:stretch/>
        </p:blipFill>
        <p:spPr>
          <a:xfrm>
            <a:off x="3087371" y="2832100"/>
            <a:ext cx="4632052" cy="403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880351" y="327910"/>
            <a:ext cx="2595599" cy="2595599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61978" y="4384676"/>
            <a:ext cx="3816351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lnSpc>
                <a:spcPts val="4332"/>
              </a:lnSpc>
            </a:pPr>
            <a:r>
              <a:rPr lang="ru-RU" sz="4000" kern="0" spc="-183" dirty="0" smtClean="0">
                <a:latin typeface="Roboto Mono Medium" panose="00000009000000000000" pitchFamily="50" charset="0"/>
                <a:ea typeface="Roboto Mono Medium" panose="00000009000000000000" pitchFamily="50" charset="0"/>
                <a:cs typeface="Roboto Mono" pitchFamily="34" charset="-120"/>
              </a:rPr>
              <a:t>Дорожная </a:t>
            </a:r>
            <a:r>
              <a:rPr lang="ru-RU" sz="4000" kern="0" spc="-183" dirty="0" smtClean="0">
                <a:latin typeface="Roboto Mono Medium" panose="00000009000000000000" pitchFamily="50" charset="0"/>
                <a:ea typeface="Roboto Mono Medium" panose="00000009000000000000" pitchFamily="50" charset="0"/>
              </a:rPr>
              <a:t>карта</a:t>
            </a:r>
            <a:endParaRPr lang="en-US" sz="4000" dirty="0">
              <a:latin typeface="Roboto Mono Medium" panose="00000009000000000000" pitchFamily="50" charset="0"/>
              <a:ea typeface="Roboto Mono Medium" panose="00000009000000000000" pitchFamily="50" charset="0"/>
            </a:endParaRPr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38153" y="509403"/>
            <a:ext cx="3790951" cy="3730997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438153" y="6337302"/>
            <a:ext cx="361951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lnSpc>
                <a:spcPts val="1255"/>
              </a:lnSpc>
            </a:pPr>
            <a:r>
              <a:rPr lang="en-US" sz="1100" kern="0" spc="-12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2026</a:t>
            </a:r>
            <a:endParaRPr lang="en-US" sz="1100" dirty="0">
              <a:solidFill>
                <a:prstClr val="black"/>
              </a:solidFill>
            </a:endParaRPr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80" b="6250"/>
          <a:stretch/>
        </p:blipFill>
        <p:spPr>
          <a:xfrm>
            <a:off x="4114800" y="5238752"/>
            <a:ext cx="8077200" cy="1619251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395166" y="1984265"/>
            <a:ext cx="2939076" cy="4126841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344153" y="527053"/>
            <a:ext cx="1250951" cy="1250951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107728" y="1950264"/>
            <a:ext cx="3127517" cy="4198037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069696" y="1778001"/>
            <a:ext cx="4830464" cy="4830464"/>
          </a:xfrm>
          <a:prstGeom prst="rect">
            <a:avLst/>
          </a:prstGeom>
        </p:spPr>
      </p:pic>
      <p:sp>
        <p:nvSpPr>
          <p:cNvPr id="14" name="Text 2"/>
          <p:cNvSpPr/>
          <p:nvPr/>
        </p:nvSpPr>
        <p:spPr>
          <a:xfrm>
            <a:off x="8915400" y="4883149"/>
            <a:ext cx="3276600" cy="1016000"/>
          </a:xfrm>
          <a:prstGeom prst="rect">
            <a:avLst/>
          </a:prstGeom>
          <a:solidFill>
            <a:srgbClr val="E30614"/>
          </a:solidFill>
          <a:ln/>
        </p:spPr>
        <p:txBody>
          <a:bodyPr wrap="square" lIns="121914" tIns="60957" rIns="121914" bIns="60957" rtlCol="0" anchor="ctr"/>
          <a:lstStyle/>
          <a:p>
            <a:pPr defTabSz="1219140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5" name="Text 3"/>
          <p:cNvSpPr/>
          <p:nvPr/>
        </p:nvSpPr>
        <p:spPr>
          <a:xfrm>
            <a:off x="8915400" y="5016500"/>
            <a:ext cx="3276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lnSpc>
                <a:spcPts val="3021"/>
              </a:lnSpc>
            </a:pPr>
            <a:r>
              <a:rPr lang="en-US" sz="2900" kern="0" spc="-63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У КОРРОЗИИ</a:t>
            </a:r>
            <a:endParaRPr lang="en-US" sz="2900" dirty="0">
              <a:solidFill>
                <a:prstClr val="black"/>
              </a:solidFill>
            </a:endParaRPr>
          </a:p>
          <a:p>
            <a:pPr algn="ctr" defTabSz="1219140">
              <a:lnSpc>
                <a:spcPts val="3021"/>
              </a:lnSpc>
            </a:pPr>
            <a:r>
              <a:rPr lang="en-US" sz="2900" kern="0" spc="-63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НЕТ ШАНСОВ</a:t>
            </a:r>
            <a:endParaRPr lang="en-US" sz="29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828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180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3A5F"/>
                </a:solidFill>
                <a:latin typeface="Arial"/>
              </a:rPr>
              <a:t>TITAN — аналитика 1 полугодия: 2025 vs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648000"/>
            <a:ext cx="111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6B7280"/>
                </a:solidFill>
                <a:latin typeface="Arial"/>
              </a:rPr>
              <a:t>Без СтройТерминала (не предоставлял статистику в 2025). Источник: TITAN_анализ_дистрибьюторов_для_программы_v2.xlsx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88925" y="1781625"/>
            <a:ext cx="2772000" cy="172800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6925" y="1853625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АКБ розничных клиентов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6925" y="2141625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Arial"/>
              </a:rPr>
              <a:t>6 096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925" y="2429625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6925" y="2573625"/>
            <a:ext cx="255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E3A5F"/>
                </a:solidFill>
                <a:latin typeface="Arial"/>
              </a:rPr>
              <a:t>5 181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6925" y="305325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62828"/>
                </a:solidFill>
                <a:latin typeface="Arial"/>
              </a:rPr>
              <a:t>−15%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68925" y="1781625"/>
            <a:ext cx="2772000" cy="172800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6925" y="1853625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РТТ, продающие TITAN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6925" y="2141625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Arial"/>
              </a:rPr>
              <a:t>464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6925" y="2429625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6925" y="2573625"/>
            <a:ext cx="255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E3A5F"/>
                </a:solidFill>
                <a:latin typeface="Arial"/>
              </a:rPr>
              <a:t>436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6925" y="305325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62828"/>
                </a:solidFill>
                <a:latin typeface="Arial"/>
              </a:rPr>
              <a:t>−6%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8025" y="1781625"/>
            <a:ext cx="2772000" cy="172800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56025" y="1853625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Кг TITAN (вторичка)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6025" y="2141625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Arial"/>
              </a:rPr>
              <a:t>30 589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6025" y="2429625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6025" y="2573625"/>
            <a:ext cx="255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E3A5F"/>
                </a:solidFill>
                <a:latin typeface="Arial"/>
              </a:rPr>
              <a:t>20 046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6025" y="305325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62828"/>
                </a:solidFill>
                <a:latin typeface="Arial"/>
              </a:rPr>
              <a:t>−35%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2250" y="1781625"/>
            <a:ext cx="2772000" cy="17280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0250" y="1853625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Кг TITAN (первичка)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250" y="2141625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Arial"/>
              </a:rPr>
              <a:t>90 504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250" y="2429625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250" y="2573625"/>
            <a:ext cx="255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E3A5F"/>
                </a:solidFill>
                <a:latin typeface="Arial"/>
              </a:rPr>
              <a:t>92 094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250" y="305325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>
                <a:solidFill>
                  <a:srgbClr val="16A34A"/>
                </a:solidFill>
                <a:latin typeface="Arial"/>
              </a:rPr>
              <a:t>+1.8%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4325" y="6147075"/>
            <a:ext cx="1176337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F47920"/>
                </a:solidFill>
                <a:latin typeface="Arial"/>
              </a:rPr>
              <a:t>⚠ ПАРАДОКС СЕЗОНА: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первичка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растёт</a:t>
            </a:r>
            <a:r>
              <a:rPr sz="1300" dirty="0">
                <a:solidFill>
                  <a:srgbClr val="1A1F36"/>
                </a:solidFill>
                <a:latin typeface="Arial"/>
              </a:rPr>
              <a:t> (+1.8%),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вторичка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падает</a:t>
            </a:r>
            <a:r>
              <a:rPr sz="1300" dirty="0">
                <a:solidFill>
                  <a:srgbClr val="1A1F36"/>
                </a:solidFill>
                <a:latin typeface="Arial"/>
              </a:rPr>
              <a:t> (−35%).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Дистрибьюторы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закупают</a:t>
            </a:r>
            <a:r>
              <a:rPr sz="1300" dirty="0">
                <a:solidFill>
                  <a:srgbClr val="1A1F36"/>
                </a:solidFill>
                <a:latin typeface="Arial"/>
              </a:rPr>
              <a:t> TITAN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склад</a:t>
            </a:r>
            <a:r>
              <a:rPr sz="1300" dirty="0">
                <a:solidFill>
                  <a:srgbClr val="1A1F36"/>
                </a:solidFill>
                <a:latin typeface="Arial"/>
              </a:rPr>
              <a:t>,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но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не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продают</a:t>
            </a:r>
            <a:r>
              <a:rPr sz="1300" dirty="0">
                <a:solidFill>
                  <a:srgbClr val="1A1F36"/>
                </a:solidFill>
                <a:latin typeface="Arial"/>
              </a:rPr>
              <a:t> в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розницу</a:t>
            </a:r>
            <a:r>
              <a:rPr sz="1300" dirty="0">
                <a:solidFill>
                  <a:srgbClr val="1A1F36"/>
                </a:solidFill>
                <a:latin typeface="Arial"/>
              </a:rPr>
              <a:t>.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4000" y="4119824"/>
            <a:ext cx="31183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C62828"/>
                </a:solidFill>
                <a:latin typeface="Arial"/>
              </a:rPr>
              <a:t>🚨 </a:t>
            </a:r>
            <a:r>
              <a:rPr b="1" dirty="0" err="1">
                <a:solidFill>
                  <a:srgbClr val="C62828"/>
                </a:solidFill>
                <a:latin typeface="Arial"/>
              </a:rPr>
              <a:t>Тревожные</a:t>
            </a:r>
            <a:r>
              <a:rPr b="1" dirty="0">
                <a:solidFill>
                  <a:srgbClr val="C62828"/>
                </a:solidFill>
                <a:latin typeface="Arial"/>
              </a:rPr>
              <a:t> </a:t>
            </a:r>
            <a:r>
              <a:rPr b="1" dirty="0" err="1">
                <a:solidFill>
                  <a:srgbClr val="C62828"/>
                </a:solidFill>
                <a:latin typeface="Arial"/>
              </a:rPr>
              <a:t>сигналы</a:t>
            </a:r>
            <a:endParaRPr b="1" dirty="0">
              <a:solidFill>
                <a:srgbClr val="C62828"/>
              </a:solidFill>
              <a:latin typeface="Arial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53999" y="4490325"/>
            <a:ext cx="48989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Все</a:t>
            </a:r>
            <a:r>
              <a:rPr sz="1200" dirty="0">
                <a:solidFill>
                  <a:srgbClr val="1A1F36"/>
                </a:solidFill>
                <a:latin typeface="Arial"/>
              </a:rPr>
              <a:t> 3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метрики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вторички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падают</a:t>
            </a:r>
            <a:r>
              <a:rPr sz="1200" dirty="0">
                <a:solidFill>
                  <a:srgbClr val="1A1F36"/>
                </a:solidFill>
                <a:latin typeface="Arial"/>
              </a:rPr>
              <a:t>: АКБ −15%, РТТ −6%,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кг</a:t>
            </a:r>
            <a:r>
              <a:rPr sz="1200" dirty="0">
                <a:solidFill>
                  <a:srgbClr val="1A1F36"/>
                </a:solidFill>
                <a:latin typeface="Arial"/>
              </a:rPr>
              <a:t> −35%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3999" y="4752900"/>
            <a:ext cx="48989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Севастьянов</a:t>
            </a:r>
            <a:r>
              <a:rPr sz="1200" dirty="0">
                <a:solidFill>
                  <a:srgbClr val="1A1F36"/>
                </a:solidFill>
                <a:latin typeface="Arial"/>
              </a:rPr>
              <a:t> (−52%) —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крупнейшее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падение</a:t>
            </a:r>
            <a:r>
              <a:rPr sz="1200" dirty="0">
                <a:solidFill>
                  <a:srgbClr val="1A1F36"/>
                </a:solidFill>
                <a:latin typeface="Arial"/>
              </a:rPr>
              <a:t>,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Бурдинский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сократил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закупки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вдвое</a:t>
            </a:r>
            <a:endParaRPr sz="120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53999" y="5205975"/>
            <a:ext cx="48989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47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из</a:t>
            </a:r>
            <a:r>
              <a:rPr sz="1200" dirty="0">
                <a:solidFill>
                  <a:srgbClr val="1A1F36"/>
                </a:solidFill>
                <a:latin typeface="Arial"/>
              </a:rPr>
              <a:t> 109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договоров</a:t>
            </a:r>
            <a:r>
              <a:rPr sz="1200" dirty="0">
                <a:solidFill>
                  <a:srgbClr val="1A1F36"/>
                </a:solidFill>
                <a:latin typeface="Arial"/>
              </a:rPr>
              <a:t> (44%) — «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спящие</a:t>
            </a:r>
            <a:r>
              <a:rPr sz="1200" dirty="0">
                <a:solidFill>
                  <a:srgbClr val="1A1F36"/>
                </a:solidFill>
                <a:latin typeface="Arial"/>
              </a:rPr>
              <a:t>»,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без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закупок</a:t>
            </a:r>
            <a:endParaRPr sz="120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176925" y="4123196"/>
            <a:ext cx="297889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dirty="0">
                <a:solidFill>
                  <a:srgbClr val="16A34A"/>
                </a:solidFill>
                <a:latin typeface="Arial"/>
              </a:rPr>
              <a:t>✅ </a:t>
            </a:r>
            <a:r>
              <a:rPr b="1" dirty="0" err="1">
                <a:solidFill>
                  <a:srgbClr val="16A34A"/>
                </a:solidFill>
                <a:latin typeface="Arial"/>
              </a:rPr>
              <a:t>Позитивные</a:t>
            </a:r>
            <a:r>
              <a:rPr b="1" dirty="0">
                <a:solidFill>
                  <a:srgbClr val="16A34A"/>
                </a:solidFill>
                <a:latin typeface="Arial"/>
              </a:rPr>
              <a:t> </a:t>
            </a:r>
            <a:r>
              <a:rPr b="1" dirty="0" err="1">
                <a:solidFill>
                  <a:srgbClr val="16A34A"/>
                </a:solidFill>
                <a:latin typeface="Arial"/>
              </a:rPr>
              <a:t>сигналы</a:t>
            </a:r>
            <a:endParaRPr b="1" dirty="0">
              <a:solidFill>
                <a:srgbClr val="16A34A"/>
              </a:solidFill>
              <a:latin typeface="Arial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205725" y="4476525"/>
            <a:ext cx="414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Уралстройсервис</a:t>
            </a:r>
            <a:r>
              <a:rPr sz="1200" dirty="0">
                <a:solidFill>
                  <a:srgbClr val="1A1F36"/>
                </a:solidFill>
                <a:latin typeface="Arial"/>
              </a:rPr>
              <a:t> +55% (327→508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кг</a:t>
            </a:r>
            <a:r>
              <a:rPr sz="1200" dirty="0">
                <a:solidFill>
                  <a:srgbClr val="1A1F36"/>
                </a:solidFill>
                <a:latin typeface="Arial"/>
              </a:rPr>
              <a:t>), РТТ ×2 (29→58)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5250" y="4748625"/>
            <a:ext cx="414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АЮСС-ВСТК +2-9%,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привлёк</a:t>
            </a:r>
            <a:r>
              <a:rPr sz="1200" dirty="0">
                <a:solidFill>
                  <a:srgbClr val="1A1F36"/>
                </a:solidFill>
                <a:latin typeface="Arial"/>
              </a:rPr>
              <a:t> 5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новых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клиентов</a:t>
            </a:r>
            <a:endParaRPr sz="120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215250" y="5001675"/>
            <a:ext cx="414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Держава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Трейд</a:t>
            </a:r>
            <a:r>
              <a:rPr sz="1200" dirty="0">
                <a:solidFill>
                  <a:srgbClr val="1A1F36"/>
                </a:solidFill>
                <a:latin typeface="Arial"/>
              </a:rPr>
              <a:t> (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Казахстан</a:t>
            </a:r>
            <a:r>
              <a:rPr sz="1200" dirty="0">
                <a:solidFill>
                  <a:srgbClr val="1A1F36"/>
                </a:solidFill>
                <a:latin typeface="Arial"/>
              </a:rPr>
              <a:t>) +11% = 7 065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кг</a:t>
            </a:r>
            <a:r>
              <a:rPr sz="1200" dirty="0">
                <a:solidFill>
                  <a:srgbClr val="1A1F36"/>
                </a:solidFill>
                <a:latin typeface="Arial"/>
              </a:rPr>
              <a:t> (35%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всей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вторички</a:t>
            </a:r>
            <a:r>
              <a:rPr sz="1200" dirty="0">
                <a:solidFill>
                  <a:srgbClr val="1A1F36"/>
                </a:solidFill>
                <a:latin typeface="Arial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33057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180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3A5F"/>
                </a:solidFill>
                <a:latin typeface="Arial"/>
              </a:rPr>
              <a:t>TITAN vs конкуренты — ценовое сравнение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576000"/>
            <a:ext cx="111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>
                <a:solidFill>
                  <a:srgbClr val="6B7280"/>
                </a:solidFill>
                <a:latin typeface="Arial"/>
              </a:rPr>
              <a:t>Источник: ВсеИнструменты.ру. Цены 10.06.2026 (из презентации TITAN) vs актуальные на сегодня. 16 SKU в 3 категориях.</a:t>
            </a:r>
          </a:p>
        </p:txBody>
      </p:sp>
      <p:pic>
        <p:nvPicPr>
          <p:cNvPr id="4" name="Picture 3" descr="price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900000"/>
            <a:ext cx="8100000" cy="48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60000" y="900000"/>
            <a:ext cx="34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7920"/>
                </a:solidFill>
                <a:latin typeface="Arial"/>
              </a:rPr>
              <a:t>TITAN (3 SKU)</a:t>
            </a:r>
          </a:p>
          <a:p>
            <a:pPr algn="l"/>
            <a:r>
              <a:rPr sz="1100">
                <a:solidFill>
                  <a:srgbClr val="1A1F36"/>
                </a:solidFill>
                <a:latin typeface="Arial"/>
              </a:rPr>
              <a:t>Средняя цена: 982 → 1 052 ₽</a:t>
            </a:r>
            <a:r>
              <a:rPr sz="1100" b="1">
                <a:solidFill>
                  <a:srgbClr val="C62828"/>
                </a:solidFill>
                <a:latin typeface="Arial"/>
              </a:rPr>
              <a:t>  (+7%)</a:t>
            </a:r>
          </a:p>
          <a:p>
            <a:pPr algn="l"/>
            <a:r>
              <a:rPr sz="1000">
                <a:solidFill>
                  <a:srgbClr val="1A1F36"/>
                </a:solidFill>
                <a:latin typeface="Arial"/>
              </a:rPr>
              <a:t>• 3в1: 872 → 905 (+4%)</a:t>
            </a:r>
          </a:p>
          <a:p>
            <a:pPr algn="l"/>
            <a:r>
              <a:rPr sz="1000">
                <a:solidFill>
                  <a:srgbClr val="1A1F36"/>
                </a:solidFill>
                <a:latin typeface="Arial"/>
              </a:rPr>
              <a:t>• Быстр.: 765 → 956 (+25%) ↑↑</a:t>
            </a:r>
          </a:p>
          <a:p>
            <a:pPr algn="l"/>
            <a:r>
              <a:rPr sz="1000">
                <a:solidFill>
                  <a:srgbClr val="1A1F36"/>
                </a:solidFill>
                <a:latin typeface="Arial"/>
              </a:rPr>
              <a:t>• Молот.: 1 308 → 1 294 (−1%)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60000" y="2160000"/>
            <a:ext cx="34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6A34A"/>
                </a:solidFill>
                <a:latin typeface="Arial"/>
              </a:rPr>
              <a:t>⚠️ Конкуренты демпингуют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HUSKY 3в1: −17% (1 153→953)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Tikkurila METALLISTA: −23%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  (2 085→1 599)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Dufa HAMMERLACK: −27%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  (1 653→1 210)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Лакра молотковая: −15%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60000" y="3960000"/>
            <a:ext cx="34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62828"/>
                </a:solidFill>
                <a:latin typeface="Arial"/>
              </a:rPr>
              <a:t>📈 Подорожали вместе с TITAN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Новбытхим: +53% (765→1 168)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HUSKY молотковая: +44%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  (1 196→1 719)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Elcon молотковая: +23%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  (1 097→1 344)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Dali: +8-9%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5940000"/>
            <a:ext cx="113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7920"/>
                </a:solidFill>
                <a:latin typeface="Arial"/>
              </a:rPr>
              <a:t>ВЫВОД: </a:t>
            </a:r>
            <a:r>
              <a:rPr sz="1100">
                <a:solidFill>
                  <a:srgbClr val="1A1F36"/>
                </a:solidFill>
                <a:latin typeface="Arial"/>
              </a:rPr>
              <a:t>TITAN подорожал на +7% (быстрее рынка +3%) — теряет ценовое преимущество. HUSKY, Tikkurila и Dufa снизили цены на 15-27% — теперь дешевле TITAN в своих категориях. Рекомендация: точечные акции против HUSKY и Tikkurila, удержание цены на 3в1 (рост всего +4%).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6588000"/>
            <a:ext cx="111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i="1">
                <a:solidFill>
                  <a:srgbClr val="6B7280"/>
                </a:solidFill>
                <a:latin typeface="Arial"/>
              </a:rPr>
              <a:t>15 из 16 SKU найдены на vseinstrumenti.ru. SKU 10 (Лакра PROF IT быстросохнущая) — нет в наличии или цена не отображается.</a:t>
            </a:r>
          </a:p>
        </p:txBody>
      </p:sp>
    </p:spTree>
    <p:extLst>
      <p:ext uri="{BB962C8B-B14F-4D97-AF65-F5344CB8AC3E}">
        <p14:creationId xmlns:p14="http://schemas.microsoft.com/office/powerpoint/2010/main" val="3562816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6827"/>
            <a:ext cx="11460175" cy="38985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ru-RU" sz="2200" b="1" i="0" dirty="0" smtClean="0">
                <a:solidFill>
                  <a:srgbClr val="FFFFFF"/>
                </a:solidFill>
                <a:latin typeface="Arial"/>
              </a:rPr>
              <a:t>ЭТАП 0 – </a:t>
            </a:r>
            <a:r>
              <a:rPr sz="2200" b="1" i="0" dirty="0" smtClean="0">
                <a:solidFill>
                  <a:srgbClr val="FFFFFF"/>
                </a:solidFill>
                <a:latin typeface="Arial"/>
              </a:rPr>
              <a:t>ПОИСК 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НОВОГО ПАРТНЁРА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6 инструментов выхода на контакт  •  Сценарий 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868680"/>
            <a:ext cx="11460175" cy="64008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  <a:latin typeface="Arial"/>
              </a:rPr>
              <a:t>Цель: выйти на контакт с потенциальным партнёром и презентовать программу TITAN</a:t>
            </a:r>
          </a:p>
        </p:txBody>
      </p:sp>
      <p:sp>
        <p:nvSpPr>
          <p:cNvPr id="9" name="Rectangle 8"/>
          <p:cNvSpPr/>
          <p:nvPr/>
        </p:nvSpPr>
        <p:spPr>
          <a:xfrm>
            <a:off x="222885" y="1691640"/>
            <a:ext cx="54864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2885" y="1691640"/>
            <a:ext cx="5486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1525" y="1691640"/>
            <a:ext cx="3200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1525" y="1691640"/>
            <a:ext cx="32004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Инструмент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1925" y="1691640"/>
            <a:ext cx="50292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71925" y="1691640"/>
            <a:ext cx="50292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Описание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1125" y="1691640"/>
            <a:ext cx="30175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01125" y="1691640"/>
            <a:ext cx="3017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Эффективность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2885" y="2103120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2885" y="2103120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1525" y="2103120"/>
            <a:ext cx="32004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2965" y="2103120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Персональный визит РМ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71925" y="2103120"/>
            <a:ext cx="50292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63365" y="2103120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Региональный менеджер приезжает в офис потенциального партнёра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1125" y="2103120"/>
            <a:ext cx="301752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92565" y="2103120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Самый эффективный канал. Конверсия 40-60%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2885" y="2816352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22885" y="2816352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1525" y="2816352"/>
            <a:ext cx="3200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2965" y="2816352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Звонок РМ (теплый прозвон)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71925" y="2816352"/>
            <a:ext cx="5029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063365" y="2816352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Звонок после email или бумажного письма — договориться о встрече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1125" y="2816352"/>
            <a:ext cx="3017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92565" y="2816352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Конверсия в встречу 15-25%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2885" y="3529584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22885" y="3529584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1525" y="3529584"/>
            <a:ext cx="32004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2965" y="3529584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Отправка приглашения в МАХ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71925" y="3529584"/>
            <a:ext cx="50292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63365" y="3529584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Презентация программы TITAN через мессенджер МАХ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01125" y="3529584"/>
            <a:ext cx="301752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92565" y="3529584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Удобно для дистрибьюторов, использующих МАХ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2885" y="4242816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22885" y="4242816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1525" y="4242816"/>
            <a:ext cx="3200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2965" y="4242816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Email-рассылка по базе «белые пятна»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71925" y="4242816"/>
            <a:ext cx="5029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063365" y="4242816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Персонализированное письмо + приглашение посетить завод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01125" y="4242816"/>
            <a:ext cx="3017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092565" y="4242816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Масштабируемый канал. Конверсия 3-7%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2885" y="4956048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22885" y="4956048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1525" y="4956048"/>
            <a:ext cx="32004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62965" y="4956048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Письмо по обычной почте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971925" y="4956048"/>
            <a:ext cx="50292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063365" y="4956048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Напечатанное приглашение посетить завод, отправленное Почтой России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01125" y="4956048"/>
            <a:ext cx="301752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092565" y="4956048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Конверсия 8-15%. Бумага воспринимается как «серьёзный жест»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2885" y="5669280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22885" y="5669280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1525" y="5669280"/>
            <a:ext cx="3200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62965" y="5669280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Приглашение на профильной выставке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71925" y="5669280"/>
            <a:ext cx="5029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063365" y="5669280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Контакт в период участия партнёра в выставке (MosBuild и др.)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01125" y="5669280"/>
            <a:ext cx="3017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092565" y="5669280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Личный контакт на стенде Эмпилс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2885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ЭТАП 1 — ПЕРВИЧНЫЕ ПРОДАЖИ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Завод → Дистрибьютор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7315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  <a:latin typeface="Arial"/>
              </a:rPr>
              <a:t>ИНСТРУМЕНТЫ (из матрицы Сценарий А)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7200" y="1463040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371600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Экскурсия на завод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Показать производство → лояльность руководства дистрибьютора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84248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" y="2121408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121408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160435"/>
            <a:ext cx="6583680" cy="33342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dirty="0" err="1">
                <a:solidFill>
                  <a:srgbClr val="C62828"/>
                </a:solidFill>
                <a:latin typeface="Arial"/>
              </a:rPr>
              <a:t>Бонус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за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первичную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закупку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5-10%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товаром</a:t>
            </a:r>
            <a:endParaRPr sz="1100" b="1" dirty="0">
              <a:solidFill>
                <a:srgbClr val="C62828"/>
              </a:solidFill>
              <a:latin typeface="Arial"/>
            </a:endParaRPr>
          </a:p>
          <a:p>
            <a:pPr algn="l"/>
            <a:r>
              <a:rPr sz="900" b="0" dirty="0" err="1">
                <a:solidFill>
                  <a:srgbClr val="1A1F36"/>
                </a:solidFill>
                <a:latin typeface="Arial"/>
              </a:rPr>
              <a:t>За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80%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покрытия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АКБ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точек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А, </a:t>
            </a:r>
            <a:r>
              <a:rPr sz="900" b="0" dirty="0" smtClean="0">
                <a:solidFill>
                  <a:srgbClr val="1A1F36"/>
                </a:solidFill>
                <a:latin typeface="Arial"/>
              </a:rPr>
              <a:t>Б</a:t>
            </a:r>
            <a:r>
              <a:rPr lang="ru-RU" sz="900" b="0" dirty="0" smtClean="0">
                <a:solidFill>
                  <a:srgbClr val="1A1F36"/>
                </a:solidFill>
                <a:latin typeface="Arial"/>
              </a:rPr>
              <a:t>, С</a:t>
            </a:r>
            <a:r>
              <a:rPr sz="900" b="0" dirty="0" smtClean="0">
                <a:solidFill>
                  <a:srgbClr val="1A1F36"/>
                </a:solidFill>
                <a:latin typeface="Arial"/>
              </a:rPr>
              <a:t>.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Мотивация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первички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покрытие</a:t>
            </a:r>
            <a:endParaRPr sz="9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65760" y="2642616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2779776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779776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688336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dirty="0" err="1">
                <a:solidFill>
                  <a:srgbClr val="C62828"/>
                </a:solidFill>
                <a:latin typeface="Arial"/>
              </a:rPr>
              <a:t>Возврат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неликвида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в 90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дней</a:t>
            </a:r>
            <a:endParaRPr sz="1100" b="1" dirty="0">
              <a:solidFill>
                <a:srgbClr val="C62828"/>
              </a:solidFill>
              <a:latin typeface="Arial"/>
            </a:endParaRPr>
          </a:p>
          <a:p>
            <a:pPr algn="l"/>
            <a:r>
              <a:rPr sz="900" b="0" dirty="0" err="1">
                <a:solidFill>
                  <a:srgbClr val="1A1F36"/>
                </a:solidFill>
                <a:latin typeface="Arial"/>
              </a:rPr>
              <a:t>Снять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страх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«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куплю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и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не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продам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»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всех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уровнях</a:t>
            </a:r>
            <a:endParaRPr sz="9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65760" y="3300984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7200" y="3438144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438144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346704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Отсрочка 70-90 дней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Снизить финансовую нагрузку на старте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959352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7200" y="4096512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096512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005072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Выездное обучение команды ТП общего прайса (1 день)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Команда умеет продавать с первого дня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617720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" y="4754880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4754880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663440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Бесплатные POS-материалы + стартовый набор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Выкрасы, шелфтокеры, воблеры, планограммы, мини-буклет портфолио с ССВ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276088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57200" y="5413248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5413248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321808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Стартовый набор постов для соцсетей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Картинка + текст для соцсетей дистрибьютора + фото/видео для интернет-магазина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868680"/>
            <a:ext cx="4114800" cy="539496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63840" y="96012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C62828"/>
                </a:solidFill>
                <a:latin typeface="Arial"/>
              </a:rPr>
              <a:t>ЧТО ДЕЛАЕТ ДИСТРИБЬЮТОР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150876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183879" y="164592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83879" y="164592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160020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Оформить первую закупку (мин. объём)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0–1 месяц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256032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183879" y="269748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183879" y="269748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265176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Обучить торговых представителей по TITAN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1–2 месяца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361188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183879" y="374904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83879" y="374904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370332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Обеспечить выкладку в точках А и Б согласно планограмме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1–3 месяца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466344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183879" y="480060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183879" y="480060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475488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Предоставлять отчётность по выполнению планограммы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ЭТАП 2 — ВТОРИЧНЫЕ ПРОДАЖИ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Дистрибьютор → Розница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7315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F47920"/>
                </a:solidFill>
                <a:latin typeface="Arial"/>
              </a:rPr>
              <a:t>ИНСТРУМЕНТЫ (из матрицы Сценарий А)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7200" y="1463040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371600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Купи Титана для 100% заполнения планограммы → бонус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Мотивация вторички на необходимый объём по выполнению планограммы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84248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" y="2121408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121408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029968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Минимальный заказ от 1 банки для розницы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Глубина остатка на полке: B — от 5, C — 3, D — 2. Ширина — штуки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42616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2779776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779776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818803"/>
            <a:ext cx="6583680" cy="33342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dirty="0" err="1">
                <a:solidFill>
                  <a:srgbClr val="F47920"/>
                </a:solidFill>
                <a:latin typeface="Arial"/>
              </a:rPr>
              <a:t>Отсрочка</a:t>
            </a:r>
            <a:r>
              <a:rPr sz="1100" b="1" dirty="0">
                <a:solidFill>
                  <a:srgbClr val="F47920"/>
                </a:solidFill>
                <a:latin typeface="Arial"/>
              </a:rPr>
              <a:t> </a:t>
            </a:r>
            <a:r>
              <a:rPr lang="ru-RU" sz="1100" b="1" dirty="0" smtClean="0">
                <a:solidFill>
                  <a:srgbClr val="F47920"/>
                </a:solidFill>
                <a:latin typeface="Arial"/>
              </a:rPr>
              <a:t>30</a:t>
            </a:r>
            <a:r>
              <a:rPr sz="1100" b="1" dirty="0" smtClean="0">
                <a:solidFill>
                  <a:srgbClr val="F47920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F47920"/>
                </a:solidFill>
                <a:latin typeface="Arial"/>
              </a:rPr>
              <a:t>дней</a:t>
            </a:r>
            <a:r>
              <a:rPr sz="1100" b="1" dirty="0">
                <a:solidFill>
                  <a:srgbClr val="F47920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F47920"/>
                </a:solidFill>
                <a:latin typeface="Arial"/>
              </a:rPr>
              <a:t>для</a:t>
            </a:r>
            <a:r>
              <a:rPr sz="1100" b="1" dirty="0">
                <a:solidFill>
                  <a:srgbClr val="F47920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F47920"/>
                </a:solidFill>
                <a:latin typeface="Arial"/>
              </a:rPr>
              <a:t>розницы</a:t>
            </a:r>
            <a:endParaRPr sz="1100" b="1" dirty="0">
              <a:solidFill>
                <a:srgbClr val="F47920"/>
              </a:solidFill>
              <a:latin typeface="Arial"/>
            </a:endParaRPr>
          </a:p>
          <a:p>
            <a:pPr algn="l"/>
            <a:r>
              <a:rPr sz="900" b="0" dirty="0" err="1">
                <a:solidFill>
                  <a:srgbClr val="1A1F36"/>
                </a:solidFill>
                <a:latin typeface="Arial"/>
              </a:rPr>
              <a:t>Снизить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финансовую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нагрузку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розницу</a:t>
            </a:r>
            <a:endParaRPr sz="9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65760" y="3300984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7200" y="3438144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438144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346704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Выездное обучение продавцов ключевых РТТ (45 мин)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РМ / ЭТП — команда умеет продавать с первого дня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959352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7200" y="4096512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096512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005072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Бесплатные POS-материалы + стартовый набор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Дополнительно 5 баночек 0.4 каждому РМ для работы с трудными РТТ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617720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" y="4754880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4754880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663440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Стартовый набор постов для соцсетей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Картинка + текст + фото/видео для интернет-магазина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276088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57200" y="5413248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5413248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321808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Консигнация для топ-5 точек дистрибьютора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На усмотрение РМ. Товар стоит на полке без оплаты — риск = 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868680"/>
            <a:ext cx="4114800" cy="539496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63840" y="96012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F47920"/>
                </a:solidFill>
                <a:latin typeface="Arial"/>
              </a:rPr>
              <a:t>ЧТО ДЕЛАЕТ ДИСТРИБЬЮТОР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150876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183879" y="164592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83879" y="164592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160020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Обучить 100% ТП по TITAN (методика ТСО)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К 3-му месяцу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256032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183879" y="269748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183879" y="269748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265176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Открыть новые точки (+25% к базе)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361188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183879" y="374904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83879" y="374904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370332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Обеспечить выкладку в точках В и С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3–6 месяцев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466344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183879" y="480060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183879" y="480060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475488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Предоставлять фотоотчёты по выкладке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ЭТАП 3 — ТРЕТИЧНЫЕ ПРОДАЖИ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Розница → Покупатель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7315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  <a:latin typeface="Arial"/>
              </a:rPr>
              <a:t>ИНСТРУМЕНТЫ МАРКЕТИНГА (из матрицы)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7200" y="1417320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344168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Шелфтокер на полку / со стопером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Слоган «10 лет без перекраски — 10 лет экономии!» + QR на titanpaints.ru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01368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" y="1892808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892808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819656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Воблер на полку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Слоган «Красишь 1 раз — служит 10 лет». Розница видит выгоду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76856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2368296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368296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295144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Брендированный ценник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Переводит цену банки в «цену за год» (760 руб. → 76 руб./год)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752344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7200" y="2843784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2843784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770632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Портфолио объектов с ССВ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Экономические параметры совокупной стоимости владения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227832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7200" y="3319272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3319272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246120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MML + Планограмма выкладки Титан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 шелфтокерами и воблерами. 3 полки · 22 SKU · 3 линейки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703320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" y="3794760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3794760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3721608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Инструкция по нанесению (мини + видео)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Открытие по QR-коду. 5 шагов + видео инструкция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178808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57200" y="4270248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4270248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197096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Фото/видео POSm на облаке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Материалы для розничных точек на облаке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654296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57200" y="4745736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4745736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672584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Контент для соцсетей дистрибьюторов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Библиотека готовых постов (картинка + текст)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129784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57200" y="5221224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5221224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148072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Видеоролики для ТП и продаж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УТП по Титан + имитация идеальной продажи клиенту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605272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457200" y="5696712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5696712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623560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QR на банке + иконография ССВ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Видеоинструкция + калькулятор ССВ + «Дороже банка — дешевле покраска!»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63840" y="868680"/>
            <a:ext cx="4114800" cy="539496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863840" y="96012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ЧТО ДЕЛАЕТ ДИСТРИБЬЮТОР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150876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183879" y="164592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83879" y="164592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160020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Обеспечить наличие POS-материалов в 80% точек с TITAN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К 6-му месяцу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256032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183879" y="269748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183879" y="269748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265176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Обучить продавцов розницы (сертификация ТСО)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3–6 месяцев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46720" y="361188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8183879" y="374904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183879" y="374904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95360" y="370332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Предоставлять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фото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выкладок</a:t>
            </a:r>
            <a:endParaRPr sz="9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46720" y="466344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8183879" y="480060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183879" y="480060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95360" y="475488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Собирать обратную связь от покупателей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Постоянно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6827"/>
            <a:ext cx="11460175" cy="38985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Arial"/>
              </a:rPr>
              <a:t>ЭТАП </a:t>
            </a:r>
            <a:r>
              <a:rPr lang="ru-RU" sz="2200" b="1" i="0" dirty="0" smtClean="0">
                <a:solidFill>
                  <a:srgbClr val="FFFFFF"/>
                </a:solidFill>
                <a:latin typeface="Arial"/>
              </a:rPr>
              <a:t>4</a:t>
            </a:r>
            <a:r>
              <a:rPr sz="22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— POS-МАТЕРИАЛЫ НА ПОЛКЕ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Инструменты 1-5  •  Шелфтокер · Воблер · Ценник · Портфолио · Планограмма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ШЕЛФТОКЕР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2103120" cy="4667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полку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с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выкладкой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Титан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
</a:t>
            </a:r>
            <a:r>
              <a:rPr lang="ru-RU" sz="900" dirty="0">
                <a:solidFill>
                  <a:srgbClr val="1A1F36"/>
                </a:solidFill>
                <a:latin typeface="Arial"/>
              </a:rPr>
              <a:t>Красишь 1 раз — служит 10 лет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!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
+ QR-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код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titanpaints.ru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ВОБЛЕР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572000"/>
            <a:ext cx="210312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 smtClean="0">
                <a:solidFill>
                  <a:srgbClr val="1A1F36"/>
                </a:solidFill>
                <a:latin typeface="Arial"/>
              </a:rPr>
              <a:t>Розница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видит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выгоду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и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берёт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пробу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2064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064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БРЕНДИРОВАННЫЙ ЦЕННИК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572000"/>
            <a:ext cx="2103120" cy="6052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Переводит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цену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банки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в «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цену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за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год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».
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5720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руб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за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банку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→ 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532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руб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./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год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(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5720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÷ 10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лет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9808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ПОРТФОЛИО ОБЪЕКТОВ</a:t>
            </a:r>
          </a:p>
        </p:txBody>
      </p:sp>
      <p:pic>
        <p:nvPicPr>
          <p:cNvPr id="29" name="Picture 28" descr="04_portfol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691640"/>
            <a:ext cx="2011680" cy="27432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589520" y="4572000"/>
            <a:ext cx="2103120" cy="1554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Наиболее распространённые объекты
с экономическими параметрами ССВ.
Ворота, забор, гараж, решётки.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2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87552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7552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 dirty="0">
                <a:solidFill>
                  <a:srgbClr val="FBBF24"/>
                </a:solidFill>
                <a:latin typeface="Arial"/>
              </a:rPr>
              <a:t>ИНСТРУМЕНТ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 dirty="0" smtClean="0">
                <a:solidFill>
                  <a:srgbClr val="FFFFFF"/>
                </a:solidFill>
                <a:latin typeface="Arial"/>
              </a:rPr>
              <a:t>MML + ПЛАНОГРАММА</a:t>
            </a:r>
            <a:endParaRPr sz="1100" b="1" i="0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5" name="Picture 34" descr="05_plano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0" y="1691640"/>
            <a:ext cx="2011680" cy="27432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966960" y="4572000"/>
            <a:ext cx="2103120" cy="1554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Выкладка Титан с шелфтокерами и воблерами.
3 полки · 22 SKU · 3 линейки.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 smtClean="0">
                <a:solidFill>
                  <a:srgbClr val="9CA3AF"/>
                </a:solidFill>
                <a:latin typeface="Arial"/>
              </a:rPr>
              <a:t>продаж</a:t>
            </a:r>
            <a:endParaRPr sz="900" b="0" i="1" dirty="0">
              <a:solidFill>
                <a:srgbClr val="9CA3AF"/>
              </a:solidFill>
              <a:latin typeface="Arial"/>
            </a:endParaRPr>
          </a:p>
        </p:txBody>
      </p:sp>
      <p:pic>
        <p:nvPicPr>
          <p:cNvPr id="38" name="Рисунок 37" descr="Шелфтокер пример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1" t="7246" b="24059"/>
          <a:stretch>
            <a:fillRect/>
          </a:stretch>
        </p:blipFill>
        <p:spPr bwMode="auto">
          <a:xfrm>
            <a:off x="518182" y="2223270"/>
            <a:ext cx="1981155" cy="1890333"/>
          </a:xfrm>
          <a:prstGeom prst="rect">
            <a:avLst/>
          </a:prstGeom>
          <a:noFill/>
        </p:spPr>
      </p:pic>
      <p:pic>
        <p:nvPicPr>
          <p:cNvPr id="39" name="Рисунок 38" descr="Воблер пример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464" y="2223270"/>
            <a:ext cx="1970033" cy="1890333"/>
          </a:xfrm>
          <a:prstGeom prst="rect">
            <a:avLst/>
          </a:prstGeom>
          <a:noFill/>
        </p:spPr>
      </p:pic>
      <p:pic>
        <p:nvPicPr>
          <p:cNvPr id="40" name="Picture 4"/>
          <p:cNvPicPr/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1" r="10137"/>
          <a:stretch/>
        </p:blipFill>
        <p:spPr>
          <a:xfrm>
            <a:off x="5203178" y="2223270"/>
            <a:ext cx="2130634" cy="18903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6827"/>
            <a:ext cx="11460175" cy="38985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Arial"/>
              </a:rPr>
              <a:t>ЭТАП </a:t>
            </a:r>
            <a:r>
              <a:rPr lang="ru-RU" sz="2200" b="1" i="0" dirty="0" smtClean="0">
                <a:solidFill>
                  <a:srgbClr val="FFFFFF"/>
                </a:solidFill>
                <a:latin typeface="Arial"/>
              </a:rPr>
              <a:t>5</a:t>
            </a:r>
            <a:r>
              <a:rPr sz="22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— КОНТЕНТ И ОБУЧЕНИЕ ПОКУПАТЕЛЯ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Инструменты 6-9 + QR на банке + иконография ССВ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960120"/>
            <a:ext cx="27889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ИНСТРУКЦИЯ ПО НАНЕСЕНИЮ</a:t>
            </a:r>
          </a:p>
        </p:txBody>
      </p:sp>
      <p:pic>
        <p:nvPicPr>
          <p:cNvPr id="11" name="Picture 10" descr="06_instruction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45920"/>
            <a:ext cx="2514600" cy="1554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3291840"/>
            <a:ext cx="26060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Открытие по QR-коду.
Мини-инструкция (5 шагов)
+ видео инструкция.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9184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91840" y="960120"/>
            <a:ext cx="27889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ФОТО/ВИДЕО POSm НА ОБЛАКЕ</a:t>
            </a:r>
          </a:p>
        </p:txBody>
      </p:sp>
      <p:pic>
        <p:nvPicPr>
          <p:cNvPr id="17" name="Picture 16" descr="07_cloud_pos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645920"/>
            <a:ext cx="2514600" cy="1554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383280" y="3291840"/>
            <a:ext cx="26060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Материалы для розничных точек
на облаке. Фото выкладки,
видео, шаблоны.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960120"/>
            <a:ext cx="27889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КОНТЕНТ ДЛЯ СОЦСЕТЕЙ</a:t>
            </a:r>
          </a:p>
        </p:txBody>
      </p:sp>
      <p:pic>
        <p:nvPicPr>
          <p:cNvPr id="23" name="Picture 22" descr="08_social_cont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645920"/>
            <a:ext cx="2514600" cy="1554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309360" y="3291840"/>
            <a:ext cx="26060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Папка на облаке с библиотекой
готовых постов про Титан
(картинка + текст).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4400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0" y="960120"/>
            <a:ext cx="27889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ВИДЕОРОЛИКИ</a:t>
            </a:r>
          </a:p>
        </p:txBody>
      </p:sp>
      <p:pic>
        <p:nvPicPr>
          <p:cNvPr id="29" name="Picture 28" descr="09_video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1645920"/>
            <a:ext cx="2514600" cy="15544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235440" y="3291840"/>
            <a:ext cx="26060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Для ТП общего прайса:
УТП, свойства, выгода по Титан.
+ ролик идеальной продажи.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297680"/>
            <a:ext cx="5669280" cy="19202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4389120"/>
            <a:ext cx="53035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  <a:latin typeface="Arial"/>
              </a:rPr>
              <a:t>ДОП: QR-КОД НА БАНКЕ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754880"/>
            <a:ext cx="5303520" cy="1371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 dirty="0">
                <a:solidFill>
                  <a:srgbClr val="1A1F36"/>
                </a:solidFill>
                <a:latin typeface="Arial"/>
              </a:rPr>
              <a:t>QR-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код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банке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→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видеоинструкция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использования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+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калькулятор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ССВ (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совокупной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стоимости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владения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).
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Покупатель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сам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узнаёт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о TITAN,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без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продавца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297680"/>
            <a:ext cx="5760720" cy="19202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4389120"/>
            <a:ext cx="5303520" cy="6052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 dirty="0">
                <a:solidFill>
                  <a:srgbClr val="16A34A"/>
                </a:solidFill>
                <a:latin typeface="Arial"/>
              </a:rPr>
              <a:t>ДОП: </a:t>
            </a:r>
            <a:r>
              <a:rPr lang="ru-RU" sz="1200" b="1" i="0" dirty="0" smtClean="0">
                <a:solidFill>
                  <a:srgbClr val="16A34A"/>
                </a:solidFill>
                <a:latin typeface="Arial"/>
              </a:rPr>
              <a:t>Выездное оборудование</a:t>
            </a:r>
          </a:p>
          <a:p>
            <a:pPr algn="l"/>
            <a:endParaRPr lang="ru-RU" sz="1200" b="1" dirty="0">
              <a:solidFill>
                <a:srgbClr val="16A34A"/>
              </a:solidFill>
              <a:latin typeface="Arial"/>
            </a:endParaRPr>
          </a:p>
          <a:p>
            <a:pPr algn="l"/>
            <a:r>
              <a:rPr lang="ru-RU" sz="1100" dirty="0">
                <a:solidFill>
                  <a:srgbClr val="1A1F36"/>
                </a:solidFill>
                <a:latin typeface="Arial"/>
              </a:rPr>
              <a:t>Ролл-ап </a:t>
            </a:r>
            <a:endParaRPr sz="110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5440" y="4375402"/>
            <a:ext cx="752682" cy="1794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2215"/>
            <a:ext cx="11460175" cy="3590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ru-RU" sz="2000" b="1" i="0" dirty="0" smtClean="0">
                <a:solidFill>
                  <a:srgbClr val="FFFFFF"/>
                </a:solidFill>
                <a:latin typeface="Arial"/>
              </a:rPr>
              <a:t>ЭТАП 6 -</a:t>
            </a:r>
            <a:r>
              <a:rPr sz="2000" b="1" i="0" dirty="0" smtClean="0">
                <a:solidFill>
                  <a:srgbClr val="FFFFFF"/>
                </a:solidFill>
                <a:latin typeface="Arial"/>
              </a:rPr>
              <a:t>ПРОДВИЖЕНИЕ </a:t>
            </a:r>
            <a:r>
              <a:rPr sz="2000" b="1" i="0" dirty="0">
                <a:solidFill>
                  <a:srgbClr val="FFFFFF"/>
                </a:solidFill>
                <a:latin typeface="Arial"/>
              </a:rPr>
              <a:t>TITAN </a:t>
            </a:r>
            <a:r>
              <a:rPr sz="2000" b="1" i="0" dirty="0" smtClean="0">
                <a:solidFill>
                  <a:srgbClr val="FFFFFF"/>
                </a:solidFill>
                <a:latin typeface="Arial"/>
              </a:rPr>
              <a:t>— </a:t>
            </a:r>
            <a:r>
              <a:rPr sz="2000" b="1" i="0" dirty="0">
                <a:solidFill>
                  <a:srgbClr val="FFFFFF"/>
                </a:solidFill>
                <a:latin typeface="Arial"/>
              </a:rPr>
              <a:t>ЭКСТРЕМАЛЬНЫЙ </a:t>
            </a:r>
            <a:r>
              <a:rPr sz="2000" b="1" i="0" dirty="0" smtClean="0">
                <a:solidFill>
                  <a:srgbClr val="FFFFFF"/>
                </a:solidFill>
                <a:latin typeface="Arial"/>
              </a:rPr>
              <a:t>ТЕСТ</a:t>
            </a:r>
            <a:r>
              <a:rPr lang="ru-RU" sz="2000" b="1" i="0" dirty="0" smtClean="0">
                <a:solidFill>
                  <a:srgbClr val="FFFFFF"/>
                </a:solidFill>
                <a:latin typeface="Arial"/>
              </a:rPr>
              <a:t> + </a:t>
            </a:r>
            <a:r>
              <a:rPr lang="en-US" sz="2000" b="1" i="0" dirty="0" smtClean="0">
                <a:solidFill>
                  <a:srgbClr val="FFFFFF"/>
                </a:solidFill>
                <a:latin typeface="Arial"/>
              </a:rPr>
              <a:t>Digital</a:t>
            </a:r>
            <a:endParaRPr sz="20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3 инструмента · за пределами полки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3749039" cy="5394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777240"/>
            <a:ext cx="3749039" cy="7315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784860"/>
            <a:ext cx="374903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🔥  ЭКСТРЕМАЛЬНЫЙ ТЕСТ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59180"/>
            <a:ext cx="3749039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TITAN vs 365 дней
под открытым небом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770" y="16459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C62828"/>
                </a:solidFill>
                <a:latin typeface="Arial"/>
              </a:rPr>
              <a:t>Что: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645920"/>
            <a:ext cx="2743199" cy="4667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ru-RU" sz="900" dirty="0" smtClean="0">
                <a:solidFill>
                  <a:srgbClr val="1A1F36"/>
                </a:solidFill>
                <a:latin typeface="Arial"/>
              </a:rPr>
              <a:t>Объект  или какая-то металлическая конструкция </a:t>
            </a:r>
            <a:r>
              <a:rPr sz="900" b="0" i="0" dirty="0" err="1" smtClean="0">
                <a:solidFill>
                  <a:srgbClr val="1A1F36"/>
                </a:solidFill>
                <a:latin typeface="Arial"/>
              </a:rPr>
              <a:t>краси</a:t>
            </a:r>
            <a:r>
              <a:rPr lang="ru-RU" sz="900" b="0" i="0" dirty="0" err="1" smtClean="0">
                <a:solidFill>
                  <a:srgbClr val="1A1F36"/>
                </a:solidFill>
                <a:latin typeface="Arial"/>
              </a:rPr>
              <a:t>тся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 в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TITAN 3в1 и </a:t>
            </a:r>
            <a:r>
              <a:rPr sz="900" b="0" i="0" dirty="0" err="1" smtClean="0">
                <a:solidFill>
                  <a:srgbClr val="1A1F36"/>
                </a:solidFill>
                <a:latin typeface="Arial"/>
              </a:rPr>
              <a:t>выставляе</a:t>
            </a:r>
            <a:r>
              <a:rPr lang="ru-RU" sz="900" b="0" i="0" dirty="0" err="1" smtClean="0">
                <a:solidFill>
                  <a:srgbClr val="1A1F36"/>
                </a:solidFill>
                <a:latin typeface="Arial"/>
              </a:rPr>
              <a:t>ся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 на открытую площадь на заводе </a:t>
            </a:r>
            <a:r>
              <a:rPr lang="ru-RU" sz="900" b="0" i="0" dirty="0" err="1" smtClean="0">
                <a:solidFill>
                  <a:srgbClr val="1A1F36"/>
                </a:solidFill>
                <a:latin typeface="Arial"/>
              </a:rPr>
              <a:t>Эмпилс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5770" y="2359152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Условия: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359152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Солнце, дождь, снег, град, перепады от -25°C до +40°C — 365 дней без укрытия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770" y="3072384"/>
            <a:ext cx="81153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Трансляция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72384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Онлайн-камера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24/7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сайте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titanpaints.ru —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каждый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может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смотреть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770" y="3785616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Контроль: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785616"/>
            <a:ext cx="2743199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Ежемесячные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фото-отчёты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+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независимая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экспертиза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ООО «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Рутил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»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 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5770" y="4498848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Финал: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498848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Через 365 дней — торжественное снятие, публикация результатов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025390"/>
            <a:ext cx="3474719" cy="3200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5025390"/>
            <a:ext cx="347471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ЦЕЛЬ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448300"/>
            <a:ext cx="3474719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Доказать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«10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лет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без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перекраски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»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не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словах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, а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публично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— в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реальном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времени</a:t>
            </a:r>
            <a:endParaRPr sz="9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251959" y="777240"/>
            <a:ext cx="3749039" cy="5394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51959" y="777240"/>
            <a:ext cx="3749039" cy="7315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51959" y="784860"/>
            <a:ext cx="374903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🔍  КОНТЕКСТНАЯ РЕКЛАМА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59" y="1059180"/>
            <a:ext cx="3749039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Яндекс.Директ
(поиск + РСЯ)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19" y="16459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  <a:latin typeface="Arial"/>
              </a:rPr>
              <a:t>Как: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39" y="1645920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Человек вводит «краска по ржавчине», «грунт-эмаль 3 в 1», «как покрасить забор» — видит рекламу TITAN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19" y="2359152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Формат: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39" y="2359152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Текстово-графические объявления + баннеры РСЯ на сайтах партнёров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19" y="3072384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Таргетинг: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39" y="3072384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Мужчины 25-55 лет, интересы: ремонт, строительство, дача, авто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19" y="3785616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Посыл: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39" y="3785616"/>
            <a:ext cx="2743199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 dirty="0">
                <a:solidFill>
                  <a:srgbClr val="1A1F36"/>
                </a:solidFill>
                <a:latin typeface="Arial"/>
              </a:rPr>
              <a:t>«TITAN 3в1 — 10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лет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без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перекраски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Найдите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в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магазине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[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сеть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]» +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ссылка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lang="en-US" sz="900" dirty="0">
                <a:solidFill>
                  <a:srgbClr val="1A1F36"/>
                </a:solidFill>
                <a:latin typeface="Arial"/>
              </a:rPr>
              <a:t>titanpaints.ru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389119" y="4498848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Бюджет: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39" y="4498848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15-30 ₽ за клик · ~30 000 ₽/мес на регион · охват 50 000+ показов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19" y="5025390"/>
            <a:ext cx="3474719" cy="3200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389119" y="5025390"/>
            <a:ext cx="347471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ЦЕЛЬ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19" y="5448300"/>
            <a:ext cx="3474719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Ловить горячий спрос — тех, кто уже ищет ЛКМ, и направлять в точки продаж TITAN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58" y="777240"/>
            <a:ext cx="3749039" cy="5394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38158" y="777240"/>
            <a:ext cx="3749039" cy="7315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38158" y="784860"/>
            <a:ext cx="374903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📺  ВИДЕОРЕКЛАМА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58" y="1059180"/>
            <a:ext cx="3749039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 dirty="0" err="1">
                <a:solidFill>
                  <a:srgbClr val="FFFFFF"/>
                </a:solidFill>
                <a:latin typeface="Arial"/>
              </a:rPr>
              <a:t>RuTube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
(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без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 VPN в РФ)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18" y="1645920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  <a:latin typeface="Arial"/>
              </a:rPr>
              <a:t>Почему RuTube: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58" y="1645920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Единственная видеоплатформа, которая работает в РФ без VPN. Аудитория растёт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18" y="2359152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Формат: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58" y="2359152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Пре-роллы 15-30 сек перед видео о ремонте, строительстве, даче, авто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18" y="3072384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Контент: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58" y="3072384"/>
            <a:ext cx="2468879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Демо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vs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ПФ-115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. – ССВ. Видео реальных  примеров объектов.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275318" y="3785616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Таргетинг: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58" y="3785616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Мужчины 25-55, каналы: «Ремонт», «Строительство», «Дача», «Гараж», «Сделай сам»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5318" y="4498848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Бюджет: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81158" y="4498848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~10-15 ₽ за просмотр · ~40 000 ₽/мес · охват 100 000+ просмотров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75318" y="5025390"/>
            <a:ext cx="3474719" cy="3200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75318" y="5025390"/>
            <a:ext cx="347471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ЦЕЛЬ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5318" y="5448300"/>
            <a:ext cx="3474719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Массовый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охват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целевой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аудитории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+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видеоконтент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из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теста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365 =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синергия</a:t>
            </a:r>
            <a:endParaRPr sz="9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365760" y="6261735"/>
            <a:ext cx="11460175" cy="50292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65760" y="6261735"/>
            <a:ext cx="11460175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 dirty="0">
                <a:solidFill>
                  <a:srgbClr val="8E0000"/>
                </a:solidFill>
                <a:latin typeface="Arial"/>
              </a:rPr>
              <a:t>⚡ 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Синергия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: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экстремальный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тест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365 →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контент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для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RuTube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+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Я.Директ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→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трафик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в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точки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продаж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→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рост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третичных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продаж</a:t>
            </a:r>
            <a:endParaRPr sz="1200" b="1" i="0" dirty="0">
              <a:solidFill>
                <a:srgbClr val="8E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6116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ПРОДВИЖЕНИЕ TITAN В СЕТИ «ЛЕМАНА ПРО» — ЮФО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11 торговых точек  •  7 активностей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49808"/>
            <a:ext cx="11460175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49808"/>
            <a:ext cx="11460175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  <a:latin typeface="Arial"/>
              </a:rPr>
              <a:t>Цель: 1) Показать уходимость грунт-эмалей TITAN в 11 ТТ Лемана ПРО на территории ЮФО   2) Инициировать пробную покупку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71600"/>
            <a:ext cx="64008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  <a:latin typeface="Arial"/>
              </a:rPr>
              <a:t>7 АКТИВНОСТЕЙ ПРОДВИЖЕНИЯ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37360"/>
            <a:ext cx="6858000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7200" y="1847088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847088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755648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РК на экранах Ростова-на-Дону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6 топовых экранов города · с 01.07 на 1 месяц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340864"/>
            <a:ext cx="6858000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2450592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450592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359152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Таргетированная реклама в интернете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ГЕО по 11 ТТ · ВКонтакте · с 07.07 по 31.08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944368"/>
            <a:ext cx="6858000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7200" y="3054096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054096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2962656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Промо-акция «Подарок за покупку»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Ростов: 17-18 июля · Краснодар: 18-19 июля · от 1900₽ — кисть+перчатки, от 3900₽ — сертификат 500₽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547872"/>
            <a:ext cx="6858000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" y="3657600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3657600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3566160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Кэшбек 5% на TITAN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Во всех 11 ТТ Лемана ПРО · с 01.07 по 31.08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151376"/>
            <a:ext cx="6858000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57200" y="4261104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4261104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169664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Мастер-классы силами Эмпилс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3 ТТ в Ростове-на-Дону · 17 и 24 июля · выкрасы с покупателем + презентация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754880"/>
            <a:ext cx="6858000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57200" y="4864608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4864608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4773168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Обеспечение выкрасами 11 ТТ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Выкрасы EPL и TITAN · до 16.07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358384"/>
            <a:ext cx="6858000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457200" y="5468112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5468112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5376672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Веерные выкрасы B2B Лемана ПРО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13 веерных выкрасов · изготовление до 14.07, распределение до 22.07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79" y="1371600"/>
            <a:ext cx="45720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11 ТОРГОВЫХ ТОЧЕК — ЮФО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79" y="1737360"/>
            <a:ext cx="4572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498079" y="1737360"/>
            <a:ext cx="4572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№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55279" y="1737360"/>
            <a:ext cx="32004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955279" y="1737360"/>
            <a:ext cx="32004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Город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155679" y="1737360"/>
            <a:ext cx="9144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1155679" y="1737360"/>
            <a:ext cx="9144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Рег. №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98079" y="2029968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498079" y="2029968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55279" y="2029968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955279" y="2029968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Ростов-на-Дону, ул. Доватора, 158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79" y="2029968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1155679" y="2029968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94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98079" y="2331720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498079" y="2331720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955279" y="2331720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955279" y="2331720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Аксай, Аксайский пр-т, 23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155679" y="2331720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1155679" y="2331720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498079" y="2633472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498079" y="2633472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955279" y="2633472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955279" y="2633472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Верхнетемерницкий, ул. Обсерваторная, 15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155679" y="2633472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1155679" y="2633472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498079" y="2935224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498079" y="2935224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955279" y="2935224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955279" y="2935224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Волгоград, Университетский пр-т, 107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155679" y="2935224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1155679" y="2935224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498079" y="3236976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498079" y="3236976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955279" y="3236976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955279" y="3236976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Краснодар, ул. Покрышкина, 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1155679" y="3236976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1155679" y="3236976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92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498079" y="3538728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498079" y="3538728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6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955279" y="3538728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955279" y="3538728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Краснодар, ул. Новороссийская, 234/1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155679" y="3538728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1155679" y="3538728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498079" y="3840480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498079" y="3840480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955279" y="3840480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955279" y="3840480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Новороссийск, ул. Ленина, 7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1155679" y="3840480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1155679" y="3840480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165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498079" y="4142232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7498079" y="4142232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955279" y="4142232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955279" y="4142232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Ставропольский край, с. Татарка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155679" y="4142232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1155679" y="4142232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69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498079" y="4443984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7498079" y="4443984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9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955279" y="4443984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7955279" y="4443984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Владикавказ, Архонское шоссе, 1А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1155679" y="4443984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11155679" y="4443984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150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498079" y="4745736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498079" y="4745736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955279" y="4745736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7955279" y="4745736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Адыгея, Тургеневское шоссе, 27/1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1155679" y="4745736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11155679" y="4745736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147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498079" y="5047488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498079" y="5047488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955279" y="5047488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7955279" y="5047488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Волжский, пр-т Ленина, 2Ж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1155679" y="5047488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11155679" y="5047488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7465711" y="5426924"/>
            <a:ext cx="4572000" cy="1325880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7557152" y="5472644"/>
            <a:ext cx="43891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ГЕОГРАФИЯ И МЕХАНИКА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557152" y="5746964"/>
            <a:ext cx="4389120" cy="9601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800" b="0">
                <a:solidFill>
                  <a:srgbClr val="1A1F36"/>
                </a:solidFill>
                <a:latin typeface="Arial"/>
              </a:rPr>
              <a:t>6 регионов ЮФО: Ростовская обл., Краснодарский край, Волгоградская обл., Ставропольский край, Сев. Осетия, Адыгея</a:t>
            </a:r>
          </a:p>
          <a:p>
            <a:pPr algn="l"/>
            <a:r>
              <a:rPr sz="400" b="0">
                <a:solidFill>
                  <a:srgbClr val="FFFFFF"/>
                </a:solidFill>
                <a:latin typeface="Arial"/>
              </a:rPr>
              <a:t> </a:t>
            </a:r>
          </a:p>
          <a:p>
            <a:pPr algn="l"/>
            <a:r>
              <a:rPr sz="800" b="1">
                <a:solidFill>
                  <a:srgbClr val="1A1F36"/>
                </a:solidFill>
                <a:latin typeface="Arial"/>
              </a:rPr>
              <a:t>Механика: от 1 900 ₽ — кисть + перчатки в подарок</a:t>
            </a:r>
          </a:p>
          <a:p>
            <a:pPr algn="l"/>
            <a:r>
              <a:rPr sz="800" b="1">
                <a:solidFill>
                  <a:srgbClr val="1A1F36"/>
                </a:solidFill>
                <a:latin typeface="Arial"/>
              </a:rPr>
              <a:t>            от 3 900 ₽ — сертификат Лемана ПРО 500 ₽</a:t>
            </a:r>
          </a:p>
          <a:p>
            <a:pPr algn="l"/>
            <a:r>
              <a:rPr sz="800" b="1">
                <a:solidFill>
                  <a:srgbClr val="16A34A"/>
                </a:solidFill>
                <a:latin typeface="Arial"/>
              </a:rPr>
              <a:t>            + 5% кэшбек на TITAN</a:t>
            </a:r>
          </a:p>
        </p:txBody>
      </p:sp>
    </p:spTree>
    <p:extLst>
      <p:ext uri="{BB962C8B-B14F-4D97-AF65-F5344CB8AC3E}">
        <p14:creationId xmlns:p14="http://schemas.microsoft.com/office/powerpoint/2010/main" val="1812589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0" y="0"/>
            <a:ext cx="91440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41148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Arial"/>
              </a:rPr>
              <a:t>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0"/>
            <a:ext cx="41148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ПЛАНОГРАММЫ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ПО КЛАССАМ ТТ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749039"/>
            <a:ext cx="228600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393192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A — Федеральная сеть DIY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43484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B — Локальная сеть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93776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C — Супермаркет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44068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D — Хозмаг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914400"/>
            <a:ext cx="6858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16A34A"/>
                </a:solidFill>
                <a:latin typeface="Arial"/>
              </a:rPr>
              <a:t>Сводная матрица TITAN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737360"/>
            <a:ext cx="6858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16A34A"/>
                </a:solidFill>
                <a:latin typeface="Arial"/>
              </a:rPr>
              <a:t>по 4 классам ТТ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697480"/>
            <a:ext cx="182880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0" y="2880360"/>
            <a:ext cx="6858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0" i="1">
                <a:solidFill>
                  <a:srgbClr val="1A1F36"/>
                </a:solidFill>
                <a:latin typeface="Arial"/>
              </a:rPr>
              <a:t>4 планограммы · 30 SKU TITAN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3657600"/>
            <a:ext cx="6675120" cy="41148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Класс ТТ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172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Канал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424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TITAN SKU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3в1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928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Быстросох.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9180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Молот.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4069080"/>
            <a:ext cx="6675120" cy="411480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172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Федеральная DIY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5424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928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9180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0" y="4480560"/>
            <a:ext cx="66751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172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Локальная сеть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5424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7928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9180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4892040"/>
            <a:ext cx="6675120" cy="411480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172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Супермаркет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5424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7928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9180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0" y="5303520"/>
            <a:ext cx="66751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2920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4172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Хозмаг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5424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C62828"/>
                </a:solidFill>
                <a:latin typeface="Arial"/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7928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9180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0" y="6309360"/>
            <a:ext cx="6858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Arial"/>
              </a:rPr>
              <a:t>Empils  •  TITAN  •  2026</a:t>
            </a:r>
          </a:p>
        </p:txBody>
      </p:sp>
    </p:spTree>
    <p:extLst>
      <p:ext uri="{BB962C8B-B14F-4D97-AF65-F5344CB8AC3E}">
        <p14:creationId xmlns:p14="http://schemas.microsoft.com/office/powerpoint/2010/main" val="3902786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СВОДНАЯ ТАБЛИЦА — MML TITAN ПО КЛАССАМ ТТ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Сравнение по категориям · RAL указан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2416" y="980818"/>
            <a:ext cx="3200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2416" y="980818"/>
            <a:ext cx="32004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Категория / Объём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2816" y="980818"/>
            <a:ext cx="21945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02816" y="980818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A — Федер. DIY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7376" y="980818"/>
            <a:ext cx="21945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7376" y="980818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B — Локал. сеть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91936" y="980818"/>
            <a:ext cx="20116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91936" y="980818"/>
            <a:ext cx="20116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C — Супермаркет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02416" y="1392298"/>
            <a:ext cx="320040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8136" y="1392298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3в1 по ржавчине, 0.75 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2816" y="1392298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48536" y="1392298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 цветов:
RAL 9005 (чёрный)
RAL 8017 (шоколад)
RAL 7004 (серый)
RAL 7024 (графит)
RAL 9010 (белый)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7376" y="1392298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43096" y="1392298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 цветов:
RAL 9005 (чёрный)
RAL 8017 (шоколад)
RAL 7004 (серый)
RAL 7024 (графит)
RAL 9010 (белый)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91936" y="1392298"/>
            <a:ext cx="201168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37656" y="1392298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02416" y="2112602"/>
            <a:ext cx="32004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8136" y="2112602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3в1 по ржавчине, 2 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02816" y="2112602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48536" y="2112602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 цветов:
RAL 9005 (чёрный)
RAL 8017 (шоколад)
RAL 7004 (серый)
RAL 7024 (графит)
RAL 9010 (белый)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7376" y="2112602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43096" y="2112602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 цвета:
RAL 9005 (чёрный)
RAL 8017 (шоколад)
RAL 7004 (серый)
RAL 7024 (графит)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91936" y="2112602"/>
            <a:ext cx="201168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37656" y="2112602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02416" y="2832906"/>
            <a:ext cx="320040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48136" y="28329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Быстросохнущая, 0.75 л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02816" y="28329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48536" y="28329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RAL 9005 (чёрный)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7376" y="28329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43096" y="28329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RAL 9005 (чёрный)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91936" y="2832906"/>
            <a:ext cx="201168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737656" y="28329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02416" y="3518706"/>
            <a:ext cx="32004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48136" y="35187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Быстросохнущая, 2.2 л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02816" y="35187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348536" y="35187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RAL 9005 (чёрный)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97376" y="35187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43096" y="35187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91936" y="3518706"/>
            <a:ext cx="201168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737656" y="35187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02416" y="4204506"/>
            <a:ext cx="320040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148136" y="42045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Молотковая, 0.8 кг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02816" y="42045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348536" y="42045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 цвета:
Чёрный
Коричневый
Серебристый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97376" y="42045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543096" y="42045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 цвета:
Чёрный
Коричневый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91936" y="4204506"/>
            <a:ext cx="201168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737656" y="42045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 цвета:
Чёрный
Коричневый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02416" y="4890306"/>
            <a:ext cx="32004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148136" y="48903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Молотковая, 2.5 кг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02816" y="48903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348536" y="48903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Чёрный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97376" y="48903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543096" y="48903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691936" y="4890306"/>
            <a:ext cx="201168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737656" y="48903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02416" y="5576106"/>
            <a:ext cx="3200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102416" y="5576106"/>
            <a:ext cx="32004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ИТОГО SKU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302816" y="5576106"/>
            <a:ext cx="2194560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302816" y="5576106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97376" y="5576106"/>
            <a:ext cx="2194560" cy="41148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497376" y="5576106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691936" y="5576106"/>
            <a:ext cx="201168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691936" y="5576106"/>
            <a:ext cx="20116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87919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MML: КАК БЫЛО → КАК ПРЕДЛАГАЕТСЯ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8 рекомендаций на основе продаж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891540"/>
            <a:ext cx="2788920" cy="3657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A — Федеральная DIY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16  →  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+5 SKU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91840" y="891540"/>
            <a:ext cx="2788920" cy="36576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B — Локальная сеть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12  →  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+4 SKU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891540"/>
            <a:ext cx="2788920" cy="3657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C — Супермаркет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2  → 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+2 SKU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4000" y="891540"/>
            <a:ext cx="2788920" cy="3657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D — Хозмаг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0  → 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9CA3AF"/>
                </a:solidFill>
                <a:latin typeface="Arial"/>
              </a:rPr>
              <a:t>0 SKU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5852160" y="2354580"/>
            <a:ext cx="457200" cy="320040"/>
          </a:xfrm>
          <a:prstGeom prst="downArrow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2785110"/>
            <a:ext cx="114300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8 РЕКОМЕНДАЦИЙ ПО КОРРЕКТИРОВКЕ MML — НА ОСНОВЕ РЕАЛЬНЫХ ПРОДАЖ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036570"/>
            <a:ext cx="45720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3036570"/>
            <a:ext cx="4572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3036570"/>
            <a:ext cx="210312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3036570"/>
            <a:ext cx="21031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Категория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3036570"/>
            <a:ext cx="274320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926080" y="3036570"/>
            <a:ext cx="27432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Цвет / RAL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0" y="3036570"/>
            <a:ext cx="82296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80" y="3036570"/>
            <a:ext cx="8229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Объём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036570"/>
            <a:ext cx="109728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92240" y="3036570"/>
            <a:ext cx="10972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Вторичка
(шт)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9520" y="3036570"/>
            <a:ext cx="82296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89520" y="3036570"/>
            <a:ext cx="8229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АКБ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12480" y="3036570"/>
            <a:ext cx="137160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0" y="3036570"/>
            <a:ext cx="13716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Было
(MML)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84080" y="3036570"/>
            <a:ext cx="155448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784080" y="3036570"/>
            <a:ext cx="15544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Стало
(MML)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402330"/>
            <a:ext cx="457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65760" y="3402330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" y="3402330"/>
            <a:ext cx="210312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2960" y="3402330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26080" y="3402330"/>
            <a:ext cx="2743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926080" y="3402330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Чёрный RAL 9005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0" y="3402330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669280" y="340233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3402330"/>
            <a:ext cx="10972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92240" y="3402330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7 738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89520" y="3402330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589520" y="340233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393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12480" y="3402330"/>
            <a:ext cx="13716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412480" y="3402330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A, 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84080" y="3402330"/>
            <a:ext cx="15544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784080" y="3402330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B, 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3731514"/>
            <a:ext cx="457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65760" y="3731514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2960" y="3731514"/>
            <a:ext cx="210312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22960" y="3731514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26080" y="3731514"/>
            <a:ext cx="2743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926080" y="3731514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Шоколад-коричневый RAL 8017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0" y="3731514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669280" y="373151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92240" y="3731514"/>
            <a:ext cx="10972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492240" y="3731514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4 524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589520" y="3731514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589520" y="373151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287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12480" y="3731514"/>
            <a:ext cx="13716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412480" y="3731514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A, B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784080" y="3731514"/>
            <a:ext cx="15544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784080" y="3731514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B, C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4060698"/>
            <a:ext cx="457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65760" y="4060698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2960" y="4060698"/>
            <a:ext cx="210312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22960" y="4060698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926080" y="4060698"/>
            <a:ext cx="2743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926080" y="4060698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Зелёный RAL 6005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69280" y="4060698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669280" y="406069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92240" y="4060698"/>
            <a:ext cx="10972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492240" y="4060698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1 893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589520" y="4060698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7589520" y="406069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111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412480" y="4060698"/>
            <a:ext cx="13716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412480" y="4060698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784080" y="4060698"/>
            <a:ext cx="15544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9784080" y="4060698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65760" y="4389882"/>
            <a:ext cx="457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65760" y="4389882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22960" y="4389882"/>
            <a:ext cx="210312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822960" y="4389882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926080" y="4389882"/>
            <a:ext cx="2743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2926080" y="4389882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Серый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669280" y="4389882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5669280" y="4389882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492240" y="4389882"/>
            <a:ext cx="10972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492240" y="4389882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2 695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589520" y="4389882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589520" y="4389882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199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412480" y="4389882"/>
            <a:ext cx="13716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8412480" y="4389882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784080" y="4389882"/>
            <a:ext cx="15544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9784080" y="4389882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65760" y="4719066"/>
            <a:ext cx="457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365760" y="4719066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22960" y="4719066"/>
            <a:ext cx="210312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822960" y="4719066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926080" y="4719066"/>
            <a:ext cx="2743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2926080" y="4719066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Шоколадно-кор. RAL 8017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669280" y="4719066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5669280" y="4719066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492240" y="4719066"/>
            <a:ext cx="10972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492240" y="4719066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2 232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589520" y="4719066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589520" y="4719066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193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412480" y="4719066"/>
            <a:ext cx="13716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8412480" y="4719066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784080" y="4719066"/>
            <a:ext cx="15544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9784080" y="4719066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65760" y="5048250"/>
            <a:ext cx="457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365760" y="5048250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6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22960" y="5048250"/>
            <a:ext cx="210312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822960" y="5048250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926080" y="5048250"/>
            <a:ext cx="2743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2926080" y="5048250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Белый RAL 9010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669280" y="5048250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5669280" y="504825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492240" y="5048250"/>
            <a:ext cx="10972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6492240" y="5048250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1 507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589520" y="5048250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7589520" y="504825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119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412480" y="5048250"/>
            <a:ext cx="13716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8412480" y="5048250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784080" y="5048250"/>
            <a:ext cx="15544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9784080" y="5048250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65760" y="5377434"/>
            <a:ext cx="457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365760" y="5377434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7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22960" y="5377434"/>
            <a:ext cx="210312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822960" y="5377434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926080" y="5377434"/>
            <a:ext cx="2743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2926080" y="5377434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Серебристый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669280" y="5377434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5669280" y="537743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0.8 кг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492240" y="5377434"/>
            <a:ext cx="10972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6492240" y="5377434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2 394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589520" y="5377434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7589520" y="537743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198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8412480" y="5377434"/>
            <a:ext cx="13716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8412480" y="5377434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9784080" y="5377434"/>
            <a:ext cx="15544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9784080" y="5377434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365760" y="5706618"/>
            <a:ext cx="457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365760" y="5706618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8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22960" y="5706618"/>
            <a:ext cx="210312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822960" y="5706618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926080" y="5706618"/>
            <a:ext cx="2743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2926080" y="5706618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Медный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669280" y="5706618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5669280" y="570661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0.8 кг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492240" y="5706618"/>
            <a:ext cx="10972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6492240" y="5706618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1 162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7589520" y="5706618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7589520" y="570661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102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8412480" y="5706618"/>
            <a:ext cx="13716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8412480" y="5706618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784080" y="5706618"/>
            <a:ext cx="15544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9784080" y="5706618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365760" y="6035802"/>
            <a:ext cx="61264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822960" y="6035802"/>
            <a:ext cx="52120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Arial"/>
              </a:rPr>
              <a:t>ИТОГО: 8 рекомендаций на основе продаж → +11 SKU-позиций в MML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492240" y="6035802"/>
            <a:ext cx="10972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6492240" y="6035802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22 645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7589520" y="6035802"/>
            <a:ext cx="82296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7589520" y="6035802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1 522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8412480" y="6035802"/>
            <a:ext cx="137160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8412480" y="6035802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30 SKU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9784080" y="6035802"/>
            <a:ext cx="155448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9784080" y="6035802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41 SKU</a:t>
            </a:r>
          </a:p>
        </p:txBody>
      </p:sp>
    </p:spTree>
    <p:extLst>
      <p:ext uri="{BB962C8B-B14F-4D97-AF65-F5344CB8AC3E}">
        <p14:creationId xmlns:p14="http://schemas.microsoft.com/office/powerpoint/2010/main" val="14194147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СКОЛЬКО ВЫ ЗАРАБАТЫВАЕТЕ НА 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Пример: дистрибьютор со 100 точками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7724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1. СТРУКТУРА ВАШИХ 100 ТОЧЕК (реальный MML)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5760720" cy="38404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24688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A — Федеральная DIY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097280"/>
            <a:ext cx="914400" cy="3840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0" y="1097280"/>
            <a:ext cx="91440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5 точек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097280"/>
            <a:ext cx="21031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16 SKU × 6 шт = 480 банок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481328"/>
            <a:ext cx="5760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481328"/>
            <a:ext cx="24688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B — Локальная сеть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481328"/>
            <a:ext cx="914400" cy="384048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0" y="1481328"/>
            <a:ext cx="91440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10 точек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1481328"/>
            <a:ext cx="21031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12 SKU × 4 шт = 480 банок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865376"/>
            <a:ext cx="5760720" cy="38404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1865376"/>
            <a:ext cx="24688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C — Супермаркет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1865376"/>
            <a:ext cx="91440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26080" y="1865376"/>
            <a:ext cx="91440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15 точек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1865376"/>
            <a:ext cx="21031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2 SKU × 3 шт = 90 банок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249424"/>
            <a:ext cx="5760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2249424"/>
            <a:ext cx="24688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D — Хозмаг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2249424"/>
            <a:ext cx="914400" cy="38404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26080" y="2249424"/>
            <a:ext cx="91440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70 точек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2249424"/>
            <a:ext cx="21031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0 SKU × 2 шт = 0 банок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697480"/>
            <a:ext cx="5760720" cy="411480"/>
          </a:xfrm>
          <a:prstGeom prst="rect">
            <a:avLst/>
          </a:prstGeom>
          <a:solidFill>
            <a:srgbClr val="1A1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2697480"/>
            <a:ext cx="36576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ИТОГО БАНОК НА ПОЛКЕ: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2697480"/>
            <a:ext cx="19202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800" b="1" i="0">
                <a:solidFill>
                  <a:srgbClr val="FBBF24"/>
                </a:solidFill>
                <a:latin typeface="Arial"/>
              </a:rPr>
              <a:t>1 050 шт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324612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2. ЦЕПОВКА ЦЕНЫ (по 16 SKU)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566160"/>
            <a:ext cx="5760720" cy="384048"/>
          </a:xfrm>
          <a:prstGeom prst="rect">
            <a:avLst/>
          </a:prstGeom>
          <a:solidFill>
            <a:srgbClr val="E5E7EB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3566160"/>
            <a:ext cx="39319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Отгрузочная цена Эмпилс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3566160"/>
            <a:ext cx="16459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1" i="0">
                <a:solidFill>
                  <a:srgbClr val="1E3A5F"/>
                </a:solidFill>
                <a:latin typeface="Arial"/>
              </a:rPr>
              <a:t>от 494 до 2 076 ₽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950208"/>
            <a:ext cx="5760720" cy="384048"/>
          </a:xfrm>
          <a:prstGeom prst="rect">
            <a:avLst/>
          </a:prstGeom>
          <a:solidFill>
            <a:srgbClr val="FFEDD5"/>
          </a:solidFill>
          <a:ln w="635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4039640"/>
            <a:ext cx="393192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 dirty="0">
                <a:solidFill>
                  <a:srgbClr val="1A1F36"/>
                </a:solidFill>
                <a:latin typeface="Arial"/>
              </a:rPr>
              <a:t>+25%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маржа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i="0" dirty="0" err="1" smtClean="0">
                <a:solidFill>
                  <a:srgbClr val="1A1F36"/>
                </a:solidFill>
                <a:latin typeface="Arial"/>
              </a:rPr>
              <a:t>дистрибьютора</a:t>
            </a:r>
            <a:r>
              <a:rPr lang="ru-RU" sz="1000" b="1" i="0" dirty="0" smtClean="0">
                <a:solidFill>
                  <a:srgbClr val="1A1F36"/>
                </a:solidFill>
                <a:latin typeface="Arial"/>
              </a:rPr>
              <a:t>  (30%)</a:t>
            </a:r>
            <a:endParaRPr sz="10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389120" y="3950208"/>
            <a:ext cx="16459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1" i="0">
                <a:solidFill>
                  <a:srgbClr val="F47920"/>
                </a:solidFill>
                <a:latin typeface="Arial"/>
              </a:rPr>
              <a:t>617–2 595 ₽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334256"/>
            <a:ext cx="5760720" cy="384048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4423688"/>
            <a:ext cx="393192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 dirty="0">
                <a:solidFill>
                  <a:srgbClr val="1A1F36"/>
                </a:solidFill>
                <a:latin typeface="Arial"/>
              </a:rPr>
              <a:t>+25%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маржа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розницы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(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цена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полке</a:t>
            </a:r>
            <a:r>
              <a:rPr sz="1000" b="1" i="0" dirty="0" smtClean="0">
                <a:solidFill>
                  <a:srgbClr val="1A1F36"/>
                </a:solidFill>
                <a:latin typeface="Arial"/>
              </a:rPr>
              <a:t>)</a:t>
            </a:r>
            <a:r>
              <a:rPr lang="ru-RU" sz="1000" b="1" i="0" dirty="0" smtClean="0">
                <a:solidFill>
                  <a:srgbClr val="1A1F36"/>
                </a:solidFill>
                <a:latin typeface="Arial"/>
              </a:rPr>
              <a:t> (40%-70%)</a:t>
            </a:r>
            <a:endParaRPr sz="10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389120" y="4334256"/>
            <a:ext cx="16459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1" i="0">
                <a:solidFill>
                  <a:srgbClr val="16A34A"/>
                </a:solidFill>
                <a:latin typeface="Arial"/>
              </a:rPr>
              <a:t>772–3 244 ₽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" y="4846320"/>
            <a:ext cx="5760720" cy="16002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4892040"/>
            <a:ext cx="55778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Arial"/>
              </a:rPr>
              <a:t>3. ВАЛОВАЯ ПРИБЫЛЬ ДИСТРИБЬЮТОРА (за 1 оборот)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303520"/>
            <a:ext cx="26517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5303520"/>
            <a:ext cx="2651760" cy="10515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16A34A"/>
                </a:solidFill>
                <a:latin typeface="Arial"/>
              </a:rPr>
              <a:t>В МЕСЯЦ</a:t>
            </a:r>
          </a:p>
          <a:p>
            <a:pPr algn="ctr"/>
            <a:r>
              <a:rPr sz="2200" b="1">
                <a:solidFill>
                  <a:srgbClr val="16A34A"/>
                </a:solidFill>
                <a:latin typeface="Arial"/>
              </a:rPr>
              <a:t>224 747 ₽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при 1 050 банок
оборот 1 раз/мес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37560" y="5303520"/>
            <a:ext cx="2651760" cy="10515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337560" y="5303520"/>
            <a:ext cx="2651760" cy="10515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FBBF24"/>
                </a:solidFill>
                <a:latin typeface="Arial"/>
              </a:rPr>
              <a:t>В ГОД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2 696 962 ₽</a:t>
            </a:r>
          </a:p>
          <a:p>
            <a:pPr algn="ctr"/>
            <a:r>
              <a:rPr sz="800" b="0">
                <a:solidFill>
                  <a:srgbClr val="E5E7EB"/>
                </a:solidFill>
                <a:latin typeface="Arial"/>
              </a:rPr>
              <a:t>× 12 месяцев
валовая прибыль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77724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ВАША ПРИБЫЛЬ НА TITAN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1188720"/>
            <a:ext cx="2651760" cy="1645920"/>
          </a:xfrm>
          <a:prstGeom prst="roundRect">
            <a:avLst/>
          </a:prstGeom>
          <a:solidFill>
            <a:srgbClr val="DCFCE7"/>
          </a:solidFill>
          <a:ln w="317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0" y="1325880"/>
            <a:ext cx="2651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В МЕСЯЦ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1691640"/>
            <a:ext cx="2651760" cy="7315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3200" b="1" i="0">
                <a:solidFill>
                  <a:srgbClr val="16A34A"/>
                </a:solidFill>
                <a:latin typeface="Arial"/>
              </a:rPr>
              <a:t>224 747 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2423160"/>
            <a:ext cx="26517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0" i="1">
                <a:solidFill>
                  <a:srgbClr val="9CA3AF"/>
                </a:solidFill>
                <a:latin typeface="Arial"/>
              </a:rPr>
              <a:t>при 1 050 банок
оборот 1 раз/мес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35440" y="1188720"/>
            <a:ext cx="2651760" cy="164592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235440" y="1325880"/>
            <a:ext cx="2651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BBF24"/>
                </a:solidFill>
                <a:latin typeface="Arial"/>
              </a:rPr>
              <a:t>В ГОД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1691640"/>
            <a:ext cx="2651760" cy="7315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2 696 962 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2423160"/>
            <a:ext cx="26517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0" i="1">
                <a:solidFill>
                  <a:srgbClr val="E5E7EB"/>
                </a:solidFill>
                <a:latin typeface="Arial"/>
              </a:rPr>
              <a:t>× 12 месяцев
валовая прибыль</a:t>
            </a:r>
          </a:p>
        </p:txBody>
      </p:sp>
      <p:sp>
        <p:nvSpPr>
          <p:cNvPr id="56" name="Down Arrow 55"/>
          <p:cNvSpPr/>
          <p:nvPr/>
        </p:nvSpPr>
        <p:spPr>
          <a:xfrm>
            <a:off x="8961120" y="2971800"/>
            <a:ext cx="365760" cy="365760"/>
          </a:xfrm>
          <a:prstGeom prst="downArrow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400800" y="3444240"/>
            <a:ext cx="5486400" cy="292608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00800" y="3535680"/>
            <a:ext cx="54864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BBF24"/>
                </a:solidFill>
                <a:latin typeface="Arial"/>
              </a:rPr>
              <a:t>🚀  СЦЕНАРИЙ РОСТА +30% К 12-МУ МЕСЯЦУ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399288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  <a:latin typeface="Arial"/>
              </a:rPr>
              <a:t>при выполнении программы TITAN (обучение + POS + планограмма)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537960" y="4404360"/>
            <a:ext cx="1691640" cy="13716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37960" y="445008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СЕЙЧАС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37960" y="4724400"/>
            <a:ext cx="16916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1 050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37960" y="50901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банок/мес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37960" y="527304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224 747 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37960" y="55473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прибыль/мес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321040" y="4404360"/>
            <a:ext cx="1691640" cy="1371600"/>
          </a:xfrm>
          <a:prstGeom prst="roundRect">
            <a:avLst/>
          </a:prstGeom>
          <a:solidFill>
            <a:srgbClr val="0B6E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321040" y="445008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+30%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21040" y="4724400"/>
            <a:ext cx="16916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000" b="1" i="0">
                <a:solidFill>
                  <a:srgbClr val="FBBF24"/>
                </a:solidFill>
                <a:latin typeface="Arial"/>
              </a:rPr>
              <a:t>+315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21040" y="50901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банок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1040" y="527304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BBF24"/>
                </a:solidFill>
                <a:latin typeface="Arial"/>
              </a:rPr>
              <a:t>+67 424 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21040" y="55473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рост/мес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104120" y="4404360"/>
            <a:ext cx="1691640" cy="13716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0104120" y="445008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ЧЕРЕЗ ГОД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04120" y="4724400"/>
            <a:ext cx="16916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1 365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04120" y="50901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банок/мес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04120" y="527304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292 171 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04120" y="55473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прибыль/мес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37960" y="5867400"/>
            <a:ext cx="5212080" cy="3657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537960" y="5867400"/>
            <a:ext cx="52120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8E0000"/>
                </a:solidFill>
                <a:latin typeface="Arial"/>
              </a:rPr>
              <a:t>💰  +809 088 ₽/год — дополнительно к текущей прибыли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0" y="641223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1" i="1">
                <a:solidFill>
                  <a:srgbClr val="16A34A"/>
                </a:solidFill>
                <a:latin typeface="Arial"/>
              </a:rPr>
              <a:t>Красишь 1 раз — служит 10 лет  •  Партнёрство, которое окупается за 4 месяца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8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Расчёт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по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реальному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MML,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отгрузочные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цены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Эмпилс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от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10.07.2026</a:t>
            </a:r>
          </a:p>
        </p:txBody>
      </p:sp>
    </p:spTree>
    <p:extLst>
      <p:ext uri="{BB962C8B-B14F-4D97-AF65-F5344CB8AC3E}">
        <p14:creationId xmlns:p14="http://schemas.microsoft.com/office/powerpoint/2010/main" val="2704240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2215"/>
            <a:ext cx="11460175" cy="3590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Arial"/>
              </a:rPr>
              <a:t>🎓  ОБУЧЕНИЕ ТОРГОВЫХ ПРЕДСТАВИТЕЛЕЙ ПО ПРОГРАММЕ TITAN </a:t>
            </a:r>
            <a:r>
              <a:rPr lang="ru-RU" sz="2000" b="1" i="0" dirty="0" smtClean="0">
                <a:solidFill>
                  <a:srgbClr val="FFFFFF"/>
                </a:solidFill>
                <a:latin typeface="Arial"/>
              </a:rPr>
              <a:t>ССВ</a:t>
            </a:r>
            <a:endParaRPr sz="20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11460175" cy="594360"/>
          </a:xfrm>
          <a:prstGeom prst="round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60175" cy="5943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Масштаб программы: 12 регионов  •  6 региональных директоров  •  19 региональных менеджеров  •  109 дистрибьюторов  •  ~500 ТП общего прайса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64008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СТРУКТУРА ДИСТРИБУЦИИ ПО РЕГИОНАМ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22860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920240"/>
            <a:ext cx="228600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Регион (SBU)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920240"/>
            <a:ext cx="25603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51760" y="1920240"/>
            <a:ext cx="25603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Директор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1920240"/>
            <a:ext cx="7315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2080" y="1920240"/>
            <a:ext cx="7315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РМ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920240"/>
            <a:ext cx="82296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0" y="192024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Дистр.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24028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224028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Дальний Восток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224028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97480" y="224028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Белокопытов А.Н.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12080" y="224028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12080" y="224028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224028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0" y="224028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21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51460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251460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Экспорт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1760" y="251460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697480" y="251460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Копай-Гора Д.А.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80" y="251460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12080" y="251460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251460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0" y="251460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21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278892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1480" y="278892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Юг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278892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697480" y="278892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Меликсетьян С.З.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12080" y="278892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212080" y="27889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278892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0" y="278892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19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06324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11480" y="306324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Поволжье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51760" y="306324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697480" y="306324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Меликсетьян С.З.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12080" y="306324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212080" y="306324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306324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43600" y="306324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333756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11480" y="333756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Урал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51760" y="333756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697480" y="333756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Захарова О.Г.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12080" y="333756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212080" y="333756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0" y="333756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943600" y="333756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361188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11480" y="361188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Западная Сибирь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51760" y="361188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697480" y="361188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Захарова О.Г.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12080" y="361188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212080" y="361188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0" y="361188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943600" y="361188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388620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11480" y="388620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Центр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51760" y="388620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697480" y="388620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Еремеев В.Н.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212080" y="388620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212080" y="388620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0" y="388620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943600" y="388620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5760" y="416052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11480" y="416052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Северо-Запад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651760" y="416052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697480" y="416052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Еремеев В.Н.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212080" y="416052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212080" y="41605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943600" y="416052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943600" y="416052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5760" y="443484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11480" y="443484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Федеральные сети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651760" y="443484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2697480" y="443484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Пустовалов С.И.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212080" y="443484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212080" y="443484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943600" y="443484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43600" y="443484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65760" y="470916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11480" y="470916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Москва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651760" y="470916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2697480" y="470916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Еремеев В.Н.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212080" y="470916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212080" y="470916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943600" y="470916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943600" y="470916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65760" y="498348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11480" y="498348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Новые территории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651760" y="498348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2697480" y="498348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Меликсетьян С.З.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212080" y="498348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212080" y="498348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943600" y="498348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943600" y="498348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65760" y="525780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11480" y="525780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Восточная Сибирь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651760" y="525780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2697480" y="525780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Белокопытов А.Н.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212080" y="525780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5212080" y="525780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943600" y="525780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5943600" y="525780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2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65760" y="5532120"/>
            <a:ext cx="4846320" cy="27432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411480" y="5532120"/>
            <a:ext cx="4754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Arial"/>
              </a:rPr>
              <a:t>ИТОГО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212080" y="5532120"/>
            <a:ext cx="731520" cy="27432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5212080" y="55321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19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943600" y="5532120"/>
            <a:ext cx="822960" cy="27432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5943600" y="553212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109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132320" y="1554480"/>
            <a:ext cx="50292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ЧТО СОБИРАЕМ ПО КАЖДОМУ ТП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132320" y="1920240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7223760" y="1993392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7223760" y="1993392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498079" y="1920240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ФИО торгового представителя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полные данные для учёта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132320" y="2267712"/>
            <a:ext cx="493776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7223760" y="2340864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7223760" y="2340864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498079" y="2267712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Телефон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для связи и рассылки материалов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132320" y="2615184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7223760" y="2688336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7223760" y="2688336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498079" y="2615184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Email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для отправки обучения и теста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132320" y="2962656"/>
            <a:ext cx="493776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7223760" y="3035808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7223760" y="3035808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498079" y="2962656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Тип прайса: общий / эксклюзивный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обучаем общий прайс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132320" y="3310128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7223760" y="3383280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7223760" y="3383280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498079" y="3310128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Дистрибьютор и регион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привязка к РМ и директору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132320" y="3657600"/>
            <a:ext cx="493776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7223760" y="3730752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7223760" y="3730752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498079" y="3657600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Дата последнего обучения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если обучался ранее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132320" y="4005072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7223760" y="4078224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7223760" y="4078224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498079" y="4005072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Готовность пройти тест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да / нет / запланировано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7132320" y="4434840"/>
            <a:ext cx="4937760" cy="210312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7265670" y="4480560"/>
            <a:ext cx="493776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 dirty="0">
                <a:solidFill>
                  <a:srgbClr val="16A34A"/>
                </a:solidFill>
                <a:latin typeface="Arial"/>
              </a:rPr>
              <a:t>🎯  ПРОЦЕСС ОБУЧЕНИЯ </a:t>
            </a:r>
            <a:r>
              <a:rPr lang="ru-RU" sz="1200" b="1" i="0" dirty="0" smtClean="0">
                <a:solidFill>
                  <a:srgbClr val="16A34A"/>
                </a:solidFill>
                <a:latin typeface="Arial"/>
              </a:rPr>
              <a:t>ССВ</a:t>
            </a:r>
            <a:endParaRPr sz="1200" b="1" i="0" dirty="0">
              <a:solidFill>
                <a:srgbClr val="16A34A"/>
              </a:solidFill>
              <a:latin typeface="Arial"/>
            </a:endParaRPr>
          </a:p>
        </p:txBody>
      </p:sp>
      <p:sp>
        <p:nvSpPr>
          <p:cNvPr id="151" name="Oval 150"/>
          <p:cNvSpPr/>
          <p:nvPr/>
        </p:nvSpPr>
        <p:spPr>
          <a:xfrm>
            <a:off x="7269480" y="4892040"/>
            <a:ext cx="256032" cy="256032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7269480" y="4892040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635240" y="4894715"/>
            <a:ext cx="429768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 dirty="0" err="1">
                <a:solidFill>
                  <a:srgbClr val="C62828"/>
                </a:solidFill>
                <a:latin typeface="Arial"/>
              </a:rPr>
              <a:t>Сбор</a:t>
            </a:r>
            <a:r>
              <a:rPr sz="9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C62828"/>
                </a:solidFill>
                <a:latin typeface="Arial"/>
              </a:rPr>
              <a:t>данных</a:t>
            </a:r>
            <a:r>
              <a:rPr sz="9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C62828"/>
                </a:solidFill>
                <a:latin typeface="Arial"/>
              </a:rPr>
              <a:t>по</a:t>
            </a:r>
            <a:r>
              <a:rPr sz="9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900" b="1" dirty="0" smtClean="0">
                <a:solidFill>
                  <a:srgbClr val="C62828"/>
                </a:solidFill>
                <a:latin typeface="Arial"/>
              </a:rPr>
              <a:t>ТП </a:t>
            </a:r>
            <a:endParaRPr sz="900" b="1" dirty="0">
              <a:solidFill>
                <a:srgbClr val="C62828"/>
              </a:solidFill>
              <a:latin typeface="Arial"/>
            </a:endParaRPr>
          </a:p>
          <a:p>
            <a:pPr algn="l"/>
            <a:r>
              <a:rPr sz="800" b="0" dirty="0" err="1">
                <a:solidFill>
                  <a:srgbClr val="1A1F36"/>
                </a:solidFill>
                <a:latin typeface="Arial"/>
              </a:rPr>
              <a:t>Региональные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менеджеры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заполняют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таблицу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по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своим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дистрибьюторам</a:t>
            </a:r>
            <a:endParaRPr sz="8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54" name="Oval 153"/>
          <p:cNvSpPr/>
          <p:nvPr/>
        </p:nvSpPr>
        <p:spPr>
          <a:xfrm>
            <a:off x="7269480" y="5276088"/>
            <a:ext cx="256032" cy="256032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7269480" y="5276088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278763"/>
            <a:ext cx="429768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lang="ru-RU" sz="900" b="1" dirty="0" smtClean="0">
                <a:solidFill>
                  <a:srgbClr val="F47920"/>
                </a:solidFill>
                <a:latin typeface="Arial"/>
              </a:rPr>
              <a:t>Онлайн обучение </a:t>
            </a:r>
            <a:r>
              <a:rPr sz="900" b="1" dirty="0" smtClean="0">
                <a:solidFill>
                  <a:srgbClr val="F47920"/>
                </a:solidFill>
                <a:latin typeface="Arial"/>
              </a:rPr>
              <a:t> </a:t>
            </a:r>
            <a:endParaRPr sz="900" b="1" dirty="0">
              <a:solidFill>
                <a:srgbClr val="F47920"/>
              </a:solidFill>
              <a:latin typeface="Arial"/>
            </a:endParaRPr>
          </a:p>
          <a:p>
            <a:pPr algn="l"/>
            <a:r>
              <a:rPr sz="800" b="0" dirty="0" err="1">
                <a:solidFill>
                  <a:srgbClr val="1A1F36"/>
                </a:solidFill>
                <a:latin typeface="Arial"/>
              </a:rPr>
              <a:t>Онлайн-материалы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по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TITAN </a:t>
            </a:r>
            <a:r>
              <a:rPr lang="ru-RU" sz="800" b="0" dirty="0" smtClean="0">
                <a:solidFill>
                  <a:srgbClr val="1A1F36"/>
                </a:solidFill>
                <a:latin typeface="Arial"/>
              </a:rPr>
              <a:t>ССВ</a:t>
            </a:r>
            <a:r>
              <a:rPr sz="800" b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+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видеоинструкция</a:t>
            </a:r>
            <a:endParaRPr sz="8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57" name="Oval 156"/>
          <p:cNvSpPr/>
          <p:nvPr/>
        </p:nvSpPr>
        <p:spPr>
          <a:xfrm>
            <a:off x="7269480" y="5660136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7269480" y="5660136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635240" y="5662811"/>
            <a:ext cx="429768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 dirty="0" err="1">
                <a:solidFill>
                  <a:srgbClr val="16A34A"/>
                </a:solidFill>
                <a:latin typeface="Arial"/>
              </a:rPr>
              <a:t>Прохождение</a:t>
            </a:r>
            <a:r>
              <a:rPr sz="900" b="1" dirty="0">
                <a:solidFill>
                  <a:srgbClr val="16A34A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16A34A"/>
                </a:solidFill>
                <a:latin typeface="Arial"/>
              </a:rPr>
              <a:t>теста</a:t>
            </a:r>
            <a:r>
              <a:rPr sz="900" b="1" dirty="0">
                <a:solidFill>
                  <a:srgbClr val="16A34A"/>
                </a:solidFill>
                <a:latin typeface="Arial"/>
              </a:rPr>
              <a:t> </a:t>
            </a:r>
            <a:r>
              <a:rPr sz="900" b="1" dirty="0" smtClean="0">
                <a:solidFill>
                  <a:srgbClr val="16A34A"/>
                </a:solidFill>
                <a:latin typeface="Arial"/>
              </a:rPr>
              <a:t> </a:t>
            </a:r>
            <a:endParaRPr sz="900" b="1" dirty="0">
              <a:solidFill>
                <a:srgbClr val="16A34A"/>
              </a:solidFill>
              <a:latin typeface="Arial"/>
            </a:endParaRPr>
          </a:p>
          <a:p>
            <a:pPr algn="l"/>
            <a:r>
              <a:rPr sz="800" b="0" dirty="0" err="1">
                <a:solidFill>
                  <a:srgbClr val="1A1F36"/>
                </a:solidFill>
                <a:latin typeface="Arial"/>
              </a:rPr>
              <a:t>Каждый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ТП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проходит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тест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знание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программы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lang="ru-RU" sz="800" b="0" dirty="0" smtClean="0">
                <a:solidFill>
                  <a:srgbClr val="1A1F36"/>
                </a:solidFill>
                <a:latin typeface="Arial"/>
              </a:rPr>
              <a:t>ССВ</a:t>
            </a:r>
            <a:endParaRPr sz="8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60" name="Oval 159"/>
          <p:cNvSpPr/>
          <p:nvPr/>
        </p:nvSpPr>
        <p:spPr>
          <a:xfrm>
            <a:off x="7269480" y="6044184"/>
            <a:ext cx="256032" cy="256032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7269480" y="6044184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635240" y="6037334"/>
            <a:ext cx="429768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 dirty="0" err="1">
                <a:solidFill>
                  <a:srgbClr val="1E3A5F"/>
                </a:solidFill>
                <a:latin typeface="Arial"/>
              </a:rPr>
              <a:t>Сертификация</a:t>
            </a:r>
            <a:r>
              <a:rPr sz="900" b="1" dirty="0">
                <a:solidFill>
                  <a:srgbClr val="1E3A5F"/>
                </a:solidFill>
                <a:latin typeface="Arial"/>
              </a:rPr>
              <a:t> </a:t>
            </a:r>
            <a:r>
              <a:rPr sz="900" b="1" dirty="0" smtClean="0">
                <a:solidFill>
                  <a:srgbClr val="1E3A5F"/>
                </a:solidFill>
                <a:latin typeface="Arial"/>
              </a:rPr>
              <a:t> </a:t>
            </a:r>
            <a:endParaRPr sz="900" b="1" dirty="0">
              <a:solidFill>
                <a:srgbClr val="1E3A5F"/>
              </a:solidFill>
              <a:latin typeface="Arial"/>
            </a:endParaRPr>
          </a:p>
          <a:p>
            <a:pPr algn="l"/>
            <a:r>
              <a:rPr sz="800" b="0" dirty="0" err="1">
                <a:solidFill>
                  <a:srgbClr val="1A1F36"/>
                </a:solidFill>
                <a:latin typeface="Arial"/>
              </a:rPr>
              <a:t>Сертификат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«ТП TITAN </a:t>
            </a:r>
            <a:r>
              <a:rPr lang="ru-RU" sz="800" b="0" dirty="0" smtClean="0">
                <a:solidFill>
                  <a:srgbClr val="1A1F36"/>
                </a:solidFill>
                <a:latin typeface="Arial"/>
              </a:rPr>
              <a:t>ССВ</a:t>
            </a:r>
            <a:r>
              <a:rPr sz="800" b="0" dirty="0" smtClean="0">
                <a:solidFill>
                  <a:srgbClr val="1A1F36"/>
                </a:solidFill>
                <a:latin typeface="Arial"/>
              </a:rPr>
              <a:t>» 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+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включение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в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программу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мотивации</a:t>
            </a:r>
            <a:endParaRPr sz="8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365760" y="6595110"/>
            <a:ext cx="11460175" cy="17440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8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Программа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TCO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для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торговых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представителей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общего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прайса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 </a:t>
            </a:r>
            <a:endParaRPr lang="ru-RU" sz="800" i="1" dirty="0">
              <a:solidFill>
                <a:srgbClr val="9CA3A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1026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ДЕТАЛЬНЫЙ РАСЧЁТ ПО 16 SKU 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Прозрачный расчёт прибыли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77240"/>
            <a:ext cx="73152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777240"/>
            <a:ext cx="7315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Код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777240"/>
            <a:ext cx="274320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777240"/>
            <a:ext cx="274320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Продукт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40" y="777240"/>
            <a:ext cx="182880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40" y="777240"/>
            <a:ext cx="182880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Категория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777240"/>
            <a:ext cx="54864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77840" y="777240"/>
            <a:ext cx="5486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Кл.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777240"/>
            <a:ext cx="137160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777240"/>
            <a:ext cx="137160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Цена Эмпилс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0" y="777240"/>
            <a:ext cx="82296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0" y="77724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Шт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777240"/>
            <a:ext cx="155448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777240"/>
            <a:ext cx="155448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Выручка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75520" y="777240"/>
            <a:ext cx="155448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75520" y="777240"/>
            <a:ext cx="155448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Прибыль 25%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097280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1097280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1097280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" y="1097280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чёрный 0.75 л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40" y="1097280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94760" y="1097280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1097280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77840" y="1097280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1097280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26480" y="1097280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0" y="1097280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98080" y="1097280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109728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21040" y="109728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75520" y="109728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875520" y="109728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1335024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4320" y="1335024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87292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5840" y="1335024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51560" y="1335024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коричневый 0.75 л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49040" y="1335024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794760" y="1335024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77840" y="1335024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577840" y="1335024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1335024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26480" y="1335024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80" y="1335024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498080" y="1335024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1040" y="133502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321040" y="133502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75520" y="133502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875520" y="133502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1572768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74320" y="1572768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5840" y="1572768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51560" y="1572768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серый 2 л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49040" y="1572768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794760" y="1572768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77840" y="1572768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577840" y="1572768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26480" y="1572768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126480" y="1572768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98080" y="1572768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498080" y="1572768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21040" y="157276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321040" y="157276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875520" y="157276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875520" y="157276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1810512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74320" y="1810512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05840" y="1810512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051560" y="1810512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графит 2 л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49040" y="1810512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794760" y="1810512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577840" y="1810512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577840" y="1810512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26480" y="1810512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126480" y="1810512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498080" y="1810512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498080" y="1810512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321040" y="181051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321040" y="181051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875520" y="181051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9875520" y="181051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2048256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274320" y="2048256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87290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05840" y="2048256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051560" y="2048256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чёрный 2 л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749040" y="2048256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3794760" y="2048256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577840" y="2048256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577840" y="2048256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126480" y="2048256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126480" y="2048256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498080" y="2048256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498080" y="2048256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321040" y="204825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8321040" y="204825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875520" y="204825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875520" y="204825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" y="2286000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274320" y="2286000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87293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05840" y="2286000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051560" y="2286000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коричневый 2 л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749040" y="2286000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3794760" y="2286000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577840" y="2286000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5577840" y="2286000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26480" y="2286000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126480" y="2286000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498080" y="2286000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498080" y="2286000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321040" y="228600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321040" y="228600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875520" y="228600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9875520" y="228600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74320" y="2523744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274320" y="2523744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005840" y="2523744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1051560" y="2523744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серый 0.75 л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749040" y="2523744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3794760" y="2523744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577840" y="2523744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5577840" y="2523744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126480" y="2523744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126480" y="2523744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498080" y="2523744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7498080" y="2523744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321040" y="252374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8321040" y="252374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875520" y="252374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9875520" y="252374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74320" y="2761488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274320" y="2761488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87269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005840" y="2761488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051560" y="2761488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белый 0.75 л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749040" y="2761488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3794760" y="2761488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577840" y="2761488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5577840" y="2761488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126480" y="2761488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6126480" y="2761488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541 ₽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498080" y="2761488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7498080" y="2761488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321040" y="276148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8321040" y="276148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37 851 ₽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875520" y="276148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9875520" y="276148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9 463 ₽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74320" y="2999232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274320" y="2999232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87270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05840" y="2999232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1051560" y="2999232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белый 2 л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749040" y="2999232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3794760" y="2999232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577840" y="2999232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5577840" y="2999232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126480" y="2999232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6126480" y="2999232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1364 ₽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7498080" y="2999232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7498080" y="2999232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321040" y="299923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8321040" y="299923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40 920 ₽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9875520" y="299923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9875520" y="299923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10 230 ₽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274320" y="3236976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274320" y="3236976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87286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005840" y="3236976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1051560" y="3236976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графит 0.75 л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749040" y="3236976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3794760" y="3236976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577840" y="3236976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5577840" y="3236976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126480" y="3236976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6126480" y="3236976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7498080" y="3236976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7498080" y="3236976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8321040" y="323697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8321040" y="323697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9875520" y="323697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9875520" y="323697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74320" y="3474720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274320" y="3474720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77636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005840" y="3474720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1051560" y="3474720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чёрная 0.8 кг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3749040" y="3474720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3794760" y="3474720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5577840" y="3474720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5577840" y="3474720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ABC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6126480" y="3474720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6126480" y="3474720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701 ₽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498080" y="3474720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7498080" y="3474720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115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8321040" y="3474720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8321040" y="347472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80 657 ₽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9875520" y="3474720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9875520" y="347472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20 164 ₽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274320" y="3712464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274320" y="3712464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77660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005840" y="3712464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1051560" y="3712464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коричневая 0.8 кг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3749040" y="3712464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TextBox 203"/>
          <p:cNvSpPr txBox="1"/>
          <p:nvPr/>
        </p:nvSpPr>
        <p:spPr>
          <a:xfrm>
            <a:off x="3794760" y="3712464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5577840" y="3712464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5577840" y="3712464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ABC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6126480" y="3712464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207"/>
          <p:cNvSpPr txBox="1"/>
          <p:nvPr/>
        </p:nvSpPr>
        <p:spPr>
          <a:xfrm>
            <a:off x="6126480" y="3712464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701 ₽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7498080" y="3712464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7498080" y="3712464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115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8321040" y="3712464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TextBox 211"/>
          <p:cNvSpPr txBox="1"/>
          <p:nvPr/>
        </p:nvSpPr>
        <p:spPr>
          <a:xfrm>
            <a:off x="8321040" y="371246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80 657 ₽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9875520" y="3712464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9875520" y="371246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20 164 ₽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274320" y="3950208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TextBox 215"/>
          <p:cNvSpPr txBox="1"/>
          <p:nvPr/>
        </p:nvSpPr>
        <p:spPr>
          <a:xfrm>
            <a:off x="274320" y="3950208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77637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005840" y="3950208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1051560" y="3950208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чёрная 2.5 кг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3749040" y="3950208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TextBox 219"/>
          <p:cNvSpPr txBox="1"/>
          <p:nvPr/>
        </p:nvSpPr>
        <p:spPr>
          <a:xfrm>
            <a:off x="3794760" y="3950208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5577840" y="3950208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TextBox 221"/>
          <p:cNvSpPr txBox="1"/>
          <p:nvPr/>
        </p:nvSpPr>
        <p:spPr>
          <a:xfrm>
            <a:off x="5577840" y="3950208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6126480" y="3950208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TextBox 223"/>
          <p:cNvSpPr txBox="1"/>
          <p:nvPr/>
        </p:nvSpPr>
        <p:spPr>
          <a:xfrm>
            <a:off x="6126480" y="3950208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2076 ₽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7498080" y="3950208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TextBox 225"/>
          <p:cNvSpPr txBox="1"/>
          <p:nvPr/>
        </p:nvSpPr>
        <p:spPr>
          <a:xfrm>
            <a:off x="7498080" y="3950208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8321040" y="3950208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8321040" y="395020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62 268 ₽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9875520" y="3950208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TextBox 229"/>
          <p:cNvSpPr txBox="1"/>
          <p:nvPr/>
        </p:nvSpPr>
        <p:spPr>
          <a:xfrm>
            <a:off x="9875520" y="395020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15 567 ₽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274320" y="4187952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TextBox 231"/>
          <p:cNvSpPr txBox="1"/>
          <p:nvPr/>
        </p:nvSpPr>
        <p:spPr>
          <a:xfrm>
            <a:off x="274320" y="4187952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77642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1005840" y="4187952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TextBox 233"/>
          <p:cNvSpPr txBox="1"/>
          <p:nvPr/>
        </p:nvSpPr>
        <p:spPr>
          <a:xfrm>
            <a:off x="1051560" y="4187952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серебристая 0.8 кг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3749040" y="4187952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TextBox 235"/>
          <p:cNvSpPr txBox="1"/>
          <p:nvPr/>
        </p:nvSpPr>
        <p:spPr>
          <a:xfrm>
            <a:off x="3794760" y="4187952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5577840" y="4187952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TextBox 237"/>
          <p:cNvSpPr txBox="1"/>
          <p:nvPr/>
        </p:nvSpPr>
        <p:spPr>
          <a:xfrm>
            <a:off x="5577840" y="4187952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6126480" y="4187952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TextBox 239"/>
          <p:cNvSpPr txBox="1"/>
          <p:nvPr/>
        </p:nvSpPr>
        <p:spPr>
          <a:xfrm>
            <a:off x="6126480" y="4187952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701 ₽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7498080" y="4187952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TextBox 241"/>
          <p:cNvSpPr txBox="1"/>
          <p:nvPr/>
        </p:nvSpPr>
        <p:spPr>
          <a:xfrm>
            <a:off x="7498080" y="4187952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8321040" y="4187952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TextBox 243"/>
          <p:cNvSpPr txBox="1"/>
          <p:nvPr/>
        </p:nvSpPr>
        <p:spPr>
          <a:xfrm>
            <a:off x="8321040" y="418795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21 041 ₽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9875520" y="4187952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TextBox 245"/>
          <p:cNvSpPr txBox="1"/>
          <p:nvPr/>
        </p:nvSpPr>
        <p:spPr>
          <a:xfrm>
            <a:off x="9875520" y="418795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5 260 ₽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274320" y="4425696"/>
            <a:ext cx="73152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TextBox 247"/>
          <p:cNvSpPr txBox="1"/>
          <p:nvPr/>
        </p:nvSpPr>
        <p:spPr>
          <a:xfrm>
            <a:off x="274320" y="4425696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83777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1005840" y="4425696"/>
            <a:ext cx="27432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TextBox 249"/>
          <p:cNvSpPr txBox="1"/>
          <p:nvPr/>
        </p:nvSpPr>
        <p:spPr>
          <a:xfrm>
            <a:off x="1051560" y="4425696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Быстросохнущая 0.75 л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3749040" y="4425696"/>
            <a:ext cx="18288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TextBox 251"/>
          <p:cNvSpPr txBox="1"/>
          <p:nvPr/>
        </p:nvSpPr>
        <p:spPr>
          <a:xfrm>
            <a:off x="3794760" y="4425696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5577840" y="4425696"/>
            <a:ext cx="54864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TextBox 253"/>
          <p:cNvSpPr txBox="1"/>
          <p:nvPr/>
        </p:nvSpPr>
        <p:spPr>
          <a:xfrm>
            <a:off x="5577840" y="4425696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6126480" y="4425696"/>
            <a:ext cx="13716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TextBox 255"/>
          <p:cNvSpPr txBox="1"/>
          <p:nvPr/>
        </p:nvSpPr>
        <p:spPr>
          <a:xfrm>
            <a:off x="6126480" y="4425696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518 ₽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7498080" y="4425696"/>
            <a:ext cx="82296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TextBox 257"/>
          <p:cNvSpPr txBox="1"/>
          <p:nvPr/>
        </p:nvSpPr>
        <p:spPr>
          <a:xfrm>
            <a:off x="7498080" y="4425696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8321040" y="4425696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TextBox 259"/>
          <p:cNvSpPr txBox="1"/>
          <p:nvPr/>
        </p:nvSpPr>
        <p:spPr>
          <a:xfrm>
            <a:off x="8321040" y="442569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36 275 ₽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9875520" y="4425696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TextBox 261"/>
          <p:cNvSpPr txBox="1"/>
          <p:nvPr/>
        </p:nvSpPr>
        <p:spPr>
          <a:xfrm>
            <a:off x="9875520" y="442569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9 069 ₽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274320" y="4663440"/>
            <a:ext cx="73152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TextBox 263"/>
          <p:cNvSpPr txBox="1"/>
          <p:nvPr/>
        </p:nvSpPr>
        <p:spPr>
          <a:xfrm>
            <a:off x="274320" y="4663440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83779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1005840" y="4663440"/>
            <a:ext cx="27432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TextBox 265"/>
          <p:cNvSpPr txBox="1"/>
          <p:nvPr/>
        </p:nvSpPr>
        <p:spPr>
          <a:xfrm>
            <a:off x="1051560" y="4663440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Быстросохнущая 2.2 л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3749040" y="4663440"/>
            <a:ext cx="18288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TextBox 267"/>
          <p:cNvSpPr txBox="1"/>
          <p:nvPr/>
        </p:nvSpPr>
        <p:spPr>
          <a:xfrm>
            <a:off x="3794760" y="4663440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5577840" y="4663440"/>
            <a:ext cx="54864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TextBox 269"/>
          <p:cNvSpPr txBox="1"/>
          <p:nvPr/>
        </p:nvSpPr>
        <p:spPr>
          <a:xfrm>
            <a:off x="5577840" y="4663440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6126480" y="4663440"/>
            <a:ext cx="13716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TextBox 271"/>
          <p:cNvSpPr txBox="1"/>
          <p:nvPr/>
        </p:nvSpPr>
        <p:spPr>
          <a:xfrm>
            <a:off x="6126480" y="4663440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1486 ₽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7498080" y="4663440"/>
            <a:ext cx="82296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TextBox 273"/>
          <p:cNvSpPr txBox="1"/>
          <p:nvPr/>
        </p:nvSpPr>
        <p:spPr>
          <a:xfrm>
            <a:off x="7498080" y="4663440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8321040" y="4663440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TextBox 275"/>
          <p:cNvSpPr txBox="1"/>
          <p:nvPr/>
        </p:nvSpPr>
        <p:spPr>
          <a:xfrm>
            <a:off x="8321040" y="466344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44 584 ₽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9875520" y="4663440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TextBox 277"/>
          <p:cNvSpPr txBox="1"/>
          <p:nvPr/>
        </p:nvSpPr>
        <p:spPr>
          <a:xfrm>
            <a:off x="9875520" y="466344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11 146 ₽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274320" y="4901184"/>
            <a:ext cx="7223760" cy="237744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TextBox 279"/>
          <p:cNvSpPr txBox="1"/>
          <p:nvPr/>
        </p:nvSpPr>
        <p:spPr>
          <a:xfrm>
            <a:off x="731520" y="4901184"/>
            <a:ext cx="6309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ИТОГО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7498080" y="4901184"/>
            <a:ext cx="822960" cy="237744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TextBox 281"/>
          <p:cNvSpPr txBox="1"/>
          <p:nvPr/>
        </p:nvSpPr>
        <p:spPr>
          <a:xfrm>
            <a:off x="7498080" y="4901184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1 050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8321040" y="4901184"/>
            <a:ext cx="1554480" cy="237744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TextBox 283"/>
          <p:cNvSpPr txBox="1"/>
          <p:nvPr/>
        </p:nvSpPr>
        <p:spPr>
          <a:xfrm>
            <a:off x="8321040" y="490118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898 987 ₽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9875520" y="4901184"/>
            <a:ext cx="155448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TextBox 285"/>
          <p:cNvSpPr txBox="1"/>
          <p:nvPr/>
        </p:nvSpPr>
        <p:spPr>
          <a:xfrm>
            <a:off x="9875520" y="490118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224 747 ₽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365760" y="5276088"/>
            <a:ext cx="114300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СТРУКТУРА ПРИБЫЛИ ПО КАТЕГОРИЯМ</a:t>
            </a:r>
          </a:p>
        </p:txBody>
      </p:sp>
      <p:sp>
        <p:nvSpPr>
          <p:cNvPr id="288" name="Rounded Rectangle 287"/>
          <p:cNvSpPr/>
          <p:nvPr/>
        </p:nvSpPr>
        <p:spPr>
          <a:xfrm>
            <a:off x="365760" y="5596128"/>
            <a:ext cx="3657600" cy="100584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Rectangle 288"/>
          <p:cNvSpPr/>
          <p:nvPr/>
        </p:nvSpPr>
        <p:spPr>
          <a:xfrm>
            <a:off x="365760" y="5596128"/>
            <a:ext cx="3657600" cy="29260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TextBox 289"/>
          <p:cNvSpPr txBox="1"/>
          <p:nvPr/>
        </p:nvSpPr>
        <p:spPr>
          <a:xfrm>
            <a:off x="365760" y="5596128"/>
            <a:ext cx="36576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3в1 по ржавчине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457200" y="5961888"/>
            <a:ext cx="347472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Arial"/>
              </a:rPr>
              <a:t>660 шт  →  143 376 ₽  (63.8%)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доля прибыли</a:t>
            </a:r>
          </a:p>
        </p:txBody>
      </p:sp>
      <p:sp>
        <p:nvSpPr>
          <p:cNvPr id="292" name="Rounded Rectangle 291"/>
          <p:cNvSpPr/>
          <p:nvPr/>
        </p:nvSpPr>
        <p:spPr>
          <a:xfrm>
            <a:off x="4160520" y="5596128"/>
            <a:ext cx="3657600" cy="100584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Rectangle 292"/>
          <p:cNvSpPr/>
          <p:nvPr/>
        </p:nvSpPr>
        <p:spPr>
          <a:xfrm>
            <a:off x="4160520" y="5596128"/>
            <a:ext cx="3657600" cy="292608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TextBox 293"/>
          <p:cNvSpPr txBox="1"/>
          <p:nvPr/>
        </p:nvSpPr>
        <p:spPr>
          <a:xfrm>
            <a:off x="4160520" y="5596128"/>
            <a:ext cx="36576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Молотковая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4251960" y="5961888"/>
            <a:ext cx="347472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47920"/>
                </a:solidFill>
                <a:latin typeface="Arial"/>
              </a:rPr>
              <a:t>290 шт  →  61 156 ₽  (27.2%)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доля прибыли</a:t>
            </a:r>
          </a:p>
        </p:txBody>
      </p:sp>
      <p:sp>
        <p:nvSpPr>
          <p:cNvPr id="296" name="Rounded Rectangle 295"/>
          <p:cNvSpPr/>
          <p:nvPr/>
        </p:nvSpPr>
        <p:spPr>
          <a:xfrm>
            <a:off x="7955280" y="5596128"/>
            <a:ext cx="3657600" cy="100584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Rectangle 296"/>
          <p:cNvSpPr/>
          <p:nvPr/>
        </p:nvSpPr>
        <p:spPr>
          <a:xfrm>
            <a:off x="7955280" y="5596128"/>
            <a:ext cx="3657600" cy="2926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TextBox 297"/>
          <p:cNvSpPr txBox="1"/>
          <p:nvPr/>
        </p:nvSpPr>
        <p:spPr>
          <a:xfrm>
            <a:off x="7955280" y="5596128"/>
            <a:ext cx="36576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8046720" y="5961888"/>
            <a:ext cx="347472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Arial"/>
              </a:rPr>
              <a:t>100 шт  →  20 215 ₽  (9.0%)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доля прибыли</a:t>
            </a:r>
          </a:p>
        </p:txBody>
      </p:sp>
    </p:spTree>
    <p:extLst>
      <p:ext uri="{BB962C8B-B14F-4D97-AF65-F5344CB8AC3E}">
        <p14:creationId xmlns:p14="http://schemas.microsoft.com/office/powerpoint/2010/main" val="40417203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🛡  ПЛАН «Б» — УПРАВЛЕНИЕ РИСКАМИ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Если через 6 мес. уход с полки ниже заявленного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11460175" cy="59436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60175" cy="5943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✓  Эмпилс не бросит вас на полпути. План «Б» включается автоматически при отклонении от KPI &gt; 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6400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Arial"/>
              </a:rPr>
              <a:t>6 ИНСТРУМЕНТОВ ПЛАНА «Б» — ЧТО ДЕЛАЕМ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65960"/>
            <a:ext cx="658368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7200" y="2103120"/>
            <a:ext cx="365760" cy="36576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103120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002536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Дополнительное обучение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Повторный выезд тренера Эмпилс к ТП дистрибьютора. Анализ ошибок, отработка возражений «по цене», разбор реальных кейсов из этой же сети.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60904"/>
            <a:ext cx="6583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7200" y="2798064"/>
            <a:ext cx="365760" cy="36576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798064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697480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Корректировка ассортимента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Анализ продаж по SKU за 6 мес. Замена медленных цветов на ходовые. Снятие неликвида, возврат по программе 90 дней. Подбор оптимальной матрицы под конкретный регион.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55848"/>
            <a:ext cx="658368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57200" y="3493008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493008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392424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Arial"/>
              </a:rPr>
              <a:t>Дополнительные промо-акции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Совместное промо 50/50 с Эмпилс. Скидка 7-10% на TITAN 2-4 недели. Бонус продавцу 100 ₽/банку. Акция «купи 2 — получи кисть в подарок».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50792"/>
            <a:ext cx="6583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7200" y="4187952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187952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087368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Arial"/>
              </a:rPr>
              <a:t>Мастер-классы в топовых точках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Выезд РМ + тренера в 5-7 самых крупных РТТ. Демонстрация: TITAN vs ПФ-115 (выкрас, адгезия, скорость). Обучение продавцов прямо на месте, 45 мин.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745736"/>
            <a:ext cx="658368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57200" y="4882896"/>
            <a:ext cx="365760" cy="36576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882896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782312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Усиление POS-материалов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Дополнительные воблеры, шелфтокеры, выкрасы «до/после». Брендированный ценник «цена за год». Замена изношенных материалов.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440680"/>
            <a:ext cx="6583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57200" y="5577840"/>
            <a:ext cx="365760" cy="36576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5577840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477256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Личный куратор от Эмпилс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Закрепление за проблемным дистрибьютором старшего менеджера. Еженедельные созвоны. Личный визит 1 раз в месяц до выхода на KPI.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1554480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Arial"/>
              </a:rPr>
              <a:t>КОГДА ВКЛЮЧАЕТСЯ ПЛАН «Б»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0" y="1965960"/>
            <a:ext cx="4937760" cy="676656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132320" y="1965960"/>
            <a:ext cx="1371600" cy="676656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20" y="1965960"/>
            <a:ext cx="1371600" cy="67665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🔴 КРАСНЫЙ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2002536"/>
            <a:ext cx="33832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Уход с полки &lt; 50% от плана</a:t>
            </a:r>
          </a:p>
          <a:p>
            <a:pPr algn="l"/>
            <a:r>
              <a:rPr sz="900" b="0">
                <a:solidFill>
                  <a:srgbClr val="C62828"/>
                </a:solidFill>
                <a:latin typeface="Arial"/>
              </a:rPr>
              <a:t>Включение всех 6 инструментов + личный куратор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0" y="2697480"/>
            <a:ext cx="4937760" cy="676656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132320" y="2697480"/>
            <a:ext cx="1371600" cy="676656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32320" y="2697480"/>
            <a:ext cx="1371600" cy="67665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🟡 ЖЁЛТЫЙ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2734056"/>
            <a:ext cx="33832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Уход с полки 50-70% от плана</a:t>
            </a:r>
          </a:p>
          <a:p>
            <a:pPr algn="l"/>
            <a:r>
              <a:rPr sz="900" b="0">
                <a:solidFill>
                  <a:srgbClr val="F47920"/>
                </a:solidFill>
                <a:latin typeface="Arial"/>
              </a:rPr>
              <a:t>Обучение + корректировка ассортимента + промо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32320" y="3429000"/>
            <a:ext cx="4937760" cy="676656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132320" y="3429000"/>
            <a:ext cx="1371600" cy="67665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132320" y="3429000"/>
            <a:ext cx="1371600" cy="67665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🟢 ЗЕЛЁНЫЙ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3465576"/>
            <a:ext cx="33832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Уход с полки 70-85% от плана</a:t>
            </a:r>
          </a:p>
          <a:p>
            <a:pPr algn="l"/>
            <a:r>
              <a:rPr sz="900" b="0">
                <a:solidFill>
                  <a:srgbClr val="16A34A"/>
                </a:solidFill>
                <a:latin typeface="Arial"/>
              </a:rPr>
              <a:t>Дополнительные промо-акции + усиление POS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0" y="4251960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Arial"/>
              </a:rPr>
              <a:t>ЧЕГО НЕ ДЕЛАЮТ КОНКУРЕНТЫ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2320" y="4663440"/>
            <a:ext cx="4937760" cy="1828800"/>
          </a:xfrm>
          <a:prstGeom prst="roundRect">
            <a:avLst/>
          </a:prstGeom>
          <a:solidFill>
            <a:srgbClr val="E5E7EB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269480" y="4754880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Tikkurila — Нет письменного антикризисного плана. Реагируют по обстоятельствам.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5084064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Dufa — Возврат неликвида — только брак. Неликвид по причине «не пошло» — проблема дистрибьютора.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69480" y="5413248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Dali — Обучение — 1 раз при старте. Повторного нет. Мастер-классов в РТТ не проводят.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69480" y="5742432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Husky Klondike — Нет личного куратора. Только горячая линия и email-поддержка.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78040" y="6071616"/>
            <a:ext cx="4846320" cy="32918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269480" y="6071616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✓  TITAN (Эмпилс) — Письменный план «Б» с 6 инструментами + 3 уровнями срабатывания.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План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«Б» —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официальная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часть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программы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.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Не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дополнительная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услуга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, а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гарантия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партнёрства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84829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KPI И КОНТРОЛЬ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Как измеряем успех  •  10 метрик по 3 этапам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63905"/>
            <a:ext cx="11460175" cy="369441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811659"/>
            <a:ext cx="11460175" cy="23596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ru-RU" sz="1200" b="1" i="0" dirty="0" smtClean="0">
                <a:solidFill>
                  <a:srgbClr val="1E3A5F"/>
                </a:solidFill>
                <a:latin typeface="Arial"/>
              </a:rPr>
              <a:t>Ц</a:t>
            </a:r>
            <a:r>
              <a:rPr sz="1200" b="1" i="0" dirty="0" err="1" smtClean="0">
                <a:solidFill>
                  <a:srgbClr val="1E3A5F"/>
                </a:solidFill>
                <a:latin typeface="Arial"/>
              </a:rPr>
              <a:t>ели</a:t>
            </a:r>
            <a:r>
              <a:rPr sz="1200" b="1" i="0" dirty="0" smtClean="0">
                <a:solidFill>
                  <a:srgbClr val="1E3A5F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1E3A5F"/>
                </a:solidFill>
                <a:latin typeface="Arial"/>
              </a:rPr>
              <a:t>по</a:t>
            </a:r>
            <a:r>
              <a:rPr sz="1200" b="1" i="0" dirty="0">
                <a:solidFill>
                  <a:srgbClr val="1E3A5F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1E3A5F"/>
                </a:solidFill>
                <a:latin typeface="Arial"/>
              </a:rPr>
              <a:t>этапам</a:t>
            </a:r>
            <a:r>
              <a:rPr sz="1200" b="1" i="0" dirty="0">
                <a:solidFill>
                  <a:srgbClr val="1E3A5F"/>
                </a:solidFill>
                <a:latin typeface="Arial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83005"/>
            <a:ext cx="7315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183005"/>
            <a:ext cx="731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Этап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1183005"/>
            <a:ext cx="45720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183005"/>
            <a:ext cx="45720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Метрика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1183005"/>
            <a:ext cx="36576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0" y="1183005"/>
            <a:ext cx="36576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Целевое значение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0" y="1183005"/>
            <a:ext cx="24688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0" y="1183005"/>
            <a:ext cx="24688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Периодичность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594485"/>
            <a:ext cx="73152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15944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15944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15944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Объём закупок TITAN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15944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60720" y="15944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Arial"/>
              </a:rPr>
              <a:t>+30% к базовому периоду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15944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8320" y="15944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051685"/>
            <a:ext cx="73152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20516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20516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88720" y="20516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Доля TITAN в ассортименте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20516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60720" y="20516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Arial"/>
              </a:rPr>
              <a:t>Не менее 5 цветов RAL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0" y="20516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18320" y="20516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Ежеквартально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508885"/>
            <a:ext cx="731520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25088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7280" y="25088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88720" y="25088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Количество активных РТТ с TITAN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0" y="25088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760720" y="25088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+25% к базовому периоду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26880" y="25088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418320" y="25088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2966085"/>
            <a:ext cx="731520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760" y="29660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97280" y="29660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88720" y="29660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Охват ТП обучением ТСО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0" y="29660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760720" y="29660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100% ТП пилотного дистрибьютора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26880" y="29660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418320" y="29660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К 3-му месяцу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3423285"/>
            <a:ext cx="731520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65760" y="34232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97280" y="34232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88720" y="34232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Доля новых точек от TITAN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0" y="34232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760720" y="34232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Не менее 20%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6880" y="34232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418320" y="34232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38804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65760" y="38804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97280" y="38804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188720" y="38804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Точки с POS-материалами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0" y="38804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760720" y="38804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80% точек с TITAN на полке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326880" y="38804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418320" y="38804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К 6-му месяцу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43376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65760" y="43376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97280" y="43376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188720" y="43376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Сертифицированные продавцы ТСО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69280" y="43376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760720" y="43376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Не менее 20 на пилота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326880" y="43376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418320" y="43376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К 6-му месяцу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47948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65760" y="47948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97280" y="47948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188720" y="47948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Конверсия в покупку TITAN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69280" y="47948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760720" y="47948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Не менее 30%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326880" y="47948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418320" y="47948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Ежеквартально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" y="52520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65760" y="52520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97280" y="52520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188720" y="52520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Сканирования QR-кода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669280" y="52520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760720" y="52520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500+ сканов/мес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326880" y="52520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418320" y="52520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5760" y="57092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365760" y="57092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97280" y="57092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188720" y="57092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Снижение возвратов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669280" y="57092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760720" y="57092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−30% к базовому периоду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326880" y="57092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9418320" y="57092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Ежеквартально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65760" y="6256020"/>
            <a:ext cx="11460175" cy="45720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365760" y="6256020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Итог: 2 KPI на этапе 1 · 3 KPI на этапе 2 · 5 KPI на этапе 3 — все метрики соблюдаются ежемесячно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200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ЭТАП 5+ — B2B-ИНСТРУМЕНТЫ ПРОДВИЖЕНИЯ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914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i="1">
                <a:solidFill>
                  <a:srgbClr val="FFFFFF"/>
                </a:solidFill>
                <a:latin typeface="Arial"/>
              </a:rPr>
              <a:t>2 инструмента · для кабинетов закупок ФС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566928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868680"/>
            <a:ext cx="5669280" cy="82296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9601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📄  ЛИСТОВКА ПО TITAN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>
                <a:solidFill>
                  <a:srgbClr val="FFFFFF"/>
                </a:solidFill>
                <a:latin typeface="Arial"/>
              </a:rPr>
              <a:t>A4 · для ЛПР федеральных сетей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830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47920"/>
                </a:solidFill>
                <a:latin typeface="Arial"/>
              </a:rPr>
              <a:t>Где: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7830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1A1F36"/>
                </a:solidFill>
                <a:latin typeface="Arial"/>
              </a:rPr>
              <a:t>Кабинеты закупок федеральных сетей (Леруа Мерлен, Максидом, ВсеИнструменты.ру, Лемана Про)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60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47920"/>
                </a:solidFill>
                <a:latin typeface="Arial"/>
              </a:rPr>
              <a:t>Что: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5603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1A1F36"/>
                </a:solidFill>
                <a:latin typeface="Arial"/>
              </a:rPr>
              <a:t>Листовка А4 с УТП TITAN, расчётом маржинальности, кейсом «выкрас через год», топ-5 SKU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375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47920"/>
                </a:solidFill>
                <a:latin typeface="Arial"/>
              </a:rPr>
              <a:t>Зачем: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3375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1A1F36"/>
                </a:solidFill>
                <a:latin typeface="Arial"/>
              </a:rPr>
              <a:t>ЛПР фед. сетей не ходят в торговый зал — листовка работает в кабинете закупок, где принимаются решения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14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47920"/>
                </a:solidFill>
                <a:latin typeface="Arial"/>
              </a:rPr>
              <a:t>Тираж: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1148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1A1F36"/>
                </a:solidFill>
                <a:latin typeface="Arial"/>
              </a:rPr>
              <a:t>500 экз. · 1 листовка = 1 ЛПР · точечная раздача на встречах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754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47920"/>
                </a:solidFill>
                <a:latin typeface="Arial"/>
              </a:rPr>
              <a:t>Призыв: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7548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1A1F36"/>
                </a:solidFill>
                <a:latin typeface="Arial"/>
              </a:rPr>
              <a:t>«Включите TITAN в MML — +15-20% маржи vs ПФ-115, −80% возвратов»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892040"/>
            <a:ext cx="5303520" cy="27432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89204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ЦЕЛЬ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21208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Убедить ЛПР федеральной сети включить TITAN в MML → запуск в 50-100 точках за квартал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868680"/>
            <a:ext cx="566928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868680"/>
            <a:ext cx="5669280" cy="8229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9601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📘  БУКЛЕТ B2B + ПРОБНИК 0.4 кг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13716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>
                <a:solidFill>
                  <a:srgbClr val="FFFFFF"/>
                </a:solidFill>
                <a:latin typeface="Arial"/>
              </a:rPr>
              <a:t>A5 + баночка-пробник · для ЛПР и ТП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17830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E3A5F"/>
                </a:solidFill>
                <a:latin typeface="Arial"/>
              </a:rPr>
              <a:t>Где: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17830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1A1F36"/>
                </a:solidFill>
                <a:latin typeface="Arial"/>
              </a:rPr>
              <a:t>Встречи с ЛПР дистрибьюторов + те же кабинеты ФС · в комплекте с КП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4231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E3A5F"/>
                </a:solidFill>
                <a:latin typeface="Arial"/>
              </a:rPr>
              <a:t>Что: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24231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1A1F36"/>
                </a:solidFill>
                <a:latin typeface="Arial"/>
              </a:rPr>
              <a:t>Буклет А5 с полным портфелем TITAN (3в1, быстросохнущая, молотковая) + прикреплённая баночка 0.4 кг TITAN 3в1 чёрный RAL 9005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2004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E3A5F"/>
                </a:solidFill>
                <a:latin typeface="Arial"/>
              </a:rPr>
              <a:t>Зачем: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32004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1A1F36"/>
                </a:solidFill>
                <a:latin typeface="Arial"/>
              </a:rPr>
              <a:t>ЛПР может ПОТРОГАТЬ продукт, открыть банку, оценить консистенцию — это сильнее любого КП на бумаге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9776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E3A5F"/>
                </a:solidFill>
                <a:latin typeface="Arial"/>
              </a:rPr>
              <a:t>Тираж: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39776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1A1F36"/>
                </a:solidFill>
                <a:latin typeface="Arial"/>
              </a:rPr>
              <a:t>300 комплектов · 1 буклет+пробник = 1 ЛПР · на ключевую встречу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617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E3A5F"/>
                </a:solidFill>
                <a:latin typeface="Arial"/>
              </a:rPr>
              <a:t>Призыв: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46177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1A1F36"/>
                </a:solidFill>
                <a:latin typeface="Arial"/>
              </a:rPr>
              <a:t>«Откройте, потрогайте, попробуйте на пластине — и подпишем контракт на MML»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4892040"/>
            <a:ext cx="5303520" cy="2743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489204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ЦЕЛЬ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21208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Конвертировать ЛПР из «рассматриваем» в «заключаем контракт» → +5-10 новых дистрибьюторов в Q3-Q4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6035040"/>
            <a:ext cx="11430000" cy="5029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6035040"/>
            <a:ext cx="11430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A1F36"/>
                </a:solidFill>
                <a:latin typeface="Arial"/>
              </a:rPr>
              <a:t>⚡  Синергия: листовка (внимание ЛПР) → буклет с пробником (тест продукта) → контракт на MML → запуск TITAN в сети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629400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i="1">
                <a:solidFill>
                  <a:srgbClr val="6B7280"/>
                </a:solidFill>
                <a:latin typeface="Arial"/>
              </a:rPr>
              <a:t>Empils  •  TITAN  •  Дорожная карта развития продаж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3901</Words>
  <Application>Microsoft Office PowerPoint</Application>
  <PresentationFormat>Произвольный</PresentationFormat>
  <Paragraphs>936</Paragraphs>
  <Slides>19</Slides>
  <Notes>14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19</vt:i4>
      </vt:variant>
    </vt:vector>
  </HeadingPairs>
  <TitlesOfParts>
    <vt:vector size="21" baseType="lpstr">
      <vt:lpstr>Office Theme</vt:lpstr>
      <vt:lpstr>1_Office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Заколодний Роман Александрович</cp:lastModifiedBy>
  <cp:revision>57</cp:revision>
  <cp:lastPrinted>2026-07-15T06:35:42Z</cp:lastPrinted>
  <dcterms:created xsi:type="dcterms:W3CDTF">2013-01-27T09:14:16Z</dcterms:created>
  <dcterms:modified xsi:type="dcterms:W3CDTF">2026-07-23T10:36:12Z</dcterms:modified>
  <cp:category/>
</cp:coreProperties>
</file>