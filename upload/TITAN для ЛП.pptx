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72" r:id="rId6"/>
    <p:sldId id="266" r:id="rId7"/>
    <p:sldId id="271" r:id="rId8"/>
    <p:sldId id="273" r:id="rId9"/>
    <p:sldId id="274" r:id="rId10"/>
  </p:sldIdLst>
  <p:sldSz cx="9144000" cy="5143500" type="screen16x9"/>
  <p:notesSz cx="6797675" cy="9926638"/>
  <p:embeddedFontLst>
    <p:embeddedFont>
      <p:font typeface="Roboto Mono Medium" panose="020B0604020202020204" charset="0"/>
      <p:regular r:id="rId12"/>
      <p: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rimo" panose="020B0604020202020204" charset="0"/>
      <p:regular r:id="rId18"/>
      <p:bold r:id="rId19"/>
      <p:italic r:id="rId20"/>
      <p:boldItalic r:id="rId21"/>
    </p:embeddedFont>
    <p:embeddedFont>
      <p:font typeface="Roboto Mono" panose="020B060402020202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0961" autoAdjust="0"/>
  </p:normalViewPr>
  <p:slideViewPr>
    <p:cSldViewPr snapToGrid="0" snapToObjects="1">
      <p:cViewPr>
        <p:scale>
          <a:sx n="100" d="100"/>
          <a:sy n="100" d="100"/>
        </p:scale>
        <p:origin x="-1860" y="-6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8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нанесении грунт-эмали на цветные металлы (цинк, медь, алюминий), а так же на оцинкованные  металлические поверхности  и поверхности из  нержавеющей стали им необходимо придать шероховатость для увеличения </a:t>
            </a:r>
            <a:r>
              <a:rPr lang="ru-RU" dirty="0" err="1" smtClean="0"/>
              <a:t>адгезирующих</a:t>
            </a:r>
            <a:r>
              <a:rPr lang="ru-RU" dirty="0" smtClean="0"/>
              <a:t> свойств к подложке.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Добавить</a:t>
            </a:r>
            <a:r>
              <a:rPr lang="ru-RU" baseline="0" dirty="0" smtClean="0"/>
              <a:t> 3 новых цвета с плашкой «НОВИНКА»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необходимости, разбавить ксилолом до 5% по объему при нанесении кистью или валиком, до 15% по объему при нанесении </a:t>
            </a:r>
            <a:r>
              <a:rPr lang="ru-RU" dirty="0" err="1" smtClean="0"/>
              <a:t>пневмо</a:t>
            </a:r>
            <a:r>
              <a:rPr lang="ru-RU" dirty="0" smtClean="0"/>
              <a:t> распылением. При безвоздушном распылении разбавление не требуется.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Для инфо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066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7" Type="http://schemas.openxmlformats.org/officeDocument/2006/relationships/image" Target="../media/image26.png"/><Relationship Id="rId12" Type="http://schemas.openxmlformats.org/officeDocument/2006/relationships/image" Target="../media/image18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5" Type="http://schemas.openxmlformats.org/officeDocument/2006/relationships/image" Target="../media/image24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10" Type="http://schemas.openxmlformats.org/officeDocument/2006/relationships/image" Target="../media/image16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8" Type="http://schemas.openxmlformats.org/officeDocument/2006/relationships/image" Target="../media/image27.png"/><Relationship Id="rId3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5863" y="-28575"/>
            <a:ext cx="1271588" cy="6048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5929313" y="1552575"/>
            <a:ext cx="3243263" cy="29098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2315528" y="2124075"/>
            <a:ext cx="3474039" cy="3028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0262" y="245931"/>
            <a:ext cx="1946699" cy="19466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595688"/>
            <a:ext cx="286226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Презентация продукции</a:t>
            </a:r>
            <a:endParaRPr lang="en-US" sz="342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3086100" y="3929063"/>
            <a:ext cx="6057900" cy="1214438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46373" y="1488197"/>
            <a:ext cx="2204307" cy="309513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58113" y="395288"/>
            <a:ext cx="938213" cy="938213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30796" y="1462698"/>
            <a:ext cx="2345638" cy="314852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52272" y="1333501"/>
            <a:ext cx="3622848" cy="3622848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6686550" y="3662362"/>
            <a:ext cx="2457450" cy="762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3"/>
          <p:cNvSpPr/>
          <p:nvPr/>
        </p:nvSpPr>
        <p:spPr>
          <a:xfrm>
            <a:off x="6686550" y="3762375"/>
            <a:ext cx="2457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5413" y="1004888"/>
            <a:ext cx="1511215" cy="151121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62" b="3036"/>
          <a:stretch/>
        </p:blipFill>
        <p:spPr>
          <a:xfrm>
            <a:off x="2400300" y="-61912"/>
            <a:ext cx="2508121" cy="11683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30" b="3030"/>
          <a:stretch/>
        </p:blipFill>
        <p:spPr>
          <a:xfrm>
            <a:off x="5843588" y="4086225"/>
            <a:ext cx="1704975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37" b="3957"/>
          <a:stretch/>
        </p:blipFill>
        <p:spPr>
          <a:xfrm>
            <a:off x="-57150" y="3871913"/>
            <a:ext cx="6043613" cy="12715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300788" y="3867150"/>
            <a:ext cx="2843213" cy="7620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5298498" y="381000"/>
            <a:ext cx="3307339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Специализированная линейка материалов по металлу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сочетает в себе свойства самых последних и инновационных разработок в сфере лакокрасочных покрытий.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kern="0" spc="-34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Материалы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металлу</a:t>
            </a:r>
            <a:r>
              <a:rPr lang="ru-RU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предотвращают появление коррозии и сохраняют целостность конструкции в течение 10 лет. </a:t>
            </a:r>
            <a:r>
              <a:rPr lang="en-US" sz="1140" b="1" i="1" u="sng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Подтверждено независимым испытательным центром ООО 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</a:t>
            </a:r>
            <a:r>
              <a:rPr lang="en-US" sz="1140" b="1" i="1" u="sng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Рутил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»</a:t>
            </a:r>
            <a:r>
              <a:rPr lang="en-US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40" b="1" i="1" u="sng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Изделия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из металла встречаются повсюду: металлоконструкции, кованые изделия, садовый инвентарь и др., но поверхности из металла подвержены влиянию агрессивной среды, что сказывается на внешнем виде и прочности конструкций. Эффективный способ защитить поверхности от ржавчины – использование специальных </a:t>
            </a: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отделочных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составов</a:t>
            </a:r>
            <a:r>
              <a:rPr lang="ru-RU" sz="1140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.</a:t>
            </a:r>
            <a:endParaRPr lang="en-US" sz="114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3622" y="381000"/>
            <a:ext cx="56199" cy="615446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3046" y="381000"/>
            <a:ext cx="257169" cy="615446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287161" y="1793780"/>
            <a:ext cx="2143873" cy="287181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700144" y="1707484"/>
            <a:ext cx="2268877" cy="3045491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291" t="6907" r="21297" b="11362"/>
          <a:stretch/>
        </p:blipFill>
        <p:spPr>
          <a:xfrm>
            <a:off x="78859" y="1719180"/>
            <a:ext cx="2143873" cy="2900446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919191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855" dirty="0"/>
          </a:p>
        </p:txBody>
      </p:sp>
      <p:sp>
        <p:nvSpPr>
          <p:cNvPr id="17" name="Text 3"/>
          <p:cNvSpPr/>
          <p:nvPr/>
        </p:nvSpPr>
        <p:spPr>
          <a:xfrm>
            <a:off x="6300788" y="3962400"/>
            <a:ext cx="28432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chemeClr val="bg1">
                <a:lumMod val="95000"/>
              </a:schemeClr>
            </a:gs>
            <a:gs pos="38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1738" y="2490788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646" b="-1183"/>
          <a:stretch/>
        </p:blipFill>
        <p:spPr>
          <a:xfrm>
            <a:off x="-28575" y="3376612"/>
            <a:ext cx="1138238" cy="16287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77" b="5742"/>
          <a:stretch/>
        </p:blipFill>
        <p:spPr>
          <a:xfrm>
            <a:off x="2160835" y="-138368"/>
            <a:ext cx="2948460" cy="180245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2847" y="904427"/>
            <a:ext cx="3518836" cy="40028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621" y="381000"/>
            <a:ext cx="56199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046" y="381000"/>
            <a:ext cx="257168" cy="615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"/>
          <p:cNvSpPr/>
          <p:nvPr/>
        </p:nvSpPr>
        <p:spPr>
          <a:xfrm>
            <a:off x="5462588" y="1304925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Гарантия сохранности покрытия вне помещений составляет минимум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лет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благодаря повышенной устойчивости к ультрафиолетовому излучению, осадкам и температурным колебаниям;</a:t>
            </a:r>
            <a:endParaRPr lang="en-US" sz="855" dirty="0"/>
          </a:p>
        </p:txBody>
      </p:sp>
      <p:sp>
        <p:nvSpPr>
          <p:cNvPr id="15" name="Shape 2"/>
          <p:cNvSpPr/>
          <p:nvPr/>
        </p:nvSpPr>
        <p:spPr>
          <a:xfrm>
            <a:off x="4808213" y="1281113"/>
            <a:ext cx="463784" cy="463784"/>
          </a:xfrm>
          <a:prstGeom prst="rect">
            <a:avLst/>
          </a:prstGeom>
          <a:noFill/>
          <a:ln/>
        </p:spPr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08213" y="1281113"/>
            <a:ext cx="463783" cy="4637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88730" y="1367752"/>
            <a:ext cx="301749" cy="31467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974229" y="1409037"/>
            <a:ext cx="40279" cy="103632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42618" y="1407527"/>
            <a:ext cx="67089" cy="10652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969822" y="1534990"/>
            <a:ext cx="44390" cy="47662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018491" y="1534193"/>
            <a:ext cx="42209" cy="49341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062210" y="1535032"/>
            <a:ext cx="45900" cy="47620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5462588" y="3338513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Образует высокоглянцевое покрытие: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 сохраняет первоначальный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глянец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яркость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окраски даже при воздействии атмосферных факторов;</a:t>
            </a:r>
            <a:endParaRPr lang="en-US" sz="855" dirty="0"/>
          </a:p>
        </p:txBody>
      </p:sp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808213" y="3333750"/>
            <a:ext cx="465788" cy="465787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5462588" y="29432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Быстрое высыхание: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1,5 часа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на «отлип»;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степени 3 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не более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часов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26" name="Shape 5"/>
          <p:cNvSpPr/>
          <p:nvPr/>
        </p:nvSpPr>
        <p:spPr>
          <a:xfrm>
            <a:off x="4808213" y="2824163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914402" y="2963089"/>
            <a:ext cx="253078" cy="253077"/>
          </a:xfrm>
          <a:prstGeom prst="rect">
            <a:avLst/>
          </a:prstGeom>
        </p:spPr>
      </p:pic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8216" y="2824163"/>
            <a:ext cx="465784" cy="465787"/>
          </a:xfrm>
          <a:prstGeom prst="rect">
            <a:avLst/>
          </a:prstGeom>
        </p:spPr>
      </p:pic>
      <p:pic>
        <p:nvPicPr>
          <p:cNvPr id="29" name="Image 2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003648" y="2873885"/>
            <a:ext cx="74668" cy="63923"/>
          </a:xfrm>
          <a:prstGeom prst="rect">
            <a:avLst/>
          </a:prstGeom>
        </p:spPr>
      </p:pic>
      <p:pic>
        <p:nvPicPr>
          <p:cNvPr id="30" name="Image 22" descr="preencoded.png"/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9507" y="2933299"/>
            <a:ext cx="38672" cy="38671"/>
          </a:xfrm>
          <a:prstGeom prst="rect">
            <a:avLst/>
          </a:prstGeom>
        </p:spPr>
      </p:pic>
      <p:pic>
        <p:nvPicPr>
          <p:cNvPr id="31" name="Image 23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3740" y="2933299"/>
            <a:ext cx="38672" cy="38671"/>
          </a:xfrm>
          <a:prstGeom prst="rect">
            <a:avLst/>
          </a:prstGeom>
        </p:spPr>
      </p:pic>
      <p:pic>
        <p:nvPicPr>
          <p:cNvPr id="32" name="Image 24" descr="preencoded.png"/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4968378" y="3003458"/>
            <a:ext cx="33500" cy="86213"/>
          </a:xfrm>
          <a:prstGeom prst="rect">
            <a:avLst/>
          </a:prstGeom>
        </p:spPr>
      </p:pic>
      <p:pic>
        <p:nvPicPr>
          <p:cNvPr id="33" name="Image 25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025514" y="3076650"/>
            <a:ext cx="17108" cy="32867"/>
          </a:xfrm>
          <a:prstGeom prst="rect">
            <a:avLst/>
          </a:prstGeom>
        </p:spPr>
      </p:pic>
      <p:pic>
        <p:nvPicPr>
          <p:cNvPr id="34" name="Image 26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5064114" y="3003415"/>
            <a:ext cx="54273" cy="87351"/>
          </a:xfrm>
          <a:prstGeom prst="rect">
            <a:avLst/>
          </a:prstGeom>
        </p:spPr>
      </p:pic>
      <p:pic>
        <p:nvPicPr>
          <p:cNvPr id="35" name="Image 27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2116" y="3115837"/>
            <a:ext cx="40746" cy="47910"/>
          </a:xfrm>
          <a:prstGeom prst="rect">
            <a:avLst/>
          </a:prstGeom>
        </p:spPr>
      </p:pic>
      <p:pic>
        <p:nvPicPr>
          <p:cNvPr id="36" name="Image 28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4998046" y="3115079"/>
            <a:ext cx="40704" cy="49512"/>
          </a:xfrm>
          <a:prstGeom prst="rect">
            <a:avLst/>
          </a:prstGeom>
        </p:spPr>
      </p:pic>
      <p:pic>
        <p:nvPicPr>
          <p:cNvPr id="37" name="Image 29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5042711" y="3114910"/>
            <a:ext cx="41253" cy="49596"/>
          </a:xfrm>
          <a:prstGeom prst="rect">
            <a:avLst/>
          </a:prstGeom>
        </p:spPr>
      </p:pic>
      <p:pic>
        <p:nvPicPr>
          <p:cNvPr id="38" name="Image 30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5088599" y="3115079"/>
            <a:ext cx="40704" cy="49512"/>
          </a:xfrm>
          <a:prstGeom prst="rect">
            <a:avLst/>
          </a:prstGeom>
        </p:spPr>
      </p:pic>
      <p:sp>
        <p:nvSpPr>
          <p:cNvPr id="39" name="Text 6"/>
          <p:cNvSpPr/>
          <p:nvPr/>
        </p:nvSpPr>
        <p:spPr>
          <a:xfrm>
            <a:off x="5462588" y="1809750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Универсальность нанесения: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Подходит для всех видов металлов, включая сталь и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оцинкованные поверхности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обеспечивая надежную защиту независимо от типа материала;</a:t>
            </a:r>
            <a:endParaRPr lang="en-US" sz="855" dirty="0"/>
          </a:p>
        </p:txBody>
      </p:sp>
      <p:pic>
        <p:nvPicPr>
          <p:cNvPr id="40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808213" y="1809750"/>
            <a:ext cx="465788" cy="455026"/>
          </a:xfrm>
          <a:prstGeom prst="rect">
            <a:avLst/>
          </a:prstGeom>
        </p:spPr>
      </p:pic>
      <p:sp>
        <p:nvSpPr>
          <p:cNvPr id="41" name="Text 7"/>
          <p:cNvSpPr/>
          <p:nvPr/>
        </p:nvSpPr>
        <p:spPr>
          <a:xfrm>
            <a:off x="5462588" y="231933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Широкая цветовая гамма: 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Доступна широкая палитра цветов по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каталогу RAL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позволяющая выбрать оттенок, соответствующий любым эстетическим требованиям потребителя;</a:t>
            </a:r>
            <a:endParaRPr lang="en-US" sz="855" dirty="0"/>
          </a:p>
        </p:txBody>
      </p:sp>
      <p:sp>
        <p:nvSpPr>
          <p:cNvPr id="42" name="Shape 8"/>
          <p:cNvSpPr/>
          <p:nvPr/>
        </p:nvSpPr>
        <p:spPr>
          <a:xfrm>
            <a:off x="4808213" y="2314575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43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4808213" y="2314575"/>
            <a:ext cx="465787" cy="465787"/>
          </a:xfrm>
          <a:prstGeom prst="rect">
            <a:avLst/>
          </a:prstGeom>
        </p:spPr>
      </p:pic>
      <p:pic>
        <p:nvPicPr>
          <p:cNvPr id="44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904277" y="2411237"/>
            <a:ext cx="298510" cy="298547"/>
          </a:xfrm>
          <a:prstGeom prst="rect">
            <a:avLst/>
          </a:prstGeom>
        </p:spPr>
      </p:pic>
      <p:pic>
        <p:nvPicPr>
          <p:cNvPr id="45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4929174" y="2441128"/>
            <a:ext cx="32333" cy="32333"/>
          </a:xfrm>
          <a:prstGeom prst="rect">
            <a:avLst/>
          </a:prstGeom>
        </p:spPr>
      </p:pic>
      <p:sp>
        <p:nvSpPr>
          <p:cNvPr id="46" name="Text 9"/>
          <p:cNvSpPr/>
          <p:nvPr/>
        </p:nvSpPr>
        <p:spPr>
          <a:xfrm>
            <a:off x="5462588" y="3905250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Прочность покрытия: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бразует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прочное покрытие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устойчивое к механическим повреждениям, царапинам и 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истиранию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pic>
        <p:nvPicPr>
          <p:cNvPr id="47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4808213" y="3843338"/>
            <a:ext cx="465788" cy="465705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5462588" y="435768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Высокий уровень антикоррозионной защиты: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лагодаря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2х барьерной защите надежно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предотвращает образование ржавчины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даже в условиях агрессивной внешней среды.</a:t>
            </a:r>
            <a:endParaRPr lang="en-US" sz="855" dirty="0"/>
          </a:p>
        </p:txBody>
      </p:sp>
      <p:pic>
        <p:nvPicPr>
          <p:cNvPr id="4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4808213" y="4352925"/>
            <a:ext cx="465788" cy="466223"/>
          </a:xfrm>
          <a:prstGeom prst="rect">
            <a:avLst/>
          </a:prstGeom>
        </p:spPr>
      </p:pic>
      <p:sp>
        <p:nvSpPr>
          <p:cNvPr id="50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855" dirty="0"/>
          </a:p>
        </p:txBody>
      </p:sp>
      <p:sp>
        <p:nvSpPr>
          <p:cNvPr id="51" name="Text 12"/>
          <p:cNvSpPr/>
          <p:nvPr/>
        </p:nvSpPr>
        <p:spPr>
          <a:xfrm>
            <a:off x="4891088" y="473393"/>
            <a:ext cx="42529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710" b="1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</a:t>
            </a:r>
            <a:r>
              <a:rPr lang="en-US" sz="1710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Ореол TITAN высокоглянцевая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chemeClr val="bg1">
                <a:lumMod val="95000"/>
              </a:schemeClr>
            </a:gs>
            <a:gs pos="54000">
              <a:schemeClr val="bg1">
                <a:lumMod val="8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38288" y="4238625"/>
            <a:ext cx="1395413" cy="509587"/>
          </a:xfrm>
          <a:prstGeom prst="rect">
            <a:avLst/>
          </a:prstGeom>
          <a:solidFill>
            <a:srgbClr val="1E4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375" y="3886200"/>
            <a:ext cx="1944802" cy="11214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8288" y="3248025"/>
            <a:ext cx="1395413" cy="509587"/>
          </a:xfrm>
          <a:prstGeom prst="rect">
            <a:avLst/>
          </a:prstGeom>
          <a:solidFill>
            <a:srgbClr val="7539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375" y="2895600"/>
            <a:ext cx="1944802" cy="11214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8288" y="2257425"/>
            <a:ext cx="1395413" cy="5095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375" y="1905000"/>
            <a:ext cx="1942886" cy="11170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8288" y="1266825"/>
            <a:ext cx="1395413" cy="509587"/>
          </a:xfrm>
          <a:prstGeom prst="rect">
            <a:avLst/>
          </a:prstGeom>
          <a:solidFill>
            <a:srgbClr val="F3F8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3375" y="914400"/>
            <a:ext cx="1944802" cy="11214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065520" y="518160"/>
            <a:ext cx="2687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ПАЛИТРА</a:t>
            </a:r>
            <a:endParaRPr lang="en-US" sz="1710" dirty="0"/>
          </a:p>
        </p:txBody>
      </p:sp>
      <p:sp>
        <p:nvSpPr>
          <p:cNvPr id="13" name="Text 7"/>
          <p:cNvSpPr/>
          <p:nvPr/>
        </p:nvSpPr>
        <p:spPr>
          <a:xfrm>
            <a:off x="4262438" y="1266825"/>
            <a:ext cx="1428750" cy="509587"/>
          </a:xfrm>
          <a:prstGeom prst="rect">
            <a:avLst/>
          </a:prstGeom>
          <a:solidFill>
            <a:srgbClr val="A1A2A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262438" y="2257425"/>
            <a:ext cx="1428750" cy="509587"/>
          </a:xfrm>
          <a:prstGeom prst="rect">
            <a:avLst/>
          </a:prstGeom>
          <a:solidFill>
            <a:srgbClr val="FBDE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262438" y="3248025"/>
            <a:ext cx="1428750" cy="509587"/>
          </a:xfrm>
          <a:prstGeom prst="rect">
            <a:avLst/>
          </a:prstGeom>
          <a:solidFill>
            <a:srgbClr val="4435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262438" y="4238625"/>
            <a:ext cx="1428750" cy="509587"/>
          </a:xfrm>
          <a:prstGeom prst="rect">
            <a:avLst/>
          </a:prstGeom>
          <a:solidFill>
            <a:srgbClr val="333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67050" y="914400"/>
            <a:ext cx="1944802" cy="1121483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7050" y="1900238"/>
            <a:ext cx="1944802" cy="1127009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67050" y="2890838"/>
            <a:ext cx="1944802" cy="112700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67050" y="3881438"/>
            <a:ext cx="1944802" cy="112700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069"/>
          <a:stretch/>
        </p:blipFill>
        <p:spPr>
          <a:xfrm>
            <a:off x="5953125" y="3790950"/>
            <a:ext cx="2895600" cy="135255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1306832"/>
            <a:ext cx="3364897" cy="379956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855" dirty="0"/>
          </a:p>
        </p:txBody>
      </p:sp>
      <p:sp>
        <p:nvSpPr>
          <p:cNvPr id="24" name="Text 12"/>
          <p:cNvSpPr/>
          <p:nvPr/>
        </p:nvSpPr>
        <p:spPr>
          <a:xfrm>
            <a:off x="14288" y="493395"/>
            <a:ext cx="561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kern="0" spc="-3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высокоглянцевая</a:t>
            </a:r>
            <a:endParaRPr lang="en-US" sz="1425" dirty="0"/>
          </a:p>
        </p:txBody>
      </p:sp>
      <p:sp>
        <p:nvSpPr>
          <p:cNvPr id="25" name="Text 13"/>
          <p:cNvSpPr/>
          <p:nvPr/>
        </p:nvSpPr>
        <p:spPr>
          <a:xfrm>
            <a:off x="4338638" y="14097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7004</a:t>
            </a:r>
            <a:endParaRPr lang="en-US" sz="855" dirty="0"/>
          </a:p>
        </p:txBody>
      </p:sp>
      <p:sp>
        <p:nvSpPr>
          <p:cNvPr id="26" name="Text 14"/>
          <p:cNvSpPr/>
          <p:nvPr/>
        </p:nvSpPr>
        <p:spPr>
          <a:xfrm>
            <a:off x="4338638" y="24003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Желтый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1021</a:t>
            </a:r>
            <a:endParaRPr lang="en-US" sz="855" dirty="0"/>
          </a:p>
        </p:txBody>
      </p:sp>
      <p:sp>
        <p:nvSpPr>
          <p:cNvPr id="27" name="Text 15"/>
          <p:cNvSpPr/>
          <p:nvPr/>
        </p:nvSpPr>
        <p:spPr>
          <a:xfrm>
            <a:off x="4338638" y="33337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Шоколадно-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8017</a:t>
            </a:r>
            <a:endParaRPr lang="en-US" sz="855" dirty="0"/>
          </a:p>
        </p:txBody>
      </p:sp>
      <p:sp>
        <p:nvSpPr>
          <p:cNvPr id="28" name="Text 16"/>
          <p:cNvSpPr/>
          <p:nvPr/>
        </p:nvSpPr>
        <p:spPr>
          <a:xfrm>
            <a:off x="4338638" y="43243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Графитовый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7024</a:t>
            </a:r>
            <a:endParaRPr lang="en-US" sz="855" dirty="0"/>
          </a:p>
        </p:txBody>
      </p:sp>
      <p:sp>
        <p:nvSpPr>
          <p:cNvPr id="29" name="Text 17"/>
          <p:cNvSpPr/>
          <p:nvPr/>
        </p:nvSpPr>
        <p:spPr>
          <a:xfrm>
            <a:off x="1614488" y="14097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Белый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9010</a:t>
            </a:r>
            <a:endParaRPr lang="en-US" sz="855" dirty="0"/>
          </a:p>
        </p:txBody>
      </p:sp>
      <p:sp>
        <p:nvSpPr>
          <p:cNvPr id="30" name="Text 18"/>
          <p:cNvSpPr/>
          <p:nvPr/>
        </p:nvSpPr>
        <p:spPr>
          <a:xfrm>
            <a:off x="1614488" y="24003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9005</a:t>
            </a:r>
            <a:endParaRPr lang="en-US" sz="855" dirty="0"/>
          </a:p>
        </p:txBody>
      </p:sp>
      <p:sp>
        <p:nvSpPr>
          <p:cNvPr id="31" name="Text 19"/>
          <p:cNvSpPr/>
          <p:nvPr/>
        </p:nvSpPr>
        <p:spPr>
          <a:xfrm>
            <a:off x="1614488" y="3333750"/>
            <a:ext cx="12430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3009</a:t>
            </a:r>
            <a:endParaRPr lang="en-US" sz="855" dirty="0"/>
          </a:p>
        </p:txBody>
      </p:sp>
      <p:sp>
        <p:nvSpPr>
          <p:cNvPr id="32" name="Text 20"/>
          <p:cNvSpPr/>
          <p:nvPr/>
        </p:nvSpPr>
        <p:spPr>
          <a:xfrm>
            <a:off x="1614488" y="43815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Зеленый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6005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19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28775" y="1771650"/>
            <a:ext cx="54879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1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для защиты и окраски стальных и чугунных поверхностей с остатками плотно держащейся ржавчины, эксплуатируемых в атмосферных условиях (металлические конструкции, садовая мебель, гаражи, ограды, решётки и т. д.), и внутри помещений. Подходит для цветных металлов (цинк, медь, алюминий), поверхностей из оцинкованного металла и нержавеющей стали. Возможно нанесение на </a:t>
            </a: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деревянную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419100" y="381000"/>
            <a:ext cx="3895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342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ТЕХНИЧЕСКИЕ ХАРАКТЕРИСТИКИ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19100" y="1438275"/>
            <a:ext cx="1171575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666875"/>
            <a:ext cx="1171575" cy="7429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566988"/>
            <a:ext cx="1171575" cy="4048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409825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3252788"/>
            <a:ext cx="1171575" cy="3429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3124200"/>
            <a:ext cx="1171575" cy="12858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595688"/>
            <a:ext cx="1171575" cy="2524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848100"/>
            <a:ext cx="1171575" cy="14763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4648200"/>
            <a:ext cx="1171575" cy="2095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995738"/>
            <a:ext cx="1171575" cy="6524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2971800"/>
            <a:ext cx="1171575" cy="1524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90674" y="1438275"/>
            <a:ext cx="7091363" cy="2286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9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0013" y="271463"/>
            <a:ext cx="1126243" cy="1004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7313" y="1062038"/>
            <a:ext cx="1181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Инструмент нанесения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6557963" y="1062038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Область применения</a:t>
            </a:r>
            <a:endParaRPr lang="en-US" sz="855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433388"/>
            <a:ext cx="1003278" cy="5476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2371" y="433388"/>
            <a:ext cx="928688" cy="547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855" dirty="0"/>
          </a:p>
        </p:txBody>
      </p:sp>
      <p:sp>
        <p:nvSpPr>
          <p:cNvPr id="25" name="Text 20"/>
          <p:cNvSpPr/>
          <p:nvPr/>
        </p:nvSpPr>
        <p:spPr>
          <a:xfrm>
            <a:off x="1628775" y="1462088"/>
            <a:ext cx="654748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3в1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419100" y="1981200"/>
            <a:ext cx="1019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Назначение</a:t>
            </a:r>
            <a:endParaRPr lang="en-US" sz="713" dirty="0"/>
          </a:p>
        </p:txBody>
      </p:sp>
      <p:sp>
        <p:nvSpPr>
          <p:cNvPr id="28" name="Text 23"/>
          <p:cNvSpPr/>
          <p:nvPr/>
        </p:nvSpPr>
        <p:spPr>
          <a:xfrm>
            <a:off x="419100" y="227742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Степень блеска</a:t>
            </a:r>
            <a:endParaRPr lang="en-US" sz="713" dirty="0"/>
          </a:p>
        </p:txBody>
      </p:sp>
      <p:sp>
        <p:nvSpPr>
          <p:cNvPr id="29" name="Text 24"/>
          <p:cNvSpPr/>
          <p:nvPr/>
        </p:nvSpPr>
        <p:spPr>
          <a:xfrm>
            <a:off x="419100" y="252888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</a:t>
            </a:r>
            <a:endParaRPr lang="en-US" sz="713" dirty="0"/>
          </a:p>
        </p:txBody>
      </p:sp>
      <p:sp>
        <p:nvSpPr>
          <p:cNvPr id="30" name="Text 25"/>
          <p:cNvSpPr/>
          <p:nvPr/>
        </p:nvSpPr>
        <p:spPr>
          <a:xfrm>
            <a:off x="416719" y="2788444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Связующее</a:t>
            </a:r>
            <a:endParaRPr lang="en-US" sz="713" dirty="0"/>
          </a:p>
        </p:txBody>
      </p:sp>
      <p:sp>
        <p:nvSpPr>
          <p:cNvPr id="31" name="Text 26"/>
          <p:cNvSpPr/>
          <p:nvPr/>
        </p:nvSpPr>
        <p:spPr>
          <a:xfrm>
            <a:off x="419100" y="3075622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Разбавление</a:t>
            </a:r>
            <a:endParaRPr lang="en-US" sz="713" dirty="0"/>
          </a:p>
        </p:txBody>
      </p:sp>
      <p:sp>
        <p:nvSpPr>
          <p:cNvPr id="32" name="Text 27"/>
          <p:cNvSpPr/>
          <p:nvPr/>
        </p:nvSpPr>
        <p:spPr>
          <a:xfrm>
            <a:off x="419100" y="344948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</a:t>
            </a:r>
            <a:endParaRPr lang="en-US" sz="713" dirty="0"/>
          </a:p>
        </p:txBody>
      </p:sp>
      <p:sp>
        <p:nvSpPr>
          <p:cNvPr id="33" name="Text 28"/>
          <p:cNvSpPr/>
          <p:nvPr/>
        </p:nvSpPr>
        <p:spPr>
          <a:xfrm>
            <a:off x="416719" y="373570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Условия нанесения</a:t>
            </a:r>
            <a:endParaRPr lang="en-US" sz="713" dirty="0"/>
          </a:p>
        </p:txBody>
      </p:sp>
      <p:sp>
        <p:nvSpPr>
          <p:cNvPr id="34" name="Text 29"/>
          <p:cNvSpPr/>
          <p:nvPr/>
        </p:nvSpPr>
        <p:spPr>
          <a:xfrm>
            <a:off x="419100" y="397764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нанесения</a:t>
            </a:r>
            <a:endParaRPr lang="en-US" sz="713" dirty="0"/>
          </a:p>
        </p:txBody>
      </p:sp>
      <p:sp>
        <p:nvSpPr>
          <p:cNvPr id="35" name="Text 30"/>
          <p:cNvSpPr/>
          <p:nvPr/>
        </p:nvSpPr>
        <p:spPr>
          <a:xfrm>
            <a:off x="419100" y="419862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Эксплуатация поверхности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419100" y="46958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Фасовка</a:t>
            </a:r>
            <a:endParaRPr lang="en-US" sz="713" dirty="0"/>
          </a:p>
        </p:txBody>
      </p:sp>
      <p:sp>
        <p:nvSpPr>
          <p:cNvPr id="38" name="Text 33"/>
          <p:cNvSpPr/>
          <p:nvPr/>
        </p:nvSpPr>
        <p:spPr>
          <a:xfrm>
            <a:off x="1628775" y="2286953"/>
            <a:ext cx="3576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Глянцевая</a:t>
            </a:r>
            <a:endParaRPr lang="en-US" sz="713" dirty="0"/>
          </a:p>
        </p:txBody>
      </p:sp>
      <p:sp>
        <p:nvSpPr>
          <p:cNvPr id="40" name="Text 35"/>
          <p:cNvSpPr/>
          <p:nvPr/>
        </p:nvSpPr>
        <p:spPr>
          <a:xfrm>
            <a:off x="1628776" y="2417922"/>
            <a:ext cx="471963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13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«От пыли» — 1,5 ч. 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ст.3 – не более 5 часов.</a:t>
            </a:r>
          </a:p>
          <a:p>
            <a:pPr>
              <a:lnSpc>
                <a:spcPts val="713"/>
              </a:lnSpc>
            </a:pP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Каждый 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последующий слой наносить не ранее 10 часов от нанесения предыдущего слоя, для исключения дефекта покрытия "сморщивание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". </a:t>
            </a:r>
            <a:endParaRPr lang="en-US" sz="713" dirty="0"/>
          </a:p>
        </p:txBody>
      </p:sp>
      <p:sp>
        <p:nvSpPr>
          <p:cNvPr id="42" name="Text 37"/>
          <p:cNvSpPr/>
          <p:nvPr/>
        </p:nvSpPr>
        <p:spPr>
          <a:xfrm>
            <a:off x="1626394" y="2788444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Модифицированный алкид.</a:t>
            </a:r>
            <a:endParaRPr lang="en-US" sz="713" dirty="0"/>
          </a:p>
        </p:txBody>
      </p:sp>
      <p:sp>
        <p:nvSpPr>
          <p:cNvPr id="44" name="Text 39"/>
          <p:cNvSpPr/>
          <p:nvPr/>
        </p:nvSpPr>
        <p:spPr>
          <a:xfrm>
            <a:off x="1626394" y="2987515"/>
            <a:ext cx="684895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необходимости, разбавить ксилолом до 5% по объему при нанесении кистью или валиком </a:t>
            </a:r>
            <a:b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Для нанесении </a:t>
            </a:r>
            <a:r>
              <a:rPr lang="ru-RU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пневмораспылителем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разбавить до 15% по объему. </a:t>
            </a:r>
            <a:b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 безвоздушном распылении разбавление не требуется </a:t>
            </a:r>
            <a:endParaRPr lang="en-US" sz="713" dirty="0"/>
          </a:p>
        </p:txBody>
      </p:sp>
      <p:sp>
        <p:nvSpPr>
          <p:cNvPr id="45" name="Text 40"/>
          <p:cNvSpPr/>
          <p:nvPr/>
        </p:nvSpPr>
        <p:spPr>
          <a:xfrm>
            <a:off x="1626394" y="3366136"/>
            <a:ext cx="4929188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в зависимости от цвета, основания и требуемой фактуры поверхности — 50–120 г/м²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Рекомендуемая толщина однослойного сухого покрытия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30-40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двухслойного -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60-80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713" i="1" dirty="0"/>
          </a:p>
        </p:txBody>
      </p:sp>
      <p:sp>
        <p:nvSpPr>
          <p:cNvPr id="47" name="Text 42"/>
          <p:cNvSpPr/>
          <p:nvPr/>
        </p:nvSpPr>
        <p:spPr>
          <a:xfrm>
            <a:off x="1626394" y="3735705"/>
            <a:ext cx="7081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Рекомендуется наносить в 2–3 слоя. Рекомендованная толщина одного слоя: 30–40 мкм сухой плёнки.   </a:t>
            </a:r>
            <a:endParaRPr lang="en-US" sz="713" dirty="0"/>
          </a:p>
        </p:txBody>
      </p:sp>
      <p:sp>
        <p:nvSpPr>
          <p:cNvPr id="48" name="Text 43"/>
          <p:cNvSpPr/>
          <p:nvPr/>
        </p:nvSpPr>
        <p:spPr>
          <a:xfrm>
            <a:off x="1628775" y="3977640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 +10°C до +30°C.</a:t>
            </a:r>
            <a:endParaRPr lang="en-US" sz="713" dirty="0"/>
          </a:p>
        </p:txBody>
      </p:sp>
      <p:sp>
        <p:nvSpPr>
          <p:cNvPr id="50" name="Text 45"/>
          <p:cNvSpPr/>
          <p:nvPr/>
        </p:nvSpPr>
        <p:spPr>
          <a:xfrm>
            <a:off x="1628775" y="4191000"/>
            <a:ext cx="704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48 ч после окраски можно применить только лёгкую очистку влажной мягкой тканью.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7 дней после окраски готовое покрытие можно очищать моющими средствами (рН 6–8) с помощью мягкой ткани или губки.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достигает 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своей 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окончательной твёрдости и стойкости в течение одного месяца после окраски (при 20°C окружающей среды). Максимальный промежуток времени между подготовкой поверхности и окраской — 16 часов.</a:t>
            </a:r>
            <a:endParaRPr lang="en-US" sz="713" dirty="0"/>
          </a:p>
        </p:txBody>
      </p:sp>
      <p:sp>
        <p:nvSpPr>
          <p:cNvPr id="51" name="Text 46"/>
          <p:cNvSpPr/>
          <p:nvPr/>
        </p:nvSpPr>
        <p:spPr>
          <a:xfrm>
            <a:off x="1628775" y="4700588"/>
            <a:ext cx="2533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0,75 / 2 / 8,5 л.</a:t>
            </a:r>
            <a:endParaRPr lang="en-US" sz="7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61000">
              <a:srgbClr val="AAAAAA"/>
            </a:gs>
            <a:gs pos="12000">
              <a:schemeClr val="bg1">
                <a:lumMod val="95000"/>
              </a:schemeClr>
            </a:gs>
            <a:gs pos="100000">
              <a:schemeClr val="tx1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73" b="5650"/>
          <a:stretch/>
        </p:blipFill>
        <p:spPr>
          <a:xfrm>
            <a:off x="-366709" y="3348038"/>
            <a:ext cx="1565700" cy="180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3020" y="0"/>
            <a:ext cx="922020" cy="4524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800" y="2828925"/>
            <a:ext cx="1604963" cy="2319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42913" y="4129088"/>
            <a:ext cx="1166813" cy="10144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42913" y="2271713"/>
            <a:ext cx="1166813" cy="1857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19113" y="2302193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Empils ОРЕОЛ TITAN чёрный RAL 9005 0.75 л, 0.75 кг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1866900" y="2128838"/>
            <a:ext cx="1166813" cy="19526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866900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411" y="2700815"/>
            <a:ext cx="1387497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7863" y="22336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3 в 1 Elcon глянцевая чёрная RAL 9005, 0.8 кг</a:t>
            </a:r>
            <a:endParaRPr lang="en-US" sz="855" dirty="0"/>
          </a:p>
        </p:txBody>
      </p:sp>
      <p:sp>
        <p:nvSpPr>
          <p:cNvPr id="12" name="Text 6"/>
          <p:cNvSpPr/>
          <p:nvPr/>
        </p:nvSpPr>
        <p:spPr>
          <a:xfrm>
            <a:off x="3290888" y="1824038"/>
            <a:ext cx="1166813" cy="21812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32908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3557" y="2576512"/>
            <a:ext cx="1396036" cy="1633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71850" y="1943100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Dufa CORREX 3 в 1 для металла </a:t>
            </a: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ржавчине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RAL 9005, чёрный, 0.75 л</a:t>
            </a:r>
            <a:endParaRPr lang="en-US" sz="855" dirty="0"/>
          </a:p>
        </p:txBody>
      </p:sp>
      <p:sp>
        <p:nvSpPr>
          <p:cNvPr id="16" name="Text 9"/>
          <p:cNvSpPr/>
          <p:nvPr/>
        </p:nvSpPr>
        <p:spPr>
          <a:xfrm>
            <a:off x="4714875" y="1747838"/>
            <a:ext cx="1166813" cy="20859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4714875" y="3595688"/>
            <a:ext cx="1166813" cy="15478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50362" y="2440780"/>
            <a:ext cx="1479128" cy="16335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95838" y="185356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Dali 3 в 1, чёрная RAL 9005, 0.75 л</a:t>
            </a:r>
            <a:endParaRPr lang="en-US" sz="855" dirty="0"/>
          </a:p>
        </p:txBody>
      </p:sp>
      <p:sp>
        <p:nvSpPr>
          <p:cNvPr id="20" name="Text 12"/>
          <p:cNvSpPr/>
          <p:nvPr/>
        </p:nvSpPr>
        <p:spPr>
          <a:xfrm>
            <a:off x="6138863" y="1619250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6138863" y="3400425"/>
            <a:ext cx="1166813" cy="1743075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43613" y="2233612"/>
            <a:ext cx="1361247" cy="165973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19825" y="1747838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по металлу HUSKY KLONDIKE глянцевая, чёрная, RAL 9005; 0.9 л</a:t>
            </a:r>
            <a:endParaRPr lang="en-US" sz="855" dirty="0"/>
          </a:p>
        </p:txBody>
      </p:sp>
      <p:sp>
        <p:nvSpPr>
          <p:cNvPr id="24" name="Text 15"/>
          <p:cNvSpPr/>
          <p:nvPr/>
        </p:nvSpPr>
        <p:spPr>
          <a:xfrm>
            <a:off x="7562850" y="1157288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7562850" y="2957513"/>
            <a:ext cx="1166813" cy="21859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37207" y="1734981"/>
            <a:ext cx="1427624" cy="17145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43813" y="128587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для металла Tikkurila METALLISTA по ржавчине 3 в 1,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л, чёрная</a:t>
            </a:r>
            <a:endParaRPr lang="en-US" sz="855" dirty="0"/>
          </a:p>
        </p:txBody>
      </p:sp>
      <p:sp>
        <p:nvSpPr>
          <p:cNvPr id="28" name="Text 18"/>
          <p:cNvSpPr/>
          <p:nvPr/>
        </p:nvSpPr>
        <p:spPr>
          <a:xfrm>
            <a:off x="419100" y="747713"/>
            <a:ext cx="833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для металла TITAN глянцевая</a:t>
            </a:r>
            <a:endParaRPr lang="en-US" sz="2280" dirty="0"/>
          </a:p>
        </p:txBody>
      </p:sp>
      <p:sp>
        <p:nvSpPr>
          <p:cNvPr id="29" name="Text 19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114300" y="418148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09600" y="3057525"/>
            <a:ext cx="838200" cy="120015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59631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855" dirty="0"/>
          </a:p>
        </p:txBody>
      </p:sp>
      <p:sp>
        <p:nvSpPr>
          <p:cNvPr id="35" name="Text 23"/>
          <p:cNvSpPr/>
          <p:nvPr/>
        </p:nvSpPr>
        <p:spPr>
          <a:xfrm>
            <a:off x="519113" y="452913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872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6" name="Text 24"/>
          <p:cNvSpPr/>
          <p:nvPr/>
        </p:nvSpPr>
        <p:spPr>
          <a:xfrm>
            <a:off x="1943100" y="4476750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958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7" name="Text 25"/>
          <p:cNvSpPr/>
          <p:nvPr/>
        </p:nvSpPr>
        <p:spPr>
          <a:xfrm>
            <a:off x="3367088" y="436245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1020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8" name="Text 26"/>
          <p:cNvSpPr/>
          <p:nvPr/>
        </p:nvSpPr>
        <p:spPr>
          <a:xfrm>
            <a:off x="4795838" y="419100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1055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9" name="Text 27"/>
          <p:cNvSpPr/>
          <p:nvPr/>
        </p:nvSpPr>
        <p:spPr>
          <a:xfrm>
            <a:off x="6219825" y="4157663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1153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40" name="Text 28"/>
          <p:cNvSpPr/>
          <p:nvPr/>
        </p:nvSpPr>
        <p:spPr>
          <a:xfrm>
            <a:off x="7634288" y="39338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2085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chemeClr val="bg1">
                <a:lumMod val="97000"/>
              </a:schemeClr>
            </a:gs>
            <a:gs pos="42000">
              <a:schemeClr val="bg1">
                <a:lumMod val="75000"/>
              </a:schemeClr>
            </a:gs>
            <a:gs pos="92000">
              <a:schemeClr val="tx1">
                <a:lumMod val="50000"/>
                <a:lumOff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62575" y="-33337"/>
            <a:ext cx="995363" cy="628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5525" y="728663"/>
            <a:ext cx="3100388" cy="34147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2525" y="3795712"/>
            <a:ext cx="251460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3" y="581025"/>
            <a:ext cx="1965759" cy="196574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633788"/>
            <a:ext cx="50292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СПАСИБО ЗА ВНИМАНИЕ</a:t>
            </a:r>
            <a:endParaRPr lang="en-US" sz="3420" dirty="0"/>
          </a:p>
        </p:txBody>
      </p:sp>
      <p:sp>
        <p:nvSpPr>
          <p:cNvPr id="7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" y="65187"/>
            <a:ext cx="843534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 err="1" smtClean="0"/>
              <a:t>Титульник</a:t>
            </a:r>
            <a:r>
              <a:rPr lang="ru-RU" sz="1600" dirty="0" smtClean="0"/>
              <a:t>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О ТМ Титан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Картинка «семья» и рассказ  о фасовках и новой литографированной таре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Рассказ о принципе 3 в 1 – грунт+ антикор+декор (преимущества: экономия денег, времени, удобство транспортировки) </a:t>
            </a:r>
            <a:br>
              <a:rPr lang="ru-RU" sz="1600" dirty="0" smtClean="0"/>
            </a:br>
            <a:r>
              <a:rPr lang="ru-RU" sz="1600" dirty="0" smtClean="0"/>
              <a:t>Продукт представлен в 11 цветах по каталогу </a:t>
            </a:r>
            <a:r>
              <a:rPr lang="en-US" sz="1600" dirty="0" smtClean="0"/>
              <a:t>RAL </a:t>
            </a:r>
            <a:endParaRPr lang="ru-RU" sz="1600" dirty="0" smtClean="0"/>
          </a:p>
          <a:p>
            <a:pPr marL="342900" indent="-342900">
              <a:buAutoNum type="arabicPeriod"/>
            </a:pPr>
            <a:r>
              <a:rPr lang="ru-RU" sz="1600" dirty="0" smtClean="0"/>
              <a:t>Свойства продукта: </a:t>
            </a:r>
            <a:br>
              <a:rPr lang="ru-RU" sz="1600" dirty="0" smtClean="0"/>
            </a:br>
            <a:r>
              <a:rPr lang="ru-RU" sz="1600" dirty="0" smtClean="0"/>
              <a:t>а) 10 лет срок службы подтвержденный независимой лабораторией </a:t>
            </a:r>
            <a:br>
              <a:rPr lang="ru-RU" sz="1600" dirty="0" smtClean="0"/>
            </a:br>
            <a:r>
              <a:rPr lang="ru-RU" sz="1600" dirty="0" smtClean="0"/>
              <a:t>б) </a:t>
            </a:r>
            <a:r>
              <a:rPr lang="ru-RU" sz="1600" dirty="0" err="1" smtClean="0"/>
              <a:t>антикоррозия</a:t>
            </a:r>
            <a:r>
              <a:rPr lang="ru-RU" sz="1600" dirty="0" smtClean="0"/>
              <a:t> – предотвращение или замедление появления ржавчины – основной повод покраски металла </a:t>
            </a:r>
            <a:br>
              <a:rPr lang="ru-RU" sz="1600" dirty="0" smtClean="0"/>
            </a:br>
            <a:r>
              <a:rPr lang="ru-RU" sz="1600" dirty="0" smtClean="0"/>
              <a:t>в)быстросохнущая – 1,5 часа 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На какие поверхности можно наносить</a:t>
            </a:r>
            <a:r>
              <a:rPr lang="en-US" sz="1600" dirty="0" smtClean="0"/>
              <a:t>?</a:t>
            </a:r>
            <a:r>
              <a:rPr lang="ru-RU" sz="1600" dirty="0" smtClean="0"/>
              <a:t> Особенности нанесения на разные типы поверхностей. С картинками-примерами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Как наносить</a:t>
            </a:r>
            <a:r>
              <a:rPr lang="en-US" sz="1600" dirty="0" smtClean="0"/>
              <a:t>?</a:t>
            </a:r>
            <a:r>
              <a:rPr lang="ru-RU" sz="1600" dirty="0" smtClean="0"/>
              <a:t> Рассказ в теории об основных аспектах работы с грунт-эмалью и отсылка к тому, что более подробно посмотрим и оценим на натуральных испытаниях 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Технические параметры – расход, время высыхания, температура нанесения</a:t>
            </a:r>
          </a:p>
          <a:p>
            <a:pPr marL="342900" indent="-342900">
              <a:buAutoNum type="arabicPeriod"/>
            </a:pPr>
            <a:r>
              <a:rPr lang="ru-RU" sz="1600" dirty="0" smtClean="0"/>
              <a:t>Цветовая палитра – слайд с заборчиками 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POSM</a:t>
            </a:r>
            <a:r>
              <a:rPr lang="ru-RU" sz="1600" dirty="0" smtClean="0"/>
              <a:t> – материалы – классический </a:t>
            </a:r>
            <a:r>
              <a:rPr lang="ru-RU" sz="1600" dirty="0" err="1" smtClean="0"/>
              <a:t>выкрас</a:t>
            </a:r>
            <a:r>
              <a:rPr lang="ru-RU" sz="1600" dirty="0" smtClean="0"/>
              <a:t>, новый веер с металлическими пластинками, сайт продукции </a:t>
            </a:r>
          </a:p>
        </p:txBody>
      </p:sp>
    </p:spTree>
    <p:extLst>
      <p:ext uri="{BB962C8B-B14F-4D97-AF65-F5344CB8AC3E}">
        <p14:creationId xmlns:p14="http://schemas.microsoft.com/office/powerpoint/2010/main" val="2088467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915" y="114300"/>
            <a:ext cx="497205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370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701</Words>
  <Application>Microsoft Office PowerPoint</Application>
  <PresentationFormat>Экран (16:9)</PresentationFormat>
  <Paragraphs>115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Roboto Mono Medium</vt:lpstr>
      <vt:lpstr>Calibri</vt:lpstr>
      <vt:lpstr>Arimo</vt:lpstr>
      <vt:lpstr>Roboto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Буканова Татьяна Юрьевна</cp:lastModifiedBy>
  <cp:revision>26</cp:revision>
  <cp:lastPrinted>2026-02-24T05:25:20Z</cp:lastPrinted>
  <dcterms:created xsi:type="dcterms:W3CDTF">2026-02-24T03:13:43Z</dcterms:created>
  <dcterms:modified xsi:type="dcterms:W3CDTF">2026-06-19T12:33:34Z</dcterms:modified>
</cp:coreProperties>
</file>