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0"/>
  </p:notesMasterIdLst>
  <p:sldIdLst>
    <p:sldId id="266" r:id="rId15"/>
    <p:sldId id="256" r:id="rId2"/>
    <p:sldId id="261" r:id="rId3"/>
    <p:sldId id="259" r:id="rId4"/>
    <p:sldId id="257" r:id="rId5"/>
    <p:sldId id="264" r:id="rId6"/>
    <p:sldId id="265" r:id="rId7"/>
    <p:sldId id="258" r:id="rId8"/>
    <p:sldId id="260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6897" autoAdjust="0"/>
    <p:restoredTop sz="98627" autoAdjust="0"/>
  </p:normalViewPr>
  <p:slideViewPr>
    <p:cSldViewPr snapToGrid="0" snapToObjects="1">
      <p:cViewPr varScale="1">
        <p:scale>
          <a:sx n="149" d="100"/>
          <a:sy n="149" d="100"/>
        </p:scale>
        <p:origin x="-450" y="-9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BEEA3-D4FA-4FB4-A72C-31DD37E08AF9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600" y="201600"/>
            <a:ext cx="15012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400">
                <a:solidFill>
                  <a:srgbClr val="C00000"/>
                </a:solidFill>
                <a:latin typeface="Inter"/>
              </a:rPr>
              <a:t>TITAN</a:t>
            </a:r>
          </a:p>
        </p:txBody>
      </p:sp>
      <p:sp>
        <p:nvSpPr>
          <p:cNvPr id="4" name="Rectangle 3"/>
          <p:cNvSpPr/>
          <p:nvPr/>
        </p:nvSpPr>
        <p:spPr>
          <a:xfrm>
            <a:off x="2149200" y="219600"/>
            <a:ext cx="21600" cy="320400"/>
          </a:xfrm>
          <a:prstGeom prst="rect">
            <a:avLst/>
          </a:prstGeom>
          <a:solidFill>
            <a:srgbClr val="8A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00400" y="241200"/>
            <a:ext cx="69984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C9A77C"/>
                </a:solidFill>
                <a:latin typeface="Inter"/>
              </a:rPr>
              <a:t>ПРОГРАММА РАЗВИТИЯ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80800" y="1782000"/>
            <a:ext cx="79200" cy="230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1600" y="1782000"/>
            <a:ext cx="7498799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Дорога к лидерству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600" y="2700000"/>
            <a:ext cx="7498799" cy="29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Inter"/>
              </a:rPr>
              <a:t>Программа развития бренда ЭМПИЛС в сегменте ЛКМ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600" y="3060000"/>
            <a:ext cx="7498799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spc="200">
                <a:solidFill>
                  <a:srgbClr val="8A95A3"/>
                </a:solidFill>
                <a:latin typeface="Inter"/>
              </a:rPr>
              <a:t>TITAN · ОРЕОЛ · NEWTONE · AVANTGARDE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500000"/>
            <a:ext cx="9144000" cy="14400"/>
          </a:xfrm>
          <a:prstGeom prst="rect">
            <a:avLst/>
          </a:prstGeom>
          <a:solidFill>
            <a:srgbClr val="44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600" y="4590000"/>
            <a:ext cx="45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Доклад для ГД · Октябрь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600" y="4788000"/>
            <a:ext cx="450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ЗАО «Эмпилс» · Ростов-на-Дону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0000" y="4590000"/>
            <a:ext cx="396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spc="200">
                <a:solidFill>
                  <a:srgbClr val="C9A77C"/>
                </a:solidFill>
                <a:latin typeface="Inter"/>
              </a:rPr>
              <a:t>Программа TITAN · Стандартизация · Рост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4788000"/>
            <a:ext cx="39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95A3"/>
                </a:solidFill>
                <a:latin typeface="Inter"/>
              </a:rPr>
              <a:t>8 слайдов · 5 ключевых проектов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611287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22493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22984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25224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2765660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2650489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3150900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139" name="Text 38"/>
          <p:cNvSpPr/>
          <p:nvPr/>
        </p:nvSpPr>
        <p:spPr>
          <a:xfrm>
            <a:off x="1980940" y="22493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22984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25224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2659477"/>
            <a:ext cx="1642990" cy="507705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Видеоролики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_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регионов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~350 ТП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ОП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3041779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3052920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29707" y="15889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19004" y="1638042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19004" y="18493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74147" y="1948049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ru-RU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Яндекс)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19004" y="2359949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19004" y="2489764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22620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2311142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25351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2672178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317213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3174037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3175506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2262056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2311142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2535107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2692798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4649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71500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85825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32459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57463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788" y="11484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518422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43425" y="11305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57750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504384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29388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43713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9034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515350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2278737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2296434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2296963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2314660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20580" y="1621071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13930" y="1638768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2305969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2301672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2291437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2313470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16024" y="2811483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05321" y="2860569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05321" y="3046434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0464" y="3170576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топовых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05321" y="3582476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05321" y="3712291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06897" y="2843598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0247" y="2861295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71" name="Text 15"/>
          <p:cNvSpPr/>
          <p:nvPr/>
        </p:nvSpPr>
        <p:spPr>
          <a:xfrm>
            <a:off x="497886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16"/>
          <p:cNvSpPr/>
          <p:nvPr/>
        </p:nvSpPr>
        <p:spPr>
          <a:xfrm>
            <a:off x="522889" y="42547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17"/>
          <p:cNvSpPr/>
          <p:nvPr/>
        </p:nvSpPr>
        <p:spPr>
          <a:xfrm>
            <a:off x="837214" y="42726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18"/>
          <p:cNvSpPr/>
          <p:nvPr/>
        </p:nvSpPr>
        <p:spPr>
          <a:xfrm>
            <a:off x="2483848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19"/>
          <p:cNvSpPr/>
          <p:nvPr/>
        </p:nvSpPr>
        <p:spPr>
          <a:xfrm>
            <a:off x="2508852" y="42547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3177" y="4272625"/>
            <a:ext cx="1414463" cy="21431"/>
          </a:xfrm>
          <a:prstGeom prst="rect">
            <a:avLst/>
          </a:prstGeom>
        </p:spPr>
      </p:pic>
      <p:sp>
        <p:nvSpPr>
          <p:cNvPr id="77" name="Text 20"/>
          <p:cNvSpPr/>
          <p:nvPr/>
        </p:nvSpPr>
        <p:spPr>
          <a:xfrm>
            <a:off x="4469811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21"/>
          <p:cNvSpPr/>
          <p:nvPr/>
        </p:nvSpPr>
        <p:spPr>
          <a:xfrm>
            <a:off x="4494814" y="42547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22"/>
          <p:cNvSpPr/>
          <p:nvPr/>
        </p:nvSpPr>
        <p:spPr>
          <a:xfrm>
            <a:off x="4809139" y="42726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0" name="Text 23"/>
          <p:cNvSpPr/>
          <p:nvPr/>
        </p:nvSpPr>
        <p:spPr>
          <a:xfrm>
            <a:off x="6455773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Text 24"/>
          <p:cNvSpPr/>
          <p:nvPr/>
        </p:nvSpPr>
        <p:spPr>
          <a:xfrm>
            <a:off x="6480777" y="42547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2" name="Text 25"/>
          <p:cNvSpPr/>
          <p:nvPr/>
        </p:nvSpPr>
        <p:spPr>
          <a:xfrm>
            <a:off x="6795102" y="42726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26"/>
          <p:cNvSpPr/>
          <p:nvPr/>
        </p:nvSpPr>
        <p:spPr>
          <a:xfrm>
            <a:off x="8441736" y="42297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27"/>
          <p:cNvSpPr/>
          <p:nvPr/>
        </p:nvSpPr>
        <p:spPr>
          <a:xfrm>
            <a:off x="8466739" y="42547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15994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4" name="Text 34"/>
          <p:cNvSpPr/>
          <p:nvPr/>
        </p:nvSpPr>
        <p:spPr>
          <a:xfrm>
            <a:off x="276901" y="870000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55479" y="881395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41217" y="874589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57717" y="1732201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>
              <a:latin typeface="+mj-lt"/>
            </a:endParaRPr>
          </a:p>
        </p:txBody>
      </p:sp>
      <p:sp>
        <p:nvSpPr>
          <p:cNvPr id="9" name="Text 39"/>
          <p:cNvSpPr/>
          <p:nvPr/>
        </p:nvSpPr>
        <p:spPr>
          <a:xfrm>
            <a:off x="257717" y="190253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04357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900" b="1" dirty="0" smtClean="0">
                <a:latin typeface="+mj-lt"/>
                <a:ea typeface="Carlito" pitchFamily="34" charset="-122"/>
                <a:cs typeface="Carlito" pitchFamily="34" charset="-120"/>
              </a:rPr>
              <a:t>6 экранов</a:t>
            </a:r>
            <a:endParaRPr lang="en-US" sz="900" b="1" dirty="0">
              <a:latin typeface="+mj-lt"/>
            </a:endParaRPr>
          </a:p>
        </p:txBody>
      </p:sp>
      <p:sp>
        <p:nvSpPr>
          <p:cNvPr id="12" name="Text 42"/>
          <p:cNvSpPr/>
          <p:nvPr/>
        </p:nvSpPr>
        <p:spPr>
          <a:xfrm>
            <a:off x="257717" y="207926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81540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>
              <a:latin typeface="+mj-lt"/>
            </a:endParaRPr>
          </a:p>
        </p:txBody>
      </p:sp>
      <p:sp>
        <p:nvSpPr>
          <p:cNvPr id="14" name="Text 44"/>
          <p:cNvSpPr/>
          <p:nvPr/>
        </p:nvSpPr>
        <p:spPr>
          <a:xfrm>
            <a:off x="257717" y="225599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59617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>
              <a:latin typeface="+mj-lt"/>
            </a:endParaRPr>
          </a:p>
        </p:txBody>
      </p:sp>
      <p:sp>
        <p:nvSpPr>
          <p:cNvPr id="16" name="Text 46"/>
          <p:cNvSpPr/>
          <p:nvPr/>
        </p:nvSpPr>
        <p:spPr>
          <a:xfrm>
            <a:off x="257717" y="241918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27852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+mj-lt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>
              <a:latin typeface="+mj-lt"/>
            </a:endParaRPr>
          </a:p>
        </p:txBody>
      </p:sp>
      <p:sp>
        <p:nvSpPr>
          <p:cNvPr id="18" name="Text 48"/>
          <p:cNvSpPr/>
          <p:nvPr/>
        </p:nvSpPr>
        <p:spPr>
          <a:xfrm>
            <a:off x="257717" y="260230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61097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257717" y="279181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80852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>
              <a:latin typeface="+mj-lt"/>
            </a:endParaRPr>
          </a:p>
        </p:txBody>
      </p:sp>
      <p:sp>
        <p:nvSpPr>
          <p:cNvPr id="23" name="Text 53"/>
          <p:cNvSpPr/>
          <p:nvPr/>
        </p:nvSpPr>
        <p:spPr>
          <a:xfrm>
            <a:off x="257717" y="297494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411879" y="2970823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+mj-lt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>
              <a:latin typeface="+mj-lt"/>
            </a:endParaRPr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9" name="Text 54"/>
          <p:cNvSpPr/>
          <p:nvPr/>
        </p:nvSpPr>
        <p:spPr>
          <a:xfrm>
            <a:off x="290423" y="118651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9011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2 экрана</a:t>
            </a:r>
            <a:endParaRPr lang="en-US" sz="900" dirty="0">
              <a:latin typeface="+mj-lt"/>
            </a:endParaRPr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228602" y="2833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3" name="Text 2"/>
          <p:cNvSpPr/>
          <p:nvPr/>
        </p:nvSpPr>
        <p:spPr>
          <a:xfrm>
            <a:off x="305885" y="2729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5"/>
          <p:cNvSpPr/>
          <p:nvPr/>
        </p:nvSpPr>
        <p:spPr>
          <a:xfrm>
            <a:off x="1118897" y="2849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5" name="Text 6"/>
          <p:cNvSpPr/>
          <p:nvPr/>
        </p:nvSpPr>
        <p:spPr>
          <a:xfrm>
            <a:off x="7633311" y="2459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51542" y="3142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43141" y="3333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Rectangle 2"/>
          <p:cNvSpPr/>
          <p:nvPr/>
        </p:nvSpPr>
        <p:spPr>
          <a:xfrm>
            <a:off x="1021010" y="2308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11"/>
          <p:cNvSpPr/>
          <p:nvPr/>
        </p:nvSpPr>
        <p:spPr>
          <a:xfrm>
            <a:off x="233763" y="6811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10472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5" name="Text 13"/>
          <p:cNvSpPr/>
          <p:nvPr/>
        </p:nvSpPr>
        <p:spPr>
          <a:xfrm>
            <a:off x="385762" y="8597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8525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8472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1618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11476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4184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4168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~350 ТП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385760" y="16014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5871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8849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8706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1577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5165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1. БРОЗЭКС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2. Рыгалов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3. БРОЗЭКС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4. Рыгалов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99496"/>
            <a:ext cx="120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91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588998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960000"/>
            <a:ext cx="606696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200" y="1100000"/>
            <a:ext cx="8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200" y="1330000"/>
            <a:ext cx="8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подписания договора до первых продаж в новом регионе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200" y="1540000"/>
            <a:ext cx="566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1200" y="2060334"/>
            <a:ext cx="550696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457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57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20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200" y="3080334"/>
            <a:ext cx="124674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50" dirty="0" smtClean="0">
                <a:solidFill>
                  <a:srgbClr val="8A95A3"/>
                </a:solidFill>
                <a:latin typeface="Inter"/>
              </a:rPr>
              <a:t>Согласование и подписание договора</a:t>
            </a:r>
            <a:endParaRPr sz="9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025910" y="1779546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25910" y="1889546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4680" y="24476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794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15- 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30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4794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8050" y="1774028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18050" y="1884028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254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—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9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9468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4790" y="1780334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4790" y="1890334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1420" y="2460334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1420" y="276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>
                <a:solidFill>
                  <a:srgbClr val="C9A77C"/>
                </a:solidFill>
                <a:latin typeface="Roboto Mono"/>
              </a:rPr>
              <a:t>0—90 дней</a:t>
            </a:r>
            <a:endParaRPr lang="ru-RU"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641420" y="3080334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00" y="3993122"/>
            <a:ext cx="566696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95600" y="960000"/>
            <a:ext cx="286200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5600" y="1100000"/>
            <a:ext cx="24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ПРОГРАММЫ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5600" y="1330000"/>
            <a:ext cx="24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Метрики за первые 90 дней работы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5600" y="1540000"/>
            <a:ext cx="246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20536" y="1710000"/>
            <a:ext cx="40000" cy="5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55600" y="172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Roboto Mono"/>
              </a:rPr>
              <a:t>1 выставка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600" y="201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Профильное мероприятие в регионе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5600" y="218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20536" y="229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55600" y="230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5600" y="259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ТП дистрибьютора обучено продажам ФТМ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95600" y="276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27360" y="287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55600" y="288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C9A77C"/>
                </a:solidFill>
                <a:latin typeface="Roboto Mono"/>
              </a:rPr>
              <a:t>30 </a:t>
            </a:r>
            <a:r>
              <a:rPr sz="1600" b="1" dirty="0" err="1">
                <a:solidFill>
                  <a:srgbClr val="C9A77C"/>
                </a:solidFill>
                <a:latin typeface="Roboto Mono"/>
              </a:rPr>
              <a:t>дней</a:t>
            </a:r>
            <a:endParaRPr sz="16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395600" y="317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договора до первой отгрузки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95600" y="334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34184" y="3450000"/>
            <a:ext cx="40000" cy="52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55600" y="346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F3A48"/>
                </a:solidFill>
                <a:latin typeface="Roboto Mono"/>
              </a:rPr>
              <a:t>90 дней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5600" y="375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Период активной поддержки Эмпилс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95600" y="4010000"/>
            <a:ext cx="246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68397" y="2770334"/>
            <a:ext cx="13267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-15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</p:spTree>
    <p:extLst>
      <p:ext uri="{BB962C8B-B14F-4D97-AF65-F5344CB8AC3E}">
        <p14:creationId xmlns:p14="http://schemas.microsoft.com/office/powerpoint/2010/main" val="3788782849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80000"/>
            <a:ext cx="7200000" cy="3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 вывода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58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Левая часть — результаты запуска новинок 2026 · Правая — стандарт вывода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2000"/>
            <a:ext cx="1800000" cy="280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208800"/>
            <a:ext cx="1800000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799200"/>
            <a:ext cx="8820000" cy="28800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0000" y="961200"/>
            <a:ext cx="4212000" cy="385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1105200"/>
            <a:ext cx="3851999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РЕЗУЛЬТАТЫ ЗАПУСКА НОВИНОК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303200"/>
            <a:ext cx="3851999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Заполняется по итогам года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501200"/>
            <a:ext cx="3851999" cy="216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00" y="2581200"/>
            <a:ext cx="3851999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95A3"/>
                </a:solidFill>
                <a:latin typeface="Inter"/>
              </a:rPr>
              <a:t>Место для заполнения
Фактические показатели запуска:
· TITAN грунт-эмаль 3в1
· NEWTONE LOTUS
· AVANTGARDE интерьерная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0000" y="961200"/>
            <a:ext cx="4212000" cy="385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4000" y="1105200"/>
            <a:ext cx="36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СТАНДАРТ ВЫВОДА · 3 ФАЗЫ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4000" y="1303200"/>
            <a:ext cx="360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Подготовка → Запуск → Сопровождение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24000" y="1501200"/>
            <a:ext cx="3924000" cy="216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24000" y="1627200"/>
            <a:ext cx="3924000" cy="972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24000" y="1627200"/>
            <a:ext cx="864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24000" y="1627200"/>
            <a:ext cx="39600" cy="97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4000" y="1807200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4000" y="2239200"/>
            <a:ext cx="864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−60 до 0 дней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4000" y="2401200"/>
            <a:ext cx="864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spc="200">
                <a:solidFill>
                  <a:srgbClr val="C00000"/>
                </a:solidFill>
                <a:latin typeface="Inter"/>
              </a:rPr>
              <a:t>ФАЗА 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6000" y="1735200"/>
            <a:ext cx="2844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6000" y="1969200"/>
            <a:ext cx="72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000" y="1980000"/>
            <a:ext cx="2754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Анализ рынка и конкурентов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6000" y="2098800"/>
            <a:ext cx="72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86000" y="2109600"/>
            <a:ext cx="2754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Ценообразование и MML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6000" y="2228400"/>
            <a:ext cx="72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000" y="2239200"/>
            <a:ext cx="2754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Подготовка POSM и контента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60000" y="22932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C00000"/>
                </a:solidFill>
                <a:latin typeface="Roboto Mono"/>
              </a:rPr>
              <a:t>60 дней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0000" y="2437200"/>
            <a:ext cx="108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до запуска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24000" y="2671200"/>
            <a:ext cx="3924000" cy="972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824000" y="2671200"/>
            <a:ext cx="864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24000" y="2671200"/>
            <a:ext cx="39600" cy="972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4000" y="2851200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24000" y="3283200"/>
            <a:ext cx="864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0 — 30 дней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4000" y="3445200"/>
            <a:ext cx="864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spc="200">
                <a:solidFill>
                  <a:srgbClr val="C9A77C"/>
                </a:solidFill>
                <a:latin typeface="Inter"/>
              </a:rPr>
              <a:t>ФАЗА 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6000" y="2779200"/>
            <a:ext cx="2844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6000" y="3013200"/>
            <a:ext cx="72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6000" y="3024000"/>
            <a:ext cx="2754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Старт продаж во всех пилотах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6000" y="3142800"/>
            <a:ext cx="72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86000" y="3153600"/>
            <a:ext cx="2754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Обучение ТП: 350 человек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6000" y="3272400"/>
            <a:ext cx="72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6000" y="3283200"/>
            <a:ext cx="2754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POSM в 100% пилотных точек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60000" y="33372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0000" y="3481200"/>
            <a:ext cx="108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наличие POSM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24000" y="3715200"/>
            <a:ext cx="3924000" cy="972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824000" y="3715200"/>
            <a:ext cx="864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824000" y="3715200"/>
            <a:ext cx="39600" cy="972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24000" y="3895200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24000" y="4327200"/>
            <a:ext cx="864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8A95A3"/>
                </a:solidFill>
                <a:latin typeface="Roboto Mono"/>
              </a:rPr>
              <a:t>30 — 90 дней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24000" y="4489200"/>
            <a:ext cx="864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spc="200">
                <a:solidFill>
                  <a:srgbClr val="6B8FA8"/>
                </a:solidFill>
                <a:latin typeface="Inter"/>
              </a:rPr>
              <a:t>ФАЗА 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6000" y="3823200"/>
            <a:ext cx="2844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00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96000" y="4057200"/>
            <a:ext cx="72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86000" y="4068000"/>
            <a:ext cx="2754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Промоакции и мастер-классы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96000" y="4186800"/>
            <a:ext cx="72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86000" y="4197600"/>
            <a:ext cx="2754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Куратор на каждую точку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96000" y="4316400"/>
            <a:ext cx="72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86000" y="4327200"/>
            <a:ext cx="2754000" cy="1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Аналитика продаж по неделе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60000" y="43812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6B8FA8"/>
                </a:solidFill>
                <a:latin typeface="Roboto Mono"/>
              </a:rPr>
              <a:t>350 ТП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0000" y="4525200"/>
            <a:ext cx="108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5A3"/>
                </a:solidFill>
                <a:latin typeface="Inter"/>
              </a:rPr>
              <a:t>обучено в 1-й мес.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0000" y="4860000"/>
            <a:ext cx="88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0000" y="4896000"/>
            <a:ext cx="882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Стандарт обязателен для всех новинок. Без прохождения 3 фаз новинка не вводится в MML дистрибьюторов.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217915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457915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657915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90269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90269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90269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48158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8623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54338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704338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3548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04851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/ портфолио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36820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34688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98228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406</TotalTime>
  <Words>1080</Words>
  <Application>Microsoft Office PowerPoint</Application>
  <PresentationFormat>Экран (16:9)</PresentationFormat>
  <Paragraphs>343</Paragraphs>
  <Slides>8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85</cp:revision>
  <dcterms:created xsi:type="dcterms:W3CDTF">2026-10-01T12:44:52Z</dcterms:created>
  <dcterms:modified xsi:type="dcterms:W3CDTF">2026-10-05T13:30:51Z</dcterms:modified>
</cp:coreProperties>
</file>