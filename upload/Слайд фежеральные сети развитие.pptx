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9144000" cy="5715000" type="screen16x1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44" autoAdjust="0"/>
    <p:restoredTop sz="94660"/>
  </p:normalViewPr>
  <p:slideViewPr>
    <p:cSldViewPr>
      <p:cViewPr>
        <p:scale>
          <a:sx n="110" d="100"/>
          <a:sy n="110" d="100"/>
        </p:scale>
        <p:origin x="-1752" y="-552"/>
      </p:cViewPr>
      <p:guideLst>
        <p:guide orient="horz" pos="180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378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43F029-319A-42AB-BB2F-0CE857BC280E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C5AD7-01D1-4886-8FCE-D94EE29AD8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2790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28865"/>
            <a:ext cx="2057400" cy="487627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019800" cy="487627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ounded Rectangle 24"/>
          <p:cNvSpPr/>
          <p:nvPr/>
        </p:nvSpPr>
        <p:spPr>
          <a:xfrm>
            <a:off x="514350" y="4295775"/>
            <a:ext cx="1508760" cy="2667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7938"/>
            <a:ext cx="9143771" cy="571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" y="127000"/>
            <a:ext cx="9143771" cy="4953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1" y="235344"/>
            <a:ext cx="8595131" cy="286232"/>
          </a:xfrm>
          <a:prstGeom prst="rect">
            <a:avLst/>
          </a:prstGeom>
          <a:noFill/>
        </p:spPr>
        <p:txBody>
          <a:bodyPr wrap="square" lIns="19812" tIns="19812" rIns="19812" bIns="19812" anchor="ctr">
            <a:spAutoFit/>
          </a:bodyPr>
          <a:lstStyle/>
          <a:p>
            <a:pPr algn="l"/>
            <a:r>
              <a:rPr lang="ru-RU" sz="1600" b="1" dirty="0">
                <a:solidFill>
                  <a:srgbClr val="FFFFFF"/>
                </a:solidFill>
                <a:latin typeface="Arial"/>
              </a:rPr>
              <a:t>ФЕДЕРАЛЬНЫЕ </a:t>
            </a:r>
            <a:r>
              <a:rPr sz="1600" b="1" dirty="0">
                <a:solidFill>
                  <a:srgbClr val="FFFFFF"/>
                </a:solidFill>
                <a:latin typeface="Arial"/>
              </a:rPr>
              <a:t>СЕТИ</a:t>
            </a:r>
            <a:endParaRPr sz="16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Rectangle 1"/>
          <p:cNvSpPr/>
          <p:nvPr/>
        </p:nvSpPr>
        <p:spPr>
          <a:xfrm>
            <a:off x="1" y="0"/>
            <a:ext cx="9143771" cy="5715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63" name="Rounded Rectangle 18"/>
          <p:cNvSpPr/>
          <p:nvPr/>
        </p:nvSpPr>
        <p:spPr>
          <a:xfrm>
            <a:off x="342900" y="1073150"/>
            <a:ext cx="4183380" cy="167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64" name="Rectangle 19"/>
          <p:cNvSpPr/>
          <p:nvPr/>
        </p:nvSpPr>
        <p:spPr>
          <a:xfrm>
            <a:off x="342900" y="1073150"/>
            <a:ext cx="54864" cy="16764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14350" y="1164590"/>
            <a:ext cx="19202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13131"/>
                </a:solidFill>
                <a:latin typeface="Calibri"/>
              </a:rPr>
              <a:t>ЛЕМАНА ПРО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4350" y="1454150"/>
            <a:ext cx="192024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i="1">
                <a:solidFill>
                  <a:srgbClr val="6B6B6B"/>
                </a:solidFill>
                <a:latin typeface="Calibri"/>
              </a:rPr>
              <a:t>(бывш. Леруа Мерлен)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4350" y="1720850"/>
            <a:ext cx="19202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47629"/>
                </a:solidFill>
                <a:latin typeface="Calibri"/>
              </a:rPr>
              <a:t>112 ТТ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4350" y="2139950"/>
            <a:ext cx="192024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>
                <a:solidFill>
                  <a:srgbClr val="6B6B6B"/>
                </a:solidFill>
                <a:latin typeface="Calibri"/>
              </a:rPr>
              <a:t>66 городов</a:t>
            </a:r>
          </a:p>
        </p:txBody>
      </p:sp>
      <p:sp>
        <p:nvSpPr>
          <p:cNvPr id="69" name="Rounded Rectangle 24"/>
          <p:cNvSpPr/>
          <p:nvPr/>
        </p:nvSpPr>
        <p:spPr>
          <a:xfrm>
            <a:off x="514350" y="2368550"/>
            <a:ext cx="1508760" cy="266700"/>
          </a:xfrm>
          <a:prstGeom prst="roundRect">
            <a:avLst>
              <a:gd name="adj" fmla="val 5000"/>
            </a:avLst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14350" y="2409325"/>
            <a:ext cx="15087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ru-RU" sz="1100" b="1" dirty="0">
                <a:solidFill>
                  <a:srgbClr val="2E7D32"/>
                </a:solidFill>
              </a:rPr>
              <a:t>ОХВАЧЕНО 11 ТТ</a:t>
            </a:r>
            <a:endParaRPr lang="ru-RU" sz="1100" b="1" dirty="0">
              <a:solidFill>
                <a:srgbClr val="2E7D32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606040" y="1164590"/>
            <a:ext cx="1783080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>
                <a:solidFill>
                  <a:srgbClr val="F47629"/>
                </a:solidFill>
                <a:latin typeface="Calibri"/>
              </a:rPr>
              <a:t>РЕГИОНЫ: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06040" y="1316990"/>
            <a:ext cx="17830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00">
                <a:solidFill>
                  <a:srgbClr val="313131"/>
                </a:solidFill>
                <a:latin typeface="Calibri"/>
              </a:rPr>
              <a:t>ЮФО: Ростовская, Краснодарский, Волгоградская, Ставропольский, Сев.Осетия, Адыгея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606040" y="1797050"/>
            <a:ext cx="1783080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>
                <a:solidFill>
                  <a:srgbClr val="F47629"/>
                </a:solidFill>
                <a:latin typeface="Calibri"/>
              </a:rPr>
              <a:t>ПЛАН TITAN: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606040" y="1949450"/>
            <a:ext cx="17830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00">
                <a:solidFill>
                  <a:srgbClr val="313131"/>
                </a:solidFill>
                <a:latin typeface="Calibri"/>
              </a:rPr>
              <a:t>Расширение на 101 ТТ в остальных регионах: ЦФО, СЗФО, ПФО, УрФО, СибФО</a:t>
            </a:r>
          </a:p>
        </p:txBody>
      </p:sp>
      <p:sp>
        <p:nvSpPr>
          <p:cNvPr id="76" name="Rounded Rectangle 31"/>
          <p:cNvSpPr/>
          <p:nvPr/>
        </p:nvSpPr>
        <p:spPr>
          <a:xfrm>
            <a:off x="4629150" y="1073150"/>
            <a:ext cx="4183380" cy="167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77" name="Rectangle 32"/>
          <p:cNvSpPr/>
          <p:nvPr/>
        </p:nvSpPr>
        <p:spPr>
          <a:xfrm>
            <a:off x="4629150" y="1073150"/>
            <a:ext cx="54864" cy="1676400"/>
          </a:xfrm>
          <a:prstGeom prst="rect">
            <a:avLst/>
          </a:prstGeom>
          <a:solidFill>
            <a:srgbClr val="D5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800600" y="1164590"/>
            <a:ext cx="19202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13131"/>
                </a:solidFill>
                <a:latin typeface="Calibri"/>
              </a:rPr>
              <a:t>ПЕТРОВИЧ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00600" y="1454150"/>
            <a:ext cx="192024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i="1">
                <a:solidFill>
                  <a:srgbClr val="6B6B6B"/>
                </a:solidFill>
                <a:latin typeface="Calibri"/>
              </a:rPr>
              <a:t>СЗФО · ЦФО · УФО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00600" y="1720850"/>
            <a:ext cx="19202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D55E0A"/>
                </a:solidFill>
                <a:latin typeface="Calibri"/>
              </a:rPr>
              <a:t>48 ТТ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800600" y="2139950"/>
            <a:ext cx="192024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>
                <a:solidFill>
                  <a:srgbClr val="6B6B6B"/>
                </a:solidFill>
                <a:latin typeface="Calibri"/>
              </a:rPr>
              <a:t>СЗФО + ЦФО + УФО</a:t>
            </a:r>
          </a:p>
        </p:txBody>
      </p:sp>
      <p:sp>
        <p:nvSpPr>
          <p:cNvPr id="82" name="Rounded Rectangle 37"/>
          <p:cNvSpPr/>
          <p:nvPr/>
        </p:nvSpPr>
        <p:spPr>
          <a:xfrm>
            <a:off x="4800600" y="2368550"/>
            <a:ext cx="1508760" cy="2667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800600" y="2440344"/>
            <a:ext cx="150876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dirty="0">
                <a:solidFill>
                  <a:srgbClr val="1565C0"/>
                </a:solidFill>
                <a:latin typeface="Calibri"/>
              </a:rPr>
              <a:t>ПЛАН </a:t>
            </a:r>
            <a:r>
              <a:rPr sz="800" b="1" dirty="0">
                <a:solidFill>
                  <a:srgbClr val="1565C0"/>
                </a:solidFill>
                <a:latin typeface="Calibri"/>
              </a:rPr>
              <a:t>ВХОДА</a:t>
            </a:r>
            <a:r>
              <a:rPr lang="ru-RU" sz="800" b="1" dirty="0">
                <a:solidFill>
                  <a:srgbClr val="1565C0"/>
                </a:solidFill>
                <a:latin typeface="Calibri"/>
              </a:rPr>
              <a:t> 2027</a:t>
            </a:r>
            <a:endParaRPr sz="800" b="1" dirty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6892290" y="1164590"/>
            <a:ext cx="1783080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>
                <a:solidFill>
                  <a:srgbClr val="D55E0A"/>
                </a:solidFill>
                <a:latin typeface="Calibri"/>
              </a:rPr>
              <a:t>РЕГИОНЫ: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92290" y="1316990"/>
            <a:ext cx="17830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00">
                <a:solidFill>
                  <a:srgbClr val="313131"/>
                </a:solidFill>
                <a:latin typeface="Calibri"/>
              </a:rPr>
              <a:t>Санкт-Петербург, Москва, Ленинградская и Московская обл., Урал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92290" y="1797050"/>
            <a:ext cx="1783080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>
                <a:solidFill>
                  <a:srgbClr val="D55E0A"/>
                </a:solidFill>
                <a:latin typeface="Calibri"/>
              </a:rPr>
              <a:t>ПЛАН TITAN: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92290" y="1949450"/>
            <a:ext cx="17830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00">
                <a:solidFill>
                  <a:srgbClr val="313131"/>
                </a:solidFill>
                <a:latin typeface="Calibri"/>
              </a:rPr>
              <a:t>Вход через 3-5 пилотных ТТ в СПБ и Москве. Точки класса A (строительно-торговые центры)</a:t>
            </a:r>
          </a:p>
        </p:txBody>
      </p:sp>
      <p:sp>
        <p:nvSpPr>
          <p:cNvPr id="88" name="Rounded Rectangle 43"/>
          <p:cNvSpPr/>
          <p:nvPr/>
        </p:nvSpPr>
        <p:spPr>
          <a:xfrm>
            <a:off x="342900" y="2998788"/>
            <a:ext cx="4183380" cy="167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89" name="Rectangle 44"/>
          <p:cNvSpPr/>
          <p:nvPr/>
        </p:nvSpPr>
        <p:spPr>
          <a:xfrm>
            <a:off x="342900" y="2998788"/>
            <a:ext cx="54864" cy="1676400"/>
          </a:xfrm>
          <a:prstGeom prst="rect">
            <a:avLst/>
          </a:prstGeom>
          <a:solidFill>
            <a:srgbClr val="D5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14350" y="3090228"/>
            <a:ext cx="19202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13131"/>
                </a:solidFill>
                <a:latin typeface="Calibri"/>
              </a:rPr>
              <a:t>МАКСИДОМ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4350" y="3379788"/>
            <a:ext cx="192024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i="1">
                <a:solidFill>
                  <a:srgbClr val="6B6B6B"/>
                </a:solidFill>
                <a:latin typeface="Calibri"/>
              </a:rPr>
              <a:t>12 регионов РФ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14350" y="3646488"/>
            <a:ext cx="19202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D55E0A"/>
                </a:solidFill>
                <a:latin typeface="Calibri"/>
              </a:rPr>
              <a:t>29 ТТ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4350" y="4065588"/>
            <a:ext cx="192024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>
                <a:solidFill>
                  <a:srgbClr val="6B6B6B"/>
                </a:solidFill>
                <a:latin typeface="Calibri"/>
              </a:rPr>
              <a:t>12 регионов</a:t>
            </a:r>
          </a:p>
        </p:txBody>
      </p:sp>
      <p:sp>
        <p:nvSpPr>
          <p:cNvPr id="94" name="Rounded Rectangle 49"/>
          <p:cNvSpPr/>
          <p:nvPr/>
        </p:nvSpPr>
        <p:spPr>
          <a:xfrm>
            <a:off x="514350" y="4294188"/>
            <a:ext cx="1508760" cy="266700"/>
          </a:xfrm>
          <a:prstGeom prst="roundRect">
            <a:avLst>
              <a:gd name="adj" fmla="val 5000"/>
            </a:avLst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606040" y="3090228"/>
            <a:ext cx="1783080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>
                <a:solidFill>
                  <a:srgbClr val="D55E0A"/>
                </a:solidFill>
                <a:latin typeface="Calibri"/>
              </a:rPr>
              <a:t>РЕГИОНЫ: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606040" y="3242628"/>
            <a:ext cx="17830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00">
                <a:solidFill>
                  <a:srgbClr val="313131"/>
                </a:solidFill>
                <a:latin typeface="Calibri"/>
              </a:rPr>
              <a:t>СПБ, Нижний Новгород, Казань, Екатеринбург, Самара, Уфа, Москва, МО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606040" y="3722688"/>
            <a:ext cx="1783080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>
                <a:solidFill>
                  <a:srgbClr val="D55E0A"/>
                </a:solidFill>
                <a:latin typeface="Calibri"/>
              </a:rPr>
              <a:t>ПЛАН TITAN: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606040" y="3875088"/>
            <a:ext cx="17830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00" dirty="0" err="1">
                <a:solidFill>
                  <a:srgbClr val="313131"/>
                </a:solidFill>
                <a:latin typeface="Calibri"/>
              </a:rPr>
              <a:t>Пилот</a:t>
            </a:r>
            <a:r>
              <a:rPr sz="600" dirty="0">
                <a:solidFill>
                  <a:srgbClr val="313131"/>
                </a:solidFill>
                <a:latin typeface="Calibri"/>
              </a:rPr>
              <a:t> в СПБ и </a:t>
            </a:r>
            <a:r>
              <a:rPr sz="600" dirty="0" err="1">
                <a:solidFill>
                  <a:srgbClr val="313131"/>
                </a:solidFill>
                <a:latin typeface="Calibri"/>
              </a:rPr>
              <a:t>Екатеринбурге</a:t>
            </a:r>
            <a:r>
              <a:rPr sz="600" dirty="0">
                <a:solidFill>
                  <a:srgbClr val="313131"/>
                </a:solidFill>
                <a:latin typeface="Calibri"/>
              </a:rPr>
              <a:t> — 2-3 ТТ. </a:t>
            </a:r>
            <a:r>
              <a:rPr sz="600" dirty="0" err="1">
                <a:solidFill>
                  <a:srgbClr val="313131"/>
                </a:solidFill>
                <a:latin typeface="Calibri"/>
              </a:rPr>
              <a:t>Гипермаркеты</a:t>
            </a:r>
            <a:r>
              <a:rPr sz="600" dirty="0">
                <a:solidFill>
                  <a:srgbClr val="313131"/>
                </a:solidFill>
                <a:latin typeface="Calibri"/>
              </a:rPr>
              <a:t> DIY, </a:t>
            </a:r>
            <a:r>
              <a:rPr sz="600" dirty="0" err="1">
                <a:solidFill>
                  <a:srgbClr val="313131"/>
                </a:solidFill>
                <a:latin typeface="Calibri"/>
              </a:rPr>
              <a:t>сильный</a:t>
            </a:r>
            <a:r>
              <a:rPr sz="600" dirty="0">
                <a:solidFill>
                  <a:srgbClr val="313131"/>
                </a:solidFill>
                <a:latin typeface="Calibri"/>
              </a:rPr>
              <a:t> B2C </a:t>
            </a:r>
            <a:r>
              <a:rPr sz="600" dirty="0" err="1">
                <a:solidFill>
                  <a:srgbClr val="313131"/>
                </a:solidFill>
                <a:latin typeface="Calibri"/>
              </a:rPr>
              <a:t>сегмент</a:t>
            </a:r>
            <a:endParaRPr sz="600" dirty="0">
              <a:solidFill>
                <a:srgbClr val="313131"/>
              </a:solidFill>
              <a:latin typeface="Calibri"/>
            </a:endParaRPr>
          </a:p>
        </p:txBody>
      </p:sp>
      <p:sp>
        <p:nvSpPr>
          <p:cNvPr id="100" name="Rounded Rectangle 55"/>
          <p:cNvSpPr/>
          <p:nvPr/>
        </p:nvSpPr>
        <p:spPr>
          <a:xfrm>
            <a:off x="4629150" y="2998788"/>
            <a:ext cx="4183380" cy="167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101" name="Rectangle 56"/>
          <p:cNvSpPr/>
          <p:nvPr/>
        </p:nvSpPr>
        <p:spPr>
          <a:xfrm>
            <a:off x="4629150" y="2998788"/>
            <a:ext cx="54864" cy="1676400"/>
          </a:xfrm>
          <a:prstGeom prst="rect">
            <a:avLst/>
          </a:prstGeom>
          <a:solidFill>
            <a:srgbClr val="D5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800600" y="3090228"/>
            <a:ext cx="19202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13131"/>
                </a:solidFill>
                <a:latin typeface="Calibri"/>
              </a:rPr>
              <a:t>OBI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800600" y="3379788"/>
            <a:ext cx="192024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i="1">
                <a:solidFill>
                  <a:srgbClr val="6B6B6B"/>
                </a:solidFill>
                <a:latin typeface="Calibri"/>
              </a:rPr>
              <a:t>Оби · 12-14 городов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800600" y="3646488"/>
            <a:ext cx="19202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D55E0A"/>
                </a:solidFill>
                <a:latin typeface="Calibri"/>
              </a:rPr>
              <a:t>27 ТТ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800600" y="4065588"/>
            <a:ext cx="192024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>
                <a:solidFill>
                  <a:srgbClr val="6B6B6B"/>
                </a:solidFill>
                <a:latin typeface="Calibri"/>
              </a:rPr>
              <a:t>12-14 городов</a:t>
            </a:r>
          </a:p>
        </p:txBody>
      </p:sp>
      <p:sp>
        <p:nvSpPr>
          <p:cNvPr id="106" name="Rounded Rectangle 61"/>
          <p:cNvSpPr/>
          <p:nvPr/>
        </p:nvSpPr>
        <p:spPr>
          <a:xfrm>
            <a:off x="4800600" y="4294188"/>
            <a:ext cx="1508760" cy="2667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800600" y="4365982"/>
            <a:ext cx="150876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565C0"/>
                </a:solidFill>
                <a:latin typeface="Calibri"/>
              </a:rPr>
              <a:t>ПЛАН ВХОДА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892290" y="3090228"/>
            <a:ext cx="1783080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>
                <a:solidFill>
                  <a:srgbClr val="D55E0A"/>
                </a:solidFill>
                <a:latin typeface="Calibri"/>
              </a:rPr>
              <a:t>РЕГИОНЫ: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892290" y="3242628"/>
            <a:ext cx="17830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00">
                <a:solidFill>
                  <a:srgbClr val="313131"/>
                </a:solidFill>
                <a:latin typeface="Calibri"/>
              </a:rPr>
              <a:t>Москва (8), СПБ (5), Нижний Новгород (2), Казань, Самара, Краснодар, др.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892290" y="3722688"/>
            <a:ext cx="1783080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>
                <a:solidFill>
                  <a:srgbClr val="D55E0A"/>
                </a:solidFill>
                <a:latin typeface="Calibri"/>
              </a:rPr>
              <a:t>ПЛАН TITAN: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92290" y="3875088"/>
            <a:ext cx="17830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00">
                <a:solidFill>
                  <a:srgbClr val="313131"/>
                </a:solidFill>
                <a:latin typeface="Calibri"/>
              </a:rPr>
              <a:t>Вход через 2 пилотных ТТ в Москве. Восстановление сети после 2022 г.</a:t>
            </a:r>
          </a:p>
        </p:txBody>
      </p:sp>
      <p:sp>
        <p:nvSpPr>
          <p:cNvPr id="114" name="Rectangle 69"/>
          <p:cNvSpPr/>
          <p:nvPr/>
        </p:nvSpPr>
        <p:spPr>
          <a:xfrm>
            <a:off x="1" y="5562600"/>
            <a:ext cx="9143771" cy="1524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118" name="Rectangle 2"/>
          <p:cNvSpPr/>
          <p:nvPr/>
        </p:nvSpPr>
        <p:spPr>
          <a:xfrm>
            <a:off x="1" y="0"/>
            <a:ext cx="9143771" cy="4953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119" name="Rectangle 3"/>
          <p:cNvSpPr/>
          <p:nvPr/>
        </p:nvSpPr>
        <p:spPr>
          <a:xfrm>
            <a:off x="1" y="495300"/>
            <a:ext cx="9143771" cy="304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274321" y="108344"/>
            <a:ext cx="8595131" cy="286232"/>
          </a:xfrm>
          <a:prstGeom prst="rect">
            <a:avLst/>
          </a:prstGeom>
          <a:noFill/>
        </p:spPr>
        <p:txBody>
          <a:bodyPr wrap="square" lIns="19812" tIns="19812" rIns="19812" bIns="19812" anchor="ctr">
            <a:spAutoFit/>
          </a:bodyPr>
          <a:lstStyle/>
          <a:p>
            <a:pPr algn="l"/>
            <a:r>
              <a:rPr lang="ru-RU" sz="1600" b="1" dirty="0">
                <a:solidFill>
                  <a:srgbClr val="FFFFFF"/>
                </a:solidFill>
                <a:latin typeface="Arial"/>
              </a:rPr>
              <a:t>РАЗВИТИЕ </a:t>
            </a:r>
            <a:r>
              <a:rPr lang="en-US" sz="1600" b="1" dirty="0">
                <a:solidFill>
                  <a:srgbClr val="FFFFFF"/>
                </a:solidFill>
                <a:latin typeface="Arial"/>
              </a:rPr>
              <a:t>TITAN </a:t>
            </a:r>
            <a:r>
              <a:rPr lang="ru-RU" sz="1600" b="1" dirty="0">
                <a:solidFill>
                  <a:srgbClr val="FFFFFF"/>
                </a:solidFill>
                <a:latin typeface="Arial"/>
              </a:rPr>
              <a:t>В ФЕДЕРАЛЬНЫХ СЕТЯХ</a:t>
            </a:r>
            <a:endParaRPr sz="16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480060" y="4342900"/>
            <a:ext cx="15087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100" b="1" dirty="0">
                <a:solidFill>
                  <a:srgbClr val="2E7D32"/>
                </a:solidFill>
                <a:latin typeface="Calibri"/>
              </a:rPr>
              <a:t>ОХВАЧЕНО</a:t>
            </a:r>
            <a:r>
              <a:rPr lang="ru-RU" sz="900" b="1" dirty="0">
                <a:solidFill>
                  <a:srgbClr val="2E7D32"/>
                </a:solidFill>
                <a:latin typeface="Calibri"/>
              </a:rPr>
              <a:t> </a:t>
            </a:r>
            <a:r>
              <a:rPr lang="ru-RU" sz="1100" b="1" dirty="0">
                <a:solidFill>
                  <a:srgbClr val="2E7D32"/>
                </a:solidFill>
                <a:latin typeface="Calibri"/>
              </a:rPr>
              <a:t>12 ТТ</a:t>
            </a:r>
            <a:endParaRPr sz="1100" b="1" dirty="0">
              <a:solidFill>
                <a:srgbClr val="2E7D32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4700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203</Words>
  <Application>Microsoft Office PowerPoint</Application>
  <PresentationFormat>Экран (16:10)</PresentationFormat>
  <Paragraphs>38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Тема Office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Заколодний Роман Александрович</dc:creator>
  <cp:lastModifiedBy>Заколодний Роман Александрович</cp:lastModifiedBy>
  <cp:revision>1</cp:revision>
  <dcterms:created xsi:type="dcterms:W3CDTF">2026-08-20T05:26:19Z</dcterms:created>
  <dcterms:modified xsi:type="dcterms:W3CDTF">2026-08-20T05:28:12Z</dcterms:modified>
</cp:coreProperties>
</file>