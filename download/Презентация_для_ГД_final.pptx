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50" r:id="rId1"/>
  </p:sldMasterIdLst>
  <p:notesMasterIdLst>
    <p:notesMasterId r:id="rId12"/>
  </p:notesMasterIdLst>
  <p:sldIdLst>
    <p:sldId id="267" r:id="rId2"/>
    <p:sldId id="256" r:id="rId3"/>
    <p:sldId id="261" r:id="rId4"/>
    <p:sldId id="259" r:id="rId5"/>
    <p:sldId id="257" r:id="rId6"/>
    <p:sldId id="269" r:id="rId7"/>
    <p:sldId id="264" r:id="rId8"/>
    <p:sldId id="268" r:id="rId9"/>
    <p:sldId id="258" r:id="rId10"/>
    <p:sldId id="260" r:id="rId11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vertBarState="maximized">
    <p:restoredLeft sz="6897" autoAdjust="0"/>
    <p:restoredTop sz="88101" autoAdjust="0"/>
  </p:normalViewPr>
  <p:slideViewPr>
    <p:cSldViewPr snapToGrid="0" snapToObjects="1">
      <p:cViewPr varScale="1">
        <p:scale>
          <a:sx n="132" d="100"/>
          <a:sy n="132" d="100"/>
        </p:scale>
        <p:origin x="-930" y="-84"/>
      </p:cViewPr>
      <p:guideLst>
        <p:guide orient="horz" pos="162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22885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2913063" y="0"/>
            <a:ext cx="222885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5FBEEA3-D4FA-4FB4-A72C-31DD37E08AF9}" type="datetimeFigureOut">
              <a:rPr lang="ru-RU" smtClean="0"/>
              <a:t>06.10.2026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-47625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514350" y="4343400"/>
            <a:ext cx="41148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22885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2913063" y="8685213"/>
            <a:ext cx="222885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DD9E918-18D3-4753-90A0-47B16382A59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459169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7625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7625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b="1" i="0" dirty="0" smtClean="0">
                <a:solidFill>
                  <a:srgbClr val="6B7280"/>
                </a:solidFill>
                <a:latin typeface="Arial"/>
              </a:rPr>
              <a:t>Рейтинг</a:t>
            </a:r>
            <a:r>
              <a:rPr lang="ru-RU" sz="1200" b="1" i="0" baseline="0" dirty="0" smtClean="0">
                <a:solidFill>
                  <a:srgbClr val="6B7280"/>
                </a:solidFill>
                <a:latin typeface="Arial"/>
              </a:rPr>
              <a:t> по бренду компании</a:t>
            </a:r>
            <a:r>
              <a:rPr lang="ru-RU" sz="1200" b="1" i="0" dirty="0" smtClean="0">
                <a:solidFill>
                  <a:srgbClr val="6B7280"/>
                </a:solidFill>
                <a:latin typeface="Arial"/>
              </a:rPr>
              <a:t>: </a:t>
            </a:r>
            <a:r>
              <a:rPr lang="ru-RU" sz="1200" i="1" dirty="0" err="1" smtClean="0">
                <a:solidFill>
                  <a:srgbClr val="6B7280"/>
                </a:solidFill>
                <a:latin typeface="Arial"/>
              </a:rPr>
              <a:t>Yandex</a:t>
            </a:r>
            <a:r>
              <a:rPr lang="ru-RU" sz="1200" i="1" dirty="0" smtClean="0">
                <a:solidFill>
                  <a:srgbClr val="6B7280"/>
                </a:solidFill>
                <a:latin typeface="Arial"/>
              </a:rPr>
              <a:t> </a:t>
            </a:r>
            <a:r>
              <a:rPr lang="ru-RU" sz="1200" i="1" dirty="0" err="1" smtClean="0">
                <a:solidFill>
                  <a:srgbClr val="6B7280"/>
                </a:solidFill>
                <a:latin typeface="Arial"/>
              </a:rPr>
              <a:t>Wordstat</a:t>
            </a:r>
            <a:r>
              <a:rPr lang="ru-RU" sz="1200" i="1" dirty="0" smtClean="0">
                <a:solidFill>
                  <a:srgbClr val="6B7280"/>
                </a:solidFill>
                <a:latin typeface="Arial"/>
              </a:rPr>
              <a:t> API, сентябрь 2026. Метод: брендовые запросы по компаниям (название + «краска» / «компания» / «производитель»). Для каждой компании взят максимальный показатель. </a:t>
            </a:r>
            <a:r>
              <a:rPr lang="ru-RU" sz="1200" i="1" dirty="0" err="1" smtClean="0">
                <a:solidFill>
                  <a:srgbClr val="6B7280"/>
                </a:solidFill>
                <a:latin typeface="Arial"/>
              </a:rPr>
              <a:t>Эмпилс</a:t>
            </a:r>
            <a:r>
              <a:rPr lang="ru-RU" sz="1200" i="1" dirty="0" smtClean="0">
                <a:solidFill>
                  <a:srgbClr val="6B7280"/>
                </a:solidFill>
                <a:latin typeface="Arial"/>
              </a:rPr>
              <a:t> = 2 966 запросов/мес.</a:t>
            </a: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b="1" i="0" dirty="0" smtClean="0">
                <a:solidFill>
                  <a:srgbClr val="6B7280"/>
                </a:solidFill>
                <a:latin typeface="Arial"/>
              </a:rPr>
              <a:t>Рейтинг по бренду</a:t>
            </a:r>
            <a:r>
              <a:rPr lang="ru-RU" sz="1200" b="1" i="0" baseline="0" dirty="0" smtClean="0">
                <a:solidFill>
                  <a:srgbClr val="6B7280"/>
                </a:solidFill>
                <a:latin typeface="Arial"/>
              </a:rPr>
              <a:t> </a:t>
            </a:r>
            <a:r>
              <a:rPr lang="en-US" sz="1200" b="1" i="0" baseline="0" dirty="0" smtClean="0">
                <a:solidFill>
                  <a:srgbClr val="6B7280"/>
                </a:solidFill>
                <a:latin typeface="Arial"/>
              </a:rPr>
              <a:t>TITAN</a:t>
            </a:r>
            <a:r>
              <a:rPr lang="ru-RU" sz="1200" b="1" i="0" dirty="0" smtClean="0">
                <a:solidFill>
                  <a:srgbClr val="6B7280"/>
                </a:solidFill>
                <a:latin typeface="Arial"/>
              </a:rPr>
              <a:t>:</a:t>
            </a:r>
            <a:r>
              <a:rPr lang="ru-RU" sz="1200" i="1" dirty="0" smtClean="0">
                <a:solidFill>
                  <a:srgbClr val="6B7280"/>
                </a:solidFill>
                <a:latin typeface="Arial"/>
              </a:rPr>
              <a:t>Сумма 7 одинаковых запросов | </a:t>
            </a:r>
            <a:r>
              <a:rPr lang="ru-RU" sz="1200" i="1" dirty="0" err="1" smtClean="0">
                <a:solidFill>
                  <a:srgbClr val="6B7280"/>
                </a:solidFill>
                <a:latin typeface="Arial"/>
              </a:rPr>
              <a:t>Yandex</a:t>
            </a:r>
            <a:r>
              <a:rPr lang="ru-RU" sz="1200" i="1" dirty="0" smtClean="0">
                <a:solidFill>
                  <a:srgbClr val="6B7280"/>
                </a:solidFill>
                <a:latin typeface="Arial"/>
              </a:rPr>
              <a:t> </a:t>
            </a:r>
            <a:r>
              <a:rPr lang="ru-RU" sz="1200" i="1" dirty="0" err="1" smtClean="0">
                <a:solidFill>
                  <a:srgbClr val="6B7280"/>
                </a:solidFill>
                <a:latin typeface="Arial"/>
              </a:rPr>
              <a:t>Wordstat</a:t>
            </a:r>
            <a:r>
              <a:rPr lang="ru-RU" sz="1200" i="1" dirty="0" smtClean="0">
                <a:solidFill>
                  <a:srgbClr val="6B7280"/>
                </a:solidFill>
                <a:latin typeface="Arial"/>
              </a:rPr>
              <a:t> API, сентябрь 2026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685800" y="1597820"/>
            <a:ext cx="7772400" cy="1102519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ru-RU" smtClean="0"/>
              <a:t>Образец подзаголовка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05345F-A3DA-4B28-9AA6-0DFD2257C5D4}" type="datetimeFigureOut">
              <a:rPr lang="ru-RU" smtClean="0"/>
              <a:t>06.10.2026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6D9788-A7C0-4418-8F83-0AB10D031E9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28127754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05345F-A3DA-4B28-9AA6-0DFD2257C5D4}" type="datetimeFigureOut">
              <a:rPr lang="ru-RU" smtClean="0"/>
              <a:t>06.10.2026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6D9788-A7C0-4418-8F83-0AB10D031E9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49844298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05345F-A3DA-4B28-9AA6-0DFD2257C5D4}" type="datetimeFigureOut">
              <a:rPr lang="ru-RU" smtClean="0"/>
              <a:t>06.10.2026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6D9788-A7C0-4418-8F83-0AB10D031E9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69196952"/>
      </p:ext>
    </p:extLst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05345F-A3DA-4B28-9AA6-0DFD2257C5D4}" type="datetimeFigureOut">
              <a:rPr lang="ru-RU" smtClean="0"/>
              <a:t>06.10.2026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6D9788-A7C0-4418-8F83-0AB10D031E9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51113454"/>
      </p:ext>
    </p:extLst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4645028" y="1151335"/>
            <a:ext cx="4041775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4645028" y="1631156"/>
            <a:ext cx="4041775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05345F-A3DA-4B28-9AA6-0DFD2257C5D4}" type="datetimeFigureOut">
              <a:rPr lang="ru-RU" smtClean="0"/>
              <a:t>06.10.2026</a:t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6D9788-A7C0-4418-8F83-0AB10D031E9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7532619"/>
      </p:ext>
    </p:extLst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05345F-A3DA-4B28-9AA6-0DFD2257C5D4}" type="datetimeFigureOut">
              <a:rPr lang="ru-RU" smtClean="0"/>
              <a:t>06.10.2026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6D9788-A7C0-4418-8F83-0AB10D031E9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08540050"/>
      </p:ext>
    </p:extLst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05345F-A3DA-4B28-9AA6-0DFD2257C5D4}" type="datetimeFigureOut">
              <a:rPr lang="ru-RU" smtClean="0"/>
              <a:t>06.10.2026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6D9788-A7C0-4418-8F83-0AB10D031E9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39771560"/>
      </p:ext>
    </p:extLst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3" y="204787"/>
            <a:ext cx="3008313" cy="8715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3575050" y="204789"/>
            <a:ext cx="5111750" cy="438983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457203" y="1076327"/>
            <a:ext cx="3008313" cy="351829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05345F-A3DA-4B28-9AA6-0DFD2257C5D4}" type="datetimeFigureOut">
              <a:rPr lang="ru-RU" smtClean="0"/>
              <a:t>06.10.2026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6D9788-A7C0-4418-8F83-0AB10D031E9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32011533"/>
      </p:ext>
    </p:extLst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792288" y="3600451"/>
            <a:ext cx="5486400" cy="425054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1792288" y="4025504"/>
            <a:ext cx="5486400" cy="60364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05345F-A3DA-4B28-9AA6-0DFD2257C5D4}" type="datetimeFigureOut">
              <a:rPr lang="ru-RU" smtClean="0"/>
              <a:t>06.10.2026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6D9788-A7C0-4418-8F83-0AB10D031E9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22729287"/>
      </p:ext>
    </p:extLst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05345F-A3DA-4B28-9AA6-0DFD2257C5D4}" type="datetimeFigureOut">
              <a:rPr lang="ru-RU" smtClean="0"/>
              <a:t>06.10.2026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6D9788-A7C0-4418-8F83-0AB10D031E9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90153961"/>
      </p:ext>
    </p:extLst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6629400" y="205980"/>
            <a:ext cx="2057400" cy="4388644"/>
          </a:xfrm>
        </p:spPr>
        <p:txBody>
          <a:bodyPr vert="eaVert"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457200" y="205980"/>
            <a:ext cx="6019800" cy="4388644"/>
          </a:xfrm>
        </p:spPr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05345F-A3DA-4B28-9AA6-0DFD2257C5D4}" type="datetimeFigureOut">
              <a:rPr lang="ru-RU" smtClean="0"/>
              <a:t>06.10.2026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6D9788-A7C0-4418-8F83-0AB10D031E9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88697693"/>
      </p:ext>
    </p:extLst>
  </p:cSld>
  <p:clrMapOvr>
    <a:masterClrMapping/>
  </p:clrMapOvr>
  <p:hf sldNum="0"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457200" y="4767264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005345F-A3DA-4B28-9AA6-0DFD2257C5D4}" type="datetimeFigureOut">
              <a:rPr lang="ru-RU" smtClean="0"/>
              <a:t>06.10.2026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3124200" y="4767264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6553200" y="4767264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6D9788-A7C0-4418-8F83-0AB10D031E9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613001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2" r:id="rId2"/>
    <p:sldLayoutId id="2147483653" r:id="rId3"/>
    <p:sldLayoutId id="2147483654" r:id="rId4"/>
    <p:sldLayoutId id="2147483655" r:id="rId5"/>
    <p:sldLayoutId id="2147483656" r:id="rId6"/>
    <p:sldLayoutId id="2147483657" r:id="rId7"/>
    <p:sldLayoutId id="2147483658" r:id="rId8"/>
    <p:sldLayoutId id="2147483659" r:id="rId9"/>
    <p:sldLayoutId id="2147483660" r:id="rId10"/>
    <p:sldLayoutId id="2147483661" r:id="rId11"/>
    <p:sldLayoutId id="2147483662" r:id="rId1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2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Rectangle 5"/>
          <p:cNvSpPr/>
          <p:nvPr/>
        </p:nvSpPr>
        <p:spPr>
          <a:xfrm>
            <a:off x="280800" y="1219328"/>
            <a:ext cx="79200" cy="23004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86" name="TextBox 85"/>
          <p:cNvSpPr txBox="1"/>
          <p:nvPr/>
        </p:nvSpPr>
        <p:spPr>
          <a:xfrm>
            <a:off x="561600" y="1391966"/>
            <a:ext cx="7498799" cy="6771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400" b="1" dirty="0" err="1">
                <a:latin typeface="Inter"/>
              </a:rPr>
              <a:t>Дорога</a:t>
            </a:r>
            <a:r>
              <a:rPr sz="4400" b="1" dirty="0">
                <a:latin typeface="Inter"/>
              </a:rPr>
              <a:t> к </a:t>
            </a:r>
            <a:r>
              <a:rPr sz="4400" b="1" dirty="0" err="1">
                <a:latin typeface="Inter"/>
              </a:rPr>
              <a:t>лидерству</a:t>
            </a:r>
            <a:endParaRPr sz="4400" b="1" dirty="0">
              <a:latin typeface="Inter"/>
            </a:endParaRPr>
          </a:p>
        </p:txBody>
      </p:sp>
      <p:sp>
        <p:nvSpPr>
          <p:cNvPr id="87" name="TextBox 86"/>
          <p:cNvSpPr txBox="1"/>
          <p:nvPr/>
        </p:nvSpPr>
        <p:spPr>
          <a:xfrm>
            <a:off x="561600" y="2309966"/>
            <a:ext cx="7498799" cy="5539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1800" b="0" dirty="0" smtClean="0">
                <a:latin typeface="Inter"/>
              </a:rPr>
              <a:t>Q3-Q4</a:t>
            </a:r>
          </a:p>
          <a:p>
            <a:pPr algn="l"/>
            <a:r>
              <a:rPr sz="1800" b="0" dirty="0" err="1" smtClean="0">
                <a:latin typeface="Inter"/>
              </a:rPr>
              <a:t>Про</a:t>
            </a:r>
            <a:r>
              <a:rPr lang="ru-RU" sz="1800" b="0" dirty="0" err="1" smtClean="0">
                <a:latin typeface="Inter"/>
              </a:rPr>
              <a:t>екты</a:t>
            </a:r>
            <a:r>
              <a:rPr lang="ru-RU" sz="1800" b="0" dirty="0" smtClean="0">
                <a:latin typeface="Inter"/>
              </a:rPr>
              <a:t> развития</a:t>
            </a:r>
            <a:endParaRPr sz="1800" b="0" dirty="0">
              <a:latin typeface="Inter"/>
            </a:endParaRPr>
          </a:p>
        </p:txBody>
      </p:sp>
      <p:sp>
        <p:nvSpPr>
          <p:cNvPr id="88" name="Rectangle 9"/>
          <p:cNvSpPr/>
          <p:nvPr/>
        </p:nvSpPr>
        <p:spPr>
          <a:xfrm>
            <a:off x="0" y="4500000"/>
            <a:ext cx="9144000" cy="14400"/>
          </a:xfrm>
          <a:prstGeom prst="rect">
            <a:avLst/>
          </a:prstGeom>
          <a:solidFill>
            <a:srgbClr val="444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0" name="TextBox 89"/>
          <p:cNvSpPr txBox="1"/>
          <p:nvPr/>
        </p:nvSpPr>
        <p:spPr>
          <a:xfrm>
            <a:off x="201600" y="4615362"/>
            <a:ext cx="450000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dirty="0">
                <a:solidFill>
                  <a:srgbClr val="8A95A3"/>
                </a:solidFill>
                <a:latin typeface="Inter"/>
              </a:rPr>
              <a:t>ЗАО «</a:t>
            </a:r>
            <a:r>
              <a:rPr sz="900" b="0" dirty="0" err="1">
                <a:solidFill>
                  <a:srgbClr val="8A95A3"/>
                </a:solidFill>
                <a:latin typeface="Inter"/>
              </a:rPr>
              <a:t>Эмпилс</a:t>
            </a:r>
            <a:r>
              <a:rPr sz="900" b="0" dirty="0">
                <a:solidFill>
                  <a:srgbClr val="8A95A3"/>
                </a:solidFill>
                <a:latin typeface="Inter"/>
              </a:rPr>
              <a:t>» </a:t>
            </a:r>
            <a:endParaRPr lang="en-US" sz="900" b="0" dirty="0" smtClean="0">
              <a:solidFill>
                <a:srgbClr val="8A95A3"/>
              </a:solidFill>
              <a:latin typeface="Inter"/>
            </a:endParaRPr>
          </a:p>
          <a:p>
            <a:pPr algn="l"/>
            <a:r>
              <a:rPr sz="900" b="0" dirty="0" err="1" smtClean="0">
                <a:solidFill>
                  <a:srgbClr val="8A95A3"/>
                </a:solidFill>
                <a:latin typeface="Inter"/>
              </a:rPr>
              <a:t>Ростов-на-Дону</a:t>
            </a:r>
            <a:endParaRPr sz="900" b="0" dirty="0">
              <a:solidFill>
                <a:srgbClr val="8A95A3"/>
              </a:solidFill>
              <a:latin typeface="Inter"/>
            </a:endParaRPr>
          </a:p>
        </p:txBody>
      </p:sp>
    </p:spTree>
    <p:extLst>
      <p:ext uri="{BB962C8B-B14F-4D97-AF65-F5344CB8AC3E}">
        <p14:creationId xmlns:p14="http://schemas.microsoft.com/office/powerpoint/2010/main" val="352255768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F2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28600" y="1868831"/>
            <a:ext cx="8686800" cy="0"/>
          </a:xfrm>
          <a:prstGeom prst="line">
            <a:avLst/>
          </a:prstGeom>
          <a:noFill/>
          <a:ln w="7144">
            <a:solidFill>
              <a:srgbClr val="EFE9DD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228602" y="207170"/>
            <a:ext cx="157163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endParaRPr lang="en-US" sz="1547" dirty="0"/>
          </a:p>
        </p:txBody>
      </p:sp>
      <p:sp>
        <p:nvSpPr>
          <p:cNvPr id="4" name="Text 2"/>
          <p:cNvSpPr/>
          <p:nvPr/>
        </p:nvSpPr>
        <p:spPr>
          <a:xfrm>
            <a:off x="305885" y="196742"/>
            <a:ext cx="770453" cy="2314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688"/>
              </a:lnSpc>
              <a:buNone/>
            </a:pPr>
            <a:r>
              <a:rPr lang="en-US" sz="1600" b="1" kern="0" spc="113" dirty="0">
                <a:solidFill>
                  <a:schemeClr val="tx1">
                    <a:lumMod val="50000"/>
                    <a:lumOff val="50000"/>
                  </a:schemeClr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TITAN</a:t>
            </a:r>
            <a:endParaRPr lang="en-US" sz="16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7" name="Text 5"/>
          <p:cNvSpPr/>
          <p:nvPr/>
        </p:nvSpPr>
        <p:spPr>
          <a:xfrm>
            <a:off x="1118897" y="208739"/>
            <a:ext cx="1380514" cy="1785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406"/>
              </a:lnSpc>
              <a:buNone/>
            </a:pPr>
            <a:r>
              <a:rPr lang="en-US" sz="1200" b="1" kern="0" spc="56" dirty="0">
                <a:solidFill>
                  <a:srgbClr val="2F3A4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ЧТО СДЕЛАНО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633311" y="169736"/>
            <a:ext cx="1139029" cy="232029"/>
          </a:xfrm>
          <a:prstGeom prst="roundRect">
            <a:avLst>
              <a:gd name="adj" fmla="val 24631"/>
            </a:avLst>
          </a:prstGeom>
          <a:solidFill>
            <a:srgbClr val="FFFFFF"/>
          </a:solidFill>
          <a:ln w="7144">
            <a:solidFill>
              <a:srgbClr val="D9D2C2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7851542" y="238072"/>
            <a:ext cx="702208" cy="1071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844"/>
              </a:lnSpc>
              <a:buNone/>
            </a:pPr>
            <a:r>
              <a:rPr lang="en-US" sz="600" b="1" kern="0" spc="28" dirty="0">
                <a:latin typeface="Carlito" pitchFamily="34" charset="0"/>
                <a:ea typeface="Carlito" pitchFamily="34" charset="-122"/>
                <a:cs typeface="Carlito" pitchFamily="34" charset="-120"/>
              </a:rPr>
              <a:t>ЭТАП 1 · АКТИВЕН</a:t>
            </a:r>
            <a:endParaRPr lang="en-US" sz="600" b="1" dirty="0"/>
          </a:p>
        </p:txBody>
      </p:sp>
      <p:sp>
        <p:nvSpPr>
          <p:cNvPr id="129" name="Text 28"/>
          <p:cNvSpPr/>
          <p:nvPr/>
        </p:nvSpPr>
        <p:spPr>
          <a:xfrm>
            <a:off x="232172" y="1335014"/>
            <a:ext cx="1684474" cy="1162058"/>
          </a:xfrm>
          <a:prstGeom prst="roundRect">
            <a:avLst>
              <a:gd name="adj" fmla="val 7181"/>
            </a:avLst>
          </a:prstGeom>
          <a:solidFill>
            <a:srgbClr val="FFFFFF"/>
          </a:solidFill>
          <a:ln w="7144">
            <a:solidFill>
              <a:srgbClr val="D9D2C2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30" name="Text 29"/>
          <p:cNvSpPr/>
          <p:nvPr/>
        </p:nvSpPr>
        <p:spPr>
          <a:xfrm>
            <a:off x="321469" y="1384100"/>
            <a:ext cx="1191444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28"/>
              </a:lnSpc>
              <a:buNone/>
            </a:pPr>
            <a:r>
              <a:rPr lang="en-US" sz="800" b="1" kern="0" spc="56" dirty="0">
                <a:solidFill>
                  <a:srgbClr val="00B0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ЭТАП 1</a:t>
            </a:r>
            <a:endParaRPr lang="en-US" sz="800" dirty="0">
              <a:solidFill>
                <a:srgbClr val="00B050"/>
              </a:solidFill>
            </a:endParaRPr>
          </a:p>
        </p:txBody>
      </p:sp>
      <p:sp>
        <p:nvSpPr>
          <p:cNvPr id="133" name="Text 32"/>
          <p:cNvSpPr/>
          <p:nvPr/>
        </p:nvSpPr>
        <p:spPr>
          <a:xfrm>
            <a:off x="321469" y="1608065"/>
            <a:ext cx="1505880" cy="10963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marL="0" indent="0" algn="l">
              <a:lnSpc>
                <a:spcPts val="742"/>
              </a:lnSpc>
              <a:buNone/>
            </a:pPr>
            <a:r>
              <a:rPr lang="en-US" sz="800" b="1" kern="0" spc="28" dirty="0">
                <a:solidFill>
                  <a:srgbClr val="2F3A4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POS-МАТЕРИАЛЫ</a:t>
            </a:r>
            <a:endParaRPr lang="en-US" sz="800" dirty="0"/>
          </a:p>
        </p:txBody>
      </p:sp>
      <p:sp>
        <p:nvSpPr>
          <p:cNvPr id="134" name="Text 33"/>
          <p:cNvSpPr/>
          <p:nvPr/>
        </p:nvSpPr>
        <p:spPr>
          <a:xfrm>
            <a:off x="321471" y="1851318"/>
            <a:ext cx="1596233" cy="102383"/>
          </a:xfrm>
          <a:prstGeom prst="rect">
            <a:avLst/>
          </a:prstGeom>
          <a:noFill/>
          <a:ln/>
        </p:spPr>
        <p:txBody>
          <a:bodyPr wrap="none" lIns="0" tIns="14288" rIns="0" bIns="14288" rtlCol="0" anchor="t">
            <a:noAutofit/>
          </a:bodyPr>
          <a:lstStyle/>
          <a:p>
            <a:pPr marL="0" indent="0" algn="l">
              <a:lnSpc>
                <a:spcPts val="797"/>
              </a:lnSpc>
              <a:buNone/>
            </a:pPr>
            <a:endParaRPr lang="en-US" sz="600" dirty="0"/>
          </a:p>
        </p:txBody>
      </p:sp>
      <p:sp>
        <p:nvSpPr>
          <p:cNvPr id="135" name="Text 34"/>
          <p:cNvSpPr/>
          <p:nvPr/>
        </p:nvSpPr>
        <p:spPr>
          <a:xfrm>
            <a:off x="302185" y="1736147"/>
            <a:ext cx="1536773" cy="535087"/>
          </a:xfrm>
          <a:prstGeom prst="rect">
            <a:avLst/>
          </a:prstGeom>
          <a:noFill/>
          <a:ln/>
        </p:spPr>
        <p:txBody>
          <a:bodyPr wrap="none" lIns="0" tIns="14288" rIns="0" bIns="14288" rtlCol="0" anchor="t"/>
          <a:lstStyle/>
          <a:p>
            <a:pPr>
              <a:lnSpc>
                <a:spcPts val="900"/>
              </a:lnSpc>
            </a:pPr>
            <a:r>
              <a:rPr lang="en-US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1. </a:t>
            </a:r>
            <a:r>
              <a:rPr lang="ru-RU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Руководство по продажам</a:t>
            </a:r>
            <a:br>
              <a:rPr lang="ru-RU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</a:br>
            <a:r>
              <a:rPr lang="en-US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2. </a:t>
            </a:r>
            <a:r>
              <a:rPr lang="en-US" sz="700" dirty="0" err="1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Шелфтокеры</a:t>
            </a:r>
            <a:r>
              <a:rPr lang="en-US" sz="700" dirty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, </a:t>
            </a:r>
            <a:r>
              <a:rPr lang="en-US" sz="700" dirty="0" err="1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воблеры</a:t>
            </a:r>
            <a:r>
              <a:rPr lang="en-US" sz="700" dirty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, </a:t>
            </a:r>
            <a:r>
              <a:rPr lang="en-US" sz="700" dirty="0" err="1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ценники</a:t>
            </a:r>
            <a:endParaRPr lang="en-US" sz="700" dirty="0"/>
          </a:p>
          <a:p>
            <a:pPr marL="0" indent="0" algn="l">
              <a:lnSpc>
                <a:spcPts val="900"/>
              </a:lnSpc>
              <a:buNone/>
            </a:pPr>
            <a:r>
              <a:rPr lang="en-US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3. </a:t>
            </a:r>
            <a:r>
              <a:rPr lang="en-US" sz="700" dirty="0" err="1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Листовк</a:t>
            </a:r>
            <a:r>
              <a:rPr lang="ru-RU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а</a:t>
            </a:r>
            <a:br>
              <a:rPr lang="ru-RU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</a:br>
            <a:r>
              <a:rPr lang="ru-RU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4.</a:t>
            </a:r>
            <a:r>
              <a:rPr lang="en-US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 </a:t>
            </a:r>
            <a:r>
              <a:rPr lang="ru-RU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П</a:t>
            </a:r>
            <a:r>
              <a:rPr lang="en-US" sz="700" dirty="0" err="1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ланограмма</a:t>
            </a:r>
            <a:endParaRPr lang="en-US" sz="700" dirty="0"/>
          </a:p>
        </p:txBody>
      </p:sp>
      <p:sp>
        <p:nvSpPr>
          <p:cNvPr id="136" name="Shape 35"/>
          <p:cNvSpPr/>
          <p:nvPr/>
        </p:nvSpPr>
        <p:spPr>
          <a:xfrm>
            <a:off x="321469" y="2236558"/>
            <a:ext cx="1505880" cy="0"/>
          </a:xfrm>
          <a:prstGeom prst="line">
            <a:avLst/>
          </a:prstGeom>
          <a:noFill/>
          <a:ln w="7144">
            <a:solidFill>
              <a:srgbClr val="EFE9DD"/>
            </a:solidFill>
            <a:prstDash val="solid"/>
          </a:ln>
        </p:spPr>
        <p:txBody>
          <a:bodyPr/>
          <a:p/>
        </p:txBody>
      </p:sp>
      <p:sp>
        <p:nvSpPr>
          <p:cNvPr id="139" name="Text 38"/>
          <p:cNvSpPr/>
          <p:nvPr/>
        </p:nvSpPr>
        <p:spPr>
          <a:xfrm>
            <a:off x="1980940" y="1335014"/>
            <a:ext cx="1684474" cy="1162058"/>
          </a:xfrm>
          <a:prstGeom prst="roundRect">
            <a:avLst>
              <a:gd name="adj" fmla="val 7181"/>
            </a:avLst>
          </a:prstGeom>
          <a:solidFill>
            <a:srgbClr val="FFFFFF"/>
          </a:solidFill>
          <a:ln w="7144">
            <a:solidFill>
              <a:srgbClr val="D9D2C2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40" name="Text 39"/>
          <p:cNvSpPr/>
          <p:nvPr/>
        </p:nvSpPr>
        <p:spPr>
          <a:xfrm>
            <a:off x="2070236" y="1384100"/>
            <a:ext cx="1191444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28"/>
              </a:lnSpc>
              <a:buNone/>
            </a:pPr>
            <a:r>
              <a:rPr lang="en-US" sz="800" b="1" kern="0" spc="56" dirty="0">
                <a:solidFill>
                  <a:srgbClr val="00B0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ЭТАП 1</a:t>
            </a:r>
            <a:endParaRPr lang="en-US" sz="800" dirty="0">
              <a:solidFill>
                <a:srgbClr val="00B050"/>
              </a:solidFill>
            </a:endParaRPr>
          </a:p>
        </p:txBody>
      </p:sp>
      <p:sp>
        <p:nvSpPr>
          <p:cNvPr id="143" name="Text 42"/>
          <p:cNvSpPr/>
          <p:nvPr/>
        </p:nvSpPr>
        <p:spPr>
          <a:xfrm>
            <a:off x="2070236" y="1608065"/>
            <a:ext cx="1505880" cy="10963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marL="0" indent="0" algn="l">
              <a:lnSpc>
                <a:spcPts val="742"/>
              </a:lnSpc>
              <a:buNone/>
            </a:pPr>
            <a:r>
              <a:rPr lang="en-US" sz="800" b="1" kern="0" spc="28" dirty="0">
                <a:solidFill>
                  <a:srgbClr val="2F3A4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КОНТЕНТ И ОБУЧЕНИЕ</a:t>
            </a:r>
            <a:endParaRPr lang="en-US" sz="800" dirty="0"/>
          </a:p>
        </p:txBody>
      </p:sp>
      <p:sp>
        <p:nvSpPr>
          <p:cNvPr id="144" name="Text 43"/>
          <p:cNvSpPr/>
          <p:nvPr/>
        </p:nvSpPr>
        <p:spPr>
          <a:xfrm>
            <a:off x="2023480" y="1745135"/>
            <a:ext cx="1642990" cy="507705"/>
          </a:xfrm>
          <a:prstGeom prst="rect">
            <a:avLst/>
          </a:prstGeom>
          <a:noFill/>
          <a:ln/>
        </p:spPr>
        <p:txBody>
          <a:bodyPr wrap="square" lIns="0" tIns="14288" rIns="0" bIns="14288" rtlCol="0" anchor="t">
            <a:noAutofit/>
          </a:bodyPr>
          <a:lstStyle/>
          <a:p>
            <a:pPr marL="0" indent="0" algn="l">
              <a:lnSpc>
                <a:spcPts val="900"/>
              </a:lnSpc>
              <a:buNone/>
            </a:pPr>
            <a:r>
              <a:rPr lang="ru-RU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1. Видеоролики</a:t>
            </a:r>
            <a:r>
              <a:rPr lang="ru-RU" sz="700" dirty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: 5 штук</a:t>
            </a:r>
          </a:p>
          <a:p>
            <a:pPr>
              <a:lnSpc>
                <a:spcPts val="900"/>
              </a:lnSpc>
            </a:pPr>
            <a:r>
              <a:rPr lang="ru-RU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2. О</a:t>
            </a:r>
            <a:r>
              <a:rPr lang="en-US" sz="700" dirty="0" err="1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блако</a:t>
            </a:r>
            <a:r>
              <a:rPr lang="en-US" sz="700" dirty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 с </a:t>
            </a:r>
            <a:r>
              <a:rPr lang="en-US" sz="700" dirty="0" err="1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материалами</a:t>
            </a:r>
            <a:endParaRPr lang="ru-RU" sz="700" dirty="0" smtClean="0">
              <a:solidFill>
                <a:srgbClr val="5A6776"/>
              </a:solidFill>
              <a:ea typeface="Carlito" pitchFamily="34" charset="-122"/>
              <a:cs typeface="Carlito" pitchFamily="34" charset="-120"/>
            </a:endParaRPr>
          </a:p>
          <a:p>
            <a:pPr>
              <a:lnSpc>
                <a:spcPts val="900"/>
              </a:lnSpc>
            </a:pPr>
            <a:r>
              <a:rPr lang="ru-RU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3. </a:t>
            </a:r>
            <a:r>
              <a:rPr lang="en-US" sz="700" dirty="0" err="1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Обучение</a:t>
            </a:r>
            <a:r>
              <a:rPr lang="en-US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:</a:t>
            </a:r>
            <a:r>
              <a:rPr lang="ru-RU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 </a:t>
            </a:r>
            <a:r>
              <a:rPr lang="ru-RU" sz="700" dirty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_</a:t>
            </a:r>
            <a:r>
              <a:rPr lang="en-US" sz="700" dirty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 </a:t>
            </a:r>
            <a:r>
              <a:rPr lang="en-US" sz="700" dirty="0" err="1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регионов</a:t>
            </a:r>
            <a:r>
              <a:rPr lang="en-US" sz="700" dirty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, ~350 ТП</a:t>
            </a:r>
            <a:r>
              <a:rPr lang="ru-RU" sz="700" dirty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 ОП</a:t>
            </a:r>
            <a:endParaRPr lang="en-US" sz="700" dirty="0">
              <a:solidFill>
                <a:srgbClr val="5A6776"/>
              </a:solidFill>
              <a:ea typeface="Carlito" pitchFamily="34" charset="-122"/>
              <a:cs typeface="Carlito" pitchFamily="34" charset="-120"/>
            </a:endParaRPr>
          </a:p>
          <a:p>
            <a:pPr>
              <a:lnSpc>
                <a:spcPts val="797"/>
              </a:lnSpc>
            </a:pPr>
            <a:endParaRPr lang="en-US" sz="700" dirty="0"/>
          </a:p>
          <a:p>
            <a:pPr>
              <a:lnSpc>
                <a:spcPts val="797"/>
              </a:lnSpc>
            </a:pPr>
            <a:endParaRPr lang="en-US" sz="700" dirty="0">
              <a:solidFill>
                <a:srgbClr val="5A6776"/>
              </a:solidFill>
              <a:latin typeface="Carlito" pitchFamily="34" charset="0"/>
              <a:ea typeface="Carlito" pitchFamily="34" charset="-122"/>
              <a:cs typeface="Carlito" pitchFamily="34" charset="-120"/>
            </a:endParaRPr>
          </a:p>
          <a:p>
            <a:pPr marL="0" indent="0" algn="l">
              <a:lnSpc>
                <a:spcPts val="797"/>
              </a:lnSpc>
              <a:buNone/>
            </a:pPr>
            <a:endParaRPr lang="en-US" sz="500" dirty="0">
              <a:solidFill>
                <a:srgbClr val="5A6776"/>
              </a:solidFill>
              <a:latin typeface="Carlito" pitchFamily="34" charset="0"/>
              <a:ea typeface="Carlito" pitchFamily="34" charset="-122"/>
              <a:cs typeface="Carlito" pitchFamily="34" charset="-120"/>
            </a:endParaRPr>
          </a:p>
        </p:txBody>
      </p:sp>
      <p:sp>
        <p:nvSpPr>
          <p:cNvPr id="146" name="Text 45"/>
          <p:cNvSpPr/>
          <p:nvPr/>
        </p:nvSpPr>
        <p:spPr>
          <a:xfrm>
            <a:off x="2070236" y="2127437"/>
            <a:ext cx="521106" cy="125403"/>
          </a:xfrm>
          <a:prstGeom prst="rect">
            <a:avLst/>
          </a:prstGeom>
          <a:noFill/>
          <a:ln/>
        </p:spPr>
        <p:txBody>
          <a:bodyPr wrap="none" lIns="0" tIns="14288" rIns="0" bIns="14288" rtlCol="0" anchor="t"/>
          <a:lstStyle/>
          <a:p>
            <a:pPr marL="0" indent="0" algn="l">
              <a:lnSpc>
                <a:spcPts val="797"/>
              </a:lnSpc>
              <a:buNone/>
            </a:pPr>
            <a:endParaRPr lang="en-US" sz="800" dirty="0"/>
          </a:p>
        </p:txBody>
      </p:sp>
      <p:sp>
        <p:nvSpPr>
          <p:cNvPr id="147" name="Text 46"/>
          <p:cNvSpPr/>
          <p:nvPr/>
        </p:nvSpPr>
        <p:spPr>
          <a:xfrm>
            <a:off x="2569390" y="2138578"/>
            <a:ext cx="1049127" cy="148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797"/>
              </a:lnSpc>
              <a:buNone/>
            </a:pPr>
            <a:endParaRPr lang="en-US" sz="600" dirty="0"/>
          </a:p>
        </p:txBody>
      </p:sp>
      <p:sp>
        <p:nvSpPr>
          <p:cNvPr id="148" name="Text 47"/>
          <p:cNvSpPr/>
          <p:nvPr/>
        </p:nvSpPr>
        <p:spPr>
          <a:xfrm>
            <a:off x="3716894" y="1944865"/>
            <a:ext cx="1684474" cy="1388735"/>
          </a:xfrm>
          <a:prstGeom prst="roundRect">
            <a:avLst>
              <a:gd name="adj" fmla="val 7181"/>
            </a:avLst>
          </a:prstGeom>
          <a:solidFill>
            <a:srgbClr val="FFFFFF"/>
          </a:solidFill>
          <a:ln w="7144">
            <a:solidFill>
              <a:srgbClr val="D4A574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49" name="Text 48"/>
          <p:cNvSpPr/>
          <p:nvPr/>
        </p:nvSpPr>
        <p:spPr>
          <a:xfrm>
            <a:off x="3806191" y="1993951"/>
            <a:ext cx="905694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28"/>
              </a:lnSpc>
              <a:buNone/>
            </a:pPr>
            <a:r>
              <a:rPr lang="en-US" sz="800" b="1" kern="0" spc="56" dirty="0">
                <a:solidFill>
                  <a:srgbClr val="D4A5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ЭТАП 2</a:t>
            </a:r>
            <a:endParaRPr lang="en-US" sz="800" dirty="0"/>
          </a:p>
        </p:txBody>
      </p:sp>
      <p:sp>
        <p:nvSpPr>
          <p:cNvPr id="152" name="Text 51"/>
          <p:cNvSpPr/>
          <p:nvPr/>
        </p:nvSpPr>
        <p:spPr>
          <a:xfrm>
            <a:off x="3806191" y="2205216"/>
            <a:ext cx="1505880" cy="10963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Autofit/>
          </a:bodyPr>
          <a:lstStyle/>
          <a:p>
            <a:pPr>
              <a:lnSpc>
                <a:spcPts val="742"/>
              </a:lnSpc>
            </a:pPr>
            <a:r>
              <a:rPr lang="ru-RU" sz="800" b="1" kern="0" spc="28" dirty="0" smtClean="0">
                <a:solidFill>
                  <a:srgbClr val="2F3A4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ШК </a:t>
            </a:r>
            <a:r>
              <a:rPr lang="en-US" sz="800" b="1" kern="0" spc="28" dirty="0" smtClean="0">
                <a:solidFill>
                  <a:srgbClr val="2F3A4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ПРОДВИЖЕНИЕ</a:t>
            </a:r>
            <a:endParaRPr lang="en-US" sz="800" dirty="0"/>
          </a:p>
        </p:txBody>
      </p:sp>
      <p:sp>
        <p:nvSpPr>
          <p:cNvPr id="153" name="Text 52"/>
          <p:cNvSpPr/>
          <p:nvPr/>
        </p:nvSpPr>
        <p:spPr>
          <a:xfrm>
            <a:off x="3761334" y="2332758"/>
            <a:ext cx="1626351" cy="957642"/>
          </a:xfrm>
          <a:prstGeom prst="rect">
            <a:avLst/>
          </a:prstGeom>
          <a:noFill/>
          <a:ln/>
        </p:spPr>
        <p:txBody>
          <a:bodyPr wrap="square" lIns="0" tIns="14288" rIns="0" bIns="14288" rtlCol="0" anchor="t">
            <a:noAutofit/>
          </a:bodyPr>
          <a:lstStyle/>
          <a:p>
            <a:pPr>
              <a:lnSpc>
                <a:spcPts val="797"/>
              </a:lnSpc>
            </a:pPr>
            <a:r>
              <a:rPr lang="ru-RU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1. Доработка </a:t>
            </a:r>
            <a:r>
              <a:rPr lang="ru-RU" sz="700" dirty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сайта </a:t>
            </a:r>
            <a:r>
              <a:rPr lang="en-US" sz="700" dirty="0" err="1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Empils</a:t>
            </a:r>
            <a:r>
              <a:rPr lang="en-US" sz="700" dirty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, </a:t>
            </a:r>
            <a:r>
              <a:rPr lang="ru-RU" sz="700" dirty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посадочной страницы</a:t>
            </a:r>
            <a:br>
              <a:rPr lang="ru-RU" sz="700" dirty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</a:br>
            <a:r>
              <a:rPr lang="ru-RU" sz="700" dirty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2</a:t>
            </a:r>
            <a:r>
              <a:rPr lang="ru-RU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.</a:t>
            </a:r>
            <a:r>
              <a:rPr lang="en-US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 </a:t>
            </a:r>
            <a:r>
              <a:rPr lang="ru-RU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Запуск видеоканала (</a:t>
            </a:r>
            <a:r>
              <a:rPr lang="en-US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VK </a:t>
            </a:r>
            <a:r>
              <a:rPr lang="ru-RU" sz="700" dirty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В</a:t>
            </a:r>
            <a:r>
              <a:rPr lang="ru-RU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идео) </a:t>
            </a:r>
            <a:endParaRPr lang="en-US" sz="700" dirty="0" smtClean="0">
              <a:solidFill>
                <a:srgbClr val="5A6776"/>
              </a:solidFill>
              <a:ea typeface="Carlito" pitchFamily="34" charset="-122"/>
              <a:cs typeface="Carlito" pitchFamily="34" charset="-120"/>
            </a:endParaRPr>
          </a:p>
          <a:p>
            <a:pPr>
              <a:lnSpc>
                <a:spcPts val="797"/>
              </a:lnSpc>
            </a:pPr>
            <a:r>
              <a:rPr lang="ru-RU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3. </a:t>
            </a:r>
            <a:r>
              <a:rPr lang="en-US" sz="700" dirty="0" err="1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Видеореклама</a:t>
            </a:r>
            <a:r>
              <a:rPr lang="ru-RU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 </a:t>
            </a:r>
            <a:r>
              <a:rPr lang="ru-RU" sz="700" dirty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пре-роллы 15-30 сек</a:t>
            </a:r>
          </a:p>
          <a:p>
            <a:pPr>
              <a:lnSpc>
                <a:spcPts val="797"/>
              </a:lnSpc>
            </a:pPr>
            <a:r>
              <a:rPr lang="en-US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 (VK </a:t>
            </a:r>
            <a:r>
              <a:rPr lang="ru-RU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Видео</a:t>
            </a:r>
            <a:r>
              <a:rPr lang="en-US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)</a:t>
            </a:r>
            <a:endParaRPr lang="ru-RU" sz="700" dirty="0" smtClean="0">
              <a:solidFill>
                <a:srgbClr val="5A6776"/>
              </a:solidFill>
              <a:ea typeface="Carlito" pitchFamily="34" charset="-122"/>
              <a:cs typeface="Carlito" pitchFamily="34" charset="-120"/>
            </a:endParaRPr>
          </a:p>
          <a:p>
            <a:pPr>
              <a:lnSpc>
                <a:spcPts val="797"/>
              </a:lnSpc>
            </a:pPr>
            <a:r>
              <a:rPr lang="ru-RU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5. </a:t>
            </a:r>
            <a:r>
              <a:rPr lang="en-US" sz="700" dirty="0" err="1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Блогер-инфлюенсер</a:t>
            </a:r>
            <a:endParaRPr lang="ru-RU" sz="700" dirty="0" smtClean="0">
              <a:solidFill>
                <a:srgbClr val="5A6776"/>
              </a:solidFill>
              <a:ea typeface="Carlito" pitchFamily="34" charset="-122"/>
              <a:cs typeface="Carlito" pitchFamily="34" charset="-120"/>
            </a:endParaRPr>
          </a:p>
          <a:p>
            <a:pPr>
              <a:lnSpc>
                <a:spcPts val="797"/>
              </a:lnSpc>
            </a:pPr>
            <a:r>
              <a:rPr lang="ru-RU" sz="700" dirty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6</a:t>
            </a:r>
            <a:r>
              <a:rPr lang="ru-RU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. </a:t>
            </a:r>
            <a:r>
              <a:rPr lang="en-US" sz="700" dirty="0" err="1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Контекстная</a:t>
            </a:r>
            <a:r>
              <a:rPr lang="en-US" sz="700" dirty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 </a:t>
            </a:r>
            <a:r>
              <a:rPr lang="ru-RU" sz="700" dirty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и </a:t>
            </a:r>
            <a:r>
              <a:rPr lang="ru-RU" sz="700" dirty="0" err="1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таргетированная</a:t>
            </a:r>
            <a:r>
              <a:rPr lang="ru-RU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 </a:t>
            </a:r>
            <a:r>
              <a:rPr lang="en-US" sz="700" dirty="0" err="1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реклама</a:t>
            </a:r>
            <a:r>
              <a:rPr lang="en-US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 </a:t>
            </a:r>
            <a:r>
              <a:rPr lang="en-US" sz="700" dirty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(</a:t>
            </a:r>
            <a:r>
              <a:rPr lang="en-US" sz="700" dirty="0" err="1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Яндекс.Директ</a:t>
            </a:r>
            <a:r>
              <a:rPr lang="en-US" sz="700" dirty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)</a:t>
            </a:r>
          </a:p>
          <a:p>
            <a:pPr>
              <a:lnSpc>
                <a:spcPts val="797"/>
              </a:lnSpc>
            </a:pPr>
            <a:endParaRPr lang="en-US" sz="700" dirty="0">
              <a:solidFill>
                <a:srgbClr val="5A6776"/>
              </a:solidFill>
              <a:ea typeface="Carlito" pitchFamily="34" charset="-122"/>
              <a:cs typeface="Carlito" pitchFamily="34" charset="-120"/>
            </a:endParaRPr>
          </a:p>
          <a:p>
            <a:pPr>
              <a:lnSpc>
                <a:spcPts val="797"/>
              </a:lnSpc>
            </a:pPr>
            <a:endParaRPr lang="en-US" sz="700" dirty="0"/>
          </a:p>
          <a:p>
            <a:pPr>
              <a:lnSpc>
                <a:spcPts val="797"/>
              </a:lnSpc>
            </a:pPr>
            <a:endParaRPr lang="en-US" sz="700" dirty="0">
              <a:solidFill>
                <a:srgbClr val="5A6776"/>
              </a:solidFill>
              <a:ea typeface="Carlito" pitchFamily="34" charset="-122"/>
              <a:cs typeface="Carlito" pitchFamily="34" charset="-120"/>
            </a:endParaRPr>
          </a:p>
          <a:p>
            <a:pPr marL="0" indent="0" algn="l">
              <a:lnSpc>
                <a:spcPts val="797"/>
              </a:lnSpc>
              <a:buNone/>
            </a:pPr>
            <a:endParaRPr lang="en-US" sz="700" dirty="0"/>
          </a:p>
        </p:txBody>
      </p:sp>
      <p:sp>
        <p:nvSpPr>
          <p:cNvPr id="155" name="Text 54"/>
          <p:cNvSpPr/>
          <p:nvPr/>
        </p:nvSpPr>
        <p:spPr>
          <a:xfrm>
            <a:off x="3806191" y="2744658"/>
            <a:ext cx="1505880" cy="102383"/>
          </a:xfrm>
          <a:prstGeom prst="rect">
            <a:avLst/>
          </a:prstGeom>
          <a:noFill/>
          <a:ln/>
        </p:spPr>
        <p:txBody>
          <a:bodyPr wrap="none" lIns="0" tIns="14288" rIns="0" bIns="14288" rtlCol="0" anchor="t">
            <a:noAutofit/>
          </a:bodyPr>
          <a:lstStyle/>
          <a:p>
            <a:pPr marL="0" indent="0" algn="l">
              <a:lnSpc>
                <a:spcPts val="797"/>
              </a:lnSpc>
              <a:buNone/>
            </a:pPr>
            <a:endParaRPr lang="en-US" sz="600" dirty="0"/>
          </a:p>
        </p:txBody>
      </p:sp>
      <p:sp>
        <p:nvSpPr>
          <p:cNvPr id="156" name="Text 55"/>
          <p:cNvSpPr/>
          <p:nvPr/>
        </p:nvSpPr>
        <p:spPr>
          <a:xfrm>
            <a:off x="3806191" y="2874473"/>
            <a:ext cx="1505880" cy="129815"/>
          </a:xfrm>
          <a:prstGeom prst="rect">
            <a:avLst/>
          </a:prstGeom>
          <a:noFill/>
          <a:ln/>
        </p:spPr>
        <p:txBody>
          <a:bodyPr wrap="none" lIns="0" tIns="14288" rIns="0" bIns="14288" rtlCol="0" anchor="t"/>
          <a:lstStyle/>
          <a:p>
            <a:pPr marL="0" indent="0" algn="l">
              <a:lnSpc>
                <a:spcPts val="797"/>
              </a:lnSpc>
              <a:buNone/>
            </a:pPr>
            <a:endParaRPr lang="en-US" sz="800" dirty="0"/>
          </a:p>
        </p:txBody>
      </p:sp>
      <p:sp>
        <p:nvSpPr>
          <p:cNvPr id="157" name="Text 56"/>
          <p:cNvSpPr/>
          <p:nvPr/>
        </p:nvSpPr>
        <p:spPr>
          <a:xfrm>
            <a:off x="5478475" y="1347714"/>
            <a:ext cx="1684474" cy="1162058"/>
          </a:xfrm>
          <a:prstGeom prst="roundRect">
            <a:avLst>
              <a:gd name="adj" fmla="val 7181"/>
            </a:avLst>
          </a:prstGeom>
          <a:solidFill>
            <a:srgbClr val="FFFFFF"/>
          </a:solidFill>
          <a:ln w="7144">
            <a:solidFill>
              <a:srgbClr val="D9D2C2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58" name="Text 57"/>
          <p:cNvSpPr/>
          <p:nvPr/>
        </p:nvSpPr>
        <p:spPr>
          <a:xfrm>
            <a:off x="5567774" y="1396800"/>
            <a:ext cx="1148581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28"/>
              </a:lnSpc>
              <a:buNone/>
            </a:pPr>
            <a:r>
              <a:rPr lang="en-US" sz="800" b="1" kern="0" spc="56" dirty="0">
                <a:solidFill>
                  <a:srgbClr val="8A95A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ПЛАН «Б»</a:t>
            </a:r>
            <a:endParaRPr lang="en-US" sz="800" dirty="0"/>
          </a:p>
        </p:txBody>
      </p:sp>
      <p:sp>
        <p:nvSpPr>
          <p:cNvPr id="161" name="Text 60"/>
          <p:cNvSpPr/>
          <p:nvPr/>
        </p:nvSpPr>
        <p:spPr>
          <a:xfrm>
            <a:off x="5567772" y="1620765"/>
            <a:ext cx="1505880" cy="10963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marL="0" indent="0" algn="l">
              <a:lnSpc>
                <a:spcPts val="742"/>
              </a:lnSpc>
              <a:buNone/>
            </a:pPr>
            <a:r>
              <a:rPr lang="en-US" sz="800" b="1" kern="0" spc="28" dirty="0">
                <a:solidFill>
                  <a:srgbClr val="2F3A4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УПРАВЛЕНИЕ РИСКАМИ</a:t>
            </a:r>
            <a:endParaRPr lang="en-US" sz="800" dirty="0"/>
          </a:p>
        </p:txBody>
      </p:sp>
      <p:sp>
        <p:nvSpPr>
          <p:cNvPr id="162" name="Text 61"/>
          <p:cNvSpPr/>
          <p:nvPr/>
        </p:nvSpPr>
        <p:spPr>
          <a:xfrm>
            <a:off x="5567774" y="1757836"/>
            <a:ext cx="1596233" cy="304864"/>
          </a:xfrm>
          <a:prstGeom prst="rect">
            <a:avLst/>
          </a:prstGeom>
          <a:noFill/>
          <a:ln/>
        </p:spPr>
        <p:txBody>
          <a:bodyPr wrap="square" lIns="0" tIns="14288" rIns="0" bIns="14288" rtlCol="0" anchor="t">
            <a:noAutofit/>
          </a:bodyPr>
          <a:lstStyle/>
          <a:p>
            <a:pPr marL="0" indent="0" algn="l">
              <a:lnSpc>
                <a:spcPts val="797"/>
              </a:lnSpc>
              <a:buNone/>
            </a:pPr>
            <a:r>
              <a:rPr lang="en-US" sz="700" dirty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5 инструментов: </a:t>
            </a:r>
            <a:endParaRPr lang="ru-RU" sz="700" dirty="0">
              <a:solidFill>
                <a:srgbClr val="5A6776"/>
              </a:solidFill>
              <a:ea typeface="Carlito" pitchFamily="34" charset="-122"/>
              <a:cs typeface="Carlito" pitchFamily="34" charset="-120"/>
            </a:endParaRPr>
          </a:p>
          <a:p>
            <a:pPr marL="0" indent="0" algn="l">
              <a:lnSpc>
                <a:spcPts val="797"/>
              </a:lnSpc>
              <a:buNone/>
            </a:pPr>
            <a:r>
              <a:rPr lang="en-US" sz="700" dirty="0" err="1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доп.обучение</a:t>
            </a:r>
            <a:r>
              <a:rPr lang="en-US" sz="700" dirty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, корректировка ассортимента, трейд-промо, мастер-классы, куратор</a:t>
            </a:r>
          </a:p>
        </p:txBody>
      </p:sp>
      <p:sp>
        <p:nvSpPr>
          <p:cNvPr id="163" name="Text 62"/>
          <p:cNvSpPr/>
          <p:nvPr/>
        </p:nvSpPr>
        <p:spPr>
          <a:xfrm>
            <a:off x="5507706" y="2257793"/>
            <a:ext cx="528300" cy="148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797"/>
              </a:lnSpc>
              <a:buNone/>
            </a:pPr>
            <a:r>
              <a:rPr lang="ru-RU" sz="800" dirty="0" smtClean="0">
                <a:solidFill>
                  <a:srgbClr val="8BAA8A"/>
                </a:solidFill>
                <a:ea typeface="Liberation Sans Narrow" pitchFamily="34" charset="-122"/>
                <a:cs typeface="Liberation Sans Narrow" pitchFamily="34" charset="-120"/>
              </a:rPr>
              <a:t> </a:t>
            </a:r>
            <a:r>
              <a:rPr lang="en-US" sz="800" dirty="0" smtClean="0">
                <a:solidFill>
                  <a:srgbClr val="8BAA8A"/>
                </a:solidFill>
                <a:ea typeface="Liberation Sans Narrow" pitchFamily="34" charset="-122"/>
                <a:cs typeface="Liberation Sans Narrow" pitchFamily="34" charset="-120"/>
              </a:rPr>
              <a:t>🟢70-85</a:t>
            </a:r>
            <a:r>
              <a:rPr lang="en-US" sz="800" dirty="0">
                <a:solidFill>
                  <a:srgbClr val="8BAA8A"/>
                </a:solidFill>
                <a:ea typeface="Liberation Sans Narrow" pitchFamily="34" charset="-122"/>
                <a:cs typeface="Liberation Sans Narrow" pitchFamily="34" charset="-120"/>
              </a:rPr>
              <a:t>%</a:t>
            </a:r>
            <a:endParaRPr lang="en-US" sz="800" dirty="0"/>
          </a:p>
        </p:txBody>
      </p:sp>
      <p:sp>
        <p:nvSpPr>
          <p:cNvPr id="164" name="Text 63"/>
          <p:cNvSpPr/>
          <p:nvPr/>
        </p:nvSpPr>
        <p:spPr>
          <a:xfrm>
            <a:off x="6083240" y="2259695"/>
            <a:ext cx="528300" cy="148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797"/>
              </a:lnSpc>
              <a:buNone/>
            </a:pPr>
            <a:r>
              <a:rPr lang="en-US" sz="800" dirty="0" smtClean="0">
                <a:solidFill>
                  <a:srgbClr val="C9A77C"/>
                </a:solidFill>
                <a:ea typeface="Liberation Sans Narrow" pitchFamily="34" charset="-122"/>
                <a:cs typeface="Liberation Sans Narrow" pitchFamily="34" charset="-120"/>
              </a:rPr>
              <a:t>🟡50-70</a:t>
            </a:r>
            <a:r>
              <a:rPr lang="en-US" sz="800" dirty="0">
                <a:solidFill>
                  <a:srgbClr val="C9A77C"/>
                </a:solidFill>
                <a:ea typeface="Liberation Sans Narrow" pitchFamily="34" charset="-122"/>
                <a:cs typeface="Liberation Sans Narrow" pitchFamily="34" charset="-120"/>
              </a:rPr>
              <a:t>%</a:t>
            </a:r>
            <a:endParaRPr lang="en-US" sz="800" dirty="0"/>
          </a:p>
        </p:txBody>
      </p:sp>
      <p:sp>
        <p:nvSpPr>
          <p:cNvPr id="165" name="Text 64"/>
          <p:cNvSpPr/>
          <p:nvPr/>
        </p:nvSpPr>
        <p:spPr>
          <a:xfrm>
            <a:off x="6697540" y="2261164"/>
            <a:ext cx="597061" cy="148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797"/>
              </a:lnSpc>
              <a:buNone/>
            </a:pPr>
            <a:r>
              <a:rPr lang="en-US" sz="800" dirty="0">
                <a:solidFill>
                  <a:srgbClr val="B5614A"/>
                </a:solidFill>
                <a:ea typeface="Segoe UI Symbol" pitchFamily="34" charset="-122"/>
                <a:cs typeface="Segoe UI Symbol" pitchFamily="34" charset="-120"/>
              </a:rPr>
              <a:t>🔴</a:t>
            </a:r>
            <a:r>
              <a:rPr lang="en-US" sz="800" dirty="0">
                <a:solidFill>
                  <a:srgbClr val="B5614A"/>
                </a:solidFill>
                <a:ea typeface="Carlito" pitchFamily="34" charset="-122"/>
                <a:cs typeface="Carlito" pitchFamily="34" charset="-120"/>
              </a:rPr>
              <a:t> &lt;</a:t>
            </a:r>
            <a:r>
              <a:rPr lang="en-US" sz="800" dirty="0">
                <a:solidFill>
                  <a:srgbClr val="B5614A"/>
                </a:solidFill>
                <a:ea typeface="Liberation Sans Narrow" pitchFamily="34" charset="-122"/>
                <a:cs typeface="Liberation Sans Narrow" pitchFamily="34" charset="-120"/>
              </a:rPr>
              <a:t>50%</a:t>
            </a:r>
            <a:endParaRPr lang="en-US" sz="800" dirty="0"/>
          </a:p>
        </p:txBody>
      </p:sp>
      <p:sp>
        <p:nvSpPr>
          <p:cNvPr id="166" name="Text 65"/>
          <p:cNvSpPr/>
          <p:nvPr/>
        </p:nvSpPr>
        <p:spPr>
          <a:xfrm>
            <a:off x="7227243" y="1347714"/>
            <a:ext cx="1684586" cy="1162058"/>
          </a:xfrm>
          <a:prstGeom prst="roundRect">
            <a:avLst>
              <a:gd name="adj" fmla="val 7181"/>
            </a:avLst>
          </a:prstGeom>
          <a:solidFill>
            <a:srgbClr val="FFFFFF"/>
          </a:solidFill>
          <a:ln w="7144">
            <a:solidFill>
              <a:srgbClr val="D9D2C2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67" name="Text 66"/>
          <p:cNvSpPr/>
          <p:nvPr/>
        </p:nvSpPr>
        <p:spPr>
          <a:xfrm>
            <a:off x="7316539" y="1396800"/>
            <a:ext cx="1202382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28"/>
              </a:lnSpc>
              <a:buNone/>
            </a:pPr>
            <a:r>
              <a:rPr lang="en-US" sz="800" b="1" kern="0" spc="56" dirty="0">
                <a:solidFill>
                  <a:srgbClr val="8A95A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ЭТАП 3</a:t>
            </a:r>
            <a:endParaRPr lang="en-US" sz="800" dirty="0"/>
          </a:p>
        </p:txBody>
      </p:sp>
      <p:sp>
        <p:nvSpPr>
          <p:cNvPr id="170" name="Text 69"/>
          <p:cNvSpPr/>
          <p:nvPr/>
        </p:nvSpPr>
        <p:spPr>
          <a:xfrm>
            <a:off x="7316539" y="1620765"/>
            <a:ext cx="1505992" cy="10963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marL="0" indent="0" algn="l">
              <a:lnSpc>
                <a:spcPts val="742"/>
              </a:lnSpc>
              <a:buNone/>
            </a:pPr>
            <a:r>
              <a:rPr lang="en-US" sz="800" b="1" kern="0" spc="28" dirty="0">
                <a:solidFill>
                  <a:srgbClr val="2F3A4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МАСШТАБИРОВАНИЕ</a:t>
            </a:r>
            <a:endParaRPr lang="en-US" sz="800" dirty="0"/>
          </a:p>
        </p:txBody>
      </p:sp>
      <p:sp>
        <p:nvSpPr>
          <p:cNvPr id="173" name="Text 72"/>
          <p:cNvSpPr/>
          <p:nvPr/>
        </p:nvSpPr>
        <p:spPr>
          <a:xfrm>
            <a:off x="7274794" y="1778456"/>
            <a:ext cx="1285875" cy="273504"/>
          </a:xfrm>
          <a:prstGeom prst="rect">
            <a:avLst/>
          </a:prstGeom>
          <a:noFill/>
          <a:ln/>
        </p:spPr>
        <p:txBody>
          <a:bodyPr wrap="none" lIns="0" tIns="14288" rIns="0" bIns="14288" rtlCol="0" anchor="t"/>
          <a:lstStyle/>
          <a:p>
            <a:pPr marL="0" indent="0" algn="l">
              <a:lnSpc>
                <a:spcPts val="797"/>
              </a:lnSpc>
              <a:buNone/>
            </a:pPr>
            <a:r>
              <a:rPr lang="en-US" sz="800" dirty="0">
                <a:solidFill>
                  <a:srgbClr val="5A6776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Цель: (DIY 650, СК 250, B2B 100)</a:t>
            </a:r>
            <a:endParaRPr lang="en-US" sz="800" dirty="0"/>
          </a:p>
        </p:txBody>
      </p:sp>
      <p:sp>
        <p:nvSpPr>
          <p:cNvPr id="182" name="Text 15"/>
          <p:cNvSpPr/>
          <p:nvPr/>
        </p:nvSpPr>
        <p:spPr>
          <a:xfrm>
            <a:off x="520921" y="466162"/>
            <a:ext cx="107156" cy="107156"/>
          </a:xfrm>
          <a:prstGeom prst="ellipse">
            <a:avLst/>
          </a:prstGeom>
          <a:solidFill>
            <a:srgbClr val="0A0A0A"/>
          </a:solidFill>
          <a:ln w="21431">
            <a:solidFill>
              <a:srgbClr val="2ECC71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83" name="Text 16"/>
          <p:cNvSpPr/>
          <p:nvPr/>
        </p:nvSpPr>
        <p:spPr>
          <a:xfrm>
            <a:off x="545924" y="491166"/>
            <a:ext cx="57150" cy="57150"/>
          </a:xfrm>
          <a:prstGeom prst="ellipse">
            <a:avLst/>
          </a:prstGeom>
          <a:solidFill>
            <a:srgbClr val="2ECC71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84" name="Text 17"/>
          <p:cNvSpPr/>
          <p:nvPr/>
        </p:nvSpPr>
        <p:spPr>
          <a:xfrm>
            <a:off x="860249" y="509025"/>
            <a:ext cx="1414463" cy="21431"/>
          </a:xfrm>
          <a:prstGeom prst="roundRect">
            <a:avLst>
              <a:gd name="adj" fmla="val 88890"/>
            </a:avLst>
          </a:prstGeom>
          <a:solidFill>
            <a:srgbClr val="2ECC71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85" name="Text 18"/>
          <p:cNvSpPr/>
          <p:nvPr/>
        </p:nvSpPr>
        <p:spPr>
          <a:xfrm>
            <a:off x="2506883" y="466162"/>
            <a:ext cx="107156" cy="107156"/>
          </a:xfrm>
          <a:prstGeom prst="ellipse">
            <a:avLst/>
          </a:prstGeom>
          <a:solidFill>
            <a:srgbClr val="0A0A0A"/>
          </a:solidFill>
          <a:ln w="21431">
            <a:solidFill>
              <a:srgbClr val="2ECC71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86" name="Text 19"/>
          <p:cNvSpPr/>
          <p:nvPr/>
        </p:nvSpPr>
        <p:spPr>
          <a:xfrm>
            <a:off x="2531887" y="491166"/>
            <a:ext cx="57150" cy="57150"/>
          </a:xfrm>
          <a:prstGeom prst="ellipse">
            <a:avLst/>
          </a:prstGeom>
          <a:solidFill>
            <a:srgbClr val="2ECC71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18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46212" y="509025"/>
            <a:ext cx="1414463" cy="21431"/>
          </a:xfrm>
          <a:prstGeom prst="rect">
            <a:avLst/>
          </a:prstGeom>
        </p:spPr>
      </p:pic>
      <p:sp>
        <p:nvSpPr>
          <p:cNvPr id="188" name="Text 20"/>
          <p:cNvSpPr/>
          <p:nvPr/>
        </p:nvSpPr>
        <p:spPr>
          <a:xfrm>
            <a:off x="4492846" y="466162"/>
            <a:ext cx="107156" cy="107156"/>
          </a:xfrm>
          <a:prstGeom prst="ellipse">
            <a:avLst/>
          </a:prstGeom>
          <a:solidFill>
            <a:srgbClr val="0A0A0A"/>
          </a:solidFill>
          <a:ln w="21431">
            <a:solidFill>
              <a:srgbClr val="FF8C00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89" name="Text 21"/>
          <p:cNvSpPr/>
          <p:nvPr/>
        </p:nvSpPr>
        <p:spPr>
          <a:xfrm>
            <a:off x="4517849" y="491166"/>
            <a:ext cx="57150" cy="57150"/>
          </a:xfrm>
          <a:prstGeom prst="ellipse">
            <a:avLst/>
          </a:prstGeom>
          <a:solidFill>
            <a:srgbClr val="FF8C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90" name="Text 22"/>
          <p:cNvSpPr/>
          <p:nvPr/>
        </p:nvSpPr>
        <p:spPr>
          <a:xfrm>
            <a:off x="4832174" y="509025"/>
            <a:ext cx="1414463" cy="21431"/>
          </a:xfrm>
          <a:prstGeom prst="roundRect">
            <a:avLst>
              <a:gd name="adj" fmla="val 88890"/>
            </a:avLst>
          </a:prstGeom>
          <a:solidFill>
            <a:srgbClr val="222222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91" name="Text 23"/>
          <p:cNvSpPr/>
          <p:nvPr/>
        </p:nvSpPr>
        <p:spPr>
          <a:xfrm>
            <a:off x="6478808" y="466162"/>
            <a:ext cx="107156" cy="107156"/>
          </a:xfrm>
          <a:prstGeom prst="ellipse">
            <a:avLst/>
          </a:prstGeom>
          <a:solidFill>
            <a:srgbClr val="0A0A0A"/>
          </a:solidFill>
          <a:ln w="21431">
            <a:solidFill>
              <a:srgbClr val="888888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92" name="Text 24"/>
          <p:cNvSpPr/>
          <p:nvPr/>
        </p:nvSpPr>
        <p:spPr>
          <a:xfrm>
            <a:off x="6503812" y="491166"/>
            <a:ext cx="57150" cy="57150"/>
          </a:xfrm>
          <a:prstGeom prst="ellipse">
            <a:avLst/>
          </a:prstGeom>
          <a:solidFill>
            <a:srgbClr val="0A0A0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93" name="Text 25"/>
          <p:cNvSpPr/>
          <p:nvPr/>
        </p:nvSpPr>
        <p:spPr>
          <a:xfrm>
            <a:off x="6818137" y="509025"/>
            <a:ext cx="1414463" cy="21431"/>
          </a:xfrm>
          <a:prstGeom prst="roundRect">
            <a:avLst>
              <a:gd name="adj" fmla="val 88890"/>
            </a:avLst>
          </a:prstGeom>
          <a:solidFill>
            <a:srgbClr val="222222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94" name="Text 26"/>
          <p:cNvSpPr/>
          <p:nvPr/>
        </p:nvSpPr>
        <p:spPr>
          <a:xfrm>
            <a:off x="8464771" y="466162"/>
            <a:ext cx="107156" cy="107156"/>
          </a:xfrm>
          <a:prstGeom prst="ellipse">
            <a:avLst/>
          </a:prstGeom>
          <a:solidFill>
            <a:srgbClr val="0A0A0A"/>
          </a:solidFill>
          <a:ln w="21431">
            <a:solidFill>
              <a:srgbClr val="888888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95" name="Text 27"/>
          <p:cNvSpPr/>
          <p:nvPr/>
        </p:nvSpPr>
        <p:spPr>
          <a:xfrm>
            <a:off x="8489774" y="491166"/>
            <a:ext cx="57150" cy="57150"/>
          </a:xfrm>
          <a:prstGeom prst="ellipse">
            <a:avLst/>
          </a:prstGeom>
          <a:solidFill>
            <a:srgbClr val="0A0A0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96" name="Text 30"/>
          <p:cNvSpPr/>
          <p:nvPr/>
        </p:nvSpPr>
        <p:spPr>
          <a:xfrm>
            <a:off x="1455807" y="1364395"/>
            <a:ext cx="394640" cy="148652"/>
          </a:xfrm>
          <a:prstGeom prst="roundRect">
            <a:avLst>
              <a:gd name="adj" fmla="val 68027"/>
            </a:avLst>
          </a:prstGeom>
          <a:solidFill>
            <a:srgbClr val="2ECC71">
              <a:alpha val="15000"/>
            </a:srgbClr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97" name="Text 31"/>
          <p:cNvSpPr/>
          <p:nvPr/>
        </p:nvSpPr>
        <p:spPr>
          <a:xfrm>
            <a:off x="1420413" y="1382092"/>
            <a:ext cx="449225" cy="1250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ts val="759"/>
              </a:lnSpc>
              <a:buNone/>
            </a:pPr>
            <a:r>
              <a:rPr lang="en-US" sz="800" b="1" kern="0" spc="28" dirty="0">
                <a:solidFill>
                  <a:srgbClr val="2ECC71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DONE</a:t>
            </a:r>
            <a:endParaRPr lang="en-US" sz="800" dirty="0"/>
          </a:p>
        </p:txBody>
      </p:sp>
      <p:sp>
        <p:nvSpPr>
          <p:cNvPr id="198" name="Text 30"/>
          <p:cNvSpPr/>
          <p:nvPr/>
        </p:nvSpPr>
        <p:spPr>
          <a:xfrm>
            <a:off x="3199263" y="1382621"/>
            <a:ext cx="394640" cy="148652"/>
          </a:xfrm>
          <a:prstGeom prst="roundRect">
            <a:avLst>
              <a:gd name="adj" fmla="val 68027"/>
            </a:avLst>
          </a:prstGeom>
          <a:solidFill>
            <a:srgbClr val="2ECC71">
              <a:alpha val="15000"/>
            </a:srgbClr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99" name="Text 31"/>
          <p:cNvSpPr/>
          <p:nvPr/>
        </p:nvSpPr>
        <p:spPr>
          <a:xfrm>
            <a:off x="3163869" y="1400318"/>
            <a:ext cx="449225" cy="1250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ts val="759"/>
              </a:lnSpc>
              <a:buNone/>
            </a:pPr>
            <a:r>
              <a:rPr lang="en-US" sz="800" b="1" kern="0" spc="28" dirty="0">
                <a:solidFill>
                  <a:srgbClr val="2ECC71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DONE</a:t>
            </a:r>
            <a:endParaRPr lang="en-US" sz="800" dirty="0"/>
          </a:p>
        </p:txBody>
      </p:sp>
      <p:sp>
        <p:nvSpPr>
          <p:cNvPr id="200" name="Text 49"/>
          <p:cNvSpPr/>
          <p:nvPr/>
        </p:nvSpPr>
        <p:spPr>
          <a:xfrm>
            <a:off x="4507767" y="1976980"/>
            <a:ext cx="850423" cy="169513"/>
          </a:xfrm>
          <a:prstGeom prst="roundRect">
            <a:avLst>
              <a:gd name="adj" fmla="val 68027"/>
            </a:avLst>
          </a:prstGeom>
          <a:solidFill>
            <a:srgbClr val="FF8C00">
              <a:alpha val="15000"/>
            </a:srgbClr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01" name="Text 50"/>
          <p:cNvSpPr/>
          <p:nvPr/>
        </p:nvSpPr>
        <p:spPr>
          <a:xfrm>
            <a:off x="4501117" y="1994677"/>
            <a:ext cx="894727" cy="1325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ts val="759"/>
              </a:lnSpc>
              <a:buNone/>
            </a:pPr>
            <a:r>
              <a:rPr lang="en-US" sz="800" b="1" kern="0" spc="28" dirty="0">
                <a:solidFill>
                  <a:srgbClr val="FF8C00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IN PROGRESS</a:t>
            </a:r>
            <a:endParaRPr lang="en-US" sz="800" dirty="0"/>
          </a:p>
        </p:txBody>
      </p:sp>
      <p:sp>
        <p:nvSpPr>
          <p:cNvPr id="202" name="Text 58"/>
          <p:cNvSpPr/>
          <p:nvPr/>
        </p:nvSpPr>
        <p:spPr>
          <a:xfrm>
            <a:off x="6635136" y="1391627"/>
            <a:ext cx="475833" cy="128220"/>
          </a:xfrm>
          <a:prstGeom prst="roundRect">
            <a:avLst>
              <a:gd name="adj" fmla="val 68027"/>
            </a:avLst>
          </a:prstGeom>
          <a:solidFill>
            <a:srgbClr val="888888">
              <a:alpha val="15000"/>
            </a:srgbClr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03" name="Text 59"/>
          <p:cNvSpPr/>
          <p:nvPr/>
        </p:nvSpPr>
        <p:spPr>
          <a:xfrm>
            <a:off x="6654968" y="1387330"/>
            <a:ext cx="519215" cy="1325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ts val="759"/>
              </a:lnSpc>
              <a:buNone/>
            </a:pPr>
            <a:r>
              <a:rPr lang="en-US" sz="800" b="1" kern="0" spc="28" dirty="0">
                <a:solidFill>
                  <a:srgbClr val="88888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READY</a:t>
            </a:r>
            <a:endParaRPr lang="en-US" sz="800" dirty="0"/>
          </a:p>
        </p:txBody>
      </p:sp>
      <p:sp>
        <p:nvSpPr>
          <p:cNvPr id="204" name="Text 67"/>
          <p:cNvSpPr/>
          <p:nvPr/>
        </p:nvSpPr>
        <p:spPr>
          <a:xfrm>
            <a:off x="8465573" y="1377095"/>
            <a:ext cx="392128" cy="166348"/>
          </a:xfrm>
          <a:prstGeom prst="roundRect">
            <a:avLst>
              <a:gd name="adj" fmla="val 68027"/>
            </a:avLst>
          </a:prstGeom>
          <a:solidFill>
            <a:srgbClr val="888888">
              <a:alpha val="15000"/>
            </a:srgbClr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05" name="Text 68"/>
          <p:cNvSpPr/>
          <p:nvPr/>
        </p:nvSpPr>
        <p:spPr>
          <a:xfrm>
            <a:off x="8511429" y="1399128"/>
            <a:ext cx="332882" cy="1250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ts val="759"/>
              </a:lnSpc>
              <a:buNone/>
            </a:pPr>
            <a:r>
              <a:rPr lang="en-US" sz="800" b="1" kern="0" spc="28" dirty="0">
                <a:solidFill>
                  <a:srgbClr val="88888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PLAN</a:t>
            </a:r>
            <a:endParaRPr lang="en-US" sz="800" dirty="0"/>
          </a:p>
        </p:txBody>
      </p:sp>
      <p:sp>
        <p:nvSpPr>
          <p:cNvPr id="206" name="Text 7"/>
          <p:cNvSpPr/>
          <p:nvPr/>
        </p:nvSpPr>
        <p:spPr>
          <a:xfrm>
            <a:off x="7743141" y="257175"/>
            <a:ext cx="57150" cy="57150"/>
          </a:xfrm>
          <a:prstGeom prst="roundRect">
            <a:avLst>
              <a:gd name="adj" fmla="val 166650000"/>
            </a:avLst>
          </a:prstGeom>
          <a:solidFill>
            <a:srgbClr val="2ECC71">
              <a:alpha val="79000"/>
            </a:srgbClr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07" name="Rectangle 2"/>
          <p:cNvSpPr/>
          <p:nvPr/>
        </p:nvSpPr>
        <p:spPr>
          <a:xfrm>
            <a:off x="1021010" y="154607"/>
            <a:ext cx="28000" cy="25000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4" name="Text 47"/>
          <p:cNvSpPr/>
          <p:nvPr/>
        </p:nvSpPr>
        <p:spPr>
          <a:xfrm>
            <a:off x="3722418" y="654341"/>
            <a:ext cx="1684474" cy="1162058"/>
          </a:xfrm>
          <a:prstGeom prst="roundRect">
            <a:avLst>
              <a:gd name="adj" fmla="val 7181"/>
            </a:avLst>
          </a:prstGeom>
          <a:solidFill>
            <a:srgbClr val="FFFFFF"/>
          </a:solidFill>
          <a:ln w="7144">
            <a:solidFill>
              <a:srgbClr val="D4A574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15" name="Text 48"/>
          <p:cNvSpPr/>
          <p:nvPr/>
        </p:nvSpPr>
        <p:spPr>
          <a:xfrm>
            <a:off x="3811715" y="703427"/>
            <a:ext cx="905694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28"/>
              </a:lnSpc>
              <a:buNone/>
            </a:pPr>
            <a:r>
              <a:rPr lang="en-US" sz="800" b="1" kern="0" spc="56" dirty="0">
                <a:solidFill>
                  <a:srgbClr val="D4A5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ЭТАП 2</a:t>
            </a:r>
            <a:endParaRPr lang="en-US" sz="800" dirty="0"/>
          </a:p>
        </p:txBody>
      </p:sp>
      <p:sp>
        <p:nvSpPr>
          <p:cNvPr id="116" name="Text 51"/>
          <p:cNvSpPr/>
          <p:nvPr/>
        </p:nvSpPr>
        <p:spPr>
          <a:xfrm>
            <a:off x="3811715" y="889292"/>
            <a:ext cx="1505880" cy="10963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marL="0" indent="0" algn="l">
              <a:lnSpc>
                <a:spcPts val="742"/>
              </a:lnSpc>
              <a:buNone/>
            </a:pPr>
            <a:r>
              <a:rPr lang="ru-RU" sz="800" b="1" kern="0" spc="28" dirty="0" smtClean="0">
                <a:solidFill>
                  <a:srgbClr val="2F3A4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РТТ </a:t>
            </a:r>
            <a:r>
              <a:rPr lang="en-US" sz="800" b="1" kern="0" spc="28" dirty="0" smtClean="0">
                <a:solidFill>
                  <a:srgbClr val="2F3A4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ПРОДВИЖЕНИЕ</a:t>
            </a:r>
            <a:endParaRPr lang="en-US" sz="800" dirty="0"/>
          </a:p>
        </p:txBody>
      </p:sp>
      <p:sp>
        <p:nvSpPr>
          <p:cNvPr id="117" name="Text 52"/>
          <p:cNvSpPr/>
          <p:nvPr/>
        </p:nvSpPr>
        <p:spPr>
          <a:xfrm>
            <a:off x="3766858" y="1013434"/>
            <a:ext cx="1626351" cy="722943"/>
          </a:xfrm>
          <a:prstGeom prst="rect">
            <a:avLst/>
          </a:prstGeom>
          <a:noFill/>
          <a:ln/>
        </p:spPr>
        <p:txBody>
          <a:bodyPr wrap="square" lIns="0" tIns="14288" rIns="0" bIns="14288" rtlCol="0" anchor="t">
            <a:noAutofit/>
          </a:bodyPr>
          <a:lstStyle/>
          <a:p>
            <a:pPr>
              <a:lnSpc>
                <a:spcPts val="797"/>
              </a:lnSpc>
            </a:pPr>
            <a:r>
              <a:rPr lang="ru-RU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1. </a:t>
            </a:r>
            <a:r>
              <a:rPr lang="ru-RU" sz="700" dirty="0" err="1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Брендированные</a:t>
            </a:r>
            <a:r>
              <a:rPr lang="ru-RU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 зоны </a:t>
            </a:r>
            <a:r>
              <a:rPr lang="en-US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TITAN</a:t>
            </a:r>
            <a:r>
              <a:rPr lang="ru-RU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 в РТТ Палитра, </a:t>
            </a:r>
            <a:r>
              <a:rPr lang="ru-RU" sz="700" dirty="0" err="1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Брозекс</a:t>
            </a:r>
            <a:r>
              <a:rPr lang="ru-RU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, И.П. Рыгалов. – </a:t>
            </a:r>
            <a:r>
              <a:rPr lang="en-US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 </a:t>
            </a:r>
            <a:r>
              <a:rPr lang="ru-RU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(февраль – май 2027)</a:t>
            </a:r>
            <a:r>
              <a:rPr lang="ru-RU" sz="700" dirty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/>
            </a:r>
            <a:br>
              <a:rPr lang="ru-RU" sz="700" dirty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</a:br>
            <a:r>
              <a:rPr lang="ru-RU" sz="700" dirty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2. Специализированные </a:t>
            </a:r>
            <a:r>
              <a:rPr lang="ru-RU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стойки для размещения в РТТ</a:t>
            </a:r>
          </a:p>
          <a:p>
            <a:pPr>
              <a:lnSpc>
                <a:spcPts val="797"/>
              </a:lnSpc>
            </a:pPr>
            <a:r>
              <a:rPr lang="ru-RU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3. Трейд – маркетинговая поддержка</a:t>
            </a:r>
            <a:endParaRPr lang="en-US" sz="700" dirty="0">
              <a:solidFill>
                <a:srgbClr val="5A6776"/>
              </a:solidFill>
              <a:ea typeface="Carlito" pitchFamily="34" charset="-122"/>
              <a:cs typeface="Carlito" pitchFamily="34" charset="-120"/>
            </a:endParaRPr>
          </a:p>
          <a:p>
            <a:pPr>
              <a:lnSpc>
                <a:spcPts val="797"/>
              </a:lnSpc>
            </a:pPr>
            <a:endParaRPr lang="en-US" sz="700" dirty="0">
              <a:solidFill>
                <a:srgbClr val="5A6776"/>
              </a:solidFill>
              <a:ea typeface="Carlito" pitchFamily="34" charset="-122"/>
              <a:cs typeface="Carlito" pitchFamily="34" charset="-120"/>
            </a:endParaRPr>
          </a:p>
          <a:p>
            <a:pPr>
              <a:lnSpc>
                <a:spcPts val="797"/>
              </a:lnSpc>
            </a:pPr>
            <a:endParaRPr lang="en-US" sz="700" dirty="0"/>
          </a:p>
          <a:p>
            <a:pPr>
              <a:lnSpc>
                <a:spcPts val="797"/>
              </a:lnSpc>
            </a:pPr>
            <a:endParaRPr lang="en-US" sz="700" dirty="0">
              <a:solidFill>
                <a:srgbClr val="5A6776"/>
              </a:solidFill>
              <a:ea typeface="Carlito" pitchFamily="34" charset="-122"/>
              <a:cs typeface="Carlito" pitchFamily="34" charset="-120"/>
            </a:endParaRPr>
          </a:p>
          <a:p>
            <a:pPr marL="0" indent="0" algn="l">
              <a:lnSpc>
                <a:spcPts val="797"/>
              </a:lnSpc>
              <a:buNone/>
            </a:pPr>
            <a:endParaRPr lang="en-US" sz="700" dirty="0"/>
          </a:p>
        </p:txBody>
      </p:sp>
      <p:sp>
        <p:nvSpPr>
          <p:cNvPr id="118" name="Text 54"/>
          <p:cNvSpPr/>
          <p:nvPr/>
        </p:nvSpPr>
        <p:spPr>
          <a:xfrm>
            <a:off x="3811715" y="1425334"/>
            <a:ext cx="1505880" cy="102383"/>
          </a:xfrm>
          <a:prstGeom prst="rect">
            <a:avLst/>
          </a:prstGeom>
          <a:noFill/>
          <a:ln/>
        </p:spPr>
        <p:txBody>
          <a:bodyPr wrap="none" lIns="0" tIns="14288" rIns="0" bIns="14288" rtlCol="0" anchor="t">
            <a:noAutofit/>
          </a:bodyPr>
          <a:lstStyle/>
          <a:p>
            <a:pPr marL="0" indent="0" algn="l">
              <a:lnSpc>
                <a:spcPts val="797"/>
              </a:lnSpc>
              <a:buNone/>
            </a:pPr>
            <a:endParaRPr lang="en-US" sz="600" dirty="0"/>
          </a:p>
        </p:txBody>
      </p:sp>
      <p:sp>
        <p:nvSpPr>
          <p:cNvPr id="119" name="Text 55"/>
          <p:cNvSpPr/>
          <p:nvPr/>
        </p:nvSpPr>
        <p:spPr>
          <a:xfrm>
            <a:off x="3811715" y="1555149"/>
            <a:ext cx="1505880" cy="129815"/>
          </a:xfrm>
          <a:prstGeom prst="rect">
            <a:avLst/>
          </a:prstGeom>
          <a:noFill/>
          <a:ln/>
        </p:spPr>
        <p:txBody>
          <a:bodyPr wrap="none" lIns="0" tIns="14288" rIns="0" bIns="14288" rtlCol="0" anchor="t"/>
          <a:lstStyle/>
          <a:p>
            <a:pPr marL="0" indent="0" algn="l">
              <a:lnSpc>
                <a:spcPts val="797"/>
              </a:lnSpc>
              <a:buNone/>
            </a:pPr>
            <a:endParaRPr lang="en-US" sz="800" dirty="0"/>
          </a:p>
        </p:txBody>
      </p:sp>
      <p:sp>
        <p:nvSpPr>
          <p:cNvPr id="120" name="Text 49"/>
          <p:cNvSpPr/>
          <p:nvPr/>
        </p:nvSpPr>
        <p:spPr>
          <a:xfrm>
            <a:off x="4513291" y="686456"/>
            <a:ext cx="850423" cy="169513"/>
          </a:xfrm>
          <a:prstGeom prst="roundRect">
            <a:avLst>
              <a:gd name="adj" fmla="val 68027"/>
            </a:avLst>
          </a:prstGeom>
          <a:solidFill>
            <a:srgbClr val="FF8C00">
              <a:alpha val="15000"/>
            </a:srgbClr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21" name="Text 50"/>
          <p:cNvSpPr/>
          <p:nvPr/>
        </p:nvSpPr>
        <p:spPr>
          <a:xfrm>
            <a:off x="4506641" y="704153"/>
            <a:ext cx="894727" cy="1325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ts val="759"/>
              </a:lnSpc>
              <a:buNone/>
            </a:pPr>
            <a:r>
              <a:rPr lang="en-US" sz="800" b="1" kern="0" spc="28" dirty="0">
                <a:solidFill>
                  <a:srgbClr val="FF8C00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IN PROGRESS</a:t>
            </a:r>
            <a:endParaRPr lang="en-US" sz="800" dirty="0"/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9998" y="2668158"/>
            <a:ext cx="3197920" cy="235898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2051" name="Picture 3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87495" y="2673449"/>
            <a:ext cx="2950907" cy="235369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6" name="Тройная стрелка влево/вправо/вверх 5"/>
          <p:cNvSpPr/>
          <p:nvPr/>
        </p:nvSpPr>
        <p:spPr>
          <a:xfrm>
            <a:off x="3701745" y="3458850"/>
            <a:ext cx="1756575" cy="676800"/>
          </a:xfrm>
          <a:prstGeom prst="leftRightUpArrow">
            <a:avLst/>
          </a:prstGeom>
          <a:solidFill>
            <a:schemeClr val="bg1">
              <a:lumMod val="75000"/>
            </a:schemeClr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" name="TextBox 8"/>
          <p:cNvSpPr txBox="1"/>
          <p:nvPr/>
        </p:nvSpPr>
        <p:spPr>
          <a:xfrm>
            <a:off x="3547591" y="4332700"/>
            <a:ext cx="204055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b="1" kern="0" spc="28" dirty="0">
                <a:solidFill>
                  <a:srgbClr val="2F3A4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Влияние на новых дилеров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2"/>
          <p:cNvSpPr/>
          <p:nvPr/>
        </p:nvSpPr>
        <p:spPr>
          <a:xfrm>
            <a:off x="181210" y="615994"/>
            <a:ext cx="3438289" cy="3352709"/>
          </a:xfrm>
          <a:prstGeom prst="roundRect">
            <a:avLst>
              <a:gd name="adj" fmla="val 3364"/>
            </a:avLst>
          </a:prstGeom>
          <a:solidFill>
            <a:srgbClr val="FFFFFF"/>
          </a:solidFill>
          <a:ln w="7144">
            <a:solidFill>
              <a:srgbClr val="D9D2C2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sz="2000" dirty="0"/>
          </a:p>
        </p:txBody>
      </p:sp>
      <p:sp>
        <p:nvSpPr>
          <p:cNvPr id="3" name="Shape 33"/>
          <p:cNvSpPr/>
          <p:nvPr/>
        </p:nvSpPr>
        <p:spPr>
          <a:xfrm>
            <a:off x="270508" y="1660171"/>
            <a:ext cx="3221404" cy="0"/>
          </a:xfrm>
          <a:prstGeom prst="line">
            <a:avLst/>
          </a:prstGeom>
          <a:noFill/>
          <a:ln w="7144">
            <a:solidFill>
              <a:srgbClr val="D9D2C2"/>
            </a:solidFill>
            <a:prstDash val="solid"/>
          </a:ln>
        </p:spPr>
        <p:txBody>
          <a:bodyPr/>
          <a:p/>
        </p:txBody>
      </p:sp>
      <p:sp>
        <p:nvSpPr>
          <p:cNvPr id="4" name="Text 34"/>
          <p:cNvSpPr/>
          <p:nvPr/>
        </p:nvSpPr>
        <p:spPr>
          <a:xfrm>
            <a:off x="276901" y="870000"/>
            <a:ext cx="51771" cy="129765"/>
          </a:xfrm>
          <a:prstGeom prst="roundRect">
            <a:avLst>
              <a:gd name="adj" fmla="val 88890"/>
            </a:avLst>
          </a:prstGeom>
          <a:solidFill>
            <a:srgbClr val="B5614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2000" dirty="0"/>
          </a:p>
        </p:txBody>
      </p:sp>
      <p:sp>
        <p:nvSpPr>
          <p:cNvPr id="5" name="Text 35"/>
          <p:cNvSpPr/>
          <p:nvPr/>
        </p:nvSpPr>
        <p:spPr>
          <a:xfrm>
            <a:off x="355479" y="881395"/>
            <a:ext cx="156157" cy="145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B5614A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🛒</a:t>
            </a:r>
            <a:endParaRPr lang="en-US" sz="1400" dirty="0"/>
          </a:p>
        </p:txBody>
      </p:sp>
      <p:sp>
        <p:nvSpPr>
          <p:cNvPr id="6" name="Text 36"/>
          <p:cNvSpPr/>
          <p:nvPr/>
        </p:nvSpPr>
        <p:spPr>
          <a:xfrm>
            <a:off x="541217" y="874589"/>
            <a:ext cx="2900418" cy="1581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097"/>
              </a:lnSpc>
              <a:buNone/>
            </a:pPr>
            <a:r>
              <a:rPr lang="en-US" sz="1050" b="1" kern="0" spc="84" dirty="0">
                <a:latin typeface="Carlito" pitchFamily="34" charset="0"/>
                <a:ea typeface="Carlito" pitchFamily="34" charset="-122"/>
                <a:cs typeface="Carlito" pitchFamily="34" charset="-120"/>
              </a:rPr>
              <a:t>СЕТЕВОЙ </a:t>
            </a:r>
            <a:r>
              <a:rPr lang="en-US" sz="1050" b="1" kern="0" spc="84" dirty="0" smtClean="0">
                <a:latin typeface="Carlito" pitchFamily="34" charset="0"/>
                <a:ea typeface="Carlito" pitchFamily="34" charset="-122"/>
                <a:cs typeface="Carlito" pitchFamily="34" charset="-120"/>
              </a:rPr>
              <a:t>КАНАЛ</a:t>
            </a:r>
            <a:r>
              <a:rPr lang="ru-RU" sz="1050" b="1" kern="0" spc="84" dirty="0" smtClean="0">
                <a:latin typeface="Carlito" pitchFamily="34" charset="0"/>
                <a:ea typeface="Carlito" pitchFamily="34" charset="-122"/>
                <a:cs typeface="Carlito" pitchFamily="34" charset="-120"/>
              </a:rPr>
              <a:t> – </a:t>
            </a:r>
            <a:r>
              <a:rPr lang="ru-RU" sz="1050" b="1" kern="0" spc="84" dirty="0" err="1" smtClean="0">
                <a:latin typeface="Carlito" pitchFamily="34" charset="0"/>
                <a:ea typeface="Carlito" pitchFamily="34" charset="-122"/>
                <a:cs typeface="Carlito" pitchFamily="34" charset="-120"/>
              </a:rPr>
              <a:t>Лемана</a:t>
            </a:r>
            <a:r>
              <a:rPr lang="ru-RU" sz="1050" b="1" kern="0" spc="84" dirty="0" smtClean="0">
                <a:latin typeface="Carlito" pitchFamily="34" charset="0"/>
                <a:ea typeface="Carlito" pitchFamily="34" charset="-122"/>
                <a:cs typeface="Carlito" pitchFamily="34" charset="-120"/>
              </a:rPr>
              <a:t> Про</a:t>
            </a:r>
            <a:endParaRPr lang="en-US" sz="1050" dirty="0"/>
          </a:p>
        </p:txBody>
      </p:sp>
      <p:sp>
        <p:nvSpPr>
          <p:cNvPr id="7" name="Text 37"/>
          <p:cNvSpPr/>
          <p:nvPr/>
        </p:nvSpPr>
        <p:spPr>
          <a:xfrm>
            <a:off x="257717" y="1732201"/>
            <a:ext cx="111044" cy="1038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🏪</a:t>
            </a:r>
            <a:endParaRPr lang="en-US" sz="900" dirty="0"/>
          </a:p>
        </p:txBody>
      </p:sp>
      <p:sp>
        <p:nvSpPr>
          <p:cNvPr id="8" name="Text 38"/>
          <p:cNvSpPr/>
          <p:nvPr/>
        </p:nvSpPr>
        <p:spPr>
          <a:xfrm>
            <a:off x="399091" y="1728084"/>
            <a:ext cx="3065249" cy="1794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835"/>
              </a:lnSpc>
              <a:buNone/>
            </a:pPr>
            <a:r>
              <a:rPr lang="en-US" sz="900" dirty="0">
                <a:latin typeface="+mj-lt"/>
                <a:ea typeface="Carlito" pitchFamily="34" charset="-122"/>
                <a:cs typeface="Carlito" pitchFamily="34" charset="-120"/>
              </a:rPr>
              <a:t>Лемана Про: </a:t>
            </a:r>
            <a:r>
              <a:rPr lang="en-US" sz="900" b="1" dirty="0">
                <a:latin typeface="+mj-lt"/>
                <a:ea typeface="Courier New" pitchFamily="34" charset="-122"/>
                <a:cs typeface="Courier New" pitchFamily="34" charset="-120"/>
              </a:rPr>
              <a:t>11 ТТ</a:t>
            </a:r>
            <a:r>
              <a:rPr lang="en-US" sz="900" dirty="0">
                <a:latin typeface="+mj-lt"/>
                <a:ea typeface="Carlito" pitchFamily="34" charset="-122"/>
                <a:cs typeface="Carlito" pitchFamily="34" charset="-120"/>
              </a:rPr>
              <a:t> в ЮФО</a:t>
            </a:r>
            <a:endParaRPr lang="en-US" sz="900" dirty="0">
              <a:latin typeface="+mj-lt"/>
            </a:endParaRPr>
          </a:p>
        </p:txBody>
      </p:sp>
      <p:sp>
        <p:nvSpPr>
          <p:cNvPr id="9" name="Text 39"/>
          <p:cNvSpPr/>
          <p:nvPr/>
        </p:nvSpPr>
        <p:spPr>
          <a:xfrm>
            <a:off x="257717" y="1902535"/>
            <a:ext cx="111044" cy="1038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▭</a:t>
            </a:r>
            <a:endParaRPr lang="en-US" sz="900" dirty="0"/>
          </a:p>
        </p:txBody>
      </p:sp>
      <p:sp>
        <p:nvSpPr>
          <p:cNvPr id="10" name="Text 40"/>
          <p:cNvSpPr/>
          <p:nvPr/>
        </p:nvSpPr>
        <p:spPr>
          <a:xfrm>
            <a:off x="399092" y="1904357"/>
            <a:ext cx="1215824" cy="1359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835"/>
              </a:lnSpc>
              <a:buNone/>
            </a:pPr>
            <a:r>
              <a:rPr lang="en-US" sz="900" dirty="0">
                <a:latin typeface="+mj-lt"/>
                <a:ea typeface="Carlito" pitchFamily="34" charset="-122"/>
                <a:cs typeface="Carlito" pitchFamily="34" charset="-120"/>
              </a:rPr>
              <a:t>РК на экранах </a:t>
            </a:r>
            <a:r>
              <a:rPr lang="en-US" sz="900" dirty="0" err="1">
                <a:latin typeface="+mj-lt"/>
                <a:ea typeface="Carlito" pitchFamily="34" charset="-122"/>
                <a:cs typeface="Carlito" pitchFamily="34" charset="-120"/>
              </a:rPr>
              <a:t>Ростова</a:t>
            </a:r>
            <a:r>
              <a:rPr lang="en-US" sz="900" dirty="0" smtClean="0">
                <a:latin typeface="+mj-lt"/>
                <a:ea typeface="Carlito" pitchFamily="34" charset="-122"/>
                <a:cs typeface="Carlito" pitchFamily="34" charset="-120"/>
              </a:rPr>
              <a:t>:</a:t>
            </a:r>
            <a:r>
              <a:rPr lang="ru-RU" sz="900" dirty="0" smtClean="0">
                <a:latin typeface="+mj-lt"/>
                <a:ea typeface="Carlito" pitchFamily="34" charset="-122"/>
                <a:cs typeface="Carlito" pitchFamily="34" charset="-120"/>
              </a:rPr>
              <a:t> </a:t>
            </a:r>
            <a:r>
              <a:rPr lang="ru-RU" sz="900" b="1" dirty="0" smtClean="0">
                <a:latin typeface="+mj-lt"/>
                <a:ea typeface="Carlito" pitchFamily="34" charset="-122"/>
                <a:cs typeface="Carlito" pitchFamily="34" charset="-120"/>
              </a:rPr>
              <a:t>6 экранов</a:t>
            </a:r>
            <a:endParaRPr lang="en-US" sz="900" b="1" dirty="0">
              <a:latin typeface="+mj-lt"/>
            </a:endParaRPr>
          </a:p>
        </p:txBody>
      </p:sp>
      <p:sp>
        <p:nvSpPr>
          <p:cNvPr id="12" name="Text 42"/>
          <p:cNvSpPr/>
          <p:nvPr/>
        </p:nvSpPr>
        <p:spPr>
          <a:xfrm>
            <a:off x="257717" y="2079262"/>
            <a:ext cx="111044" cy="1038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☞</a:t>
            </a:r>
            <a:endParaRPr lang="en-US" sz="900" dirty="0"/>
          </a:p>
        </p:txBody>
      </p:sp>
      <p:sp>
        <p:nvSpPr>
          <p:cNvPr id="13" name="Text 43"/>
          <p:cNvSpPr/>
          <p:nvPr/>
        </p:nvSpPr>
        <p:spPr>
          <a:xfrm>
            <a:off x="399091" y="2081540"/>
            <a:ext cx="3065249" cy="1794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835"/>
              </a:lnSpc>
              <a:buNone/>
            </a:pPr>
            <a:r>
              <a:rPr lang="en-US" sz="900" dirty="0">
                <a:latin typeface="+mj-lt"/>
                <a:ea typeface="Carlito" pitchFamily="34" charset="-122"/>
                <a:cs typeface="Carlito" pitchFamily="34" charset="-120"/>
              </a:rPr>
              <a:t>Таргет ВКонтакте по </a:t>
            </a:r>
            <a:r>
              <a:rPr lang="en-US" sz="900" b="1" dirty="0">
                <a:latin typeface="+mj-lt"/>
                <a:ea typeface="Courier New" pitchFamily="34" charset="-122"/>
                <a:cs typeface="Courier New" pitchFamily="34" charset="-120"/>
              </a:rPr>
              <a:t>11 ТТ</a:t>
            </a:r>
            <a:endParaRPr lang="en-US" sz="900" dirty="0">
              <a:latin typeface="+mj-lt"/>
            </a:endParaRPr>
          </a:p>
        </p:txBody>
      </p:sp>
      <p:sp>
        <p:nvSpPr>
          <p:cNvPr id="14" name="Text 44"/>
          <p:cNvSpPr/>
          <p:nvPr/>
        </p:nvSpPr>
        <p:spPr>
          <a:xfrm>
            <a:off x="257717" y="2255990"/>
            <a:ext cx="111044" cy="1038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✦</a:t>
            </a:r>
            <a:endParaRPr lang="en-US" sz="900" dirty="0"/>
          </a:p>
        </p:txBody>
      </p:sp>
      <p:sp>
        <p:nvSpPr>
          <p:cNvPr id="15" name="Text 45"/>
          <p:cNvSpPr/>
          <p:nvPr/>
        </p:nvSpPr>
        <p:spPr>
          <a:xfrm>
            <a:off x="399091" y="2259617"/>
            <a:ext cx="3065249" cy="1681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835"/>
              </a:lnSpc>
              <a:buNone/>
            </a:pPr>
            <a:r>
              <a:rPr lang="en-US" sz="900" dirty="0">
                <a:latin typeface="+mj-lt"/>
                <a:ea typeface="Carlito" pitchFamily="34" charset="-122"/>
                <a:cs typeface="Carlito" pitchFamily="34" charset="-120"/>
              </a:rPr>
              <a:t>Промо «Подарок за покупку» (Ростов + Краснодар)</a:t>
            </a:r>
            <a:endParaRPr lang="en-US" sz="900" dirty="0">
              <a:latin typeface="+mj-lt"/>
            </a:endParaRPr>
          </a:p>
        </p:txBody>
      </p:sp>
      <p:sp>
        <p:nvSpPr>
          <p:cNvPr id="16" name="Text 46"/>
          <p:cNvSpPr/>
          <p:nvPr/>
        </p:nvSpPr>
        <p:spPr>
          <a:xfrm>
            <a:off x="257717" y="2419180"/>
            <a:ext cx="111044" cy="1038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←</a:t>
            </a:r>
            <a:endParaRPr lang="en-US" sz="900" dirty="0"/>
          </a:p>
        </p:txBody>
      </p:sp>
      <p:sp>
        <p:nvSpPr>
          <p:cNvPr id="17" name="Text 47"/>
          <p:cNvSpPr/>
          <p:nvPr/>
        </p:nvSpPr>
        <p:spPr>
          <a:xfrm>
            <a:off x="399091" y="2427852"/>
            <a:ext cx="3065249" cy="179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835"/>
              </a:lnSpc>
              <a:buNone/>
            </a:pPr>
            <a:r>
              <a:rPr lang="en-US" sz="900" dirty="0">
                <a:latin typeface="+mj-lt"/>
                <a:ea typeface="Carlito" pitchFamily="34" charset="-122"/>
                <a:cs typeface="Carlito" pitchFamily="34" charset="-120"/>
              </a:rPr>
              <a:t>Кэшбек </a:t>
            </a:r>
            <a:r>
              <a:rPr lang="en-US" sz="900" b="1" dirty="0">
                <a:latin typeface="+mj-lt"/>
                <a:ea typeface="Liberation Sans Narrow" pitchFamily="34" charset="-122"/>
                <a:cs typeface="Liberation Sans Narrow" pitchFamily="34" charset="-120"/>
              </a:rPr>
              <a:t>5%</a:t>
            </a:r>
            <a:r>
              <a:rPr lang="en-US" sz="900" dirty="0">
                <a:latin typeface="+mj-lt"/>
                <a:ea typeface="Carlito" pitchFamily="34" charset="-122"/>
                <a:cs typeface="Carlito" pitchFamily="34" charset="-120"/>
              </a:rPr>
              <a:t> на TITAN (все </a:t>
            </a:r>
            <a:r>
              <a:rPr lang="en-US" sz="900" b="1" dirty="0">
                <a:latin typeface="+mj-lt"/>
                <a:ea typeface="Courier New" pitchFamily="34" charset="-122"/>
                <a:cs typeface="Courier New" pitchFamily="34" charset="-120"/>
              </a:rPr>
              <a:t>11 ТТ</a:t>
            </a:r>
            <a:r>
              <a:rPr lang="en-US" sz="900" dirty="0">
                <a:latin typeface="+mj-lt"/>
                <a:ea typeface="Carlito" pitchFamily="34" charset="-122"/>
                <a:cs typeface="Carlito" pitchFamily="34" charset="-120"/>
              </a:rPr>
              <a:t>)</a:t>
            </a:r>
            <a:endParaRPr lang="en-US" sz="900" dirty="0">
              <a:latin typeface="+mj-lt"/>
            </a:endParaRPr>
          </a:p>
        </p:txBody>
      </p:sp>
      <p:sp>
        <p:nvSpPr>
          <p:cNvPr id="18" name="Text 48"/>
          <p:cNvSpPr/>
          <p:nvPr/>
        </p:nvSpPr>
        <p:spPr>
          <a:xfrm>
            <a:off x="257717" y="2602302"/>
            <a:ext cx="111044" cy="1038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♟</a:t>
            </a:r>
            <a:endParaRPr lang="en-US" sz="900" dirty="0"/>
          </a:p>
        </p:txBody>
      </p:sp>
      <p:sp>
        <p:nvSpPr>
          <p:cNvPr id="19" name="Text 49"/>
          <p:cNvSpPr/>
          <p:nvPr/>
        </p:nvSpPr>
        <p:spPr>
          <a:xfrm>
            <a:off x="399091" y="2610974"/>
            <a:ext cx="3065249" cy="179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835"/>
              </a:lnSpc>
              <a:buNone/>
            </a:pPr>
            <a:r>
              <a:rPr lang="en-US" sz="900" dirty="0">
                <a:latin typeface="+mj-lt"/>
                <a:ea typeface="Carlito" pitchFamily="34" charset="-122"/>
                <a:cs typeface="Carlito" pitchFamily="34" charset="-120"/>
              </a:rPr>
              <a:t>Мастер-классы: </a:t>
            </a:r>
            <a:r>
              <a:rPr lang="en-US" sz="900" b="1" dirty="0">
                <a:latin typeface="+mj-lt"/>
                <a:ea typeface="Courier New" pitchFamily="34" charset="-122"/>
                <a:cs typeface="Courier New" pitchFamily="34" charset="-120"/>
              </a:rPr>
              <a:t>3 ТТ</a:t>
            </a:r>
            <a:r>
              <a:rPr lang="en-US" sz="900" dirty="0">
                <a:latin typeface="+mj-lt"/>
                <a:ea typeface="Carlito" pitchFamily="34" charset="-122"/>
                <a:cs typeface="Carlito" pitchFamily="34" charset="-120"/>
              </a:rPr>
              <a:t> в Ростове</a:t>
            </a:r>
            <a:endParaRPr lang="en-US" sz="900" dirty="0">
              <a:latin typeface="+mj-lt"/>
            </a:endParaRPr>
          </a:p>
        </p:txBody>
      </p:sp>
      <p:sp>
        <p:nvSpPr>
          <p:cNvPr id="20" name="Text 50"/>
          <p:cNvSpPr/>
          <p:nvPr/>
        </p:nvSpPr>
        <p:spPr>
          <a:xfrm>
            <a:off x="257717" y="2791818"/>
            <a:ext cx="111044" cy="1038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✦</a:t>
            </a:r>
            <a:endParaRPr lang="en-US" sz="900" dirty="0"/>
          </a:p>
        </p:txBody>
      </p:sp>
      <p:sp>
        <p:nvSpPr>
          <p:cNvPr id="21" name="Text 51"/>
          <p:cNvSpPr/>
          <p:nvPr/>
        </p:nvSpPr>
        <p:spPr>
          <a:xfrm>
            <a:off x="399094" y="2780852"/>
            <a:ext cx="1330516" cy="1359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835"/>
              </a:lnSpc>
              <a:buNone/>
            </a:pPr>
            <a:r>
              <a:rPr lang="en-US" sz="900" dirty="0">
                <a:latin typeface="+mj-lt"/>
                <a:ea typeface="Carlito" pitchFamily="34" charset="-122"/>
                <a:cs typeface="Carlito" pitchFamily="34" charset="-120"/>
              </a:rPr>
              <a:t>Веерные выкрасы B2B:</a:t>
            </a:r>
            <a:endParaRPr lang="en-US" sz="900" dirty="0">
              <a:latin typeface="+mj-lt"/>
            </a:endParaRPr>
          </a:p>
        </p:txBody>
      </p:sp>
      <p:sp>
        <p:nvSpPr>
          <p:cNvPr id="23" name="Text 53"/>
          <p:cNvSpPr/>
          <p:nvPr/>
        </p:nvSpPr>
        <p:spPr>
          <a:xfrm>
            <a:off x="257717" y="2974940"/>
            <a:ext cx="111044" cy="1038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⌧</a:t>
            </a:r>
            <a:endParaRPr lang="en-US" sz="900" dirty="0"/>
          </a:p>
        </p:txBody>
      </p:sp>
      <p:sp>
        <p:nvSpPr>
          <p:cNvPr id="24" name="Text 54"/>
          <p:cNvSpPr/>
          <p:nvPr/>
        </p:nvSpPr>
        <p:spPr>
          <a:xfrm>
            <a:off x="411879" y="2970823"/>
            <a:ext cx="3065249" cy="179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835"/>
              </a:lnSpc>
              <a:buNone/>
            </a:pPr>
            <a:r>
              <a:rPr lang="en-US" sz="900" dirty="0" err="1">
                <a:latin typeface="+mj-lt"/>
                <a:ea typeface="Carlito" pitchFamily="34" charset="-122"/>
                <a:cs typeface="Carlito" pitchFamily="34" charset="-120"/>
              </a:rPr>
              <a:t>Скидка</a:t>
            </a:r>
            <a:r>
              <a:rPr lang="en-US" sz="900" dirty="0">
                <a:latin typeface="+mj-lt"/>
                <a:ea typeface="Carlito" pitchFamily="34" charset="-122"/>
                <a:cs typeface="Carlito" pitchFamily="34" charset="-120"/>
              </a:rPr>
              <a:t> </a:t>
            </a:r>
            <a:r>
              <a:rPr lang="en-US" sz="900" dirty="0" smtClean="0">
                <a:latin typeface="+mj-lt"/>
                <a:ea typeface="Carlito" pitchFamily="34" charset="-122"/>
                <a:cs typeface="Carlito" pitchFamily="34" charset="-120"/>
              </a:rPr>
              <a:t>10% + 10% (</a:t>
            </a:r>
            <a:r>
              <a:rPr lang="en-US" sz="900" dirty="0">
                <a:latin typeface="+mj-lt"/>
                <a:ea typeface="Carlito" pitchFamily="34" charset="-122"/>
                <a:cs typeface="Carlito" pitchFamily="34" charset="-120"/>
              </a:rPr>
              <a:t>жёлтый ценник) с </a:t>
            </a:r>
            <a:r>
              <a:rPr lang="en-US" sz="900" b="1" dirty="0" smtClean="0">
                <a:latin typeface="+mj-lt"/>
                <a:ea typeface="Liberation Sans Narrow" pitchFamily="34" charset="-122"/>
                <a:cs typeface="Liberation Sans Narrow" pitchFamily="34" charset="-120"/>
              </a:rPr>
              <a:t>01.08 - 30.09</a:t>
            </a:r>
            <a:endParaRPr lang="en-US" sz="900" dirty="0">
              <a:latin typeface="+mj-lt"/>
            </a:endParaRPr>
          </a:p>
        </p:txBody>
      </p:sp>
      <p:pic>
        <p:nvPicPr>
          <p:cNvPr id="25" name="Picture 2" descr="C:\Users\zakolodniy\Downloads\Анализ статистики Лемана ПРо за 02.10.2026\01_monthly_trend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18245" y="132311"/>
            <a:ext cx="5083791" cy="23042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1" name="Picture 3" descr="C:\Users\zakolodniy\Downloads\Анализ статистики Лемана ПРо за 02.10.2026\05_shop_performance_stock_transit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18245" y="2531602"/>
            <a:ext cx="5083791" cy="24334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8" name="Shape 33"/>
          <p:cNvSpPr/>
          <p:nvPr/>
        </p:nvSpPr>
        <p:spPr>
          <a:xfrm>
            <a:off x="248636" y="3284254"/>
            <a:ext cx="3221404" cy="0"/>
          </a:xfrm>
          <a:prstGeom prst="line">
            <a:avLst/>
          </a:prstGeom>
          <a:noFill/>
          <a:ln w="7144">
            <a:solidFill>
              <a:srgbClr val="D9D2C2"/>
            </a:solidFill>
            <a:prstDash val="solid"/>
          </a:ln>
        </p:spPr>
        <p:txBody>
          <a:bodyPr/>
          <a:p/>
        </p:txBody>
      </p:sp>
      <p:sp>
        <p:nvSpPr>
          <p:cNvPr id="29" name="Text 54"/>
          <p:cNvSpPr/>
          <p:nvPr/>
        </p:nvSpPr>
        <p:spPr>
          <a:xfrm>
            <a:off x="290423" y="1186514"/>
            <a:ext cx="3065249" cy="179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835"/>
              </a:lnSpc>
              <a:buNone/>
            </a:pPr>
            <a:r>
              <a:rPr lang="ru-RU" sz="1050" b="1" dirty="0" smtClean="0"/>
              <a:t>Запуск продаж 01.06.2026 – 30.09.2026</a:t>
            </a:r>
            <a:endParaRPr lang="en-US" sz="1050" b="1" dirty="0"/>
          </a:p>
        </p:txBody>
      </p:sp>
      <p:sp>
        <p:nvSpPr>
          <p:cNvPr id="32" name="Text 54"/>
          <p:cNvSpPr/>
          <p:nvPr/>
        </p:nvSpPr>
        <p:spPr>
          <a:xfrm>
            <a:off x="316224" y="3336358"/>
            <a:ext cx="3065249" cy="179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835"/>
              </a:lnSpc>
              <a:buNone/>
            </a:pPr>
            <a:r>
              <a:rPr lang="ru-RU" sz="1050" b="1" dirty="0" smtClean="0"/>
              <a:t>Поддержка 01.010.2026 – 30.10.2026</a:t>
            </a:r>
            <a:endParaRPr lang="en-US" sz="1050" b="1" dirty="0"/>
          </a:p>
        </p:txBody>
      </p:sp>
      <p:sp>
        <p:nvSpPr>
          <p:cNvPr id="33" name="Text 39"/>
          <p:cNvSpPr/>
          <p:nvPr/>
        </p:nvSpPr>
        <p:spPr>
          <a:xfrm>
            <a:off x="284030" y="3696917"/>
            <a:ext cx="111044" cy="1038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▭</a:t>
            </a:r>
            <a:endParaRPr lang="en-US" sz="900" dirty="0"/>
          </a:p>
        </p:txBody>
      </p:sp>
      <p:sp>
        <p:nvSpPr>
          <p:cNvPr id="34" name="Text 40"/>
          <p:cNvSpPr/>
          <p:nvPr/>
        </p:nvSpPr>
        <p:spPr>
          <a:xfrm>
            <a:off x="419011" y="3685951"/>
            <a:ext cx="1215824" cy="1359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835"/>
              </a:lnSpc>
              <a:buNone/>
            </a:pPr>
            <a:r>
              <a:rPr lang="en-US" sz="900" dirty="0">
                <a:latin typeface="+mj-lt"/>
                <a:ea typeface="Carlito" pitchFamily="34" charset="-122"/>
                <a:cs typeface="Carlito" pitchFamily="34" charset="-120"/>
              </a:rPr>
              <a:t>РК на экранах </a:t>
            </a:r>
            <a:r>
              <a:rPr lang="en-US" sz="900" dirty="0" err="1">
                <a:latin typeface="+mj-lt"/>
                <a:ea typeface="Carlito" pitchFamily="34" charset="-122"/>
                <a:cs typeface="Carlito" pitchFamily="34" charset="-120"/>
              </a:rPr>
              <a:t>Ростова</a:t>
            </a:r>
            <a:r>
              <a:rPr lang="en-US" sz="900" dirty="0" smtClean="0">
                <a:latin typeface="+mj-lt"/>
                <a:ea typeface="Carlito" pitchFamily="34" charset="-122"/>
                <a:cs typeface="Carlito" pitchFamily="34" charset="-120"/>
              </a:rPr>
              <a:t>:</a:t>
            </a:r>
            <a:r>
              <a:rPr lang="ru-RU" sz="900" dirty="0" smtClean="0">
                <a:latin typeface="+mj-lt"/>
                <a:ea typeface="Carlito" pitchFamily="34" charset="-122"/>
                <a:cs typeface="Carlito" pitchFamily="34" charset="-120"/>
              </a:rPr>
              <a:t> 2 экрана</a:t>
            </a:r>
            <a:endParaRPr lang="en-US" sz="900" dirty="0">
              <a:latin typeface="+mj-lt"/>
            </a:endParaRPr>
          </a:p>
        </p:txBody>
      </p:sp>
      <p:sp>
        <p:nvSpPr>
          <p:cNvPr id="36" name="Text 48"/>
          <p:cNvSpPr/>
          <p:nvPr/>
        </p:nvSpPr>
        <p:spPr>
          <a:xfrm>
            <a:off x="276884" y="3546015"/>
            <a:ext cx="111044" cy="1038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♟</a:t>
            </a:r>
            <a:endParaRPr lang="en-US" sz="900" dirty="0"/>
          </a:p>
        </p:txBody>
      </p:sp>
      <p:sp>
        <p:nvSpPr>
          <p:cNvPr id="37" name="Text 49"/>
          <p:cNvSpPr/>
          <p:nvPr/>
        </p:nvSpPr>
        <p:spPr>
          <a:xfrm>
            <a:off x="405470" y="3529541"/>
            <a:ext cx="3065249" cy="179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835"/>
              </a:lnSpc>
              <a:buNone/>
            </a:pPr>
            <a:r>
              <a:rPr lang="en-US" sz="900" dirty="0">
                <a:latin typeface="+mj-lt"/>
                <a:ea typeface="Carlito" pitchFamily="34" charset="-122"/>
                <a:cs typeface="Carlito" pitchFamily="34" charset="-120"/>
              </a:rPr>
              <a:t>Мастер-классы: </a:t>
            </a:r>
            <a:r>
              <a:rPr lang="en-US" sz="900" b="1" dirty="0">
                <a:latin typeface="+mj-lt"/>
                <a:ea typeface="Courier New" pitchFamily="34" charset="-122"/>
                <a:cs typeface="Courier New" pitchFamily="34" charset="-120"/>
              </a:rPr>
              <a:t>3 ТТ</a:t>
            </a:r>
            <a:r>
              <a:rPr lang="en-US" sz="900" dirty="0">
                <a:latin typeface="+mj-lt"/>
                <a:ea typeface="Carlito" pitchFamily="34" charset="-122"/>
                <a:cs typeface="Carlito" pitchFamily="34" charset="-120"/>
              </a:rPr>
              <a:t> в Ростове</a:t>
            </a:r>
            <a:endParaRPr lang="en-US" sz="900" dirty="0"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102929871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/>
        </p:nvSpPr>
        <p:spPr>
          <a:xfrm>
            <a:off x="228602" y="283370"/>
            <a:ext cx="157163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endParaRPr lang="en-US" sz="1547" dirty="0"/>
          </a:p>
        </p:txBody>
      </p:sp>
      <p:sp>
        <p:nvSpPr>
          <p:cNvPr id="3" name="Text 2"/>
          <p:cNvSpPr/>
          <p:nvPr/>
        </p:nvSpPr>
        <p:spPr>
          <a:xfrm>
            <a:off x="305885" y="272942"/>
            <a:ext cx="770453" cy="2314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688"/>
              </a:lnSpc>
              <a:buNone/>
            </a:pPr>
            <a:r>
              <a:rPr lang="en-US" sz="1600" b="1" kern="0" spc="113" dirty="0">
                <a:solidFill>
                  <a:schemeClr val="tx1">
                    <a:lumMod val="50000"/>
                    <a:lumOff val="50000"/>
                  </a:schemeClr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TITAN</a:t>
            </a:r>
            <a:endParaRPr lang="en-US" sz="16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4" name="Text 5"/>
          <p:cNvSpPr/>
          <p:nvPr/>
        </p:nvSpPr>
        <p:spPr>
          <a:xfrm>
            <a:off x="1118897" y="284939"/>
            <a:ext cx="1380514" cy="1785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406"/>
              </a:lnSpc>
              <a:buNone/>
            </a:pPr>
            <a:r>
              <a:rPr lang="en-US" sz="1200" b="1" kern="0" spc="56" dirty="0">
                <a:solidFill>
                  <a:srgbClr val="2F3A4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ЧТО СДЕЛАНО</a:t>
            </a:r>
            <a:endParaRPr lang="en-US" sz="1200" dirty="0"/>
          </a:p>
        </p:txBody>
      </p:sp>
      <p:sp>
        <p:nvSpPr>
          <p:cNvPr id="5" name="Text 6"/>
          <p:cNvSpPr/>
          <p:nvPr/>
        </p:nvSpPr>
        <p:spPr>
          <a:xfrm>
            <a:off x="7633311" y="245936"/>
            <a:ext cx="1139029" cy="232029"/>
          </a:xfrm>
          <a:prstGeom prst="roundRect">
            <a:avLst>
              <a:gd name="adj" fmla="val 24631"/>
            </a:avLst>
          </a:prstGeom>
          <a:solidFill>
            <a:srgbClr val="FFFFFF"/>
          </a:solidFill>
          <a:ln w="7144">
            <a:solidFill>
              <a:srgbClr val="D9D2C2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" name="Text 8"/>
          <p:cNvSpPr/>
          <p:nvPr/>
        </p:nvSpPr>
        <p:spPr>
          <a:xfrm>
            <a:off x="7851542" y="314272"/>
            <a:ext cx="702208" cy="1071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844"/>
              </a:lnSpc>
              <a:buNone/>
            </a:pPr>
            <a:r>
              <a:rPr lang="en-US" sz="600" b="1" kern="0" spc="28" dirty="0">
                <a:latin typeface="Carlito" pitchFamily="34" charset="0"/>
                <a:ea typeface="Carlito" pitchFamily="34" charset="-122"/>
                <a:cs typeface="Carlito" pitchFamily="34" charset="-120"/>
              </a:rPr>
              <a:t>ЭТАП 1 · АКТИВЕН</a:t>
            </a:r>
            <a:endParaRPr lang="en-US" sz="600" b="1" dirty="0"/>
          </a:p>
        </p:txBody>
      </p:sp>
      <p:sp>
        <p:nvSpPr>
          <p:cNvPr id="21" name="Text 7"/>
          <p:cNvSpPr/>
          <p:nvPr/>
        </p:nvSpPr>
        <p:spPr>
          <a:xfrm>
            <a:off x="7743141" y="333375"/>
            <a:ext cx="57150" cy="57150"/>
          </a:xfrm>
          <a:prstGeom prst="roundRect">
            <a:avLst>
              <a:gd name="adj" fmla="val 166650000"/>
            </a:avLst>
          </a:prstGeom>
          <a:solidFill>
            <a:srgbClr val="2ECC71">
              <a:alpha val="79000"/>
            </a:srgbClr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2" name="Rectangle 2"/>
          <p:cNvSpPr/>
          <p:nvPr/>
        </p:nvSpPr>
        <p:spPr>
          <a:xfrm>
            <a:off x="1021010" y="230807"/>
            <a:ext cx="28000" cy="25000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 11"/>
          <p:cNvSpPr/>
          <p:nvPr/>
        </p:nvSpPr>
        <p:spPr>
          <a:xfrm>
            <a:off x="233763" y="681122"/>
            <a:ext cx="2831269" cy="1721858"/>
          </a:xfrm>
          <a:prstGeom prst="roundRect">
            <a:avLst>
              <a:gd name="adj" fmla="val 3364"/>
            </a:avLst>
          </a:prstGeom>
          <a:solidFill>
            <a:srgbClr val="FFFFFF"/>
          </a:solidFill>
          <a:ln w="7144">
            <a:solidFill>
              <a:srgbClr val="D9D2C2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4" name="Shape 12"/>
          <p:cNvSpPr/>
          <p:nvPr/>
        </p:nvSpPr>
        <p:spPr>
          <a:xfrm>
            <a:off x="385762" y="1047243"/>
            <a:ext cx="2652675" cy="0"/>
          </a:xfrm>
          <a:prstGeom prst="line">
            <a:avLst/>
          </a:prstGeom>
          <a:noFill/>
          <a:ln w="7144">
            <a:solidFill>
              <a:srgbClr val="D9D2C2"/>
            </a:solidFill>
            <a:prstDash val="solid"/>
          </a:ln>
        </p:spPr>
        <p:txBody>
          <a:bodyPr/>
          <a:p/>
        </p:txBody>
      </p:sp>
      <p:sp>
        <p:nvSpPr>
          <p:cNvPr id="25" name="Text 13"/>
          <p:cNvSpPr/>
          <p:nvPr/>
        </p:nvSpPr>
        <p:spPr>
          <a:xfrm>
            <a:off x="385762" y="859719"/>
            <a:ext cx="21431" cy="114300"/>
          </a:xfrm>
          <a:prstGeom prst="roundRect">
            <a:avLst>
              <a:gd name="adj" fmla="val 88890"/>
            </a:avLst>
          </a:prstGeom>
          <a:solidFill>
            <a:srgbClr val="B5614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6" name="Text 14"/>
          <p:cNvSpPr/>
          <p:nvPr/>
        </p:nvSpPr>
        <p:spPr>
          <a:xfrm>
            <a:off x="464341" y="852576"/>
            <a:ext cx="128588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266" dirty="0">
                <a:solidFill>
                  <a:srgbClr val="B5614A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🏪</a:t>
            </a:r>
            <a:endParaRPr lang="en-US" sz="1266" dirty="0"/>
          </a:p>
        </p:txBody>
      </p:sp>
      <p:sp>
        <p:nvSpPr>
          <p:cNvPr id="27" name="Text 15"/>
          <p:cNvSpPr/>
          <p:nvPr/>
        </p:nvSpPr>
        <p:spPr>
          <a:xfrm>
            <a:off x="650081" y="847219"/>
            <a:ext cx="2388357" cy="1393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097"/>
              </a:lnSpc>
              <a:buNone/>
            </a:pPr>
            <a:r>
              <a:rPr lang="en-US" sz="800" b="1" kern="0" spc="84" dirty="0">
                <a:latin typeface="Carlito" pitchFamily="34" charset="0"/>
                <a:ea typeface="Carlito" pitchFamily="34" charset="-122"/>
                <a:cs typeface="Carlito" pitchFamily="34" charset="-120"/>
              </a:rPr>
              <a:t>ДИСТРИБЬЮТОРСКИЙ КАНАЛ</a:t>
            </a:r>
            <a:endParaRPr lang="en-US" sz="800" dirty="0"/>
          </a:p>
        </p:txBody>
      </p:sp>
      <p:sp>
        <p:nvSpPr>
          <p:cNvPr id="28" name="Text 20"/>
          <p:cNvSpPr/>
          <p:nvPr/>
        </p:nvSpPr>
        <p:spPr>
          <a:xfrm>
            <a:off x="385760" y="1161888"/>
            <a:ext cx="91440" cy="91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44" dirty="0"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⚑</a:t>
            </a:r>
            <a:endParaRPr lang="en-US" sz="844" dirty="0"/>
          </a:p>
        </p:txBody>
      </p:sp>
      <p:sp>
        <p:nvSpPr>
          <p:cNvPr id="29" name="Text 21"/>
          <p:cNvSpPr/>
          <p:nvPr/>
        </p:nvSpPr>
        <p:spPr>
          <a:xfrm>
            <a:off x="514347" y="1147601"/>
            <a:ext cx="2524088" cy="2961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835"/>
              </a:lnSpc>
              <a:buNone/>
            </a:pPr>
            <a:r>
              <a:rPr lang="en-US" sz="800" dirty="0">
                <a:latin typeface="Carlito" pitchFamily="34" charset="0"/>
                <a:ea typeface="Carlito" pitchFamily="34" charset="-122"/>
                <a:cs typeface="Carlito" pitchFamily="34" charset="-120"/>
              </a:rPr>
              <a:t>Пилоты: Палитра (Краснодар), И.П. Рыгалов (Пенза), Брозекс (Екатеринбург)</a:t>
            </a:r>
            <a:endParaRPr lang="en-US" sz="800" dirty="0"/>
          </a:p>
        </p:txBody>
      </p:sp>
      <p:sp>
        <p:nvSpPr>
          <p:cNvPr id="30" name="Text 22"/>
          <p:cNvSpPr/>
          <p:nvPr/>
        </p:nvSpPr>
        <p:spPr>
          <a:xfrm>
            <a:off x="366710" y="1418418"/>
            <a:ext cx="91440" cy="91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▿</a:t>
            </a:r>
            <a:endParaRPr lang="en-US" sz="1400" dirty="0"/>
          </a:p>
        </p:txBody>
      </p:sp>
      <p:sp>
        <p:nvSpPr>
          <p:cNvPr id="31" name="Text 23"/>
          <p:cNvSpPr/>
          <p:nvPr/>
        </p:nvSpPr>
        <p:spPr>
          <a:xfrm>
            <a:off x="514347" y="1416830"/>
            <a:ext cx="2524088" cy="1580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835"/>
              </a:lnSpc>
              <a:buNone/>
            </a:pPr>
            <a:r>
              <a:rPr lang="en-US" sz="800" dirty="0">
                <a:latin typeface="Carlito" pitchFamily="34" charset="0"/>
                <a:ea typeface="Carlito" pitchFamily="34" charset="-122"/>
                <a:cs typeface="Carlito" pitchFamily="34" charset="-120"/>
              </a:rPr>
              <a:t>Обучение: </a:t>
            </a:r>
            <a:r>
              <a:rPr lang="en-US" sz="800" b="1" dirty="0"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регионов</a:t>
            </a:r>
            <a:r>
              <a:rPr lang="en-US" sz="800" dirty="0">
                <a:latin typeface="Carlito" pitchFamily="34" charset="0"/>
                <a:ea typeface="Carlito" pitchFamily="34" charset="-122"/>
                <a:cs typeface="Carlito" pitchFamily="34" charset="-120"/>
              </a:rPr>
              <a:t>, </a:t>
            </a:r>
            <a:r>
              <a:rPr lang="en-US" sz="800" b="1" dirty="0"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 РМ</a:t>
            </a:r>
            <a:r>
              <a:rPr lang="en-US" sz="800" dirty="0">
                <a:latin typeface="Carlito" pitchFamily="34" charset="0"/>
                <a:ea typeface="Carlito" pitchFamily="34" charset="-122"/>
                <a:cs typeface="Carlito" pitchFamily="34" charset="-120"/>
              </a:rPr>
              <a:t>, </a:t>
            </a:r>
            <a:r>
              <a:rPr lang="en-US" sz="800" b="1" dirty="0"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~350 ТП</a:t>
            </a:r>
            <a:endParaRPr lang="en-US" sz="800" dirty="0"/>
          </a:p>
        </p:txBody>
      </p:sp>
      <p:sp>
        <p:nvSpPr>
          <p:cNvPr id="32" name="Text 24"/>
          <p:cNvSpPr/>
          <p:nvPr/>
        </p:nvSpPr>
        <p:spPr>
          <a:xfrm>
            <a:off x="385760" y="1601452"/>
            <a:ext cx="91440" cy="91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44" dirty="0"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◖</a:t>
            </a:r>
            <a:endParaRPr lang="en-US" sz="844" dirty="0"/>
          </a:p>
        </p:txBody>
      </p:sp>
      <p:sp>
        <p:nvSpPr>
          <p:cNvPr id="33" name="Text 25"/>
          <p:cNvSpPr/>
          <p:nvPr/>
        </p:nvSpPr>
        <p:spPr>
          <a:xfrm>
            <a:off x="514347" y="1587164"/>
            <a:ext cx="2524088" cy="3160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835"/>
              </a:lnSpc>
              <a:buNone/>
            </a:pPr>
            <a:r>
              <a:rPr lang="en-US" sz="800" dirty="0">
                <a:latin typeface="Carlito" pitchFamily="34" charset="0"/>
                <a:ea typeface="Carlito" pitchFamily="34" charset="-122"/>
                <a:cs typeface="Carlito" pitchFamily="34" charset="-120"/>
              </a:rPr>
              <a:t>POSM: </a:t>
            </a:r>
            <a:r>
              <a:rPr lang="en-US" sz="800" dirty="0" err="1">
                <a:latin typeface="Carlito" pitchFamily="34" charset="0"/>
                <a:ea typeface="Carlito" pitchFamily="34" charset="-122"/>
                <a:cs typeface="Carlito" pitchFamily="34" charset="-120"/>
              </a:rPr>
              <a:t>шелфтокеры</a:t>
            </a:r>
            <a:r>
              <a:rPr lang="en-US" sz="800" dirty="0">
                <a:latin typeface="Carlito" pitchFamily="34" charset="0"/>
                <a:ea typeface="Carlito" pitchFamily="34" charset="-122"/>
                <a:cs typeface="Carlito" pitchFamily="34" charset="-120"/>
              </a:rPr>
              <a:t> </a:t>
            </a:r>
            <a:r>
              <a:rPr lang="en-US" sz="800" b="1" dirty="0" smtClean="0"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1000 </a:t>
            </a:r>
            <a:r>
              <a:rPr lang="en-US" sz="800" b="1" dirty="0"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шт</a:t>
            </a:r>
            <a:r>
              <a:rPr lang="en-US" sz="800" dirty="0">
                <a:latin typeface="Carlito" pitchFamily="34" charset="0"/>
                <a:ea typeface="Carlito" pitchFamily="34" charset="-122"/>
                <a:cs typeface="Carlito" pitchFamily="34" charset="-120"/>
              </a:rPr>
              <a:t>, воблеры </a:t>
            </a:r>
            <a:r>
              <a:rPr lang="en-US" sz="800" b="1" dirty="0"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1000</a:t>
            </a:r>
            <a:r>
              <a:rPr lang="en-US" sz="800" dirty="0">
                <a:latin typeface="Carlito" pitchFamily="34" charset="0"/>
                <a:ea typeface="Carlito" pitchFamily="34" charset="-122"/>
                <a:cs typeface="Carlito" pitchFamily="34" charset="-120"/>
              </a:rPr>
              <a:t>, ценники </a:t>
            </a:r>
            <a:r>
              <a:rPr lang="en-US" sz="800" b="1" dirty="0"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1000</a:t>
            </a:r>
            <a:r>
              <a:rPr lang="en-US" sz="800" dirty="0">
                <a:latin typeface="Carlito" pitchFamily="34" charset="0"/>
                <a:ea typeface="Carlito" pitchFamily="34" charset="-122"/>
                <a:cs typeface="Carlito" pitchFamily="34" charset="-120"/>
              </a:rPr>
              <a:t>, листовки </a:t>
            </a:r>
            <a:r>
              <a:rPr lang="en-US" sz="800" b="1" dirty="0"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500</a:t>
            </a:r>
            <a:endParaRPr lang="en-US" sz="800" dirty="0"/>
          </a:p>
        </p:txBody>
      </p:sp>
      <p:sp>
        <p:nvSpPr>
          <p:cNvPr id="34" name="Text 26"/>
          <p:cNvSpPr/>
          <p:nvPr/>
        </p:nvSpPr>
        <p:spPr>
          <a:xfrm>
            <a:off x="385760" y="1884969"/>
            <a:ext cx="91440" cy="91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44" dirty="0"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▶</a:t>
            </a:r>
            <a:endParaRPr lang="en-US" sz="844" dirty="0"/>
          </a:p>
        </p:txBody>
      </p:sp>
      <p:sp>
        <p:nvSpPr>
          <p:cNvPr id="35" name="Text 27"/>
          <p:cNvSpPr/>
          <p:nvPr/>
        </p:nvSpPr>
        <p:spPr>
          <a:xfrm>
            <a:off x="514347" y="1870683"/>
            <a:ext cx="2524088" cy="3160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835"/>
              </a:lnSpc>
              <a:buNone/>
            </a:pPr>
            <a:r>
              <a:rPr lang="en-US" sz="800" dirty="0">
                <a:latin typeface="Carlito" pitchFamily="34" charset="0"/>
                <a:ea typeface="Carlito" pitchFamily="34" charset="-122"/>
                <a:cs typeface="Carlito" pitchFamily="34" charset="-120"/>
              </a:rPr>
              <a:t>Контент: </a:t>
            </a:r>
            <a:r>
              <a:rPr lang="en-US" sz="800" dirty="0" err="1" smtClean="0">
                <a:latin typeface="Carlito" pitchFamily="34" charset="0"/>
                <a:ea typeface="Carlito" pitchFamily="34" charset="-122"/>
                <a:cs typeface="Carlito" pitchFamily="34" charset="-120"/>
              </a:rPr>
              <a:t>видеоинструкция</a:t>
            </a:r>
            <a:r>
              <a:rPr lang="en-US" sz="800" dirty="0" smtClean="0">
                <a:latin typeface="Carlito" pitchFamily="34" charset="0"/>
                <a:ea typeface="Carlito" pitchFamily="34" charset="-122"/>
                <a:cs typeface="Carlito" pitchFamily="34" charset="-120"/>
              </a:rPr>
              <a:t>, </a:t>
            </a:r>
            <a:r>
              <a:rPr lang="en-US" sz="800" dirty="0" err="1" smtClean="0">
                <a:latin typeface="Carlito" pitchFamily="34" charset="0"/>
                <a:ea typeface="Carlito" pitchFamily="34" charset="-122"/>
                <a:cs typeface="Carlito" pitchFamily="34" charset="-120"/>
              </a:rPr>
              <a:t>портфолио</a:t>
            </a:r>
            <a:r>
              <a:rPr lang="en-US" sz="800" dirty="0">
                <a:latin typeface="Carlito" pitchFamily="34" charset="0"/>
                <a:ea typeface="Carlito" pitchFamily="34" charset="-122"/>
                <a:cs typeface="Carlito" pitchFamily="34" charset="-120"/>
              </a:rPr>
              <a:t>,</a:t>
            </a:r>
            <a:r>
              <a:rPr lang="en-US" sz="800" dirty="0" smtClean="0">
                <a:latin typeface="Carlito" pitchFamily="34" charset="0"/>
                <a:ea typeface="Carlito" pitchFamily="34" charset="-122"/>
                <a:cs typeface="Carlito" pitchFamily="34" charset="-120"/>
              </a:rPr>
              <a:t> </a:t>
            </a:r>
            <a:r>
              <a:rPr lang="en-US" sz="800" dirty="0" err="1" smtClean="0">
                <a:latin typeface="Carlito" pitchFamily="34" charset="0"/>
                <a:ea typeface="Carlito" pitchFamily="34" charset="-122"/>
                <a:cs typeface="Carlito" pitchFamily="34" charset="-120"/>
              </a:rPr>
              <a:t>видео</a:t>
            </a:r>
            <a:r>
              <a:rPr lang="en-US" sz="800" dirty="0" smtClean="0">
                <a:latin typeface="Carlito" pitchFamily="34" charset="0"/>
                <a:ea typeface="Carlito" pitchFamily="34" charset="-122"/>
                <a:cs typeface="Carlito" pitchFamily="34" charset="-120"/>
              </a:rPr>
              <a:t> </a:t>
            </a:r>
            <a:r>
              <a:rPr lang="en-US" sz="800" dirty="0" err="1">
                <a:latin typeface="Carlito" pitchFamily="34" charset="0"/>
                <a:ea typeface="Carlito" pitchFamily="34" charset="-122"/>
                <a:cs typeface="Carlito" pitchFamily="34" charset="-120"/>
              </a:rPr>
              <a:t>для</a:t>
            </a:r>
            <a:r>
              <a:rPr lang="en-US" sz="800" dirty="0">
                <a:latin typeface="Carlito" pitchFamily="34" charset="0"/>
                <a:ea typeface="Carlito" pitchFamily="34" charset="-122"/>
                <a:cs typeface="Carlito" pitchFamily="34" charset="-120"/>
              </a:rPr>
              <a:t> </a:t>
            </a:r>
            <a:r>
              <a:rPr lang="en-US" sz="800" dirty="0" smtClean="0">
                <a:latin typeface="Carlito" pitchFamily="34" charset="0"/>
                <a:ea typeface="Carlito" pitchFamily="34" charset="-122"/>
                <a:cs typeface="Carlito" pitchFamily="34" charset="-120"/>
              </a:rPr>
              <a:t>ТП</a:t>
            </a:r>
            <a:endParaRPr lang="en-US" sz="800" dirty="0"/>
          </a:p>
        </p:txBody>
      </p:sp>
      <p:sp>
        <p:nvSpPr>
          <p:cNvPr id="36" name="Shape 28"/>
          <p:cNvSpPr/>
          <p:nvPr/>
        </p:nvSpPr>
        <p:spPr>
          <a:xfrm>
            <a:off x="385762" y="2157771"/>
            <a:ext cx="2652675" cy="0"/>
          </a:xfrm>
          <a:prstGeom prst="line">
            <a:avLst/>
          </a:prstGeom>
          <a:noFill/>
          <a:ln w="7144">
            <a:solidFill>
              <a:srgbClr val="D9D2C2"/>
            </a:solidFill>
            <a:prstDash val="dash"/>
          </a:ln>
        </p:spPr>
        <p:txBody>
          <a:bodyPr/>
          <a:p/>
        </p:txBody>
      </p:sp>
      <p:sp>
        <p:nvSpPr>
          <p:cNvPr id="60" name="Text 68"/>
          <p:cNvSpPr/>
          <p:nvPr/>
        </p:nvSpPr>
        <p:spPr>
          <a:xfrm>
            <a:off x="296465" y="2693476"/>
            <a:ext cx="2831381" cy="1721857"/>
          </a:xfrm>
          <a:prstGeom prst="roundRect">
            <a:avLst>
              <a:gd name="adj" fmla="val 3364"/>
            </a:avLst>
          </a:prstGeom>
          <a:solidFill>
            <a:srgbClr val="FFFFFF"/>
          </a:solidFill>
          <a:ln w="7144">
            <a:solidFill>
              <a:srgbClr val="D9D2C2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1" name="Shape 69"/>
          <p:cNvSpPr/>
          <p:nvPr/>
        </p:nvSpPr>
        <p:spPr>
          <a:xfrm>
            <a:off x="385762" y="2982798"/>
            <a:ext cx="2652787" cy="0"/>
          </a:xfrm>
          <a:prstGeom prst="line">
            <a:avLst/>
          </a:prstGeom>
          <a:noFill/>
          <a:ln w="7144">
            <a:solidFill>
              <a:srgbClr val="D9D2C2"/>
            </a:solidFill>
            <a:prstDash val="solid"/>
          </a:ln>
        </p:spPr>
        <p:txBody>
          <a:bodyPr/>
          <a:p/>
        </p:txBody>
      </p:sp>
      <p:sp>
        <p:nvSpPr>
          <p:cNvPr id="62" name="Text 70"/>
          <p:cNvSpPr/>
          <p:nvPr/>
        </p:nvSpPr>
        <p:spPr>
          <a:xfrm>
            <a:off x="385762" y="2795274"/>
            <a:ext cx="21431" cy="114300"/>
          </a:xfrm>
          <a:prstGeom prst="roundRect">
            <a:avLst>
              <a:gd name="adj" fmla="val 88890"/>
            </a:avLst>
          </a:prstGeom>
          <a:solidFill>
            <a:srgbClr val="B5614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3" name="Text 71"/>
          <p:cNvSpPr/>
          <p:nvPr/>
        </p:nvSpPr>
        <p:spPr>
          <a:xfrm>
            <a:off x="464342" y="2788131"/>
            <a:ext cx="128588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266" dirty="0">
                <a:solidFill>
                  <a:srgbClr val="B5614A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▥</a:t>
            </a:r>
            <a:endParaRPr lang="en-US" sz="1266" dirty="0"/>
          </a:p>
        </p:txBody>
      </p:sp>
      <p:sp>
        <p:nvSpPr>
          <p:cNvPr id="64" name="Text 72"/>
          <p:cNvSpPr/>
          <p:nvPr/>
        </p:nvSpPr>
        <p:spPr>
          <a:xfrm>
            <a:off x="650079" y="2782774"/>
            <a:ext cx="2388468" cy="1393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097"/>
              </a:lnSpc>
              <a:buNone/>
            </a:pPr>
            <a:r>
              <a:rPr lang="en-US" sz="800" b="1" kern="0" spc="84" dirty="0">
                <a:latin typeface="Carlito" pitchFamily="34" charset="0"/>
                <a:ea typeface="Carlito" pitchFamily="34" charset="-122"/>
                <a:cs typeface="Carlito" pitchFamily="34" charset="-120"/>
              </a:rPr>
              <a:t>B2B КАНАЛ</a:t>
            </a:r>
            <a:endParaRPr lang="en-US" sz="800" dirty="0"/>
          </a:p>
        </p:txBody>
      </p:sp>
      <p:sp>
        <p:nvSpPr>
          <p:cNvPr id="65" name="Text 73"/>
          <p:cNvSpPr/>
          <p:nvPr/>
        </p:nvSpPr>
        <p:spPr>
          <a:xfrm>
            <a:off x="385760" y="3086382"/>
            <a:ext cx="91440" cy="91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44" dirty="0"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⚗</a:t>
            </a:r>
            <a:endParaRPr lang="en-US" sz="844" dirty="0"/>
          </a:p>
        </p:txBody>
      </p:sp>
      <p:sp>
        <p:nvSpPr>
          <p:cNvPr id="66" name="Text 74"/>
          <p:cNvSpPr/>
          <p:nvPr/>
        </p:nvSpPr>
        <p:spPr>
          <a:xfrm>
            <a:off x="514350" y="3072094"/>
            <a:ext cx="2524199" cy="1580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835"/>
              </a:lnSpc>
              <a:buNone/>
            </a:pPr>
            <a:r>
              <a:rPr lang="en-US" sz="800" dirty="0">
                <a:latin typeface="Carlito" pitchFamily="34" charset="0"/>
                <a:ea typeface="Carlito" pitchFamily="34" charset="-122"/>
                <a:cs typeface="Carlito" pitchFamily="34" charset="-120"/>
              </a:rPr>
              <a:t>Тест-образец: пробник </a:t>
            </a:r>
            <a:r>
              <a:rPr lang="en-US" sz="800" b="1" dirty="0"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0,4 л</a:t>
            </a:r>
            <a:r>
              <a:rPr lang="en-US" sz="800" dirty="0">
                <a:latin typeface="Carlito" pitchFamily="34" charset="0"/>
                <a:ea typeface="Carlito" pitchFamily="34" charset="-122"/>
                <a:cs typeface="Carlito" pitchFamily="34" charset="-120"/>
              </a:rPr>
              <a:t> + веерные выкрасы</a:t>
            </a:r>
            <a:endParaRPr lang="en-US" sz="800" dirty="0"/>
          </a:p>
        </p:txBody>
      </p:sp>
      <p:sp>
        <p:nvSpPr>
          <p:cNvPr id="67" name="Text 75"/>
          <p:cNvSpPr/>
          <p:nvPr/>
        </p:nvSpPr>
        <p:spPr>
          <a:xfrm>
            <a:off x="385760" y="3256716"/>
            <a:ext cx="91440" cy="91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44" dirty="0"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▤</a:t>
            </a:r>
            <a:endParaRPr lang="en-US" sz="844" dirty="0"/>
          </a:p>
        </p:txBody>
      </p:sp>
      <p:sp>
        <p:nvSpPr>
          <p:cNvPr id="68" name="Text 76"/>
          <p:cNvSpPr/>
          <p:nvPr/>
        </p:nvSpPr>
        <p:spPr>
          <a:xfrm>
            <a:off x="514350" y="3242429"/>
            <a:ext cx="2524199" cy="1480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835"/>
              </a:lnSpc>
              <a:buNone/>
            </a:pPr>
            <a:r>
              <a:rPr lang="en-US" sz="800" dirty="0">
                <a:latin typeface="Carlito" pitchFamily="34" charset="0"/>
                <a:ea typeface="Carlito" pitchFamily="34" charset="-122"/>
                <a:cs typeface="Carlito" pitchFamily="34" charset="-120"/>
              </a:rPr>
              <a:t>Листовка B2B с расчётом ССВ</a:t>
            </a:r>
            <a:endParaRPr lang="en-US" sz="800" dirty="0"/>
          </a:p>
        </p:txBody>
      </p:sp>
      <p:sp>
        <p:nvSpPr>
          <p:cNvPr id="69" name="Text 77"/>
          <p:cNvSpPr/>
          <p:nvPr/>
        </p:nvSpPr>
        <p:spPr>
          <a:xfrm>
            <a:off x="385760" y="3419906"/>
            <a:ext cx="91440" cy="91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44" dirty="0"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⚒</a:t>
            </a:r>
            <a:endParaRPr lang="en-US" sz="844" dirty="0"/>
          </a:p>
        </p:txBody>
      </p:sp>
      <p:sp>
        <p:nvSpPr>
          <p:cNvPr id="70" name="Text 78"/>
          <p:cNvSpPr/>
          <p:nvPr/>
        </p:nvSpPr>
        <p:spPr>
          <a:xfrm>
            <a:off x="514350" y="3405619"/>
            <a:ext cx="2524199" cy="2961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835"/>
              </a:lnSpc>
              <a:buNone/>
            </a:pPr>
            <a:r>
              <a:rPr lang="en-US" sz="800" dirty="0">
                <a:latin typeface="Carlito" pitchFamily="34" charset="0"/>
                <a:ea typeface="Carlito" pitchFamily="34" charset="-122"/>
                <a:cs typeface="Carlito" pitchFamily="34" charset="-120"/>
              </a:rPr>
              <a:t>6 инструментов: тест-образец, листовка, инфлюенсер, маржа, портфолио</a:t>
            </a:r>
            <a:endParaRPr lang="en-US" sz="800" dirty="0"/>
          </a:p>
        </p:txBody>
      </p:sp>
      <p:sp>
        <p:nvSpPr>
          <p:cNvPr id="71" name="Text 79"/>
          <p:cNvSpPr/>
          <p:nvPr/>
        </p:nvSpPr>
        <p:spPr>
          <a:xfrm>
            <a:off x="385760" y="3689136"/>
            <a:ext cx="91440" cy="91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44" dirty="0"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↗</a:t>
            </a:r>
            <a:endParaRPr lang="en-US" sz="844" dirty="0"/>
          </a:p>
        </p:txBody>
      </p:sp>
      <p:sp>
        <p:nvSpPr>
          <p:cNvPr id="72" name="Text 80"/>
          <p:cNvSpPr/>
          <p:nvPr/>
        </p:nvSpPr>
        <p:spPr>
          <a:xfrm>
            <a:off x="514350" y="3674849"/>
            <a:ext cx="2524199" cy="1480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835"/>
              </a:lnSpc>
              <a:buNone/>
            </a:pPr>
            <a:r>
              <a:rPr lang="en-US" sz="800" dirty="0">
                <a:latin typeface="Carlito" pitchFamily="34" charset="0"/>
                <a:ea typeface="Carlito" pitchFamily="34" charset="-122"/>
                <a:cs typeface="Carlito" pitchFamily="34" charset="-120"/>
              </a:rPr>
              <a:t>Расчёт маржинальности по фасовкам (8,5 л выгоднее)</a:t>
            </a:r>
            <a:endParaRPr lang="en-US" sz="800" dirty="0"/>
          </a:p>
        </p:txBody>
      </p:sp>
      <p:sp>
        <p:nvSpPr>
          <p:cNvPr id="73" name="Shape 81"/>
          <p:cNvSpPr/>
          <p:nvPr/>
        </p:nvSpPr>
        <p:spPr>
          <a:xfrm>
            <a:off x="385762" y="3898760"/>
            <a:ext cx="2652787" cy="0"/>
          </a:xfrm>
          <a:prstGeom prst="line">
            <a:avLst/>
          </a:prstGeom>
          <a:noFill/>
          <a:ln w="7144">
            <a:solidFill>
              <a:srgbClr val="D9D2C2"/>
            </a:solidFill>
            <a:prstDash val="dash"/>
          </a:ln>
        </p:spPr>
        <p:txBody>
          <a:bodyPr/>
          <a:p/>
        </p:txBody>
      </p:sp>
      <p:sp>
        <p:nvSpPr>
          <p:cNvPr id="40" name="Rectangle 1"/>
          <p:cNvSpPr>
            <a:spLocks noChangeArrowheads="1"/>
          </p:cNvSpPr>
          <p:nvPr/>
        </p:nvSpPr>
        <p:spPr bwMode="auto">
          <a:xfrm>
            <a:off x="3200784" y="516554"/>
            <a:ext cx="5695566" cy="196977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ru-RU" sz="1100" b="1" dirty="0" smtClean="0">
                <a:latin typeface="Arial" charset="0"/>
                <a:cs typeface="Arial" charset="0"/>
              </a:rPr>
              <a:t>9 месяцев 2025 </a:t>
            </a:r>
            <a:r>
              <a:rPr lang="en-US" sz="1100" b="1" dirty="0" err="1" smtClean="0">
                <a:latin typeface="Arial" charset="0"/>
                <a:cs typeface="Arial" charset="0"/>
              </a:rPr>
              <a:t>vs</a:t>
            </a:r>
            <a:r>
              <a:rPr lang="en-US" sz="1100" b="1" dirty="0" smtClean="0">
                <a:latin typeface="Arial" charset="0"/>
                <a:cs typeface="Arial" charset="0"/>
              </a:rPr>
              <a:t> 9 </a:t>
            </a:r>
            <a:r>
              <a:rPr lang="ru-RU" sz="1100" b="1" dirty="0" smtClean="0">
                <a:latin typeface="Arial" charset="0"/>
                <a:cs typeface="Arial" charset="0"/>
              </a:rPr>
              <a:t>месяцев 2026</a:t>
            </a:r>
          </a:p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ru-RU" sz="1100" b="1" dirty="0" smtClean="0">
                <a:latin typeface="Arial" charset="0"/>
                <a:cs typeface="Arial" charset="0"/>
              </a:rPr>
              <a:t> </a:t>
            </a:r>
            <a:endParaRPr kumimoji="0" lang="ru-RU" sz="1100" b="1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  <a:cs typeface="Arial" charset="0"/>
            </a:endParaRPr>
          </a:p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ru-RU" sz="10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rPr>
              <a:t>1. БРОЗЭКС — АКБ:</a:t>
            </a:r>
            <a:r>
              <a:rPr kumimoji="0" lang="ru-RU" sz="1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rPr>
              <a:t> 108 → 125 клиентов (+15.7%)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ru-RU" sz="10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rPr>
              <a:t>2. Рыгалов — АКБ:</a:t>
            </a:r>
            <a:r>
              <a:rPr kumimoji="0" lang="ru-RU" sz="1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rPr>
              <a:t> 82 → 100 клиентов (+22.0%)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ru-RU" sz="10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rPr>
              <a:t>3. БРОЗЭКС — Товарооборот:</a:t>
            </a:r>
            <a:r>
              <a:rPr kumimoji="0" lang="ru-RU" sz="1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rPr>
              <a:t> 2 014 796 ₽ → 3 439 931 ₽ (+70.7%)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ru-RU" sz="10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rPr>
              <a:t>4. Рыгалов — Товарооборот:</a:t>
            </a:r>
            <a:r>
              <a:rPr kumimoji="0" lang="ru-RU" sz="1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rPr>
              <a:t> 2 555 783 ₽ → 2 690 942 ₽ (+5.3%)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ru-RU" sz="10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  <a:cs typeface="Arial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ru-RU" sz="10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rPr>
              <a:t>💡 Вывод по БРОЗЭКС:</a:t>
            </a:r>
            <a:r>
              <a:rPr kumimoji="0" lang="ru-RU" sz="1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rPr>
              <a:t> Товарооборот растёт быстрее АКБ (+70,7% </a:t>
            </a:r>
            <a:r>
              <a:rPr kumimoji="0" lang="ru-RU" sz="10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rPr>
              <a:t>vs</a:t>
            </a:r>
            <a:r>
              <a:rPr kumimoji="0" lang="ru-RU" sz="1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rPr>
              <a:t> +15,7%) — означает рост среднего чека на клиента. Эффективная работа с существующей базой + расширение.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ru-RU" sz="10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rPr>
              <a:t>💡 Вывод по Рыгалову:</a:t>
            </a:r>
            <a:r>
              <a:rPr kumimoji="0" lang="ru-RU" sz="1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rPr>
              <a:t> АКБ растёт быстрее товарооборота (+22,0% </a:t>
            </a:r>
            <a:r>
              <a:rPr kumimoji="0" lang="ru-RU" sz="10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rPr>
              <a:t>vs</a:t>
            </a:r>
            <a:r>
              <a:rPr kumimoji="0" lang="ru-RU" sz="1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rPr>
              <a:t> +5,3%) — новые клиенты дают меньший чек. Требуется работа по увеличению среднего объёма закупок. </a:t>
            </a:r>
          </a:p>
        </p:txBody>
      </p:sp>
    </p:spTree>
    <p:extLst>
      <p:ext uri="{BB962C8B-B14F-4D97-AF65-F5344CB8AC3E}">
        <p14:creationId xmlns:p14="http://schemas.microsoft.com/office/powerpoint/2010/main" val="241240489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2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28600" y="199496"/>
            <a:ext cx="1200000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kern="0" spc="113" dirty="0">
                <a:solidFill>
                  <a:schemeClr val="tx1">
                    <a:lumMod val="50000"/>
                    <a:lumOff val="50000"/>
                  </a:schemeClr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TITAN</a:t>
            </a:r>
          </a:p>
        </p:txBody>
      </p:sp>
      <p:sp>
        <p:nvSpPr>
          <p:cNvPr id="3" name="Rectangle 2"/>
          <p:cNvSpPr/>
          <p:nvPr/>
        </p:nvSpPr>
        <p:spPr>
          <a:xfrm>
            <a:off x="991515" y="190001"/>
            <a:ext cx="28000" cy="25000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115111" y="233564"/>
            <a:ext cx="3698766" cy="1795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ts val="1406"/>
              </a:lnSpc>
            </a:pPr>
            <a:r>
              <a:rPr sz="1200" b="1" kern="0" spc="56" dirty="0">
                <a:solidFill>
                  <a:srgbClr val="2F3A4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ПРОЕКТ</a:t>
            </a:r>
            <a:r>
              <a:rPr lang="ru-RU" sz="1200" b="1" kern="0" spc="56" dirty="0">
                <a:solidFill>
                  <a:srgbClr val="2F3A4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БЕЛЫЕ ПЯТНА </a:t>
            </a:r>
            <a:endParaRPr sz="1200" b="1" kern="0" spc="56" dirty="0">
              <a:solidFill>
                <a:srgbClr val="2F3A48"/>
              </a:solidFill>
              <a:latin typeface="Carlito" pitchFamily="34" charset="0"/>
              <a:ea typeface="Carlito" pitchFamily="34" charset="-122"/>
              <a:cs typeface="Carlito" pitchFamily="34" charset="-120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7299151" y="172304"/>
            <a:ext cx="1605960" cy="280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6350">
            <a:solidFill>
              <a:srgbClr val="C9A7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48141" y="241798"/>
            <a:ext cx="1545960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spc="150" dirty="0"/>
              <a:t>Q4 2026 · В РАБОТЕ</a:t>
            </a:r>
          </a:p>
        </p:txBody>
      </p:sp>
      <p:sp>
        <p:nvSpPr>
          <p:cNvPr id="9" name="Rectangle 8"/>
          <p:cNvSpPr/>
          <p:nvPr/>
        </p:nvSpPr>
        <p:spPr>
          <a:xfrm>
            <a:off x="146014" y="554767"/>
            <a:ext cx="8686800" cy="2800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60115" y="778715"/>
            <a:ext cx="6071400" cy="3612517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D9D2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6190505" y="778715"/>
            <a:ext cx="2860000" cy="35948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D9D2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270505" y="922736"/>
            <a:ext cx="2700000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spc="200" dirty="0">
                <a:latin typeface="Inter"/>
              </a:rPr>
              <a:t>ГРАФИК ВСТРЕЧ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70505" y="1132737"/>
            <a:ext cx="2700000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dirty="0">
                <a:latin typeface="Inter"/>
              </a:rPr>
              <a:t>5 </a:t>
            </a:r>
            <a:r>
              <a:rPr sz="900" b="0" dirty="0" err="1">
                <a:latin typeface="Inter"/>
              </a:rPr>
              <a:t>регионов</a:t>
            </a:r>
            <a:r>
              <a:rPr sz="900" b="0" dirty="0">
                <a:latin typeface="Inter"/>
              </a:rPr>
              <a:t> · 5+ </a:t>
            </a:r>
            <a:r>
              <a:rPr sz="900" b="0" dirty="0" err="1">
                <a:latin typeface="Inter"/>
              </a:rPr>
              <a:t>дистрибьюторов</a:t>
            </a:r>
            <a:endParaRPr sz="900" b="0" dirty="0">
              <a:latin typeface="Inter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6270505" y="1313366"/>
            <a:ext cx="2700000" cy="45719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6241010" y="1419605"/>
            <a:ext cx="320000" cy="323130"/>
          </a:xfrm>
          <a:prstGeom prst="roundRect">
            <a:avLst>
              <a:gd name="adj" fmla="val 18000"/>
            </a:avLst>
          </a:prstGeom>
          <a:solidFill>
            <a:srgbClr val="D9D2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241010" y="1472735"/>
            <a:ext cx="320000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 dirty="0">
                <a:latin typeface="Inter"/>
              </a:rPr>
              <a:t>01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40505" y="1422736"/>
            <a:ext cx="1600000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2F3A48"/>
                </a:solidFill>
                <a:latin typeface="Inter"/>
              </a:rPr>
              <a:t>Барнаул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40505" y="1622736"/>
            <a:ext cx="1600000" cy="1308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dirty="0" err="1">
                <a:latin typeface="Inter"/>
              </a:rPr>
              <a:t>Алтайский</a:t>
            </a:r>
            <a:r>
              <a:rPr sz="850" b="0" dirty="0">
                <a:latin typeface="Inter"/>
              </a:rPr>
              <a:t> </a:t>
            </a:r>
            <a:r>
              <a:rPr sz="850" b="0" dirty="0" err="1">
                <a:latin typeface="Inter"/>
              </a:rPr>
              <a:t>край</a:t>
            </a:r>
            <a:endParaRPr sz="850" b="0" dirty="0">
              <a:latin typeface="Inter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6640505" y="1782736"/>
            <a:ext cx="1700000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spc="20" dirty="0" err="1">
                <a:solidFill>
                  <a:srgbClr val="C00000"/>
                </a:solidFill>
                <a:latin typeface="Inter"/>
              </a:rPr>
              <a:t>Олимп</a:t>
            </a:r>
            <a:endParaRPr sz="900" b="0" spc="20" dirty="0">
              <a:solidFill>
                <a:srgbClr val="C00000"/>
              </a:solidFill>
              <a:latin typeface="Inter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7440506" y="1422736"/>
            <a:ext cx="1500000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1" dirty="0" smtClean="0">
                <a:solidFill>
                  <a:srgbClr val="2F3A48"/>
                </a:solidFill>
                <a:latin typeface="Roboto Mono"/>
              </a:rPr>
              <a:t>13</a:t>
            </a:r>
            <a:r>
              <a:rPr lang="en-US" sz="900" b="1" dirty="0" smtClean="0">
                <a:solidFill>
                  <a:srgbClr val="2F3A48"/>
                </a:solidFill>
                <a:latin typeface="Roboto Mono"/>
              </a:rPr>
              <a:t>-16.10.2026</a:t>
            </a:r>
            <a:endParaRPr sz="900" b="1" dirty="0">
              <a:solidFill>
                <a:srgbClr val="2F3A48"/>
              </a:solidFill>
              <a:latin typeface="Roboto Mono"/>
            </a:endParaRPr>
          </a:p>
        </p:txBody>
      </p:sp>
      <p:sp>
        <p:nvSpPr>
          <p:cNvPr id="22" name="Rectangle 21"/>
          <p:cNvSpPr/>
          <p:nvPr/>
        </p:nvSpPr>
        <p:spPr>
          <a:xfrm>
            <a:off x="6270505" y="1950766"/>
            <a:ext cx="2700000" cy="45719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6241010" y="2017706"/>
            <a:ext cx="320000" cy="323130"/>
          </a:xfrm>
          <a:prstGeom prst="roundRect">
            <a:avLst>
              <a:gd name="adj" fmla="val 18000"/>
            </a:avLst>
          </a:prstGeom>
          <a:solidFill>
            <a:srgbClr val="D9D2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241010" y="2070835"/>
            <a:ext cx="320000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 dirty="0">
                <a:latin typeface="Inter"/>
              </a:rPr>
              <a:t>02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40505" y="2020835"/>
            <a:ext cx="1600000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2F3A48"/>
                </a:solidFill>
                <a:latin typeface="Inter"/>
              </a:rPr>
              <a:t>Красноярск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40505" y="2220836"/>
            <a:ext cx="1600000" cy="1308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dirty="0" err="1">
                <a:latin typeface="Inter"/>
              </a:rPr>
              <a:t>Красноярский</a:t>
            </a:r>
            <a:r>
              <a:rPr sz="850" b="0" dirty="0">
                <a:latin typeface="Inter"/>
              </a:rPr>
              <a:t> </a:t>
            </a:r>
            <a:r>
              <a:rPr sz="850" b="0" dirty="0" err="1">
                <a:latin typeface="Inter"/>
              </a:rPr>
              <a:t>край</a:t>
            </a:r>
            <a:endParaRPr sz="850" b="0" dirty="0">
              <a:latin typeface="Inter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6640505" y="2386735"/>
            <a:ext cx="1700000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spc="20" dirty="0">
                <a:solidFill>
                  <a:srgbClr val="C00000"/>
                </a:solidFill>
                <a:latin typeface="Inter"/>
              </a:rPr>
              <a:t>ООО «ОЧАГ»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981826" y="2020836"/>
            <a:ext cx="958681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1" dirty="0" smtClean="0">
                <a:solidFill>
                  <a:srgbClr val="2F3A48"/>
                </a:solidFill>
                <a:latin typeface="Roboto Mono"/>
              </a:rPr>
              <a:t>05</a:t>
            </a:r>
            <a:r>
              <a:rPr lang="en-US" sz="900" b="1" dirty="0" smtClean="0">
                <a:solidFill>
                  <a:srgbClr val="2F3A48"/>
                </a:solidFill>
                <a:latin typeface="Roboto Mono"/>
              </a:rPr>
              <a:t>-</a:t>
            </a:r>
            <a:r>
              <a:rPr sz="900" b="1" dirty="0" smtClean="0">
                <a:solidFill>
                  <a:srgbClr val="2F3A48"/>
                </a:solidFill>
                <a:latin typeface="Roboto Mono"/>
              </a:rPr>
              <a:t>11.11</a:t>
            </a:r>
            <a:r>
              <a:rPr lang="en-US" sz="900" b="1" dirty="0" smtClean="0">
                <a:solidFill>
                  <a:srgbClr val="2F3A48"/>
                </a:solidFill>
                <a:latin typeface="Roboto Mono"/>
              </a:rPr>
              <a:t>.2026</a:t>
            </a:r>
            <a:endParaRPr sz="900" b="1" dirty="0">
              <a:solidFill>
                <a:srgbClr val="2F3A48"/>
              </a:solidFill>
              <a:latin typeface="Roboto Mono"/>
            </a:endParaRPr>
          </a:p>
        </p:txBody>
      </p:sp>
      <p:sp>
        <p:nvSpPr>
          <p:cNvPr id="29" name="Rectangle 28"/>
          <p:cNvSpPr/>
          <p:nvPr/>
        </p:nvSpPr>
        <p:spPr>
          <a:xfrm>
            <a:off x="6270505" y="2529816"/>
            <a:ext cx="2700000" cy="45719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ounded Rectangle 29"/>
          <p:cNvSpPr/>
          <p:nvPr/>
        </p:nvSpPr>
        <p:spPr>
          <a:xfrm>
            <a:off x="6241010" y="2603106"/>
            <a:ext cx="320000" cy="323130"/>
          </a:xfrm>
          <a:prstGeom prst="roundRect">
            <a:avLst>
              <a:gd name="adj" fmla="val 18000"/>
            </a:avLst>
          </a:prstGeom>
          <a:solidFill>
            <a:srgbClr val="D9D2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241010" y="2656235"/>
            <a:ext cx="320000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 dirty="0">
                <a:latin typeface="Inter"/>
              </a:rPr>
              <a:t>03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40505" y="2606236"/>
            <a:ext cx="1600000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dirty="0" err="1">
                <a:latin typeface="Inter"/>
              </a:rPr>
              <a:t>Улан-Удэ</a:t>
            </a:r>
            <a:endParaRPr sz="1100" b="1" dirty="0">
              <a:latin typeface="Inter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6640505" y="2806236"/>
            <a:ext cx="1600000" cy="1308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dirty="0" err="1">
                <a:latin typeface="Inter"/>
              </a:rPr>
              <a:t>Республика</a:t>
            </a:r>
            <a:r>
              <a:rPr sz="850" b="0" dirty="0">
                <a:latin typeface="Inter"/>
              </a:rPr>
              <a:t> </a:t>
            </a:r>
            <a:r>
              <a:rPr sz="850" b="0" dirty="0" err="1">
                <a:latin typeface="Inter"/>
              </a:rPr>
              <a:t>Бурятия</a:t>
            </a:r>
            <a:endParaRPr sz="850" b="0" dirty="0">
              <a:latin typeface="Inter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6640505" y="2959887"/>
            <a:ext cx="1700000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spc="20" dirty="0" err="1">
                <a:solidFill>
                  <a:srgbClr val="C00000"/>
                </a:solidFill>
                <a:latin typeface="Inter"/>
              </a:rPr>
              <a:t>Вегос</a:t>
            </a:r>
            <a:r>
              <a:rPr sz="900" b="0" spc="20" dirty="0">
                <a:solidFill>
                  <a:srgbClr val="C00000"/>
                </a:solidFill>
                <a:latin typeface="Inter"/>
              </a:rPr>
              <a:t>-М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63547" y="2606237"/>
            <a:ext cx="1176958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1" dirty="0" smtClean="0">
                <a:solidFill>
                  <a:srgbClr val="2F3A48"/>
                </a:solidFill>
                <a:latin typeface="Roboto Mono"/>
              </a:rPr>
              <a:t>19</a:t>
            </a:r>
            <a:r>
              <a:rPr lang="en-US" sz="900" b="1" dirty="0" smtClean="0">
                <a:solidFill>
                  <a:srgbClr val="2F3A48"/>
                </a:solidFill>
                <a:latin typeface="Roboto Mono"/>
              </a:rPr>
              <a:t>-</a:t>
            </a:r>
            <a:r>
              <a:rPr sz="900" b="1" dirty="0" smtClean="0">
                <a:solidFill>
                  <a:srgbClr val="2F3A48"/>
                </a:solidFill>
                <a:latin typeface="Roboto Mono"/>
              </a:rPr>
              <a:t>25.11</a:t>
            </a:r>
            <a:r>
              <a:rPr lang="en-US" sz="900" b="1" dirty="0" smtClean="0">
                <a:solidFill>
                  <a:srgbClr val="2F3A48"/>
                </a:solidFill>
                <a:latin typeface="Roboto Mono"/>
              </a:rPr>
              <a:t>.2026</a:t>
            </a:r>
            <a:endParaRPr sz="900" b="1" dirty="0">
              <a:solidFill>
                <a:srgbClr val="2F3A48"/>
              </a:solidFill>
              <a:latin typeface="Roboto Mono"/>
            </a:endParaRPr>
          </a:p>
        </p:txBody>
      </p:sp>
      <p:sp>
        <p:nvSpPr>
          <p:cNvPr id="36" name="Rectangle 35"/>
          <p:cNvSpPr/>
          <p:nvPr/>
        </p:nvSpPr>
        <p:spPr>
          <a:xfrm>
            <a:off x="6270505" y="3134266"/>
            <a:ext cx="2700000" cy="45719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ounded Rectangle 36"/>
          <p:cNvSpPr/>
          <p:nvPr/>
        </p:nvSpPr>
        <p:spPr>
          <a:xfrm>
            <a:off x="6241010" y="3201205"/>
            <a:ext cx="320000" cy="323130"/>
          </a:xfrm>
          <a:prstGeom prst="roundRect">
            <a:avLst>
              <a:gd name="adj" fmla="val 18000"/>
            </a:avLst>
          </a:prstGeom>
          <a:solidFill>
            <a:srgbClr val="D9D2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6241010" y="3254335"/>
            <a:ext cx="320000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 dirty="0">
                <a:latin typeface="Inter"/>
              </a:rPr>
              <a:t>04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640505" y="3204336"/>
            <a:ext cx="1600000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dirty="0" err="1">
                <a:latin typeface="Inter"/>
              </a:rPr>
              <a:t>Омск</a:t>
            </a:r>
            <a:endParaRPr sz="1100" b="1" dirty="0">
              <a:latin typeface="Inter"/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6640505" y="3404336"/>
            <a:ext cx="1600000" cy="1308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dirty="0" err="1">
                <a:latin typeface="Inter"/>
              </a:rPr>
              <a:t>Омская</a:t>
            </a:r>
            <a:r>
              <a:rPr sz="850" b="0" dirty="0">
                <a:latin typeface="Inter"/>
              </a:rPr>
              <a:t> </a:t>
            </a:r>
            <a:r>
              <a:rPr sz="850" b="0" dirty="0" err="1">
                <a:latin typeface="Inter"/>
              </a:rPr>
              <a:t>область</a:t>
            </a:r>
            <a:endParaRPr sz="850" b="0" dirty="0">
              <a:latin typeface="Inter"/>
            </a:endParaRPr>
          </a:p>
        </p:txBody>
      </p:sp>
      <p:sp>
        <p:nvSpPr>
          <p:cNvPr id="41" name="TextBox 40"/>
          <p:cNvSpPr txBox="1"/>
          <p:nvPr/>
        </p:nvSpPr>
        <p:spPr>
          <a:xfrm>
            <a:off x="6640505" y="3564336"/>
            <a:ext cx="1700000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spc="20" dirty="0">
                <a:solidFill>
                  <a:srgbClr val="C00000"/>
                </a:solidFill>
                <a:latin typeface="Inter"/>
              </a:rPr>
              <a:t>ИП </a:t>
            </a:r>
            <a:r>
              <a:rPr sz="900" b="0" spc="20" dirty="0" err="1">
                <a:solidFill>
                  <a:srgbClr val="C00000"/>
                </a:solidFill>
                <a:latin typeface="Inter"/>
              </a:rPr>
              <a:t>Шишков</a:t>
            </a:r>
            <a:endParaRPr sz="900" b="0" spc="20" dirty="0">
              <a:solidFill>
                <a:srgbClr val="C00000"/>
              </a:solidFill>
              <a:latin typeface="Inter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8220505" y="3204336"/>
            <a:ext cx="720000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lang="ru-RU" sz="900" b="1" dirty="0" smtClean="0">
                <a:solidFill>
                  <a:srgbClr val="2F3A48"/>
                </a:solidFill>
                <a:latin typeface="Roboto Mono"/>
              </a:rPr>
              <a:t>уточняется</a:t>
            </a:r>
            <a:endParaRPr sz="900" b="1" dirty="0">
              <a:solidFill>
                <a:srgbClr val="2F3A48"/>
              </a:solidFill>
              <a:latin typeface="Roboto Mono"/>
            </a:endParaRPr>
          </a:p>
        </p:txBody>
      </p:sp>
      <p:sp>
        <p:nvSpPr>
          <p:cNvPr id="43" name="Rectangle 42"/>
          <p:cNvSpPr/>
          <p:nvPr/>
        </p:nvSpPr>
        <p:spPr>
          <a:xfrm>
            <a:off x="6270505" y="3745066"/>
            <a:ext cx="2700000" cy="45719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ounded Rectangle 43"/>
          <p:cNvSpPr/>
          <p:nvPr/>
        </p:nvSpPr>
        <p:spPr>
          <a:xfrm>
            <a:off x="6241010" y="3812006"/>
            <a:ext cx="320000" cy="323130"/>
          </a:xfrm>
          <a:prstGeom prst="roundRect">
            <a:avLst>
              <a:gd name="adj" fmla="val 18000"/>
            </a:avLst>
          </a:prstGeom>
          <a:solidFill>
            <a:srgbClr val="D9D2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6241010" y="3865135"/>
            <a:ext cx="320000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 dirty="0">
                <a:latin typeface="Inter"/>
              </a:rPr>
              <a:t>05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640505" y="3815136"/>
            <a:ext cx="1600000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dirty="0" err="1">
                <a:latin typeface="Inter"/>
              </a:rPr>
              <a:t>Казань</a:t>
            </a:r>
            <a:endParaRPr sz="1100" b="1" dirty="0">
              <a:latin typeface="Inter"/>
            </a:endParaRPr>
          </a:p>
        </p:txBody>
      </p:sp>
      <p:sp>
        <p:nvSpPr>
          <p:cNvPr id="47" name="TextBox 46"/>
          <p:cNvSpPr txBox="1"/>
          <p:nvPr/>
        </p:nvSpPr>
        <p:spPr>
          <a:xfrm>
            <a:off x="6640505" y="4015136"/>
            <a:ext cx="1600000" cy="1308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Республика Татарстан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640505" y="4169237"/>
            <a:ext cx="1700000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spc="20" dirty="0">
                <a:solidFill>
                  <a:srgbClr val="C00000"/>
                </a:solidFill>
                <a:latin typeface="Inter"/>
              </a:rPr>
              <a:t>ТС </a:t>
            </a:r>
            <a:r>
              <a:rPr sz="900" b="0" spc="20" dirty="0" err="1">
                <a:solidFill>
                  <a:srgbClr val="C00000"/>
                </a:solidFill>
                <a:latin typeface="Inter"/>
              </a:rPr>
              <a:t>Агава</a:t>
            </a:r>
            <a:r>
              <a:rPr sz="900" b="0" spc="20" dirty="0">
                <a:solidFill>
                  <a:srgbClr val="C00000"/>
                </a:solidFill>
                <a:latin typeface="Inter"/>
              </a:rPr>
              <a:t>, </a:t>
            </a:r>
            <a:r>
              <a:rPr sz="900" b="0" spc="20" dirty="0" err="1">
                <a:solidFill>
                  <a:srgbClr val="C00000"/>
                </a:solidFill>
                <a:latin typeface="Inter"/>
              </a:rPr>
              <a:t>Карат</a:t>
            </a:r>
            <a:r>
              <a:rPr sz="900" b="0" spc="20" dirty="0">
                <a:solidFill>
                  <a:srgbClr val="C00000"/>
                </a:solidFill>
                <a:latin typeface="Inter"/>
              </a:rPr>
              <a:t>, </a:t>
            </a:r>
            <a:r>
              <a:rPr sz="900" b="0" spc="20" dirty="0" err="1">
                <a:solidFill>
                  <a:srgbClr val="C00000"/>
                </a:solidFill>
                <a:latin typeface="Inter"/>
              </a:rPr>
              <a:t>Колорит</a:t>
            </a:r>
            <a:endParaRPr sz="900" b="0" spc="20" dirty="0">
              <a:solidFill>
                <a:srgbClr val="C00000"/>
              </a:solidFill>
              <a:latin typeface="Inter"/>
            </a:endParaRPr>
          </a:p>
        </p:txBody>
      </p:sp>
      <p:sp>
        <p:nvSpPr>
          <p:cNvPr id="49" name="TextBox 48"/>
          <p:cNvSpPr txBox="1"/>
          <p:nvPr/>
        </p:nvSpPr>
        <p:spPr>
          <a:xfrm>
            <a:off x="8220505" y="3815136"/>
            <a:ext cx="720000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lang="ru-RU" sz="900" b="1" dirty="0">
                <a:solidFill>
                  <a:srgbClr val="2F3A48"/>
                </a:solidFill>
                <a:latin typeface="Roboto Mono"/>
              </a:rPr>
              <a:t>уточняется</a:t>
            </a:r>
          </a:p>
        </p:txBody>
      </p:sp>
      <p:pic>
        <p:nvPicPr>
          <p:cNvPr id="51" name="Picture 10" descr="white_spots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014" y="919468"/>
            <a:ext cx="5800000" cy="3400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14703" y="159902"/>
            <a:ext cx="2504174" cy="485630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1028" name="Picture 4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5775" y="3284511"/>
            <a:ext cx="5499189" cy="173169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45668847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40000" y="180000"/>
            <a:ext cx="8800000" cy="3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>
                <a:solidFill>
                  <a:srgbClr val="2F3A48"/>
                </a:solidFill>
                <a:latin typeface="Inter"/>
              </a:rPr>
              <a:t>Поддержка новых дистрибьюторов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200000" y="160000"/>
            <a:ext cx="1800000" cy="280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9A7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200000" y="205000"/>
            <a:ext cx="1800000" cy="235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spc="150">
                <a:solidFill>
                  <a:srgbClr val="C9A77C"/>
                </a:solidFill>
                <a:latin typeface="Inter"/>
              </a:rPr>
              <a:t>ПРОГРАММА ·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140000" y="588998"/>
            <a:ext cx="8855724" cy="28575"/>
          </a:xfrm>
          <a:prstGeom prst="rect">
            <a:avLst/>
          </a:prstGeom>
          <a:solidFill>
            <a:srgbClr val="D9D2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61200" y="960000"/>
            <a:ext cx="6066960" cy="35000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6350">
            <a:solidFill>
              <a:srgbClr val="D9D2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61200" y="1100000"/>
            <a:ext cx="80000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spc="200">
                <a:solidFill>
                  <a:srgbClr val="C00000"/>
                </a:solidFill>
                <a:latin typeface="Inter"/>
              </a:rPr>
              <a:t>4 ЭТАПА ПОДДЕРЖКИ НОВОГО ДИСТРИБЬЮТОРА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1200" y="1330000"/>
            <a:ext cx="80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8A95A3"/>
                </a:solidFill>
                <a:latin typeface="Inter"/>
              </a:rPr>
              <a:t>От подписания договора до первых продаж в новом регионе</a:t>
            </a:r>
          </a:p>
        </p:txBody>
      </p:sp>
      <p:sp>
        <p:nvSpPr>
          <p:cNvPr id="10" name="Rectangle 9"/>
          <p:cNvSpPr/>
          <p:nvPr/>
        </p:nvSpPr>
        <p:spPr>
          <a:xfrm>
            <a:off x="261200" y="1540000"/>
            <a:ext cx="5666960" cy="20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341200" y="2060334"/>
            <a:ext cx="5506960" cy="12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644570" y="1780334"/>
            <a:ext cx="560000" cy="560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4570" y="1890334"/>
            <a:ext cx="560000" cy="34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>
                <a:solidFill>
                  <a:srgbClr val="C00000"/>
                </a:solidFill>
                <a:latin typeface="Roboto Mono"/>
              </a:rP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1200" y="2460334"/>
            <a:ext cx="1326740" cy="2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>
                <a:solidFill>
                  <a:srgbClr val="2F3A48"/>
                </a:solidFill>
                <a:latin typeface="Inter"/>
              </a:rPr>
              <a:t>ПОДГОТОВКА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1200" y="3080334"/>
            <a:ext cx="1246740" cy="2923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ru-RU" sz="950" dirty="0" smtClean="0">
                <a:solidFill>
                  <a:srgbClr val="8A95A3"/>
                </a:solidFill>
                <a:latin typeface="Inter"/>
              </a:rPr>
              <a:t>Согласование и подписание договора</a:t>
            </a:r>
            <a:endParaRPr sz="950" b="0" dirty="0">
              <a:solidFill>
                <a:srgbClr val="8A95A3"/>
              </a:solidFill>
              <a:latin typeface="Inter"/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2025910" y="1779546"/>
            <a:ext cx="560000" cy="560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9A7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2025910" y="1889546"/>
            <a:ext cx="560000" cy="34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 dirty="0">
                <a:solidFill>
                  <a:srgbClr val="C9A77C"/>
                </a:solidFill>
                <a:latin typeface="Roboto Mono"/>
              </a:rPr>
              <a:t>02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34680" y="2447634"/>
            <a:ext cx="1326740" cy="2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dirty="0">
                <a:solidFill>
                  <a:srgbClr val="2F3A48"/>
                </a:solidFill>
                <a:latin typeface="Inter"/>
              </a:rPr>
              <a:t>ВЫСТАВКА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07940" y="2760334"/>
            <a:ext cx="1326740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ru-RU" sz="900" b="1" dirty="0" smtClean="0">
                <a:solidFill>
                  <a:srgbClr val="C9A77C"/>
                </a:solidFill>
                <a:latin typeface="Roboto Mono"/>
              </a:rPr>
              <a:t>15- </a:t>
            </a:r>
            <a:r>
              <a:rPr sz="900" b="1" dirty="0" smtClean="0">
                <a:solidFill>
                  <a:srgbClr val="C9A77C"/>
                </a:solidFill>
                <a:latin typeface="Roboto Mono"/>
              </a:rPr>
              <a:t>30</a:t>
            </a:r>
            <a:r>
              <a:rPr lang="ru-RU" sz="900" b="1" dirty="0" smtClean="0">
                <a:solidFill>
                  <a:srgbClr val="C9A77C"/>
                </a:solidFill>
                <a:latin typeface="Roboto Mono"/>
              </a:rPr>
              <a:t> дней</a:t>
            </a:r>
            <a:endParaRPr sz="900" b="1" dirty="0">
              <a:solidFill>
                <a:srgbClr val="C9A77C"/>
              </a:solidFill>
              <a:latin typeface="Roboto Mono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1747940" y="3080334"/>
            <a:ext cx="1246740" cy="8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50" b="0">
                <a:solidFill>
                  <a:srgbClr val="8A95A3"/>
                </a:solidFill>
                <a:latin typeface="Inter"/>
              </a:rPr>
              <a:t>Совместное участие Дистрибьютор + Эмпилс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418050" y="1774028"/>
            <a:ext cx="560000" cy="560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9A7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3418050" y="1884028"/>
            <a:ext cx="560000" cy="34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 dirty="0">
                <a:solidFill>
                  <a:srgbClr val="C9A77C"/>
                </a:solidFill>
                <a:latin typeface="Roboto Mono"/>
              </a:rPr>
              <a:t>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42540" y="2460334"/>
            <a:ext cx="1326740" cy="2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dirty="0">
                <a:solidFill>
                  <a:srgbClr val="2F3A48"/>
                </a:solidFill>
                <a:latin typeface="Inter"/>
              </a:rPr>
              <a:t>ОБУЧЕНИЕ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154680" y="2760334"/>
            <a:ext cx="1326740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ru-RU" sz="900" b="1" dirty="0" smtClean="0">
                <a:solidFill>
                  <a:srgbClr val="C9A77C"/>
                </a:solidFill>
                <a:latin typeface="Roboto Mono"/>
              </a:rPr>
              <a:t>0</a:t>
            </a:r>
            <a:r>
              <a:rPr sz="900" b="1" dirty="0" smtClean="0">
                <a:solidFill>
                  <a:srgbClr val="C9A77C"/>
                </a:solidFill>
                <a:latin typeface="Roboto Mono"/>
              </a:rPr>
              <a:t>—</a:t>
            </a:r>
            <a:r>
              <a:rPr lang="ru-RU" sz="900" b="1" dirty="0" smtClean="0">
                <a:solidFill>
                  <a:srgbClr val="C9A77C"/>
                </a:solidFill>
                <a:latin typeface="Roboto Mono"/>
              </a:rPr>
              <a:t>9</a:t>
            </a:r>
            <a:r>
              <a:rPr sz="900" b="1" dirty="0" smtClean="0">
                <a:solidFill>
                  <a:srgbClr val="C9A77C"/>
                </a:solidFill>
                <a:latin typeface="Roboto Mono"/>
              </a:rPr>
              <a:t>0</a:t>
            </a:r>
            <a:r>
              <a:rPr lang="ru-RU" sz="900" b="1" dirty="0" smtClean="0">
                <a:solidFill>
                  <a:srgbClr val="C9A77C"/>
                </a:solidFill>
                <a:latin typeface="Roboto Mono"/>
              </a:rPr>
              <a:t> дней</a:t>
            </a:r>
            <a:endParaRPr sz="900" b="1" dirty="0">
              <a:solidFill>
                <a:srgbClr val="C9A77C"/>
              </a:solidFill>
              <a:latin typeface="Roboto Mono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3194680" y="3080334"/>
            <a:ext cx="1246740" cy="8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50" b="0">
                <a:solidFill>
                  <a:srgbClr val="8A95A3"/>
                </a:solidFill>
                <a:latin typeface="Inter"/>
              </a:rPr>
              <a:t>Выездное обучение с упором на продажи ФТМ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984790" y="1780334"/>
            <a:ext cx="560000" cy="560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F3A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984790" y="1890334"/>
            <a:ext cx="560000" cy="34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>
                <a:solidFill>
                  <a:srgbClr val="2F3A48"/>
                </a:solidFill>
                <a:latin typeface="Roboto Mono"/>
              </a:rPr>
              <a:t>04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01420" y="2460334"/>
            <a:ext cx="1326740" cy="2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>
                <a:solidFill>
                  <a:srgbClr val="2F3A48"/>
                </a:solidFill>
                <a:latin typeface="Inter"/>
              </a:rPr>
              <a:t>СОПРОВОЖДЕНИЕ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01420" y="2760334"/>
            <a:ext cx="1326740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ru-RU" sz="900" b="1" dirty="0">
                <a:solidFill>
                  <a:srgbClr val="C9A77C"/>
                </a:solidFill>
                <a:latin typeface="Roboto Mono"/>
              </a:rPr>
              <a:t>0—90 дней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41420" y="3080334"/>
            <a:ext cx="1246740" cy="8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50" b="0">
                <a:solidFill>
                  <a:srgbClr val="8A95A3"/>
                </a:solidFill>
                <a:latin typeface="Inter"/>
              </a:rPr>
              <a:t>Мониторинг · KPI · Корректировка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61200" y="3993122"/>
            <a:ext cx="5666960" cy="15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ounded Rectangle 33"/>
          <p:cNvSpPr/>
          <p:nvPr/>
        </p:nvSpPr>
        <p:spPr>
          <a:xfrm>
            <a:off x="6195600" y="960000"/>
            <a:ext cx="2862000" cy="35000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6350">
            <a:solidFill>
              <a:srgbClr val="D9D2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6395600" y="1100000"/>
            <a:ext cx="24620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spc="200">
                <a:solidFill>
                  <a:srgbClr val="C00000"/>
                </a:solidFill>
                <a:latin typeface="Inter"/>
              </a:rPr>
              <a:t>KPI ПРОГРАММЫ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95600" y="1330000"/>
            <a:ext cx="2462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8A95A3"/>
                </a:solidFill>
                <a:latin typeface="Inter"/>
              </a:rPr>
              <a:t>Метрики за первые 90 дней работы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395600" y="1540000"/>
            <a:ext cx="2462000" cy="20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6320536" y="1710000"/>
            <a:ext cx="40000" cy="5200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6555600" y="1720000"/>
            <a:ext cx="1600000" cy="3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>
                <a:solidFill>
                  <a:srgbClr val="C00000"/>
                </a:solidFill>
                <a:latin typeface="Roboto Mono"/>
              </a:rPr>
              <a:t>1 выставка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95600" y="2010000"/>
            <a:ext cx="246200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8A95A3"/>
                </a:solidFill>
                <a:latin typeface="Inter"/>
              </a:rPr>
              <a:t>Профильное мероприятие в регионе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395600" y="2180000"/>
            <a:ext cx="2462000" cy="12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6320536" y="2290000"/>
            <a:ext cx="40000" cy="520000"/>
          </a:xfrm>
          <a:prstGeom prst="rect">
            <a:avLst/>
          </a:prstGeom>
          <a:solidFill>
            <a:srgbClr val="C9A7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6555600" y="2300000"/>
            <a:ext cx="1600000" cy="3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>
                <a:solidFill>
                  <a:srgbClr val="C9A77C"/>
                </a:solidFill>
                <a:latin typeface="Roboto Mono"/>
              </a:rPr>
              <a:t>100%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395600" y="2590000"/>
            <a:ext cx="246200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8A95A3"/>
                </a:solidFill>
                <a:latin typeface="Inter"/>
              </a:rPr>
              <a:t>ТП дистрибьютора обучено продажам ФТМ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395600" y="2760000"/>
            <a:ext cx="2462000" cy="12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Rectangle 45"/>
          <p:cNvSpPr/>
          <p:nvPr/>
        </p:nvSpPr>
        <p:spPr>
          <a:xfrm>
            <a:off x="6327360" y="2870000"/>
            <a:ext cx="40000" cy="520000"/>
          </a:xfrm>
          <a:prstGeom prst="rect">
            <a:avLst/>
          </a:prstGeom>
          <a:solidFill>
            <a:srgbClr val="C9A7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6555600" y="2880000"/>
            <a:ext cx="1600000" cy="3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dirty="0">
                <a:solidFill>
                  <a:srgbClr val="C9A77C"/>
                </a:solidFill>
                <a:latin typeface="Roboto Mono"/>
              </a:rPr>
              <a:t>30 </a:t>
            </a:r>
            <a:r>
              <a:rPr sz="1600" b="1" dirty="0" err="1">
                <a:solidFill>
                  <a:srgbClr val="C9A77C"/>
                </a:solidFill>
                <a:latin typeface="Roboto Mono"/>
              </a:rPr>
              <a:t>дней</a:t>
            </a:r>
            <a:endParaRPr sz="1600" b="1" dirty="0">
              <a:solidFill>
                <a:srgbClr val="C9A77C"/>
              </a:solidFill>
              <a:latin typeface="Roboto Mono"/>
            </a:endParaRPr>
          </a:p>
        </p:txBody>
      </p:sp>
      <p:sp>
        <p:nvSpPr>
          <p:cNvPr id="48" name="TextBox 47"/>
          <p:cNvSpPr txBox="1"/>
          <p:nvPr/>
        </p:nvSpPr>
        <p:spPr>
          <a:xfrm>
            <a:off x="6395600" y="3170000"/>
            <a:ext cx="246200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8A95A3"/>
                </a:solidFill>
                <a:latin typeface="Inter"/>
              </a:rPr>
              <a:t>От договора до первой отгрузки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395600" y="3340000"/>
            <a:ext cx="2462000" cy="12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Rectangle 49"/>
          <p:cNvSpPr/>
          <p:nvPr/>
        </p:nvSpPr>
        <p:spPr>
          <a:xfrm>
            <a:off x="6334184" y="3450000"/>
            <a:ext cx="40000" cy="520000"/>
          </a:xfrm>
          <a:prstGeom prst="rect">
            <a:avLst/>
          </a:prstGeom>
          <a:solidFill>
            <a:srgbClr val="2F3A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6555600" y="3460000"/>
            <a:ext cx="1600000" cy="3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>
                <a:solidFill>
                  <a:srgbClr val="2F3A48"/>
                </a:solidFill>
                <a:latin typeface="Roboto Mono"/>
              </a:rPr>
              <a:t>90 дней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395600" y="3750000"/>
            <a:ext cx="246200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8A95A3"/>
                </a:solidFill>
                <a:latin typeface="Inter"/>
              </a:rPr>
              <a:t>Период активной поддержки Эмпилс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395600" y="4010000"/>
            <a:ext cx="2462000" cy="15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268397" y="2770334"/>
            <a:ext cx="1326740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1" dirty="0" smtClean="0">
                <a:solidFill>
                  <a:srgbClr val="C9A77C"/>
                </a:solidFill>
                <a:latin typeface="Roboto Mono"/>
              </a:rPr>
              <a:t>0</a:t>
            </a:r>
            <a:r>
              <a:rPr lang="ru-RU" sz="900" b="1" dirty="0" smtClean="0">
                <a:solidFill>
                  <a:srgbClr val="C9A77C"/>
                </a:solidFill>
                <a:latin typeface="Roboto Mono"/>
              </a:rPr>
              <a:t>-15 дней</a:t>
            </a:r>
            <a:endParaRPr sz="900" b="1" dirty="0">
              <a:solidFill>
                <a:srgbClr val="C9A77C"/>
              </a:solidFill>
              <a:latin typeface="Roboto Mono"/>
            </a:endParaRPr>
          </a:p>
        </p:txBody>
      </p:sp>
    </p:spTree>
    <p:extLst>
      <p:ext uri="{BB962C8B-B14F-4D97-AF65-F5344CB8AC3E}">
        <p14:creationId xmlns:p14="http://schemas.microsoft.com/office/powerpoint/2010/main" val="378878284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2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80000" y="180000"/>
            <a:ext cx="7200000" cy="34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>
                <a:solidFill>
                  <a:srgbClr val="2F3A48"/>
                </a:solidFill>
                <a:latin typeface="Inter"/>
              </a:rPr>
              <a:t>Запуск новинок · Стандарт вывода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0000" y="558000"/>
            <a:ext cx="7200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8A95A3"/>
                </a:solidFill>
                <a:latin typeface="Inter"/>
              </a:rPr>
              <a:t>Итоги 5 новинок 2026 · Первичка: 3.65 млн ₽ · 25 SKU · АКБ 302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200000" y="162000"/>
            <a:ext cx="1800000" cy="2808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9A7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200000" y="208800"/>
            <a:ext cx="1800000" cy="23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spc="150">
                <a:solidFill>
                  <a:srgbClr val="C9A77C"/>
                </a:solidFill>
                <a:latin typeface="Inter"/>
              </a:rPr>
              <a:t>СТАНДАРТ ·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180000" y="799200"/>
            <a:ext cx="8820000" cy="28800"/>
          </a:xfrm>
          <a:prstGeom prst="rect">
            <a:avLst/>
          </a:prstGeom>
          <a:solidFill>
            <a:srgbClr val="D9D2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180000" y="961200"/>
          <a:ext cx="8820000" cy="2033998"/>
        </p:xfrm>
        <a:graphic>
          <a:graphicData uri="http://schemas.openxmlformats.org/drawingml/2006/table">
            <a:tbl>
              <a:tblPr firstRow="0" bandRow="0"/>
              <a:tblGrid>
                <a:gridCol w="360000"/>
                <a:gridCol w="1980000"/>
                <a:gridCol w="432000"/>
                <a:gridCol w="1440000"/>
                <a:gridCol w="2088000"/>
                <a:gridCol w="1260000"/>
                <a:gridCol w="1260000"/>
              </a:tblGrid>
              <a:tr h="251999"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Inter"/>
                        </a:rPr>
                        <a:t>#</a:t>
                      </a:r>
                    </a:p>
                  </a:txBody>
                  <a:tcPr anchor="ctr" marL="50000" marR="50000" marT="20000" marB="20000">
                    <a:solidFill>
                      <a:srgbClr val="2F3A4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Inter"/>
                        </a:rPr>
                        <a:t>Новинка</a:t>
                      </a:r>
                    </a:p>
                  </a:txBody>
                  <a:tcPr anchor="ctr" marL="50000" marR="50000" marT="20000" marB="20000">
                    <a:solidFill>
                      <a:srgbClr val="2F3A4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Inter"/>
                        </a:rPr>
                        <a:t>SKU</a:t>
                      </a:r>
                    </a:p>
                  </a:txBody>
                  <a:tcPr anchor="ctr" marL="50000" marR="50000" marT="20000" marB="20000">
                    <a:solidFill>
                      <a:srgbClr val="2F3A4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Inter"/>
                        </a:rPr>
                        <a:t>Фасовки</a:t>
                      </a:r>
                    </a:p>
                  </a:txBody>
                  <a:tcPr anchor="ctr" marL="50000" marR="50000" marT="20000" marB="20000">
                    <a:solidFill>
                      <a:srgbClr val="2F3A4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Inter"/>
                        </a:rPr>
                        <a:t>Цвета</a:t>
                      </a:r>
                    </a:p>
                  </a:txBody>
                  <a:tcPr anchor="ctr" marL="50000" marR="50000" marT="20000" marB="20000">
                    <a:solidFill>
                      <a:srgbClr val="2F3A4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Inter"/>
                        </a:rPr>
                        <a:t>Первичка (₽)</a:t>
                      </a:r>
                    </a:p>
                  </a:txBody>
                  <a:tcPr anchor="ctr" marL="50000" marR="50000" marT="20000" marB="20000">
                    <a:solidFill>
                      <a:srgbClr val="2F3A4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Inter"/>
                        </a:rPr>
                        <a:t>АКБ</a:t>
                      </a:r>
                    </a:p>
                  </a:txBody>
                  <a:tcPr anchor="ctr" marL="50000" marR="50000" marT="20000" marB="20000">
                    <a:solidFill>
                      <a:srgbClr val="2F3A48"/>
                    </a:solidFill>
                  </a:tcPr>
                </a:tc>
              </a:tr>
              <a:tr h="3060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C00000"/>
                          </a:solidFill>
                          <a:latin typeface="Roboto Mono"/>
                        </a:rPr>
                        <a:t>01</a:t>
                      </a:r>
                    </a:p>
                  </a:txBody>
                  <a:tcPr anchor="ctr" marL="50000" marR="50000" marT="20000" marB="20000">
                    <a:solidFill>
                      <a:srgbClr val="F5F2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2F3A48"/>
                          </a:solidFill>
                          <a:latin typeface="Inter"/>
                        </a:rPr>
                        <a:t>PROFIWOOD антисептик кроющий ВД</a:t>
                      </a:r>
                    </a:p>
                  </a:txBody>
                  <a:tcPr anchor="ctr" marL="50000" marR="50000" marT="20000" marB="20000">
                    <a:solidFill>
                      <a:srgbClr val="F5F2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2F3A48"/>
                          </a:solidFill>
                          <a:latin typeface="Roboto Mono"/>
                        </a:rPr>
                        <a:t>14</a:t>
                      </a:r>
                    </a:p>
                  </a:txBody>
                  <a:tcPr anchor="ctr" marL="50000" marR="50000" marT="20000" marB="20000">
                    <a:solidFill>
                      <a:srgbClr val="F5F2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8A95A3"/>
                          </a:solidFill>
                          <a:latin typeface="Inter"/>
                        </a:rPr>
                        <a:t>0.8 л, 2.1 л, 2.4 л</a:t>
                      </a:r>
                    </a:p>
                  </a:txBody>
                  <a:tcPr anchor="ctr" marL="50000" marR="50000" marT="20000" marB="20000">
                    <a:solidFill>
                      <a:srgbClr val="F5F2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8A95A3"/>
                          </a:solidFill>
                          <a:latin typeface="Inter"/>
                        </a:rPr>
                        <a:t>база С, бежевый, белый, горький шоколад, серый туман, сканд. серый, шоколад. мусс</a:t>
                      </a:r>
                    </a:p>
                  </a:txBody>
                  <a:tcPr anchor="ctr" marL="50000" marR="50000" marT="20000" marB="20000">
                    <a:solidFill>
                      <a:srgbClr val="F5F2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00000"/>
                          </a:solidFill>
                          <a:latin typeface="Roboto Mono"/>
                        </a:rPr>
                        <a:t>804 тыс</a:t>
                      </a:r>
                    </a:p>
                  </a:txBody>
                  <a:tcPr anchor="ctr" marL="50000" marR="50000" marT="20000" marB="20000">
                    <a:solidFill>
                      <a:srgbClr val="F5F2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2F3A48"/>
                          </a:solidFill>
                          <a:latin typeface="Roboto Mono"/>
                        </a:rPr>
                        <a:t>100</a:t>
                      </a:r>
                    </a:p>
                  </a:txBody>
                  <a:tcPr anchor="ctr" marL="50000" marR="50000" marT="20000" marB="20000">
                    <a:solidFill>
                      <a:srgbClr val="F5F2EC"/>
                    </a:solidFill>
                  </a:tcPr>
                </a:tc>
              </a:tr>
              <a:tr h="3060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C9A77C"/>
                          </a:solidFill>
                          <a:latin typeface="Roboto Mono"/>
                        </a:rPr>
                        <a:t>02</a:t>
                      </a:r>
                    </a:p>
                  </a:txBody>
                  <a:tcPr anchor="ctr" marL="50000" marR="50000" marT="20000" marB="20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2F3A48"/>
                          </a:solidFill>
                          <a:latin typeface="Inter"/>
                        </a:rPr>
                        <a:t>Ореол краска для плит OSB</a:t>
                      </a:r>
                    </a:p>
                  </a:txBody>
                  <a:tcPr anchor="ctr" marL="50000" marR="50000" marT="20000" marB="20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2F3A48"/>
                          </a:solidFill>
                          <a:latin typeface="Roboto Mono"/>
                        </a:rPr>
                        <a:t>3</a:t>
                      </a:r>
                    </a:p>
                  </a:txBody>
                  <a:tcPr anchor="ctr" marL="50000" marR="50000" marT="20000" marB="20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8A95A3"/>
                          </a:solidFill>
                          <a:latin typeface="Inter"/>
                        </a:rPr>
                        <a:t>1 кг, 12 кг, 6 кг</a:t>
                      </a:r>
                    </a:p>
                  </a:txBody>
                  <a:tcPr anchor="ctr" marL="50000" marR="50000" marT="20000" marB="20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8A95A3"/>
                          </a:solidFill>
                          <a:latin typeface="Inter"/>
                        </a:rPr>
                        <a:t>база А</a:t>
                      </a:r>
                    </a:p>
                  </a:txBody>
                  <a:tcPr anchor="ctr" marL="50000" marR="50000" marT="20000" marB="20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9A77C"/>
                          </a:solidFill>
                          <a:latin typeface="Roboto Mono"/>
                        </a:rPr>
                        <a:t>1,616 тыс</a:t>
                      </a:r>
                    </a:p>
                  </a:txBody>
                  <a:tcPr anchor="ctr" marL="50000" marR="50000" marT="20000" marB="20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2F3A48"/>
                          </a:solidFill>
                          <a:latin typeface="Roboto Mono"/>
                        </a:rPr>
                        <a:t>197</a:t>
                      </a:r>
                    </a:p>
                  </a:txBody>
                  <a:tcPr anchor="ctr" marL="50000" marR="50000" marT="20000" marB="20000">
                    <a:solidFill>
                      <a:srgbClr val="FFFFFF"/>
                    </a:solidFill>
                  </a:tcPr>
                </a:tc>
              </a:tr>
              <a:tr h="3060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6B8FA8"/>
                          </a:solidFill>
                          <a:latin typeface="Roboto Mono"/>
                        </a:rPr>
                        <a:t>03</a:t>
                      </a:r>
                    </a:p>
                  </a:txBody>
                  <a:tcPr anchor="ctr" marL="50000" marR="50000" marT="20000" marB="20000">
                    <a:solidFill>
                      <a:srgbClr val="F5F2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2F3A48"/>
                          </a:solidFill>
                          <a:latin typeface="Inter"/>
                        </a:rPr>
                        <a:t>NEWTONE ABSOLUTE BLACK</a:t>
                      </a:r>
                    </a:p>
                  </a:txBody>
                  <a:tcPr anchor="ctr" marL="50000" marR="50000" marT="20000" marB="20000">
                    <a:solidFill>
                      <a:srgbClr val="F5F2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2F3A48"/>
                          </a:solidFill>
                          <a:latin typeface="Roboto Mono"/>
                        </a:rPr>
                        <a:t>2</a:t>
                      </a:r>
                    </a:p>
                  </a:txBody>
                  <a:tcPr anchor="ctr" marL="50000" marR="50000" marT="20000" marB="20000">
                    <a:solidFill>
                      <a:srgbClr val="F5F2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8A95A3"/>
                          </a:solidFill>
                          <a:latin typeface="Inter"/>
                        </a:rPr>
                        <a:t>10 л, 2.5 л</a:t>
                      </a:r>
                    </a:p>
                  </a:txBody>
                  <a:tcPr anchor="ctr" marL="50000" marR="50000" marT="20000" marB="20000">
                    <a:solidFill>
                      <a:srgbClr val="F5F2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8A95A3"/>
                          </a:solidFill>
                          <a:latin typeface="Inter"/>
                        </a:rPr>
                        <a:t>чёрный</a:t>
                      </a:r>
                    </a:p>
                  </a:txBody>
                  <a:tcPr anchor="ctr" marL="50000" marR="50000" marT="20000" marB="20000">
                    <a:solidFill>
                      <a:srgbClr val="F5F2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6B8FA8"/>
                          </a:solidFill>
                          <a:latin typeface="Roboto Mono"/>
                        </a:rPr>
                        <a:t>111 тыс</a:t>
                      </a:r>
                    </a:p>
                  </a:txBody>
                  <a:tcPr anchor="ctr" marL="50000" marR="50000" marT="20000" marB="20000">
                    <a:solidFill>
                      <a:srgbClr val="F5F2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2F3A48"/>
                          </a:solidFill>
                          <a:latin typeface="Roboto Mono"/>
                        </a:rPr>
                        <a:t>0</a:t>
                      </a:r>
                    </a:p>
                  </a:txBody>
                  <a:tcPr anchor="ctr" marL="50000" marR="50000" marT="20000" marB="20000">
                    <a:solidFill>
                      <a:srgbClr val="F5F2EC"/>
                    </a:solidFill>
                  </a:tcPr>
                </a:tc>
              </a:tr>
              <a:tr h="3060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8BAA8A"/>
                          </a:solidFill>
                          <a:latin typeface="Roboto Mono"/>
                        </a:rPr>
                        <a:t>04</a:t>
                      </a:r>
                    </a:p>
                  </a:txBody>
                  <a:tcPr anchor="ctr" marL="50000" marR="50000" marT="20000" marB="20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2F3A48"/>
                          </a:solidFill>
                          <a:latin typeface="Inter"/>
                        </a:rPr>
                        <a:t>NEWTONE SKY потолочная</a:t>
                      </a:r>
                    </a:p>
                  </a:txBody>
                  <a:tcPr anchor="ctr" marL="50000" marR="50000" marT="20000" marB="20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2F3A48"/>
                          </a:solidFill>
                          <a:latin typeface="Roboto Mono"/>
                        </a:rPr>
                        <a:t>2</a:t>
                      </a:r>
                    </a:p>
                  </a:txBody>
                  <a:tcPr anchor="ctr" marL="50000" marR="50000" marT="20000" marB="20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8A95A3"/>
                          </a:solidFill>
                          <a:latin typeface="Inter"/>
                        </a:rPr>
                        <a:t>2.5 л, 9 л</a:t>
                      </a:r>
                    </a:p>
                  </a:txBody>
                  <a:tcPr anchor="ctr" marL="50000" marR="50000" marT="20000" marB="20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8A95A3"/>
                          </a:solidFill>
                          <a:latin typeface="Inter"/>
                        </a:rPr>
                        <a:t>ультрабелый</a:t>
                      </a:r>
                    </a:p>
                  </a:txBody>
                  <a:tcPr anchor="ctr" marL="50000" marR="50000" marT="20000" marB="20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8BAA8A"/>
                          </a:solidFill>
                          <a:latin typeface="Roboto Mono"/>
                        </a:rPr>
                        <a:t>57 тыс</a:t>
                      </a:r>
                    </a:p>
                  </a:txBody>
                  <a:tcPr anchor="ctr" marL="50000" marR="50000" marT="20000" marB="20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2F3A48"/>
                          </a:solidFill>
                          <a:latin typeface="Roboto Mono"/>
                        </a:rPr>
                        <a:t>0</a:t>
                      </a:r>
                    </a:p>
                  </a:txBody>
                  <a:tcPr anchor="ctr" marL="50000" marR="50000" marT="20000" marB="20000">
                    <a:solidFill>
                      <a:srgbClr val="FFFFFF"/>
                    </a:solidFill>
                  </a:tcPr>
                </a:tc>
              </a:tr>
              <a:tr h="3060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7B6FA8"/>
                          </a:solidFill>
                          <a:latin typeface="Roboto Mono"/>
                        </a:rPr>
                        <a:t>05</a:t>
                      </a:r>
                    </a:p>
                  </a:txBody>
                  <a:tcPr anchor="ctr" marL="50000" marR="50000" marT="20000" marB="20000">
                    <a:solidFill>
                      <a:srgbClr val="F5F2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2F3A48"/>
                          </a:solidFill>
                          <a:latin typeface="Inter"/>
                        </a:rPr>
                        <a:t>Ореол краска резиновая ВД</a:t>
                      </a:r>
                    </a:p>
                  </a:txBody>
                  <a:tcPr anchor="ctr" marL="50000" marR="50000" marT="20000" marB="20000">
                    <a:solidFill>
                      <a:srgbClr val="F5F2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2F3A48"/>
                          </a:solidFill>
                          <a:latin typeface="Roboto Mono"/>
                        </a:rPr>
                        <a:t>4</a:t>
                      </a:r>
                    </a:p>
                  </a:txBody>
                  <a:tcPr anchor="ctr" marL="50000" marR="50000" marT="20000" marB="20000">
                    <a:solidFill>
                      <a:srgbClr val="F5F2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8A95A3"/>
                          </a:solidFill>
                          <a:latin typeface="Inter"/>
                        </a:rPr>
                        <a:t>1.3 кг, 12 кг, 3 кг, 6 кг</a:t>
                      </a:r>
                    </a:p>
                  </a:txBody>
                  <a:tcPr anchor="ctr" marL="50000" marR="50000" marT="20000" marB="20000">
                    <a:solidFill>
                      <a:srgbClr val="F5F2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8A95A3"/>
                          </a:solidFill>
                          <a:latin typeface="Inter"/>
                        </a:rPr>
                        <a:t>база А</a:t>
                      </a:r>
                    </a:p>
                  </a:txBody>
                  <a:tcPr anchor="ctr" marL="50000" marR="50000" marT="20000" marB="20000">
                    <a:solidFill>
                      <a:srgbClr val="F5F2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B6FA8"/>
                          </a:solidFill>
                          <a:latin typeface="Roboto Mono"/>
                        </a:rPr>
                        <a:t>1,058 тыс</a:t>
                      </a:r>
                    </a:p>
                  </a:txBody>
                  <a:tcPr anchor="ctr" marL="50000" marR="50000" marT="20000" marB="20000">
                    <a:solidFill>
                      <a:srgbClr val="F5F2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2F3A48"/>
                          </a:solidFill>
                          <a:latin typeface="Roboto Mono"/>
                        </a:rPr>
                        <a:t>5</a:t>
                      </a:r>
                    </a:p>
                  </a:txBody>
                  <a:tcPr anchor="ctr" marL="50000" marR="50000" marT="20000" marB="20000">
                    <a:solidFill>
                      <a:srgbClr val="F5F2EC"/>
                    </a:solidFill>
                  </a:tcPr>
                </a:tc>
              </a:tr>
              <a:tr h="251999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Roboto Mono"/>
                        </a:rPr>
                        <a:t>Σ</a:t>
                      </a:r>
                    </a:p>
                  </a:txBody>
                  <a:tcPr anchor="ctr" marL="50000" marR="50000" marT="20000" marB="20000">
                    <a:solidFill>
                      <a:srgbClr val="2F3A4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Inter"/>
                        </a:rPr>
                        <a:t>ИТОГО</a:t>
                      </a:r>
                    </a:p>
                  </a:txBody>
                  <a:tcPr anchor="ctr" marL="50000" marR="50000" marT="20000" marB="20000">
                    <a:solidFill>
                      <a:srgbClr val="2F3A4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Roboto Mono"/>
                        </a:rPr>
                        <a:t>25</a:t>
                      </a:r>
                    </a:p>
                  </a:txBody>
                  <a:tcPr anchor="ctr" marL="50000" marR="50000" marT="20000" marB="20000">
                    <a:solidFill>
                      <a:srgbClr val="2F3A4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F3A48"/>
                          </a:solidFill>
                          <a:latin typeface="Inter"/>
                        </a:rPr>
                        <a:t/>
                      </a:r>
                    </a:p>
                  </a:txBody>
                  <a:tcPr anchor="ctr" marL="50000" marR="50000" marT="20000" marB="20000">
                    <a:solidFill>
                      <a:srgbClr val="2F3A4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F3A48"/>
                          </a:solidFill>
                          <a:latin typeface="Inter"/>
                        </a:rPr>
                        <a:t/>
                      </a:r>
                    </a:p>
                  </a:txBody>
                  <a:tcPr anchor="ctr" marL="50000" marR="50000" marT="20000" marB="20000">
                    <a:solidFill>
                      <a:srgbClr val="2F3A4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Roboto Mono"/>
                        </a:rPr>
                        <a:t>3.65 млн</a:t>
                      </a:r>
                    </a:p>
                  </a:txBody>
                  <a:tcPr anchor="ctr" marL="50000" marR="50000" marT="20000" marB="20000">
                    <a:solidFill>
                      <a:srgbClr val="2F3A4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Roboto Mono"/>
                        </a:rPr>
                        <a:t>302</a:t>
                      </a:r>
                    </a:p>
                  </a:txBody>
                  <a:tcPr anchor="ctr" marL="50000" marR="50000" marT="20000" marB="20000">
                    <a:solidFill>
                      <a:srgbClr val="2F3A4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180000" y="3131999"/>
            <a:ext cx="8820000" cy="14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spc="200">
                <a:solidFill>
                  <a:srgbClr val="C00000"/>
                </a:solidFill>
                <a:latin typeface="Inter"/>
              </a:rPr>
              <a:t>СТАНДАРТ ВЫВОДА · 3 ФАЗЫ</a:t>
            </a:r>
          </a:p>
        </p:txBody>
      </p:sp>
      <p:sp>
        <p:nvSpPr>
          <p:cNvPr id="9" name="Rectangle 8"/>
          <p:cNvSpPr/>
          <p:nvPr/>
        </p:nvSpPr>
        <p:spPr>
          <a:xfrm>
            <a:off x="180000" y="3293999"/>
            <a:ext cx="8820000" cy="144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80000" y="3348000"/>
            <a:ext cx="2808000" cy="1440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D9D2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80000" y="3348000"/>
            <a:ext cx="2808000" cy="216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4000" y="3456000"/>
            <a:ext cx="540000" cy="25199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400" b="1">
                <a:solidFill>
                  <a:srgbClr val="C00000"/>
                </a:solidFill>
                <a:latin typeface="Roboto Mono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3473999"/>
            <a:ext cx="1980000" cy="14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spc="100">
                <a:solidFill>
                  <a:srgbClr val="2F3A48"/>
                </a:solidFill>
                <a:latin typeface="Inter"/>
              </a:rPr>
              <a:t>ПОДГОТОВКА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0000" y="3618000"/>
            <a:ext cx="198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C00000"/>
                </a:solidFill>
                <a:latin typeface="Roboto Mono"/>
              </a:rPr>
              <a:t>−60 до 0 дней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4000" y="3816000"/>
            <a:ext cx="2520000" cy="144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24000" y="3888000"/>
            <a:ext cx="72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C00000"/>
                </a:solidFill>
                <a:latin typeface="Inter"/>
              </a:rPr>
              <a:t>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4000" y="3895200"/>
            <a:ext cx="2412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2F3A48"/>
                </a:solidFill>
                <a:latin typeface="Inter"/>
              </a:rPr>
              <a:t>Анализ рынка и конкурентов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4000" y="4024800"/>
            <a:ext cx="72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C00000"/>
                </a:solidFill>
                <a:latin typeface="Inter"/>
              </a:rPr>
              <a:t>·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4000" y="4032000"/>
            <a:ext cx="2412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2F3A48"/>
                </a:solidFill>
                <a:latin typeface="Inter"/>
              </a:rPr>
              <a:t>Ценообразование и MML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4000" y="4161600"/>
            <a:ext cx="72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C00000"/>
                </a:solidFill>
                <a:latin typeface="Inter"/>
              </a:rPr>
              <a:t>·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4000" y="4168800"/>
            <a:ext cx="2412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2F3A48"/>
                </a:solidFill>
                <a:latin typeface="Inter"/>
              </a:rPr>
              <a:t>Подготовка POSM и контента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4000" y="4446000"/>
            <a:ext cx="2520000" cy="108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24000" y="4482000"/>
            <a:ext cx="1080000" cy="12599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1">
                <a:solidFill>
                  <a:srgbClr val="8A95A3"/>
                </a:solidFill>
                <a:latin typeface="Inter"/>
              </a:rPr>
              <a:t>KPI: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20000" y="4482000"/>
            <a:ext cx="1080000" cy="12599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C00000"/>
                </a:solidFill>
                <a:latin typeface="Roboto Mono"/>
              </a:rPr>
              <a:t>60 дней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00000" y="4482000"/>
            <a:ext cx="1008000" cy="12599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50" b="0">
                <a:solidFill>
                  <a:srgbClr val="8A95A3"/>
                </a:solidFill>
                <a:latin typeface="Inter"/>
              </a:rPr>
              <a:t>до запуска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096000" y="3348000"/>
            <a:ext cx="2808000" cy="1440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D9D2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096000" y="3348000"/>
            <a:ext cx="2808000" cy="21600"/>
          </a:xfrm>
          <a:prstGeom prst="rect">
            <a:avLst/>
          </a:prstGeom>
          <a:solidFill>
            <a:srgbClr val="C9A7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240000" y="3456000"/>
            <a:ext cx="540000" cy="25199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400" b="1">
                <a:solidFill>
                  <a:srgbClr val="C9A77C"/>
                </a:solidFill>
                <a:latin typeface="Roboto Mono"/>
              </a:rPr>
              <a:t>02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816000" y="3473999"/>
            <a:ext cx="1980000" cy="14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spc="100">
                <a:solidFill>
                  <a:srgbClr val="2F3A48"/>
                </a:solidFill>
                <a:latin typeface="Inter"/>
              </a:rPr>
              <a:t>ЗАПУСК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816000" y="3618000"/>
            <a:ext cx="198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C9A77C"/>
                </a:solidFill>
                <a:latin typeface="Roboto Mono"/>
              </a:rPr>
              <a:t>0 — 30 дней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240000" y="3816000"/>
            <a:ext cx="2520000" cy="144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240000" y="3888000"/>
            <a:ext cx="72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C9A77C"/>
                </a:solidFill>
                <a:latin typeface="Inter"/>
              </a:rPr>
              <a:t>·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330000" y="3895200"/>
            <a:ext cx="2412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2F3A48"/>
                </a:solidFill>
                <a:latin typeface="Inter"/>
              </a:rPr>
              <a:t>Старт продаж во всех пилотах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240000" y="4024800"/>
            <a:ext cx="72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C9A77C"/>
                </a:solidFill>
                <a:latin typeface="Inter"/>
              </a:rPr>
              <a:t>·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330000" y="4032000"/>
            <a:ext cx="2412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2F3A48"/>
                </a:solidFill>
                <a:latin typeface="Inter"/>
              </a:rPr>
              <a:t>Обучение ТП: 350 человек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240000" y="4161600"/>
            <a:ext cx="72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C9A77C"/>
                </a:solidFill>
                <a:latin typeface="Inter"/>
              </a:rPr>
              <a:t>·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30000" y="4168800"/>
            <a:ext cx="2412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2F3A48"/>
                </a:solidFill>
                <a:latin typeface="Inter"/>
              </a:rPr>
              <a:t>POSM в 100% пилотных точек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240000" y="4446000"/>
            <a:ext cx="2520000" cy="108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240000" y="4482000"/>
            <a:ext cx="1080000" cy="12599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1">
                <a:solidFill>
                  <a:srgbClr val="8A95A3"/>
                </a:solidFill>
                <a:latin typeface="Inter"/>
              </a:rPr>
              <a:t>KPI: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636000" y="4482000"/>
            <a:ext cx="1080000" cy="12599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C9A77C"/>
                </a:solidFill>
                <a:latin typeface="Roboto Mono"/>
              </a:rPr>
              <a:t>100%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716000" y="4482000"/>
            <a:ext cx="1008000" cy="12599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50" b="0">
                <a:solidFill>
                  <a:srgbClr val="8A95A3"/>
                </a:solidFill>
                <a:latin typeface="Inter"/>
              </a:rPr>
              <a:t>наличие POSM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012000" y="3348000"/>
            <a:ext cx="2808000" cy="1440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D9D2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012000" y="3348000"/>
            <a:ext cx="2808000" cy="21600"/>
          </a:xfrm>
          <a:prstGeom prst="rect">
            <a:avLst/>
          </a:prstGeom>
          <a:solidFill>
            <a:srgbClr val="6B8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156000" y="3456000"/>
            <a:ext cx="540000" cy="25199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400" b="1">
                <a:solidFill>
                  <a:srgbClr val="6B8FA8"/>
                </a:solidFill>
                <a:latin typeface="Roboto Mono"/>
              </a:rPr>
              <a:t>03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732000" y="3473999"/>
            <a:ext cx="1980000" cy="14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spc="100">
                <a:solidFill>
                  <a:srgbClr val="2F3A48"/>
                </a:solidFill>
                <a:latin typeface="Inter"/>
              </a:rPr>
              <a:t>СОПРОВОЖДЕНИЕ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732000" y="3618000"/>
            <a:ext cx="198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6B8FA8"/>
                </a:solidFill>
                <a:latin typeface="Roboto Mono"/>
              </a:rPr>
              <a:t>30 — 90 дней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156000" y="3816000"/>
            <a:ext cx="2520000" cy="144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156000" y="3888000"/>
            <a:ext cx="72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6B8FA8"/>
                </a:solidFill>
                <a:latin typeface="Inter"/>
              </a:rPr>
              <a:t>·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246000" y="3895200"/>
            <a:ext cx="2412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2F3A48"/>
                </a:solidFill>
                <a:latin typeface="Inter"/>
              </a:rPr>
              <a:t>Промоакции и мастер-классы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156000" y="4024800"/>
            <a:ext cx="72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6B8FA8"/>
                </a:solidFill>
                <a:latin typeface="Inter"/>
              </a:rPr>
              <a:t>·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246000" y="4032000"/>
            <a:ext cx="2412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2F3A48"/>
                </a:solidFill>
                <a:latin typeface="Inter"/>
              </a:rPr>
              <a:t>Куратор на каждую точку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156000" y="4161600"/>
            <a:ext cx="72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6B8FA8"/>
                </a:solidFill>
                <a:latin typeface="Inter"/>
              </a:rPr>
              <a:t>·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246000" y="4168800"/>
            <a:ext cx="2412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2F3A48"/>
                </a:solidFill>
                <a:latin typeface="Inter"/>
              </a:rPr>
              <a:t>Аналитика продаж по неделе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156000" y="4446000"/>
            <a:ext cx="2520000" cy="108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156000" y="4482000"/>
            <a:ext cx="1080000" cy="12599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1">
                <a:solidFill>
                  <a:srgbClr val="8A95A3"/>
                </a:solidFill>
                <a:latin typeface="Inter"/>
              </a:rPr>
              <a:t>KPI: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552000" y="4482000"/>
            <a:ext cx="1080000" cy="12599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6B8FA8"/>
                </a:solidFill>
                <a:latin typeface="Roboto Mono"/>
              </a:rPr>
              <a:t>350 ТП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632000" y="4482000"/>
            <a:ext cx="1008000" cy="12599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50" b="0">
                <a:solidFill>
                  <a:srgbClr val="8A95A3"/>
                </a:solidFill>
                <a:latin typeface="Inter"/>
              </a:rPr>
              <a:t>обучено в 1-й мес.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80000" y="4860000"/>
            <a:ext cx="8820000" cy="144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80000" y="4896000"/>
            <a:ext cx="8820000" cy="14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8A95A3"/>
                </a:solidFill>
                <a:latin typeface="Inter"/>
              </a:rPr>
              <a:t>Стандарт обязателен для всех новинок. Без прохождения 3 фаз новинка не вводится в MML дистрибьюторов.</a:t>
            </a:r>
          </a:p>
        </p:txBody>
      </p:sp>
    </p:spTree>
    <p:extLst>
      <p:ext uri="{BB962C8B-B14F-4D97-AF65-F5344CB8AC3E}">
        <p14:creationId xmlns:p14="http://schemas.microsoft.com/office/powerpoint/2010/main" val="333400735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2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120650" y="520700"/>
            <a:ext cx="7226300" cy="3385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ru-RU" sz="2200" b="1" dirty="0" smtClean="0">
                <a:solidFill>
                  <a:srgbClr val="2F3A48"/>
                </a:solidFill>
                <a:latin typeface="Inter"/>
              </a:rPr>
              <a:t>Выход в сегмент </a:t>
            </a:r>
            <a:r>
              <a:rPr sz="2200" b="1" dirty="0" err="1" smtClean="0">
                <a:solidFill>
                  <a:srgbClr val="2F3A48"/>
                </a:solidFill>
                <a:latin typeface="Inter"/>
              </a:rPr>
              <a:t>жилищного</a:t>
            </a:r>
            <a:r>
              <a:rPr sz="2200" b="1" dirty="0" smtClean="0">
                <a:solidFill>
                  <a:srgbClr val="2F3A48"/>
                </a:solidFill>
                <a:latin typeface="Inter"/>
              </a:rPr>
              <a:t> </a:t>
            </a:r>
            <a:r>
              <a:rPr sz="2200" b="1" dirty="0" err="1">
                <a:solidFill>
                  <a:srgbClr val="2F3A48"/>
                </a:solidFill>
                <a:latin typeface="Inter"/>
              </a:rPr>
              <a:t>строительства</a:t>
            </a:r>
            <a:endParaRPr sz="2200" b="1" dirty="0">
              <a:solidFill>
                <a:srgbClr val="2F3A48"/>
              </a:solidFill>
              <a:latin typeface="Inter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7270750" y="139065"/>
            <a:ext cx="1601590" cy="268605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9A7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397750" y="190649"/>
            <a:ext cx="1368950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spc="150" dirty="0" smtClean="0">
                <a:solidFill>
                  <a:srgbClr val="C9A77C"/>
                </a:solidFill>
                <a:latin typeface="Inter"/>
              </a:rPr>
              <a:t>В </a:t>
            </a:r>
            <a:r>
              <a:rPr sz="1000" b="1" spc="150" dirty="0">
                <a:solidFill>
                  <a:srgbClr val="C9A77C"/>
                </a:solidFill>
                <a:latin typeface="Inter"/>
              </a:rPr>
              <a:t>РАБОТЕ</a:t>
            </a:r>
          </a:p>
        </p:txBody>
      </p:sp>
      <p:sp>
        <p:nvSpPr>
          <p:cNvPr id="8" name="Rectangle 7"/>
          <p:cNvSpPr/>
          <p:nvPr/>
        </p:nvSpPr>
        <p:spPr>
          <a:xfrm>
            <a:off x="143256" y="453390"/>
            <a:ext cx="8855724" cy="28575"/>
          </a:xfrm>
          <a:prstGeom prst="rect">
            <a:avLst/>
          </a:prstGeom>
          <a:solidFill>
            <a:srgbClr val="D9D2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61200" y="962590"/>
            <a:ext cx="6066960" cy="397545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6350">
            <a:solidFill>
              <a:srgbClr val="D9D2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41200" y="1217915"/>
            <a:ext cx="55000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spc="200" dirty="0">
                <a:solidFill>
                  <a:srgbClr val="C00000"/>
                </a:solidFill>
                <a:latin typeface="Inter"/>
              </a:rPr>
              <a:t>АССОРТИМЕНТ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1200" y="1457915"/>
            <a:ext cx="5500000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900" b="0" dirty="0">
                <a:solidFill>
                  <a:srgbClr val="8A95A3"/>
                </a:solidFill>
                <a:latin typeface="Inter"/>
              </a:rPr>
              <a:t>25 SKU · 3 </a:t>
            </a:r>
            <a:r>
              <a:rPr sz="900" b="0" dirty="0" err="1">
                <a:solidFill>
                  <a:srgbClr val="8A95A3"/>
                </a:solidFill>
                <a:latin typeface="Inter"/>
              </a:rPr>
              <a:t>уровня</a:t>
            </a:r>
            <a:r>
              <a:rPr sz="900" b="0" dirty="0">
                <a:solidFill>
                  <a:srgbClr val="8A95A3"/>
                </a:solidFill>
                <a:latin typeface="Inter"/>
              </a:rPr>
              <a:t> </a:t>
            </a:r>
            <a:r>
              <a:rPr sz="900" b="0" dirty="0" err="1">
                <a:solidFill>
                  <a:srgbClr val="8A95A3"/>
                </a:solidFill>
                <a:latin typeface="Inter"/>
              </a:rPr>
              <a:t>цен</a:t>
            </a:r>
            <a:r>
              <a:rPr sz="900" b="0" dirty="0">
                <a:solidFill>
                  <a:srgbClr val="8A95A3"/>
                </a:solidFill>
                <a:latin typeface="Inter"/>
              </a:rPr>
              <a:t> · 9 </a:t>
            </a:r>
            <a:r>
              <a:rPr sz="900" b="0" dirty="0" err="1">
                <a:solidFill>
                  <a:srgbClr val="8A95A3"/>
                </a:solidFill>
                <a:latin typeface="Inter"/>
              </a:rPr>
              <a:t>зон</a:t>
            </a:r>
            <a:r>
              <a:rPr sz="900" b="0" dirty="0">
                <a:solidFill>
                  <a:srgbClr val="8A95A3"/>
                </a:solidFill>
                <a:latin typeface="Inter"/>
              </a:rPr>
              <a:t> </a:t>
            </a:r>
            <a:r>
              <a:rPr sz="900" b="0" dirty="0" err="1">
                <a:solidFill>
                  <a:srgbClr val="8A95A3"/>
                </a:solidFill>
                <a:latin typeface="Inter"/>
              </a:rPr>
              <a:t>жилого</a:t>
            </a:r>
            <a:r>
              <a:rPr sz="900" b="0" dirty="0">
                <a:solidFill>
                  <a:srgbClr val="8A95A3"/>
                </a:solidFill>
                <a:latin typeface="Inter"/>
              </a:rPr>
              <a:t> </a:t>
            </a:r>
            <a:r>
              <a:rPr sz="900" b="0" dirty="0" err="1" smtClean="0">
                <a:solidFill>
                  <a:srgbClr val="8A95A3"/>
                </a:solidFill>
                <a:latin typeface="Inter"/>
              </a:rPr>
              <a:t>здания</a:t>
            </a:r>
            <a:r>
              <a:rPr lang="ru-RU" sz="900" dirty="0">
                <a:solidFill>
                  <a:srgbClr val="8A95A3"/>
                </a:solidFill>
                <a:latin typeface="Inter"/>
              </a:rPr>
              <a:t>. Все продукты сертифицированы по ФЗ-123 </a:t>
            </a:r>
            <a:endParaRPr sz="900" b="0" dirty="0">
              <a:solidFill>
                <a:srgbClr val="8A95A3"/>
              </a:solidFill>
              <a:latin typeface="Inter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141200" y="1657915"/>
            <a:ext cx="5906960" cy="20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141200" y="1902690"/>
            <a:ext cx="1888986" cy="2000000"/>
          </a:xfrm>
          <a:prstGeom prst="roundRect">
            <a:avLst>
              <a:gd name="adj" fmla="val 4000"/>
            </a:avLst>
          </a:prstGeom>
          <a:solidFill>
            <a:srgbClr val="F5F2EC"/>
          </a:solidFill>
          <a:ln w="6350">
            <a:solidFill>
              <a:srgbClr val="D9D2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141200" y="1902690"/>
            <a:ext cx="1888986" cy="500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221200" y="1992690"/>
            <a:ext cx="8000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C00000"/>
                </a:solidFill>
                <a:latin typeface="Roboto Mono"/>
              </a:rPr>
              <a:t>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1200" y="2012690"/>
            <a:ext cx="1468986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spc="200">
                <a:solidFill>
                  <a:srgbClr val="2F3A48"/>
                </a:solidFill>
                <a:latin typeface="Inter"/>
              </a:rPr>
              <a:t>БЮДЖЕТ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1200" y="2232690"/>
            <a:ext cx="1768986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spc="80">
                <a:solidFill>
                  <a:srgbClr val="8A95A3"/>
                </a:solidFill>
                <a:latin typeface="Inter"/>
              </a:rPr>
              <a:t>ОРЕОЛ ДИСКОНТ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21200" y="2432690"/>
            <a:ext cx="1728986" cy="15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221200" y="2492690"/>
            <a:ext cx="20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>
                <a:solidFill>
                  <a:srgbClr val="8A95A3"/>
                </a:solidFill>
                <a:latin typeface="Inter"/>
              </a:rPr>
              <a:t>Краски и эмали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30186" y="2492690"/>
            <a:ext cx="62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1">
                <a:solidFill>
                  <a:srgbClr val="2F3A48"/>
                </a:solidFill>
                <a:latin typeface="Roboto Mono"/>
              </a:rP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1200" y="2772690"/>
            <a:ext cx="20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>
                <a:solidFill>
                  <a:srgbClr val="8A95A3"/>
                </a:solidFill>
                <a:latin typeface="Inter"/>
              </a:rPr>
              <a:t>Шпатлёвки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30186" y="2772690"/>
            <a:ext cx="62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1">
                <a:solidFill>
                  <a:srgbClr val="2F3A48"/>
                </a:solidFill>
                <a:latin typeface="Roboto Mono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21200" y="3052690"/>
            <a:ext cx="20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>
                <a:solidFill>
                  <a:srgbClr val="8A95A3"/>
                </a:solidFill>
                <a:latin typeface="Inter"/>
              </a:rPr>
              <a:t>Грунтовки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30186" y="3052690"/>
            <a:ext cx="62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1">
                <a:solidFill>
                  <a:srgbClr val="2F3A48"/>
                </a:solidFill>
                <a:latin typeface="Roboto Mono"/>
              </a:rPr>
              <a:t>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21200" y="3402690"/>
            <a:ext cx="1728986" cy="15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221200" y="3452690"/>
            <a:ext cx="20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8A95A3"/>
                </a:solidFill>
                <a:latin typeface="Inter"/>
              </a:rPr>
              <a:t>Итого: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30186" y="3442690"/>
            <a:ext cx="62000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300" b="1">
                <a:solidFill>
                  <a:srgbClr val="C00000"/>
                </a:solidFill>
                <a:latin typeface="Roboto Mono"/>
              </a:rPr>
              <a:t>11 SKU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150186" y="1902690"/>
            <a:ext cx="1888986" cy="2000000"/>
          </a:xfrm>
          <a:prstGeom prst="roundRect">
            <a:avLst>
              <a:gd name="adj" fmla="val 4000"/>
            </a:avLst>
          </a:prstGeom>
          <a:solidFill>
            <a:srgbClr val="F5F2EC"/>
          </a:solidFill>
          <a:ln w="6350">
            <a:solidFill>
              <a:srgbClr val="D9D2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2150186" y="1902690"/>
            <a:ext cx="1888986" cy="50000"/>
          </a:xfrm>
          <a:prstGeom prst="rect">
            <a:avLst/>
          </a:prstGeom>
          <a:solidFill>
            <a:srgbClr val="C9A7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2230186" y="1992690"/>
            <a:ext cx="8000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C9A77C"/>
                </a:solidFill>
                <a:latin typeface="Roboto Mono"/>
              </a:rPr>
              <a:t>02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510186" y="2012690"/>
            <a:ext cx="1468986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spc="200">
                <a:solidFill>
                  <a:srgbClr val="2F3A48"/>
                </a:solidFill>
                <a:latin typeface="Inter"/>
              </a:rPr>
              <a:t>СРЕДНИЙ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230186" y="2232690"/>
            <a:ext cx="1768986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spc="80">
                <a:solidFill>
                  <a:srgbClr val="8A95A3"/>
                </a:solidFill>
                <a:latin typeface="Inter"/>
              </a:rPr>
              <a:t>ОРЕОЛ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230186" y="2432690"/>
            <a:ext cx="1728986" cy="15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2230186" y="2492690"/>
            <a:ext cx="20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>
                <a:solidFill>
                  <a:srgbClr val="8A95A3"/>
                </a:solidFill>
                <a:latin typeface="Inter"/>
              </a:rPr>
              <a:t>Краски и эмали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339172" y="2492690"/>
            <a:ext cx="62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1">
                <a:solidFill>
                  <a:srgbClr val="2F3A48"/>
                </a:solidFill>
                <a:latin typeface="Roboto Mono"/>
              </a:rPr>
              <a:t>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230186" y="2772690"/>
            <a:ext cx="20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>
                <a:solidFill>
                  <a:srgbClr val="8A95A3"/>
                </a:solidFill>
                <a:latin typeface="Inter"/>
              </a:rPr>
              <a:t>Шпатлёвки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39172" y="2772690"/>
            <a:ext cx="62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1">
                <a:solidFill>
                  <a:srgbClr val="2F3A48"/>
                </a:solidFill>
                <a:latin typeface="Roboto Mono"/>
              </a:rPr>
              <a:t>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230186" y="3052690"/>
            <a:ext cx="20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>
                <a:solidFill>
                  <a:srgbClr val="8A95A3"/>
                </a:solidFill>
                <a:latin typeface="Inter"/>
              </a:rPr>
              <a:t>Грунтовки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339172" y="3052690"/>
            <a:ext cx="62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1">
                <a:solidFill>
                  <a:srgbClr val="2F3A48"/>
                </a:solidFill>
                <a:latin typeface="Roboto Mono"/>
              </a:rPr>
              <a:t>1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230186" y="3402690"/>
            <a:ext cx="1728986" cy="15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2230186" y="3452690"/>
            <a:ext cx="20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8A95A3"/>
                </a:solidFill>
                <a:latin typeface="Inter"/>
              </a:rPr>
              <a:t>Итого: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339172" y="3442690"/>
            <a:ext cx="62000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300" b="1">
                <a:solidFill>
                  <a:srgbClr val="C9A77C"/>
                </a:solidFill>
                <a:latin typeface="Roboto Mono"/>
              </a:rPr>
              <a:t>8 SKU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159172" y="1902690"/>
            <a:ext cx="1888986" cy="2000000"/>
          </a:xfrm>
          <a:prstGeom prst="roundRect">
            <a:avLst>
              <a:gd name="adj" fmla="val 4000"/>
            </a:avLst>
          </a:prstGeom>
          <a:solidFill>
            <a:srgbClr val="F5F2EC"/>
          </a:solidFill>
          <a:ln w="6350">
            <a:solidFill>
              <a:srgbClr val="D9D2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ectangle 43"/>
          <p:cNvSpPr/>
          <p:nvPr/>
        </p:nvSpPr>
        <p:spPr>
          <a:xfrm>
            <a:off x="4159172" y="1902690"/>
            <a:ext cx="1888986" cy="50000"/>
          </a:xfrm>
          <a:prstGeom prst="rect">
            <a:avLst/>
          </a:prstGeom>
          <a:solidFill>
            <a:srgbClr val="2F3A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4239172" y="1992690"/>
            <a:ext cx="8000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2F3A48"/>
                </a:solidFill>
                <a:latin typeface="Roboto Mono"/>
              </a:rPr>
              <a:t>03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519172" y="2012690"/>
            <a:ext cx="1468986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spc="200">
                <a:solidFill>
                  <a:srgbClr val="2F3A48"/>
                </a:solidFill>
                <a:latin typeface="Inter"/>
              </a:rPr>
              <a:t>ПРЕМИУМ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239172" y="2232690"/>
            <a:ext cx="1768986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spc="80">
                <a:solidFill>
                  <a:srgbClr val="8A95A3"/>
                </a:solidFill>
                <a:latin typeface="Inter"/>
              </a:rPr>
              <a:t>NEWTONE · AVANTGARDE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239172" y="2432690"/>
            <a:ext cx="1728986" cy="15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5348158" y="2492690"/>
            <a:ext cx="62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1">
                <a:solidFill>
                  <a:srgbClr val="2F3A48"/>
                </a:solidFill>
                <a:latin typeface="Roboto Mono"/>
              </a:rPr>
              <a:t>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239172" y="2486940"/>
            <a:ext cx="20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>
                <a:solidFill>
                  <a:srgbClr val="8A95A3"/>
                </a:solidFill>
                <a:latin typeface="Inter"/>
              </a:rPr>
              <a:t>Шпатлёвки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348158" y="2772690"/>
            <a:ext cx="62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1">
                <a:solidFill>
                  <a:srgbClr val="2F3A48"/>
                </a:solidFill>
                <a:latin typeface="Roboto Mono"/>
              </a:rPr>
              <a:t>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239172" y="2766940"/>
            <a:ext cx="20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>
                <a:solidFill>
                  <a:srgbClr val="8A95A3"/>
                </a:solidFill>
                <a:latin typeface="Inter"/>
              </a:rPr>
              <a:t>Грунтовки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348158" y="3052690"/>
            <a:ext cx="62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1">
                <a:solidFill>
                  <a:srgbClr val="2F3A48"/>
                </a:solidFill>
                <a:latin typeface="Roboto Mono"/>
              </a:rPr>
              <a:t>1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239172" y="3402690"/>
            <a:ext cx="1728986" cy="15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4239172" y="3166940"/>
            <a:ext cx="20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8A95A3"/>
                </a:solidFill>
                <a:latin typeface="Inter"/>
              </a:rPr>
              <a:t>Итого: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348158" y="3442690"/>
            <a:ext cx="62000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300" b="1">
                <a:solidFill>
                  <a:srgbClr val="2F3A48"/>
                </a:solidFill>
                <a:latin typeface="Roboto Mono"/>
              </a:rPr>
              <a:t>6 SKU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6194040" y="962590"/>
            <a:ext cx="2860320" cy="39457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6350">
            <a:solidFill>
              <a:srgbClr val="D9D2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Rounded Rectangle 71"/>
          <p:cNvSpPr/>
          <p:nvPr/>
        </p:nvSpPr>
        <p:spPr>
          <a:xfrm>
            <a:off x="6254040" y="1102590"/>
            <a:ext cx="320000" cy="320000"/>
          </a:xfrm>
          <a:prstGeom prst="roundRect">
            <a:avLst>
              <a:gd name="adj" fmla="val 18000"/>
            </a:avLst>
          </a:prstGeom>
          <a:solidFill>
            <a:srgbClr val="D9D2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TextBox 72"/>
          <p:cNvSpPr txBox="1"/>
          <p:nvPr/>
        </p:nvSpPr>
        <p:spPr>
          <a:xfrm>
            <a:off x="6254040" y="1152590"/>
            <a:ext cx="320000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 dirty="0">
                <a:latin typeface="Inter"/>
              </a:rPr>
              <a:t>01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274040" y="1586238"/>
            <a:ext cx="2700320" cy="12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Rounded Rectangle 76"/>
          <p:cNvSpPr/>
          <p:nvPr/>
        </p:nvSpPr>
        <p:spPr>
          <a:xfrm>
            <a:off x="6254040" y="1654338"/>
            <a:ext cx="320000" cy="320000"/>
          </a:xfrm>
          <a:prstGeom prst="roundRect">
            <a:avLst>
              <a:gd name="adj" fmla="val 18000"/>
            </a:avLst>
          </a:prstGeom>
          <a:solidFill>
            <a:srgbClr val="D9D2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TextBox 77"/>
          <p:cNvSpPr txBox="1"/>
          <p:nvPr/>
        </p:nvSpPr>
        <p:spPr>
          <a:xfrm>
            <a:off x="6254040" y="1704338"/>
            <a:ext cx="320000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 dirty="0">
                <a:latin typeface="Inter"/>
              </a:rPr>
              <a:t>02</a:t>
            </a:r>
          </a:p>
        </p:txBody>
      </p:sp>
      <p:sp>
        <p:nvSpPr>
          <p:cNvPr id="81" name="Rectangle 80"/>
          <p:cNvSpPr/>
          <p:nvPr/>
        </p:nvSpPr>
        <p:spPr>
          <a:xfrm>
            <a:off x="6274040" y="2435488"/>
            <a:ext cx="2700320" cy="12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2" name="Rounded Rectangle 81"/>
          <p:cNvSpPr/>
          <p:nvPr/>
        </p:nvSpPr>
        <p:spPr>
          <a:xfrm>
            <a:off x="6254040" y="2502640"/>
            <a:ext cx="320000" cy="320000"/>
          </a:xfrm>
          <a:prstGeom prst="roundRect">
            <a:avLst>
              <a:gd name="adj" fmla="val 18000"/>
            </a:avLst>
          </a:prstGeom>
          <a:solidFill>
            <a:srgbClr val="D9D2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3" name="TextBox 82"/>
          <p:cNvSpPr txBox="1"/>
          <p:nvPr/>
        </p:nvSpPr>
        <p:spPr>
          <a:xfrm>
            <a:off x="6254040" y="2552640"/>
            <a:ext cx="320000" cy="2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>
                <a:solidFill>
                  <a:srgbClr val="2F3A48"/>
                </a:solidFill>
                <a:latin typeface="Inter"/>
              </a:rPr>
              <a:t>03</a:t>
            </a:r>
          </a:p>
        </p:txBody>
      </p:sp>
      <p:sp>
        <p:nvSpPr>
          <p:cNvPr id="86" name="Rectangle 85"/>
          <p:cNvSpPr/>
          <p:nvPr/>
        </p:nvSpPr>
        <p:spPr>
          <a:xfrm>
            <a:off x="6274040" y="3258390"/>
            <a:ext cx="2700320" cy="12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7" name="Rounded Rectangle 86"/>
          <p:cNvSpPr/>
          <p:nvPr/>
        </p:nvSpPr>
        <p:spPr>
          <a:xfrm>
            <a:off x="6254040" y="3366486"/>
            <a:ext cx="320000" cy="320000"/>
          </a:xfrm>
          <a:prstGeom prst="roundRect">
            <a:avLst>
              <a:gd name="adj" fmla="val 18000"/>
            </a:avLst>
          </a:prstGeom>
          <a:solidFill>
            <a:srgbClr val="D9D2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8" name="TextBox 87"/>
          <p:cNvSpPr txBox="1"/>
          <p:nvPr/>
        </p:nvSpPr>
        <p:spPr>
          <a:xfrm>
            <a:off x="6254040" y="3416486"/>
            <a:ext cx="320000" cy="2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 dirty="0">
                <a:solidFill>
                  <a:srgbClr val="2F3A48"/>
                </a:solidFill>
                <a:latin typeface="Inter"/>
              </a:rPr>
              <a:t>04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614040" y="1004851"/>
            <a:ext cx="2300000" cy="3385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ru-RU" sz="1100" b="1" dirty="0" smtClean="0">
                <a:latin typeface="Inter"/>
              </a:rPr>
              <a:t>Каталог / портфолио - ц</a:t>
            </a:r>
            <a:r>
              <a:rPr sz="1100" b="1" dirty="0" err="1" smtClean="0">
                <a:latin typeface="Inter"/>
              </a:rPr>
              <a:t>елевая</a:t>
            </a:r>
            <a:r>
              <a:rPr sz="1100" b="1" dirty="0" smtClean="0">
                <a:latin typeface="Inter"/>
              </a:rPr>
              <a:t> </a:t>
            </a:r>
            <a:r>
              <a:rPr sz="1100" b="1" dirty="0" err="1">
                <a:latin typeface="Inter"/>
              </a:rPr>
              <a:t>аудитория</a:t>
            </a:r>
            <a:endParaRPr sz="1100" b="1" dirty="0">
              <a:latin typeface="Inter"/>
            </a:endParaRPr>
          </a:p>
        </p:txBody>
      </p:sp>
      <p:sp>
        <p:nvSpPr>
          <p:cNvPr id="90" name="TextBox 89"/>
          <p:cNvSpPr txBox="1"/>
          <p:nvPr/>
        </p:nvSpPr>
        <p:spPr>
          <a:xfrm>
            <a:off x="6614040" y="1368201"/>
            <a:ext cx="2360320" cy="1308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ru-RU" sz="850" b="0" dirty="0" smtClean="0">
                <a:solidFill>
                  <a:srgbClr val="2F3A48"/>
                </a:solidFill>
                <a:latin typeface="Inter"/>
              </a:rPr>
              <a:t>П</a:t>
            </a:r>
            <a:r>
              <a:rPr sz="850" b="0" dirty="0" err="1" smtClean="0">
                <a:solidFill>
                  <a:srgbClr val="2F3A48"/>
                </a:solidFill>
                <a:latin typeface="Inter"/>
              </a:rPr>
              <a:t>рорабы</a:t>
            </a:r>
            <a:r>
              <a:rPr sz="850" b="0" dirty="0" smtClean="0">
                <a:solidFill>
                  <a:srgbClr val="2F3A48"/>
                </a:solidFill>
                <a:latin typeface="Inter"/>
              </a:rPr>
              <a:t> </a:t>
            </a:r>
            <a:r>
              <a:rPr sz="850" b="0" dirty="0">
                <a:solidFill>
                  <a:srgbClr val="2F3A48"/>
                </a:solidFill>
                <a:latin typeface="Inter"/>
              </a:rPr>
              <a:t>· ИТР · </a:t>
            </a:r>
            <a:r>
              <a:rPr sz="850" b="0" dirty="0" err="1">
                <a:solidFill>
                  <a:srgbClr val="2F3A48"/>
                </a:solidFill>
                <a:latin typeface="Inter"/>
              </a:rPr>
              <a:t>технадзор</a:t>
            </a:r>
            <a:endParaRPr sz="850" b="0" dirty="0">
              <a:solidFill>
                <a:srgbClr val="2F3A48"/>
              </a:solidFill>
              <a:latin typeface="Inter"/>
            </a:endParaRPr>
          </a:p>
        </p:txBody>
      </p:sp>
      <p:sp>
        <p:nvSpPr>
          <p:cNvPr id="98" name="TextBox 97"/>
          <p:cNvSpPr txBox="1"/>
          <p:nvPr/>
        </p:nvSpPr>
        <p:spPr>
          <a:xfrm>
            <a:off x="6614040" y="1634688"/>
            <a:ext cx="2300000" cy="50783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ru-RU" sz="1100" b="1" dirty="0" smtClean="0">
                <a:latin typeface="Inter"/>
              </a:rPr>
              <a:t>Анализ создания специализированной линейки </a:t>
            </a:r>
            <a:r>
              <a:rPr lang="en-US" sz="1100" b="1" dirty="0">
                <a:latin typeface="Inter"/>
              </a:rPr>
              <a:t>Professional</a:t>
            </a:r>
            <a:endParaRPr sz="1100" b="1" dirty="0">
              <a:latin typeface="Inter"/>
            </a:endParaRPr>
          </a:p>
        </p:txBody>
      </p:sp>
      <p:sp>
        <p:nvSpPr>
          <p:cNvPr id="100" name="TextBox 99"/>
          <p:cNvSpPr txBox="1"/>
          <p:nvPr/>
        </p:nvSpPr>
        <p:spPr>
          <a:xfrm>
            <a:off x="6274040" y="2198228"/>
            <a:ext cx="2724940" cy="1308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ru-RU" sz="850" b="0" dirty="0" smtClean="0">
                <a:solidFill>
                  <a:srgbClr val="2F3A48"/>
                </a:solidFill>
                <a:latin typeface="Inter"/>
              </a:rPr>
              <a:t>Цена – характеристики – выгоды преимущество</a:t>
            </a:r>
            <a:endParaRPr sz="850" b="0" dirty="0">
              <a:solidFill>
                <a:srgbClr val="2F3A48"/>
              </a:solidFill>
              <a:latin typeface="Inter"/>
            </a:endParaRPr>
          </a:p>
        </p:txBody>
      </p:sp>
      <p:sp>
        <p:nvSpPr>
          <p:cNvPr id="101" name="TextBox 100"/>
          <p:cNvSpPr txBox="1"/>
          <p:nvPr/>
        </p:nvSpPr>
        <p:spPr>
          <a:xfrm>
            <a:off x="6614040" y="2473313"/>
            <a:ext cx="2300000" cy="3385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ru-RU" sz="1100" b="1" dirty="0">
                <a:latin typeface="Inter"/>
              </a:rPr>
              <a:t>Гранд-Смета и Смета </a:t>
            </a:r>
            <a:r>
              <a:rPr lang="ru-RU" sz="1100" b="1" dirty="0" err="1">
                <a:latin typeface="Inter"/>
              </a:rPr>
              <a:t>Визард</a:t>
            </a:r>
            <a:r>
              <a:rPr lang="ru-RU" sz="1100" b="1" dirty="0">
                <a:latin typeface="Inter"/>
              </a:rPr>
              <a:t> (</a:t>
            </a:r>
            <a:r>
              <a:rPr lang="ru-RU" sz="1100" b="1" dirty="0" err="1">
                <a:latin typeface="Inter"/>
              </a:rPr>
              <a:t>SmetaWIZARD</a:t>
            </a:r>
            <a:r>
              <a:rPr lang="ru-RU" sz="1100" b="1" dirty="0">
                <a:latin typeface="Inter"/>
              </a:rPr>
              <a:t>) </a:t>
            </a:r>
            <a:endParaRPr sz="1100" b="1" dirty="0">
              <a:latin typeface="Inter"/>
            </a:endParaRPr>
          </a:p>
        </p:txBody>
      </p:sp>
      <p:sp>
        <p:nvSpPr>
          <p:cNvPr id="102" name="TextBox 101"/>
          <p:cNvSpPr txBox="1"/>
          <p:nvPr/>
        </p:nvSpPr>
        <p:spPr>
          <a:xfrm>
            <a:off x="6274740" y="2902490"/>
            <a:ext cx="263930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ru-RU" sz="900" dirty="0" smtClean="0"/>
              <a:t>Комплексы </a:t>
            </a:r>
            <a:r>
              <a:rPr lang="ru-RU" sz="900" dirty="0"/>
              <a:t>для автоматизации сметных расчётов в строительстве.</a:t>
            </a:r>
            <a:endParaRPr sz="850" b="0" dirty="0">
              <a:solidFill>
                <a:srgbClr val="2F3A48"/>
              </a:solidFill>
              <a:latin typeface="Inter"/>
            </a:endParaRPr>
          </a:p>
        </p:txBody>
      </p:sp>
      <p:sp>
        <p:nvSpPr>
          <p:cNvPr id="74" name="TextBox 73"/>
          <p:cNvSpPr txBox="1"/>
          <p:nvPr/>
        </p:nvSpPr>
        <p:spPr>
          <a:xfrm>
            <a:off x="6638660" y="3321537"/>
            <a:ext cx="2300000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ru-RU" sz="1100" b="1" dirty="0" smtClean="0">
                <a:latin typeface="Inter"/>
              </a:rPr>
              <a:t>Сертификация систем </a:t>
            </a:r>
            <a:endParaRPr sz="1100" b="1" dirty="0">
              <a:latin typeface="Inter"/>
            </a:endParaRPr>
          </a:p>
        </p:txBody>
      </p:sp>
      <p:sp>
        <p:nvSpPr>
          <p:cNvPr id="75" name="TextBox 74"/>
          <p:cNvSpPr txBox="1"/>
          <p:nvPr/>
        </p:nvSpPr>
        <p:spPr>
          <a:xfrm>
            <a:off x="6638660" y="3551537"/>
            <a:ext cx="2360320" cy="39241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ru-RU" sz="850" b="0" dirty="0" smtClean="0">
                <a:solidFill>
                  <a:srgbClr val="2F3A48"/>
                </a:solidFill>
                <a:latin typeface="Inter"/>
              </a:rPr>
              <a:t>Получение сертификатов подтверждения срока служб использования систем для застройщиков</a:t>
            </a:r>
            <a:endParaRPr sz="850" b="0" dirty="0">
              <a:solidFill>
                <a:srgbClr val="2F3A48"/>
              </a:solidFill>
              <a:latin typeface="Inter"/>
            </a:endParaRPr>
          </a:p>
        </p:txBody>
      </p:sp>
      <p:sp>
        <p:nvSpPr>
          <p:cNvPr id="80" name="Rectangle 90"/>
          <p:cNvSpPr/>
          <p:nvPr/>
        </p:nvSpPr>
        <p:spPr>
          <a:xfrm>
            <a:off x="6286350" y="4222418"/>
            <a:ext cx="2700320" cy="12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4" name="TextBox 83"/>
          <p:cNvSpPr txBox="1"/>
          <p:nvPr/>
        </p:nvSpPr>
        <p:spPr>
          <a:xfrm>
            <a:off x="6286350" y="4006554"/>
            <a:ext cx="2724940" cy="1308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ru-RU" sz="850" dirty="0" smtClean="0">
                <a:solidFill>
                  <a:srgbClr val="2F3A48"/>
                </a:solidFill>
                <a:latin typeface="Inter"/>
              </a:rPr>
              <a:t>Грунт – Шпатлевка – Грунт – Краска / Эмаль</a:t>
            </a:r>
            <a:endParaRPr sz="850" b="0" dirty="0">
              <a:solidFill>
                <a:srgbClr val="2F3A48"/>
              </a:solidFill>
              <a:latin typeface="Inter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29306" y="140000"/>
            <a:ext cx="6286294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dirty="0" err="1">
                <a:solidFill>
                  <a:srgbClr val="2F3A48"/>
                </a:solidFill>
                <a:latin typeface="Inter"/>
              </a:rPr>
              <a:t>Развитие</a:t>
            </a:r>
            <a:r>
              <a:rPr sz="2000" b="1" dirty="0">
                <a:solidFill>
                  <a:srgbClr val="2F3A48"/>
                </a:solidFill>
                <a:latin typeface="Inter"/>
              </a:rPr>
              <a:t> </a:t>
            </a:r>
            <a:r>
              <a:rPr sz="2000" b="1" dirty="0" err="1">
                <a:solidFill>
                  <a:srgbClr val="2F3A48"/>
                </a:solidFill>
                <a:latin typeface="Inter"/>
              </a:rPr>
              <a:t>категории</a:t>
            </a:r>
            <a:r>
              <a:rPr sz="2000" b="1" dirty="0">
                <a:solidFill>
                  <a:srgbClr val="2F3A48"/>
                </a:solidFill>
                <a:latin typeface="Inter"/>
              </a:rPr>
              <a:t> ВД-ЛКМ в </a:t>
            </a:r>
            <a:r>
              <a:rPr sz="2000" b="1" dirty="0" err="1">
                <a:solidFill>
                  <a:srgbClr val="2F3A48"/>
                </a:solidFill>
                <a:latin typeface="Inter"/>
              </a:rPr>
              <a:t>дистрибуции</a:t>
            </a:r>
            <a:r>
              <a:rPr sz="2000" b="1" dirty="0">
                <a:solidFill>
                  <a:srgbClr val="2F3A48"/>
                </a:solidFill>
                <a:latin typeface="Inter"/>
              </a:rPr>
              <a:t> 2027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3000" y="1100000"/>
            <a:ext cx="19000000" cy="2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>
                <a:solidFill>
                  <a:srgbClr val="8A95A3"/>
                </a:solidFill>
                <a:latin typeface="Inter"/>
              </a:rPr>
              <a:t>Проект расширения ассортимента и роста водно-дисперсионных материалов в дистрибуционном канале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16450" y="159050"/>
            <a:ext cx="2098950" cy="280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9A7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841850" y="223100"/>
            <a:ext cx="2010050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spc="150" dirty="0">
                <a:solidFill>
                  <a:srgbClr val="C9A77C"/>
                </a:solidFill>
                <a:latin typeface="Inter"/>
              </a:rPr>
              <a:t>2027 · ПЛАН · ПРОЕКТ</a:t>
            </a:r>
          </a:p>
        </p:txBody>
      </p:sp>
      <p:sp>
        <p:nvSpPr>
          <p:cNvPr id="6" name="Rectangle 5"/>
          <p:cNvSpPr/>
          <p:nvPr/>
        </p:nvSpPr>
        <p:spPr>
          <a:xfrm>
            <a:off x="143256" y="1164250"/>
            <a:ext cx="8855724" cy="28575"/>
          </a:xfrm>
          <a:prstGeom prst="rect">
            <a:avLst/>
          </a:prstGeom>
          <a:solidFill>
            <a:srgbClr val="D9D2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61200" y="675450"/>
            <a:ext cx="6066000" cy="39744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6350">
            <a:solidFill>
              <a:srgbClr val="D9D2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01200" y="815450"/>
            <a:ext cx="55000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spc="200">
                <a:solidFill>
                  <a:srgbClr val="C00000"/>
                </a:solidFill>
                <a:latin typeface="Inter"/>
              </a:rPr>
              <a:t>ПЛАН ДЕЙСТВИЙ · 6 НАПРАВЛЕНИЙ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1200" y="1045450"/>
            <a:ext cx="550000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8A95A3"/>
                </a:solidFill>
                <a:latin typeface="Inter"/>
              </a:rPr>
              <a:t>Ассортимент · Ценообразование · Промо · Обучение · Контент · Контроль</a:t>
            </a:r>
          </a:p>
        </p:txBody>
      </p:sp>
      <p:sp>
        <p:nvSpPr>
          <p:cNvPr id="10" name="Rectangle 9"/>
          <p:cNvSpPr/>
          <p:nvPr/>
        </p:nvSpPr>
        <p:spPr>
          <a:xfrm>
            <a:off x="201200" y="1265450"/>
            <a:ext cx="5786000" cy="20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201200" y="1375450"/>
            <a:ext cx="1862000" cy="1477200"/>
          </a:xfrm>
          <a:prstGeom prst="roundRect">
            <a:avLst>
              <a:gd name="adj" fmla="val 4000"/>
            </a:avLst>
          </a:prstGeom>
          <a:solidFill>
            <a:srgbClr val="F5F2EC"/>
          </a:solidFill>
          <a:ln w="6350">
            <a:solidFill>
              <a:srgbClr val="D9D2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201200" y="1375450"/>
            <a:ext cx="1862000" cy="400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281200" y="1445450"/>
            <a:ext cx="8000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C00000"/>
                </a:solidFill>
                <a:latin typeface="Roboto Mono"/>
              </a:rP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1200" y="1465450"/>
            <a:ext cx="14220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spc="150">
                <a:solidFill>
                  <a:srgbClr val="2F3A48"/>
                </a:solidFill>
                <a:latin typeface="Inter"/>
              </a:rPr>
              <a:t>АССОРТИМЕНТ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1200" y="1665450"/>
            <a:ext cx="1742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Расширение SKU · новые сегменты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81200" y="1855450"/>
            <a:ext cx="1702000" cy="15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281200" y="1905450"/>
            <a:ext cx="1162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Новые позиции ВД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83200" y="1905450"/>
            <a:ext cx="6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>
                <a:solidFill>
                  <a:srgbClr val="2F3A48"/>
                </a:solidFill>
                <a:latin typeface="Roboto Mono"/>
              </a:rPr>
              <a:t>+8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1200" y="2125450"/>
            <a:ext cx="1162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Грунтовки deep-wood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83200" y="2125450"/>
            <a:ext cx="6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>
                <a:solidFill>
                  <a:srgbClr val="2F3A48"/>
                </a:solidFill>
                <a:latin typeface="Roboto Mono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81200" y="2345450"/>
            <a:ext cx="1162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Архит. покрытия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3200" y="2345450"/>
            <a:ext cx="6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>
                <a:solidFill>
                  <a:srgbClr val="2F3A48"/>
                </a:solidFill>
                <a:latin typeface="Roboto Mono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81200" y="2565450"/>
            <a:ext cx="1162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Спец. средства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83200" y="2565450"/>
            <a:ext cx="6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>
                <a:solidFill>
                  <a:srgbClr val="2F3A48"/>
                </a:solidFill>
                <a:latin typeface="Roboto Mono"/>
              </a:rPr>
              <a:t>3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81200" y="2432650"/>
            <a:ext cx="1702000" cy="15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281200" y="2472650"/>
            <a:ext cx="174200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>
                <a:solidFill>
                  <a:srgbClr val="C00000"/>
                </a:solidFill>
                <a:latin typeface="Inter"/>
              </a:rPr>
              <a:t>+8 SKU к концу 2027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163200" y="1375450"/>
            <a:ext cx="1862000" cy="1477200"/>
          </a:xfrm>
          <a:prstGeom prst="roundRect">
            <a:avLst>
              <a:gd name="adj" fmla="val 4000"/>
            </a:avLst>
          </a:prstGeom>
          <a:solidFill>
            <a:srgbClr val="F5F2EC"/>
          </a:solidFill>
          <a:ln w="6350">
            <a:solidFill>
              <a:srgbClr val="D9D2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2163200" y="1375450"/>
            <a:ext cx="1862000" cy="40000"/>
          </a:xfrm>
          <a:prstGeom prst="rect">
            <a:avLst/>
          </a:prstGeom>
          <a:solidFill>
            <a:srgbClr val="C9A7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2243200" y="1445450"/>
            <a:ext cx="8000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C9A77C"/>
                </a:solidFill>
                <a:latin typeface="Roboto Mono"/>
              </a:rPr>
              <a:t>02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533200" y="1465450"/>
            <a:ext cx="14220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spc="150">
                <a:solidFill>
                  <a:srgbClr val="2F3A48"/>
                </a:solidFill>
                <a:latin typeface="Inter"/>
              </a:rPr>
              <a:t>МОТИВАЦИЯ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243200" y="1665450"/>
            <a:ext cx="1742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Программа для дистрибьюторов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243200" y="1855450"/>
            <a:ext cx="1702000" cy="15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2243200" y="1905450"/>
            <a:ext cx="1162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Ретро-бонус ВД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345200" y="1905450"/>
            <a:ext cx="6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>
                <a:solidFill>
                  <a:srgbClr val="2F3A48"/>
                </a:solidFill>
                <a:latin typeface="Roboto Mono"/>
              </a:rPr>
              <a:t>3%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243200" y="2125450"/>
            <a:ext cx="1162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Кэшбек на NEWTONE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345200" y="2125450"/>
            <a:ext cx="6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>
                <a:solidFill>
                  <a:srgbClr val="2F3A48"/>
                </a:solidFill>
                <a:latin typeface="Roboto Mono"/>
              </a:rPr>
              <a:t>5%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243200" y="2345450"/>
            <a:ext cx="1162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Бонус за MML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345200" y="2345450"/>
            <a:ext cx="6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>
                <a:solidFill>
                  <a:srgbClr val="2F3A48"/>
                </a:solidFill>
                <a:latin typeface="Roboto Mono"/>
              </a:rPr>
              <a:t>2%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243200" y="2565450"/>
            <a:ext cx="1162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Стартовый набор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345200" y="2565450"/>
            <a:ext cx="6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>
                <a:solidFill>
                  <a:srgbClr val="2F3A48"/>
                </a:solidFill>
                <a:latin typeface="Roboto Mono"/>
              </a:rPr>
              <a:t>1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243200" y="2432650"/>
            <a:ext cx="1702000" cy="15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2243200" y="2472650"/>
            <a:ext cx="174200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>
                <a:solidFill>
                  <a:srgbClr val="C9A77C"/>
                </a:solidFill>
                <a:latin typeface="Inter"/>
              </a:rPr>
              <a:t>До 10% совокупно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125200" y="1375450"/>
            <a:ext cx="1862000" cy="1477200"/>
          </a:xfrm>
          <a:prstGeom prst="roundRect">
            <a:avLst>
              <a:gd name="adj" fmla="val 4000"/>
            </a:avLst>
          </a:prstGeom>
          <a:solidFill>
            <a:srgbClr val="F5F2EC"/>
          </a:solidFill>
          <a:ln w="6350">
            <a:solidFill>
              <a:srgbClr val="D9D2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ectangle 43"/>
          <p:cNvSpPr/>
          <p:nvPr/>
        </p:nvSpPr>
        <p:spPr>
          <a:xfrm>
            <a:off x="4125200" y="1375450"/>
            <a:ext cx="1862000" cy="40000"/>
          </a:xfrm>
          <a:prstGeom prst="rect">
            <a:avLst/>
          </a:prstGeom>
          <a:solidFill>
            <a:srgbClr val="2F3A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4205200" y="1445450"/>
            <a:ext cx="8000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2F3A48"/>
                </a:solidFill>
                <a:latin typeface="Roboto Mono"/>
              </a:rPr>
              <a:t>03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495200" y="1465450"/>
            <a:ext cx="14220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spc="150">
                <a:solidFill>
                  <a:srgbClr val="2F3A48"/>
                </a:solidFill>
                <a:latin typeface="Inter"/>
              </a:rPr>
              <a:t>ОБУЧЕНИЕ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205200" y="1665450"/>
            <a:ext cx="1742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Сертификация ТП и РМ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205200" y="1855450"/>
            <a:ext cx="1702000" cy="15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4205200" y="1905450"/>
            <a:ext cx="1162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Регионов в плане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307200" y="1905450"/>
            <a:ext cx="6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>
                <a:solidFill>
                  <a:srgbClr val="2F3A48"/>
                </a:solidFill>
                <a:latin typeface="Roboto Mono"/>
              </a:rPr>
              <a:t>20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205200" y="2125450"/>
            <a:ext cx="1162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ТП обучено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307200" y="2125450"/>
            <a:ext cx="6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>
                <a:solidFill>
                  <a:srgbClr val="2F3A48"/>
                </a:solidFill>
                <a:latin typeface="Roboto Mono"/>
              </a:rPr>
              <a:t>500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205200" y="2345450"/>
            <a:ext cx="1162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РМ сертифиц.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307200" y="2345450"/>
            <a:ext cx="6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>
                <a:solidFill>
                  <a:srgbClr val="2F3A48"/>
                </a:solidFill>
                <a:latin typeface="Roboto Mono"/>
              </a:rPr>
              <a:t>30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205200" y="2565450"/>
            <a:ext cx="1162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Вебинаров/год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307200" y="2565450"/>
            <a:ext cx="6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>
                <a:solidFill>
                  <a:srgbClr val="2F3A48"/>
                </a:solidFill>
                <a:latin typeface="Roboto Mono"/>
              </a:rPr>
              <a:t>12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205200" y="2432650"/>
            <a:ext cx="1702000" cy="15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4205200" y="2472650"/>
            <a:ext cx="174200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>
                <a:solidFill>
                  <a:srgbClr val="2F3A48"/>
                </a:solidFill>
                <a:latin typeface="Inter"/>
              </a:rPr>
              <a:t>+150% к 2026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201200" y="2972650"/>
            <a:ext cx="1862000" cy="1477200"/>
          </a:xfrm>
          <a:prstGeom prst="roundRect">
            <a:avLst>
              <a:gd name="adj" fmla="val 4000"/>
            </a:avLst>
          </a:prstGeom>
          <a:solidFill>
            <a:srgbClr val="F5F2EC"/>
          </a:solidFill>
          <a:ln w="6350">
            <a:solidFill>
              <a:srgbClr val="D9D2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Rectangle 59"/>
          <p:cNvSpPr/>
          <p:nvPr/>
        </p:nvSpPr>
        <p:spPr>
          <a:xfrm>
            <a:off x="201200" y="2972650"/>
            <a:ext cx="1862000" cy="40000"/>
          </a:xfrm>
          <a:prstGeom prst="rect">
            <a:avLst/>
          </a:prstGeom>
          <a:solidFill>
            <a:srgbClr val="6B8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281200" y="3042650"/>
            <a:ext cx="8000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6B8FA8"/>
                </a:solidFill>
                <a:latin typeface="Roboto Mono"/>
              </a:rPr>
              <a:t>04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71200" y="3062650"/>
            <a:ext cx="14220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spc="150">
                <a:solidFill>
                  <a:srgbClr val="2F3A48"/>
                </a:solidFill>
                <a:latin typeface="Inter"/>
              </a:rPr>
              <a:t>POSM·МЕРЧАНД.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81200" y="3262650"/>
            <a:ext cx="1742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Брендированные зоны ВД</a:t>
            </a:r>
          </a:p>
        </p:txBody>
      </p:sp>
      <p:sp>
        <p:nvSpPr>
          <p:cNvPr id="64" name="Rectangle 63"/>
          <p:cNvSpPr/>
          <p:nvPr/>
        </p:nvSpPr>
        <p:spPr>
          <a:xfrm>
            <a:off x="281200" y="3452650"/>
            <a:ext cx="1702000" cy="15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64"/>
          <p:cNvSpPr txBox="1"/>
          <p:nvPr/>
        </p:nvSpPr>
        <p:spPr>
          <a:xfrm>
            <a:off x="281200" y="3502650"/>
            <a:ext cx="1162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РТТ с зоной ВД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383200" y="3502650"/>
            <a:ext cx="6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>
                <a:solidFill>
                  <a:srgbClr val="2F3A48"/>
                </a:solidFill>
                <a:latin typeface="Roboto Mono"/>
              </a:rPr>
              <a:t>120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81200" y="3722650"/>
            <a:ext cx="1162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Стойки на 8 SKU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383200" y="3722650"/>
            <a:ext cx="6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>
                <a:solidFill>
                  <a:srgbClr val="2F3A48"/>
                </a:solidFill>
                <a:latin typeface="Roboto Mono"/>
              </a:rPr>
              <a:t>80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81200" y="3942650"/>
            <a:ext cx="1162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dirty="0" err="1">
                <a:solidFill>
                  <a:srgbClr val="8A95A3"/>
                </a:solidFill>
                <a:latin typeface="Inter"/>
              </a:rPr>
              <a:t>Шелфтокеры</a:t>
            </a:r>
            <a:endParaRPr sz="850" b="0" dirty="0">
              <a:solidFill>
                <a:srgbClr val="8A95A3"/>
              </a:solidFill>
              <a:latin typeface="Inter"/>
            </a:endParaRPr>
          </a:p>
        </p:txBody>
      </p:sp>
      <p:sp>
        <p:nvSpPr>
          <p:cNvPr id="70" name="TextBox 69"/>
          <p:cNvSpPr txBox="1"/>
          <p:nvPr/>
        </p:nvSpPr>
        <p:spPr>
          <a:xfrm>
            <a:off x="1383200" y="3942650"/>
            <a:ext cx="6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>
                <a:solidFill>
                  <a:srgbClr val="2F3A48"/>
                </a:solidFill>
                <a:latin typeface="Roboto Mono"/>
              </a:rPr>
              <a:t>1500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81200" y="4162650"/>
            <a:ext cx="1162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Тестеры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383200" y="4162650"/>
            <a:ext cx="6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>
                <a:solidFill>
                  <a:srgbClr val="2F3A48"/>
                </a:solidFill>
                <a:latin typeface="Roboto Mono"/>
              </a:rPr>
              <a:t>300</a:t>
            </a:r>
          </a:p>
        </p:txBody>
      </p:sp>
      <p:sp>
        <p:nvSpPr>
          <p:cNvPr id="73" name="Rectangle 72"/>
          <p:cNvSpPr/>
          <p:nvPr/>
        </p:nvSpPr>
        <p:spPr>
          <a:xfrm>
            <a:off x="281200" y="4029850"/>
            <a:ext cx="1702000" cy="15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TextBox 73"/>
          <p:cNvSpPr txBox="1"/>
          <p:nvPr/>
        </p:nvSpPr>
        <p:spPr>
          <a:xfrm>
            <a:off x="281200" y="4069850"/>
            <a:ext cx="174200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>
                <a:solidFill>
                  <a:srgbClr val="6B8FA8"/>
                </a:solidFill>
                <a:latin typeface="Inter"/>
              </a:rPr>
              <a:t>120 РТТ · 2027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2163200" y="2972650"/>
            <a:ext cx="1862000" cy="1477200"/>
          </a:xfrm>
          <a:prstGeom prst="roundRect">
            <a:avLst>
              <a:gd name="adj" fmla="val 4000"/>
            </a:avLst>
          </a:prstGeom>
          <a:solidFill>
            <a:srgbClr val="F5F2EC"/>
          </a:solidFill>
          <a:ln w="6350">
            <a:solidFill>
              <a:srgbClr val="D9D2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Rectangle 75"/>
          <p:cNvSpPr/>
          <p:nvPr/>
        </p:nvSpPr>
        <p:spPr>
          <a:xfrm>
            <a:off x="2163200" y="2972650"/>
            <a:ext cx="1862000" cy="40000"/>
          </a:xfrm>
          <a:prstGeom prst="rect">
            <a:avLst/>
          </a:prstGeom>
          <a:solidFill>
            <a:srgbClr val="8BA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TextBox 76"/>
          <p:cNvSpPr txBox="1"/>
          <p:nvPr/>
        </p:nvSpPr>
        <p:spPr>
          <a:xfrm>
            <a:off x="2243200" y="3042650"/>
            <a:ext cx="8000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8BAA8A"/>
                </a:solidFill>
                <a:latin typeface="Roboto Mono"/>
              </a:rPr>
              <a:t>05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533200" y="3062650"/>
            <a:ext cx="14220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spc="150">
                <a:solidFill>
                  <a:srgbClr val="2F3A48"/>
                </a:solidFill>
                <a:latin typeface="Inter"/>
              </a:rPr>
              <a:t>КОНТЕНТ·РК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243200" y="3262650"/>
            <a:ext cx="1742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Продвижение ВД-категории</a:t>
            </a:r>
          </a:p>
        </p:txBody>
      </p:sp>
      <p:sp>
        <p:nvSpPr>
          <p:cNvPr id="80" name="Rectangle 79"/>
          <p:cNvSpPr/>
          <p:nvPr/>
        </p:nvSpPr>
        <p:spPr>
          <a:xfrm>
            <a:off x="2243200" y="3452650"/>
            <a:ext cx="1702000" cy="15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TextBox 80"/>
          <p:cNvSpPr txBox="1"/>
          <p:nvPr/>
        </p:nvSpPr>
        <p:spPr>
          <a:xfrm>
            <a:off x="2243200" y="3502650"/>
            <a:ext cx="1162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Видео для ТП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345200" y="3502650"/>
            <a:ext cx="6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>
                <a:solidFill>
                  <a:srgbClr val="2F3A48"/>
                </a:solidFill>
                <a:latin typeface="Roboto Mono"/>
              </a:rPr>
              <a:t>6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2243200" y="3722650"/>
            <a:ext cx="1162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VK·Яндекс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3345200" y="3722650"/>
            <a:ext cx="6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>
                <a:solidFill>
                  <a:srgbClr val="2F3A48"/>
                </a:solidFill>
                <a:latin typeface="Roboto Mono"/>
              </a:rPr>
              <a:t>да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2243200" y="3942650"/>
            <a:ext cx="1162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Блогеры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3345200" y="3942650"/>
            <a:ext cx="6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>
                <a:solidFill>
                  <a:srgbClr val="2F3A48"/>
                </a:solidFill>
                <a:latin typeface="Roboto Mono"/>
              </a:rP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2243200" y="4162650"/>
            <a:ext cx="1162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SEO·контент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345200" y="4162650"/>
            <a:ext cx="6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>
                <a:solidFill>
                  <a:srgbClr val="2F3A48"/>
                </a:solidFill>
                <a:latin typeface="Roboto Mono"/>
              </a:rPr>
              <a:t>12</a:t>
            </a:r>
          </a:p>
        </p:txBody>
      </p:sp>
      <p:sp>
        <p:nvSpPr>
          <p:cNvPr id="89" name="Rectangle 88"/>
          <p:cNvSpPr/>
          <p:nvPr/>
        </p:nvSpPr>
        <p:spPr>
          <a:xfrm>
            <a:off x="2243200" y="4029850"/>
            <a:ext cx="1702000" cy="15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0" name="TextBox 89"/>
          <p:cNvSpPr txBox="1"/>
          <p:nvPr/>
        </p:nvSpPr>
        <p:spPr>
          <a:xfrm>
            <a:off x="2243200" y="4069850"/>
            <a:ext cx="174200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>
                <a:solidFill>
                  <a:srgbClr val="8BAA8A"/>
                </a:solidFill>
                <a:latin typeface="Inter"/>
              </a:rPr>
              <a:t>Охват 2M+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4125200" y="2972650"/>
            <a:ext cx="1862000" cy="1477200"/>
          </a:xfrm>
          <a:prstGeom prst="roundRect">
            <a:avLst>
              <a:gd name="adj" fmla="val 4000"/>
            </a:avLst>
          </a:prstGeom>
          <a:solidFill>
            <a:srgbClr val="F5F2EC"/>
          </a:solidFill>
          <a:ln w="6350">
            <a:solidFill>
              <a:srgbClr val="D9D2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2" name="Rectangle 91"/>
          <p:cNvSpPr/>
          <p:nvPr/>
        </p:nvSpPr>
        <p:spPr>
          <a:xfrm>
            <a:off x="4125200" y="2972650"/>
            <a:ext cx="1862000" cy="40000"/>
          </a:xfrm>
          <a:prstGeom prst="rect">
            <a:avLst/>
          </a:prstGeom>
          <a:solidFill>
            <a:srgbClr val="8BA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3" name="TextBox 92"/>
          <p:cNvSpPr txBox="1"/>
          <p:nvPr/>
        </p:nvSpPr>
        <p:spPr>
          <a:xfrm>
            <a:off x="4205200" y="3042650"/>
            <a:ext cx="8000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8BAA8A"/>
                </a:solidFill>
                <a:latin typeface="Roboto Mono"/>
              </a:rPr>
              <a:t>06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495200" y="3062650"/>
            <a:ext cx="14220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spc="150">
                <a:solidFill>
                  <a:srgbClr val="2F3A48"/>
                </a:solidFill>
                <a:latin typeface="Inter"/>
              </a:rPr>
              <a:t>ТРЕЙД-МАРКЕТИНГ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205200" y="3262650"/>
            <a:ext cx="1742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Промоакции и акции в точках</a:t>
            </a:r>
          </a:p>
        </p:txBody>
      </p:sp>
      <p:sp>
        <p:nvSpPr>
          <p:cNvPr id="96" name="Rectangle 95"/>
          <p:cNvSpPr/>
          <p:nvPr/>
        </p:nvSpPr>
        <p:spPr>
          <a:xfrm>
            <a:off x="4205200" y="3452650"/>
            <a:ext cx="1702000" cy="15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7" name="TextBox 96"/>
          <p:cNvSpPr txBox="1"/>
          <p:nvPr/>
        </p:nvSpPr>
        <p:spPr>
          <a:xfrm>
            <a:off x="4205200" y="3502650"/>
            <a:ext cx="1162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Промо/квартал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5307200" y="3502650"/>
            <a:ext cx="6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>
                <a:solidFill>
                  <a:srgbClr val="2F3A48"/>
                </a:solidFill>
                <a:latin typeface="Roboto Mono"/>
              </a:rPr>
              <a:t>2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205200" y="3722650"/>
            <a:ext cx="1162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Скидка при входе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5307200" y="3722650"/>
            <a:ext cx="6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>
                <a:solidFill>
                  <a:srgbClr val="2F3A48"/>
                </a:solidFill>
                <a:latin typeface="Roboto Mono"/>
              </a:rPr>
              <a:t>20%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205200" y="3942650"/>
            <a:ext cx="1162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Подарок за покупку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5307200" y="3942650"/>
            <a:ext cx="6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>
                <a:solidFill>
                  <a:srgbClr val="2F3A48"/>
                </a:solidFill>
                <a:latin typeface="Roboto Mono"/>
              </a:rPr>
              <a:t>да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4205200" y="4162650"/>
            <a:ext cx="1162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Кросс-промо TITAN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5307200" y="4162650"/>
            <a:ext cx="6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>
                <a:solidFill>
                  <a:srgbClr val="2F3A48"/>
                </a:solidFill>
                <a:latin typeface="Roboto Mono"/>
              </a:rPr>
              <a:t>да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4205200" y="4029850"/>
            <a:ext cx="1702000" cy="15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6" name="TextBox 105"/>
          <p:cNvSpPr txBox="1"/>
          <p:nvPr/>
        </p:nvSpPr>
        <p:spPr>
          <a:xfrm>
            <a:off x="4205200" y="4069850"/>
            <a:ext cx="174200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>
                <a:solidFill>
                  <a:srgbClr val="8BAA8A"/>
                </a:solidFill>
                <a:latin typeface="Inter"/>
              </a:rPr>
              <a:t>8 промо · 2027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201200" y="4269850"/>
            <a:ext cx="5786000" cy="2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Бюджет проекта 2027 — 1,8 млн ₽ · ROI 3,2× · срок окупаемости 14 месяцев</a:t>
            </a:r>
          </a:p>
        </p:txBody>
      </p:sp>
      <p:sp>
        <p:nvSpPr>
          <p:cNvPr id="108" name="Rounded Rectangle 107"/>
          <p:cNvSpPr/>
          <p:nvPr/>
        </p:nvSpPr>
        <p:spPr>
          <a:xfrm>
            <a:off x="6195600" y="675450"/>
            <a:ext cx="2862000" cy="39456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6350">
            <a:solidFill>
              <a:srgbClr val="D9D2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9" name="TextBox 108"/>
          <p:cNvSpPr txBox="1"/>
          <p:nvPr/>
        </p:nvSpPr>
        <p:spPr>
          <a:xfrm>
            <a:off x="6335600" y="815450"/>
            <a:ext cx="25820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spc="200">
                <a:solidFill>
                  <a:srgbClr val="C00000"/>
                </a:solidFill>
                <a:latin typeface="Inter"/>
              </a:rPr>
              <a:t>KPI · 2027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6335600" y="1045450"/>
            <a:ext cx="258200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8A95A3"/>
                </a:solidFill>
                <a:latin typeface="Inter"/>
              </a:rPr>
              <a:t>Целевые метрики ВД-категории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35600" y="1265450"/>
            <a:ext cx="2582000" cy="20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2" name="Rounded Rectangle 111"/>
          <p:cNvSpPr/>
          <p:nvPr/>
        </p:nvSpPr>
        <p:spPr>
          <a:xfrm>
            <a:off x="6255600" y="1415450"/>
            <a:ext cx="320000" cy="320000"/>
          </a:xfrm>
          <a:prstGeom prst="roundRect">
            <a:avLst>
              <a:gd name="adj" fmla="val 18000"/>
            </a:avLst>
          </a:prstGeom>
          <a:solidFill>
            <a:srgbClr val="D9D2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3" name="TextBox 112"/>
          <p:cNvSpPr txBox="1"/>
          <p:nvPr/>
        </p:nvSpPr>
        <p:spPr>
          <a:xfrm>
            <a:off x="6255600" y="1465450"/>
            <a:ext cx="320000" cy="2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>
                <a:solidFill>
                  <a:srgbClr val="C00000"/>
                </a:solidFill>
                <a:latin typeface="Inter"/>
              </a:rPr>
              <a:t>01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6615600" y="1425450"/>
            <a:ext cx="22000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2F3A48"/>
                </a:solidFill>
                <a:latin typeface="Inter"/>
              </a:rPr>
              <a:t>Доля ВД в MML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6615600" y="1645450"/>
            <a:ext cx="23620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C00000"/>
                </a:solidFill>
                <a:latin typeface="Roboto Mono"/>
              </a:rPr>
              <a:t>28% → 42%</a:t>
            </a:r>
          </a:p>
        </p:txBody>
      </p:sp>
      <p:sp>
        <p:nvSpPr>
          <p:cNvPr id="116" name="Rounded Rectangle 115"/>
          <p:cNvSpPr/>
          <p:nvPr/>
        </p:nvSpPr>
        <p:spPr>
          <a:xfrm>
            <a:off x="8237600" y="1423450"/>
            <a:ext cx="700000" cy="220000"/>
          </a:xfrm>
          <a:prstGeom prst="roundRect">
            <a:avLst>
              <a:gd name="adj" fmla="val 30000"/>
            </a:avLst>
          </a:prstGeom>
          <a:solidFill>
            <a:srgbClr val="F5F2EC"/>
          </a:solidFill>
          <a:ln w="6350">
            <a:solidFill>
              <a:srgbClr val="D9D2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7" name="TextBox 116"/>
          <p:cNvSpPr txBox="1"/>
          <p:nvPr/>
        </p:nvSpPr>
        <p:spPr>
          <a:xfrm>
            <a:off x="8237600" y="1450450"/>
            <a:ext cx="7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1">
                <a:solidFill>
                  <a:srgbClr val="C00000"/>
                </a:solidFill>
                <a:latin typeface="Inter"/>
              </a:rPr>
              <a:t>+14 п.п.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275600" y="1925450"/>
            <a:ext cx="2702000" cy="12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9" name="Rounded Rectangle 118"/>
          <p:cNvSpPr/>
          <p:nvPr/>
        </p:nvSpPr>
        <p:spPr>
          <a:xfrm>
            <a:off x="6255600" y="1955450"/>
            <a:ext cx="320000" cy="320000"/>
          </a:xfrm>
          <a:prstGeom prst="roundRect">
            <a:avLst>
              <a:gd name="adj" fmla="val 18000"/>
            </a:avLst>
          </a:prstGeom>
          <a:solidFill>
            <a:srgbClr val="D9D2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0" name="TextBox 119"/>
          <p:cNvSpPr txBox="1"/>
          <p:nvPr/>
        </p:nvSpPr>
        <p:spPr>
          <a:xfrm>
            <a:off x="6255600" y="2005450"/>
            <a:ext cx="320000" cy="2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>
                <a:solidFill>
                  <a:srgbClr val="C00000"/>
                </a:solidFill>
                <a:latin typeface="Inter"/>
              </a:rPr>
              <a:t>02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6615600" y="1965450"/>
            <a:ext cx="22000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2F3A48"/>
                </a:solidFill>
                <a:latin typeface="Inter"/>
              </a:rPr>
              <a:t>Первичка ВД (т)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6615600" y="2185450"/>
            <a:ext cx="23620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C00000"/>
                </a:solidFill>
                <a:latin typeface="Roboto Mono"/>
              </a:rPr>
              <a:t>1 200 → 2 000</a:t>
            </a:r>
          </a:p>
        </p:txBody>
      </p:sp>
      <p:sp>
        <p:nvSpPr>
          <p:cNvPr id="123" name="Rounded Rectangle 122"/>
          <p:cNvSpPr/>
          <p:nvPr/>
        </p:nvSpPr>
        <p:spPr>
          <a:xfrm>
            <a:off x="8237600" y="1963450"/>
            <a:ext cx="700000" cy="220000"/>
          </a:xfrm>
          <a:prstGeom prst="roundRect">
            <a:avLst>
              <a:gd name="adj" fmla="val 30000"/>
            </a:avLst>
          </a:prstGeom>
          <a:solidFill>
            <a:srgbClr val="F5F2EC"/>
          </a:solidFill>
          <a:ln w="6350">
            <a:solidFill>
              <a:srgbClr val="D9D2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4" name="TextBox 123"/>
          <p:cNvSpPr txBox="1"/>
          <p:nvPr/>
        </p:nvSpPr>
        <p:spPr>
          <a:xfrm>
            <a:off x="8237600" y="1990450"/>
            <a:ext cx="7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1">
                <a:solidFill>
                  <a:srgbClr val="C00000"/>
                </a:solidFill>
                <a:latin typeface="Inter"/>
              </a:rPr>
              <a:t>+67%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275600" y="2465450"/>
            <a:ext cx="2702000" cy="12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6" name="Rounded Rectangle 125"/>
          <p:cNvSpPr/>
          <p:nvPr/>
        </p:nvSpPr>
        <p:spPr>
          <a:xfrm>
            <a:off x="6255600" y="2495450"/>
            <a:ext cx="320000" cy="320000"/>
          </a:xfrm>
          <a:prstGeom prst="roundRect">
            <a:avLst>
              <a:gd name="adj" fmla="val 18000"/>
            </a:avLst>
          </a:prstGeom>
          <a:solidFill>
            <a:srgbClr val="D9D2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7" name="TextBox 126"/>
          <p:cNvSpPr txBox="1"/>
          <p:nvPr/>
        </p:nvSpPr>
        <p:spPr>
          <a:xfrm>
            <a:off x="6255600" y="2545450"/>
            <a:ext cx="320000" cy="2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>
                <a:solidFill>
                  <a:srgbClr val="C9A77C"/>
                </a:solidFill>
                <a:latin typeface="Inter"/>
              </a:rPr>
              <a:t>03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615600" y="2505450"/>
            <a:ext cx="22000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2F3A48"/>
                </a:solidFill>
                <a:latin typeface="Inter"/>
              </a:rPr>
              <a:t>РТТ с ВД-зоной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615600" y="2725450"/>
            <a:ext cx="23620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C9A77C"/>
                </a:solidFill>
                <a:latin typeface="Roboto Mono"/>
              </a:rPr>
              <a:t>180 → 350</a:t>
            </a:r>
          </a:p>
        </p:txBody>
      </p:sp>
      <p:sp>
        <p:nvSpPr>
          <p:cNvPr id="130" name="Rounded Rectangle 129"/>
          <p:cNvSpPr/>
          <p:nvPr/>
        </p:nvSpPr>
        <p:spPr>
          <a:xfrm>
            <a:off x="8237600" y="2503450"/>
            <a:ext cx="700000" cy="220000"/>
          </a:xfrm>
          <a:prstGeom prst="roundRect">
            <a:avLst>
              <a:gd name="adj" fmla="val 30000"/>
            </a:avLst>
          </a:prstGeom>
          <a:solidFill>
            <a:srgbClr val="F5F2EC"/>
          </a:solidFill>
          <a:ln w="6350">
            <a:solidFill>
              <a:srgbClr val="D9D2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1" name="TextBox 130"/>
          <p:cNvSpPr txBox="1"/>
          <p:nvPr/>
        </p:nvSpPr>
        <p:spPr>
          <a:xfrm>
            <a:off x="8237600" y="2530450"/>
            <a:ext cx="7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1">
                <a:solidFill>
                  <a:srgbClr val="C9A77C"/>
                </a:solidFill>
                <a:latin typeface="Inter"/>
              </a:rPr>
              <a:t>+94%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6275600" y="3005450"/>
            <a:ext cx="2702000" cy="12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3" name="Rounded Rectangle 132"/>
          <p:cNvSpPr/>
          <p:nvPr/>
        </p:nvSpPr>
        <p:spPr>
          <a:xfrm>
            <a:off x="6255600" y="3035450"/>
            <a:ext cx="320000" cy="320000"/>
          </a:xfrm>
          <a:prstGeom prst="roundRect">
            <a:avLst>
              <a:gd name="adj" fmla="val 18000"/>
            </a:avLst>
          </a:prstGeom>
          <a:solidFill>
            <a:srgbClr val="D9D2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4" name="TextBox 133"/>
          <p:cNvSpPr txBox="1"/>
          <p:nvPr/>
        </p:nvSpPr>
        <p:spPr>
          <a:xfrm>
            <a:off x="6255600" y="3085450"/>
            <a:ext cx="320000" cy="2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>
                <a:solidFill>
                  <a:srgbClr val="2F3A48"/>
                </a:solidFill>
                <a:latin typeface="Inter"/>
              </a:rPr>
              <a:t>04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6615600" y="3045450"/>
            <a:ext cx="22000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2F3A48"/>
                </a:solidFill>
                <a:latin typeface="Inter"/>
              </a:rPr>
              <a:t>АКБ ВД в точках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6615600" y="3265450"/>
            <a:ext cx="23620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2F3A48"/>
                </a:solidFill>
                <a:latin typeface="Roboto Mono"/>
              </a:rPr>
              <a:t>32% → 58%</a:t>
            </a:r>
          </a:p>
        </p:txBody>
      </p:sp>
      <p:sp>
        <p:nvSpPr>
          <p:cNvPr id="137" name="Rounded Rectangle 136"/>
          <p:cNvSpPr/>
          <p:nvPr/>
        </p:nvSpPr>
        <p:spPr>
          <a:xfrm>
            <a:off x="8237600" y="3043450"/>
            <a:ext cx="700000" cy="220000"/>
          </a:xfrm>
          <a:prstGeom prst="roundRect">
            <a:avLst>
              <a:gd name="adj" fmla="val 30000"/>
            </a:avLst>
          </a:prstGeom>
          <a:solidFill>
            <a:srgbClr val="F5F2EC"/>
          </a:solidFill>
          <a:ln w="6350">
            <a:solidFill>
              <a:srgbClr val="D9D2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8" name="TextBox 137"/>
          <p:cNvSpPr txBox="1"/>
          <p:nvPr/>
        </p:nvSpPr>
        <p:spPr>
          <a:xfrm>
            <a:off x="8237600" y="3070450"/>
            <a:ext cx="7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1">
                <a:solidFill>
                  <a:srgbClr val="2F3A48"/>
                </a:solidFill>
                <a:latin typeface="Inter"/>
              </a:rPr>
              <a:t>+26 п.п.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6275600" y="3545450"/>
            <a:ext cx="2702000" cy="12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0" name="Rounded Rectangle 139"/>
          <p:cNvSpPr/>
          <p:nvPr/>
        </p:nvSpPr>
        <p:spPr>
          <a:xfrm>
            <a:off x="6255600" y="3575450"/>
            <a:ext cx="320000" cy="320000"/>
          </a:xfrm>
          <a:prstGeom prst="roundRect">
            <a:avLst>
              <a:gd name="adj" fmla="val 18000"/>
            </a:avLst>
          </a:prstGeom>
          <a:solidFill>
            <a:srgbClr val="D9D2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1" name="TextBox 140"/>
          <p:cNvSpPr txBox="1"/>
          <p:nvPr/>
        </p:nvSpPr>
        <p:spPr>
          <a:xfrm>
            <a:off x="6255600" y="3625450"/>
            <a:ext cx="320000" cy="2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>
                <a:solidFill>
                  <a:srgbClr val="2F3A48"/>
                </a:solidFill>
                <a:latin typeface="Inter"/>
              </a:rPr>
              <a:t>05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615600" y="3585450"/>
            <a:ext cx="22000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2F3A48"/>
                </a:solidFill>
                <a:latin typeface="Inter"/>
              </a:rPr>
              <a:t>MML ВД SKU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615600" y="3805450"/>
            <a:ext cx="23620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2F3A48"/>
                </a:solidFill>
                <a:latin typeface="Roboto Mono"/>
              </a:rPr>
              <a:t>33 → 41</a:t>
            </a:r>
          </a:p>
        </p:txBody>
      </p:sp>
      <p:sp>
        <p:nvSpPr>
          <p:cNvPr id="144" name="Rounded Rectangle 143"/>
          <p:cNvSpPr/>
          <p:nvPr/>
        </p:nvSpPr>
        <p:spPr>
          <a:xfrm>
            <a:off x="8237600" y="3583450"/>
            <a:ext cx="700000" cy="220000"/>
          </a:xfrm>
          <a:prstGeom prst="roundRect">
            <a:avLst>
              <a:gd name="adj" fmla="val 30000"/>
            </a:avLst>
          </a:prstGeom>
          <a:solidFill>
            <a:srgbClr val="F5F2EC"/>
          </a:solidFill>
          <a:ln w="6350">
            <a:solidFill>
              <a:srgbClr val="D9D2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5" name="TextBox 144"/>
          <p:cNvSpPr txBox="1"/>
          <p:nvPr/>
        </p:nvSpPr>
        <p:spPr>
          <a:xfrm>
            <a:off x="8237600" y="3610450"/>
            <a:ext cx="7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1">
                <a:solidFill>
                  <a:srgbClr val="2F3A48"/>
                </a:solidFill>
                <a:latin typeface="Inter"/>
              </a:rPr>
              <a:t>+8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6275600" y="4041050"/>
            <a:ext cx="2702000" cy="15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7" name="TextBox 146"/>
          <p:cNvSpPr txBox="1"/>
          <p:nvPr/>
        </p:nvSpPr>
        <p:spPr>
          <a:xfrm>
            <a:off x="6335600" y="4101050"/>
            <a:ext cx="2582000" cy="2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Цель — удвоение доли ВД-ЛКМ в дистрибуционном канале к концу 2027 года</a:t>
            </a:r>
          </a:p>
        </p:txBody>
      </p:sp>
    </p:spTree>
    <p:extLst>
      <p:ext uri="{BB962C8B-B14F-4D97-AF65-F5344CB8AC3E}">
        <p14:creationId xmlns:p14="http://schemas.microsoft.com/office/powerpoint/2010/main" val="176966582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Стандартная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Стандартная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2F3A48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2F3A48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2F3A48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495</TotalTime>
  <Words>1156</Words>
  <Application>Microsoft Office PowerPoint</Application>
  <PresentationFormat>Экран (16:9)</PresentationFormat>
  <Paragraphs>365</Paragraphs>
  <Slides>10</Slides>
  <Notes>2</Notes>
  <HiddenSlides>0</HiddenSlides>
  <MMClips>0</MMClips>
  <ScaleCrop>false</ScaleCrop>
  <HeadingPairs>
    <vt:vector size="4" baseType="variant"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10</vt:i4>
      </vt:variant>
    </vt:vector>
  </HeadingPairs>
  <TitlesOfParts>
    <vt:vector size="11" baseType="lpstr">
      <vt:lpstr>Тема Office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>PptxGenJS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Заколодний Роман Александрович</cp:lastModifiedBy>
  <cp:revision>109</cp:revision>
  <dcterms:created xsi:type="dcterms:W3CDTF">2026-10-01T12:44:52Z</dcterms:created>
  <dcterms:modified xsi:type="dcterms:W3CDTF">2026-10-06T07:16:10Z</dcterms:modified>
</cp:coreProperties>
</file>