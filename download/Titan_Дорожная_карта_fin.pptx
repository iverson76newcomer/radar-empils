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71" r:id="rId3"/>
    <p:sldId id="259" r:id="rId4"/>
    <p:sldId id="261" r:id="rId5"/>
    <p:sldId id="262" r:id="rId6"/>
    <p:sldId id="263" r:id="rId7"/>
    <p:sldId id="265" r:id="rId8"/>
    <p:sldId id="266" r:id="rId9"/>
    <p:sldId id="277" r:id="rId10"/>
    <p:sldId id="270" r:id="rId11"/>
    <p:sldId id="276" r:id="rId12"/>
    <p:sldId id="272" r:id="rId13"/>
    <p:sldId id="273" r:id="rId14"/>
    <p:sldId id="275" r:id="rId15"/>
    <p:sldId id="274" r:id="rId16"/>
    <p:sldId id="269" r:id="rId17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85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A6CA-850D-4EF3-A94A-A906330D8CB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4A80D-685B-45E5-835E-FDA60ABB4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18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2E25D-78B6-4A07-B316-4AE7887BB689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CC15A-4218-4A78-913C-2917A1EC1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826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37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17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290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4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7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04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14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1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42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75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5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1152" y="-38100"/>
            <a:ext cx="1695451" cy="8064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7905753" y="2070101"/>
            <a:ext cx="4324351" cy="387985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3087371" y="2832100"/>
            <a:ext cx="4632052" cy="403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351" y="327910"/>
            <a:ext cx="2595599" cy="25955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1978" y="4384676"/>
            <a:ext cx="381635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4332"/>
              </a:lnSpc>
            </a:pPr>
            <a:r>
              <a:rPr lang="ru-RU" sz="4000" kern="0" spc="-183" dirty="0" smtClean="0">
                <a:latin typeface="Arial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Дорожная </a:t>
            </a:r>
            <a:r>
              <a:rPr lang="ru-RU" sz="4000" kern="0" spc="-183" dirty="0" smtClean="0">
                <a:latin typeface="Arial" panose="00000009000000000000" pitchFamily="50" charset="0"/>
                <a:ea typeface="Roboto Mono Medium" panose="00000009000000000000" pitchFamily="50" charset="0"/>
              </a:rPr>
              <a:t>карта</a:t>
            </a:r>
            <a:endParaRPr lang="en-US" sz="400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8153" y="509403"/>
            <a:ext cx="3790951" cy="37309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38153" y="6337302"/>
            <a:ext cx="36195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 algn="ctr">
              <a:lnSpc>
                <a:spcPts val="1255"/>
              </a:lnSpc>
            </a:pPr>
            <a:r>
              <a:rPr lang="en-US" sz="800" kern="0" spc="-12" dirty="0" i="1">
                <a:solidFill>
                  <a:srgbClr val="9CA3AF">
                    <a:alpha val="99000"/>
                  </a:srgbClr>
                </a:solidFill>
                <a:latin typeface="Arial" pitchFamily="34" charset="0"/>
                <a:ea typeface="Roboto Mono" pitchFamily="34" charset="-122"/>
                <a:cs typeface="Roboto Mono" pitchFamily="34" charset="-120"/>
              </a:rPr>
              <a:t>Empils  •  TITAN  •  Дорожная карта развития продаж  •  Красишь 1 раз — служит 10 лет</a:t>
            </a:r>
            <a:endParaRPr lang="en-US" sz="1100" dirty="0">
              <a:solidFill>
                <a:prstClr val="black"/>
              </a:solidFill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4114800" y="5238752"/>
            <a:ext cx="8077200" cy="16192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95166" y="1984265"/>
            <a:ext cx="2939076" cy="4126841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344153" y="527053"/>
            <a:ext cx="1250951" cy="1250951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107728" y="1950264"/>
            <a:ext cx="3127517" cy="419803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069696" y="1778001"/>
            <a:ext cx="4830464" cy="4830464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8915400" y="4883149"/>
            <a:ext cx="3276600" cy="1016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lIns="121914" tIns="60957" rIns="121914" bIns="60957" rtlCol="0" anchor="ctr"/>
          <a:lstStyle/>
          <a:p>
            <a:pPr defTabSz="121914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3"/>
          <p:cNvSpPr/>
          <p:nvPr/>
        </p:nvSpPr>
        <p:spPr>
          <a:xfrm>
            <a:off x="8915400" y="5016500"/>
            <a:ext cx="3276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900" dirty="0">
              <a:solidFill>
                <a:prstClr val="black"/>
              </a:solidFill>
            </a:endParaRPr>
          </a:p>
          <a:p>
            <a:pPr algn="ctr" defTabSz="1219140">
              <a:lnSpc>
                <a:spcPts val="3021"/>
              </a:lnSpc>
            </a:pPr>
            <a:r>
              <a:rPr lang="en-US" sz="2900" kern="0" spc="-63" dirty="0">
                <a:solidFill>
                  <a:srgbClr val="FFFFFF">
                    <a:alpha val="99000"/>
                  </a:srgbClr>
                </a:solidFill>
                <a:latin typeface="Arial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82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ЭТАП 0 – 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ПОИСК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НОВОГО ПАРТНЁРА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6 инструментов выхода на контакт  •  Сценарий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64008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Цель: выйти на контакт с потенциальным партнёром и презентовать программу TITAN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486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5486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69164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691640"/>
            <a:ext cx="5029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6916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Описание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691640"/>
            <a:ext cx="3017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691640"/>
            <a:ext cx="3017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Эффективность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0312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10312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103120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210312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Персональный визит РМ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103120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210312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Региональный менеджер приезжает в офис потенциального партнёра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03120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10312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Самый эффективный канал. Конверсия 40-60%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16352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816352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2816352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2816352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Звонок РМ (теплый прозвон)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816352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06240" y="2816352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Звонок после email или бумажного письма — договориться о встрече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81635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2816352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в встречу 15-25%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29584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3529584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3529584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3529584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Отправка приглашения в МАХ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529584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0" y="3529584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Презентация программы TITAN через мессенджер МАХ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529584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0" y="3529584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Удобно для дистрибьюторов, использующих МАХ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42816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242816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2428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" y="4242816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Email-рассылка по базе «белые пятна»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242816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06240" y="4242816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Персонализированное письмо + приглашение посетить завод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24281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35440" y="4242816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Масштабируемый канал. Конверсия 3-7%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56048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4956048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4956048"/>
            <a:ext cx="32004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5840" y="4956048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Письмо по обычной почте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4956048"/>
            <a:ext cx="502920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06240" y="4956048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Напечатанное приглашение посетить завод, отправленное Почтой России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956048"/>
            <a:ext cx="3017520" cy="713232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35440" y="4956048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Конверсия 8-15%. Бумага воспринимается как «серьёзный жест»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669280"/>
            <a:ext cx="548640" cy="713232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5669280"/>
            <a:ext cx="548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56692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5840" y="5669280"/>
            <a:ext cx="30175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Приглашение на профильной выставке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5669280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0" y="5669280"/>
            <a:ext cx="484632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A1F36"/>
                </a:solidFill>
                <a:latin typeface="Arial"/>
              </a:rPr>
              <a:t>Контакт в период участия партнёра в выставке (MosBuild и др.)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566928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0" y="5669280"/>
            <a:ext cx="2834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Личный контакт на стенде Эмпилс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1 — ПЕРВИЧНЫЕ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Завод → Дистрибьютор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Экскурсия на завод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Показать производство → лояльность руководства дистрибьютора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0435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Бонус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первичную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закупку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5-10%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товаром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80%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АКБ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точек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А, 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Б</a:t>
            </a:r>
            <a:r>
              <a:rPr lang="ru-RU" sz="900" b="0" dirty="0" smtClean="0">
                <a:solidFill>
                  <a:srgbClr val="1A1F36"/>
                </a:solidFill>
                <a:latin typeface="Arial"/>
              </a:rPr>
              <a:t>, С</a:t>
            </a:r>
            <a:r>
              <a:rPr sz="900" b="0" dirty="0" smtClean="0">
                <a:solidFill>
                  <a:srgbClr val="1A1F36"/>
                </a:solidFill>
                <a:latin typeface="Arial"/>
              </a:rPr>
              <a:t>.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Мотивация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первички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покрытие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C62828"/>
                </a:solidFill>
                <a:latin typeface="Arial"/>
              </a:rPr>
              <a:t>Возврат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неликвида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 в 90 </a:t>
            </a:r>
            <a:r>
              <a:rPr sz="1100" b="1" dirty="0" err="1">
                <a:solidFill>
                  <a:srgbClr val="C62828"/>
                </a:solidFill>
                <a:latin typeface="Arial"/>
              </a:rPr>
              <a:t>дней</a:t>
            </a:r>
            <a:endParaRPr sz="11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Снять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страх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куплю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продам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всех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уровнях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Отсрочка 70-90 дней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Снизить финансовую нагрузку на старте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Выездное обучение команды ТП общего прайса (1 день)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Команда умеет продавать с первого дня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Выкрасы, шелфтокеры, воблеры, планограммы, мини-буклет портфолио с ССВ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для соцсетей дистрибьютора + фото/видео для интернет-магазина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C62828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Оформить первую закупку (мин. объём)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0–1 месяц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торговых представителей по TITAN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1–2 месяца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А и Б согласно планограмме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1–3 месяца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отчётность по выполнению планограммы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2 — ВТОРИЧНЫЕ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Дистрибьютор → Розница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47920"/>
                </a:solidFill>
                <a:latin typeface="Arial"/>
              </a:rPr>
              <a:t>ИНСТРУМЕНТЫ (из матрицы Сценарий 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7160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Купи Титана для 100% заполнения планограммы → бонус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Мотивация вторички на необходимый объём по выполнению планограммы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Минимальный заказ от 1 банки для розницы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Глубина остатка на полке: B — от 5, C — 3, D — 2. Ширина — штуки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818803"/>
            <a:ext cx="65836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 err="1">
                <a:solidFill>
                  <a:srgbClr val="F47920"/>
                </a:solidFill>
                <a:latin typeface="Arial"/>
              </a:rPr>
              <a:t>Отсрочка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lang="ru-RU" sz="1100" b="1" dirty="0" smtClean="0">
                <a:solidFill>
                  <a:srgbClr val="F47920"/>
                </a:solidFill>
                <a:latin typeface="Arial"/>
              </a:rPr>
              <a:t>30</a:t>
            </a:r>
            <a:r>
              <a:rPr sz="1100" b="1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дней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для</a:t>
            </a:r>
            <a:r>
              <a:rPr sz="1100" b="1" dirty="0">
                <a:solidFill>
                  <a:srgbClr val="F47920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47920"/>
                </a:solidFill>
                <a:latin typeface="Arial"/>
              </a:rPr>
              <a:t>розницы</a:t>
            </a:r>
            <a:endParaRPr sz="11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900" b="0" dirty="0" err="1">
                <a:solidFill>
                  <a:srgbClr val="1A1F36"/>
                </a:solidFill>
                <a:latin typeface="Arial"/>
              </a:rPr>
              <a:t>Снизить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финансовую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нагрузку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A1F36"/>
                </a:solidFill>
                <a:latin typeface="Arial"/>
              </a:rPr>
              <a:t>розницу</a:t>
            </a:r>
            <a:endParaRPr sz="9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46704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Выездное обучение продавцов ключевых РТТ (45 мин)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РМ / ЭТП — команда умеет продавать с первого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05072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Бесплатные POS-материалы + стартовый набор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Дополнительно 5 баночек 0.4 каждому РМ для работы с трудными РТТ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17720"/>
            <a:ext cx="73152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663440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Стартовый набор постов для соцсетей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Картинка + текст + фото/видео для интернет-магазина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76088"/>
            <a:ext cx="731520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5413248"/>
            <a:ext cx="384048" cy="38404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384048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658368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Консигнация для топ-5 точек дистрибьютора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На усмотрение РМ. Товар стоит на полке без оплаты — риск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F47920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100% ТП по TITAN (методика ТСО)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3-му месяцу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Открыть новые точки (+25% к базе)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выкладку в точках В и 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Предоставлять фотоотчёты по выкладке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ЭТАП 3 — ТРЕТИЧНЫЕ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Розница →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ИНСТРУМЕНТЫ МАРКЕТИНГА (из матрицы)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4416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Шелфтокер на полку / со стопером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«10 лет без перекраски — 10 лет экономии!» + QR на titanpaints.ru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189280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9280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1965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Воблер на полку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Слоган «Красишь 1 раз — служит 10 лет». Розница видит выгоду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6829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9514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Брендированный ценник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Переводит цену банки в «цену за год» (760 руб. → 76 руб./год)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7063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Портфолио объектов с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Экономические параметры совокупной стоимости владения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27832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7200" y="331927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MML + Планограмма выкладки Титан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 шелфтокерами и воблерами. 3 полки · 22 SKU · 3 линейки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03320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21608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Инструкция по нанесению (мини + видео)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Открытие по QR-коду. 5 шагов + видео инструкция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97096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Фото/видео POSm на облаке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Материалы для розничных точек на облаке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54296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57200" y="474573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45736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672584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Контент для соцсетей дистрибьюторов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Библиотека готовых постов (картинка + текст)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129784"/>
            <a:ext cx="7315200" cy="47548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200" y="522122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221224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48072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Видеоролики для ТП и продаж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УТП по Титан + имитация идеальной продажи клиенту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05272"/>
            <a:ext cx="7315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56967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696712"/>
            <a:ext cx="29260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623560"/>
            <a:ext cx="6766560" cy="43891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QR на банке + иконография ССВ — 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Видеоинструкция + калькулятор ССВ + «Дороже банка — дешевле покраска!»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63840" y="868680"/>
            <a:ext cx="4114800" cy="5394960"/>
          </a:xfrm>
          <a:prstGeom prst="roundRect">
            <a:avLst/>
          </a:prstGeom>
          <a:solidFill>
            <a:srgbClr val="16A34A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0" y="960120"/>
            <a:ext cx="4114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ЧТО ДЕЛАЕТ ДИСТРИБЬЮТОР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83879" y="16459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79" y="164592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160020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Обеспечить наличие POS-материалов в 80% точек с TITAN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214884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К 6-му месяцу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56032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183879" y="26974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83879" y="269748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5176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Обучить продавцов розницы (сертификация ТСО)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95360" y="320040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3–6 месяцев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61188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83879" y="374904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83879" y="374904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70332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Предоставлять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фото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выкладок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5360" y="425196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Ежемесячно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4663440"/>
            <a:ext cx="37490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83879" y="480060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83879" y="480060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54880"/>
            <a:ext cx="3108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Собирать обратную связь от покупателей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95360" y="5303520"/>
            <a:ext cx="3063240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⏱ Постоянно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4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POS-МАТЕРИАЛЫ НА ПОЛКЕ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1-5  •  Шелфтокер · Воблер · Ценник · Портфолио · Планограмма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ШЕЛФТОКЕР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210312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полку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с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выкладкой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Титан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</a:t>
            </a:r>
            <a:r>
              <a:rPr lang="ru-RU" sz="900" dirty="0">
                <a:solidFill>
                  <a:srgbClr val="1A1F36"/>
                </a:solidFill>
                <a:latin typeface="Arial"/>
              </a:rPr>
              <a:t>Красишь 1 раз — служит 10 лет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!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
+ QR-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ВОБЛЕР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Розница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видит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выгоду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и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берёт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пробу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БРЕНДИРОВАННЫЙ ЦЕННИК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572000"/>
            <a:ext cx="21031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Переводит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цену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».
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банку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532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руб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./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год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(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5720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÷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ПОРТФОЛИО ОБЪЕКТОВ</a:t>
            </a:r>
          </a:p>
        </p:txBody>
      </p:sp>
      <p:pic>
        <p:nvPicPr>
          <p:cNvPr id="29" name="Picture 28" descr="04_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201168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952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Наиболее распространённые объекты
с экономическими параметрами ССВ.
Ворота, забор, гараж, решётки.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914400"/>
            <a:ext cx="22860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914400"/>
            <a:ext cx="2286000" cy="6400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960120"/>
            <a:ext cx="228600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 dirty="0">
                <a:solidFill>
                  <a:srgbClr val="FBBF24"/>
                </a:solidFill>
                <a:latin typeface="Arial"/>
              </a:rPr>
              <a:t>ИНСТРУМЕНТ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18872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MML + ПЛАНОГРАММА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Picture 34" descr="05_plan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691640"/>
            <a:ext cx="2011680" cy="274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966960" y="4572000"/>
            <a:ext cx="210312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Выкладка Титан с шелфтокерами и воблерами.
3 полки · 22 SKU · 3 линейки.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 smtClean="0">
                <a:solidFill>
                  <a:srgbClr val="9CA3AF"/>
                </a:solidFill>
                <a:latin typeface="Arial"/>
              </a:rPr>
              <a:t/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pic>
        <p:nvPicPr>
          <p:cNvPr id="38" name="Рисунок 37" descr="Шелфтокер пример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7246" b="24059"/>
          <a:stretch>
            <a:fillRect/>
          </a:stretch>
        </p:blipFill>
        <p:spPr bwMode="auto">
          <a:xfrm>
            <a:off x="518182" y="2223270"/>
            <a:ext cx="1981155" cy="1890333"/>
          </a:xfrm>
          <a:prstGeom prst="rect">
            <a:avLst/>
          </a:prstGeom>
          <a:noFill/>
        </p:spPr>
      </p:pic>
      <p:pic>
        <p:nvPicPr>
          <p:cNvPr id="39" name="Рисунок 38" descr="Воблер пример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64" y="2223270"/>
            <a:ext cx="1970033" cy="1890333"/>
          </a:xfrm>
          <a:prstGeom prst="rect">
            <a:avLst/>
          </a:prstGeom>
          <a:noFill/>
        </p:spPr>
      </p:pic>
      <p:pic>
        <p:nvPicPr>
          <p:cNvPr id="40" name="Picture 4"/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1" r="10137"/>
          <a:stretch/>
        </p:blipFill>
        <p:spPr>
          <a:xfrm>
            <a:off x="5203178" y="2223270"/>
            <a:ext cx="2130634" cy="1890333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827"/>
            <a:ext cx="11460175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ЭТАП </a:t>
            </a:r>
            <a:r>
              <a:rPr lang="ru-RU" sz="2200" b="1" i="0" dirty="0" smtClean="0">
                <a:solidFill>
                  <a:srgbClr val="FFFFFF"/>
                </a:solidFill>
                <a:latin typeface="Arial"/>
              </a:rPr>
              <a:t>5</a:t>
            </a:r>
            <a:r>
              <a:rPr sz="22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— КОНТЕНТ И ОБУЧЕНИЕ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Инструменты 6-9 + QR на банке + иконография ССВ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ИНСТРУКЦИЯ ПО НАНЕСЕНИЮ</a:t>
            </a:r>
          </a:p>
        </p:txBody>
      </p:sp>
      <p:pic>
        <p:nvPicPr>
          <p:cNvPr id="11" name="Picture 10" descr="06_instructi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51460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Открытие по QR-коду.
Мини-инструкция (5 шагов)
+ видео инструкция.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ФОТО/ВИДЕО POSm НА ОБЛАКЕ</a:t>
            </a:r>
          </a:p>
        </p:txBody>
      </p:sp>
      <p:pic>
        <p:nvPicPr>
          <p:cNvPr id="17" name="Picture 16" descr="07_cloud_po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5920"/>
            <a:ext cx="251460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8328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Материалы для розничных точек
на облаке. Фото выкладки,
видео, шаблоны.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КОНТЕНТ ДЛЯ СОЦСЕТЕЙ</a:t>
            </a:r>
          </a:p>
        </p:txBody>
      </p:sp>
      <p:pic>
        <p:nvPicPr>
          <p:cNvPr id="23" name="Picture 22" descr="08_social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45920"/>
            <a:ext cx="25146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Папка на облаке с библиотекой
готовых постов про Титан
(картинка + текст).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914400"/>
            <a:ext cx="2788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914400"/>
            <a:ext cx="2788920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960120"/>
            <a:ext cx="27889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ИНСТРУМЕНТ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18872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ВИДЕОРОЛИКИ</a:t>
            </a:r>
          </a:p>
        </p:txBody>
      </p:sp>
      <p:pic>
        <p:nvPicPr>
          <p:cNvPr id="29" name="Picture 28" descr="09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1645920"/>
            <a:ext cx="2514600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35440" y="3291840"/>
            <a:ext cx="260604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Для ТП общего прайса:
УТП, свойства, выгода по Титан.
+ ролик идеальной продажи.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97680"/>
            <a:ext cx="566928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Arial"/>
              </a:rPr>
              <a:t>ДОП: QR-КОД НА БАНКЕ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530352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1A1F36"/>
                </a:solidFill>
                <a:latin typeface="Arial"/>
              </a:rPr>
              <a:t>QR-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код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банке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→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использования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калькулятор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ССВ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совокупной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владения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).
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Покупатель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сам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узнаёт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о TITAN,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продавца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760720" cy="1920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530352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ДОП: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Выездное оборудование</a:t>
            </a:r>
          </a:p>
          <a:p>
            <a:pPr algn="l"/>
            <a:endParaRPr lang="ru-RU" sz="12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lang="ru-RU" sz="1100" dirty="0">
                <a:solidFill>
                  <a:srgbClr val="1A1F36"/>
                </a:solidFill>
                <a:latin typeface="Arial"/>
              </a:rPr>
              <a:t>Ролл-ап </a:t>
            </a:r>
            <a:endParaRPr sz="11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11460175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4375402"/>
            <a:ext cx="752682" cy="179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8" name="Rectangle 1027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ЭТАП 6 -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ПРОДВИЖЕНИЕ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TITAN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—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ЭКСТРЕМАЛЬНЫЙ </a:t>
            </a:r>
            <a:r>
              <a:rPr sz="2000" b="1" i="0" dirty="0" smtClean="0">
                <a:solidFill>
                  <a:srgbClr val="FFFFFF"/>
                </a:solidFill>
                <a:latin typeface="Arial"/>
              </a:rPr>
              <a:t>ТЕСТ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 + </a:t>
            </a:r>
            <a:r>
              <a:rPr lang="en-US" sz="2000" b="1" i="0" dirty="0" smtClean="0">
                <a:solidFill>
                  <a:srgbClr val="FFFFFF"/>
                </a:solidFill>
                <a:latin typeface="Arial"/>
              </a:rPr>
              <a:t>Digital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900" dirty="0" smtClean="0">
                <a:solidFill>
                  <a:srgbClr val="1A1F36"/>
                </a:solidFill>
                <a:latin typeface="Arial"/>
              </a:rPr>
              <a:t>Объект  или какая-то металлическая конструкция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краси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тся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в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TITAN 3в1 и </a:t>
            </a:r>
            <a:r>
              <a:rPr sz="900" b="0" i="0" dirty="0" err="1" smtClean="0">
                <a:solidFill>
                  <a:srgbClr val="1A1F36"/>
                </a:solidFill>
                <a:latin typeface="Arial"/>
              </a:rPr>
              <a:t>выставляе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ся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на открытую площадь на заводе </a:t>
            </a:r>
            <a:r>
              <a:rPr lang="ru-RU" sz="900" b="0" i="0" dirty="0" err="1" smtClean="0">
                <a:solidFill>
                  <a:srgbClr val="1A1F36"/>
                </a:solidFill>
                <a:latin typeface="Arial"/>
              </a:rPr>
              <a:t>Эмпилс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5770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" y="3072384"/>
            <a:ext cx="81153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Трансляция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Онлайн-камера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24/7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сайте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titanpaints.ru —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может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смотреть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Ежемесячные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фото-отчёты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независимая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экспертиза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ООО «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Рутил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»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 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5770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Доказать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«10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»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не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словах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, а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публично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— в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реальном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времени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1A1F36"/>
                </a:solidFill>
                <a:latin typeface="Arial"/>
              </a:rPr>
              <a:t>«TITAN 3в1 — 10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лет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без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перекраски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Найдите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магазине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[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сеть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]» +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ссылка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1A1F36"/>
                </a:solidFill>
                <a:latin typeface="Arial"/>
              </a:rPr>
              <a:t>titanpaints.ru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19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38158" y="7848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59180"/>
            <a:ext cx="3749039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Arial"/>
              </a:rPr>
              <a:t>RuTube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
(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без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 dirty="0" err="1">
                <a:solidFill>
                  <a:srgbClr val="1A1F36"/>
                </a:solidFill>
                <a:latin typeface="Arial"/>
              </a:rPr>
              <a:t>Демо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TITAN </a:t>
            </a:r>
            <a:r>
              <a:rPr sz="900" b="0" i="0" dirty="0" err="1">
                <a:solidFill>
                  <a:srgbClr val="1A1F36"/>
                </a:solidFill>
                <a:latin typeface="Arial"/>
              </a:rPr>
              <a:t>vs</a:t>
            </a:r>
            <a:r>
              <a:rPr sz="9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0" i="0" dirty="0" smtClean="0">
                <a:solidFill>
                  <a:srgbClr val="1A1F36"/>
                </a:solidFill>
                <a:latin typeface="Arial"/>
              </a:rPr>
              <a:t>ПФ-115</a:t>
            </a:r>
            <a:r>
              <a:rPr lang="ru-RU" sz="900" b="0" i="0" dirty="0" smtClean="0">
                <a:solidFill>
                  <a:srgbClr val="1A1F36"/>
                </a:solidFill>
                <a:latin typeface="Arial"/>
              </a:rPr>
              <a:t>. – ССВ. Видео реальных  примеров объектов.</a:t>
            </a:r>
            <a:endParaRPr sz="900" b="0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18" y="5025390"/>
            <a:ext cx="3474719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448300"/>
            <a:ext cx="3474719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00" b="1" i="0" dirty="0" err="1">
                <a:solidFill>
                  <a:srgbClr val="1A1F36"/>
                </a:solidFill>
                <a:latin typeface="Arial"/>
              </a:rPr>
              <a:t>Массовый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целевой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аудитории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+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видеоконтент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из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теста</a:t>
            </a:r>
            <a:r>
              <a:rPr sz="900" b="1" i="0" dirty="0">
                <a:solidFill>
                  <a:srgbClr val="1A1F36"/>
                </a:solidFill>
                <a:latin typeface="Arial"/>
              </a:rPr>
              <a:t> 365 = </a:t>
            </a:r>
            <a:r>
              <a:rPr sz="900" b="1" i="0" dirty="0" err="1">
                <a:solidFill>
                  <a:srgbClr val="1A1F36"/>
                </a:solidFill>
                <a:latin typeface="Arial"/>
              </a:rPr>
              <a:t>синергия</a:t>
            </a:r>
            <a:endParaRPr sz="9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65760" y="6261735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6261735"/>
            <a:ext cx="11460175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627495"/>
            <a:ext cx="11460175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56611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02786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1941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СКОЛЬКО ВЫ ЗАРАБАТЫВАЕТЕ НА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Пример: дистрибьютор со 100 точками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1. СТРУКТУРА ВАШИХ 100 ТОЧЕК (реальный MML)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 точек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97280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16 SKU × 6 шт = 480 банок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81328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481328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1481328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10 точек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481328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12 SKU × 4 шт = 480 банок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5760720" cy="38404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865376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15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865376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2 SKU × 3 шт = 90 банок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49424"/>
            <a:ext cx="5760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49424"/>
            <a:ext cx="246888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249424"/>
            <a:ext cx="91440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точек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249424"/>
            <a:ext cx="21031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0 SKU × 2 шт = 0 банок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97480"/>
            <a:ext cx="5760720" cy="41148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ИТОГО БАНОК НА ПОЛКЕ: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697480"/>
            <a:ext cx="19202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FBBF24"/>
                </a:solidFill>
                <a:latin typeface="Arial"/>
              </a:rPr>
              <a:t>1 050 шт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2. ЦЕПОВКА ЦЕНЫ (по 16 SKU)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5760720" cy="384048"/>
          </a:xfrm>
          <a:prstGeom prst="rect">
            <a:avLst/>
          </a:prstGeom>
          <a:solidFill>
            <a:srgbClr val="E5E7EB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Отгрузочная цена Эмпилс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566160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E3A5F"/>
                </a:solidFill>
                <a:latin typeface="Arial"/>
              </a:rPr>
              <a:t>от 494 до 2 076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5760720" cy="384048"/>
          </a:xfrm>
          <a:prstGeom prst="rect">
            <a:avLst/>
          </a:prstGeom>
          <a:solidFill>
            <a:srgbClr val="FFEDD5"/>
          </a:solidFill>
          <a:ln w="63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039640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1A1F36"/>
                </a:solidFill>
                <a:latin typeface="Arial"/>
              </a:rPr>
              <a:t>дистрибьютора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 (30%)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9120" y="3950208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F47920"/>
                </a:solidFill>
                <a:latin typeface="Arial"/>
              </a:rPr>
              <a:t>617–2 595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34256"/>
            <a:ext cx="5760720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423688"/>
            <a:ext cx="393192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+25%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маржа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розницы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цена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полке</a:t>
            </a:r>
            <a:r>
              <a:rPr sz="1000" b="1" i="0" dirty="0" smtClean="0">
                <a:solidFill>
                  <a:srgbClr val="1A1F36"/>
                </a:solidFill>
                <a:latin typeface="Arial"/>
              </a:rPr>
              <a:t>)</a:t>
            </a:r>
            <a:r>
              <a:rPr lang="ru-RU" sz="1000" b="1" i="0" dirty="0" smtClean="0">
                <a:solidFill>
                  <a:srgbClr val="1A1F36"/>
                </a:solidFill>
                <a:latin typeface="Arial"/>
              </a:rPr>
              <a:t> (40%-70%)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334256"/>
            <a:ext cx="1645920" cy="38404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1" i="0">
                <a:solidFill>
                  <a:srgbClr val="16A34A"/>
                </a:solidFill>
                <a:latin typeface="Arial"/>
              </a:rPr>
              <a:t>772–3 244 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846320"/>
            <a:ext cx="5760720" cy="1600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8920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rial"/>
              </a:rPr>
              <a:t>3. ВАЛОВАЯ ПРИБЫЛЬ ДИСТРИБЬЮТОРА (за 1 оборот)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В МЕСЯЦ</a:t>
            </a:r>
          </a:p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224 747 ₽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37560" y="5303520"/>
            <a:ext cx="2651760" cy="10515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rial"/>
              </a:rPr>
              <a:t>В ГОД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2 696 962 ₽</a:t>
            </a:r>
          </a:p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ВАША ПРИБЫЛЬ НА TITAN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1188720"/>
            <a:ext cx="2651760" cy="1645920"/>
          </a:xfrm>
          <a:prstGeom prst="roundRect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В МЕСЯЦ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16A34A"/>
                </a:solidFill>
                <a:latin typeface="Arial"/>
              </a:rPr>
              <a:t>224 747 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при 1 050 банок
оборот 1 раз/мес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1188720"/>
            <a:ext cx="2651760" cy="16459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32588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В ГОД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1691640"/>
            <a:ext cx="265176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2 696 962 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423160"/>
            <a:ext cx="26517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E5E7EB"/>
                </a:solidFill>
                <a:latin typeface="Arial"/>
              </a:rPr>
              <a:t>× 12 месяцев
валовая прибыль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8961120" y="2971800"/>
            <a:ext cx="365760" cy="36576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400800" y="3444240"/>
            <a:ext cx="5486400" cy="2926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0" y="35356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Arial"/>
              </a:rPr>
              <a:t>🚀  СЦЕНАРИЙ РОСТА +30% К 12-МУ МЕСЯЦУ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39928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Arial"/>
              </a:rPr>
              <a:t>при выполнении программы TITAN (обучение + POS + планограмма)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3796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6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СЕЙЧАС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1 050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224 747 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21040" y="4404360"/>
            <a:ext cx="1691640" cy="1371600"/>
          </a:xfrm>
          <a:prstGeom prst="roundRect">
            <a:avLst/>
          </a:prstGeom>
          <a:solidFill>
            <a:srgbClr val="0B6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2104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+30%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Arial"/>
              </a:rPr>
              <a:t>+315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Arial"/>
              </a:rPr>
              <a:t>+67 424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рост/мес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04120" y="4404360"/>
            <a:ext cx="1691640" cy="13716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20" y="445008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ЧЕРЕЗ ГОД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724400"/>
            <a:ext cx="1691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1 365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50901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банок/мес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5273040"/>
            <a:ext cx="169164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292 171 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5547360"/>
            <a:ext cx="1691640" cy="182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  <a:latin typeface="Arial"/>
              </a:rPr>
              <a:t>прибыль/мес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37960" y="5867400"/>
            <a:ext cx="52120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8E0000"/>
                </a:solidFill>
                <a:latin typeface="Arial"/>
              </a:rPr>
              <a:t>💰  +809 088 ₽/год — дополнительно к текущей прибыли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641223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04240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ДЕТАЛЬНЫЙ РАСЧЁТ ПО 16 SKU 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Прозрачный расчёт прибыли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777240"/>
            <a:ext cx="27432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777240"/>
            <a:ext cx="18288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777240"/>
            <a:ext cx="5486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13716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Цена Эмпилс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777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Шт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0" y="777240"/>
            <a:ext cx="155448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Прибыль 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109728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09728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109728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0.75 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109728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60" y="109728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77840" y="109728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09728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109728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20" y="109728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133502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133502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1560" y="133502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0.75 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133502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94760" y="133502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133502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133502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98080" y="133502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20" y="133502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74320" y="157276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157276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1560" y="157276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2 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57276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94760" y="157276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157276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6480" y="157276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98080" y="157276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2104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0" y="157276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4320" y="181051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181051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51560" y="181051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2 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181051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794760" y="181051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0" y="181051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181051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98080" y="181051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2104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181051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74320" y="204825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5840" y="204825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1560" y="204825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чёрный 2 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40" y="204825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794760" y="204825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577840" y="204825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26480" y="204825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498080" y="204825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2104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0" y="204825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74320" y="228600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" y="2286000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51560" y="228600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коричневый 2 л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2286000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94760" y="228600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77840" y="228600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228600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1273 ₽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498080" y="228600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32104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89 134 ₽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75520" y="228600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22 284 ₽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4320" y="252374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05840" y="2523744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1560" y="252374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серый 0.75 л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49040" y="2523744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94760" y="252374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577840" y="252374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126480" y="252374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498080" y="252374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2104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875520" y="252374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74320" y="276148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87269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5840" y="2761488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1560" y="276148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0.75 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49040" y="2761488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5577840" y="276148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126480" y="276148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541 ₽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498080" y="276148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32104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37 851 ₽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875520" y="276148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9 463 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74320" y="299923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87270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05840" y="2999232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051560" y="299923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белый 2 л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2999232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94760" y="299923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577840" y="299923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6480" y="299923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1364 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498080" y="299923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32104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40 920 ₽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875520" y="299923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10 230 ₽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74320" y="323697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" y="3236976"/>
            <a:ext cx="27432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51560" y="323697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3в1 графит 0.75 л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49040" y="3236976"/>
            <a:ext cx="18288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3794760" y="323697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5577840" y="323697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126480" y="323697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494 ₽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498080" y="323697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32104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34 548 ₽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75520" y="323697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8 637 ₽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74320" y="347472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5840" y="3474720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51560" y="347472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0.8 кг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749040" y="3474720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794760" y="347472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577840" y="347472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126480" y="347472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7498080" y="347472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32104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875520" y="347472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74320" y="3712464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05840" y="3712464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51560" y="3712464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коричневая 0.8 кг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3794760" y="3712464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5577840" y="3712464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ABC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126480" y="3712464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498080" y="371246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115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2104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80 657 ₽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9875520" y="371246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20 164 ₽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274320" y="3950208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77637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05840" y="3950208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51560" y="3950208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чёрная 2.5 кг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49040" y="3950208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794760" y="3950208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5577840" y="3950208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6126480" y="3950208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2076 ₽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7498080" y="3950208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832104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62 268 ₽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875520" y="3950208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15 567 ₽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74320" y="4187952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77642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05840" y="4187952"/>
            <a:ext cx="27432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1051560" y="4187952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Молотковая серебристая 0.8 кг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749040" y="4187952"/>
            <a:ext cx="18288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3794760" y="4187952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5577840" y="4187952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6126480" y="4187952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701 ₽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7498080" y="4187952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2104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21 041 ₽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875520" y="4187952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5 260 ₽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74320" y="4425696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005840" y="4425696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1051560" y="4425696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0.75 л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3749040" y="4425696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3794760" y="4425696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577840" y="4425696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6126480" y="4425696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518 ₽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498080" y="4425696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832104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36 275 ₽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875520" y="4425696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9 069 ₽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274320" y="4663440"/>
            <a:ext cx="73152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83779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005840" y="4663440"/>
            <a:ext cx="27432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1051560" y="4663440"/>
            <a:ext cx="26517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 2.2 л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749040" y="4663440"/>
            <a:ext cx="18288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3794760" y="4663440"/>
            <a:ext cx="1737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7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5577840" y="4663440"/>
            <a:ext cx="54864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6126480" y="4663440"/>
            <a:ext cx="137160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1486 ₽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7498080" y="4663440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30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32104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44 584 ₽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9875520" y="4663440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11 146 ₽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274320" y="4901184"/>
            <a:ext cx="72237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731520" y="4901184"/>
            <a:ext cx="63093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498080" y="4901184"/>
            <a:ext cx="82296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1 050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32104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898 987 ₽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875520" y="4901184"/>
            <a:ext cx="1554480" cy="23774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224 747 ₽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" y="5276088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СТРУКТУРА ПРИБЫЛИ ПО КАТЕГОРИЯМ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65760" y="5596128"/>
            <a:ext cx="365760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36576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 по ржавчине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5720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4160520" y="5596128"/>
            <a:ext cx="3657600" cy="10058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416052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Молотковая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25196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955280" y="5596128"/>
            <a:ext cx="3657600" cy="10058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7955280" y="5596128"/>
            <a:ext cx="36576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8046720" y="5961888"/>
            <a:ext cx="3474720" cy="59436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  <a:p>
            <a:pPr algn="ctr"/>
            <a:r>
              <a:rPr sz="800" b="0">
                <a:solidFill>
                  <a:srgbClr val="9CA3AF"/>
                </a:solidFill>
                <a:latin typeface="Arial"/>
              </a:rPr>
              <a:t>доля прибыли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041720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2215"/>
            <a:ext cx="11460175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🎓  ОБУЧЕНИЕ ТОРГОВЫХ ПРЕДСТАВИТЕЛЕЙ ПО ПРОГРАММЕ TITAN </a:t>
            </a:r>
            <a:r>
              <a:rPr lang="ru-RU" sz="2000" b="1" i="0" dirty="0" smtClean="0">
                <a:solidFill>
                  <a:srgbClr val="FFFFFF"/>
                </a:solidFill>
                <a:latin typeface="Arial"/>
              </a:rPr>
              <a:t>ССВ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Масштаб программы: 12 регионов  •  6 региональных директоров  •  19 региональных менеджеров  •  109 дистрибьюторов  •  ~500 ТП общего прайса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СТРУКТУРА ДИСТРИБУЦИИ ПО РЕГИОНАМ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Регион (SBU)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920240"/>
            <a:ext cx="25603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Директор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7315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РМ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192024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Дистр.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Дальний Восток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2402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22402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2402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146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25146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Экспорт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5146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80" y="25146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Копай-Гора Д.А.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25146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78892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27889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Юг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278892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27889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0" y="27889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0" y="27889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6324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30632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Поволжье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06324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7480" y="30632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12080" y="30632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30632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33756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3375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Урал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333756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7480" y="33375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12080" y="33375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0" y="33375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61188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1480" y="36118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Западная Сибирь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361188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97480" y="36118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Захарова О.Г.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2080" y="36118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0" y="36118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1480" y="38862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Центр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388620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97480" y="38862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12080" y="38862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0" y="38862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416052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Северо-Запад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51760" y="416052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697480" y="416052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43484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148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Федеральные сети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443484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97480" y="443484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Пустовалов С.И.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12080" y="443484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0" y="443484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11480" y="470916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Москва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470916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697480" y="470916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Еремеев В.Н.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212080" y="470916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43600" y="470916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4983480"/>
            <a:ext cx="228600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1480" y="498348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Новые территории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651760" y="4983480"/>
            <a:ext cx="25603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97480" y="498348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Меликсетьян С.З.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212080" y="498348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43600" y="49834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257800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11480" y="525780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Восточная Сибирь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5257800"/>
            <a:ext cx="25603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97480" y="5257800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Белокопытов А.Н.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12080" y="525780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943600" y="525780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5532120"/>
            <a:ext cx="48463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5532120"/>
            <a:ext cx="475488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12080" y="5532120"/>
            <a:ext cx="73152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43600" y="553212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109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32320" y="1554480"/>
            <a:ext cx="50292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ЧТО СОБИРАЕМ ПО КАЖДОМУ ТП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32320" y="1920240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7223760" y="199339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23760" y="199339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79" y="192024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ФИО торгового представителя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полные данные для учёта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2267712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223760" y="234086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223760" y="234086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98079" y="226771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Телефон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связи и рассылки материалов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32320" y="2615184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223760" y="2688336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223760" y="2688336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8079" y="2615184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Email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для отправки обучения и теста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132320" y="2962656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7223760" y="3035808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7223760" y="3035808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98079" y="2962656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Тип прайса: общий / эксклюзивный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обучаем общий прайс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32320" y="3310128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223760" y="3383280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23760" y="3383280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79" y="3310128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Дистрибьютор и регион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привязка к РМ и директору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132320" y="3657600"/>
            <a:ext cx="493776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7223760" y="3730752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223760" y="3730752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98079" y="3657600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Дата последнего обучения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если обучался ранее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4005072"/>
            <a:ext cx="4937760" cy="32004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7223760" y="4078224"/>
            <a:ext cx="201168" cy="201168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223760" y="4078224"/>
            <a:ext cx="201168" cy="2011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98079" y="4005072"/>
            <a:ext cx="44805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>
                <a:solidFill>
                  <a:srgbClr val="1A1F36"/>
                </a:solidFill>
                <a:latin typeface="Arial"/>
              </a:rPr>
              <a:t>Готовность пройти тест — </a:t>
            </a:r>
          </a:p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да / нет / запланировано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132320" y="4434840"/>
            <a:ext cx="4937760" cy="21031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265670" y="448056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 dirty="0">
                <a:solidFill>
                  <a:srgbClr val="16A34A"/>
                </a:solidFill>
                <a:latin typeface="Arial"/>
              </a:rPr>
              <a:t>🎯  ПРОЦЕСС ОБУЧЕНИЯ </a:t>
            </a:r>
            <a:r>
              <a:rPr lang="ru-RU" sz="1200" b="1" i="0" dirty="0" smtClean="0">
                <a:solidFill>
                  <a:srgbClr val="16A34A"/>
                </a:solidFill>
                <a:latin typeface="Arial"/>
              </a:rPr>
              <a:t>ССВ</a:t>
            </a:r>
            <a:endParaRPr sz="12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269480" y="4892040"/>
            <a:ext cx="256032" cy="25603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69480" y="4892040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35240" y="4894715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C62828"/>
                </a:solidFill>
                <a:latin typeface="Arial"/>
              </a:rPr>
              <a:t>Сбор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данных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C62828"/>
                </a:solidFill>
                <a:latin typeface="Arial"/>
              </a:rPr>
              <a:t>по</a:t>
            </a:r>
            <a:r>
              <a:rPr sz="900" b="1" dirty="0">
                <a:solidFill>
                  <a:srgbClr val="C62828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C62828"/>
                </a:solidFill>
                <a:latin typeface="Arial"/>
              </a:rPr>
              <a:t>ТП </a:t>
            </a:r>
            <a:endParaRPr sz="900" b="1" dirty="0">
              <a:solidFill>
                <a:srgbClr val="C62828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Региональные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менеджеры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заполняют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таблицу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своим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дистрибьюторам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269480" y="5276088"/>
            <a:ext cx="256032" cy="256032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269480" y="5276088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278763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ru-RU" sz="900" b="1" dirty="0" smtClean="0">
                <a:solidFill>
                  <a:srgbClr val="F47920"/>
                </a:solidFill>
                <a:latin typeface="Arial"/>
              </a:rPr>
              <a:t>Онлайн обучение </a:t>
            </a:r>
            <a:r>
              <a:rPr sz="900" b="1" dirty="0" smtClean="0">
                <a:solidFill>
                  <a:srgbClr val="F47920"/>
                </a:solidFill>
                <a:latin typeface="Arial"/>
              </a:rPr>
              <a:t> </a:t>
            </a:r>
            <a:endParaRPr sz="900" b="1" dirty="0">
              <a:solidFill>
                <a:srgbClr val="F47920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Онлайн-материалы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по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видеоинструкция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7269480" y="56601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69480" y="5660136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635240" y="5662811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1" dirty="0" err="1">
                <a:solidFill>
                  <a:srgbClr val="16A34A"/>
                </a:solidFill>
                <a:latin typeface="Arial"/>
              </a:rPr>
              <a:t>Прохождение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6A34A"/>
                </a:solidFill>
                <a:latin typeface="Arial"/>
              </a:rPr>
              <a:t>теста</a:t>
            </a:r>
            <a:r>
              <a:rPr sz="9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900" b="1" dirty="0" smtClean="0">
                <a:solidFill>
                  <a:srgbClr val="16A34A"/>
                </a:solidFill>
                <a:latin typeface="Arial"/>
              </a:rPr>
              <a:t> </a:t>
            </a:r>
            <a:endParaRPr sz="900" b="1" dirty="0">
              <a:solidFill>
                <a:srgbClr val="16A34A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Каждый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проходит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тест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знание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программы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269480" y="6044184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269480" y="6044184"/>
            <a:ext cx="256032" cy="2560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35240" y="6037334"/>
            <a:ext cx="429768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800" b="1" dirty="0" err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1" dirty="0">
                <a:solidFill>
                  <a:srgbClr val="1E3A5F"/>
                </a:solidFill>
                <a:latin typeface="Arial"/>
              </a:rPr>
              <a:t/>
            </a:r>
            <a:r>
              <a:rPr sz="900" b="1" dirty="0" smtClean="0">
                <a:solidFill>
                  <a:srgbClr val="1E3A5F"/>
                </a:solidFill>
                <a:latin typeface="Arial"/>
              </a:rPr>
              <a:t/>
            </a:r>
            <a:endParaRPr sz="900" b="1" dirty="0">
              <a:solidFill>
                <a:srgbClr val="1E3A5F"/>
              </a:solidFill>
              <a:latin typeface="Arial"/>
            </a:endParaRPr>
          </a:p>
          <a:p>
            <a:pPr algn="l"/>
            <a:r>
              <a:rPr sz="800" b="0" dirty="0" err="1">
                <a:solidFill>
                  <a:srgbClr val="1A1F36"/>
                </a:solidFill>
                <a:latin typeface="Arial"/>
              </a:rPr>
              <a:t>Сертификат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«ТП TITAN </a:t>
            </a:r>
            <a:r>
              <a:rPr lang="ru-RU" sz="800" b="0" dirty="0" smtClean="0">
                <a:solidFill>
                  <a:srgbClr val="1A1F36"/>
                </a:solidFill>
                <a:latin typeface="Arial"/>
              </a:rPr>
              <a:t>ССВ</a:t>
            </a:r>
            <a:r>
              <a:rPr sz="800" b="0" dirty="0" smtClean="0">
                <a:solidFill>
                  <a:srgbClr val="1A1F36"/>
                </a:solidFill>
                <a:latin typeface="Arial"/>
              </a:rPr>
              <a:t>» 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+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включение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в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программу</a:t>
            </a:r>
            <a:r>
              <a:rPr sz="800" b="0" dirty="0">
                <a:solidFill>
                  <a:srgbClr val="1A1F36"/>
                </a:solidFill>
                <a:latin typeface="Arial"/>
              </a:rPr>
              <a:t> </a:t>
            </a:r>
            <a:r>
              <a:rPr sz="800" b="0" dirty="0" err="1">
                <a:solidFill>
                  <a:srgbClr val="1A1F36"/>
                </a:solidFill>
                <a:latin typeface="Arial"/>
              </a:rPr>
              <a:t>мотивации</a:t>
            </a:r>
            <a:endParaRPr sz="800" b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65760" y="6595110"/>
            <a:ext cx="11460175" cy="174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800" b="0" i="1" dirty="0">
                <a:solidFill>
                  <a:srgbClr val="9CA3AF"/>
                </a:solidFill>
                <a:latin typeface="Arial"/>
              </a:rPr>
              <a:t/>
            </a:r>
            <a:endParaRPr lang="ru-RU" sz="80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1026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🛡  ПЛАН «Б» — УПРАВЛЕНИЕ РИСКАМИ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Если через 6 мес. уход с полки ниже заявленного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943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✓  Эмпилс не бросит вас на полпути. План «Б» включается автоматически при отклонении от KPI &gt;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6 ИНСТРУМЕНТОВ ПЛАНА «Б» — ЧТО ДЕЛАЕМ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0253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Дополнительное обучение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Повторный выезд тренера Эмпилс к ТП дистрибьютора. Анализ ошибок, отработка возражений «по цене», разбор реальных кейсов из этой же сети.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60904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200" y="279806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97480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Корректировка ассортимента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Анализ продаж по SKU за 6 мес. Замена медленных цветов на ходовые. Снятие неликвида, возврат по программе 90 дней. Подбор оптимальной матрицы под конкретный регион.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92424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rial"/>
              </a:rPr>
              <a:t>Дополнительные промо-акции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Совместное промо 50/50 с Эмпилс. Скидка 7-10% на TITAN 2-4 недели. Бонус продавцу 100 ₽/банку. Акция «купи 2 — получи кисть в подарок».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2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Arial"/>
              </a:rPr>
              <a:t>Мастер-классы в топовых точках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Выезд РМ + тренера в 5-7 самых крупных РТТ. Демонстрация: TITAN vs ПФ-115 (выкрас, адгезия, скорость). Обучение продавцов прямо на месте, 45 мин.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6583680" cy="658368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Arial"/>
              </a:rPr>
              <a:t>Усиление POS-материалов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Дополнительные воблеры, шелфтокеры, выкрасы «до/после». Брендированный ценник «цена за год». Замена изношенных материалов.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65836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557784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77256"/>
            <a:ext cx="58978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>
                <a:solidFill>
                  <a:srgbClr val="F47920"/>
                </a:solidFill>
                <a:latin typeface="Arial"/>
              </a:rPr>
              <a:t>Личный куратор от Эмпилс</a:t>
            </a:r>
          </a:p>
          <a:p>
            <a:pPr algn="l"/>
            <a:r>
              <a:rPr sz="900" b="0">
                <a:solidFill>
                  <a:srgbClr val="1A1F36"/>
                </a:solidFill>
                <a:latin typeface="Arial"/>
              </a:rPr>
              <a:t>Закрепление за проблемным дистрибьютором старшего менеджера. Еженедельные созвоны. Личный визит 1 раз в месяц до выхода на KPI.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55448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КОГДА ВКЛЮЧАЕТСЯ ПЛАН «Б»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965960"/>
            <a:ext cx="4937760" cy="676656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🔴 КРАСНЫЙ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0253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&lt; 50% от плана</a:t>
            </a:r>
          </a:p>
          <a:p>
            <a:pPr algn="l"/>
            <a:r>
              <a:rPr sz="900" b="0">
                <a:solidFill>
                  <a:srgbClr val="C62828"/>
                </a:solidFill>
                <a:latin typeface="Arial"/>
              </a:rPr>
              <a:t>Включение всех 6 инструментов + личный куратор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697480"/>
            <a:ext cx="4937760" cy="676656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9748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🟡 ЖЁЛТЫЙ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73405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50-70% от плана</a:t>
            </a:r>
          </a:p>
          <a:p>
            <a:pPr algn="l"/>
            <a:r>
              <a:rPr sz="900" b="0">
                <a:solidFill>
                  <a:srgbClr val="F47920"/>
                </a:solidFill>
                <a:latin typeface="Arial"/>
              </a:rPr>
              <a:t>Обучение + корректировка ассортимента + промо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3429000"/>
            <a:ext cx="4937760" cy="676656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429000"/>
            <a:ext cx="1371600" cy="67665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🟢 ЗЕЛЁНЫЙ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465576"/>
            <a:ext cx="3383280" cy="60350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rgbClr val="1A1F36"/>
                </a:solidFill>
                <a:latin typeface="Arial"/>
              </a:rPr>
              <a:t>Уход с полки 70-85% от плана</a:t>
            </a:r>
          </a:p>
          <a:p>
            <a:pPr algn="l"/>
            <a:r>
              <a:rPr sz="900" b="0">
                <a:solidFill>
                  <a:srgbClr val="16A34A"/>
                </a:solidFill>
                <a:latin typeface="Arial"/>
              </a:rPr>
              <a:t>Дополнительные промо-акции + усиление 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25196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Arial"/>
              </a:rPr>
              <a:t>ЧЕГО НЕ ДЕЛАЮТ КОНКУРЕНТЫ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4663440"/>
            <a:ext cx="493776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69480" y="4754880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Tikkurila — Нет письменного антикризисного плана. Реагируют по обстоятельствам.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084064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Dufa — Возврат неликвида — только брак. Неликвид по причине «не пошло» — проблема дистрибьютора.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13248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Dali — Обучение — 1 раз при старте. Повторного нет. Мастер-классов в РТТ не проводят.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742432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✗  Husky Klondike — Нет личного куратора. Только горячая линия и email-поддержка.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6071616"/>
            <a:ext cx="4846320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69480" y="6071616"/>
            <a:ext cx="47548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800" b="0" i="1" dirty="0" err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/>
            </a:r>
            <a:r>
              <a:rPr sz="900" b="0" i="1" dirty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2848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63905"/>
            <a:ext cx="11460175" cy="369441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11659"/>
            <a:ext cx="11460175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2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2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2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1E3A5F"/>
                </a:solidFill>
                <a:latin typeface="Arial"/>
              </a:rPr>
              <a:t>этапам</a:t>
            </a:r>
            <a:r>
              <a:rPr sz="1200" b="1" i="0" dirty="0">
                <a:solidFill>
                  <a:srgbClr val="1E3A5F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3005"/>
            <a:ext cx="73152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183005"/>
            <a:ext cx="45720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1183005"/>
            <a:ext cx="36576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183005"/>
            <a:ext cx="24688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94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15944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1594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944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1594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+30% к базовому периоду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5944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1594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051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20516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2051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0516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2051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Не менее 5 цветов 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0516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051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08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25088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2508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25088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0" y="2508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+25% к базовому периоду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25088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508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966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660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88720" y="2966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Охват ТП обучением ТСО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9660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2966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ТП пилотного дистрибьютора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9660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18320" y="2966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3-му месяцу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3423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97280" y="34232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88720" y="3423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новых точек от TITAN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232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0" y="3423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Не менее 20%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34232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423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38804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38804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88720" y="38804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Точки с POS-материалами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8804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0" y="38804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80% точек с TITAN на полке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8804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04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43376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3376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88720" y="43376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Сертифицированные продавцы ТСО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3376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0" y="43376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20 на пилота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376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376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К 6-му месяцу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7948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97280" y="47948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88720" y="47948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Конверсия в покупку TITAN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7948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60720" y="47948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Не менее 30%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26880" y="47948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18320" y="47948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5760" y="52520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5252085"/>
            <a:ext cx="45720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88720" y="52520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5252085"/>
            <a:ext cx="365760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0" y="52520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500+ сканов/мес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5252085"/>
            <a:ext cx="2468880" cy="4572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2520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760" y="5709285"/>
            <a:ext cx="7315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97280" y="5709285"/>
            <a:ext cx="45720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88720" y="5709285"/>
            <a:ext cx="43891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Снижение возвратов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0" y="5709285"/>
            <a:ext cx="3657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60720" y="570928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−30% к базовому периоду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5709285"/>
            <a:ext cx="24688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18320" y="5709285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Ежеквартально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6256020"/>
            <a:ext cx="11460175" cy="4572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5760" y="6256020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1" i="1">
                <a:solidFill>
                  <a:srgbClr val="9CA3AF"/>
                </a:solidFill>
                <a:latin typeface="Arial"/>
              </a:rPr>
              <a:t>Empils  •  TITAN  •  Дорожная карта развития продаж  •  Красишь 1 раз — служит 10 лет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3030</Words>
  <Application>Microsoft Office PowerPoint</Application>
  <PresentationFormat>Произвольный</PresentationFormat>
  <Paragraphs>781</Paragraphs>
  <Slides>15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43</cp:revision>
  <cp:lastPrinted>2026-07-15T06:35:42Z</cp:lastPrinted>
  <dcterms:created xsi:type="dcterms:W3CDTF">2013-01-27T09:14:16Z</dcterms:created>
  <dcterms:modified xsi:type="dcterms:W3CDTF">2026-07-15T10:03:47Z</dcterms:modified>
  <cp:category/>
</cp:coreProperties>
</file>