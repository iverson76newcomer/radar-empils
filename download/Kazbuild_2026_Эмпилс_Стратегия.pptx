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Цель презентации — согласовать с руководством план участия Эмпилс в Kazbuild 2026.
- Kazbuild 2026 — ключевая B2B-выставка Центральной Азии, Алматы, 28–30 октября.
- Три приоритета: углубление партнёрств, расширение сбыта в Казахстане, выход на новые рынки.
- Ожидаем от руководства: решение по бюджету, утверждённые КП для топ-10 дистрибьюторов, ответственные по зонам.
- Финальный слайд — пять конкретных шагов с дедлайнами к открытию выставки.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Четыре цели — все с измеримым KPI: 7 встреч, 14 областей, 3+ новых дистрибьютора, EN-каталог.
- Главный приоритет — углубление с текущими партнёрами и расширение географии (Ц.Азия, Каспий).
- По Казахстану: сейчас 6 областей покрыто, цель — 14 (полное покрытие).
- EN-каталог — не маркетинговый ход, а инструмент для работы с 30% нерусскоязычных участников.
- Все KPI сверяем в конце выставки — отчёт на следующей неделе после возвращения.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Главный фокус — 7 текущих партнёров: KZ, TJ, KG. Каждый уже работает с Эмпилс, задача — углубление.
- 10 целевых стендов — преимущественно дистрибьюторы и B2B-клиенты. Стенды указаны с павильоном и номером.
- 4 стенда конкурентов — отдельный список для study-визита. TAUDI — главный конкурент в KZ.
- Распределить между членами команды стенда — у каждой колонки свой ответственный.
- По итогам дня — короткий sync: что узнали, какие договорённости, что в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Сейчас покрыто 6 из 14 областей (43%). 8 областей — нулевое присутствие.
- Приоритет — нефтегазовые регионы: Атырау (Tengiz, Karachaganak), Мангистау (Актау, порт Каспий), Павлодар.
- В файле анализа — 47 потенциальных дистрибьюторов по всем областям.
- Цель Kazbuild — 2–3 новых региональных партнёра. Готовить индивидуальные КП под каждую область.
- Алматы — высокая конкуренция (14 кандидатов), но это уже наш stronghold, фокус смещаем на空白 regions.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Анализ 10 стран — фокус на тех, где Эмпилс ещё не работает, но есть потенциал.
- 3 приоритетные страны: Азербайджан (дефицит 42%, есть партнёр FAB Boya), Таджикистан (рост +52% в 2024), Молдова (простая логистика, высокое потребление 20,8 кг/чел).
- На Kazbuild 2026 ищем контакты именно в этих трёх странах — особенно иранских и азербайджанских визитёров.
- Турция и Сербия — нетто-экспортёры ЛКМ, это конкуренты, а не целевые рынки.
- ОАЭ — приоритет 4 как хаб для дальнейшего входа в GCC (после 2027).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- 6 доводов «за» англоязычный каталог — главный: 30% участников Kazbuild не из РФ/СНГ.
- Целевые иностранные группы: Иран (Pars Diba, Pars Pamchal, Rangsazi Iran), GCC (ОАЭ, Саудовская Аравия), Китай, Германия.
- Конкуренты (Tikkurila, Jotun, PPG, AkzoNobel, Hempel) уже имеют EN-каталоги — мы отстаём.
- Промышленные клиенты (Profile 35, Polymetallt) требуют TDS/SDS на английском по международной практике.
- Срок готовности каталога — к октябрю 2026 г. Это репетиция экспансии в GCC в 2027.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Финал — 5 конкретных шагов с приоритетами и сроками.
- Шаг 1: запрос на бюджет (стенд, командировка, раздаточные) — решение руководства.
- Шаг 2 (ключевой): запуск англоязычного каталога, дедлайн 1 октября 2026 г.
- Шаг 3: подготовить индивидуальные КП под топ-10 целевых дистрибьюторов из файла анализа.
- Шаг 4: назначить трёх ответственных — Казахстан, Ц.Азия, GCC.
- Шаг 5: установочная встреча команды стенда за 2 недели до открытия Kazbuild.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31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2863"/>
          </a:xfrm>
          <a:prstGeom prst="rect">
            <a:avLst/>
          </a:prstGeom>
          <a:solidFill>
            <a:srgbClr val="F476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436644" y="1007269"/>
            <a:ext cx="2271713" cy="2271713"/>
          </a:xfrm>
          <a:prstGeom prst="ellipse">
            <a:avLst/>
          </a:prstGeom>
          <a:noFill/>
          <a:ln w="14288">
            <a:solidFill>
              <a:srgbClr val="F4762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715250" y="1500188"/>
            <a:ext cx="1285875" cy="1285875"/>
          </a:xfrm>
          <a:prstGeom prst="ellipse">
            <a:avLst/>
          </a:prstGeom>
          <a:solidFill>
            <a:srgbClr val="F47629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571500" y="4450556"/>
            <a:ext cx="8001000" cy="71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732734"/>
            <a:ext cx="9144000" cy="0"/>
          </a:xfrm>
          <a:prstGeom prst="line">
            <a:avLst/>
          </a:prstGeom>
          <a:noFill/>
          <a:ln w="7144">
            <a:solidFill>
              <a:srgbClr val="4444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4864894"/>
            <a:ext cx="713883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90989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ЗАО «Эмпилс» · Ростов-на-Дону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724626" y="4864894"/>
            <a:ext cx="84787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9" kern="0" dirty="0">
                <a:solidFill>
                  <a:srgbClr val="909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Сентябрь 2026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71500" y="571500"/>
            <a:ext cx="680475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142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EMPILS</a:t>
            </a:r>
            <a:pPr algn="l" indent="0" marL="0">
              <a:lnSpc>
                <a:spcPts val="1181"/>
              </a:lnSpc>
              <a:buNone/>
            </a:pPr>
            <a:r>
              <a:rPr lang="en-US" sz="800" b="1" spc="142" kern="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·</a:t>
            </a:r>
            <a:pPr algn="l" indent="0" marL="0">
              <a:lnSpc>
                <a:spcPts val="1181"/>
              </a:lnSpc>
              <a:buNone/>
            </a:pPr>
            <a:r>
              <a:rPr lang="en-US" sz="800" b="1" spc="142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ЭМПИЛС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390544" y="587573"/>
            <a:ext cx="15223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3" kern="0" dirty="0">
                <a:solidFill>
                  <a:srgbClr val="F4762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STRATEGY DECK · 2026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71500" y="1762720"/>
            <a:ext cx="8572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3" kern="0" dirty="0">
                <a:solidFill>
                  <a:srgbClr val="F476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KAZBUILD · АЛМАТЫ · 28–30 ОКТЯБРЯ 2026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71500" y="2009180"/>
            <a:ext cx="8572500" cy="58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3"/>
              </a:lnSpc>
              <a:buNone/>
            </a:pPr>
            <a:r>
              <a:rPr lang="en-US" sz="4050" b="1" spc="-81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Kazbuild 2026</a:t>
            </a:r>
            <a:endParaRPr lang="en-US" sz="4050" dirty="0"/>
          </a:p>
        </p:txBody>
      </p:sp>
      <p:sp>
        <p:nvSpPr>
          <p:cNvPr id="13" name="Text 10"/>
          <p:cNvSpPr/>
          <p:nvPr/>
        </p:nvSpPr>
        <p:spPr>
          <a:xfrm>
            <a:off x="571500" y="2649215"/>
            <a:ext cx="8572500" cy="31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spc="-20" kern="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Цели и приоритеты участия для Эмпилс</a:t>
            </a:r>
            <a:endParaRPr lang="en-US" sz="2025" dirty="0"/>
          </a:p>
        </p:txBody>
      </p:sp>
      <p:sp>
        <p:nvSpPr>
          <p:cNvPr id="14" name="Text 11"/>
          <p:cNvSpPr/>
          <p:nvPr/>
        </p:nvSpPr>
        <p:spPr>
          <a:xfrm>
            <a:off x="571500" y="3144924"/>
            <a:ext cx="5000625" cy="41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B0B8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Стратегическая выставка Центральной Азии. 28-30 октября 2026, Алматы. Углубление партнёрств, расширение сбыта, выход на новые рынки.</a:t>
            </a:r>
            <a:endParaRPr lang="en-US" sz="1013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2863"/>
          </a:xfrm>
          <a:prstGeom prst="rect">
            <a:avLst/>
          </a:prstGeom>
          <a:solidFill>
            <a:srgbClr val="F476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00050"/>
            <a:ext cx="7111938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spc="51" kern="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EMPILS</a:t>
            </a:r>
            <a:endParaRPr lang="en-US" sz="1013" dirty="0"/>
          </a:p>
        </p:txBody>
      </p:sp>
      <p:sp>
        <p:nvSpPr>
          <p:cNvPr id="4" name="Text 2"/>
          <p:cNvSpPr/>
          <p:nvPr/>
        </p:nvSpPr>
        <p:spPr>
          <a:xfrm>
            <a:off x="7583425" y="437555"/>
            <a:ext cx="13784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07 · ЦЕЛИ И KPI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92956"/>
            <a:ext cx="8636000" cy="33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2250" b="1" spc="-23" kern="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Цели участия в Kazbuild 2026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457200" y="1164431"/>
            <a:ext cx="6286500" cy="172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Четыре стратегических направления. Каждый — с измеримым результатом к концу выставки.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60772" y="1485119"/>
            <a:ext cx="4036219" cy="1264444"/>
          </a:xfrm>
          <a:prstGeom prst="roundRect">
            <a:avLst>
              <a:gd name="adj" fmla="val 9040"/>
            </a:avLst>
          </a:prstGeom>
          <a:solidFill>
            <a:srgbClr val="FDE6D5"/>
          </a:solidFill>
          <a:ln w="7144">
            <a:solidFill>
              <a:srgbClr val="F4762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21506" y="1617278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4762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✻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950119" y="1665498"/>
            <a:ext cx="3386138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1013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1. Углубление с текущими партнёрами</a:t>
            </a:r>
            <a:endParaRPr lang="en-US" sz="1013" dirty="0"/>
          </a:p>
        </p:txBody>
      </p:sp>
      <p:sp>
        <p:nvSpPr>
          <p:cNvPr id="10" name="Text 8"/>
          <p:cNvSpPr/>
          <p:nvPr/>
        </p:nvSpPr>
        <p:spPr>
          <a:xfrm>
            <a:off x="583227" y="1945891"/>
            <a:ext cx="370881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spc="-54" kern="0" dirty="0">
                <a:solidFill>
                  <a:srgbClr val="F4762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876895" y="2131628"/>
            <a:ext cx="345936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59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ВСТРЕЧ · KZ · TJ · KG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21506" y="2345941"/>
            <a:ext cx="3714750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запланированных встреч с текущими партнёрами из KZ, TJ, KG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647009" y="1485119"/>
            <a:ext cx="4036219" cy="1264444"/>
          </a:xfrm>
          <a:prstGeom prst="roundRect">
            <a:avLst>
              <a:gd name="adj" fmla="val 9040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07744" y="1617278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31313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🏪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5136356" y="1665498"/>
            <a:ext cx="3386138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1013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2. Расширение сбыта в Казахстане</a:t>
            </a:r>
            <a:endParaRPr lang="en-US" sz="1013" dirty="0"/>
          </a:p>
        </p:txBody>
      </p:sp>
      <p:sp>
        <p:nvSpPr>
          <p:cNvPr id="16" name="Text 14"/>
          <p:cNvSpPr/>
          <p:nvPr/>
        </p:nvSpPr>
        <p:spPr>
          <a:xfrm>
            <a:off x="4791104" y="1945891"/>
            <a:ext cx="621746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spc="-54" kern="0" dirty="0">
                <a:solidFill>
                  <a:srgbClr val="F4762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5246973" y="2131628"/>
            <a:ext cx="32755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59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ОБЛАСТЕЙ · СЕЙЧАС 6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807744" y="2345941"/>
            <a:ext cx="3714750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областей Казахстана — цель покрыть партнёрами (сейчас 6)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60772" y="2899581"/>
            <a:ext cx="4036219" cy="1264444"/>
          </a:xfrm>
          <a:prstGeom prst="roundRect">
            <a:avLst>
              <a:gd name="adj" fmla="val 9040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21506" y="3031741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31313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950119" y="3079961"/>
            <a:ext cx="3386138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1013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3. Географическая экспансия</a:t>
            </a:r>
            <a:endParaRPr lang="en-US" sz="1013" dirty="0"/>
          </a:p>
        </p:txBody>
      </p:sp>
      <p:sp>
        <p:nvSpPr>
          <p:cNvPr id="22" name="Text 20"/>
          <p:cNvSpPr/>
          <p:nvPr/>
        </p:nvSpPr>
        <p:spPr>
          <a:xfrm>
            <a:off x="621506" y="3360353"/>
            <a:ext cx="603647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spc="-54" kern="0" dirty="0">
                <a:solidFill>
                  <a:srgbClr val="F4762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3+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1070223" y="3546091"/>
            <a:ext cx="326603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59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НОВЫХ ДИСТРИБЬЮТОРА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21506" y="3760403"/>
            <a:ext cx="3714750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новых потенциальных дистрибьютора из Ц.Азии и Каспия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647009" y="2899581"/>
            <a:ext cx="4036219" cy="1264444"/>
          </a:xfrm>
          <a:prstGeom prst="roundRect">
            <a:avLst>
              <a:gd name="adj" fmla="val 9040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07744" y="3031741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31313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5136356" y="3079961"/>
            <a:ext cx="3386138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1013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4. Англоязычный каталог</a:t>
            </a:r>
            <a:endParaRPr lang="en-US" sz="1013" dirty="0"/>
          </a:p>
        </p:txBody>
      </p:sp>
      <p:sp>
        <p:nvSpPr>
          <p:cNvPr id="28" name="Text 26"/>
          <p:cNvSpPr/>
          <p:nvPr/>
        </p:nvSpPr>
        <p:spPr>
          <a:xfrm>
            <a:off x="4807744" y="3360353"/>
            <a:ext cx="604540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25" b="1" spc="81" kern="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</a:t>
            </a:r>
            <a:endParaRPr lang="en-US" sz="2025" dirty="0"/>
          </a:p>
        </p:txBody>
      </p:sp>
      <p:sp>
        <p:nvSpPr>
          <p:cNvPr id="29" name="Text 27"/>
          <p:cNvSpPr/>
          <p:nvPr/>
        </p:nvSpPr>
        <p:spPr>
          <a:xfrm>
            <a:off x="5257019" y="3474653"/>
            <a:ext cx="32654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59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ПОДГОТОВКА К ВЫСТАВКЕ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807744" y="3674678"/>
            <a:ext cx="3714750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подготовка к выставке — выход на не-русскоговорящих партнёров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57200" y="4854178"/>
            <a:ext cx="78565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1" kern="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Empils · Kazbuild 2026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328050" y="4854178"/>
            <a:ext cx="50177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1" kern="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07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2863"/>
          </a:xfrm>
          <a:prstGeom prst="rect">
            <a:avLst/>
          </a:prstGeom>
          <a:solidFill>
            <a:srgbClr val="F476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00050"/>
            <a:ext cx="6615336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spc="51" kern="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EMPILS</a:t>
            </a:r>
            <a:endParaRPr lang="en-US" sz="1013" dirty="0"/>
          </a:p>
        </p:txBody>
      </p:sp>
      <p:sp>
        <p:nvSpPr>
          <p:cNvPr id="4" name="Text 2"/>
          <p:cNvSpPr/>
          <p:nvPr/>
        </p:nvSpPr>
        <p:spPr>
          <a:xfrm>
            <a:off x="7086823" y="437555"/>
            <a:ext cx="17279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07 · ВСТРЕЧИ НА ВЫСТАВКЕ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92956"/>
            <a:ext cx="8636000" cy="278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18" kern="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Запланированные встречи и посещение участников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098686"/>
            <a:ext cx="8229600" cy="153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7 текущих партнёров приедут на наш стенд · 10 стендов ключевых целей · 4 стенда конкурентов для изучения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60772" y="1385106"/>
            <a:ext cx="2669307" cy="2196480"/>
          </a:xfrm>
          <a:prstGeom prst="roundRect">
            <a:avLst>
              <a:gd name="adj" fmla="val 4336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78644" y="1738722"/>
            <a:ext cx="2433563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5784" y="1478189"/>
            <a:ext cx="1136258" cy="196025"/>
          </a:xfrm>
          <a:prstGeom prst="roundRect">
            <a:avLst>
              <a:gd name="adj" fmla="val 19436"/>
            </a:avLst>
          </a:prstGeom>
          <a:solidFill>
            <a:srgbClr val="F476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78644" y="1488691"/>
            <a:ext cx="109053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ТЕКУЩИЕ ПАРТНЁРЫ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958517" y="1517266"/>
            <a:ext cx="9144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8644" y="1828019"/>
            <a:ext cx="2433563" cy="1258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AJR &amp; Company ТОО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Казахстан</a:t>
            </a:r>
            <a:endParaRPr lang="en-US" sz="800" dirty="0"/>
          </a:p>
          <a:p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PAKO TRADE ТОО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Казахстан</a:t>
            </a:r>
            <a:endParaRPr lang="en-US" sz="800" dirty="0"/>
          </a:p>
          <a:p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Stroy Depot ТОО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Казахстан</a:t>
            </a:r>
            <a:endParaRPr lang="en-US" sz="800" dirty="0"/>
          </a:p>
          <a:p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Держава Трейд ТОО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Казахстан</a:t>
            </a:r>
            <a:endParaRPr lang="en-US" sz="800" dirty="0"/>
          </a:p>
          <a:p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КОРВОН 2011 ООО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Таджикистан</a:t>
            </a:r>
            <a:endParaRPr lang="en-US" sz="800" dirty="0"/>
          </a:p>
          <a:p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МАК Глобал ОсОО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Кыргызстан</a:t>
            </a:r>
            <a:endParaRPr lang="en-US" sz="800" dirty="0"/>
          </a:p>
          <a:p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Стройлюкс-1 ТОО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Казахстан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37235" y="1385106"/>
            <a:ext cx="2669418" cy="2196480"/>
          </a:xfrm>
          <a:prstGeom prst="roundRect">
            <a:avLst>
              <a:gd name="adj" fmla="val 4336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355107" y="1738722"/>
            <a:ext cx="2433675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2247" y="1478189"/>
            <a:ext cx="1032562" cy="196025"/>
          </a:xfrm>
          <a:prstGeom prst="roundRect">
            <a:avLst>
              <a:gd name="adj" fmla="val 19436"/>
            </a:avLst>
          </a:prstGeom>
          <a:solidFill>
            <a:srgbClr val="31313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355107" y="1488691"/>
            <a:ext cx="98684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ЦЕЛЕВЫЕ СТЕНДЫ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663906" y="1517266"/>
            <a:ext cx="14248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50" kern="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</a:t>
            </a:r>
            <a:endParaRPr lang="en-US" sz="619" dirty="0"/>
          </a:p>
        </p:txBody>
      </p:sp>
      <p:sp>
        <p:nvSpPr>
          <p:cNvPr id="18" name="Text 16"/>
          <p:cNvSpPr/>
          <p:nvPr/>
        </p:nvSpPr>
        <p:spPr>
          <a:xfrm>
            <a:off x="3355107" y="1828019"/>
            <a:ext cx="2433675" cy="1798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ДХКЗ ТОО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(9-430) — дистрибьютор, Астана</a:t>
            </a:r>
            <a:endParaRPr lang="en-US" sz="800" dirty="0"/>
          </a:p>
          <a:p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ТССП Казахстан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(9-497) — дистрибьютор, Алматы</a:t>
            </a:r>
            <a:endParaRPr lang="en-US" sz="800" dirty="0"/>
          </a:p>
          <a:p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ALIHAN COMPANY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(10-710) — оптовик, Алматы</a:t>
            </a:r>
            <a:endParaRPr lang="en-US" sz="800" dirty="0"/>
          </a:p>
          <a:p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СТРОЙМАРТ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(8-283) — дистрибьютор, РФ</a:t>
            </a:r>
            <a:endParaRPr lang="en-US" sz="800" dirty="0"/>
          </a:p>
          <a:p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Профиль 35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(9-510) — промпотребитель</a:t>
            </a:r>
            <a:endParaRPr lang="en-US" sz="800" dirty="0"/>
          </a:p>
          <a:p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MARRIONI DESIGN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(10-680) — дизайн-студия</a:t>
            </a:r>
            <a:endParaRPr lang="en-US" sz="800" dirty="0"/>
          </a:p>
          <a:p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TIMBERSTONE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(10-705) — древесина</a:t>
            </a:r>
            <a:endParaRPr lang="en-US" sz="800" dirty="0"/>
          </a:p>
          <a:p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КАЗФЛОР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(9-501) — промполы</a:t>
            </a:r>
            <a:endParaRPr lang="en-US" sz="800" dirty="0"/>
          </a:p>
          <a:p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ПОЛИМЕРМЕТАЛЛТ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(9-470) — промпотребитель</a:t>
            </a:r>
            <a:endParaRPr lang="en-US" sz="800" dirty="0"/>
          </a:p>
          <a:p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SHANDONG SANDIA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(8-296) — древесина, Китай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013810" y="1385106"/>
            <a:ext cx="2669307" cy="2196480"/>
          </a:xfrm>
          <a:prstGeom prst="roundRect">
            <a:avLst>
              <a:gd name="adj" fmla="val 4336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131682" y="1738722"/>
            <a:ext cx="2433563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08822" y="1478189"/>
            <a:ext cx="788335" cy="196025"/>
          </a:xfrm>
          <a:prstGeom prst="roundRect">
            <a:avLst>
              <a:gd name="adj" fmla="val 19436"/>
            </a:avLst>
          </a:prstGeom>
          <a:solidFill>
            <a:srgbClr val="FFEB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131682" y="1488691"/>
            <a:ext cx="74261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C628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КОНКУРЕНТЫ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511555" y="1517266"/>
            <a:ext cx="9144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131682" y="1828019"/>
            <a:ext cx="2433563" cy="717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DIBA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(10-707) — Иран, Barad</a:t>
            </a:r>
            <a:endParaRPr lang="en-US" sz="800" dirty="0"/>
          </a:p>
          <a:p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FAB GROUP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(10-696) — Азербайджан</a:t>
            </a:r>
            <a:endParaRPr lang="en-US" sz="800" dirty="0"/>
          </a:p>
          <a:p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PUFAS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(9-444) — Германия</a:t>
            </a:r>
            <a:endParaRPr lang="en-US" sz="800" dirty="0"/>
          </a:p>
          <a:p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TAUDI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(10-709) — главный конкурент KZ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131682" y="2561592"/>
            <a:ext cx="2433563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6131682" y="2650889"/>
            <a:ext cx="2433563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68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ЗАДАЧА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131682" y="2800908"/>
            <a:ext cx="2433563" cy="248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Изучить стенды, ассортименты, ценовую политику и подходы к B2B — для отстройки и адаптации КП.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57200" y="4854178"/>
            <a:ext cx="78565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1" kern="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Empils · Kazbuild 2026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328050" y="4854178"/>
            <a:ext cx="50177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1" kern="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07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2863"/>
          </a:xfrm>
          <a:prstGeom prst="rect">
            <a:avLst/>
          </a:prstGeom>
          <a:solidFill>
            <a:srgbClr val="F476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00050"/>
            <a:ext cx="7167079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spc="51" kern="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EMPILS</a:t>
            </a:r>
            <a:endParaRPr lang="en-US" sz="1013" dirty="0"/>
          </a:p>
        </p:txBody>
      </p:sp>
      <p:sp>
        <p:nvSpPr>
          <p:cNvPr id="4" name="Text 2"/>
          <p:cNvSpPr/>
          <p:nvPr/>
        </p:nvSpPr>
        <p:spPr>
          <a:xfrm>
            <a:off x="7638566" y="437555"/>
            <a:ext cx="130960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07 · КАЗАХСТАН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92956"/>
            <a:ext cx="8636000" cy="33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2250" b="1" spc="-23" kern="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Расширение сбыта в Казахстане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457200" y="1164431"/>
            <a:ext cx="7858125" cy="162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44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Цель — партнёр в каждой из 14 областей. Сейчас покрыто 6. Файл «Казахстан по областям» — 47 потенциальных дистрибьюторов для анализа.</a:t>
            </a:r>
            <a:endParaRPr lang="en-US" sz="844" dirty="0"/>
          </a:p>
        </p:txBody>
      </p:sp>
      <p:sp>
        <p:nvSpPr>
          <p:cNvPr id="7" name="Text 5"/>
          <p:cNvSpPr/>
          <p:nvPr/>
        </p:nvSpPr>
        <p:spPr>
          <a:xfrm>
            <a:off x="457200" y="1471613"/>
            <a:ext cx="5189512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3" kern="0" dirty="0">
                <a:solidFill>
                  <a:srgbClr val="F476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ПОКРЫТИЕ ОБЛАСТЕЙ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632347"/>
            <a:ext cx="4351401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Где мы уже есть и где нужно быть</a:t>
            </a:r>
            <a:endParaRPr lang="en-US" sz="1238" dirty="0"/>
          </a:p>
        </p:txBody>
      </p:sp>
      <p:sp>
        <p:nvSpPr>
          <p:cNvPr id="9" name="Text 7"/>
          <p:cNvSpPr/>
          <p:nvPr/>
        </p:nvSpPr>
        <p:spPr>
          <a:xfrm>
            <a:off x="460772" y="1924459"/>
            <a:ext cx="4021931" cy="1153939"/>
          </a:xfrm>
          <a:prstGeom prst="roundRect">
            <a:avLst>
              <a:gd name="adj" fmla="val 9905"/>
            </a:avLst>
          </a:prstGeom>
          <a:solidFill>
            <a:srgbClr val="FDE6D5"/>
          </a:solidFill>
          <a:ln w="7144">
            <a:solidFill>
              <a:srgbClr val="F4762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92931" y="2042331"/>
            <a:ext cx="3588395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Текущее покрытие: 6 из 14 областей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72600" y="2070906"/>
            <a:ext cx="20095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b="1" dirty="0">
                <a:solidFill>
                  <a:srgbClr val="D55E0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43%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596503" y="2303078"/>
            <a:ext cx="1207294" cy="653876"/>
          </a:xfrm>
          <a:prstGeom prst="roundRect">
            <a:avLst>
              <a:gd name="adj" fmla="val 11654"/>
            </a:avLst>
          </a:prstGeom>
          <a:solidFill>
            <a:srgbClr val="FFFFFF"/>
          </a:solidFill>
          <a:ln w="7144">
            <a:solidFill>
              <a:srgbClr val="F4762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85800" y="2378087"/>
            <a:ext cx="1028700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dirty="0">
                <a:solidFill>
                  <a:srgbClr val="F4762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1238" dirty="0"/>
          </a:p>
        </p:txBody>
      </p:sp>
      <p:sp>
        <p:nvSpPr>
          <p:cNvPr id="14" name="Text 12"/>
          <p:cNvSpPr/>
          <p:nvPr/>
        </p:nvSpPr>
        <p:spPr>
          <a:xfrm>
            <a:off x="685800" y="2563825"/>
            <a:ext cx="1090422" cy="31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Алматы + Астана — сильное присутствие (более 20 партнёров)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868091" y="2303078"/>
            <a:ext cx="1207294" cy="653876"/>
          </a:xfrm>
          <a:prstGeom prst="roundRect">
            <a:avLst>
              <a:gd name="adj" fmla="val 11654"/>
            </a:avLst>
          </a:prstGeom>
          <a:solidFill>
            <a:srgbClr val="FFFFFF"/>
          </a:solidFill>
          <a:ln w="7144">
            <a:solidFill>
              <a:srgbClr val="F4762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957388" y="2378087"/>
            <a:ext cx="1028700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dirty="0">
                <a:solidFill>
                  <a:srgbClr val="F4762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1238" dirty="0"/>
          </a:p>
        </p:txBody>
      </p:sp>
      <p:sp>
        <p:nvSpPr>
          <p:cNvPr id="17" name="Text 15"/>
          <p:cNvSpPr/>
          <p:nvPr/>
        </p:nvSpPr>
        <p:spPr>
          <a:xfrm>
            <a:off x="1957388" y="2563825"/>
            <a:ext cx="1090422" cy="31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Шымкент, Караганда, Актобе — слабое (1–3 партнёра)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139678" y="2303078"/>
            <a:ext cx="1207294" cy="653876"/>
          </a:xfrm>
          <a:prstGeom prst="roundRect">
            <a:avLst>
              <a:gd name="adj" fmla="val 11654"/>
            </a:avLst>
          </a:prstGeom>
          <a:solidFill>
            <a:srgbClr val="FAFAFA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228975" y="2378087"/>
            <a:ext cx="1028700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dirty="0">
                <a:solidFill>
                  <a:srgbClr val="31313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endParaRPr lang="en-US" sz="1238" dirty="0"/>
          </a:p>
        </p:txBody>
      </p:sp>
      <p:sp>
        <p:nvSpPr>
          <p:cNvPr id="20" name="Text 18"/>
          <p:cNvSpPr/>
          <p:nvPr/>
        </p:nvSpPr>
        <p:spPr>
          <a:xfrm>
            <a:off x="3228975" y="2563825"/>
            <a:ext cx="1090422" cy="31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8 областей — нет присутствия (Восток, Север, Запад)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60772" y="3185554"/>
            <a:ext cx="4021931" cy="914400"/>
          </a:xfrm>
          <a:prstGeom prst="roundRect">
            <a:avLst>
              <a:gd name="adj" fmla="val 12500"/>
            </a:avLst>
          </a:prstGeom>
          <a:solidFill>
            <a:srgbClr val="FAFAFA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92931" y="3303426"/>
            <a:ext cx="3586163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Потенциал — 47 дистрибьюторов в файле анализа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93381" y="3310570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4762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547" dirty="0"/>
          </a:p>
        </p:txBody>
      </p:sp>
      <p:sp>
        <p:nvSpPr>
          <p:cNvPr id="24" name="Text 22"/>
          <p:cNvSpPr/>
          <p:nvPr/>
        </p:nvSpPr>
        <p:spPr>
          <a:xfrm>
            <a:off x="592931" y="3532026"/>
            <a:ext cx="3757613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Алматы — 14 кандидатов (высокая конкуренция). Астана — 6 кандидатов. Шымкент — 3. Караганда — 1 (КазМетСервис). Актобе — DekoObraz KZ (розничная сеть). Цель — выбрать 3–5 новых партнёров на выставке.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657725" y="1471613"/>
            <a:ext cx="4486275" cy="133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3" kern="0" dirty="0">
                <a:solidFill>
                  <a:srgbClr val="F476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ПРИОРИТЕТНЫЕ ОБЛАСТИ ДЛЯ ВХОДА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657725" y="1632347"/>
            <a:ext cx="4351401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Где ищем партнёра на Kazbuild 2026</a:t>
            </a:r>
            <a:endParaRPr lang="en-US" sz="1238" dirty="0"/>
          </a:p>
        </p:txBody>
      </p:sp>
      <p:sp>
        <p:nvSpPr>
          <p:cNvPr id="27" name="Text 25"/>
          <p:cNvSpPr/>
          <p:nvPr/>
        </p:nvSpPr>
        <p:spPr>
          <a:xfrm>
            <a:off x="4657725" y="1920887"/>
            <a:ext cx="4029075" cy="2509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Восточно-Казахстанская</a:t>
            </a:r>
            <a:endParaRPr lang="en-US" sz="800" dirty="0"/>
          </a:p>
          <a:p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Усть-Каменогорск, Семей — промышленность, mining</a:t>
            </a:r>
            <a:endParaRPr lang="en-US" sz="800" dirty="0"/>
          </a:p>
          <a:p>
            <a:pPr algn="l" indent="0" marL="0">
              <a:lnSpc>
                <a:spcPts val="1103"/>
              </a:lnSpc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Павлодарская</a:t>
            </a:r>
            <a:endParaRPr lang="en-US" sz="800" dirty="0"/>
          </a:p>
          <a:p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алюминий, нефтехимия</a:t>
            </a:r>
            <a:endParaRPr lang="en-US" sz="800" dirty="0"/>
          </a:p>
          <a:p>
            <a:pPr algn="l" indent="0" marL="0">
              <a:lnSpc>
                <a:spcPts val="1103"/>
              </a:lnSpc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Мангистауская </a:t>
            </a:r>
            <a:pPr algn="l" indent="0" marL="0">
              <a:lnSpc>
                <a:spcPts val="1103"/>
              </a:lnSpc>
              <a:buNone/>
            </a:pPr>
            <a:r>
              <a:rPr lang="en-US" sz="800" spc="34" kern="0" dirty="0">
                <a:solidFill>
                  <a:srgbClr val="F47629"/>
                </a:solidFill>
                <a:highlight>
                  <a:srgbClr val="FDE6D5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НЕФТЕГАЗ</a:t>
            </a:r>
            <a:endParaRPr lang="en-US" sz="800" dirty="0"/>
          </a:p>
          <a:p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Актау — нефтегаз, порт Каспий</a:t>
            </a:r>
            <a:endParaRPr lang="en-US" sz="800" dirty="0"/>
          </a:p>
          <a:p>
            <a:pPr algn="l" indent="0" marL="0">
              <a:lnSpc>
                <a:spcPts val="1103"/>
              </a:lnSpc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Атырауская </a:t>
            </a:r>
            <a:pPr algn="l" indent="0" marL="0">
              <a:lnSpc>
                <a:spcPts val="1103"/>
              </a:lnSpc>
              <a:buNone/>
            </a:pPr>
            <a:r>
              <a:rPr lang="en-US" sz="800" spc="34" kern="0" dirty="0">
                <a:solidFill>
                  <a:srgbClr val="F47629"/>
                </a:solidFill>
                <a:highlight>
                  <a:srgbClr val="FDE6D5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НЕФТЕГАЗ</a:t>
            </a:r>
            <a:endParaRPr lang="en-US" sz="800" dirty="0"/>
          </a:p>
          <a:p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нефтегаз Tengiz, Karachaganak</a:t>
            </a:r>
            <a:endParaRPr lang="en-US" sz="800" dirty="0"/>
          </a:p>
          <a:p>
            <a:pPr algn="l" indent="0" marL="0">
              <a:lnSpc>
                <a:spcPts val="1103"/>
              </a:lnSpc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Костанайская</a:t>
            </a:r>
            <a:endParaRPr lang="en-US" sz="800" dirty="0"/>
          </a:p>
          <a:p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сельхоз, древесина</a:t>
            </a:r>
            <a:endParaRPr lang="en-US" sz="800" dirty="0"/>
          </a:p>
          <a:p>
            <a:pPr algn="l" indent="0" marL="0">
              <a:lnSpc>
                <a:spcPts val="1103"/>
              </a:lnSpc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Северо-Казахстанская</a:t>
            </a:r>
            <a:endParaRPr lang="en-US" sz="800" dirty="0"/>
          </a:p>
          <a:p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агро, DIY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661297" y="4391509"/>
            <a:ext cx="4021931" cy="457200"/>
          </a:xfrm>
          <a:prstGeom prst="roundRect">
            <a:avLst>
              <a:gd name="adj" fmla="val 25000"/>
            </a:avLst>
          </a:prstGeom>
          <a:solidFill>
            <a:srgbClr val="FDE6D5"/>
          </a:solidFill>
          <a:ln w="7144">
            <a:solidFill>
              <a:srgbClr val="F4762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79169" y="448080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4762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lang="en-US" sz="1406" dirty="0"/>
          </a:p>
        </p:txBody>
      </p:sp>
      <p:sp>
        <p:nvSpPr>
          <p:cNvPr id="30" name="Text 28"/>
          <p:cNvSpPr/>
          <p:nvPr/>
        </p:nvSpPr>
        <p:spPr>
          <a:xfrm>
            <a:off x="4993481" y="4480806"/>
            <a:ext cx="357187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Цель на Kazbuild — найти 2–3 региональных партнёра для приоритетных областей. Подготовить индивидуальные КП.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57200" y="4854178"/>
            <a:ext cx="78565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1" kern="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Empils · Kazbuild 2026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328050" y="4854178"/>
            <a:ext cx="50177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1" kern="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07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2863"/>
          </a:xfrm>
          <a:prstGeom prst="rect">
            <a:avLst/>
          </a:prstGeom>
          <a:solidFill>
            <a:srgbClr val="F476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00050"/>
            <a:ext cx="6339520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spc="51" kern="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EMPILS</a:t>
            </a:r>
            <a:endParaRPr lang="en-US" sz="1013" dirty="0"/>
          </a:p>
        </p:txBody>
      </p:sp>
      <p:sp>
        <p:nvSpPr>
          <p:cNvPr id="4" name="Text 2"/>
          <p:cNvSpPr/>
          <p:nvPr/>
        </p:nvSpPr>
        <p:spPr>
          <a:xfrm>
            <a:off x="6811008" y="437555"/>
            <a:ext cx="2025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07 · ГЕОГРАФИЧЕСКАЯ ЭКСПАНСИЯ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92956"/>
            <a:ext cx="8636000" cy="27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800" b="1" spc="-18" kern="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Географическое окружение — новые рынки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101477"/>
            <a:ext cx="7858125" cy="153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Анализ 10 стран. Приоритет — те, где Эмпилс ещё не работает, но есть потенциал. Источник — файл «Экспорт потенциал полный».</a:t>
            </a:r>
            <a:endParaRPr lang="en-US" sz="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0037"/>
          <a:ext cx="8229600" cy="914400"/>
        </p:xfrm>
        <a:graphic>
          <a:graphicData uri="http://schemas.openxmlformats.org/drawingml/2006/table">
            <a:tbl>
              <a:tblPr/>
              <a:tblGrid>
                <a:gridCol w="1892759"/>
                <a:gridCol w="905247"/>
                <a:gridCol w="1234418"/>
                <a:gridCol w="1069777"/>
                <a:gridCol w="31274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Страна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85725" marT="85725" marB="6429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Дефицит ЛКМ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294" marR="85725" marT="85725" marB="6429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Рост отрасли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294" marR="85725" marT="85725" marB="6429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Уд. потребл.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294" marR="85725" marT="85725" marB="6429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Рекомендация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85725" marT="85725" marB="6429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313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🥇Азербайджан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55E0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42%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8–12% / год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4,6 кг/чел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Приоритет 1 — вход через FAB BoyaПРИОРИТЕТ 1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🥈Таджикистан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55E0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61%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+52% (2024)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9,1 кг/чел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Приоритет 2 — рекордный рост рынкаПРИОРИТЕТ 2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🥉Молдова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55E0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30%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3–5% / год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20,8 кг/чел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Приоритет 2 — простая логистикаПРИОРИТЕТ 2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ОАЭ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55E0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17%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4,65% / год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21,8 кг/чел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Хаб для GCC — выход в регионПРИОРИТЕТ 4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Саудовская Аравия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55E0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23%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5–7% / год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15,1 кг/чел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Отложенный рынокПОСЛЕ 2027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Туркменистан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55E0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57%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5–7% / год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4,7 кг/чел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Рисковый рынокПРИОРИТЕТ 5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Сербия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628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−64%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2–3% / год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10,7 кг/чел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Не приоритет — нетто-экспортёрЭКСПОРТЁР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Турция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628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−25%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2–3% / год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7,9 кг/чел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Не приоритет — конкурирующий производительКОНКУРЕНТ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85725" marT="85725" marB="5000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60772" y="3705151"/>
            <a:ext cx="8222456" cy="907256"/>
          </a:xfrm>
          <a:prstGeom prst="roundRect">
            <a:avLst>
              <a:gd name="adj" fmla="val 12598"/>
            </a:avLst>
          </a:prstGeom>
          <a:solidFill>
            <a:srgbClr val="FDE6D5"/>
          </a:solidFill>
          <a:ln w="7144">
            <a:solidFill>
              <a:srgbClr val="F4762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92931" y="3808735"/>
            <a:ext cx="257175" cy="257175"/>
          </a:xfrm>
          <a:prstGeom prst="ellipse">
            <a:avLst/>
          </a:prstGeom>
          <a:solidFill>
            <a:srgbClr val="F476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17934" y="3833738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lang="en-US" sz="1406" dirty="0"/>
          </a:p>
        </p:txBody>
      </p:sp>
      <p:sp>
        <p:nvSpPr>
          <p:cNvPr id="11" name="Text 8"/>
          <p:cNvSpPr/>
          <p:nvPr/>
        </p:nvSpPr>
        <p:spPr>
          <a:xfrm>
            <a:off x="950119" y="3808735"/>
            <a:ext cx="7710678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31313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🎯</a:t>
            </a:r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Главные цели для нового входа</a:t>
            </a:r>
            <a:endParaRPr lang="en-US" sz="844" dirty="0"/>
          </a:p>
        </p:txBody>
      </p:sp>
      <p:sp>
        <p:nvSpPr>
          <p:cNvPr id="12" name="Text 9"/>
          <p:cNvSpPr/>
          <p:nvPr/>
        </p:nvSpPr>
        <p:spPr>
          <a:xfrm>
            <a:off x="950119" y="3998044"/>
            <a:ext cx="7600950" cy="308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Азербайджан — есть FAB Boya как партнёр, дефицит 42%. Таджикистан — рост +52% в 2024 г. (рекорд). Молдова — простая логистика. Эти 3 страны — фокус поиска на Kazbuild 2026.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950119" y="4323299"/>
            <a:ext cx="1000683" cy="196025"/>
          </a:xfrm>
          <a:prstGeom prst="roundRect">
            <a:avLst>
              <a:gd name="adj" fmla="val 19436"/>
            </a:avLst>
          </a:prstGeom>
          <a:solidFill>
            <a:srgbClr val="FFFFFF"/>
          </a:solidFill>
          <a:ln w="7144">
            <a:solidFill>
              <a:srgbClr val="F4762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950119" y="4333801"/>
            <a:ext cx="100068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25" kern="0" dirty="0">
                <a:solidFill>
                  <a:srgbClr val="D55E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АЗЕРБАЙДЖАН · 42%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2007952" y="4323299"/>
            <a:ext cx="1051136" cy="196025"/>
          </a:xfrm>
          <a:prstGeom prst="roundRect">
            <a:avLst>
              <a:gd name="adj" fmla="val 19436"/>
            </a:avLst>
          </a:prstGeom>
          <a:solidFill>
            <a:srgbClr val="FFFFFF"/>
          </a:solidFill>
          <a:ln w="7144">
            <a:solidFill>
              <a:srgbClr val="F4762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2007952" y="4333801"/>
            <a:ext cx="105113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25" kern="0" dirty="0">
                <a:solidFill>
                  <a:srgbClr val="D55E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ТАДЖИКИСТАН · +52%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3116238" y="4323299"/>
            <a:ext cx="1202494" cy="196025"/>
          </a:xfrm>
          <a:prstGeom prst="roundRect">
            <a:avLst>
              <a:gd name="adj" fmla="val 19436"/>
            </a:avLst>
          </a:prstGeom>
          <a:solidFill>
            <a:srgbClr val="FFFFFF"/>
          </a:solidFill>
          <a:ln w="7144">
            <a:solidFill>
              <a:srgbClr val="F4762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3116238" y="4333801"/>
            <a:ext cx="120249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25" kern="0" dirty="0">
                <a:solidFill>
                  <a:srgbClr val="D55E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МОЛДОВА · 20,8 кг/чел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57200" y="4854178"/>
            <a:ext cx="78565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1" kern="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Empils · Kazbuild 2026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8328050" y="4854178"/>
            <a:ext cx="50177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1" kern="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07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2863"/>
          </a:xfrm>
          <a:prstGeom prst="rect">
            <a:avLst/>
          </a:prstGeom>
          <a:solidFill>
            <a:srgbClr val="F476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00050"/>
            <a:ext cx="6670588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spc="51" kern="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EMPILS</a:t>
            </a:r>
            <a:endParaRPr lang="en-US" sz="1013" dirty="0"/>
          </a:p>
        </p:txBody>
      </p:sp>
      <p:sp>
        <p:nvSpPr>
          <p:cNvPr id="4" name="Text 2"/>
          <p:cNvSpPr/>
          <p:nvPr/>
        </p:nvSpPr>
        <p:spPr>
          <a:xfrm>
            <a:off x="7142076" y="437555"/>
            <a:ext cx="166830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07 · АНГЛИЙСКИЙ КАТАЛОГ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92956"/>
            <a:ext cx="8636000" cy="27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800" b="1" spc="-18" kern="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Англоязычный каталог — зачем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101477"/>
            <a:ext cx="7858125" cy="307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Текущие экспортные партнёры — русскоговорящие (СНГ, Ц.Азия). Но Kazbuild 2026 — 30% участников не из РФ/СНГ. Без англоязычного каталога мы теряем растущие рынки.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60772" y="1527870"/>
            <a:ext cx="2669307" cy="1552426"/>
          </a:xfrm>
          <a:prstGeom prst="roundRect">
            <a:avLst>
              <a:gd name="adj" fmla="val 7363"/>
            </a:avLst>
          </a:prstGeom>
          <a:solidFill>
            <a:srgbClr val="FDE6D5"/>
          </a:solidFill>
          <a:ln w="7144">
            <a:solidFill>
              <a:srgbClr val="F4762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64344" y="1531441"/>
            <a:ext cx="21431" cy="1545282"/>
          </a:xfrm>
          <a:prstGeom prst="rect">
            <a:avLst/>
          </a:prstGeom>
          <a:solidFill>
            <a:srgbClr val="F476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96503" y="1649313"/>
            <a:ext cx="250031" cy="250031"/>
          </a:xfrm>
          <a:prstGeom prst="roundRect">
            <a:avLst>
              <a:gd name="adj" fmla="val 30476"/>
            </a:avLst>
          </a:prstGeom>
          <a:solidFill>
            <a:srgbClr val="F47629"/>
          </a:solidFill>
          <a:ln w="7144">
            <a:solidFill>
              <a:srgbClr val="F4762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07576" y="1660386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547" dirty="0"/>
          </a:p>
        </p:txBody>
      </p:sp>
      <p:sp>
        <p:nvSpPr>
          <p:cNvPr id="11" name="Text 9"/>
          <p:cNvSpPr/>
          <p:nvPr/>
        </p:nvSpPr>
        <p:spPr>
          <a:xfrm>
            <a:off x="2611710" y="1715393"/>
            <a:ext cx="38620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spc="62" kern="0" dirty="0">
                <a:solidFill>
                  <a:srgbClr val="D55E0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/ 06</a:t>
            </a:r>
            <a:endParaRPr lang="en-US" sz="619" dirty="0"/>
          </a:p>
        </p:txBody>
      </p:sp>
      <p:sp>
        <p:nvSpPr>
          <p:cNvPr id="12" name="Text 10"/>
          <p:cNvSpPr/>
          <p:nvPr/>
        </p:nvSpPr>
        <p:spPr>
          <a:xfrm>
            <a:off x="592931" y="1974354"/>
            <a:ext cx="2404988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44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1. Kazbuild 2026 — международная площадка</a:t>
            </a:r>
            <a:endParaRPr lang="en-US" sz="844" dirty="0"/>
          </a:p>
        </p:txBody>
      </p:sp>
      <p:sp>
        <p:nvSpPr>
          <p:cNvPr id="13" name="Text 11"/>
          <p:cNvSpPr/>
          <p:nvPr/>
        </p:nvSpPr>
        <p:spPr>
          <a:xfrm>
            <a:off x="592931" y="2299395"/>
            <a:ext cx="2404988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30% участников — из Ирана, ОАЭ, Турции, Китая, Германии. Без англоязычного каталога невозможно вести переговоры с ними.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92931" y="2818549"/>
            <a:ext cx="667606" cy="152019"/>
          </a:xfrm>
          <a:prstGeom prst="roundRect">
            <a:avLst>
              <a:gd name="adj" fmla="val 18797"/>
            </a:avLst>
          </a:prstGeom>
          <a:solidFill>
            <a:srgbClr val="F476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92931" y="2826693"/>
            <a:ext cx="6676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34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30% — НЕ СНГ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237235" y="1527870"/>
            <a:ext cx="2669418" cy="1552426"/>
          </a:xfrm>
          <a:prstGeom prst="roundRect">
            <a:avLst>
              <a:gd name="adj" fmla="val 7363"/>
            </a:avLst>
          </a:prstGeom>
          <a:solidFill>
            <a:srgbClr val="FAFAFA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372966" y="1649313"/>
            <a:ext cx="250031" cy="250031"/>
          </a:xfrm>
          <a:prstGeom prst="roundRect">
            <a:avLst>
              <a:gd name="adj" fmla="val 30476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384039" y="1660386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31313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547" dirty="0"/>
          </a:p>
        </p:txBody>
      </p:sp>
      <p:sp>
        <p:nvSpPr>
          <p:cNvPr id="19" name="Text 17"/>
          <p:cNvSpPr/>
          <p:nvPr/>
        </p:nvSpPr>
        <p:spPr>
          <a:xfrm>
            <a:off x="5388285" y="1715393"/>
            <a:ext cx="38620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spc="62" kern="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06</a:t>
            </a:r>
            <a:endParaRPr lang="en-US" sz="619" dirty="0"/>
          </a:p>
        </p:txBody>
      </p:sp>
      <p:sp>
        <p:nvSpPr>
          <p:cNvPr id="20" name="Text 18"/>
          <p:cNvSpPr/>
          <p:nvPr/>
        </p:nvSpPr>
        <p:spPr>
          <a:xfrm>
            <a:off x="3369394" y="1974354"/>
            <a:ext cx="2514828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44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2. GCC — стратегическая цель</a:t>
            </a:r>
            <a:endParaRPr lang="en-US" sz="844" dirty="0"/>
          </a:p>
        </p:txBody>
      </p:sp>
      <p:sp>
        <p:nvSpPr>
          <p:cNvPr id="21" name="Text 19"/>
          <p:cNvSpPr/>
          <p:nvPr/>
        </p:nvSpPr>
        <p:spPr>
          <a:xfrm>
            <a:off x="3369394" y="2165449"/>
            <a:ext cx="2405100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ОАЭ и Саудовская Аравия — крупнейшие растущие рынки ЛКМ в регионе. Без англоязычных материалов вход невозможен.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346534" y="2803404"/>
            <a:ext cx="869484" cy="168021"/>
          </a:xfrm>
          <a:prstGeom prst="roundRect">
            <a:avLst>
              <a:gd name="adj" fmla="val 17007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338493" y="2812405"/>
            <a:ext cx="88556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34" kern="0" dirty="0">
                <a:solidFill>
                  <a:srgbClr val="3131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GCC · ОАЭ · KSA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013810" y="1527870"/>
            <a:ext cx="2669307" cy="1552426"/>
          </a:xfrm>
          <a:prstGeom prst="roundRect">
            <a:avLst>
              <a:gd name="adj" fmla="val 7363"/>
            </a:avLst>
          </a:prstGeom>
          <a:solidFill>
            <a:srgbClr val="FAFAFA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149541" y="1649313"/>
            <a:ext cx="250031" cy="250031"/>
          </a:xfrm>
          <a:prstGeom prst="roundRect">
            <a:avLst>
              <a:gd name="adj" fmla="val 30476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160614" y="1660386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31313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547" dirty="0"/>
          </a:p>
        </p:txBody>
      </p:sp>
      <p:sp>
        <p:nvSpPr>
          <p:cNvPr id="27" name="Text 25"/>
          <p:cNvSpPr/>
          <p:nvPr/>
        </p:nvSpPr>
        <p:spPr>
          <a:xfrm>
            <a:off x="8164748" y="1715393"/>
            <a:ext cx="38620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spc="62" kern="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06</a:t>
            </a:r>
            <a:endParaRPr lang="en-US" sz="619" dirty="0"/>
          </a:p>
        </p:txBody>
      </p:sp>
      <p:sp>
        <p:nvSpPr>
          <p:cNvPr id="28" name="Text 26"/>
          <p:cNvSpPr/>
          <p:nvPr/>
        </p:nvSpPr>
        <p:spPr>
          <a:xfrm>
            <a:off x="6145969" y="1974354"/>
            <a:ext cx="2404988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44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3. Технические datasheets — международный стандарт</a:t>
            </a:r>
            <a:endParaRPr lang="en-US" sz="844" dirty="0"/>
          </a:p>
        </p:txBody>
      </p:sp>
      <p:sp>
        <p:nvSpPr>
          <p:cNvPr id="29" name="Text 27"/>
          <p:cNvSpPr/>
          <p:nvPr/>
        </p:nvSpPr>
        <p:spPr>
          <a:xfrm>
            <a:off x="6145969" y="2299395"/>
            <a:ext cx="2404988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TDS, SDS, спецификации — международная практика требует английского. Без этого промышленные клиенты (Profile 35, Polymetallt) не возьмут продукт.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124368" y="2803404"/>
            <a:ext cx="583225" cy="168021"/>
          </a:xfrm>
          <a:prstGeom prst="roundRect">
            <a:avLst>
              <a:gd name="adj" fmla="val 17007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114665" y="2812405"/>
            <a:ext cx="60263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34" kern="0" dirty="0">
                <a:solidFill>
                  <a:srgbClr val="3131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TDS · SDS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60772" y="3187452"/>
            <a:ext cx="2669307" cy="1552426"/>
          </a:xfrm>
          <a:prstGeom prst="roundRect">
            <a:avLst>
              <a:gd name="adj" fmla="val 7363"/>
            </a:avLst>
          </a:prstGeom>
          <a:solidFill>
            <a:srgbClr val="FAFAFA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96503" y="3308896"/>
            <a:ext cx="250031" cy="250031"/>
          </a:xfrm>
          <a:prstGeom prst="roundRect">
            <a:avLst>
              <a:gd name="adj" fmla="val 30476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07576" y="3319969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31313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1547" dirty="0"/>
          </a:p>
        </p:txBody>
      </p:sp>
      <p:sp>
        <p:nvSpPr>
          <p:cNvPr id="35" name="Text 33"/>
          <p:cNvSpPr/>
          <p:nvPr/>
        </p:nvSpPr>
        <p:spPr>
          <a:xfrm>
            <a:off x="2611710" y="3374975"/>
            <a:ext cx="38620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spc="62" kern="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06</a:t>
            </a:r>
            <a:endParaRPr lang="en-US" sz="619" dirty="0"/>
          </a:p>
        </p:txBody>
      </p:sp>
      <p:sp>
        <p:nvSpPr>
          <p:cNvPr id="36" name="Text 34"/>
          <p:cNvSpPr/>
          <p:nvPr/>
        </p:nvSpPr>
        <p:spPr>
          <a:xfrm>
            <a:off x="592931" y="3633936"/>
            <a:ext cx="2404988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44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4. Конкуренты уже имеют</a:t>
            </a:r>
            <a:endParaRPr lang="en-US" sz="844" dirty="0"/>
          </a:p>
        </p:txBody>
      </p:sp>
      <p:sp>
        <p:nvSpPr>
          <p:cNvPr id="37" name="Text 35"/>
          <p:cNvSpPr/>
          <p:nvPr/>
        </p:nvSpPr>
        <p:spPr>
          <a:xfrm>
            <a:off x="592931" y="3825032"/>
            <a:ext cx="2404988" cy="318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Tikkurila, Jotun, PPG, AkzoNobel, Hempel — у всех есть англоязычные каталоги. Эмпилс отстаёт на этом уровне.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70071" y="4462986"/>
            <a:ext cx="774941" cy="168021"/>
          </a:xfrm>
          <a:prstGeom prst="roundRect">
            <a:avLst>
              <a:gd name="adj" fmla="val 17007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89089" y="4471988"/>
            <a:ext cx="73690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34" kern="0" dirty="0">
                <a:solidFill>
                  <a:srgbClr val="3131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КОНКУРЕНТОВ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237235" y="3187452"/>
            <a:ext cx="2669418" cy="1552426"/>
          </a:xfrm>
          <a:prstGeom prst="roundRect">
            <a:avLst>
              <a:gd name="adj" fmla="val 7363"/>
            </a:avLst>
          </a:prstGeom>
          <a:solidFill>
            <a:srgbClr val="FAFAFA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3372966" y="3308896"/>
            <a:ext cx="250031" cy="250031"/>
          </a:xfrm>
          <a:prstGeom prst="roundRect">
            <a:avLst>
              <a:gd name="adj" fmla="val 30476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3384039" y="3319969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31313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547" dirty="0"/>
          </a:p>
        </p:txBody>
      </p:sp>
      <p:sp>
        <p:nvSpPr>
          <p:cNvPr id="43" name="Text 41"/>
          <p:cNvSpPr/>
          <p:nvPr/>
        </p:nvSpPr>
        <p:spPr>
          <a:xfrm>
            <a:off x="5388285" y="3374975"/>
            <a:ext cx="38620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spc="62" kern="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06</a:t>
            </a:r>
            <a:endParaRPr lang="en-US" sz="619" dirty="0"/>
          </a:p>
        </p:txBody>
      </p:sp>
      <p:sp>
        <p:nvSpPr>
          <p:cNvPr id="44" name="Text 42"/>
          <p:cNvSpPr/>
          <p:nvPr/>
        </p:nvSpPr>
        <p:spPr>
          <a:xfrm>
            <a:off x="3369394" y="3633936"/>
            <a:ext cx="2405100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44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5. Иранские партнёры работают на английском</a:t>
            </a:r>
            <a:endParaRPr lang="en-US" sz="844" dirty="0"/>
          </a:p>
        </p:txBody>
      </p:sp>
      <p:sp>
        <p:nvSpPr>
          <p:cNvPr id="45" name="Text 43"/>
          <p:cNvSpPr/>
          <p:nvPr/>
        </p:nvSpPr>
        <p:spPr>
          <a:xfrm>
            <a:off x="3369394" y="3958977"/>
            <a:ext cx="2405100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Pars Diba (Barad), Pars Pamchal, Rangsazi Iran — все представляют материалы на английском. Для переговоров нужен англоязычный комплект.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346534" y="4462986"/>
            <a:ext cx="964138" cy="168021"/>
          </a:xfrm>
          <a:prstGeom prst="roundRect">
            <a:avLst>
              <a:gd name="adj" fmla="val 17007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3369394" y="4471988"/>
            <a:ext cx="91841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34" kern="0" dirty="0">
                <a:solidFill>
                  <a:srgbClr val="3131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ИРАН · 3 ПАРТНЁРА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013810" y="3187452"/>
            <a:ext cx="2669307" cy="1552426"/>
          </a:xfrm>
          <a:prstGeom prst="roundRect">
            <a:avLst>
              <a:gd name="adj" fmla="val 7363"/>
            </a:avLst>
          </a:prstGeom>
          <a:solidFill>
            <a:srgbClr val="313131"/>
          </a:solidFill>
          <a:ln w="7144">
            <a:solidFill>
              <a:srgbClr val="31313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017382" y="3191024"/>
            <a:ext cx="21431" cy="1545282"/>
          </a:xfrm>
          <a:prstGeom prst="rect">
            <a:avLst/>
          </a:prstGeom>
          <a:solidFill>
            <a:srgbClr val="F476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149541" y="3308896"/>
            <a:ext cx="250031" cy="250031"/>
          </a:xfrm>
          <a:prstGeom prst="roundRect">
            <a:avLst>
              <a:gd name="adj" fmla="val 30476"/>
            </a:avLst>
          </a:prstGeom>
          <a:solidFill>
            <a:srgbClr val="F47629">
              <a:alpha val="18000"/>
            </a:srgbClr>
          </a:solidFill>
          <a:ln w="7144">
            <a:solidFill>
              <a:srgbClr val="F4762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160614" y="3319969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4762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➤</a:t>
            </a:r>
            <a:endParaRPr lang="en-US" sz="1547" dirty="0"/>
          </a:p>
        </p:txBody>
      </p:sp>
      <p:sp>
        <p:nvSpPr>
          <p:cNvPr id="52" name="Text 50"/>
          <p:cNvSpPr/>
          <p:nvPr/>
        </p:nvSpPr>
        <p:spPr>
          <a:xfrm>
            <a:off x="8164748" y="3374975"/>
            <a:ext cx="38620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spc="62" kern="0" dirty="0">
                <a:solidFill>
                  <a:srgbClr val="90989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06</a:t>
            </a:r>
            <a:endParaRPr lang="en-US" sz="619" dirty="0"/>
          </a:p>
        </p:txBody>
      </p:sp>
      <p:sp>
        <p:nvSpPr>
          <p:cNvPr id="53" name="Text 51"/>
          <p:cNvSpPr/>
          <p:nvPr/>
        </p:nvSpPr>
        <p:spPr>
          <a:xfrm>
            <a:off x="6145969" y="3633936"/>
            <a:ext cx="2514716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44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6. Подготовка к экспансии 2027</a:t>
            </a:r>
            <a:endParaRPr lang="en-US" sz="844" dirty="0"/>
          </a:p>
        </p:txBody>
      </p:sp>
      <p:sp>
        <p:nvSpPr>
          <p:cNvPr id="54" name="Text 52"/>
          <p:cNvSpPr/>
          <p:nvPr/>
        </p:nvSpPr>
        <p:spPr>
          <a:xfrm>
            <a:off x="6145969" y="3825032"/>
            <a:ext cx="2404988" cy="318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B0B8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Kazbuild 2026 — репетиция перед выходом в GCC. Английский каталог должен быть готов к октябрю 2026 г.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145969" y="4478131"/>
            <a:ext cx="951347" cy="152019"/>
          </a:xfrm>
          <a:prstGeom prst="roundRect">
            <a:avLst>
              <a:gd name="adj" fmla="val 18797"/>
            </a:avLst>
          </a:prstGeom>
          <a:solidFill>
            <a:srgbClr val="F47629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6145969" y="4486275"/>
            <a:ext cx="95134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34" kern="0" dirty="0">
                <a:solidFill>
                  <a:srgbClr val="F476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ДЕДЛАЙН · ОКТ 2026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57200" y="4854178"/>
            <a:ext cx="78565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1" kern="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Empils · Kazbuild 2026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8328050" y="4854178"/>
            <a:ext cx="50177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1" kern="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07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0"/>
            <a:ext cx="9144000" cy="42863"/>
          </a:xfrm>
          <a:prstGeom prst="rect">
            <a:avLst/>
          </a:prstGeom>
          <a:solidFill>
            <a:srgbClr val="F476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4999025" y="3028950"/>
            <a:ext cx="4144975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0"/>
              </a:lnSpc>
              <a:buNone/>
            </a:pPr>
            <a:r>
              <a:rPr lang="en-US" sz="18000" b="1" spc="-900" kern="0" dirty="0">
                <a:solidFill>
                  <a:srgbClr val="FFFFFF">
                    <a:alpha val="2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</a:t>
            </a:r>
            <a:endParaRPr lang="en-US" sz="18000" dirty="0"/>
          </a:p>
        </p:txBody>
      </p:sp>
      <p:sp>
        <p:nvSpPr>
          <p:cNvPr id="6" name="Text 2"/>
          <p:cNvSpPr/>
          <p:nvPr/>
        </p:nvSpPr>
        <p:spPr>
          <a:xfrm>
            <a:off x="457200" y="400050"/>
            <a:ext cx="6891263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spc="51" kern="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EMPILS</a:t>
            </a:r>
            <a:endParaRPr lang="en-US" sz="1013" dirty="0"/>
          </a:p>
        </p:txBody>
      </p:sp>
      <p:sp>
        <p:nvSpPr>
          <p:cNvPr id="7" name="Text 3"/>
          <p:cNvSpPr/>
          <p:nvPr/>
        </p:nvSpPr>
        <p:spPr>
          <a:xfrm>
            <a:off x="7362751" y="437555"/>
            <a:ext cx="155886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909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07 · СЛЕДУЮЩИЕ ШАГИ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457200" y="1771315"/>
            <a:ext cx="636196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F476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ПРИЗЫВ К ДЕЙСТВИЮ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457200" y="1989200"/>
            <a:ext cx="5337140" cy="814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1" spc="-40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Утвердить план</a:t>
            </a:r>
            <a:endParaRPr lang="en-US" sz="2700" dirty="0"/>
          </a:p>
          <a:p>
            <a:pPr algn="l" indent="0" marL="0">
              <a:lnSpc>
                <a:spcPts val="2970"/>
              </a:lnSpc>
              <a:buNone/>
            </a:pPr>
            <a:r>
              <a:rPr lang="en-US" sz="2700" b="1" spc="-40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 запустить в работу</a:t>
            </a:r>
            <a:endParaRPr lang="en-US" sz="2700" dirty="0"/>
          </a:p>
        </p:txBody>
      </p:sp>
      <p:sp>
        <p:nvSpPr>
          <p:cNvPr id="10" name="Text 6"/>
          <p:cNvSpPr/>
          <p:nvPr/>
        </p:nvSpPr>
        <p:spPr>
          <a:xfrm>
            <a:off x="457200" y="2843547"/>
            <a:ext cx="3571875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0B8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Пять конкретных шагов к открытию Kazbuild 2026. Сроки и ответственные — для согласования с руководством.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57200" y="3357897"/>
            <a:ext cx="428625" cy="28575"/>
          </a:xfrm>
          <a:prstGeom prst="roundRect">
            <a:avLst>
              <a:gd name="adj" fmla="val 66667"/>
            </a:avLst>
          </a:prstGeom>
          <a:solidFill>
            <a:srgbClr val="F476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457200" y="3575782"/>
            <a:ext cx="498277" cy="200025"/>
          </a:xfrm>
          <a:prstGeom prst="roundRect">
            <a:avLst>
              <a:gd name="adj" fmla="val 19048"/>
            </a:avLst>
          </a:prstGeom>
          <a:solidFill>
            <a:srgbClr val="F47629">
              <a:alpha val="16000"/>
            </a:srgbClr>
          </a:solidFill>
          <a:ln w="7144">
            <a:solidFill>
              <a:srgbClr val="F4762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457200" y="3586497"/>
            <a:ext cx="498277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476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ШАГОВ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1012627" y="3575782"/>
            <a:ext cx="547055" cy="200025"/>
          </a:xfrm>
          <a:prstGeom prst="roundRect">
            <a:avLst>
              <a:gd name="adj" fmla="val 19048"/>
            </a:avLst>
          </a:prstGeom>
          <a:solidFill>
            <a:srgbClr val="F47629">
              <a:alpha val="16000"/>
            </a:srgbClr>
          </a:solidFill>
          <a:ln w="7144">
            <a:solidFill>
              <a:srgbClr val="F4762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1012627" y="3586497"/>
            <a:ext cx="547055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476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ОКТ 2026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1616832" y="3575782"/>
            <a:ext cx="449610" cy="200025"/>
          </a:xfrm>
          <a:prstGeom prst="roundRect">
            <a:avLst>
              <a:gd name="adj" fmla="val 19048"/>
            </a:avLst>
          </a:prstGeom>
          <a:solidFill>
            <a:srgbClr val="F47629">
              <a:alpha val="16000"/>
            </a:srgbClr>
          </a:solidFill>
          <a:ln w="7144">
            <a:solidFill>
              <a:srgbClr val="F4762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1616832" y="3586497"/>
            <a:ext cx="449610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476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ЗОНЫ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5652046" y="1557672"/>
            <a:ext cx="3291818" cy="427062"/>
          </a:xfrm>
          <a:prstGeom prst="roundRect">
            <a:avLst>
              <a:gd name="adj" fmla="val 13382"/>
            </a:avLst>
          </a:prstGeom>
          <a:solidFill>
            <a:srgbClr val="F47629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5"/>
          <p:cNvSpPr/>
          <p:nvPr/>
        </p:nvSpPr>
        <p:spPr>
          <a:xfrm>
            <a:off x="5662761" y="1557672"/>
            <a:ext cx="0" cy="427062"/>
          </a:xfrm>
          <a:prstGeom prst="line">
            <a:avLst/>
          </a:prstGeom>
          <a:noFill/>
          <a:ln w="21431">
            <a:solidFill>
              <a:srgbClr val="F47629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787777" y="1692622"/>
            <a:ext cx="365760" cy="169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dirty="0">
                <a:solidFill>
                  <a:srgbClr val="F4762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238" dirty="0"/>
          </a:p>
        </p:txBody>
      </p:sp>
      <p:sp>
        <p:nvSpPr>
          <p:cNvPr id="21" name="Text 17"/>
          <p:cNvSpPr/>
          <p:nvPr/>
        </p:nvSpPr>
        <p:spPr>
          <a:xfrm>
            <a:off x="6116389" y="1636254"/>
            <a:ext cx="2713174" cy="26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Утвердить бюджет Kazbuild 2026 — стенд, командировка, раздаточные материалы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5652046" y="2056172"/>
            <a:ext cx="3291818" cy="427062"/>
          </a:xfrm>
          <a:prstGeom prst="roundRect">
            <a:avLst>
              <a:gd name="adj" fmla="val 13382"/>
            </a:avLst>
          </a:prstGeom>
          <a:solidFill>
            <a:srgbClr val="F47629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19"/>
          <p:cNvSpPr/>
          <p:nvPr/>
        </p:nvSpPr>
        <p:spPr>
          <a:xfrm>
            <a:off x="5662761" y="2056172"/>
            <a:ext cx="0" cy="427062"/>
          </a:xfrm>
          <a:prstGeom prst="line">
            <a:avLst/>
          </a:prstGeom>
          <a:noFill/>
          <a:ln w="21431">
            <a:solidFill>
              <a:srgbClr val="F47629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787777" y="2191122"/>
            <a:ext cx="365760" cy="169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dirty="0">
                <a:solidFill>
                  <a:srgbClr val="F4762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238" dirty="0"/>
          </a:p>
        </p:txBody>
      </p:sp>
      <p:sp>
        <p:nvSpPr>
          <p:cNvPr id="25" name="Text 21"/>
          <p:cNvSpPr/>
          <p:nvPr/>
        </p:nvSpPr>
        <p:spPr>
          <a:xfrm>
            <a:off x="6116389" y="2134753"/>
            <a:ext cx="2713174" cy="26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Запустить в производство англоязычную версию каталога — дедлайн 1 октября 2026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5652046" y="2554672"/>
            <a:ext cx="3291818" cy="427062"/>
          </a:xfrm>
          <a:prstGeom prst="roundRect">
            <a:avLst>
              <a:gd name="adj" fmla="val 13382"/>
            </a:avLst>
          </a:prstGeom>
          <a:solidFill>
            <a:srgbClr val="F47629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3"/>
          <p:cNvSpPr/>
          <p:nvPr/>
        </p:nvSpPr>
        <p:spPr>
          <a:xfrm>
            <a:off x="5662761" y="2554672"/>
            <a:ext cx="0" cy="427062"/>
          </a:xfrm>
          <a:prstGeom prst="line">
            <a:avLst/>
          </a:prstGeom>
          <a:noFill/>
          <a:ln w="21431">
            <a:solidFill>
              <a:srgbClr val="F47629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787777" y="2689622"/>
            <a:ext cx="365760" cy="169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dirty="0">
                <a:solidFill>
                  <a:srgbClr val="F4762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238" dirty="0"/>
          </a:p>
        </p:txBody>
      </p:sp>
      <p:sp>
        <p:nvSpPr>
          <p:cNvPr id="29" name="Text 25"/>
          <p:cNvSpPr/>
          <p:nvPr/>
        </p:nvSpPr>
        <p:spPr>
          <a:xfrm>
            <a:off x="6116389" y="2633253"/>
            <a:ext cx="2713174" cy="26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Подготовить индивидуальные КП для топ-10 целевых дистрибьюторов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5652046" y="3053172"/>
            <a:ext cx="3291818" cy="427062"/>
          </a:xfrm>
          <a:prstGeom prst="roundRect">
            <a:avLst>
              <a:gd name="adj" fmla="val 13382"/>
            </a:avLst>
          </a:prstGeom>
          <a:solidFill>
            <a:srgbClr val="F47629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7"/>
          <p:cNvSpPr/>
          <p:nvPr/>
        </p:nvSpPr>
        <p:spPr>
          <a:xfrm>
            <a:off x="5662761" y="3053172"/>
            <a:ext cx="0" cy="427062"/>
          </a:xfrm>
          <a:prstGeom prst="line">
            <a:avLst/>
          </a:prstGeom>
          <a:noFill/>
          <a:ln w="21431">
            <a:solidFill>
              <a:srgbClr val="F47629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5787777" y="3188122"/>
            <a:ext cx="365760" cy="169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dirty="0">
                <a:solidFill>
                  <a:srgbClr val="F4762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1238" dirty="0"/>
          </a:p>
        </p:txBody>
      </p:sp>
      <p:sp>
        <p:nvSpPr>
          <p:cNvPr id="33" name="Text 29"/>
          <p:cNvSpPr/>
          <p:nvPr/>
        </p:nvSpPr>
        <p:spPr>
          <a:xfrm>
            <a:off x="6116389" y="3131753"/>
            <a:ext cx="2713174" cy="26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Назначить ответственных: Казахстан / Ц.Азия / GCC — три зоны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5652046" y="3551672"/>
            <a:ext cx="3291818" cy="427062"/>
          </a:xfrm>
          <a:prstGeom prst="roundRect">
            <a:avLst>
              <a:gd name="adj" fmla="val 13382"/>
            </a:avLst>
          </a:prstGeom>
          <a:solidFill>
            <a:srgbClr val="F47629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1"/>
          <p:cNvSpPr/>
          <p:nvPr/>
        </p:nvSpPr>
        <p:spPr>
          <a:xfrm>
            <a:off x="5662761" y="3551672"/>
            <a:ext cx="0" cy="427062"/>
          </a:xfrm>
          <a:prstGeom prst="line">
            <a:avLst/>
          </a:prstGeom>
          <a:noFill/>
          <a:ln w="21431">
            <a:solidFill>
              <a:srgbClr val="F47629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5787777" y="3686621"/>
            <a:ext cx="365760" cy="169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dirty="0">
                <a:solidFill>
                  <a:srgbClr val="F4762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1238" dirty="0"/>
          </a:p>
        </p:txBody>
      </p:sp>
      <p:sp>
        <p:nvSpPr>
          <p:cNvPr id="37" name="Text 33"/>
          <p:cNvSpPr/>
          <p:nvPr/>
        </p:nvSpPr>
        <p:spPr>
          <a:xfrm>
            <a:off x="6116389" y="3630253"/>
            <a:ext cx="2713174" cy="26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Установочная встреча с командой стенда — за 2 недели до выставки</a:t>
            </a:r>
            <a:endParaRPr lang="en-US" sz="800" dirty="0"/>
          </a:p>
        </p:txBody>
      </p:sp>
      <p:sp>
        <p:nvSpPr>
          <p:cNvPr id="38" name="Shape 34"/>
          <p:cNvSpPr/>
          <p:nvPr/>
        </p:nvSpPr>
        <p:spPr>
          <a:xfrm>
            <a:off x="457200" y="4768453"/>
            <a:ext cx="8229600" cy="0"/>
          </a:xfrm>
          <a:prstGeom prst="line">
            <a:avLst/>
          </a:prstGeom>
          <a:noFill/>
          <a:ln w="7144">
            <a:solidFill>
              <a:srgbClr val="444444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457200" y="4857750"/>
            <a:ext cx="785399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0989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ЗАО «Эмпилс» · Kazbuild 2026 · Алматы, 28–30 октября 2026</a:t>
            </a:r>
            <a:endParaRPr lang="en-US" sz="800" dirty="0"/>
          </a:p>
        </p:txBody>
      </p:sp>
      <p:sp>
        <p:nvSpPr>
          <p:cNvPr id="40" name="Text 36"/>
          <p:cNvSpPr/>
          <p:nvPr/>
        </p:nvSpPr>
        <p:spPr>
          <a:xfrm>
            <a:off x="8314623" y="4857750"/>
            <a:ext cx="38303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90989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07</a:t>
            </a:r>
            <a:endParaRPr lang="en-US" sz="6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2026-08-18T05:06:44Z</dcterms:created>
  <dcterms:modified xsi:type="dcterms:W3CDTF">2026-08-18T05:06:44Z</dcterms:modified>
</cp:coreProperties>
</file>