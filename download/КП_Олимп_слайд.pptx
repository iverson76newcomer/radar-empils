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44000"/>
            <a:ext cx="720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F3A48"/>
                </a:solidFill>
                <a:latin typeface="Inter"/>
              </a:rPr>
              <a:t>Коммерческое предложение Эмпилс · Партнёр: Олимп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396000"/>
            <a:ext cx="72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95A3"/>
                </a:solidFill>
                <a:latin typeface="Inter"/>
              </a:rPr>
              <a:t>Новосибирская · Томская · Кемеровская обл. · Алтайский край · Республика Алтай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0" y="125999"/>
            <a:ext cx="1800000" cy="251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0" y="162000"/>
            <a:ext cx="1800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spc="150">
                <a:solidFill>
                  <a:srgbClr val="C00000"/>
                </a:solidFill>
                <a:latin typeface="Inter"/>
              </a:rPr>
              <a:t>КП ·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612000"/>
            <a:ext cx="8820000" cy="21600"/>
          </a:xfrm>
          <a:prstGeom prst="rect">
            <a:avLst/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0000" y="720000"/>
            <a:ext cx="4320000" cy="55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0000" y="720000"/>
            <a:ext cx="288000" cy="558000"/>
          </a:xfrm>
          <a:prstGeom prst="roundRect">
            <a:avLst>
              <a:gd name="adj" fmla="val 3000"/>
            </a:avLst>
          </a:prstGeom>
          <a:solidFill>
            <a:srgbClr val="8A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845999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oboto Mon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774000"/>
            <a:ext cx="3780000" cy="12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00">
                <a:solidFill>
                  <a:srgbClr val="2F3A48"/>
                </a:solidFill>
                <a:latin typeface="Inter"/>
              </a:rPr>
              <a:t>ПОТЕНЦИАЛ РЕГИОНА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900000"/>
            <a:ext cx="3780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A95A3"/>
                </a:solidFill>
                <a:latin typeface="Roboto Mono"/>
              </a:rPr>
              <a:t>8.7 млн чел.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1080000"/>
            <a:ext cx="37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5A3"/>
                </a:solidFill>
                <a:latin typeface="Inter"/>
              </a:rPr>
              <a:t>5 регионов: Новосибирская (2.79M), Кемеровская (2.53M), Алтайский край (2.10M), Томская (1.07M), Респ. Алтай (210K)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" y="1332000"/>
            <a:ext cx="4320000" cy="55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0000" y="1332000"/>
            <a:ext cx="288000" cy="558000"/>
          </a:xfrm>
          <a:prstGeom prst="roundRect">
            <a:avLst>
              <a:gd name="adj" fmla="val 3000"/>
            </a:avLst>
          </a:prstGeom>
          <a:solidFill>
            <a:srgbClr val="6B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0000" y="1457999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oboto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1386000"/>
            <a:ext cx="3780000" cy="12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00">
                <a:solidFill>
                  <a:srgbClr val="2F3A48"/>
                </a:solidFill>
                <a:latin typeface="Inter"/>
              </a:rPr>
              <a:t>РЫНОК ЛКМ РЕГИОНА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1512000"/>
            <a:ext cx="3780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B8FA8"/>
                </a:solidFill>
                <a:latin typeface="Roboto Mono"/>
              </a:rPr>
              <a:t>9.8 млрд 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1692000"/>
            <a:ext cx="37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5A3"/>
                </a:solidFill>
                <a:latin typeface="Inter"/>
              </a:rPr>
              <a:t>~1123 ₽/чел. × 8.7 млн = потенциал рынка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0000" y="1944000"/>
            <a:ext cx="4320000" cy="55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0000" y="1944000"/>
            <a:ext cx="288000" cy="558000"/>
          </a:xfrm>
          <a:prstGeom prst="roundRect">
            <a:avLst>
              <a:gd name="adj" fmla="val 3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" y="2069999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oboto Mono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1998000"/>
            <a:ext cx="3780000" cy="12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00">
                <a:solidFill>
                  <a:srgbClr val="2F3A48"/>
                </a:solidFill>
                <a:latin typeface="Inter"/>
              </a:rPr>
              <a:t>ДОЛЯ ЭМПИЛС (8%)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2124000"/>
            <a:ext cx="3780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Roboto Mono"/>
              </a:rPr>
              <a:t>781 млн 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2304000"/>
            <a:ext cx="37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5A3"/>
                </a:solidFill>
                <a:latin typeface="Inter"/>
              </a:rPr>
              <a:t>Средняя доля Эмпилс в РФ · Покрытие АКБ 1200 РТТ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0000" y="2556000"/>
            <a:ext cx="4320000" cy="55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80000" y="2556000"/>
            <a:ext cx="288000" cy="558000"/>
          </a:xfrm>
          <a:prstGeom prst="roundRect">
            <a:avLst>
              <a:gd name="adj" fmla="val 3000"/>
            </a:avLst>
          </a:prstGeom>
          <a:solidFill>
            <a:srgbClr val="C9A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0000" y="2681999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oboto Mono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2610000"/>
            <a:ext cx="3780000" cy="12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00">
                <a:solidFill>
                  <a:srgbClr val="2F3A48"/>
                </a:solidFill>
                <a:latin typeface="Inter"/>
              </a:rPr>
              <a:t>ОРГАНИЗАЦИЯ ПРОДАЖ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2736000"/>
            <a:ext cx="3780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9A77C"/>
                </a:solidFill>
                <a:latin typeface="Roboto Mono"/>
              </a:rPr>
              <a:t>4 ЭТП = 480 РТТ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000" y="2916000"/>
            <a:ext cx="37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5A3"/>
                </a:solidFill>
                <a:latin typeface="Inter"/>
              </a:rPr>
              <a:t>1 ЭТП = 120 РТТ · 4 ЭТП = 40 млн ₽ + ТП дистр. 20 млн 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0000" y="3168000"/>
            <a:ext cx="4320000" cy="55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80000" y="3168000"/>
            <a:ext cx="288000" cy="558000"/>
          </a:xfrm>
          <a:prstGeom prst="roundRect">
            <a:avLst>
              <a:gd name="adj" fmla="val 3000"/>
            </a:avLst>
          </a:prstGeom>
          <a:solidFill>
            <a:srgbClr val="8BA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0000" y="3293999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oboto Mono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0000" y="3222000"/>
            <a:ext cx="3780000" cy="12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00">
                <a:solidFill>
                  <a:srgbClr val="2F3A48"/>
                </a:solidFill>
                <a:latin typeface="Inter"/>
              </a:rPr>
              <a:t>ПРОГНОЗ ТОВАРООБОРОТА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000" y="3348000"/>
            <a:ext cx="3780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BAA8A"/>
                </a:solidFill>
                <a:latin typeface="Roboto Mono"/>
              </a:rPr>
              <a:t>Г1: 60 → Г3: 180 млн 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000" y="3528000"/>
            <a:ext cx="37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5A3"/>
                </a:solidFill>
                <a:latin typeface="Inter"/>
              </a:rPr>
              <a:t>Год 1: 60M · Год 2: 120M · Год 3: 180M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0000" y="3780000"/>
            <a:ext cx="4320000" cy="55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80000" y="3780000"/>
            <a:ext cx="288000" cy="558000"/>
          </a:xfrm>
          <a:prstGeom prst="roundRect">
            <a:avLst>
              <a:gd name="adj" fmla="val 3000"/>
            </a:avLst>
          </a:prstGeom>
          <a:solidFill>
            <a:srgbClr val="2F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0000" y="3905999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oboto Mono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" y="3834000"/>
            <a:ext cx="3780000" cy="12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00">
                <a:solidFill>
                  <a:srgbClr val="2F3A48"/>
                </a:solidFill>
                <a:latin typeface="Inter"/>
              </a:rPr>
              <a:t>АССОРТИМЕНТ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00" y="3960000"/>
            <a:ext cx="3780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3A48"/>
                </a:solidFill>
                <a:latin typeface="Roboto Mono"/>
              </a:rPr>
              <a:t>300 SKU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0000" y="4140000"/>
            <a:ext cx="37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5A3"/>
                </a:solidFill>
                <a:latin typeface="Inter"/>
              </a:rPr>
              <a:t>ОРЕОЛ · NEWTONE · AVANTGARDE · TITAN · PROFIWOOD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80000" y="720000"/>
            <a:ext cx="4320000" cy="19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88000" y="792000"/>
            <a:ext cx="39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C00000"/>
                </a:solidFill>
                <a:latin typeface="Inter"/>
              </a:rPr>
              <a:t>ПРОГНОЗ ТОВАРООБОРОТА ПО ГОДАМ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88000" y="954000"/>
            <a:ext cx="4104000" cy="144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40000" y="1920000"/>
            <a:ext cx="1080000" cy="420000"/>
          </a:xfrm>
          <a:prstGeom prst="roundRect">
            <a:avLst>
              <a:gd name="adj" fmla="val 5000"/>
            </a:avLst>
          </a:prstGeom>
          <a:solidFill>
            <a:srgbClr val="8A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40000" y="1758000"/>
            <a:ext cx="10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8A95A3"/>
                </a:solidFill>
                <a:latin typeface="Roboto Mono"/>
              </a:rPr>
              <a:t>60 млн 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40000" y="2358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F3A48"/>
                </a:solidFill>
                <a:latin typeface="Inter"/>
              </a:rPr>
              <a:t>Год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68000" y="2465999"/>
            <a:ext cx="122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8A95A3"/>
                </a:solidFill>
                <a:latin typeface="Inter"/>
              </a:rPr>
              <a:t>4 ЭТП + ТП дистр.
300 SKU старт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71999" y="1500000"/>
            <a:ext cx="1080000" cy="840000"/>
          </a:xfrm>
          <a:prstGeom prst="roundRect">
            <a:avLst>
              <a:gd name="adj" fmla="val 5000"/>
            </a:avLst>
          </a:prstGeom>
          <a:solidFill>
            <a:srgbClr val="C9A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71999" y="1338000"/>
            <a:ext cx="10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9A77C"/>
                </a:solidFill>
                <a:latin typeface="Roboto Mono"/>
              </a:rPr>
              <a:t>120 млн 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71999" y="2358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F3A48"/>
                </a:solidFill>
                <a:latin typeface="Inter"/>
              </a:rPr>
              <a:t>Год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9999" y="2465999"/>
            <a:ext cx="122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8A95A3"/>
                </a:solidFill>
                <a:latin typeface="Inter"/>
              </a:rPr>
              <a:t>Расширение АКБ
до 800+ РТТ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03998" y="1080000"/>
            <a:ext cx="1080000" cy="126000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03998" y="918000"/>
            <a:ext cx="10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Roboto Mono"/>
              </a:rPr>
              <a:t>180 млн 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03998" y="2358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F3A48"/>
                </a:solidFill>
                <a:latin typeface="Inter"/>
              </a:rPr>
              <a:t>Год 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1998" y="2465999"/>
            <a:ext cx="122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8A95A3"/>
                </a:solidFill>
                <a:latin typeface="Inter"/>
              </a:rPr>
              <a:t>Полное покрытие
потенциала 8%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680000" y="2880000"/>
            <a:ext cx="4320000" cy="19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88000" y="2952000"/>
            <a:ext cx="39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C00000"/>
                </a:solidFill>
                <a:latin typeface="Inter"/>
              </a:rPr>
              <a:t>КЛЮЧЕВЫЕ ПАРАМЕТРЫ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88000" y="3114000"/>
            <a:ext cx="4104000" cy="144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88000" y="3240000"/>
            <a:ext cx="21600" cy="396000"/>
          </a:xfrm>
          <a:prstGeom prst="rect">
            <a:avLst/>
          </a:prstGeom>
          <a:solidFill>
            <a:srgbClr val="8A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60000" y="3276000"/>
            <a:ext cx="180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5A3"/>
                </a:solidFill>
                <a:latin typeface="Inter"/>
              </a:rPr>
              <a:t>Население 5 регионов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60000" y="3384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A95A3"/>
                </a:solidFill>
                <a:latin typeface="Roboto Mono"/>
              </a:rPr>
              <a:t>8.7 млн чел.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76000" y="3240000"/>
            <a:ext cx="21600" cy="396000"/>
          </a:xfrm>
          <a:prstGeom prst="rect">
            <a:avLst/>
          </a:prstGeom>
          <a:solidFill>
            <a:srgbClr val="6B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48000" y="3276000"/>
            <a:ext cx="180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5A3"/>
                </a:solidFill>
                <a:latin typeface="Inter"/>
              </a:rPr>
              <a:t>Рынок ЛКМ региона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8000" y="3384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B8FA8"/>
                </a:solidFill>
                <a:latin typeface="Roboto Mono"/>
              </a:rPr>
              <a:t>9.8 млрд 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88000" y="3743999"/>
            <a:ext cx="21600" cy="396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60000" y="3779999"/>
            <a:ext cx="180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5A3"/>
                </a:solidFill>
                <a:latin typeface="Inter"/>
              </a:rPr>
              <a:t>Доля Эмпилс (8%)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60000" y="3887999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Roboto Mono"/>
              </a:rPr>
              <a:t>781 млн ₽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76000" y="3743999"/>
            <a:ext cx="21600" cy="396000"/>
          </a:xfrm>
          <a:prstGeom prst="rect">
            <a:avLst/>
          </a:prstGeom>
          <a:solidFill>
            <a:srgbClr val="C9A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48000" y="3779999"/>
            <a:ext cx="180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5A3"/>
                </a:solidFill>
                <a:latin typeface="Inter"/>
              </a:rPr>
              <a:t>АКБ партнёра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48000" y="3887999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9A77C"/>
                </a:solidFill>
                <a:latin typeface="Roboto Mono"/>
              </a:rPr>
              <a:t>1200 РТТ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88000" y="4247998"/>
            <a:ext cx="21600" cy="396000"/>
          </a:xfrm>
          <a:prstGeom prst="rect">
            <a:avLst/>
          </a:prstGeom>
          <a:solidFill>
            <a:srgbClr val="8BA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60000" y="4283998"/>
            <a:ext cx="180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5A3"/>
                </a:solidFill>
                <a:latin typeface="Inter"/>
              </a:rPr>
              <a:t>ЭТП покрытие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60000" y="4391998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BAA8A"/>
                </a:solidFill>
                <a:latin typeface="Roboto Mono"/>
              </a:rPr>
              <a:t>4 × 120 = 480 РТТ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76000" y="4247998"/>
            <a:ext cx="21600" cy="396000"/>
          </a:xfrm>
          <a:prstGeom prst="rect">
            <a:avLst/>
          </a:prstGeom>
          <a:solidFill>
            <a:srgbClr val="2F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48000" y="4283998"/>
            <a:ext cx="180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5A3"/>
                </a:solidFill>
                <a:latin typeface="Inter"/>
              </a:rPr>
              <a:t>Ассортимент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48000" y="4391998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F3A48"/>
                </a:solidFill>
                <a:latin typeface="Roboto Mono"/>
              </a:rPr>
              <a:t>300 SKU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80000" y="4860000"/>
            <a:ext cx="8820000" cy="251999"/>
          </a:xfrm>
          <a:prstGeom prst="roundRect">
            <a:avLst>
              <a:gd name="adj" fmla="val 3000"/>
            </a:avLst>
          </a:prstGeom>
          <a:solidFill>
            <a:srgbClr val="2F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88000" y="4903200"/>
            <a:ext cx="864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9A77C"/>
                </a:solidFill>
                <a:latin typeface="Roboto Mono"/>
              </a:rPr>
              <a:t>8.7 млн чел. → 9.8 млрд ₽ → 8% = 781 млн ₽ → 1200 РТТ → 4 ЭТП → Г1: 60M → Г2: 120M → Г3: 180M 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