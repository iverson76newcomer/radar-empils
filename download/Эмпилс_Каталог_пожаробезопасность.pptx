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2863" cy="5143500"/>
          </a:xfrm>
          <a:prstGeom prst="rect">
            <a:avLst/>
          </a:prstGeom>
          <a:solidFill>
            <a:srgbClr val="00A8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6806" y="571500"/>
            <a:ext cx="7144" cy="400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58986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00A8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14375" y="428625"/>
            <a:ext cx="2992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73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ТЕХНИЧЕСКИЙ КАТАЛОГ · ЭМПИЛС · ЛКМ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054020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❏</a:t>
            </a:r>
            <a:endParaRPr lang="en-US" sz="984" dirty="0"/>
          </a:p>
        </p:txBody>
      </p:sp>
      <p:sp>
        <p:nvSpPr>
          <p:cNvPr id="7" name="Text 4"/>
          <p:cNvSpPr/>
          <p:nvPr/>
        </p:nvSpPr>
        <p:spPr>
          <a:xfrm>
            <a:off x="8211183" y="428625"/>
            <a:ext cx="4913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15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071563"/>
            <a:ext cx="22860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90072" y="1075134"/>
            <a:ext cx="2278856" cy="2278856"/>
          </a:xfrm>
          <a:prstGeom prst="roundRect">
            <a:avLst>
              <a:gd name="adj" fmla="val 11703"/>
            </a:avLst>
          </a:prstGeom>
          <a:noFill/>
          <a:ln w="7144">
            <a:solidFill>
              <a:srgbClr val="1F4E79"/>
            </a:solidFill>
            <a:prstDash val="solid"/>
          </a:ln>
          <a:effectLst>
            <a:outerShdw sx="100000" sy="100000" kx="0" ky="0" algn="bl" rotWithShape="0" blurRad="304800" dist="114300" dir="540000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393656" y="1178719"/>
            <a:ext cx="2071688" cy="2071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⌂</a:t>
            </a:r>
            <a:endParaRPr lang="en-US" sz="4800" dirty="0"/>
          </a:p>
        </p:txBody>
      </p:sp>
      <p:sp>
        <p:nvSpPr>
          <p:cNvPr id="11" name="Text 7"/>
          <p:cNvSpPr/>
          <p:nvPr/>
        </p:nvSpPr>
        <p:spPr>
          <a:xfrm>
            <a:off x="6379704" y="3500438"/>
            <a:ext cx="2198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Интерьерные · Фасадные · Эмали · Огнезащита · Полы</a:t>
            </a:r>
            <a:endParaRPr lang="en-US" sz="619" dirty="0"/>
          </a:p>
        </p:txBody>
      </p:sp>
      <p:sp>
        <p:nvSpPr>
          <p:cNvPr id="12" name="Text 8"/>
          <p:cNvSpPr/>
          <p:nvPr/>
        </p:nvSpPr>
        <p:spPr>
          <a:xfrm>
            <a:off x="8472488" y="350936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13" name="Text 9"/>
          <p:cNvSpPr/>
          <p:nvPr/>
        </p:nvSpPr>
        <p:spPr>
          <a:xfrm>
            <a:off x="571500" y="1571625"/>
            <a:ext cx="5400675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20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Каталог продуктов Эмпилс</a:t>
            </a:r>
            <a:endParaRPr lang="en-US" sz="2025" dirty="0"/>
          </a:p>
        </p:txBody>
      </p:sp>
      <p:sp>
        <p:nvSpPr>
          <p:cNvPr id="14" name="Text 10"/>
          <p:cNvSpPr/>
          <p:nvPr/>
        </p:nvSpPr>
        <p:spPr>
          <a:xfrm>
            <a:off x="571500" y="1983060"/>
            <a:ext cx="4572000" cy="424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Применение ЛКМ в жилищном строительстве с учётом классов пожароопасности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571500" y="2575992"/>
            <a:ext cx="400050" cy="21431"/>
          </a:xfrm>
          <a:prstGeom prst="rect">
            <a:avLst/>
          </a:prstGeom>
          <a:solidFill>
            <a:srgbClr val="00A8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71500" y="276172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742950" y="2754585"/>
            <a:ext cx="10419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Все классы этажности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803462" y="276172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9" name="Text 15"/>
          <p:cNvSpPr/>
          <p:nvPr/>
        </p:nvSpPr>
        <p:spPr>
          <a:xfrm>
            <a:off x="1974912" y="2754585"/>
            <a:ext cx="8261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КМ1 · Г1 · В1 · НГ</a:t>
            </a:r>
            <a:endParaRPr lang="en-US" sz="675" dirty="0"/>
          </a:p>
        </p:txBody>
      </p:sp>
      <p:sp>
        <p:nvSpPr>
          <p:cNvPr id="20" name="Text 16"/>
          <p:cNvSpPr/>
          <p:nvPr/>
        </p:nvSpPr>
        <p:spPr>
          <a:xfrm>
            <a:off x="2851249" y="276172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3022699" y="2754585"/>
            <a:ext cx="11848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Сертификаты соответствия</a:t>
            </a:r>
            <a:endParaRPr lang="en-US" sz="675" dirty="0"/>
          </a:p>
        </p:txBody>
      </p:sp>
      <p:sp>
        <p:nvSpPr>
          <p:cNvPr id="22" name="Shape 18"/>
          <p:cNvSpPr/>
          <p:nvPr/>
        </p:nvSpPr>
        <p:spPr>
          <a:xfrm>
            <a:off x="571500" y="4461272"/>
            <a:ext cx="80010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1500" y="46041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4" name="Text 20"/>
          <p:cNvSpPr/>
          <p:nvPr/>
        </p:nvSpPr>
        <p:spPr>
          <a:xfrm>
            <a:off x="785813" y="4593431"/>
            <a:ext cx="26093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 основании ФЗ-123 и сертификатов соответствия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618251" y="461129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6" name="Text 22"/>
          <p:cNvSpPr/>
          <p:nvPr/>
        </p:nvSpPr>
        <p:spPr>
          <a:xfrm>
            <a:off x="7782077" y="4593431"/>
            <a:ext cx="79804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Сентябрь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81795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571500" y="289322"/>
            <a:ext cx="16593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ЛЕГЕНДА · 02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428625"/>
            <a:ext cx="19223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spc="-16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читать каталог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7211026" y="475059"/>
            <a:ext cx="1532924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ФЗ-123 · КМ-классы · Этажность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89875" y="63222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7404992" y="621506"/>
            <a:ext cx="133895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Светофорная кодировка применения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03622" y="939403"/>
            <a:ext cx="4107656" cy="2564606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1494" y="10733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707231" y="1057275"/>
            <a:ext cx="36861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Цветовая кодировка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521494" y="1367582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8FB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8644" y="1439019"/>
            <a:ext cx="228600" cy="228600"/>
          </a:xfrm>
          <a:prstGeom prst="ellipse">
            <a:avLst/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7934" y="1478310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E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92969" y="1424732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 использовать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2969" y="1564035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Полностью соответствует требованиям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1494" y="1895326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8644" y="1966764"/>
            <a:ext cx="228600" cy="228600"/>
          </a:xfrm>
          <a:prstGeom prst="ellipse">
            <a:avLst/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7934" y="2006054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F36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92969" y="1952476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2969" y="2091779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для конкретных зон / этажей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1494" y="2423071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F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8644" y="2494508"/>
            <a:ext cx="228600" cy="228600"/>
          </a:xfrm>
          <a:prstGeom prst="ellipse">
            <a:avLst/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7934" y="2533799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71C1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✗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2969" y="2480221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 использовать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92969" y="2619524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Запрещено нормами пожарной безопасности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1494" y="2950815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78644" y="3022253"/>
            <a:ext cx="228600" cy="228600"/>
          </a:xfrm>
          <a:prstGeom prst="ellipse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8644" y="3022253"/>
            <a:ext cx="271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2969" y="3007965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92969" y="3147268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Продукт не предназначен для данной зоны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32722" y="939403"/>
            <a:ext cx="4107656" cy="2564606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50594" y="10733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4936331" y="1057275"/>
            <a:ext cx="36861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Классы пожароопасности (ФЗ-123)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4750594" y="14383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50594" y="1448842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79206" y="1477417"/>
            <a:ext cx="1564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слабогорючие </a:t>
            </a:r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(лучший для горючих)</a:t>
            </a:r>
            <a:endParaRPr lang="en-US" sz="619" dirty="0"/>
          </a:p>
        </p:txBody>
      </p:sp>
      <p:sp>
        <p:nvSpPr>
          <p:cNvPr id="38" name="Text 36"/>
          <p:cNvSpPr/>
          <p:nvPr/>
        </p:nvSpPr>
        <p:spPr>
          <a:xfrm>
            <a:off x="6729413" y="14383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29413" y="1448842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58025" y="1477417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трудновоспламеняемые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0594" y="19464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50594" y="1956941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79206" y="1985516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малодымообразующие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29413" y="19464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729413" y="1956941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58025" y="1985516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малотоксичные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50594" y="2454539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50594" y="2465040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РП1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79206" y="2493615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распр. пламя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29413" y="2454539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729413" y="2465040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058025" y="2493615"/>
            <a:ext cx="1564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комбин.: Г1+В1+Д1+Т1+РП1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50594" y="2860179"/>
            <a:ext cx="38719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0594" y="3055507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ECEFF1"/>
          </a:solidFill>
          <a:ln w="7144">
            <a:solidFill>
              <a:srgbClr val="CFD8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50594" y="3066008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НГ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79206" y="3094583"/>
            <a:ext cx="3543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негорючие — 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для зданий &gt;17 этажей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00050" y="36379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58" name="Text 56"/>
          <p:cNvSpPr/>
          <p:nvPr/>
        </p:nvSpPr>
        <p:spPr>
          <a:xfrm>
            <a:off x="585788" y="3621881"/>
            <a:ext cx="171115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Этажность жилых зданий</a:t>
            </a:r>
            <a:endParaRPr lang="en-US" sz="844" dirty="0"/>
          </a:p>
        </p:txBody>
      </p:sp>
      <p:sp>
        <p:nvSpPr>
          <p:cNvPr id="59" name="Text 57"/>
          <p:cNvSpPr/>
          <p:nvPr/>
        </p:nvSpPr>
        <p:spPr>
          <a:xfrm>
            <a:off x="2011859" y="3648670"/>
            <a:ext cx="67320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требования ужесточаются с ростом этажности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00050" y="3854053"/>
            <a:ext cx="2724113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00050" y="3857625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20591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00050" y="4379119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4338" y="3854053"/>
            <a:ext cx="0" cy="528638"/>
          </a:xfrm>
          <a:prstGeom prst="line">
            <a:avLst/>
          </a:prstGeom>
          <a:noFill/>
          <a:ln w="28575">
            <a:solidFill>
              <a:srgbClr val="00A85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4350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14350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≤9</a:t>
            </a:r>
            <a:endParaRPr lang="en-US" sz="1013" dirty="0"/>
          </a:p>
        </p:txBody>
      </p:sp>
      <p:sp>
        <p:nvSpPr>
          <p:cNvPr id="67" name="Text 65"/>
          <p:cNvSpPr/>
          <p:nvPr/>
        </p:nvSpPr>
        <p:spPr>
          <a:xfrm>
            <a:off x="942975" y="3993691"/>
            <a:ext cx="111785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 9 этажей (≤28 м)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942975" y="4132994"/>
            <a:ext cx="1049182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самые мягкие требования</a:t>
            </a:r>
            <a:endParaRPr lang="en-US" sz="619" dirty="0"/>
          </a:p>
        </p:txBody>
      </p:sp>
      <p:sp>
        <p:nvSpPr>
          <p:cNvPr id="69" name="Text 67"/>
          <p:cNvSpPr/>
          <p:nvPr/>
        </p:nvSpPr>
        <p:spPr>
          <a:xfrm>
            <a:off x="3209888" y="3854053"/>
            <a:ext cx="2724113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3209888" y="3857625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30429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9888" y="4379119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24175" y="3854053"/>
            <a:ext cx="0" cy="528638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24188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324188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98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9–17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752813" y="3993691"/>
            <a:ext cx="116429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9–17 этажей (28–50 м)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752813" y="4132994"/>
            <a:ext cx="1271588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строже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019726" y="3854053"/>
            <a:ext cx="2724224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6019726" y="3857625"/>
            <a:ext cx="2724224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40378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19726" y="4379119"/>
            <a:ext cx="2724224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34013" y="3854053"/>
            <a:ext cx="0" cy="528638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34026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134026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&gt;17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562651" y="3993691"/>
            <a:ext cx="120020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Выше 17 этажей (&gt;50 м)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562651" y="4132994"/>
            <a:ext cx="1178384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НГ на путях эвакуации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89296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607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" name="Text 2"/>
          <p:cNvSpPr/>
          <p:nvPr/>
        </p:nvSpPr>
        <p:spPr>
          <a:xfrm>
            <a:off x="557213" y="257175"/>
            <a:ext cx="5129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03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392906"/>
            <a:ext cx="6766560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spc="-16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NEWTONE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400050" y="664369"/>
            <a:ext cx="570928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 модификации: INTERIO, LOTUS 3, LOTUS 7, LOTUS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80649" y="257175"/>
            <a:ext cx="156330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26062" y="395192"/>
            <a:ext cx="1340748" cy="224028"/>
          </a:xfrm>
          <a:prstGeom prst="roundRect">
            <a:avLst>
              <a:gd name="adj" fmla="val 25510"/>
            </a:avLst>
          </a:prstGeom>
          <a:solidFill>
            <a:srgbClr val="E3F2FD"/>
          </a:solidFill>
          <a:ln w="7144">
            <a:solidFill>
              <a:srgbClr val="90CAF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70378" y="457200"/>
            <a:ext cx="98070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Д2, Т2, РП1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7541791" y="45720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11" name="Text 9"/>
          <p:cNvSpPr/>
          <p:nvPr/>
        </p:nvSpPr>
        <p:spPr>
          <a:xfrm>
            <a:off x="7226177" y="650081"/>
            <a:ext cx="15177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показатели применения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3622" y="1014413"/>
            <a:ext cx="2064544" cy="1336216"/>
          </a:xfrm>
          <a:prstGeom prst="roundRect">
            <a:avLst>
              <a:gd name="adj" fmla="val 8554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11978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117997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1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307306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сертификата: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206" y="1457660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Д-RU.PA01.B.00924/23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7206" y="1596963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Д-RU.PA01.B.00925/23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7206" y="1736266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Д-RU.PA01.B.00923/23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7206" y="1875569"/>
            <a:ext cx="1857375" cy="16902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Д-RU.RA01.B.00926/23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7206" y="2075594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206" y="214881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635794" y="2136316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 19.06.2028</a:t>
            </a:r>
            <a:endParaRPr lang="en-US" sz="8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2439925"/>
            <a:ext cx="2071688" cy="81795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03622" y="2443497"/>
            <a:ext cx="2064544" cy="810816"/>
          </a:xfrm>
          <a:prstGeom prst="roundRect">
            <a:avLst>
              <a:gd name="adj" fmla="val 14097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07206" y="254886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678656" y="2547082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1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МОДИФИКАЦИИ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07206" y="2710531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20780" y="2779254"/>
            <a:ext cx="416905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INTERIO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50069" y="277568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0" name="Text 27"/>
          <p:cNvSpPr/>
          <p:nvPr/>
        </p:nvSpPr>
        <p:spPr>
          <a:xfrm>
            <a:off x="1457325" y="2710531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1586185" y="2779254"/>
            <a:ext cx="38633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1565C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LOTUS 3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1500188" y="277568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3" name="Text 30"/>
          <p:cNvSpPr/>
          <p:nvPr/>
        </p:nvSpPr>
        <p:spPr>
          <a:xfrm>
            <a:off x="507206" y="2946274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36066" y="3014997"/>
            <a:ext cx="38633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1565C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LOTUS 7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550069" y="301142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6" name="Text 33"/>
          <p:cNvSpPr/>
          <p:nvPr/>
        </p:nvSpPr>
        <p:spPr>
          <a:xfrm>
            <a:off x="1457325" y="2946274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1579798" y="3014997"/>
            <a:ext cx="44208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1565C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LOTUS 20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1500188" y="301142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9" name="Text 36"/>
          <p:cNvSpPr/>
          <p:nvPr/>
        </p:nvSpPr>
        <p:spPr>
          <a:xfrm>
            <a:off x="2589609" y="1014413"/>
            <a:ext cx="6150769" cy="2603897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707481" y="11447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2878931" y="1132284"/>
            <a:ext cx="15737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633208" y="1148358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07481" y="1357313"/>
          <a:ext cx="5915025" cy="914400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(только 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(только 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4" name="Text 40"/>
          <p:cNvSpPr/>
          <p:nvPr/>
        </p:nvSpPr>
        <p:spPr>
          <a:xfrm>
            <a:off x="2707481" y="340399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44" dirty="0"/>
          </a:p>
        </p:txBody>
      </p:sp>
      <p:sp>
        <p:nvSpPr>
          <p:cNvPr id="45" name="Text 41"/>
          <p:cNvSpPr/>
          <p:nvPr/>
        </p:nvSpPr>
        <p:spPr>
          <a:xfrm>
            <a:off x="2836069" y="3393281"/>
            <a:ext cx="578643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 зонах &gt;17 этажей на путях эвакуации — только материалы класса НГ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400050" y="3721894"/>
            <a:ext cx="8343900" cy="300038"/>
          </a:xfrm>
          <a:prstGeom prst="roundRect">
            <a:avLst>
              <a:gd name="adj" fmla="val 25397"/>
            </a:avLst>
          </a:prstGeom>
          <a:solidFill>
            <a:srgbClr val="1F4E79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3"/>
          <p:cNvSpPr/>
          <p:nvPr/>
        </p:nvSpPr>
        <p:spPr>
          <a:xfrm>
            <a:off x="410766" y="3721894"/>
            <a:ext cx="0" cy="300038"/>
          </a:xfrm>
          <a:prstGeom prst="line">
            <a:avLst/>
          </a:prstGeom>
          <a:noFill/>
          <a:ln w="21431">
            <a:solidFill>
              <a:srgbClr val="1F4E79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07206" y="38076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266" dirty="0"/>
          </a:p>
        </p:txBody>
      </p:sp>
      <p:sp>
        <p:nvSpPr>
          <p:cNvPr id="49" name="Text 45"/>
          <p:cNvSpPr/>
          <p:nvPr/>
        </p:nvSpPr>
        <p:spPr>
          <a:xfrm>
            <a:off x="721519" y="3807619"/>
            <a:ext cx="793670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Премиальная интерьерная ВД-краска. Стены и потолки жилых, общественных, офисных помещений.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89296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607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" name="Text 2"/>
          <p:cNvSpPr/>
          <p:nvPr/>
        </p:nvSpPr>
        <p:spPr>
          <a:xfrm>
            <a:off x="557213" y="257175"/>
            <a:ext cx="5129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04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392906"/>
            <a:ext cx="5815013" cy="24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spc="-16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 интерьерная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400050" y="664369"/>
            <a:ext cx="570928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ВД-краска полиакриловая для внутренних работ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06869" y="257175"/>
            <a:ext cx="193708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42857" y="410766"/>
            <a:ext cx="1597521" cy="192881"/>
          </a:xfrm>
          <a:prstGeom prst="roundRect">
            <a:avLst>
              <a:gd name="adj" fmla="val 29630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60741" y="457200"/>
            <a:ext cx="1290340" cy="128016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Д1, Т1, РП1)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7232154" y="45720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11" name="Text 9"/>
          <p:cNvSpPr/>
          <p:nvPr/>
        </p:nvSpPr>
        <p:spPr>
          <a:xfrm>
            <a:off x="7010912" y="650081"/>
            <a:ext cx="173303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лучше стандартных требований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3622" y="1014413"/>
            <a:ext cx="2064544" cy="1211200"/>
          </a:xfrm>
          <a:prstGeom prst="roundRect">
            <a:avLst>
              <a:gd name="adj" fmla="val 943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11978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117997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1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307306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Сертификат: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206" y="1457660"/>
            <a:ext cx="1857375" cy="15473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Д-RU.PA01.B.00164/23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7206" y="1643397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206" y="1639825"/>
            <a:ext cx="1857375" cy="279749"/>
          </a:xfrm>
          <a:prstGeom prst="rect">
            <a:avLst/>
          </a:prstGeom>
          <a:noFill/>
          <a:ln/>
        </p:spPr>
        <p:txBody>
          <a:bodyPr wrap="square" lIns="0" tIns="42863" rIns="0" bIns="0" rtlCol="0" anchor="t">
            <a:norm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ОРЕОЛ белая моющаяся</a:t>
            </a:r>
            <a:endParaRPr lang="en-US" sz="800" dirty="0"/>
          </a:p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 полиакриловая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7206" y="1950579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206" y="202380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635794" y="2011300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 05.02.2028</a:t>
            </a:r>
            <a:endParaRPr lang="en-US" sz="8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2314910"/>
            <a:ext cx="2071688" cy="74652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03622" y="2318482"/>
            <a:ext cx="2064544" cy="739378"/>
          </a:xfrm>
          <a:prstGeom prst="roundRect">
            <a:avLst>
              <a:gd name="adj" fmla="val 15459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07206" y="242385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678656" y="2422066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1" kern="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ПРЕИМУЩЕСТВО КМ1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7206" y="2585515"/>
            <a:ext cx="590476" cy="216027"/>
          </a:xfrm>
          <a:prstGeom prst="roundRect">
            <a:avLst>
              <a:gd name="adj" fmla="val 17637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07206" y="2597088"/>
            <a:ext cx="59047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40544" y="2585515"/>
            <a:ext cx="590587" cy="216027"/>
          </a:xfrm>
          <a:prstGeom prst="roundRect">
            <a:avLst>
              <a:gd name="adj" fmla="val 17637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1140544" y="2597088"/>
            <a:ext cx="59058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73994" y="2585515"/>
            <a:ext cx="590476" cy="216027"/>
          </a:xfrm>
          <a:prstGeom prst="roundRect">
            <a:avLst>
              <a:gd name="adj" fmla="val 17637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1773994" y="2597088"/>
            <a:ext cx="59047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РП1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07206" y="2847119"/>
            <a:ext cx="193167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вместо стандартных Д2 / Т2 / РП2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589609" y="1014413"/>
            <a:ext cx="6150769" cy="2603897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2707481" y="11447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2878931" y="1132284"/>
            <a:ext cx="15737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633208" y="1148358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07481" y="1357313"/>
          <a:ext cx="5915025" cy="914400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2707481" y="340399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44" dirty="0"/>
          </a:p>
        </p:txBody>
      </p:sp>
      <p:sp>
        <p:nvSpPr>
          <p:cNvPr id="39" name="Text 35"/>
          <p:cNvSpPr/>
          <p:nvPr/>
        </p:nvSpPr>
        <p:spPr>
          <a:xfrm>
            <a:off x="2836069" y="3393281"/>
            <a:ext cx="578643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 зонах &gt;17 этажей на путях эвакуации — только материалы класса НГ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00050" y="3721894"/>
            <a:ext cx="8343900" cy="300038"/>
          </a:xfrm>
          <a:prstGeom prst="roundRect">
            <a:avLst>
              <a:gd name="adj" fmla="val 25397"/>
            </a:avLst>
          </a:prstGeom>
          <a:solidFill>
            <a:srgbClr val="00A859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7"/>
          <p:cNvSpPr/>
          <p:nvPr/>
        </p:nvSpPr>
        <p:spPr>
          <a:xfrm>
            <a:off x="410766" y="3721894"/>
            <a:ext cx="0" cy="300038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07206" y="38076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266" dirty="0"/>
          </a:p>
        </p:txBody>
      </p:sp>
      <p:sp>
        <p:nvSpPr>
          <p:cNvPr id="43" name="Text 39"/>
          <p:cNvSpPr/>
          <p:nvPr/>
        </p:nvSpPr>
        <p:spPr>
          <a:xfrm>
            <a:off x="721519" y="3807619"/>
            <a:ext cx="793670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Класс КМ1 — лучше стандартных требований. Д1/Т1/РП1 вместо Д2/Т2/РП2.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89296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607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" name="Text 2"/>
          <p:cNvSpPr/>
          <p:nvPr/>
        </p:nvSpPr>
        <p:spPr>
          <a:xfrm>
            <a:off x="557213" y="257175"/>
            <a:ext cx="5129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05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392906"/>
            <a:ext cx="5550694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spc="-16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 моющаяся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400050" y="664369"/>
            <a:ext cx="52863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Интерьерная моющаяся ВД-краска для кухонь, прихожих, коридоров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06869" y="257175"/>
            <a:ext cx="193708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42857" y="410766"/>
            <a:ext cx="1597521" cy="192881"/>
          </a:xfrm>
          <a:prstGeom prst="roundRect">
            <a:avLst>
              <a:gd name="adj" fmla="val 29630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60741" y="457200"/>
            <a:ext cx="1290340" cy="128016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Д1, Т1, РП1)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7232154" y="45720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11" name="Text 9"/>
          <p:cNvSpPr/>
          <p:nvPr/>
        </p:nvSpPr>
        <p:spPr>
          <a:xfrm>
            <a:off x="7059052" y="650081"/>
            <a:ext cx="168489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устойчива к мытью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3622" y="1014413"/>
            <a:ext cx="2064544" cy="1057610"/>
          </a:xfrm>
          <a:prstGeom prst="roundRect">
            <a:avLst>
              <a:gd name="adj" fmla="val 1080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11978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117997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1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307306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сертификата: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206" y="1457660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Д-RU.PA01.B.00164/23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7206" y="1596963"/>
            <a:ext cx="1857375" cy="16902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Д-RU.RA01.B.03124/21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7206" y="1796988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206" y="18702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635794" y="1857710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 05.02.2028 / 2026 г.</a:t>
            </a:r>
            <a:endParaRPr lang="en-US" sz="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2161319"/>
            <a:ext cx="2071688" cy="76080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03622" y="2164891"/>
            <a:ext cx="2064544" cy="753666"/>
          </a:xfrm>
          <a:prstGeom prst="roundRect">
            <a:avLst>
              <a:gd name="adj" fmla="val 15166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07206" y="227026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678656" y="2268475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1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7206" y="2433639"/>
            <a:ext cx="325375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07206" y="2443497"/>
            <a:ext cx="325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Кухни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75444" y="2433639"/>
            <a:ext cx="468139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875444" y="2443497"/>
            <a:ext cx="46813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Прихожие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386446" y="2433639"/>
            <a:ext cx="482761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386446" y="2443497"/>
            <a:ext cx="48276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Коридоры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912069" y="2433639"/>
            <a:ext cx="398041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1904486" y="2443497"/>
            <a:ext cx="4132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Детские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4346" y="2640808"/>
            <a:ext cx="902412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07206" y="2650666"/>
            <a:ext cx="85669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Места общего польз.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589609" y="1014413"/>
            <a:ext cx="6150769" cy="2603897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2707481" y="11447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2878931" y="1132284"/>
            <a:ext cx="15737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633208" y="1148358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07481" y="1357313"/>
          <a:ext cx="5915025" cy="914400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0" name="Text 36"/>
          <p:cNvSpPr/>
          <p:nvPr/>
        </p:nvSpPr>
        <p:spPr>
          <a:xfrm>
            <a:off x="2707481" y="340399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44" dirty="0"/>
          </a:p>
        </p:txBody>
      </p:sp>
      <p:sp>
        <p:nvSpPr>
          <p:cNvPr id="41" name="Text 37"/>
          <p:cNvSpPr/>
          <p:nvPr/>
        </p:nvSpPr>
        <p:spPr>
          <a:xfrm>
            <a:off x="2836069" y="3393281"/>
            <a:ext cx="578643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 зонах &gt;17 этажей на путях эвакуации — только материалы класса НГ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00050" y="3721894"/>
            <a:ext cx="8343900" cy="300038"/>
          </a:xfrm>
          <a:prstGeom prst="roundRect">
            <a:avLst>
              <a:gd name="adj" fmla="val 25397"/>
            </a:avLst>
          </a:prstGeom>
          <a:solidFill>
            <a:srgbClr val="00A859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39"/>
          <p:cNvSpPr/>
          <p:nvPr/>
        </p:nvSpPr>
        <p:spPr>
          <a:xfrm>
            <a:off x="410766" y="3721894"/>
            <a:ext cx="0" cy="300038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07206" y="38076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266" dirty="0"/>
          </a:p>
        </p:txBody>
      </p:sp>
      <p:sp>
        <p:nvSpPr>
          <p:cNvPr id="45" name="Text 41"/>
          <p:cNvSpPr/>
          <p:nvPr/>
        </p:nvSpPr>
        <p:spPr>
          <a:xfrm>
            <a:off x="721519" y="3807619"/>
            <a:ext cx="793670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Устойчива к мытью. Для кухонь, прихожих, детских комнат, мест общего пользования.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932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1053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4" name="Text 2"/>
          <p:cNvSpPr/>
          <p:nvPr/>
        </p:nvSpPr>
        <p:spPr>
          <a:xfrm>
            <a:off x="614363" y="100013"/>
            <a:ext cx="282727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КАТАЛОГ ЭМПИЛС · ЖИЛИЩНОЕ СТРОИТЕЛЬСТВО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036594" y="105370"/>
            <a:ext cx="116459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ЛКМ · ФЗ-123 · Классы КМ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188247" y="75652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85725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1128713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482203"/>
            <a:ext cx="3409164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68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ПОТОЛОЧНАЯ КРАСКА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625078"/>
            <a:ext cx="3230091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 полиакрил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400050" y="878681"/>
            <a:ext cx="332238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Потолочная ВД-краска (полиакрил)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412868" y="617934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34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42222" y="762295"/>
            <a:ext cx="1524588" cy="289922"/>
          </a:xfrm>
          <a:prstGeom prst="roundRect">
            <a:avLst>
              <a:gd name="adj" fmla="val 1971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65082" y="775097"/>
            <a:ext cx="1478868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· Г1 В1 Д1 Т1 РП1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250156"/>
            <a:ext cx="2850356" cy="1267123"/>
          </a:xfrm>
          <a:prstGeom prst="roundRect">
            <a:avLst>
              <a:gd name="adj" fmla="val 902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403747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610916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Рег. №: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610916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Д-RU.PA01.B.00164/23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768748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0584" y="1768748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00A8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05.02.2028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550069" y="2015877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069" y="2105174"/>
            <a:ext cx="255746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Соответствие ФЗ-123 подтверждено декларацией. Класс КМ1 превышает базовые требования для жилых зданий.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3622" y="2638723"/>
            <a:ext cx="2850356" cy="966192"/>
          </a:xfrm>
          <a:prstGeom prst="roundRect">
            <a:avLst>
              <a:gd name="adj" fmla="val 11830"/>
            </a:avLst>
          </a:prstGeom>
          <a:solidFill>
            <a:srgbClr val="E3F2FD"/>
          </a:solidFill>
          <a:ln w="7144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0069" y="27851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735806" y="2792313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 ПРОДУКТА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0069" y="2970907"/>
            <a:ext cx="255746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Водно-дисперсионная полиакриловая краска. Назначение — </a:t>
            </a:r>
            <a:pPr algn="l" indent="0" marL="0">
              <a:lnSpc>
                <a:spcPts val="1280"/>
              </a:lnSpc>
              <a:buNone/>
            </a:pPr>
            <a:r>
              <a:rPr lang="en-US" sz="800" b="1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потолки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 Глубокоматовая фактура без бликов.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03997" y="1250156"/>
            <a:ext cx="5336381" cy="3303984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50444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3736181" y="1403747"/>
            <a:ext cx="1887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40091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440091" y="1403747"/>
            <a:ext cx="61722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11578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911578" y="1403747"/>
            <a:ext cx="79613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Ограничения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34213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634213" y="1403747"/>
            <a:ext cx="57414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21439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121439" y="1403747"/>
            <a:ext cx="472492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прим.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0444" y="1610916"/>
          <a:ext cx="5043488" cy="914400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0" name="Text 37"/>
          <p:cNvSpPr/>
          <p:nvPr/>
        </p:nvSpPr>
        <p:spPr>
          <a:xfrm>
            <a:off x="3550444" y="43005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984" dirty="0"/>
          </a:p>
        </p:txBody>
      </p:sp>
      <p:sp>
        <p:nvSpPr>
          <p:cNvPr id="41" name="Text 38"/>
          <p:cNvSpPr/>
          <p:nvPr/>
        </p:nvSpPr>
        <p:spPr>
          <a:xfrm>
            <a:off x="3707606" y="4293394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Для зданий &gt;17 этажей на путях эвакуации требуются материалы класса </a:t>
            </a:r>
            <a:pPr algn="l"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НГ (негорючие)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00050" y="4672013"/>
            <a:ext cx="8343900" cy="328613"/>
          </a:xfrm>
          <a:prstGeom prst="roundRect">
            <a:avLst>
              <a:gd name="adj" fmla="val 2318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414338" y="4672013"/>
            <a:ext cx="0" cy="328613"/>
          </a:xfrm>
          <a:prstGeom prst="line">
            <a:avLst/>
          </a:prstGeom>
          <a:noFill/>
          <a:ln w="28575">
            <a:solidFill>
              <a:srgbClr val="00A85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71500" y="47577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45" name="Text 42"/>
          <p:cNvSpPr/>
          <p:nvPr/>
        </p:nvSpPr>
        <p:spPr>
          <a:xfrm>
            <a:off x="814388" y="4767560"/>
            <a:ext cx="7786688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Назначение.</a:t>
            </a:r>
            <a:pPr algn="l" indent="0" marL="0">
              <a:lnSpc>
                <a:spcPts val="108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Специально для потолков. Глубокоматовая, не бликует. Для всех типов жилых и общественных зданий до 17 этажей.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932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1053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4" name="Text 2"/>
          <p:cNvSpPr/>
          <p:nvPr/>
        </p:nvSpPr>
        <p:spPr>
          <a:xfrm>
            <a:off x="614363" y="100013"/>
            <a:ext cx="282727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КАТАЛОГ ЭМПИЛС · ЖИЛИЩНОЕ СТРОИТЕЛЬСТВО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036594" y="105370"/>
            <a:ext cx="116459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ЛКМ · ФЗ-123 · Классы КМ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188247" y="75652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85725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1128713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482203"/>
            <a:ext cx="3297261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68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ФАСАДНАЯ КРАСКА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625078"/>
            <a:ext cx="3134806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 фасадная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400050" y="878681"/>
            <a:ext cx="322437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Фасадная ВД-краска для наружных работ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412868" y="617934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34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787009" y="778669"/>
            <a:ext cx="1953369" cy="257175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83437" y="775097"/>
            <a:ext cx="1960513" cy="264319"/>
          </a:xfrm>
          <a:prstGeom prst="rect">
            <a:avLst/>
          </a:prstGeom>
          <a:noFill/>
          <a:ln/>
        </p:spPr>
        <p:txBody>
          <a:bodyPr wrap="none" lIns="100013" tIns="50006" rIns="100013" bIns="50006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В1 · Д2 · Т2 · РП1 (КМ1)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250156"/>
            <a:ext cx="2850356" cy="1424955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403747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610916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Рег. №: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610916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Д-RU.RA01.B.03123/21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768748"/>
            <a:ext cx="209579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05134" y="1768748"/>
            <a:ext cx="55741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135-2018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550069" y="1926580"/>
            <a:ext cx="2151720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95011" y="1926580"/>
            <a:ext cx="433586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00A8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 г.</a:t>
            </a:r>
            <a:endParaRPr lang="en-US" sz="731" dirty="0"/>
          </a:p>
        </p:txBody>
      </p:sp>
      <p:sp>
        <p:nvSpPr>
          <p:cNvPr id="24" name="Shape 22"/>
          <p:cNvSpPr/>
          <p:nvPr/>
        </p:nvSpPr>
        <p:spPr>
          <a:xfrm>
            <a:off x="550069" y="2173709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069" y="2263006"/>
            <a:ext cx="255746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Продукт: Краска фасадная СТО 135-2018. Атмосферостойкая, для наружных работ.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3622" y="2796555"/>
            <a:ext cx="2850356" cy="784027"/>
          </a:xfrm>
          <a:prstGeom prst="roundRect">
            <a:avLst>
              <a:gd name="adj" fmla="val 14579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0069" y="294300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735806" y="2950146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УЛУЧШЕНИЕ ПО СЕРТИФИКАТУ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50616" y="3150171"/>
            <a:ext cx="1902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b="1" strike="sngStrike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98849" y="315943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2540943" y="3150171"/>
            <a:ext cx="1902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b="1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0069" y="3319835"/>
            <a:ext cx="26671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улучшено по сертификату соответствия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03997" y="1250156"/>
            <a:ext cx="5336381" cy="3303984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50444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3736181" y="1403747"/>
            <a:ext cx="1887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40091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440091" y="1403747"/>
            <a:ext cx="61722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11578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11578" y="1403747"/>
            <a:ext cx="79613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Ограничения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634213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634213" y="1403747"/>
            <a:ext cx="57414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21439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121439" y="1403747"/>
            <a:ext cx="472492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прим.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0444" y="1610916"/>
          <a:ext cx="5043488" cy="914400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45" name="Text 42"/>
          <p:cNvSpPr/>
          <p:nvPr/>
        </p:nvSpPr>
        <p:spPr>
          <a:xfrm>
            <a:off x="3550444" y="43005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984" dirty="0"/>
          </a:p>
        </p:txBody>
      </p:sp>
      <p:sp>
        <p:nvSpPr>
          <p:cNvPr id="46" name="Text 43"/>
          <p:cNvSpPr/>
          <p:nvPr/>
        </p:nvSpPr>
        <p:spPr>
          <a:xfrm>
            <a:off x="3707606" y="4293394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⚠ «Жилые комнаты» помечены ограничением — продукт предназначен только для </a:t>
            </a:r>
            <a:pPr algn="l"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наружных фасадов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00050" y="4672013"/>
            <a:ext cx="8343900" cy="328613"/>
          </a:xfrm>
          <a:prstGeom prst="roundRect">
            <a:avLst>
              <a:gd name="adj" fmla="val 23188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5"/>
          <p:cNvSpPr/>
          <p:nvPr/>
        </p:nvSpPr>
        <p:spPr>
          <a:xfrm>
            <a:off x="414338" y="4672013"/>
            <a:ext cx="0" cy="328613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71500" y="47577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50" name="Text 47"/>
          <p:cNvSpPr/>
          <p:nvPr/>
        </p:nvSpPr>
        <p:spPr>
          <a:xfrm>
            <a:off x="814388" y="4767560"/>
            <a:ext cx="7786688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 В</a:t>
            </a:r>
            <a:pPr algn="l" indent="0" marL="0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FF98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FF98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→В</a:t>
            </a:r>
            <a:pPr algn="l" indent="0" marL="0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FF98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FF98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улучшено по сертификату!</a:t>
            </a:r>
            <a:pPr algn="l" indent="0" marL="0">
              <a:lnSpc>
                <a:spcPts val="108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Для наружных фасадов зданий любой этажности. Атмосферостойкая.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932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1053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4" name="Text 2"/>
          <p:cNvSpPr/>
          <p:nvPr/>
        </p:nvSpPr>
        <p:spPr>
          <a:xfrm>
            <a:off x="614363" y="100013"/>
            <a:ext cx="282727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КАТАЛОГ ЭМПИЛС · ЖИЛИЩНОЕ СТРОИТЕЛЬСТВО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036594" y="105370"/>
            <a:ext cx="116459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ЛКМ · ФЗ-123 · Классы КМ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188247" y="75652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85725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1150144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518703"/>
            <a:ext cx="4655129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68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ЭМАЛЬ ДЛЯ РАДИАТОРОВ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661578"/>
            <a:ext cx="4604861" cy="2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575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для радиаторов акриловая ОРЕОЛ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400050" y="900113"/>
            <a:ext cx="418623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Акриловая ВД-эмаль для радиаторов отопления, труб, металлических элементов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412868" y="482203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34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61619" y="626564"/>
            <a:ext cx="1705191" cy="289922"/>
          </a:xfrm>
          <a:prstGeom prst="roundRect">
            <a:avLst>
              <a:gd name="adj" fmla="val 19712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84479" y="639366"/>
            <a:ext cx="1659471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В1 · Д2 · Т2 · РП1*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05799" y="946547"/>
            <a:ext cx="17364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* По типичным показателям ВД-эмалей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3622" y="1271588"/>
            <a:ext cx="2850356" cy="1045220"/>
          </a:xfrm>
          <a:prstGeom prst="roundRect">
            <a:avLst>
              <a:gd name="adj" fmla="val 10935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0069" y="14180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735806" y="1425178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E651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⚠ ДС В БАЗЕ ЗНАНИЙ ОТСУТСТВУЕТ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0069" y="1632347"/>
            <a:ext cx="17603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324733" y="1632347"/>
            <a:ext cx="782799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нет в базе —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0069" y="1843980"/>
            <a:ext cx="2557463" cy="0"/>
          </a:xfrm>
          <a:prstGeom prst="line">
            <a:avLst/>
          </a:prstGeom>
          <a:noFill/>
          <a:ln w="7144">
            <a:solidFill>
              <a:srgbClr val="FFCC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0069" y="1904702"/>
            <a:ext cx="255746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Имеется </a:t>
            </a:r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ПБ: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«ПБ Эмаль для радиаторов СТО 012-2011.pdf».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FF98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Запросите ДС у производителя.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3622" y="2438251"/>
            <a:ext cx="2850356" cy="966192"/>
          </a:xfrm>
          <a:prstGeom prst="roundRect">
            <a:avLst>
              <a:gd name="adj" fmla="val 11830"/>
            </a:avLst>
          </a:prstGeom>
          <a:solidFill>
            <a:srgbClr val="E3F2FD"/>
          </a:solidFill>
          <a:ln w="7144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0069" y="2584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735806" y="2591842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 ПРОДУКТА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0069" y="2770436"/>
            <a:ext cx="255746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Термостойкая акриловая водно-дисперсионная эмаль. Применяется для радиаторов, труб отопления и металлических элементов во всех типах зданий.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03997" y="1271588"/>
            <a:ext cx="5336381" cy="3282553"/>
          </a:xfrm>
          <a:prstGeom prst="roundRect">
            <a:avLst>
              <a:gd name="adj" fmla="val 3482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550444" y="14180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3736181" y="1425178"/>
            <a:ext cx="1887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40091" y="1439466"/>
            <a:ext cx="85725" cy="85725"/>
          </a:xfrm>
          <a:prstGeom prst="roundRect">
            <a:avLst>
              <a:gd name="adj" fmla="val 33333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40091" y="1425178"/>
            <a:ext cx="61722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11578" y="1439466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11578" y="1425178"/>
            <a:ext cx="79613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Ограничения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34213" y="1439466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634213" y="1425178"/>
            <a:ext cx="57414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121439" y="1439466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121439" y="1425178"/>
            <a:ext cx="472492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прим.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0444" y="1632347"/>
          <a:ext cx="5043488" cy="914400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>
            <a:off x="3550444" y="43005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0" name="Text 37"/>
          <p:cNvSpPr/>
          <p:nvPr/>
        </p:nvSpPr>
        <p:spPr>
          <a:xfrm>
            <a:off x="3707606" y="4293394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Допускается во всех типах жилых и общественных зданий независимо от этажности.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0050" y="4672013"/>
            <a:ext cx="8343900" cy="328613"/>
          </a:xfrm>
          <a:prstGeom prst="roundRect">
            <a:avLst>
              <a:gd name="adj" fmla="val 2318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414338" y="4672013"/>
            <a:ext cx="0" cy="328613"/>
          </a:xfrm>
          <a:prstGeom prst="line">
            <a:avLst/>
          </a:prstGeom>
          <a:noFill/>
          <a:ln w="28575">
            <a:solidFill>
              <a:srgbClr val="00A85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71500" y="47577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44" name="Text 41"/>
          <p:cNvSpPr/>
          <p:nvPr/>
        </p:nvSpPr>
        <p:spPr>
          <a:xfrm>
            <a:off x="814388" y="4767560"/>
            <a:ext cx="7786688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Назначение.</a:t>
            </a:r>
            <a:pPr algn="l" indent="0" marL="0">
              <a:lnSpc>
                <a:spcPts val="108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Термостойкая. Для радиаторов и труб отопления во всех типах зданий.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932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1053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4" name="Text 2"/>
          <p:cNvSpPr/>
          <p:nvPr/>
        </p:nvSpPr>
        <p:spPr>
          <a:xfrm>
            <a:off x="614363" y="100013"/>
            <a:ext cx="282727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КАТАЛОГ ЭМПИЛС · ЖИЛИЩНОЕ СТРОИТЕЛЬСТВО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036594" y="105370"/>
            <a:ext cx="116459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ЛКМ · ФЗ-123 · Классы КМ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188247" y="75652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85725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1128713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482203"/>
            <a:ext cx="4266826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68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ЭМАЛЬ ГЛЯНЦЕВАЯ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625078"/>
            <a:ext cx="4249772" cy="226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акриловая глянцевая ОРЕОЛ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400050" y="878681"/>
            <a:ext cx="386342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ВД-эмаль для внутренней отделки. Дерево, металл, ДСП, МДФ.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412868" y="617934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34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83100" y="762295"/>
            <a:ext cx="1283710" cy="289922"/>
          </a:xfrm>
          <a:prstGeom prst="roundRect">
            <a:avLst>
              <a:gd name="adj" fmla="val 1971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05960" y="775097"/>
            <a:ext cx="123799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В1 · Д1 · Т1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250156"/>
            <a:ext cx="2850356" cy="1267123"/>
          </a:xfrm>
          <a:prstGeom prst="roundRect">
            <a:avLst>
              <a:gd name="adj" fmla="val 902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403747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610916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610916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Д-RU.PA01.B.01134/26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768748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0584" y="1768748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00A8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24.05.2031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550069" y="2015877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069" y="2105174"/>
            <a:ext cx="255746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Декларация соответствия подтверждает классы пожаробезопасности по ФЗ-123.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3622" y="2638723"/>
            <a:ext cx="2850356" cy="803672"/>
          </a:xfrm>
          <a:prstGeom prst="roundRect">
            <a:avLst>
              <a:gd name="adj" fmla="val 1422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0069" y="27851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735806" y="2792313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ЛУЧШИЕ ПОКАЗАТЕЛИ СРЕДИ ЭМАЛЕЙ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0069" y="2970907"/>
            <a:ext cx="2557463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Д1 / Т1 — малодымообразующие и малотоксичные. Превосходит матовую версию (Д2/Т2).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03997" y="1250156"/>
            <a:ext cx="5336381" cy="3303984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50444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3736181" y="1403747"/>
            <a:ext cx="1887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40091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440091" y="1403747"/>
            <a:ext cx="61722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11578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911578" y="1403747"/>
            <a:ext cx="79613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Ограничения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34213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634213" y="1403747"/>
            <a:ext cx="57414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21439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121439" y="1403747"/>
            <a:ext cx="472492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прим.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0444" y="1610916"/>
          <a:ext cx="5043488" cy="914400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0" name="Text 37"/>
          <p:cNvSpPr/>
          <p:nvPr/>
        </p:nvSpPr>
        <p:spPr>
          <a:xfrm>
            <a:off x="3550444" y="43005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984" dirty="0"/>
          </a:p>
        </p:txBody>
      </p:sp>
      <p:sp>
        <p:nvSpPr>
          <p:cNvPr id="41" name="Text 38"/>
          <p:cNvSpPr/>
          <p:nvPr/>
        </p:nvSpPr>
        <p:spPr>
          <a:xfrm>
            <a:off x="3707606" y="4293394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Для зданий &gt;17 этажей на путях эвакуации требуются материалы класса </a:t>
            </a:r>
            <a:pPr algn="l"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НГ (негорючие)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00050" y="4672013"/>
            <a:ext cx="8343900" cy="328613"/>
          </a:xfrm>
          <a:prstGeom prst="roundRect">
            <a:avLst>
              <a:gd name="adj" fmla="val 2318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414338" y="4672013"/>
            <a:ext cx="0" cy="328613"/>
          </a:xfrm>
          <a:prstGeom prst="line">
            <a:avLst/>
          </a:prstGeom>
          <a:noFill/>
          <a:ln w="28575">
            <a:solidFill>
              <a:srgbClr val="00A85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71500" y="47577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45" name="Text 42"/>
          <p:cNvSpPr/>
          <p:nvPr/>
        </p:nvSpPr>
        <p:spPr>
          <a:xfrm>
            <a:off x="814388" y="4767560"/>
            <a:ext cx="7786688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Назначение.</a:t>
            </a:r>
            <a:pPr algn="l" indent="0" marL="0">
              <a:lnSpc>
                <a:spcPts val="108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Лучшие показатели среди эмалей: Д1/Т1. Для деревянных и металлических поверхностей внутри помещений.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932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1053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4" name="Text 2"/>
          <p:cNvSpPr/>
          <p:nvPr/>
        </p:nvSpPr>
        <p:spPr>
          <a:xfrm>
            <a:off x="614363" y="100013"/>
            <a:ext cx="282727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КАТАЛОГ ЭМПИЛС · ЖИЛИЩНОЕ СТРОИТЕЛЬСТВО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036594" y="105370"/>
            <a:ext cx="116459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ЛКМ · ФЗ-123 · Классы КМ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188247" y="75652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85725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1128713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482203"/>
            <a:ext cx="4019639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68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ЭМАЛЬ МАТОВАЯ ⚠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625078"/>
            <a:ext cx="4010468" cy="226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акриловая матовая ОРЕОЛ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400050" y="878681"/>
            <a:ext cx="364588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ВД-эмаль для внутренней отделки.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ВНИМАНИЕ: класс В2!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412868" y="617934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34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83100" y="762295"/>
            <a:ext cx="1283710" cy="289922"/>
          </a:xfrm>
          <a:prstGeom prst="roundRect">
            <a:avLst>
              <a:gd name="adj" fmla="val 19712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05960" y="775097"/>
            <a:ext cx="123799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В2 · Д2 · Т2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250156"/>
            <a:ext cx="2850356" cy="1130052"/>
          </a:xfrm>
          <a:prstGeom prst="roundRect">
            <a:avLst>
              <a:gd name="adj" fmla="val 10115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403747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E651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⚠ СЕРТИФИКАТ · ВНИМАНИЕ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610916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610916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Д-RU.RA01.B.00950/26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768748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0584" y="1768748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00A8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20.05.2031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550069" y="2015877"/>
            <a:ext cx="2557463" cy="0"/>
          </a:xfrm>
          <a:prstGeom prst="line">
            <a:avLst/>
          </a:prstGeom>
          <a:noFill/>
          <a:ln w="7144">
            <a:solidFill>
              <a:srgbClr val="FFCC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069" y="210517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721519" y="2105174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ВНИМАНИЕ: ДС отсутствует в базе знаний!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3622" y="2501652"/>
            <a:ext cx="2850356" cy="966192"/>
          </a:xfrm>
          <a:prstGeom prst="roundRect">
            <a:avLst>
              <a:gd name="adj" fmla="val 11830"/>
            </a:avLst>
          </a:prstGeom>
          <a:solidFill>
            <a:srgbClr val="FFEBEE"/>
          </a:solidFill>
          <a:ln w="7144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50069" y="264809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735806" y="2655243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B71C1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В2 — ОГРАНИЧЕНИЕ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0069" y="2833836"/>
            <a:ext cx="255746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Воспламеняемость В2 — умеренно горючие. </a:t>
            </a:r>
            <a:pPr algn="l" indent="0" marL="0">
              <a:lnSpc>
                <a:spcPts val="1280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Запрещено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на путях эвакуации в зданиях выше 9 этажей.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03997" y="1250156"/>
            <a:ext cx="5336381" cy="3186113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550444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3736181" y="1403747"/>
            <a:ext cx="1887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3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40091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40091" y="1403747"/>
            <a:ext cx="61722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11578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911578" y="1403747"/>
            <a:ext cx="79613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Ограничения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34213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634213" y="1403747"/>
            <a:ext cx="57414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121439" y="1418034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121439" y="1403747"/>
            <a:ext cx="472492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прим.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0444" y="1610916"/>
          <a:ext cx="5043488" cy="914400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3550444" y="418266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984" dirty="0"/>
          </a:p>
        </p:txBody>
      </p:sp>
      <p:sp>
        <p:nvSpPr>
          <p:cNvPr id="42" name="Text 39"/>
          <p:cNvSpPr/>
          <p:nvPr/>
        </p:nvSpPr>
        <p:spPr>
          <a:xfrm>
            <a:off x="3707606" y="4175522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для ≤9 этажей — с ограничениями, не на путях эвакуации.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00050" y="4554141"/>
            <a:ext cx="8343900" cy="446484"/>
          </a:xfrm>
          <a:prstGeom prst="roundRect">
            <a:avLst>
              <a:gd name="adj" fmla="val 17067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1"/>
          <p:cNvSpPr/>
          <p:nvPr/>
        </p:nvSpPr>
        <p:spPr>
          <a:xfrm>
            <a:off x="414338" y="4554141"/>
            <a:ext cx="0" cy="446484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71500" y="463986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46" name="Text 43"/>
          <p:cNvSpPr/>
          <p:nvPr/>
        </p:nvSpPr>
        <p:spPr>
          <a:xfrm>
            <a:off x="814388" y="4639866"/>
            <a:ext cx="778668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 В</a:t>
            </a:r>
            <a:pPr algn="l" indent="0" marL="0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НЕ подходит для путей эвакуации в зданиях выше </a:t>
            </a:r>
            <a:pPr algn="l" indent="0" marL="0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pPr algn="l" indent="0" marL="0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этажей!</a:t>
            </a:r>
            <a:pPr algn="l" indent="0" marL="0">
              <a:lnSpc>
                <a:spcPts val="108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Только для жилых комнат (квартир). Используйте </a:t>
            </a:r>
            <a:pPr algn="l" indent="0" marL="0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00A8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глянцевую версию (В1)</a:t>
            </a:r>
            <a:pPr algn="l" indent="0" marL="0">
              <a:lnSpc>
                <a:spcPts val="108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для коридоров и лестниц.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875" b="1" dirty="0">
                <a:solidFill>
                  <a:srgbClr val="1F4E79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71525" y="342900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8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1525" y="482203"/>
            <a:ext cx="2343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Жилищное строительство · классы пожароопасности по ФЗ-123</a:t>
            </a:r>
            <a:endParaRPr lang="en-US" sz="619" dirty="0"/>
          </a:p>
        </p:txBody>
      </p:sp>
      <p:sp>
        <p:nvSpPr>
          <p:cNvPr id="7" name="Text 4"/>
          <p:cNvSpPr/>
          <p:nvPr/>
        </p:nvSpPr>
        <p:spPr>
          <a:xfrm>
            <a:off x="7968630" y="412552"/>
            <a:ext cx="4288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СЛАЙД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93782" y="396478"/>
            <a:ext cx="5733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7536518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ПРОДУКТ № 11 · ДЕРЕВООБРАБОТКА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7389953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Эмаль СТО 05744283-136-2018</a:t>
            </a:r>
            <a:endParaRPr lang="en-US" sz="1688" dirty="0"/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718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ВД-эмаль защитно-декоративная для дерева.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51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ВНИМАНИЕ: класс В2!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531098" y="823017"/>
            <a:ext cx="1042831" cy="264919"/>
          </a:xfrm>
          <a:prstGeom prst="roundRect">
            <a:avLst>
              <a:gd name="adj" fmla="val 21573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553958" y="835819"/>
            <a:ext cx="99711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В2, Д2, Т2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8511" y="1132284"/>
            <a:ext cx="10325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600" spc="23" kern="0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Класс пожароопасности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Д-RU.RA01.B.00723/24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Действует до </a:t>
            </a:r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02.04.2029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3634" y="2461022"/>
            <a:ext cx="2707481" cy="1621631"/>
          </a:xfrm>
          <a:prstGeom prst="roundRect">
            <a:avLst>
              <a:gd name="adj" fmla="val 7048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1506" y="25788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651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835819" y="2582466"/>
            <a:ext cx="2257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32" kern="0" dirty="0">
                <a:solidFill>
                  <a:srgbClr val="E651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ВНИМАНИЕ: КЛАСС В2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506" y="2793206"/>
            <a:ext cx="2471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B71C1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 В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B71C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B71C1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НЕ для путей эвакуации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выше 9 этажей. Для деревянных поверхностей внутри помещений (кроме пола). Атмосферные условия — с ограничениями.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21506" y="3757613"/>
            <a:ext cx="2471738" cy="0"/>
          </a:xfrm>
          <a:prstGeom prst="line">
            <a:avLst/>
          </a:prstGeom>
          <a:noFill/>
          <a:ln w="7144">
            <a:solidFill>
              <a:srgbClr val="FFCC80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621506" y="385583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E651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984" dirty="0"/>
          </a:p>
        </p:txBody>
      </p:sp>
      <p:sp>
        <p:nvSpPr>
          <p:cNvPr id="27" name="Text 24"/>
          <p:cNvSpPr/>
          <p:nvPr/>
        </p:nvSpPr>
        <p:spPr>
          <a:xfrm>
            <a:off x="778669" y="3846909"/>
            <a:ext cx="23145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Рекомендация: рассмотреть ББ-11 для повышения класса</a:t>
            </a:r>
            <a:endParaRPr lang="en-US" sz="619" dirty="0"/>
          </a:p>
        </p:txBody>
      </p:sp>
      <p:sp>
        <p:nvSpPr>
          <p:cNvPr id="28" name="Text 25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3636169" y="1775222"/>
            <a:ext cx="2072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143500" cy="914400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</a:tr>
            </a:tbl>
          </a:graphicData>
        </a:graphic>
      </p:graphicFrame>
      <p:sp>
        <p:nvSpPr>
          <p:cNvPr id="33" name="Text 29"/>
          <p:cNvSpPr/>
          <p:nvPr/>
        </p:nvSpPr>
        <p:spPr>
          <a:xfrm>
            <a:off x="3450431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450431" y="3871913"/>
            <a:ext cx="5220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891000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3891000" y="3871913"/>
            <a:ext cx="8501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685407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685407" y="3871913"/>
            <a:ext cx="485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139035" y="3871913"/>
            <a:ext cx="34548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875" b="1" dirty="0">
                <a:solidFill>
                  <a:srgbClr val="1F4E79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71525" y="342900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8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1525" y="482203"/>
            <a:ext cx="2343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Жилищное строительство · классы пожароопасности по ФЗ-123</a:t>
            </a:r>
            <a:endParaRPr lang="en-US" sz="619" dirty="0"/>
          </a:p>
        </p:txBody>
      </p:sp>
      <p:sp>
        <p:nvSpPr>
          <p:cNvPr id="7" name="Text 4"/>
          <p:cNvSpPr/>
          <p:nvPr/>
        </p:nvSpPr>
        <p:spPr>
          <a:xfrm>
            <a:off x="7968630" y="412552"/>
            <a:ext cx="4288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СЛАЙД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93782" y="396478"/>
            <a:ext cx="5733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788670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ПРОДУКТ № 12 · ПОЛЫ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7020866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для пола акриловая полуматовая</a:t>
            </a:r>
            <a:endParaRPr lang="en-US" sz="1688" dirty="0"/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8932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ВД-эмаль для покрытия полов внутри помещений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95565" y="823017"/>
            <a:ext cx="1378364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18425" y="835819"/>
            <a:ext cx="133264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Д1, Т1)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8511" y="1132284"/>
            <a:ext cx="10325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600" spc="23" kern="0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Класс пожароопасности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Д-RU.PA01.B.00229/22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Действует до </a:t>
            </a:r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10.02.2027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3634" y="2461022"/>
            <a:ext cx="2707481" cy="1621631"/>
          </a:xfrm>
          <a:prstGeom prst="roundRect">
            <a:avLst>
              <a:gd name="adj" fmla="val 7048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1506" y="25788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835819" y="2582466"/>
            <a:ext cx="2257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32" kern="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КМ1 — ЛУЧШИЙ КЛАСС ДЛЯ ПОЛОВ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506" y="2793206"/>
            <a:ext cx="2471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Класс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КМ1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лучший показатель для половой эмали. Для полов в жилых и общественных зданиях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 17 этажей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21506" y="3757613"/>
            <a:ext cx="2471738" cy="0"/>
          </a:xfrm>
          <a:prstGeom prst="line">
            <a:avLst/>
          </a:prstGeom>
          <a:noFill/>
          <a:ln w="7144">
            <a:solidFill>
              <a:srgbClr val="A5D6A7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621506" y="385583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27" name="Text 24"/>
          <p:cNvSpPr/>
          <p:nvPr/>
        </p:nvSpPr>
        <p:spPr>
          <a:xfrm>
            <a:off x="778669" y="3846909"/>
            <a:ext cx="23145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Высокая износостойкость · полуматовое покрытие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3636169" y="1775222"/>
            <a:ext cx="2072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143500" cy="914400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3" name="Text 29"/>
          <p:cNvSpPr/>
          <p:nvPr/>
        </p:nvSpPr>
        <p:spPr>
          <a:xfrm>
            <a:off x="3450431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450431" y="3871913"/>
            <a:ext cx="5220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891000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3891000" y="3871913"/>
            <a:ext cx="8501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685407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685407" y="3871913"/>
            <a:ext cx="485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139035" y="3871913"/>
            <a:ext cx="34548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875" b="1" dirty="0">
                <a:solidFill>
                  <a:srgbClr val="00A859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71525" y="342900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8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1525" y="482203"/>
            <a:ext cx="2343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Жилищное строительство · классы пожароопасности по ФЗ-123</a:t>
            </a:r>
            <a:endParaRPr lang="en-US" sz="619" dirty="0"/>
          </a:p>
        </p:txBody>
      </p:sp>
      <p:sp>
        <p:nvSpPr>
          <p:cNvPr id="7" name="Text 4"/>
          <p:cNvSpPr/>
          <p:nvPr/>
        </p:nvSpPr>
        <p:spPr>
          <a:xfrm>
            <a:off x="7968630" y="412552"/>
            <a:ext cx="4288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СЛАЙД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93782" y="396478"/>
            <a:ext cx="5733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7285592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ПРОДУКТ № 13 · ОГНЕЗАЩИТА ДРЕВЕСИНЫ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6760454" cy="251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Раствор водный ББ-11</a:t>
            </a:r>
            <a:endParaRPr lang="en-US" sz="1688" dirty="0"/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4385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Огнезащитная пропитка для древесины.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ПОВЫШАЕТ класс пожаробезопасности.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51487" y="823017"/>
            <a:ext cx="1322442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74347" y="835819"/>
            <a:ext cx="127672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Д1, Т1, РП1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2460" y="1132284"/>
            <a:ext cx="10386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600" spc="23" kern="0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Лучший возможный класс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581466" cy="15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ЕАЭС RU C-RU.ПБ68.В.02464/26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58146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ТР ЕАЭС 043-2017 · до </a:t>
            </a:r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29.03.2031</a:t>
            </a:r>
            <a:endParaRPr lang="en-US" sz="8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2457450"/>
            <a:ext cx="2714625" cy="62507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03634" y="2461022"/>
            <a:ext cx="2707481" cy="617934"/>
          </a:xfrm>
          <a:prstGeom prst="roundRect">
            <a:avLst>
              <a:gd name="adj" fmla="val 12331"/>
            </a:avLst>
          </a:prstGeom>
          <a:noFill/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07219" y="253603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24" name="Text 20"/>
          <p:cNvSpPr/>
          <p:nvPr/>
        </p:nvSpPr>
        <p:spPr>
          <a:xfrm>
            <a:off x="807244" y="2537817"/>
            <a:ext cx="23002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ПОВЫШЕНИЕ КЛАССА ДРЕВЕСИНЫ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07219" y="2746772"/>
            <a:ext cx="141917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07219" y="2853928"/>
            <a:ext cx="125415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Г3 / В2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793081" y="280570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8" name="Text 24"/>
          <p:cNvSpPr/>
          <p:nvPr/>
        </p:nvSpPr>
        <p:spPr>
          <a:xfrm>
            <a:off x="1818170" y="2736056"/>
            <a:ext cx="128936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ПОСЛЕ ПРОПИТКИ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699355" y="2843213"/>
            <a:ext cx="140817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/ В1</a:t>
            </a:r>
            <a:endParaRPr lang="en-US" sz="844" dirty="0"/>
          </a:p>
        </p:txBody>
      </p:sp>
      <p:sp>
        <p:nvSpPr>
          <p:cNvPr id="30" name="Text 26"/>
          <p:cNvSpPr/>
          <p:nvPr/>
        </p:nvSpPr>
        <p:spPr>
          <a:xfrm>
            <a:off x="503634" y="3171825"/>
            <a:ext cx="2707481" cy="1089422"/>
          </a:xfrm>
          <a:prstGeom prst="roundRect">
            <a:avLst>
              <a:gd name="adj" fmla="val 10492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21506" y="328076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266" dirty="0"/>
          </a:p>
        </p:txBody>
      </p:sp>
      <p:sp>
        <p:nvSpPr>
          <p:cNvPr id="32" name="Text 28"/>
          <p:cNvSpPr/>
          <p:nvPr/>
        </p:nvSpPr>
        <p:spPr>
          <a:xfrm>
            <a:off x="807244" y="3275409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ОПИСАНИЕ И НАНЕСЕНИЕ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621506" y="3471863"/>
            <a:ext cx="247173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Огнезащитная пропитка. Повышает класс древесины с Г3/В2 до Г1/В1. </a:t>
            </a:r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Нанесение: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кисть, валик, распылитель.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621506" y="3786188"/>
            <a:ext cx="1207294" cy="371475"/>
          </a:xfrm>
          <a:prstGeom prst="roundRect">
            <a:avLst>
              <a:gd name="adj" fmla="val 1025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1"/>
          <p:cNvSpPr/>
          <p:nvPr/>
        </p:nvSpPr>
        <p:spPr>
          <a:xfrm>
            <a:off x="632222" y="3786188"/>
            <a:ext cx="0" cy="371475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28663" y="3843338"/>
            <a:ext cx="10144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Расход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28663" y="3950494"/>
            <a:ext cx="10144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~80 г/м²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1885950" y="3786188"/>
            <a:ext cx="1207294" cy="371475"/>
          </a:xfrm>
          <a:prstGeom prst="roundRect">
            <a:avLst>
              <a:gd name="adj" fmla="val 1025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5"/>
          <p:cNvSpPr/>
          <p:nvPr/>
        </p:nvSpPr>
        <p:spPr>
          <a:xfrm>
            <a:off x="1896666" y="3786188"/>
            <a:ext cx="0" cy="371475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993106" y="3843338"/>
            <a:ext cx="10144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Здания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1993106" y="3950494"/>
            <a:ext cx="10144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Все, &gt;17 эт.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3332559" y="1671638"/>
            <a:ext cx="5379244" cy="2589609"/>
          </a:xfrm>
          <a:prstGeom prst="roundRect">
            <a:avLst>
              <a:gd name="adj" fmla="val 4414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44" name="Text 40"/>
          <p:cNvSpPr/>
          <p:nvPr/>
        </p:nvSpPr>
        <p:spPr>
          <a:xfrm>
            <a:off x="3636169" y="1775222"/>
            <a:ext cx="2072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7851093" y="1791295"/>
            <a:ext cx="7428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ПОСЛЕ ПРОПИТКИ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143500" cy="914400"/>
        </p:xfrm>
        <a:graphic>
          <a:graphicData uri="http://schemas.openxmlformats.org/drawingml/2006/table">
            <a:tbl>
              <a:tblPr/>
              <a:tblGrid>
                <a:gridCol w="2198489"/>
                <a:gridCol w="888392"/>
                <a:gridCol w="1010617"/>
                <a:gridCol w="9745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Деревянные конструкции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ДСП, МДФ, фанера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Все зоны (после пропитки)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47" name="Text 42"/>
          <p:cNvSpPr/>
          <p:nvPr/>
        </p:nvSpPr>
        <p:spPr>
          <a:xfrm>
            <a:off x="3454003" y="3132534"/>
            <a:ext cx="5136356" cy="450056"/>
          </a:xfrm>
          <a:prstGeom prst="roundRect">
            <a:avLst>
              <a:gd name="adj" fmla="val 12698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3543300" y="32718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49" name="Text 44"/>
          <p:cNvSpPr/>
          <p:nvPr/>
        </p:nvSpPr>
        <p:spPr>
          <a:xfrm>
            <a:off x="3800475" y="3221831"/>
            <a:ext cx="4700588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Подходит для всех типов зданий, включая &gt;17 этажей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3800475" y="3375422"/>
            <a:ext cx="470058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После обработки древесина приобретает высший класс пожаробезопасности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3450431" y="4068366"/>
            <a:ext cx="71438" cy="71438"/>
          </a:xfrm>
          <a:prstGeom prst="roundRect">
            <a:avLst>
              <a:gd name="adj" fmla="val 26666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7"/>
          <p:cNvSpPr/>
          <p:nvPr/>
        </p:nvSpPr>
        <p:spPr>
          <a:xfrm>
            <a:off x="3450431" y="4050506"/>
            <a:ext cx="5220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3891000" y="4068366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9"/>
          <p:cNvSpPr/>
          <p:nvPr/>
        </p:nvSpPr>
        <p:spPr>
          <a:xfrm>
            <a:off x="3891000" y="4050506"/>
            <a:ext cx="8501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800" dirty="0"/>
          </a:p>
        </p:txBody>
      </p:sp>
      <p:sp>
        <p:nvSpPr>
          <p:cNvPr id="55" name="Text 50"/>
          <p:cNvSpPr/>
          <p:nvPr/>
        </p:nvSpPr>
        <p:spPr>
          <a:xfrm>
            <a:off x="4685407" y="4068366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1"/>
          <p:cNvSpPr/>
          <p:nvPr/>
        </p:nvSpPr>
        <p:spPr>
          <a:xfrm>
            <a:off x="4685407" y="4050506"/>
            <a:ext cx="485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57" name="Text 52"/>
          <p:cNvSpPr/>
          <p:nvPr/>
        </p:nvSpPr>
        <p:spPr>
          <a:xfrm>
            <a:off x="5139035" y="4068366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3"/>
          <p:cNvSpPr/>
          <p:nvPr/>
        </p:nvSpPr>
        <p:spPr>
          <a:xfrm>
            <a:off x="5139035" y="4050506"/>
            <a:ext cx="34548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875" b="1" dirty="0">
                <a:solidFill>
                  <a:srgbClr val="1F4E79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71525" y="342900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8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1525" y="482203"/>
            <a:ext cx="2343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Жилищное строительство · классы пожароопасности по ФЗ-123</a:t>
            </a:r>
            <a:endParaRPr lang="en-US" sz="619" dirty="0"/>
          </a:p>
        </p:txBody>
      </p:sp>
      <p:sp>
        <p:nvSpPr>
          <p:cNvPr id="7" name="Text 4"/>
          <p:cNvSpPr/>
          <p:nvPr/>
        </p:nvSpPr>
        <p:spPr>
          <a:xfrm>
            <a:off x="7968630" y="412552"/>
            <a:ext cx="4288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СЛАЙД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93782" y="396478"/>
            <a:ext cx="5733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15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7207160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ПРОДУКТ № 14 · ЭПОКСИДНЫЕ ПОЛЫ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7082381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Компаунд эпоксидный EMPILS E 608</a:t>
            </a:r>
            <a:endParaRPr lang="en-US" sz="1688" dirty="0"/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4385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Эпоксидное покрытие для полов.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Высокая износостойкость.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51487" y="823017"/>
            <a:ext cx="1322442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74347" y="835819"/>
            <a:ext cx="127672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Д1, Т1, РП1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2460" y="1132284"/>
            <a:ext cx="10386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600" spc="23" kern="0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Лучший возможный класс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C-RU.ПБ68.В.02055/24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ТР № 123-ФЗ · до </a:t>
            </a:r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27.10.2029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3634" y="2461022"/>
            <a:ext cx="2707481" cy="1621631"/>
          </a:xfrm>
          <a:prstGeom prst="roundRect">
            <a:avLst>
              <a:gd name="adj" fmla="val 7048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1506" y="25788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835819" y="2582466"/>
            <a:ext cx="2257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32" kern="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ЛУЧШИЙ КЛАСС ДЛЯ ПОЛОВ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506" y="2793206"/>
            <a:ext cx="2471738" cy="61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Лучший класс пожаробезопасности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для полового покрытия. Эпоксидный компаунд для высоконагруженных полов в жилых и общественных зданиях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 17 этажей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21506" y="3436144"/>
            <a:ext cx="1207294" cy="360759"/>
          </a:xfrm>
          <a:prstGeom prst="roundRect">
            <a:avLst>
              <a:gd name="adj" fmla="val 10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632222" y="3436144"/>
            <a:ext cx="0" cy="360759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8663" y="3493294"/>
            <a:ext cx="10144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Тип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28663" y="3600450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Эпоксидный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885950" y="3436144"/>
            <a:ext cx="1207294" cy="360759"/>
          </a:xfrm>
          <a:prstGeom prst="roundRect">
            <a:avLst>
              <a:gd name="adj" fmla="val 10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1896666" y="3436144"/>
            <a:ext cx="0" cy="360759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993106" y="3493294"/>
            <a:ext cx="10144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Применение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993106" y="3600450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Высок. нагрузка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3636169" y="1775222"/>
            <a:ext cx="2072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143500" cy="914400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3450431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3450431" y="3871913"/>
            <a:ext cx="5220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3891000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3891000" y="3871913"/>
            <a:ext cx="8501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685407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685407" y="3871913"/>
            <a:ext cx="485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139035" y="3871913"/>
            <a:ext cx="34548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875" b="1" dirty="0">
                <a:solidFill>
                  <a:srgbClr val="1F4E79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71525" y="342900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8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1525" y="482203"/>
            <a:ext cx="2343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Жилищное строительство · классы пожароопасности по ФЗ-123</a:t>
            </a:r>
            <a:endParaRPr lang="en-US" sz="619" dirty="0"/>
          </a:p>
        </p:txBody>
      </p:sp>
      <p:sp>
        <p:nvSpPr>
          <p:cNvPr id="7" name="Text 4"/>
          <p:cNvSpPr/>
          <p:nvPr/>
        </p:nvSpPr>
        <p:spPr>
          <a:xfrm>
            <a:off x="7968630" y="412552"/>
            <a:ext cx="4288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СЛАЙД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93782" y="396478"/>
            <a:ext cx="5733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15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6950649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ПРОДУКТ № 15 · ИНТЕРЬЕР · СТЕНЫ И ПОТОЛКИ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6713417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интерьерная моющаяся</a:t>
            </a:r>
            <a:endParaRPr lang="en-US" sz="1688" dirty="0"/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1031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ВД-краска СТО 05744283-134-2018. Для стен и потолков.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942497" y="839391"/>
            <a:ext cx="1605000" cy="232172"/>
          </a:xfrm>
          <a:prstGeom prst="roundRect">
            <a:avLst>
              <a:gd name="adj" fmla="val 24615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938925" y="835819"/>
            <a:ext cx="1612143" cy="269034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Д2, Т2, РП1)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8511" y="1132284"/>
            <a:ext cx="10325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600" spc="23" kern="0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Класс пожароопасности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Д-RU.RA01.B.03124/21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Действует до </a:t>
            </a:r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 г.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3634" y="2461022"/>
            <a:ext cx="2707481" cy="1621631"/>
          </a:xfrm>
          <a:prstGeom prst="roundRect">
            <a:avLst>
              <a:gd name="adj" fmla="val 7048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1506" y="25788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835819" y="2582466"/>
            <a:ext cx="2257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32" kern="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КМ1 · МОЮЩАЯСЯ · ИЗНОСОСТОЙКАЯ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506" y="2793206"/>
            <a:ext cx="2471738" cy="47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Класс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КМ1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 Для стен и потолков в жилых и общественных зданиях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 17 этажей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 Моющаяся, устойчивая к истиранию.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21506" y="3296841"/>
            <a:ext cx="1207294" cy="360759"/>
          </a:xfrm>
          <a:prstGeom prst="roundRect">
            <a:avLst>
              <a:gd name="adj" fmla="val 10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632222" y="3296841"/>
            <a:ext cx="0" cy="360759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8663" y="3353991"/>
            <a:ext cx="10144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СТО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28663" y="3461147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05744283-134-2018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1885950" y="3296841"/>
            <a:ext cx="1207294" cy="360759"/>
          </a:xfrm>
          <a:prstGeom prst="roundRect">
            <a:avLst>
              <a:gd name="adj" fmla="val 10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1896666" y="3296841"/>
            <a:ext cx="0" cy="360759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993106" y="3353991"/>
            <a:ext cx="10144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Свойство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993106" y="3461147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Моющаяся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3636169" y="1775222"/>
            <a:ext cx="2072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143500" cy="914400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3450431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3450431" y="3871913"/>
            <a:ext cx="5220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3891000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3891000" y="3871913"/>
            <a:ext cx="8501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685407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685407" y="3871913"/>
            <a:ext cx="485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139035" y="3871913"/>
            <a:ext cx="34548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2026-09-29T07:29:24Z</dcterms:created>
  <dcterms:modified xsi:type="dcterms:W3CDTF">2026-09-29T07:29:24Z</dcterms:modified>
</cp:coreProperties>
</file>