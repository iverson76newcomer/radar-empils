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8FCCE-7C25-43B8-8E4F-BD0FC5F8ACE9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D308C-39FA-4993-81EB-6F4074FE30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46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45720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4572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4572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ВЫКЛАДКИ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2 варианта выкладки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4340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Arial"/>
              </a:rPr>
              <a:t>3 линейки · 27 SKU · 4 класса ТТ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914400"/>
            <a:ext cx="6400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Arial"/>
              </a:rPr>
              <a:t>Красишь 1 раз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37360"/>
            <a:ext cx="6400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Arial"/>
              </a:rPr>
              <a:t>служит 10 лет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0" y="3200400"/>
            <a:ext cx="64008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0" y="3200400"/>
            <a:ext cx="137160" cy="1371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3337560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C62828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C62828"/>
                </a:solidFill>
                <a:latin typeface="Arial"/>
              </a:rPr>
              <a:t>ВЕСЬ МОДЕЛЬНЫЙ РЯД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Arial"/>
              </a:rPr>
              <a:t>По категориям/сфере назначения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846320"/>
            <a:ext cx="64008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0" y="4846320"/>
            <a:ext cx="137160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0" y="4983480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834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Arial"/>
              </a:rPr>
              <a:t>ПО КЛАССАМ ТТ (MML)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Arial"/>
              </a:rPr>
              <a:t>A · B · C · D — по наличию ассортимента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21792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100+ лет на рынке ЛКМ  •  ТОП-3 производителей России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749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ЛОГИКА ВЫКЛАДКИ — ПРИНЦИПЫ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Как распределены цвета на полке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1810"/>
            <a:ext cx="5577840" cy="17278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1810"/>
            <a:ext cx="557784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100325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0325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029900"/>
            <a:ext cx="4937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1" i="0" dirty="0" err="1" smtClean="0">
                <a:solidFill>
                  <a:srgbClr val="FFFFFF"/>
                </a:solidFill>
                <a:latin typeface="Arial"/>
              </a:rPr>
              <a:t>тёмных</a:t>
            </a:r>
            <a:r>
              <a:rPr lang="ru-RU" sz="1400" b="1" i="0" dirty="0" smtClean="0">
                <a:solidFill>
                  <a:srgbClr val="FFFFFF"/>
                </a:solidFill>
                <a:latin typeface="Arial"/>
              </a:rPr>
              <a:t> (топ продаж)</a:t>
            </a:r>
            <a:r>
              <a:rPr sz="14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к </a:t>
            </a:r>
            <a:r>
              <a:rPr sz="1400" b="1" i="0" dirty="0" err="1">
                <a:solidFill>
                  <a:srgbClr val="FFFFFF"/>
                </a:solidFill>
                <a:latin typeface="Arial"/>
              </a:rPr>
              <a:t>светлым</a:t>
            </a:r>
            <a:endParaRPr sz="1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551890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Цвета слева направо: чёрный → коричневый → серый → графит → белый. Покупатель сканирует полку слева — тёмные (топ-продажи) первыми.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911810"/>
            <a:ext cx="5577840" cy="17278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911810"/>
            <a:ext cx="5577840" cy="50292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63640" y="100325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00325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957530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Контраст соседей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51890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Схожие оттенки (серый RAL 7004 и графит RAL 7024) не ставим рядом — они сливаются. Между ними — коричневый для визуального разделения.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67388"/>
            <a:ext cx="5577840" cy="173560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767388"/>
            <a:ext cx="55778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285882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858828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13108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ABC по продажам внутри градации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59224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ТОП-3 цвета (чёрный 7738 шт, графит 5172 шт, серый 5071 шт) — в начале полки. Дублируем фейсинги на топ-3.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767388"/>
            <a:ext cx="5577840" cy="173560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2767388"/>
            <a:ext cx="557784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263640" y="285882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2858828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813108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Цветные — отдельно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459224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 err="1">
                <a:solidFill>
                  <a:srgbClr val="1A1F36"/>
                </a:solidFill>
                <a:latin typeface="Arial"/>
              </a:rPr>
              <a:t>Зелёный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жёлтый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синий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—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после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нейтральных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Это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специфические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цвета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дача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дорожная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техника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 с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меньшим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оборотом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670332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ТОП-5 ЦВЕТОВ ПО ВТОРИЧНЫМ ПРОДАЖАМ (шт):</a:t>
            </a:r>
          </a:p>
        </p:txBody>
      </p:sp>
      <p:sp>
        <p:nvSpPr>
          <p:cNvPr id="49" name="Rounded Rectangle 87"/>
          <p:cNvSpPr/>
          <p:nvPr/>
        </p:nvSpPr>
        <p:spPr>
          <a:xfrm>
            <a:off x="36576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88"/>
          <p:cNvSpPr/>
          <p:nvPr/>
        </p:nvSpPr>
        <p:spPr>
          <a:xfrm>
            <a:off x="457200" y="5127532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7 738 шт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393 АКБ</a:t>
            </a:r>
          </a:p>
        </p:txBody>
      </p:sp>
      <p:sp>
        <p:nvSpPr>
          <p:cNvPr id="55" name="Rounded Rectangle 93"/>
          <p:cNvSpPr/>
          <p:nvPr/>
        </p:nvSpPr>
        <p:spPr>
          <a:xfrm>
            <a:off x="269748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94"/>
          <p:cNvSpPr/>
          <p:nvPr/>
        </p:nvSpPr>
        <p:spPr>
          <a:xfrm>
            <a:off x="2788920" y="5127532"/>
            <a:ext cx="457200" cy="45720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8892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Графитовый RAL 7024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5 172 шт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240 АКБ</a:t>
            </a:r>
          </a:p>
        </p:txBody>
      </p:sp>
      <p:sp>
        <p:nvSpPr>
          <p:cNvPr id="61" name="Rounded Rectangle 99"/>
          <p:cNvSpPr/>
          <p:nvPr/>
        </p:nvSpPr>
        <p:spPr>
          <a:xfrm>
            <a:off x="502920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100"/>
          <p:cNvSpPr/>
          <p:nvPr/>
        </p:nvSpPr>
        <p:spPr>
          <a:xfrm>
            <a:off x="5120640" y="5127532"/>
            <a:ext cx="457200" cy="457200"/>
          </a:xfrm>
          <a:prstGeom prst="ellipse">
            <a:avLst/>
          </a:prstGeom>
          <a:solidFill>
            <a:srgbClr val="B0B0B0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2064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5 071 шт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247 АКБ</a:t>
            </a:r>
          </a:p>
        </p:txBody>
      </p:sp>
      <p:sp>
        <p:nvSpPr>
          <p:cNvPr id="67" name="Rounded Rectangle 105"/>
          <p:cNvSpPr/>
          <p:nvPr/>
        </p:nvSpPr>
        <p:spPr>
          <a:xfrm>
            <a:off x="736092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28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106"/>
          <p:cNvSpPr/>
          <p:nvPr/>
        </p:nvSpPr>
        <p:spPr>
          <a:xfrm>
            <a:off x="7452360" y="5127532"/>
            <a:ext cx="457200" cy="45720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5236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Шоколад RAL 8017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4 524 шт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236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287 АКБ</a:t>
            </a:r>
          </a:p>
        </p:txBody>
      </p:sp>
      <p:sp>
        <p:nvSpPr>
          <p:cNvPr id="73" name="Rounded Rectangle 111"/>
          <p:cNvSpPr/>
          <p:nvPr/>
        </p:nvSpPr>
        <p:spPr>
          <a:xfrm>
            <a:off x="969264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F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112"/>
          <p:cNvSpPr/>
          <p:nvPr/>
        </p:nvSpPr>
        <p:spPr>
          <a:xfrm>
            <a:off x="9784080" y="5127532"/>
            <a:ext cx="457200" cy="457200"/>
          </a:xfrm>
          <a:prstGeom prst="ellipse">
            <a:avLst/>
          </a:prstGeom>
          <a:solidFill>
            <a:srgbClr val="F5F5DC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78408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272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408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3 273 шт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8408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225 АКБ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1 — ВЕСЬ МОДЕЛЬНЫЙ РЯД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категории · 27 SKU · выкладка по сфере назначения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22960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9572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ПОЛКА 1: Грунт-эмаль 3в1 по ржавчине (9 цветов × 2 объёма = 14 SKU)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86868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C62828"/>
                </a:solidFill>
                <a:latin typeface="Arial"/>
              </a:rPr>
              <a:t>14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694486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006" y="1143000"/>
            <a:ext cx="694486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53438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26006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11933" y="1143000"/>
            <a:ext cx="694486" cy="118872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39365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11933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97860" y="1143000"/>
            <a:ext cx="694486" cy="118872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25292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7860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3787" y="1143000"/>
            <a:ext cx="694486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11219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83787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69713" y="1143000"/>
            <a:ext cx="694486" cy="1188720"/>
          </a:xfrm>
          <a:prstGeom prst="roundRect">
            <a:avLst/>
          </a:prstGeom>
          <a:solidFill>
            <a:srgbClr val="2D5016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97145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69713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Зелёный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5640" y="1143000"/>
            <a:ext cx="694486" cy="1188720"/>
          </a:xfrm>
          <a:prstGeom prst="roundRect">
            <a:avLst/>
          </a:prstGeom>
          <a:solidFill>
            <a:srgbClr val="E6B8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83072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55640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Жёлтый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1567" y="1143000"/>
            <a:ext cx="694486" cy="1188720"/>
          </a:xfrm>
          <a:prstGeom prst="roundRect">
            <a:avLst/>
          </a:prstGeom>
          <a:solidFill>
            <a:srgbClr val="0047A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68999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1567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Синий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27494" y="1143000"/>
            <a:ext cx="694486" cy="1188720"/>
          </a:xfrm>
          <a:prstGeom prst="roundRect">
            <a:avLst/>
          </a:prstGeom>
          <a:solidFill>
            <a:srgbClr val="7B3F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54926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27494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К-кор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3421" y="1143000"/>
            <a:ext cx="694486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40853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13421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99347" y="1143000"/>
            <a:ext cx="694486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526779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99347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5274" y="1143000"/>
            <a:ext cx="694486" cy="118872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312706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5274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71201" y="1143000"/>
            <a:ext cx="694486" cy="118872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098633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71201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57128" y="1143000"/>
            <a:ext cx="694486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884560" y="1106424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857128" y="1161288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2788920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436168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283464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ПОЛКА 2: Быстросохнущая матовая (6 цветов 0.75л + 1×2.2л = 7 SKU)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4255" y="283464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7 SKU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3108960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67512" y="307238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312724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11933" y="3108960"/>
            <a:ext cx="1480413" cy="1188720"/>
          </a:xfrm>
          <a:prstGeom prst="roundRect">
            <a:avLst/>
          </a:prstGeom>
          <a:solidFill>
            <a:srgbClr val="80808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239365" y="307238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211933" y="312724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Серый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83787" y="3108960"/>
            <a:ext cx="1480413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811219" y="307238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83787" y="312724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55640" y="3108960"/>
            <a:ext cx="1480413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383072" y="307238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55640" y="312724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27494" y="3108960"/>
            <a:ext cx="1480413" cy="1188720"/>
          </a:xfrm>
          <a:prstGeom prst="roundRect">
            <a:avLst/>
          </a:prstGeom>
          <a:solidFill>
            <a:srgbClr val="0047A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954926" y="307238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927494" y="312724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Синий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99347" y="3108960"/>
            <a:ext cx="1480413" cy="1188720"/>
          </a:xfrm>
          <a:prstGeom prst="roundRect">
            <a:avLst/>
          </a:prstGeom>
          <a:solidFill>
            <a:srgbClr val="E6C8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526779" y="307238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99347" y="312724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Жёлтый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71201" y="3108960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098633" y="307238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071201" y="312724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2.2л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4754880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02920" y="632764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2920" y="480060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Эмаль с молотковым эффектом (6 цветов 0.8кг + 1×2.5кг = 7 SKU)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14255" y="480060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7 SKU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" y="5074920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67512" y="503834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66228" y="589443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14870" y="59862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899411" y="574309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417796" y="528746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0080" y="509320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211933" y="5074920"/>
            <a:ext cx="1480413" cy="118872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239365" y="503834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525761" y="591604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479342" y="533590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972472" y="563838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355770" y="568519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211933" y="509320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783787" y="5074920"/>
            <a:ext cx="1480413" cy="1188720"/>
          </a:xfrm>
          <a:prstGeom prst="roundRect">
            <a:avLst/>
          </a:prstGeom>
          <a:solidFill>
            <a:srgbClr val="C0C0C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811219" y="503834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4439128" y="541786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921223" y="568671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4169501" y="580057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4919258" y="556387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783787" y="509320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Сереб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355640" y="5074920"/>
            <a:ext cx="1480413" cy="1188720"/>
          </a:xfrm>
          <a:prstGeom prst="roundRect">
            <a:avLst/>
          </a:prstGeom>
          <a:solidFill>
            <a:srgbClr val="B8860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5383072" y="503834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582041" y="530644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5774866" y="52373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652573" y="560417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5732806" y="590501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355640" y="509320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Золот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27494" y="5074920"/>
            <a:ext cx="1480413" cy="1188720"/>
          </a:xfrm>
          <a:prstGeom prst="roundRect">
            <a:avLst/>
          </a:prstGeom>
          <a:solidFill>
            <a:srgbClr val="B87333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954926" y="503834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628577" y="541711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7691205" y="58090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7952905" y="586519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8088697" y="57212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927494" y="509320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Медн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499347" y="5074920"/>
            <a:ext cx="1480413" cy="1188720"/>
          </a:xfrm>
          <a:prstGeom prst="roundRect">
            <a:avLst/>
          </a:prstGeom>
          <a:solidFill>
            <a:srgbClr val="355E3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526779" y="503834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8812013" y="526203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9665969" y="52702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8957305" y="571874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9681592" y="560914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499347" y="509320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Т-зел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071201" y="5074920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0098633" y="5038344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914281" y="56495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172660" y="526521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762938" y="60220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1361336" y="552032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71201" y="5093208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2.5кг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65760" y="6492240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65760" y="6492240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Для точек класса A (федеральная DIY) — выкладка всего модельного ряда. Топ-3 цвета дублировать фейсингами.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A: ФЕДЕРАЛЬНАЯ СЕТЬ DIY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16 SKU · MML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2296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5000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ПОЛКА 1: 3в1 по ржавчине 0.75 л — 5 цветов 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86868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C62828"/>
                </a:solidFill>
                <a:latin typeface="Arial"/>
              </a:rPr>
              <a:t>6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1742389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73909" y="1143000"/>
            <a:ext cx="1742389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01341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73909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7738" y="1143000"/>
            <a:ext cx="1742389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5170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07738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1567" y="1143000"/>
            <a:ext cx="1742389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8999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1567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5396" y="1143000"/>
            <a:ext cx="1742389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2828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5396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09225" y="1143000"/>
            <a:ext cx="1742389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36657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09225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69748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22452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74320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ПОЛКА 2: 3в1 2 л (4 цвета) + быстросохнущая (2 SKU)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4255" y="274320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5 SKU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017520"/>
            <a:ext cx="2109155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751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40675" y="301752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6810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067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41270" y="301752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6870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4127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41865" y="301752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26929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4186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4246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6989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4246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457200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2920" y="609904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61772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молотковый эффект — 4 цвета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4255" y="461772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5 SKU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6751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2.2л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40675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868107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008921" y="541985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954459" y="566678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493959" y="512693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809371" y="526921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40675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41270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06870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709406" y="563189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652332" y="54839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515711" y="527777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318262" y="550640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4127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2.5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41865" y="4892040"/>
            <a:ext cx="2109155" cy="114300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269297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249221" y="57424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862234" y="566148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521066" y="558064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152364" y="545808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41865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42460" y="4892040"/>
            <a:ext cx="2109155" cy="1143000"/>
          </a:xfrm>
          <a:prstGeom prst="roundRect">
            <a:avLst/>
          </a:prstGeom>
          <a:solidFill>
            <a:srgbClr val="C0C0C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46989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1256257" y="56568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978250" y="507690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999572" y="511769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639084" y="524832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44246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Сереб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" y="6492240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65760" y="6492240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Класс A — эталонная выкладка. Топ-3 цвета (чёрный, коричневый, графит) — по 2 фейсинга. Глубина: 6 шт/SKU.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B: ЛОКАЛЬНАЯ 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12 SKU · MML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2296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5000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ПОЛКА 1: 3в1 по ржавчине 0.75 л — 5 цветов 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86868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F47920"/>
                </a:solidFill>
                <a:latin typeface="Arial"/>
              </a:rPr>
              <a:t>5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0675" y="1143000"/>
            <a:ext cx="2109155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68107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0675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114300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6870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127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1865" y="114300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69297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1865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2460" y="114300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6989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246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69748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22452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74320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ПОЛКА 2: 3в1 2 л (4 цвета) + быстросохнущая (1 SKU)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274320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5 SKU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751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40675" y="301752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6810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067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1270" y="301752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6870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4127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41865" y="301752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26929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4186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246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46989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4246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57200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2920" y="609904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461772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молотковый эффект — 2 цвета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4255" y="461772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2 SKU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892040"/>
            <a:ext cx="5410047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7512" y="4855464"/>
            <a:ext cx="5355183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159966" y="532822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630323" y="527412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45317" y="545864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57896" y="564107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4910328"/>
            <a:ext cx="5410047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1567" y="4892040"/>
            <a:ext cx="5410047" cy="114300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68999" y="4855464"/>
            <a:ext cx="5355183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599807" y="544800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53574" y="515400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711661" y="517103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924691" y="542239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41567" y="4910328"/>
            <a:ext cx="5410047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6492240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" y="6492240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Класс B — основная выкладка. Нет белого 2л, серебристой молотковой, 2.5 кг. Глубина: 4 шт/SKU.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C и D: СУПЕРМАРКЕТ И ХОЗМАГ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C: 2 SKU · D: 0 SKU · MML (текущий)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58694"/>
            <a:ext cx="5547207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КЛАСС C — СУПЕРМАРКЕТ (2 SKU)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99564"/>
            <a:ext cx="5547207" cy="2286000"/>
          </a:xfrm>
          <a:prstGeom prst="roundRect">
            <a:avLst/>
          </a:prstGeom>
          <a:solidFill>
            <a:srgbClr val="E5E7EB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4040748"/>
            <a:ext cx="5272887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64843" y="2319604"/>
            <a:ext cx="1645920" cy="1645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92275" y="2283028"/>
            <a:ext cx="1591056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935745" y="32783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67436" y="350198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90984" y="25412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77457" y="323804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4843" y="2337892"/>
            <a:ext cx="1645920" cy="1609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7963" y="2319604"/>
            <a:ext cx="1645920" cy="164592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95395" y="2283028"/>
            <a:ext cx="1591056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30068" y="318898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790360" y="288789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40702" y="314087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46268" y="313652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67963" y="2337892"/>
            <a:ext cx="1645920" cy="1609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1458694"/>
            <a:ext cx="5547207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КЛАСС D — ХОЗМАГ (0 SKU)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1999564"/>
            <a:ext cx="5547207" cy="2286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5887" y="4040748"/>
            <a:ext cx="5272887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8727" y="2456764"/>
            <a:ext cx="5547207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4000" b="1" i="0">
                <a:solidFill>
                  <a:srgbClr val="C62828"/>
                </a:solidFill>
                <a:latin typeface="Arial"/>
              </a:rPr>
              <a:t>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7" y="3188284"/>
            <a:ext cx="5547207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C62828"/>
                </a:solidFill>
                <a:latin typeface="Arial"/>
              </a:rPr>
              <a:t>не представлен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8727" y="3691204"/>
            <a:ext cx="5547207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  <a:latin typeface="Arial"/>
              </a:rPr>
              <a:t>Покупатель уходит с ПФ-115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388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1388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413886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41388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13886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41388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413886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141388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413886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141388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25366"/>
            <a:ext cx="320040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825366"/>
            <a:ext cx="31089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182536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182536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5 цветов (9005, 7004, 8017, 7024, 9010)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182536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23560" y="182536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5 цветов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82536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182536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82536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182536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36846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2236846"/>
            <a:ext cx="31089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223684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11880" y="223684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5 цветов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223684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23560" y="223684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4 цвета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223684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223684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23684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46920" y="223684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648326"/>
            <a:ext cx="320040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2648326"/>
            <a:ext cx="31089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264832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11880" y="264832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 цвет (9005)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264832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23560" y="264832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 цвет (9005)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264832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35240" y="264832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264832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46920" y="264832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059806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3059806"/>
            <a:ext cx="31089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66160" y="305980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11880" y="305980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 цвет (9005)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305980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23560" y="305980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0" y="305980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35240" y="305980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305980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46920" y="305980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471286"/>
            <a:ext cx="320040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" y="3471286"/>
            <a:ext cx="31089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347128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11880" y="347128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 цвета (чёрн, кор, сереб)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347128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623560" y="347128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 цвета (чёрн, кор)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347128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635240" y="347128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 цвета (чёрн, кор)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3471286"/>
            <a:ext cx="2011680" cy="41148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46920" y="347128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882766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11480" y="3882766"/>
            <a:ext cx="31089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66160" y="388276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611880" y="388276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 цвет (чёрный)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77840" y="388276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623560" y="388276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0" y="388276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35240" y="388276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0" y="388276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646920" y="3882766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29424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29424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66160" y="4294246"/>
            <a:ext cx="201168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566160" y="429424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77840" y="4294246"/>
            <a:ext cx="201168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577840" y="429424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89520" y="429424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589520" y="429424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01200" y="4294246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601200" y="429424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760" y="6532780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Планограммы выкладки  •  Красишь 1 раз — служит 10 лет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68680"/>
            <a:ext cx="32004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868680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868680"/>
            <a:ext cx="219456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868680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868680"/>
            <a:ext cx="219456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868680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868680"/>
            <a:ext cx="20116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868680"/>
            <a:ext cx="1828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868680"/>
            <a:ext cx="18288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80160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280160"/>
            <a:ext cx="31089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280160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2801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280160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12801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280160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280160"/>
            <a:ext cx="19202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280160"/>
            <a:ext cx="18288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280160"/>
            <a:ext cx="17373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65960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65960"/>
            <a:ext cx="31089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1965960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19659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965960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19659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1965960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1965960"/>
            <a:ext cx="19202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196596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1965960"/>
            <a:ext cx="17373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651760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651760"/>
            <a:ext cx="31089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651760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26517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2651760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26517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2651760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2651760"/>
            <a:ext cx="19202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2651760"/>
            <a:ext cx="18288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2651760"/>
            <a:ext cx="17373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37560"/>
            <a:ext cx="31089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3337560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33375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337560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33375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3337560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3337560"/>
            <a:ext cx="19202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75520" y="333756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21240" y="3337560"/>
            <a:ext cx="17373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023360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023360"/>
            <a:ext cx="31089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4023360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0440" y="40233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4023360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15000" y="40233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4023360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09560" y="4023360"/>
            <a:ext cx="19202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75520" y="4023360"/>
            <a:ext cx="18288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21240" y="4023360"/>
            <a:ext cx="17373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09160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09160"/>
            <a:ext cx="31089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0" y="4709160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20440" y="47091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0" y="4709160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15000" y="4709160"/>
            <a:ext cx="21031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4709160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60" y="4709160"/>
            <a:ext cx="19202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75520" y="4709160"/>
            <a:ext cx="1828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21240" y="4709160"/>
            <a:ext cx="173736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39496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5394960"/>
            <a:ext cx="32004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0" y="5394960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74720" y="5394960"/>
            <a:ext cx="219456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0" y="5394960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0" y="5394960"/>
            <a:ext cx="219456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63840" y="5394960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63840" y="5394960"/>
            <a:ext cx="20116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5394960"/>
            <a:ext cx="1828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75520" y="5394960"/>
            <a:ext cx="18288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" y="6080760"/>
            <a:ext cx="11430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ТОП-5 ЦВЕТОВ ПО ВТОРИЧНЫМ ПРОДАЖАМ: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4320" y="6446520"/>
            <a:ext cx="22402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5760" y="6537960"/>
            <a:ext cx="411480" cy="4114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6537960"/>
            <a:ext cx="411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" y="6537960"/>
            <a:ext cx="1554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" y="704088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7 738 шт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740664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393 АКБ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606040" y="6446520"/>
            <a:ext cx="22402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697480" y="6537960"/>
            <a:ext cx="411480" cy="41148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6537960"/>
            <a:ext cx="411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0400" y="6537960"/>
            <a:ext cx="1554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Графитовый RAL 7024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97480" y="704088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5 172 шт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97480" y="740664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240 АКБ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937760" y="6446520"/>
            <a:ext cx="22402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29200" y="6537960"/>
            <a:ext cx="411480" cy="411480"/>
          </a:xfrm>
          <a:prstGeom prst="ellipse">
            <a:avLst/>
          </a:prstGeom>
          <a:solidFill>
            <a:srgbClr val="B0B0B0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0" y="6537960"/>
            <a:ext cx="411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32120" y="6537960"/>
            <a:ext cx="1554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0" y="704088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5 071 шт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29200" y="740664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247 АКБ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269480" y="6446520"/>
            <a:ext cx="22402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28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360920" y="6537960"/>
            <a:ext cx="411480" cy="41148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60920" y="6537960"/>
            <a:ext cx="411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63840" y="6537960"/>
            <a:ext cx="1554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Шоколад RAL 8017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60920" y="704088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4 524 шт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60920" y="740664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287 АКБ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601200" y="6446520"/>
            <a:ext cx="22402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F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692640" y="6537960"/>
            <a:ext cx="411480" cy="411480"/>
          </a:xfrm>
          <a:prstGeom prst="ellipse">
            <a:avLst/>
          </a:prstGeom>
          <a:solidFill>
            <a:srgbClr val="F5F5DC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92640" y="6537960"/>
            <a:ext cx="411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95560" y="6537960"/>
            <a:ext cx="15544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92640" y="704088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3 273 шт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92640" y="7406640"/>
            <a:ext cx="2057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225 АКБ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6537960"/>
            <a:ext cx="11643055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Планограммы выкладки  •  Красишь 1 раз — служит 10 лет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1133</Words>
  <Application>Microsoft Office PowerPoint</Application>
  <PresentationFormat>Произвольный</PresentationFormat>
  <Paragraphs>393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</cp:revision>
  <dcterms:created xsi:type="dcterms:W3CDTF">2013-01-27T09:14:16Z</dcterms:created>
  <dcterms:modified xsi:type="dcterms:W3CDTF">2026-07-16T12:52:01Z</dcterms:modified>
  <cp:category/>
</cp:coreProperties>
</file>