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61" r:id="rId4"/>
    <p:sldId id="260" r:id="rId5"/>
    <p:sldId id="259" r:id="rId6"/>
    <p:sldId id="262" r:id="rId7"/>
    <p:sldId id="267" r:id="rId8"/>
    <p:sldId id="270" r:id="rId9"/>
    <p:sldId id="264" r:id="rId10"/>
    <p:sldId id="258" r:id="rId11"/>
    <p:sldId id="263" r:id="rId12"/>
    <p:sldId id="268" r:id="rId13"/>
    <p:sldId id="269" r:id="rId14"/>
    <p:sldId id="265" r:id="rId15"/>
    <p:sldId id="266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61" d="100"/>
          <a:sy n="161" d="100"/>
        </p:scale>
        <p:origin x="-90" y="-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B8467-38C4-4842-B085-3A5E2A666F82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D01294-2977-4189-BE23-42D2B81D65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578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42863" cy="5143500"/>
          </a:xfrm>
          <a:prstGeom prst="rect">
            <a:avLst/>
          </a:prstGeom>
          <a:solidFill>
            <a:srgbClr val="00A85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806" y="571500"/>
            <a:ext cx="7144" cy="40005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1500" y="458986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00A85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14375" y="428625"/>
            <a:ext cx="299223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kern="0" spc="173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ТЕХНИЧЕСКИЙ КАТАЛОГ · ЭМПИЛС · ЛКМ</a:t>
            </a:r>
            <a:endParaRPr lang="en-US" sz="8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071563"/>
            <a:ext cx="2286000" cy="2286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90072" y="1075134"/>
            <a:ext cx="2278856" cy="2278856"/>
          </a:xfrm>
          <a:prstGeom prst="roundRect">
            <a:avLst>
              <a:gd name="adj" fmla="val 11703"/>
            </a:avLst>
          </a:prstGeom>
          <a:noFill/>
          <a:ln w="7144">
            <a:solidFill>
              <a:srgbClr val="1F4E79"/>
            </a:solidFill>
            <a:prstDash val="solid"/>
          </a:ln>
          <a:effectLst>
            <a:outerShdw blurRad="304800" dist="114300" dir="5400000" algn="bl" rotWithShape="0">
              <a:srgbClr val="1F4E79">
                <a:alpha val="8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6393656" y="1178719"/>
            <a:ext cx="2071688" cy="2071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⌂</a:t>
            </a:r>
            <a:endParaRPr lang="en-US" sz="4800" dirty="0"/>
          </a:p>
        </p:txBody>
      </p:sp>
      <p:sp>
        <p:nvSpPr>
          <p:cNvPr id="11" name="Text 7"/>
          <p:cNvSpPr/>
          <p:nvPr/>
        </p:nvSpPr>
        <p:spPr>
          <a:xfrm>
            <a:off x="6379704" y="3500438"/>
            <a:ext cx="219848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Интерьерные · Фасадные · Эмали · Огнезащита · Полы</a:t>
            </a:r>
            <a:endParaRPr lang="en-US" sz="619" dirty="0"/>
          </a:p>
        </p:txBody>
      </p:sp>
      <p:sp>
        <p:nvSpPr>
          <p:cNvPr id="12" name="Text 8"/>
          <p:cNvSpPr/>
          <p:nvPr/>
        </p:nvSpPr>
        <p:spPr>
          <a:xfrm>
            <a:off x="8472488" y="350936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13" name="Text 9"/>
          <p:cNvSpPr/>
          <p:nvPr/>
        </p:nvSpPr>
        <p:spPr>
          <a:xfrm>
            <a:off x="571500" y="1571625"/>
            <a:ext cx="5400675" cy="3054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28"/>
              </a:lnSpc>
              <a:buNone/>
            </a:pPr>
            <a:r>
              <a:rPr lang="en-US" sz="800" b="1" kern="0" spc="-20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Каталог продуктов Эмпилс</a:t>
            </a:r>
            <a:endParaRPr lang="en-US" sz="2025" dirty="0"/>
          </a:p>
        </p:txBody>
      </p:sp>
      <p:sp>
        <p:nvSpPr>
          <p:cNvPr id="14" name="Text 10"/>
          <p:cNvSpPr/>
          <p:nvPr/>
        </p:nvSpPr>
        <p:spPr>
          <a:xfrm>
            <a:off x="571500" y="1983060"/>
            <a:ext cx="45720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7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Применение ЛКМ в жилищном строительстве с учётом классов пожароопасности</a:t>
            </a:r>
            <a:endParaRPr lang="en-US" sz="1125" dirty="0"/>
          </a:p>
        </p:txBody>
      </p:sp>
      <p:sp>
        <p:nvSpPr>
          <p:cNvPr id="15" name="Text 11"/>
          <p:cNvSpPr/>
          <p:nvPr/>
        </p:nvSpPr>
        <p:spPr>
          <a:xfrm>
            <a:off x="571500" y="2575992"/>
            <a:ext cx="400050" cy="21431"/>
          </a:xfrm>
          <a:prstGeom prst="rect">
            <a:avLst/>
          </a:prstGeom>
          <a:solidFill>
            <a:srgbClr val="00A85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71500" y="276172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125" dirty="0"/>
          </a:p>
        </p:txBody>
      </p:sp>
      <p:sp>
        <p:nvSpPr>
          <p:cNvPr id="17" name="Text 13"/>
          <p:cNvSpPr/>
          <p:nvPr/>
        </p:nvSpPr>
        <p:spPr>
          <a:xfrm>
            <a:off x="742950" y="2754585"/>
            <a:ext cx="10419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Все классы этажности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1803462" y="276172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19" name="Text 15"/>
          <p:cNvSpPr/>
          <p:nvPr/>
        </p:nvSpPr>
        <p:spPr>
          <a:xfrm>
            <a:off x="1974912" y="2754585"/>
            <a:ext cx="8261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КМ1 · Г1 · В1 · НГ</a:t>
            </a:r>
            <a:endParaRPr lang="en-US" sz="675" dirty="0"/>
          </a:p>
        </p:txBody>
      </p:sp>
      <p:sp>
        <p:nvSpPr>
          <p:cNvPr id="20" name="Text 16"/>
          <p:cNvSpPr/>
          <p:nvPr/>
        </p:nvSpPr>
        <p:spPr>
          <a:xfrm>
            <a:off x="2851249" y="276172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125" dirty="0"/>
          </a:p>
        </p:txBody>
      </p:sp>
      <p:sp>
        <p:nvSpPr>
          <p:cNvPr id="21" name="Text 17"/>
          <p:cNvSpPr/>
          <p:nvPr/>
        </p:nvSpPr>
        <p:spPr>
          <a:xfrm>
            <a:off x="3022699" y="2754585"/>
            <a:ext cx="11848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Сертификаты соответствия</a:t>
            </a:r>
            <a:endParaRPr lang="en-US" sz="675" dirty="0"/>
          </a:p>
        </p:txBody>
      </p:sp>
      <p:sp>
        <p:nvSpPr>
          <p:cNvPr id="22" name="Shape 18"/>
          <p:cNvSpPr/>
          <p:nvPr/>
        </p:nvSpPr>
        <p:spPr>
          <a:xfrm>
            <a:off x="571500" y="4461272"/>
            <a:ext cx="80010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571500" y="4604147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24" name="Text 20"/>
          <p:cNvSpPr/>
          <p:nvPr/>
        </p:nvSpPr>
        <p:spPr>
          <a:xfrm>
            <a:off x="785813" y="4593431"/>
            <a:ext cx="260932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На основании ФЗ-123 и сертификатов соответствия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618251" y="461129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26" name="Text 22"/>
          <p:cNvSpPr/>
          <p:nvPr/>
        </p:nvSpPr>
        <p:spPr>
          <a:xfrm>
            <a:off x="7782077" y="4593431"/>
            <a:ext cx="798048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Сентябрь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817959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00050" y="285750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4" name="Text 2"/>
          <p:cNvSpPr/>
          <p:nvPr/>
        </p:nvSpPr>
        <p:spPr>
          <a:xfrm>
            <a:off x="571500" y="289322"/>
            <a:ext cx="165935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kern="0" spc="124" dirty="0" smtClean="0">
                <a:solidFill>
                  <a:srgbClr val="555555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ЛЕГЕНДА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00050" y="428625"/>
            <a:ext cx="1922350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3"/>
              </a:lnSpc>
              <a:buNone/>
            </a:pPr>
            <a:r>
              <a:rPr lang="en-US" sz="800" b="1" kern="0" spc="-16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Как читать каталог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7211026" y="475059"/>
            <a:ext cx="1532924" cy="1190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marL="0" indent="0" algn="r">
              <a:lnSpc>
                <a:spcPts val="928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ФЗ-123 · КМ-классы · Этажность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389875" y="63222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844" dirty="0"/>
          </a:p>
        </p:txBody>
      </p:sp>
      <p:sp>
        <p:nvSpPr>
          <p:cNvPr id="8" name="Text 6"/>
          <p:cNvSpPr/>
          <p:nvPr/>
        </p:nvSpPr>
        <p:spPr>
          <a:xfrm>
            <a:off x="7404992" y="621506"/>
            <a:ext cx="1338958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Светофорная кодировка применения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03622" y="939403"/>
            <a:ext cx="4107656" cy="2564606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21494" y="1073348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11" name="Text 9"/>
          <p:cNvSpPr/>
          <p:nvPr/>
        </p:nvSpPr>
        <p:spPr>
          <a:xfrm>
            <a:off x="707231" y="1057275"/>
            <a:ext cx="368617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Цветовая кодировка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521494" y="1367582"/>
            <a:ext cx="3871913" cy="371475"/>
          </a:xfrm>
          <a:prstGeom prst="roundRect">
            <a:avLst>
              <a:gd name="adj" fmla="val 15385"/>
            </a:avLst>
          </a:prstGeom>
          <a:solidFill>
            <a:srgbClr val="F8FB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78644" y="1439019"/>
            <a:ext cx="228600" cy="228600"/>
          </a:xfrm>
          <a:prstGeom prst="ellipse">
            <a:avLst/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17934" y="1478310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5E2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92969" y="1424732"/>
            <a:ext cx="3443288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Можно использовать</a:t>
            </a:r>
            <a:endParaRPr lang="en-US" sz="500" dirty="0"/>
          </a:p>
        </p:txBody>
      </p:sp>
      <p:sp>
        <p:nvSpPr>
          <p:cNvPr id="16" name="Text 14"/>
          <p:cNvSpPr/>
          <p:nvPr/>
        </p:nvSpPr>
        <p:spPr>
          <a:xfrm>
            <a:off x="892969" y="1564035"/>
            <a:ext cx="3553016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Полностью соответствует требованиям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21494" y="1895326"/>
            <a:ext cx="3871913" cy="371475"/>
          </a:xfrm>
          <a:prstGeom prst="roundRect">
            <a:avLst>
              <a:gd name="adj" fmla="val 15385"/>
            </a:avLst>
          </a:prstGeom>
          <a:solidFill>
            <a:srgbClr val="FFF8F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78644" y="1966764"/>
            <a:ext cx="228600" cy="228600"/>
          </a:xfrm>
          <a:prstGeom prst="ellipse">
            <a:avLst/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7934" y="2006054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F360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2969" y="1952476"/>
            <a:ext cx="3443288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 ограничениями</a:t>
            </a:r>
            <a:endParaRPr lang="en-US" sz="500" dirty="0"/>
          </a:p>
        </p:txBody>
      </p:sp>
      <p:sp>
        <p:nvSpPr>
          <p:cNvPr id="21" name="Text 19"/>
          <p:cNvSpPr/>
          <p:nvPr/>
        </p:nvSpPr>
        <p:spPr>
          <a:xfrm>
            <a:off x="892969" y="2091779"/>
            <a:ext cx="3553016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Только для конкретных зон / этажей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21494" y="2423071"/>
            <a:ext cx="3871913" cy="371475"/>
          </a:xfrm>
          <a:prstGeom prst="roundRect">
            <a:avLst>
              <a:gd name="adj" fmla="val 15385"/>
            </a:avLst>
          </a:prstGeom>
          <a:solidFill>
            <a:srgbClr val="FFF6F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8644" y="2494508"/>
            <a:ext cx="228600" cy="228600"/>
          </a:xfrm>
          <a:prstGeom prst="ellipse">
            <a:avLst/>
          </a:prstGeom>
          <a:solidFill>
            <a:srgbClr val="FFCD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17934" y="2533799"/>
            <a:ext cx="15001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B71C1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✗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92969" y="2480221"/>
            <a:ext cx="3443288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Нельзя использовать</a:t>
            </a:r>
            <a:endParaRPr lang="en-US" sz="500" dirty="0"/>
          </a:p>
        </p:txBody>
      </p:sp>
      <p:sp>
        <p:nvSpPr>
          <p:cNvPr id="26" name="Text 24"/>
          <p:cNvSpPr/>
          <p:nvPr/>
        </p:nvSpPr>
        <p:spPr>
          <a:xfrm>
            <a:off x="892969" y="2619524"/>
            <a:ext cx="3553016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Запрещено нормами пожарной безопасности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1494" y="2950815"/>
            <a:ext cx="3871913" cy="371475"/>
          </a:xfrm>
          <a:prstGeom prst="roundRect">
            <a:avLst>
              <a:gd name="adj" fmla="val 15385"/>
            </a:avLst>
          </a:prstGeom>
          <a:solidFill>
            <a:srgbClr val="F7F9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78644" y="3022253"/>
            <a:ext cx="228600" cy="228600"/>
          </a:xfrm>
          <a:prstGeom prst="ellipse">
            <a:avLst/>
          </a:prstGeom>
          <a:solidFill>
            <a:srgbClr val="ECEF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78644" y="3022253"/>
            <a:ext cx="27146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1100" b="1" dirty="0">
                <a:solidFill>
                  <a:srgbClr val="90A4AE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92969" y="3007965"/>
            <a:ext cx="3443288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применяется</a:t>
            </a:r>
            <a:endParaRPr lang="en-US" sz="500" dirty="0"/>
          </a:p>
        </p:txBody>
      </p:sp>
      <p:sp>
        <p:nvSpPr>
          <p:cNvPr id="31" name="Text 29"/>
          <p:cNvSpPr/>
          <p:nvPr/>
        </p:nvSpPr>
        <p:spPr>
          <a:xfrm>
            <a:off x="892969" y="3147268"/>
            <a:ext cx="3553016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Продукт не предназначен для данной зоны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632722" y="939403"/>
            <a:ext cx="4107656" cy="2564606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50594" y="1073348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34" name="Text 32"/>
          <p:cNvSpPr/>
          <p:nvPr/>
        </p:nvSpPr>
        <p:spPr>
          <a:xfrm>
            <a:off x="4936331" y="1057275"/>
            <a:ext cx="3686175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600" b="1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Классы пожароопасности (ФЗ-123)</a:t>
            </a:r>
            <a:endParaRPr lang="en-US" sz="844" dirty="0"/>
          </a:p>
        </p:txBody>
      </p:sp>
      <p:sp>
        <p:nvSpPr>
          <p:cNvPr id="35" name="Text 33"/>
          <p:cNvSpPr/>
          <p:nvPr/>
        </p:nvSpPr>
        <p:spPr>
          <a:xfrm>
            <a:off x="4750594" y="1438340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F5F7FA"/>
          </a:solidFill>
          <a:ln w="7144">
            <a:solidFill>
              <a:srgbClr val="E0E0E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750594" y="1448842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Г1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79206" y="1477417"/>
            <a:ext cx="156448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слабогорючие </a:t>
            </a: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(лучший для горючих)</a:t>
            </a:r>
            <a:endParaRPr lang="en-US" sz="619" dirty="0"/>
          </a:p>
        </p:txBody>
      </p:sp>
      <p:sp>
        <p:nvSpPr>
          <p:cNvPr id="38" name="Text 36"/>
          <p:cNvSpPr/>
          <p:nvPr/>
        </p:nvSpPr>
        <p:spPr>
          <a:xfrm>
            <a:off x="6729413" y="1438340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F5F7FA"/>
          </a:solidFill>
          <a:ln w="7144">
            <a:solidFill>
              <a:srgbClr val="E0E0E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729413" y="1448842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В1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058025" y="1477417"/>
            <a:ext cx="1564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трудновоспламеняемые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50594" y="1946440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F5F7FA"/>
          </a:solidFill>
          <a:ln w="7144">
            <a:solidFill>
              <a:srgbClr val="E0E0E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50594" y="1956941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Д1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79206" y="1985516"/>
            <a:ext cx="1564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малодымообразующие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729413" y="1946440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F5F7FA"/>
          </a:solidFill>
          <a:ln w="7144">
            <a:solidFill>
              <a:srgbClr val="E0E0E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29413" y="1956941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1100" b="1" dirty="0">
                <a:solidFill>
                  <a:srgbClr val="1F4E7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Т1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058025" y="1985516"/>
            <a:ext cx="1564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малотоксичные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750594" y="2454539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F5F7FA"/>
          </a:solidFill>
          <a:ln w="7144">
            <a:solidFill>
              <a:srgbClr val="E0E0E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4750594" y="2465040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РП1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79206" y="2493615"/>
            <a:ext cx="15644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распр. пламя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729413" y="2454539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29413" y="2465040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058025" y="2493615"/>
            <a:ext cx="156448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комбин.: Г1+В1+Д1+Т1+РП1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750594" y="2860179"/>
            <a:ext cx="387191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750594" y="3055507"/>
            <a:ext cx="271463" cy="196025"/>
          </a:xfrm>
          <a:prstGeom prst="roundRect">
            <a:avLst>
              <a:gd name="adj" fmla="val 24295"/>
            </a:avLst>
          </a:prstGeom>
          <a:solidFill>
            <a:srgbClr val="ECEFF1"/>
          </a:solidFill>
          <a:ln w="7144">
            <a:solidFill>
              <a:srgbClr val="CFD8DC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4750594" y="3066008"/>
            <a:ext cx="27146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928"/>
              </a:lnSpc>
              <a:buNone/>
            </a:pPr>
            <a:r>
              <a:rPr lang="en-US" sz="1100" b="1" dirty="0">
                <a:solidFill>
                  <a:srgbClr val="455A64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НГ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079206" y="3094583"/>
            <a:ext cx="35433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негорючие — </a:t>
            </a:r>
            <a:r>
              <a:rPr lang="en-US" sz="800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только для зданий &gt;17 этажей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00050" y="363795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58" name="Text 56"/>
          <p:cNvSpPr/>
          <p:nvPr/>
        </p:nvSpPr>
        <p:spPr>
          <a:xfrm>
            <a:off x="585788" y="3621881"/>
            <a:ext cx="1711151" cy="173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Этажность жилых зданий</a:t>
            </a:r>
            <a:endParaRPr lang="en-US" sz="844" dirty="0"/>
          </a:p>
        </p:txBody>
      </p:sp>
      <p:sp>
        <p:nvSpPr>
          <p:cNvPr id="59" name="Text 57"/>
          <p:cNvSpPr/>
          <p:nvPr/>
        </p:nvSpPr>
        <p:spPr>
          <a:xfrm>
            <a:off x="2011859" y="3648670"/>
            <a:ext cx="673209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· требования ужесточаются с ростом этажности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00050" y="3854053"/>
            <a:ext cx="2724113" cy="528638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400050" y="3857625"/>
            <a:ext cx="272411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3120591" y="3854053"/>
            <a:ext cx="0" cy="528638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00050" y="4379119"/>
            <a:ext cx="272411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4338" y="3854053"/>
            <a:ext cx="0" cy="528638"/>
          </a:xfrm>
          <a:prstGeom prst="line">
            <a:avLst/>
          </a:prstGeom>
          <a:noFill/>
          <a:ln w="28575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14350" y="3946922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E8F5E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14350" y="3946922"/>
            <a:ext cx="3857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519"/>
              </a:lnSpc>
              <a:buNone/>
            </a:pPr>
            <a:r>
              <a:rPr lang="en-US" sz="1100" b="1" dirty="0">
                <a:solidFill>
                  <a:srgbClr val="00A85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≤9</a:t>
            </a:r>
            <a:endParaRPr lang="en-US" sz="1013" dirty="0"/>
          </a:p>
        </p:txBody>
      </p:sp>
      <p:sp>
        <p:nvSpPr>
          <p:cNvPr id="67" name="Text 65"/>
          <p:cNvSpPr/>
          <p:nvPr/>
        </p:nvSpPr>
        <p:spPr>
          <a:xfrm>
            <a:off x="942975" y="3993691"/>
            <a:ext cx="1117856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До 9 этажей (≤28 м)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942975" y="4132994"/>
            <a:ext cx="1049182" cy="153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самые мягкие требования</a:t>
            </a:r>
            <a:endParaRPr lang="en-US" sz="619" dirty="0"/>
          </a:p>
        </p:txBody>
      </p:sp>
      <p:sp>
        <p:nvSpPr>
          <p:cNvPr id="69" name="Text 67"/>
          <p:cNvSpPr/>
          <p:nvPr/>
        </p:nvSpPr>
        <p:spPr>
          <a:xfrm>
            <a:off x="3209888" y="3854053"/>
            <a:ext cx="2724113" cy="528638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Shape 68"/>
          <p:cNvSpPr/>
          <p:nvPr/>
        </p:nvSpPr>
        <p:spPr>
          <a:xfrm>
            <a:off x="3209888" y="3857625"/>
            <a:ext cx="272411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5930429" y="3854053"/>
            <a:ext cx="0" cy="528638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3209888" y="4379119"/>
            <a:ext cx="272411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3224175" y="3854053"/>
            <a:ext cx="0" cy="528638"/>
          </a:xfrm>
          <a:prstGeom prst="line">
            <a:avLst/>
          </a:prstGeom>
          <a:noFill/>
          <a:ln w="28575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3324188" y="3946922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FF3E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3324188" y="3946922"/>
            <a:ext cx="3857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800" b="1" dirty="0">
                <a:solidFill>
                  <a:srgbClr val="FF9800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9–17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752813" y="3993691"/>
            <a:ext cx="1164297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9–17 этажей (28–50 м)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3752813" y="4132994"/>
            <a:ext cx="1271588" cy="1535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строже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6019726" y="3854053"/>
            <a:ext cx="2724224" cy="528638"/>
          </a:xfrm>
          <a:prstGeom prst="roundRect">
            <a:avLst>
              <a:gd name="adj" fmla="val 21622"/>
            </a:avLst>
          </a:prstGeom>
          <a:solidFill>
            <a:srgbClr val="FFFFFF"/>
          </a:solidFill>
          <a:ln/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6019726" y="3857625"/>
            <a:ext cx="2724224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8740378" y="3854053"/>
            <a:ext cx="0" cy="528638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1" name="Shape 79"/>
          <p:cNvSpPr/>
          <p:nvPr/>
        </p:nvSpPr>
        <p:spPr>
          <a:xfrm>
            <a:off x="6019726" y="4379119"/>
            <a:ext cx="2724224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82" name="Shape 80"/>
          <p:cNvSpPr/>
          <p:nvPr/>
        </p:nvSpPr>
        <p:spPr>
          <a:xfrm>
            <a:off x="6034013" y="3854053"/>
            <a:ext cx="0" cy="528638"/>
          </a:xfrm>
          <a:prstGeom prst="line">
            <a:avLst/>
          </a:prstGeom>
          <a:noFill/>
          <a:ln w="28575">
            <a:solidFill>
              <a:srgbClr val="E53935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6134026" y="3946922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134026" y="3946922"/>
            <a:ext cx="385763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E53935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&gt;17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6562651" y="3993691"/>
            <a:ext cx="1200206" cy="1118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Выше 17 этажей (&gt;50 м)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6562651" y="4132994"/>
            <a:ext cx="1178384" cy="153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только НГ на путях эвакуации</a:t>
            </a:r>
            <a:endParaRPr lang="en-US" sz="619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00050" y="10537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266" dirty="0"/>
          </a:p>
        </p:txBody>
      </p:sp>
      <p:sp>
        <p:nvSpPr>
          <p:cNvPr id="8" name="Shape 6"/>
          <p:cNvSpPr/>
          <p:nvPr/>
        </p:nvSpPr>
        <p:spPr>
          <a:xfrm>
            <a:off x="400050" y="957642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00050" y="311132"/>
            <a:ext cx="3409164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6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· ПОТОЛОЧНАЯ КРАСКА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0050" y="454007"/>
            <a:ext cx="3230091" cy="2261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ДИСКОНТ полиакрил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0050" y="707610"/>
            <a:ext cx="332238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Потолочная ВД-краска (полиакрил)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7269994" y="426575"/>
            <a:ext cx="133108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3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242222" y="591224"/>
            <a:ext cx="1524588" cy="289922"/>
          </a:xfrm>
          <a:prstGeom prst="roundRect">
            <a:avLst>
              <a:gd name="adj" fmla="val 19712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265082" y="604026"/>
            <a:ext cx="1478868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 · Г1 В1 Д1 Т1 РП1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1079085"/>
            <a:ext cx="2850356" cy="1267123"/>
          </a:xfrm>
          <a:prstGeom prst="roundRect">
            <a:avLst>
              <a:gd name="adj" fmla="val 902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069" y="122553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7" name="Text 15"/>
          <p:cNvSpPr/>
          <p:nvPr/>
        </p:nvSpPr>
        <p:spPr>
          <a:xfrm>
            <a:off x="735806" y="1232676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069" y="1439845"/>
            <a:ext cx="1257188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Рег. №: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21545" y="1439845"/>
            <a:ext cx="1285987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Д-RU.PA01.B.00164/23</a:t>
            </a:r>
            <a:endParaRPr lang="en-US" sz="731" dirty="0"/>
          </a:p>
        </p:txBody>
      </p:sp>
      <p:sp>
        <p:nvSpPr>
          <p:cNvPr id="20" name="Text 18"/>
          <p:cNvSpPr/>
          <p:nvPr/>
        </p:nvSpPr>
        <p:spPr>
          <a:xfrm>
            <a:off x="550069" y="1597677"/>
            <a:ext cx="198395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Действует до: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90584" y="1597677"/>
            <a:ext cx="67467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00A85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05.02.2028</a:t>
            </a:r>
            <a:endParaRPr lang="en-US" sz="731" dirty="0"/>
          </a:p>
        </p:txBody>
      </p:sp>
      <p:sp>
        <p:nvSpPr>
          <p:cNvPr id="22" name="Shape 20"/>
          <p:cNvSpPr/>
          <p:nvPr/>
        </p:nvSpPr>
        <p:spPr>
          <a:xfrm>
            <a:off x="550069" y="1844806"/>
            <a:ext cx="255746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50069" y="1934103"/>
            <a:ext cx="255746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Соответствие ФЗ-123 подтверждено декларацией. Класс КМ1 превышает базовые требования для жилых зданий.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03622" y="2467652"/>
            <a:ext cx="2850356" cy="966192"/>
          </a:xfrm>
          <a:prstGeom prst="roundRect">
            <a:avLst>
              <a:gd name="adj" fmla="val 11830"/>
            </a:avLst>
          </a:prstGeom>
          <a:solidFill>
            <a:srgbClr val="E3F2FD"/>
          </a:solidFill>
          <a:ln w="7144">
            <a:solidFill>
              <a:srgbClr val="BBDEFB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0069" y="2614099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6" name="Text 24"/>
          <p:cNvSpPr/>
          <p:nvPr/>
        </p:nvSpPr>
        <p:spPr>
          <a:xfrm>
            <a:off x="735806" y="2621242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ТИП ПРОДУКТА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0069" y="2799836"/>
            <a:ext cx="255746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Водно-дисперсионная полиакриловая краска. Назначение — </a:t>
            </a:r>
            <a:r>
              <a:rPr lang="en-US" sz="800" b="1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только потолки</a:t>
            </a: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 Глубокоматовая фактура без бликов.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403997" y="1079085"/>
            <a:ext cx="5336381" cy="3303984"/>
          </a:xfrm>
          <a:prstGeom prst="roundRect">
            <a:avLst>
              <a:gd name="adj" fmla="val 3459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550444" y="1225532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0" name="Text 28"/>
          <p:cNvSpPr/>
          <p:nvPr/>
        </p:nvSpPr>
        <p:spPr>
          <a:xfrm>
            <a:off x="3736180" y="1232676"/>
            <a:ext cx="241458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445158"/>
              </p:ext>
            </p:extLst>
          </p:nvPr>
        </p:nvGraphicFramePr>
        <p:xfrm>
          <a:off x="3550444" y="1439845"/>
          <a:ext cx="4972050" cy="2068359"/>
        </p:xfrm>
        <a:graphic>
          <a:graphicData uri="http://schemas.openxmlformats.org/drawingml/2006/table">
            <a:tbl>
              <a:tblPr/>
              <a:tblGrid>
                <a:gridCol w="1988753"/>
                <a:gridCol w="905805"/>
                <a:gridCol w="1079711"/>
                <a:gridCol w="99778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этажей≤28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этажей28–50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этажей&gt;50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НГ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НГ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3550444" y="412946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984" dirty="0"/>
          </a:p>
        </p:txBody>
      </p:sp>
      <p:sp>
        <p:nvSpPr>
          <p:cNvPr id="41" name="Text 38"/>
          <p:cNvSpPr/>
          <p:nvPr/>
        </p:nvSpPr>
        <p:spPr>
          <a:xfrm>
            <a:off x="3707606" y="4122323"/>
            <a:ext cx="48863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Для зданий &gt;17 этажей на путях эвакуации требуются материалы класса 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НГ (негорючие)</a:t>
            </a: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00050" y="4672013"/>
            <a:ext cx="8343900" cy="328613"/>
          </a:xfrm>
          <a:prstGeom prst="roundRect">
            <a:avLst>
              <a:gd name="adj" fmla="val 231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40"/>
          <p:cNvSpPr/>
          <p:nvPr/>
        </p:nvSpPr>
        <p:spPr>
          <a:xfrm>
            <a:off x="414338" y="4672013"/>
            <a:ext cx="0" cy="328613"/>
          </a:xfrm>
          <a:prstGeom prst="line">
            <a:avLst/>
          </a:prstGeom>
          <a:noFill/>
          <a:ln w="28575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571500" y="475773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547" dirty="0"/>
          </a:p>
        </p:txBody>
      </p:sp>
      <p:sp>
        <p:nvSpPr>
          <p:cNvPr id="45" name="Text 42"/>
          <p:cNvSpPr/>
          <p:nvPr/>
        </p:nvSpPr>
        <p:spPr>
          <a:xfrm>
            <a:off x="814388" y="4767560"/>
            <a:ext cx="7786688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3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Назначение.</a:t>
            </a: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Специально для потолков. Глубокоматовая, не бликует. Для всех типов жилых и общественных зданий до 17 этажей.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892969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00050" y="2607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4" name="Text 2"/>
          <p:cNvSpPr/>
          <p:nvPr/>
        </p:nvSpPr>
        <p:spPr>
          <a:xfrm>
            <a:off x="557213" y="257175"/>
            <a:ext cx="51292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kern="0" spc="12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</a:t>
            </a:r>
            <a:r>
              <a:rPr lang="en-US" sz="800" kern="0" spc="124" dirty="0" smtClean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ПРОДУКТА</a:t>
            </a:r>
            <a:endParaRPr lang="ru-RU" sz="800" kern="0" spc="124" dirty="0" smtClean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844"/>
              </a:lnSpc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00050" y="392906"/>
            <a:ext cx="5550694" cy="2440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969"/>
              </a:lnSpc>
              <a:buNone/>
            </a:pPr>
            <a:r>
              <a:rPr lang="en-US" sz="1400" b="1" kern="0" spc="-16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ДИСКОНТ моющаяся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0050" y="664369"/>
            <a:ext cx="528637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Интерьерная моющаяся ВД-краска для кухонь, прихожих, коридоров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06869" y="257175"/>
            <a:ext cx="193708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42857" y="410766"/>
            <a:ext cx="1597521" cy="192881"/>
          </a:xfrm>
          <a:prstGeom prst="roundRect">
            <a:avLst>
              <a:gd name="adj" fmla="val 29630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19731" y="404109"/>
            <a:ext cx="1290340" cy="128016"/>
          </a:xfrm>
          <a:prstGeom prst="rect">
            <a:avLst/>
          </a:prstGeom>
          <a:noFill/>
          <a:ln/>
        </p:spPr>
        <p:txBody>
          <a:bodyPr wrap="none" lIns="85725" tIns="28575" rIns="85725" bIns="28575" rtlCol="0" anchor="t"/>
          <a:lstStyle/>
          <a:p>
            <a:pPr marL="0" indent="0" algn="r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 (Г1, В1, Д1, Т1, РП1)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7232154" y="457200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984" dirty="0"/>
          </a:p>
        </p:txBody>
      </p:sp>
      <p:sp>
        <p:nvSpPr>
          <p:cNvPr id="12" name="Text 10"/>
          <p:cNvSpPr/>
          <p:nvPr/>
        </p:nvSpPr>
        <p:spPr>
          <a:xfrm>
            <a:off x="403622" y="1014413"/>
            <a:ext cx="2064544" cy="1057610"/>
          </a:xfrm>
          <a:prstGeom prst="roundRect">
            <a:avLst>
              <a:gd name="adj" fmla="val 10807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206" y="111978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678656" y="1117997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СЕРТИФИКАТЫ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7206" y="1307306"/>
            <a:ext cx="1857375" cy="1229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2 сертификата: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206" y="1457660"/>
            <a:ext cx="1857375" cy="11187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rmAutofit fontScale="25000" lnSpcReduction="20000"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Д-RU.PA01.B.00164/23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07206" y="1596963"/>
            <a:ext cx="1857375" cy="16902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rm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Д-RU.RA01.B.03124/21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7206" y="1796988"/>
            <a:ext cx="1857375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7206" y="187021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844" dirty="0"/>
          </a:p>
        </p:txBody>
      </p:sp>
      <p:sp>
        <p:nvSpPr>
          <p:cNvPr id="20" name="Text 18"/>
          <p:cNvSpPr/>
          <p:nvPr/>
        </p:nvSpPr>
        <p:spPr>
          <a:xfrm>
            <a:off x="635794" y="1857710"/>
            <a:ext cx="172878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00A8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Действует до 05.02.2028 / 2026 г.</a:t>
            </a:r>
            <a:endParaRPr lang="en-US" sz="60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2161319"/>
            <a:ext cx="2071688" cy="76080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03622" y="2164891"/>
            <a:ext cx="2064544" cy="753666"/>
          </a:xfrm>
          <a:prstGeom prst="roundRect">
            <a:avLst>
              <a:gd name="adj" fmla="val 15166"/>
            </a:avLst>
          </a:prstGeom>
          <a:noFill/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507206" y="2270261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◐</a:t>
            </a:r>
            <a:endParaRPr lang="en-US" sz="1125" dirty="0"/>
          </a:p>
        </p:txBody>
      </p:sp>
      <p:sp>
        <p:nvSpPr>
          <p:cNvPr id="24" name="Text 21"/>
          <p:cNvSpPr/>
          <p:nvPr/>
        </p:nvSpPr>
        <p:spPr>
          <a:xfrm>
            <a:off x="678656" y="2268475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07206" y="2433639"/>
            <a:ext cx="325375" cy="184023"/>
          </a:xfrm>
          <a:prstGeom prst="roundRect">
            <a:avLst>
              <a:gd name="adj" fmla="val 20704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507206" y="2443497"/>
            <a:ext cx="325375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Кухни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875444" y="2433639"/>
            <a:ext cx="468139" cy="184023"/>
          </a:xfrm>
          <a:prstGeom prst="roundRect">
            <a:avLst>
              <a:gd name="adj" fmla="val 20704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875444" y="2443497"/>
            <a:ext cx="46813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Прихожие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386446" y="2433639"/>
            <a:ext cx="482761" cy="184023"/>
          </a:xfrm>
          <a:prstGeom prst="roundRect">
            <a:avLst>
              <a:gd name="adj" fmla="val 20704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1386446" y="2443497"/>
            <a:ext cx="482761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Коридоры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912069" y="2433639"/>
            <a:ext cx="398041" cy="184023"/>
          </a:xfrm>
          <a:prstGeom prst="roundRect">
            <a:avLst>
              <a:gd name="adj" fmla="val 20704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9"/>
          <p:cNvSpPr/>
          <p:nvPr/>
        </p:nvSpPr>
        <p:spPr>
          <a:xfrm>
            <a:off x="1904486" y="2443497"/>
            <a:ext cx="413207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Детские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4346" y="2640808"/>
            <a:ext cx="902412" cy="184023"/>
          </a:xfrm>
          <a:prstGeom prst="roundRect">
            <a:avLst>
              <a:gd name="adj" fmla="val 20704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507206" y="2650666"/>
            <a:ext cx="856692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Места общего польз.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2589609" y="1014413"/>
            <a:ext cx="6150769" cy="2603897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2707481" y="1144786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37" name="Text 34"/>
          <p:cNvSpPr/>
          <p:nvPr/>
        </p:nvSpPr>
        <p:spPr>
          <a:xfrm>
            <a:off x="2878931" y="1132284"/>
            <a:ext cx="256617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Зона применения по этажности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633208" y="1148358"/>
            <a:ext cx="9892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07481" y="1357313"/>
          <a:ext cx="5843588" cy="1853565"/>
        </p:xfrm>
        <a:graphic>
          <a:graphicData uri="http://schemas.openxmlformats.org/drawingml/2006/table">
            <a:tbl>
              <a:tblPr/>
              <a:tblGrid>
                <a:gridCol w="2337346"/>
                <a:gridCol w="1064642"/>
                <a:gridCol w="1268909"/>
                <a:gridCol w="117269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40" name="Text 36"/>
          <p:cNvSpPr/>
          <p:nvPr/>
        </p:nvSpPr>
        <p:spPr>
          <a:xfrm>
            <a:off x="2707481" y="340399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844" dirty="0"/>
          </a:p>
        </p:txBody>
      </p:sp>
      <p:sp>
        <p:nvSpPr>
          <p:cNvPr id="41" name="Text 37"/>
          <p:cNvSpPr/>
          <p:nvPr/>
        </p:nvSpPr>
        <p:spPr>
          <a:xfrm>
            <a:off x="2836069" y="3393281"/>
            <a:ext cx="5786438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 зонах &gt;17 этажей на путях эвакуации — только материалы класса НГ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400050" y="3721894"/>
            <a:ext cx="8343900" cy="300038"/>
          </a:xfrm>
          <a:prstGeom prst="roundRect">
            <a:avLst>
              <a:gd name="adj" fmla="val 25397"/>
            </a:avLst>
          </a:prstGeom>
          <a:solidFill>
            <a:srgbClr val="00A859">
              <a:alpha val="7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39"/>
          <p:cNvSpPr/>
          <p:nvPr/>
        </p:nvSpPr>
        <p:spPr>
          <a:xfrm>
            <a:off x="410766" y="3721894"/>
            <a:ext cx="0" cy="300038"/>
          </a:xfrm>
          <a:prstGeom prst="line">
            <a:avLst/>
          </a:prstGeom>
          <a:noFill/>
          <a:ln w="21431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44" name="Text 40"/>
          <p:cNvSpPr/>
          <p:nvPr/>
        </p:nvSpPr>
        <p:spPr>
          <a:xfrm>
            <a:off x="507206" y="3807619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266" dirty="0"/>
          </a:p>
        </p:txBody>
      </p:sp>
      <p:sp>
        <p:nvSpPr>
          <p:cNvPr id="45" name="Text 41"/>
          <p:cNvSpPr/>
          <p:nvPr/>
        </p:nvSpPr>
        <p:spPr>
          <a:xfrm>
            <a:off x="721519" y="3807619"/>
            <a:ext cx="793670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Устойчива к мытью. Для кухонь, прихожих, детских комнат, мест общего пользования.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892969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00050" y="2607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4" name="Text 2"/>
          <p:cNvSpPr/>
          <p:nvPr/>
        </p:nvSpPr>
        <p:spPr>
          <a:xfrm>
            <a:off x="557213" y="257175"/>
            <a:ext cx="51292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kern="0" spc="12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</a:t>
            </a:r>
            <a:endParaRPr lang="ru-RU" sz="800" kern="0" spc="124" dirty="0">
              <a:solidFill>
                <a:srgbClr val="555555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844"/>
              </a:lnSpc>
              <a:buNone/>
            </a:pP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00050" y="392906"/>
            <a:ext cx="5815013" cy="244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969"/>
              </a:lnSpc>
              <a:buNone/>
            </a:pPr>
            <a:r>
              <a:rPr lang="en-US" sz="1400" b="1" kern="0" spc="-16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ДИСКОНТ интерьерная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0050" y="664369"/>
            <a:ext cx="5709285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ВД-краска полиакриловая для внутренних работ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06869" y="257175"/>
            <a:ext cx="193708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42857" y="410766"/>
            <a:ext cx="1597521" cy="192881"/>
          </a:xfrm>
          <a:prstGeom prst="roundRect">
            <a:avLst>
              <a:gd name="adj" fmla="val 29630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402034" y="427705"/>
            <a:ext cx="1290340" cy="128016"/>
          </a:xfrm>
          <a:prstGeom prst="rect">
            <a:avLst/>
          </a:prstGeom>
          <a:noFill/>
          <a:ln/>
        </p:spPr>
        <p:txBody>
          <a:bodyPr wrap="none" lIns="85725" tIns="28575" rIns="85725" bIns="28575" rtlCol="0" anchor="t"/>
          <a:lstStyle/>
          <a:p>
            <a:pPr marL="0" indent="0" algn="r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 (Г1, В1, Д1, Т1, РП1)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7184962" y="47489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984" dirty="0"/>
          </a:p>
        </p:txBody>
      </p:sp>
      <p:sp>
        <p:nvSpPr>
          <p:cNvPr id="12" name="Text 10"/>
          <p:cNvSpPr/>
          <p:nvPr/>
        </p:nvSpPr>
        <p:spPr>
          <a:xfrm>
            <a:off x="403622" y="1014413"/>
            <a:ext cx="2064544" cy="1211200"/>
          </a:xfrm>
          <a:prstGeom prst="roundRect">
            <a:avLst>
              <a:gd name="adj" fmla="val 9437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206" y="111978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678656" y="1117997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7206" y="1307306"/>
            <a:ext cx="1857375" cy="1229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Сертификат: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7206" y="1457660"/>
            <a:ext cx="1857375" cy="15473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rm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Д-RU.PA01.B.00164/23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7206" y="1643397"/>
            <a:ext cx="1857375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7206" y="1639825"/>
            <a:ext cx="1857375" cy="279749"/>
          </a:xfrm>
          <a:prstGeom prst="rect">
            <a:avLst/>
          </a:prstGeom>
          <a:noFill/>
          <a:ln/>
        </p:spPr>
        <p:txBody>
          <a:bodyPr wrap="square" lIns="0" tIns="42863" rIns="0" bIns="0" rtlCol="0" anchor="t">
            <a:normAutofit/>
          </a:bodyPr>
          <a:lstStyle/>
          <a:p>
            <a:pPr marL="0" indent="0" algn="l">
              <a:lnSpc>
                <a:spcPts val="78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ОРЕОЛ белая моющаяся</a:t>
            </a:r>
            <a:endParaRPr lang="en-US" sz="800" dirty="0"/>
          </a:p>
          <a:p>
            <a:pPr marL="0" indent="0" algn="l">
              <a:lnSpc>
                <a:spcPts val="788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 полиакриловая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07206" y="1950579"/>
            <a:ext cx="1857375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07206" y="202380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844" dirty="0"/>
          </a:p>
        </p:txBody>
      </p:sp>
      <p:sp>
        <p:nvSpPr>
          <p:cNvPr id="21" name="Text 19"/>
          <p:cNvSpPr/>
          <p:nvPr/>
        </p:nvSpPr>
        <p:spPr>
          <a:xfrm>
            <a:off x="635794" y="2011300"/>
            <a:ext cx="172878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800" dirty="0">
                <a:solidFill>
                  <a:srgbClr val="00A859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Действует до 05.02.2028</a:t>
            </a:r>
            <a:endParaRPr lang="en-US" sz="8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2314910"/>
            <a:ext cx="2071688" cy="74652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03622" y="2318482"/>
            <a:ext cx="2064544" cy="739378"/>
          </a:xfrm>
          <a:prstGeom prst="roundRect">
            <a:avLst>
              <a:gd name="adj" fmla="val 15459"/>
            </a:avLst>
          </a:prstGeom>
          <a:noFill/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507206" y="242385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25" name="Text 22"/>
          <p:cNvSpPr/>
          <p:nvPr/>
        </p:nvSpPr>
        <p:spPr>
          <a:xfrm>
            <a:off x="678656" y="2422066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2E7D32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ПРЕИМУЩЕСТВО КМ1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507206" y="2585515"/>
            <a:ext cx="590476" cy="216027"/>
          </a:xfrm>
          <a:prstGeom prst="roundRect">
            <a:avLst>
              <a:gd name="adj" fmla="val 17637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507206" y="2597088"/>
            <a:ext cx="59047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1100" b="1" dirty="0">
                <a:solidFill>
                  <a:srgbClr val="1B5E20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Д1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140544" y="2585515"/>
            <a:ext cx="590587" cy="216027"/>
          </a:xfrm>
          <a:prstGeom prst="roundRect">
            <a:avLst>
              <a:gd name="adj" fmla="val 17637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1140544" y="2597088"/>
            <a:ext cx="59058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1100" b="1" dirty="0">
                <a:solidFill>
                  <a:srgbClr val="1B5E20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Т1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1773994" y="2585515"/>
            <a:ext cx="590476" cy="216027"/>
          </a:xfrm>
          <a:prstGeom prst="roundRect">
            <a:avLst>
              <a:gd name="adj" fmla="val 17637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1773994" y="2597088"/>
            <a:ext cx="59047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РП1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07206" y="2847119"/>
            <a:ext cx="1931670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вместо стандартных Д2 / Т2 / РП2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2589609" y="1014413"/>
            <a:ext cx="6150769" cy="2603897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2707481" y="1144786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35" name="Text 32"/>
          <p:cNvSpPr/>
          <p:nvPr/>
        </p:nvSpPr>
        <p:spPr>
          <a:xfrm>
            <a:off x="2878930" y="1132284"/>
            <a:ext cx="229480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Зона применения по этажности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7633208" y="1148358"/>
            <a:ext cx="9892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07481" y="1357313"/>
          <a:ext cx="5843588" cy="1853565"/>
        </p:xfrm>
        <a:graphic>
          <a:graphicData uri="http://schemas.openxmlformats.org/drawingml/2006/table">
            <a:tbl>
              <a:tblPr/>
              <a:tblGrid>
                <a:gridCol w="2337346"/>
                <a:gridCol w="1064642"/>
                <a:gridCol w="1268909"/>
                <a:gridCol w="117269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2707481" y="340399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844" dirty="0"/>
          </a:p>
        </p:txBody>
      </p:sp>
      <p:sp>
        <p:nvSpPr>
          <p:cNvPr id="39" name="Text 35"/>
          <p:cNvSpPr/>
          <p:nvPr/>
        </p:nvSpPr>
        <p:spPr>
          <a:xfrm>
            <a:off x="2836069" y="3393281"/>
            <a:ext cx="5786438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 зонах &gt;17 этажей на путях эвакуации — только материалы класса НГ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036594" y="105370"/>
            <a:ext cx="1164599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00" dirty="0">
                <a:solidFill>
                  <a:srgbClr val="FFFFFF">
                    <a:alpha val="85000"/>
                  </a:srgbClr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ЛКМ · ФЗ-123 · Классы КМ</a:t>
            </a:r>
            <a:endParaRPr lang="en-US" sz="675" dirty="0"/>
          </a:p>
        </p:txBody>
      </p:sp>
      <p:sp>
        <p:nvSpPr>
          <p:cNvPr id="6" name="Text 4"/>
          <p:cNvSpPr/>
          <p:nvPr/>
        </p:nvSpPr>
        <p:spPr>
          <a:xfrm>
            <a:off x="8188247" y="75652"/>
            <a:ext cx="577077" cy="188024"/>
          </a:xfrm>
          <a:prstGeom prst="roundRect">
            <a:avLst>
              <a:gd name="adj" fmla="val 20263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09620" y="85725"/>
            <a:ext cx="53433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07 / 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0050" y="845561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00050" y="199051"/>
            <a:ext cx="3297261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6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· ФАСАДНАЯ КРАСКА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0050" y="341926"/>
            <a:ext cx="3134806" cy="22617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ОРЕОЛ ДИСКОНТ фасадная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0050" y="595529"/>
            <a:ext cx="3224372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Фасадная ВД-краска для наружных работ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7412868" y="334782"/>
            <a:ext cx="133108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3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787009" y="495517"/>
            <a:ext cx="1953369" cy="257175"/>
          </a:xfrm>
          <a:prstGeom prst="roundRect">
            <a:avLst>
              <a:gd name="adj" fmla="val 22222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695769" y="491945"/>
            <a:ext cx="2200458" cy="264319"/>
          </a:xfrm>
          <a:prstGeom prst="rect">
            <a:avLst/>
          </a:prstGeom>
          <a:noFill/>
          <a:ln/>
        </p:spPr>
        <p:txBody>
          <a:bodyPr wrap="none" lIns="100013" tIns="50006" rIns="100013" bIns="50006" rtlCol="0" anchor="t"/>
          <a:lstStyle/>
          <a:p>
            <a:pPr>
              <a:lnSpc>
                <a:spcPts val="1181"/>
              </a:lnSpc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(КМ1</a:t>
            </a:r>
            <a:r>
              <a:rPr lang="en-US" sz="800" b="1" dirty="0" smtClean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ru-RU" sz="800" b="1" dirty="0" smtClean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800" b="1" dirty="0" smtClean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 </a:t>
            </a: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В1 · Д2 · Т2 · </a:t>
            </a:r>
            <a:r>
              <a:rPr lang="en-US" sz="800" b="1" dirty="0" smtClean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РП1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967004"/>
            <a:ext cx="2850356" cy="1424955"/>
          </a:xfrm>
          <a:prstGeom prst="roundRect">
            <a:avLst>
              <a:gd name="adj" fmla="val 8021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069" y="111345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7" name="Text 15"/>
          <p:cNvSpPr/>
          <p:nvPr/>
        </p:nvSpPr>
        <p:spPr>
          <a:xfrm>
            <a:off x="735806" y="1120595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069" y="1327764"/>
            <a:ext cx="1257188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Рег. №: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21545" y="1327764"/>
            <a:ext cx="1285987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Д-RU.RA01.B.03123/21</a:t>
            </a:r>
            <a:endParaRPr lang="en-US" sz="731" dirty="0"/>
          </a:p>
        </p:txBody>
      </p:sp>
      <p:sp>
        <p:nvSpPr>
          <p:cNvPr id="20" name="Text 18"/>
          <p:cNvSpPr/>
          <p:nvPr/>
        </p:nvSpPr>
        <p:spPr>
          <a:xfrm>
            <a:off x="550069" y="1485596"/>
            <a:ext cx="2095798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СТО: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05134" y="1485596"/>
            <a:ext cx="557417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b="1" dirty="0">
                <a:solidFill>
                  <a:srgbClr val="1A1A2E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135-2018</a:t>
            </a:r>
            <a:endParaRPr lang="en-US" sz="731" dirty="0"/>
          </a:p>
        </p:txBody>
      </p:sp>
      <p:sp>
        <p:nvSpPr>
          <p:cNvPr id="22" name="Text 20"/>
          <p:cNvSpPr/>
          <p:nvPr/>
        </p:nvSpPr>
        <p:spPr>
          <a:xfrm>
            <a:off x="550069" y="1643428"/>
            <a:ext cx="2151720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Действует до: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95011" y="1643428"/>
            <a:ext cx="433586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00A85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2026 г.</a:t>
            </a:r>
            <a:endParaRPr lang="en-US" sz="731" dirty="0"/>
          </a:p>
        </p:txBody>
      </p:sp>
      <p:sp>
        <p:nvSpPr>
          <p:cNvPr id="24" name="Shape 22"/>
          <p:cNvSpPr/>
          <p:nvPr/>
        </p:nvSpPr>
        <p:spPr>
          <a:xfrm>
            <a:off x="550069" y="1890557"/>
            <a:ext cx="255746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50069" y="1979854"/>
            <a:ext cx="255746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Продукт: Краска фасадная СТО 135-2018. Атмосферостойкая, для наружных работ.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03622" y="2513403"/>
            <a:ext cx="2850356" cy="784027"/>
          </a:xfrm>
          <a:prstGeom prst="roundRect">
            <a:avLst>
              <a:gd name="adj" fmla="val 14579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50069" y="265985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1266" dirty="0"/>
          </a:p>
        </p:txBody>
      </p:sp>
      <p:sp>
        <p:nvSpPr>
          <p:cNvPr id="28" name="Text 26"/>
          <p:cNvSpPr/>
          <p:nvPr/>
        </p:nvSpPr>
        <p:spPr>
          <a:xfrm>
            <a:off x="735806" y="2666994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2E7D32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УЛУЧШЕНИЕ ПО СЕРТИФИКАТУ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50616" y="2867019"/>
            <a:ext cx="190294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1100" b="1" strike="sngStrike" dirty="0">
                <a:solidFill>
                  <a:srgbClr val="E53935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В2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98849" y="287628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2540943" y="2867019"/>
            <a:ext cx="190294" cy="125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1100" b="1" dirty="0">
                <a:solidFill>
                  <a:srgbClr val="00A859"/>
                </a:solidFill>
                <a:latin typeface="Segoe UI Symbol" pitchFamily="34" charset="0"/>
                <a:ea typeface="Courier New" pitchFamily="34" charset="-122"/>
                <a:cs typeface="Courier New" pitchFamily="34" charset="-120"/>
              </a:rPr>
              <a:t>В1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069" y="3036683"/>
            <a:ext cx="26671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улучшено по сертификату соответствия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03997" y="967004"/>
            <a:ext cx="5336381" cy="3303984"/>
          </a:xfrm>
          <a:prstGeom prst="roundRect">
            <a:avLst>
              <a:gd name="adj" fmla="val 3459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550444" y="111345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5" name="Text 33"/>
          <p:cNvSpPr/>
          <p:nvPr/>
        </p:nvSpPr>
        <p:spPr>
          <a:xfrm>
            <a:off x="3736181" y="1120595"/>
            <a:ext cx="1887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2675882"/>
              </p:ext>
            </p:extLst>
          </p:nvPr>
        </p:nvGraphicFramePr>
        <p:xfrm>
          <a:off x="3550444" y="1327764"/>
          <a:ext cx="4972050" cy="2068359"/>
        </p:xfrm>
        <a:graphic>
          <a:graphicData uri="http://schemas.openxmlformats.org/drawingml/2006/table">
            <a:tbl>
              <a:tblPr/>
              <a:tblGrid>
                <a:gridCol w="1988753"/>
                <a:gridCol w="905805"/>
                <a:gridCol w="1079711"/>
                <a:gridCol w="99778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этажей≤28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этажей28–50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этажей&gt;50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800" kern="12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800" kern="12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buNone/>
                      </a:pPr>
                      <a:r>
                        <a:rPr lang="en-US" sz="800" kern="12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45" name="Text 42"/>
          <p:cNvSpPr/>
          <p:nvPr/>
        </p:nvSpPr>
        <p:spPr>
          <a:xfrm>
            <a:off x="3550444" y="4017386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984" dirty="0"/>
          </a:p>
        </p:txBody>
      </p:sp>
      <p:sp>
        <p:nvSpPr>
          <p:cNvPr id="46" name="Text 43"/>
          <p:cNvSpPr/>
          <p:nvPr/>
        </p:nvSpPr>
        <p:spPr>
          <a:xfrm>
            <a:off x="3707606" y="4010242"/>
            <a:ext cx="48863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⚠ «Жилые комнаты» помечены ограничением — продукт предназначен только для </a:t>
            </a:r>
            <a:r>
              <a:rPr lang="en-US" sz="700" b="1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наружных фасадов</a:t>
            </a: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400050" y="4495043"/>
            <a:ext cx="8343900" cy="328613"/>
          </a:xfrm>
          <a:prstGeom prst="roundRect">
            <a:avLst>
              <a:gd name="adj" fmla="val 23188"/>
            </a:avLst>
          </a:prstGeom>
          <a:solidFill>
            <a:srgbClr val="FFF8E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Shape 45"/>
          <p:cNvSpPr/>
          <p:nvPr/>
        </p:nvSpPr>
        <p:spPr>
          <a:xfrm>
            <a:off x="414338" y="4495043"/>
            <a:ext cx="0" cy="328613"/>
          </a:xfrm>
          <a:prstGeom prst="line">
            <a:avLst/>
          </a:prstGeom>
          <a:noFill/>
          <a:ln w="28575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571500" y="4580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50" name="Text 47"/>
          <p:cNvSpPr/>
          <p:nvPr/>
        </p:nvSpPr>
        <p:spPr>
          <a:xfrm>
            <a:off x="814388" y="4590590"/>
            <a:ext cx="7786688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3"/>
              </a:lnSpc>
              <a:buNone/>
            </a:pPr>
            <a:r>
              <a:rPr lang="en-US" sz="1100" b="1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 В</a:t>
            </a:r>
            <a:r>
              <a:rPr lang="en-US" sz="700" b="1" dirty="0">
                <a:solidFill>
                  <a:srgbClr val="FF9800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r>
              <a:rPr lang="en-US" sz="700" b="1" dirty="0">
                <a:solidFill>
                  <a:srgbClr val="FF98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→В</a:t>
            </a:r>
            <a:r>
              <a:rPr lang="en-US" sz="700" b="1" dirty="0">
                <a:solidFill>
                  <a:srgbClr val="FF9800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r>
              <a:rPr lang="en-US" sz="700" b="1" dirty="0">
                <a:solidFill>
                  <a:srgbClr val="FF98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улучшено по сертификату!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Для наружных фасадов зданий любой этажности. Атмосферостойкая.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63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0573" y="3971925"/>
            <a:ext cx="1813427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875"/>
              </a:lnSpc>
              <a:buNone/>
            </a:pPr>
            <a:r>
              <a:rPr lang="en-US" sz="1100" b="1" dirty="0">
                <a:solidFill>
                  <a:srgbClr val="1F4E79">
                    <a:alpha val="4000"/>
                  </a:srgbClr>
                </a:solidFill>
                <a:latin typeface="Segoe UI Symbol" pitchFamily="34" charset="0"/>
                <a:ea typeface="Liberation Sans Narrow" pitchFamily="34" charset="-122"/>
                <a:cs typeface="Liberation Sans Narrow" pitchFamily="34" charset="-120"/>
              </a:rPr>
              <a:t>12</a:t>
            </a:r>
            <a:endParaRPr lang="en-US" sz="7875" dirty="0"/>
          </a:p>
        </p:txBody>
      </p:sp>
      <p:sp>
        <p:nvSpPr>
          <p:cNvPr id="4" name="Text 1"/>
          <p:cNvSpPr/>
          <p:nvPr/>
        </p:nvSpPr>
        <p:spPr>
          <a:xfrm>
            <a:off x="500063" y="378619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5" name="Text 2"/>
          <p:cNvSpPr/>
          <p:nvPr/>
        </p:nvSpPr>
        <p:spPr>
          <a:xfrm>
            <a:off x="771525" y="342900"/>
            <a:ext cx="2615316" cy="111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8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· КАТАЛОГ ПРОДУКТОВ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771525" y="482203"/>
            <a:ext cx="234348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Жилищное строительство · классы пожароопасности по ФЗ-123</a:t>
            </a:r>
            <a:endParaRPr lang="en-US" sz="619" dirty="0"/>
          </a:p>
        </p:txBody>
      </p:sp>
      <p:sp>
        <p:nvSpPr>
          <p:cNvPr id="9" name="Text 6"/>
          <p:cNvSpPr/>
          <p:nvPr/>
        </p:nvSpPr>
        <p:spPr>
          <a:xfrm>
            <a:off x="503634" y="703659"/>
            <a:ext cx="8208169" cy="860822"/>
          </a:xfrm>
          <a:prstGeom prst="roundRect">
            <a:avLst>
              <a:gd name="adj" fmla="val 13278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64369" y="835819"/>
            <a:ext cx="7886700" cy="1190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87" dirty="0" smtClean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ПОЛЫ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4369" y="982266"/>
            <a:ext cx="7020866" cy="251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ts val="1654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Эмаль для пола акриловая полуматовая</a:t>
            </a:r>
          </a:p>
        </p:txBody>
      </p:sp>
      <p:sp>
        <p:nvSpPr>
          <p:cNvPr id="12" name="Text 9"/>
          <p:cNvSpPr/>
          <p:nvPr/>
        </p:nvSpPr>
        <p:spPr>
          <a:xfrm>
            <a:off x="664369" y="1260872"/>
            <a:ext cx="689321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ВД-эмаль для покрытия полов внутри помещений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195565" y="823017"/>
            <a:ext cx="1378364" cy="264919"/>
          </a:xfrm>
          <a:prstGeom prst="roundRect">
            <a:avLst>
              <a:gd name="adj" fmla="val 21573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7218425" y="835819"/>
            <a:ext cx="1332644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 (Г1, В1, Д1, Т1)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518511" y="1132284"/>
            <a:ext cx="103255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3" dirty="0">
                <a:solidFill>
                  <a:srgbClr val="90A4AE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Класс пожароопасности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503634" y="1671638"/>
            <a:ext cx="2707481" cy="696516"/>
          </a:xfrm>
          <a:prstGeom prst="roundRect">
            <a:avLst>
              <a:gd name="adj" fmla="val 1641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1506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807244" y="1775222"/>
            <a:ext cx="228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1506" y="1957388"/>
            <a:ext cx="2471738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Д-RU.PA01.B.00229/22</a:t>
            </a:r>
            <a:endParaRPr lang="en-US" sz="500" dirty="0"/>
          </a:p>
        </p:txBody>
      </p:sp>
      <p:sp>
        <p:nvSpPr>
          <p:cNvPr id="20" name="Text 17"/>
          <p:cNvSpPr/>
          <p:nvPr/>
        </p:nvSpPr>
        <p:spPr>
          <a:xfrm>
            <a:off x="621506" y="2135981"/>
            <a:ext cx="247173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Действует до </a:t>
            </a:r>
            <a:r>
              <a:rPr lang="en-US" sz="800" b="1" dirty="0">
                <a:solidFill>
                  <a:srgbClr val="1F4E79"/>
                </a:solidFill>
                <a:latin typeface="Carlito" pitchFamily="34" charset="0"/>
                <a:ea typeface="Liberation Sans Narrow" pitchFamily="34" charset="-122"/>
                <a:cs typeface="Liberation Sans Narrow" pitchFamily="34" charset="-120"/>
              </a:rPr>
              <a:t>10.02.2027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3634" y="2461022"/>
            <a:ext cx="2707481" cy="1621631"/>
          </a:xfrm>
          <a:prstGeom prst="roundRect">
            <a:avLst>
              <a:gd name="adj" fmla="val 7048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21506" y="2578894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835819" y="2582466"/>
            <a:ext cx="225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kern="0" spc="32" dirty="0">
                <a:solidFill>
                  <a:srgbClr val="2E7D32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КМ1 — ЛУЧШИЙ КЛАСС ДЛЯ ПОЛОВ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1506" y="2793206"/>
            <a:ext cx="2471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Класс </a:t>
            </a:r>
            <a:r>
              <a:rPr lang="en-US" sz="700" b="1" dirty="0">
                <a:solidFill>
                  <a:srgbClr val="2E7D3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КМ1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— лучший показатель для половой эмали. Для полов в жилых и общественных зданиях </a:t>
            </a:r>
            <a:r>
              <a:rPr lang="en-US" sz="7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до 17 этажей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21506" y="3757613"/>
            <a:ext cx="2471738" cy="0"/>
          </a:xfrm>
          <a:prstGeom prst="line">
            <a:avLst/>
          </a:prstGeom>
          <a:noFill/>
          <a:ln w="7144">
            <a:solidFill>
              <a:srgbClr val="A5D6A7"/>
            </a:solidFill>
            <a:prstDash val="dash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21506" y="38558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27" name="Text 24"/>
          <p:cNvSpPr/>
          <p:nvPr/>
        </p:nvSpPr>
        <p:spPr>
          <a:xfrm>
            <a:off x="778669" y="3846909"/>
            <a:ext cx="2314575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Высокая износостойкость · полуматовое покрытие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332559" y="1671638"/>
            <a:ext cx="5379244" cy="2411016"/>
          </a:xfrm>
          <a:prstGeom prst="roundRect">
            <a:avLst>
              <a:gd name="adj" fmla="val 4741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3450431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0" name="Text 27"/>
          <p:cNvSpPr/>
          <p:nvPr/>
        </p:nvSpPr>
        <p:spPr>
          <a:xfrm>
            <a:off x="3636169" y="1775222"/>
            <a:ext cx="2906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516453" y="1791295"/>
            <a:ext cx="10774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kern="0" spc="45" dirty="0">
                <a:solidFill>
                  <a:srgbClr val="90A4A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0431" y="1985963"/>
          <a:ext cx="5072063" cy="1960725"/>
        </p:xfrm>
        <a:graphic>
          <a:graphicData uri="http://schemas.openxmlformats.org/drawingml/2006/table">
            <a:tbl>
              <a:tblPr/>
              <a:tblGrid>
                <a:gridCol w="1847776"/>
                <a:gridCol w="996776"/>
                <a:gridCol w="1133959"/>
                <a:gridCol w="1093552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 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 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/>
          <p:nvPr/>
        </p:nvSpPr>
        <p:spPr>
          <a:xfrm>
            <a:off x="3450431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3450431" y="3871913"/>
            <a:ext cx="522030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Можно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3891000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3891000" y="3871913"/>
            <a:ext cx="85013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 ограничениями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4685407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CD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4"/>
          <p:cNvSpPr/>
          <p:nvPr/>
        </p:nvSpPr>
        <p:spPr>
          <a:xfrm>
            <a:off x="4685407" y="3871913"/>
            <a:ext cx="48523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Нельзя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5139035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ECEF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5139035" y="3871913"/>
            <a:ext cx="345489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применяется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63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0573" y="3971925"/>
            <a:ext cx="1813427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875"/>
              </a:lnSpc>
              <a:buNone/>
            </a:pPr>
            <a:r>
              <a:rPr lang="en-US" sz="1100" b="1" dirty="0">
                <a:solidFill>
                  <a:srgbClr val="1F4E79">
                    <a:alpha val="4000"/>
                  </a:srgbClr>
                </a:solidFill>
                <a:latin typeface="Segoe UI Symbol" pitchFamily="34" charset="0"/>
                <a:ea typeface="Liberation Sans Narrow" pitchFamily="34" charset="-122"/>
                <a:cs typeface="Liberation Sans Narrow" pitchFamily="34" charset="-120"/>
              </a:rPr>
              <a:t>15</a:t>
            </a:r>
            <a:endParaRPr lang="en-US" sz="7875" dirty="0"/>
          </a:p>
        </p:txBody>
      </p:sp>
      <p:sp>
        <p:nvSpPr>
          <p:cNvPr id="4" name="Text 1"/>
          <p:cNvSpPr/>
          <p:nvPr/>
        </p:nvSpPr>
        <p:spPr>
          <a:xfrm>
            <a:off x="500063" y="378619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5" name="Text 2"/>
          <p:cNvSpPr/>
          <p:nvPr/>
        </p:nvSpPr>
        <p:spPr>
          <a:xfrm>
            <a:off x="771525" y="342900"/>
            <a:ext cx="2615316" cy="111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8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· КАТАЛОГ ПРОДУКТОВ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771525" y="482203"/>
            <a:ext cx="234348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Жилищное строительство · классы пожароопасности по ФЗ-123</a:t>
            </a:r>
            <a:endParaRPr lang="en-US" sz="619" dirty="0"/>
          </a:p>
        </p:txBody>
      </p:sp>
      <p:sp>
        <p:nvSpPr>
          <p:cNvPr id="9" name="Text 6"/>
          <p:cNvSpPr/>
          <p:nvPr/>
        </p:nvSpPr>
        <p:spPr>
          <a:xfrm>
            <a:off x="503634" y="703659"/>
            <a:ext cx="8208169" cy="860822"/>
          </a:xfrm>
          <a:prstGeom prst="roundRect">
            <a:avLst>
              <a:gd name="adj" fmla="val 13278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64369" y="835819"/>
            <a:ext cx="6950649" cy="1190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87" dirty="0" smtClean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ИНТЕРЬЕР </a:t>
            </a:r>
            <a:r>
              <a:rPr lang="en-US" sz="800" b="1" kern="0" spc="87" dirty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· СТЕНЫ И ПОТОЛКИ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4369" y="982266"/>
            <a:ext cx="6713417" cy="251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54"/>
              </a:lnSpc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Краска интерьерная моющаяся</a:t>
            </a:r>
          </a:p>
        </p:txBody>
      </p:sp>
      <p:sp>
        <p:nvSpPr>
          <p:cNvPr id="12" name="Text 9"/>
          <p:cNvSpPr/>
          <p:nvPr/>
        </p:nvSpPr>
        <p:spPr>
          <a:xfrm>
            <a:off x="664369" y="1260872"/>
            <a:ext cx="610310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ВД-краска СТО 05744283-134-2018. Для стен и потолков.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942497" y="839391"/>
            <a:ext cx="1605000" cy="232172"/>
          </a:xfrm>
          <a:prstGeom prst="roundRect">
            <a:avLst>
              <a:gd name="adj" fmla="val 24615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6938925" y="835819"/>
            <a:ext cx="1612143" cy="269034"/>
          </a:xfrm>
          <a:prstGeom prst="rect">
            <a:avLst/>
          </a:prstGeom>
          <a:noFill/>
          <a:ln/>
        </p:spPr>
        <p:txBody>
          <a:bodyPr wrap="none" lIns="100013" tIns="42863" rIns="100013" bIns="42863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КМ1 (Г1, В1, Д2, Т2, РП1)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518511" y="1132284"/>
            <a:ext cx="103255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3" dirty="0">
                <a:solidFill>
                  <a:srgbClr val="90A4AE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Класс пожароопасности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503634" y="1671638"/>
            <a:ext cx="2707481" cy="696516"/>
          </a:xfrm>
          <a:prstGeom prst="roundRect">
            <a:avLst>
              <a:gd name="adj" fmla="val 1641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1506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807244" y="1775222"/>
            <a:ext cx="228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1506" y="1957388"/>
            <a:ext cx="2471738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Д-RU.RA01.B.03124/21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21506" y="2135981"/>
            <a:ext cx="247173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Действует до </a:t>
            </a:r>
            <a:r>
              <a:rPr lang="en-US" sz="800" b="1" dirty="0">
                <a:solidFill>
                  <a:srgbClr val="1F4E79"/>
                </a:solidFill>
                <a:latin typeface="Carlito" pitchFamily="34" charset="0"/>
                <a:ea typeface="Liberation Sans Narrow" pitchFamily="34" charset="-122"/>
                <a:cs typeface="Liberation Sans Narrow" pitchFamily="34" charset="-120"/>
              </a:rPr>
              <a:t>2026 г.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3634" y="2461022"/>
            <a:ext cx="2707481" cy="1621631"/>
          </a:xfrm>
          <a:prstGeom prst="roundRect">
            <a:avLst>
              <a:gd name="adj" fmla="val 7048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21506" y="2578894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◐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835819" y="2582466"/>
            <a:ext cx="225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kern="0" spc="32" dirty="0">
                <a:solidFill>
                  <a:srgbClr val="2E7D32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КМ1 · МОЮЩАЯСЯ · ИЗНОСОСТОЙКАЯ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1506" y="2793206"/>
            <a:ext cx="2471738" cy="476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Класс </a:t>
            </a:r>
            <a:r>
              <a:rPr lang="en-US" sz="700" b="1" dirty="0">
                <a:solidFill>
                  <a:srgbClr val="2E7D3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КМ1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 Для стен и потолков в жилых и общественных зданиях </a:t>
            </a:r>
            <a:r>
              <a:rPr lang="en-US" sz="7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до 17 этажей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 Моющаяся, устойчивая к истиранию.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21506" y="3296841"/>
            <a:ext cx="1207294" cy="360759"/>
          </a:xfrm>
          <a:prstGeom prst="roundRect">
            <a:avLst>
              <a:gd name="adj" fmla="val 10561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632222" y="3296841"/>
            <a:ext cx="0" cy="360759"/>
          </a:xfrm>
          <a:prstGeom prst="line">
            <a:avLst/>
          </a:prstGeom>
          <a:noFill/>
          <a:ln w="21431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28663" y="3353991"/>
            <a:ext cx="101441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СТО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28663" y="3461147"/>
            <a:ext cx="101441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05744283-134-2018</a:t>
            </a:r>
            <a:endParaRPr lang="en-US" sz="675" dirty="0"/>
          </a:p>
        </p:txBody>
      </p:sp>
      <p:sp>
        <p:nvSpPr>
          <p:cNvPr id="29" name="Text 26"/>
          <p:cNvSpPr/>
          <p:nvPr/>
        </p:nvSpPr>
        <p:spPr>
          <a:xfrm>
            <a:off x="1885950" y="3296841"/>
            <a:ext cx="1207294" cy="360759"/>
          </a:xfrm>
          <a:prstGeom prst="roundRect">
            <a:avLst>
              <a:gd name="adj" fmla="val 10561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7"/>
          <p:cNvSpPr/>
          <p:nvPr/>
        </p:nvSpPr>
        <p:spPr>
          <a:xfrm>
            <a:off x="1896666" y="3296841"/>
            <a:ext cx="0" cy="360759"/>
          </a:xfrm>
          <a:prstGeom prst="line">
            <a:avLst/>
          </a:prstGeom>
          <a:noFill/>
          <a:ln w="21431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993106" y="3353991"/>
            <a:ext cx="101441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Свойство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993106" y="3461147"/>
            <a:ext cx="101441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Моющаяся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332559" y="1671638"/>
            <a:ext cx="5379244" cy="2411016"/>
          </a:xfrm>
          <a:prstGeom prst="roundRect">
            <a:avLst>
              <a:gd name="adj" fmla="val 4741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3450431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5" name="Text 32"/>
          <p:cNvSpPr/>
          <p:nvPr/>
        </p:nvSpPr>
        <p:spPr>
          <a:xfrm>
            <a:off x="3636169" y="1775222"/>
            <a:ext cx="295931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7516453" y="1791295"/>
            <a:ext cx="10774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kern="0" spc="45" dirty="0">
                <a:solidFill>
                  <a:srgbClr val="90A4A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0431" y="1985963"/>
          <a:ext cx="5072063" cy="1960725"/>
        </p:xfrm>
        <a:graphic>
          <a:graphicData uri="http://schemas.openxmlformats.org/drawingml/2006/table">
            <a:tbl>
              <a:tblPr/>
              <a:tblGrid>
                <a:gridCol w="1847776"/>
                <a:gridCol w="996776"/>
                <a:gridCol w="1133959"/>
                <a:gridCol w="1093552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 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 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50431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5"/>
          <p:cNvSpPr/>
          <p:nvPr/>
        </p:nvSpPr>
        <p:spPr>
          <a:xfrm>
            <a:off x="3450431" y="3871913"/>
            <a:ext cx="522030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Можно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3891000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3891000" y="3871913"/>
            <a:ext cx="85013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 ограничениями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4685407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CD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4685407" y="3871913"/>
            <a:ext cx="48523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Нельзя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5139035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ECEF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5139035" y="3871913"/>
            <a:ext cx="345489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применяется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339328"/>
          </a:xfrm>
          <a:prstGeom prst="rect">
            <a:avLst/>
          </a:prstGeom>
          <a:solidFill>
            <a:srgbClr val="1F4E7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10537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266" dirty="0"/>
          </a:p>
        </p:txBody>
      </p:sp>
      <p:sp>
        <p:nvSpPr>
          <p:cNvPr id="4" name="Text 2"/>
          <p:cNvSpPr/>
          <p:nvPr/>
        </p:nvSpPr>
        <p:spPr>
          <a:xfrm>
            <a:off x="614363" y="100013"/>
            <a:ext cx="2827277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kern="0" spc="59" dirty="0">
                <a:solidFill>
                  <a:srgbClr val="FFFFFF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КАТАЛОГ ЭМПИЛС · ЖИЛИЩНОЕ СТРОИТЕЛЬСТВО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036594" y="105370"/>
            <a:ext cx="1164599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00" dirty="0">
                <a:solidFill>
                  <a:srgbClr val="FFFFFF">
                    <a:alpha val="85000"/>
                  </a:srgbClr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ЛКМ · ФЗ-123 · Классы КМ</a:t>
            </a:r>
            <a:endParaRPr lang="en-US" sz="675" dirty="0"/>
          </a:p>
        </p:txBody>
      </p:sp>
      <p:sp>
        <p:nvSpPr>
          <p:cNvPr id="6" name="Text 4"/>
          <p:cNvSpPr/>
          <p:nvPr/>
        </p:nvSpPr>
        <p:spPr>
          <a:xfrm>
            <a:off x="8188247" y="75652"/>
            <a:ext cx="577077" cy="188024"/>
          </a:xfrm>
          <a:prstGeom prst="roundRect">
            <a:avLst>
              <a:gd name="adj" fmla="val 20263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09620" y="85725"/>
            <a:ext cx="53433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09 / 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0050" y="1128713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00050" y="482203"/>
            <a:ext cx="4266826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6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· ЭМАЛЬ ГЛЯНЦЕВАЯ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0050" y="625078"/>
            <a:ext cx="4249772" cy="226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ts val="1654"/>
              </a:lnSpc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Эмаль акриловая глянцевая ОРЕОЛ</a:t>
            </a:r>
          </a:p>
        </p:txBody>
      </p:sp>
      <p:sp>
        <p:nvSpPr>
          <p:cNvPr id="11" name="Text 9"/>
          <p:cNvSpPr/>
          <p:nvPr/>
        </p:nvSpPr>
        <p:spPr>
          <a:xfrm>
            <a:off x="400050" y="878681"/>
            <a:ext cx="3863429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ВД-эмаль для внутренней отделки. Дерево, металл, ДСП, МДФ.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7412868" y="617934"/>
            <a:ext cx="133108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3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83100" y="762295"/>
            <a:ext cx="1283710" cy="289922"/>
          </a:xfrm>
          <a:prstGeom prst="roundRect">
            <a:avLst>
              <a:gd name="adj" fmla="val 19712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05960" y="775097"/>
            <a:ext cx="1237990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 · В1 · Д1 · Т1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1250156"/>
            <a:ext cx="2850356" cy="1267123"/>
          </a:xfrm>
          <a:prstGeom prst="roundRect">
            <a:avLst>
              <a:gd name="adj" fmla="val 902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069" y="1396603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7" name="Text 15"/>
          <p:cNvSpPr/>
          <p:nvPr/>
        </p:nvSpPr>
        <p:spPr>
          <a:xfrm>
            <a:off x="735806" y="1403747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069" y="1610916"/>
            <a:ext cx="1257188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Рег. № ДС: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21545" y="1610916"/>
            <a:ext cx="1285987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Д-RU.PA01.B.01134/26</a:t>
            </a:r>
            <a:endParaRPr lang="en-US" sz="731" dirty="0"/>
          </a:p>
        </p:txBody>
      </p:sp>
      <p:sp>
        <p:nvSpPr>
          <p:cNvPr id="20" name="Text 18"/>
          <p:cNvSpPr/>
          <p:nvPr/>
        </p:nvSpPr>
        <p:spPr>
          <a:xfrm>
            <a:off x="550069" y="1768748"/>
            <a:ext cx="198395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Действует до: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90584" y="1768748"/>
            <a:ext cx="67467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00A85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24.05.2031</a:t>
            </a:r>
            <a:endParaRPr lang="en-US" sz="731" dirty="0"/>
          </a:p>
        </p:txBody>
      </p:sp>
      <p:sp>
        <p:nvSpPr>
          <p:cNvPr id="22" name="Shape 20"/>
          <p:cNvSpPr/>
          <p:nvPr/>
        </p:nvSpPr>
        <p:spPr>
          <a:xfrm>
            <a:off x="550069" y="2015877"/>
            <a:ext cx="2557463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50069" y="2105174"/>
            <a:ext cx="255746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Декларация соответствия подтверждает классы пожаробезопасности по ФЗ-123.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03622" y="2638723"/>
            <a:ext cx="2850356" cy="803672"/>
          </a:xfrm>
          <a:prstGeom prst="roundRect">
            <a:avLst>
              <a:gd name="adj" fmla="val 14222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50069" y="278517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266" dirty="0"/>
          </a:p>
        </p:txBody>
      </p:sp>
      <p:sp>
        <p:nvSpPr>
          <p:cNvPr id="26" name="Text 24"/>
          <p:cNvSpPr/>
          <p:nvPr/>
        </p:nvSpPr>
        <p:spPr>
          <a:xfrm>
            <a:off x="735806" y="2792313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2E7D32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ЛУЧШИЕ ПОКАЗАТЕЛИ СРЕДИ ЭМАЛЕЙ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0069" y="2970907"/>
            <a:ext cx="2557463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Д1 / Т1 — малодымообразующие и малотоксичные. Превосходит матовую версию (Д2/Т2).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403997" y="1250156"/>
            <a:ext cx="5336381" cy="3303984"/>
          </a:xfrm>
          <a:prstGeom prst="roundRect">
            <a:avLst>
              <a:gd name="adj" fmla="val 3459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550444" y="1396603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0" name="Text 28"/>
          <p:cNvSpPr/>
          <p:nvPr/>
        </p:nvSpPr>
        <p:spPr>
          <a:xfrm>
            <a:off x="3736181" y="1403747"/>
            <a:ext cx="18875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0444" y="1610916"/>
          <a:ext cx="4972050" cy="2068359"/>
        </p:xfrm>
        <a:graphic>
          <a:graphicData uri="http://schemas.openxmlformats.org/drawingml/2006/table">
            <a:tbl>
              <a:tblPr/>
              <a:tblGrid>
                <a:gridCol w="1988753"/>
                <a:gridCol w="905805"/>
                <a:gridCol w="1079711"/>
                <a:gridCol w="99778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этажей≤28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этажей28–50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этажей&gt;50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НГ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3550444" y="430053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984" dirty="0"/>
          </a:p>
        </p:txBody>
      </p:sp>
      <p:sp>
        <p:nvSpPr>
          <p:cNvPr id="41" name="Text 38"/>
          <p:cNvSpPr/>
          <p:nvPr/>
        </p:nvSpPr>
        <p:spPr>
          <a:xfrm>
            <a:off x="3707606" y="4293394"/>
            <a:ext cx="48863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Для зданий &gt;17 этажей на путях эвакуации требуются материалы класса 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НГ (негорючие)</a:t>
            </a: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00050" y="4672013"/>
            <a:ext cx="8343900" cy="328613"/>
          </a:xfrm>
          <a:prstGeom prst="roundRect">
            <a:avLst>
              <a:gd name="adj" fmla="val 231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40"/>
          <p:cNvSpPr/>
          <p:nvPr/>
        </p:nvSpPr>
        <p:spPr>
          <a:xfrm>
            <a:off x="414338" y="4672013"/>
            <a:ext cx="0" cy="328613"/>
          </a:xfrm>
          <a:prstGeom prst="line">
            <a:avLst/>
          </a:prstGeom>
          <a:noFill/>
          <a:ln w="28575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571500" y="475773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547" dirty="0"/>
          </a:p>
        </p:txBody>
      </p:sp>
      <p:sp>
        <p:nvSpPr>
          <p:cNvPr id="45" name="Text 42"/>
          <p:cNvSpPr/>
          <p:nvPr/>
        </p:nvSpPr>
        <p:spPr>
          <a:xfrm>
            <a:off x="814388" y="4767560"/>
            <a:ext cx="7786688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3"/>
              </a:lnSpc>
              <a:buNone/>
            </a:pPr>
            <a:r>
              <a:rPr lang="en-US" sz="7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Назначение.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Лучшие показатели среди эмалей: Д1/Т1. Для деревянных и металлических поверхностей внутри помещений.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0050" y="892969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00050" y="26074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84" dirty="0"/>
          </a:p>
        </p:txBody>
      </p:sp>
      <p:sp>
        <p:nvSpPr>
          <p:cNvPr id="4" name="Text 2"/>
          <p:cNvSpPr/>
          <p:nvPr/>
        </p:nvSpPr>
        <p:spPr>
          <a:xfrm>
            <a:off x="557213" y="257175"/>
            <a:ext cx="51292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kern="0" spc="12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00050" y="451896"/>
            <a:ext cx="6766560" cy="2440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969"/>
              </a:lnSpc>
              <a:buNone/>
            </a:pPr>
            <a:r>
              <a:rPr lang="en-US" sz="1400" b="1" kern="0" spc="-16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NEWTONE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180649" y="322064"/>
            <a:ext cx="156330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26062" y="460081"/>
            <a:ext cx="1340748" cy="224028"/>
          </a:xfrm>
          <a:prstGeom prst="roundRect">
            <a:avLst>
              <a:gd name="adj" fmla="val 25510"/>
            </a:avLst>
          </a:prstGeom>
          <a:solidFill>
            <a:srgbClr val="E3F2FD"/>
          </a:solidFill>
          <a:ln w="7144">
            <a:solidFill>
              <a:srgbClr val="90CAF9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670378" y="522089"/>
            <a:ext cx="980703" cy="128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1565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Г1, В1, Д2, Т2, РП1</a:t>
            </a:r>
            <a:endParaRPr lang="en-US" sz="675" dirty="0"/>
          </a:p>
        </p:txBody>
      </p:sp>
      <p:sp>
        <p:nvSpPr>
          <p:cNvPr id="10" name="Text 8"/>
          <p:cNvSpPr/>
          <p:nvPr/>
        </p:nvSpPr>
        <p:spPr>
          <a:xfrm>
            <a:off x="7506397" y="53388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565C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984" dirty="0"/>
          </a:p>
        </p:txBody>
      </p:sp>
      <p:sp>
        <p:nvSpPr>
          <p:cNvPr id="12" name="Text 10"/>
          <p:cNvSpPr/>
          <p:nvPr/>
        </p:nvSpPr>
        <p:spPr>
          <a:xfrm>
            <a:off x="403622" y="1197282"/>
            <a:ext cx="2064544" cy="1336216"/>
          </a:xfrm>
          <a:prstGeom prst="roundRect">
            <a:avLst>
              <a:gd name="adj" fmla="val 8554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7206" y="130265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678656" y="1300866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1F4E79"/>
                </a:solidFill>
                <a:latin typeface="Carlito"/>
                <a:ea typeface="Carlito" pitchFamily="34" charset="-122"/>
                <a:cs typeface="Carlito" pitchFamily="34" charset="-120"/>
              </a:rPr>
              <a:t>СЕРТИФИКАТЫ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7206" y="1490175"/>
            <a:ext cx="1857375" cy="1229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959"/>
              </a:lnSpc>
              <a:buNone/>
            </a:pPr>
            <a:r>
              <a:rPr lang="en-US" sz="800" dirty="0">
                <a:solidFill>
                  <a:srgbClr val="1F4E79"/>
                </a:solidFill>
                <a:latin typeface="Carlito"/>
                <a:ea typeface="Courier New" pitchFamily="34" charset="-122"/>
                <a:cs typeface="Courier New" pitchFamily="34" charset="-120"/>
              </a:rPr>
              <a:t>4 </a:t>
            </a:r>
            <a:r>
              <a:rPr lang="en-US" sz="800" dirty="0" err="1" smtClean="0">
                <a:solidFill>
                  <a:srgbClr val="1F4E79"/>
                </a:solidFill>
                <a:latin typeface="Carlito"/>
                <a:ea typeface="Courier New" pitchFamily="34" charset="-122"/>
                <a:cs typeface="Courier New" pitchFamily="34" charset="-120"/>
              </a:rPr>
              <a:t>сертификата</a:t>
            </a:r>
            <a:r>
              <a:rPr lang="en-US" sz="800" dirty="0">
                <a:solidFill>
                  <a:srgbClr val="1F4E79"/>
                </a:solidFill>
                <a:latin typeface="Carlito"/>
                <a:ea typeface="Courier New" pitchFamily="34" charset="-122"/>
                <a:cs typeface="Courier New" pitchFamily="34" charset="-120"/>
              </a:rPr>
              <a:t>: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7206" y="1640529"/>
            <a:ext cx="1857375" cy="11187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/>
                <a:ea typeface="Liberation Sans Narrow" pitchFamily="34" charset="-122"/>
                <a:cs typeface="Liberation Sans Narrow" pitchFamily="34" charset="-120"/>
              </a:rPr>
              <a:t>RU Д-RU.PA01.B.00924/23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7206" y="1779832"/>
            <a:ext cx="1857375" cy="11187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/>
                <a:ea typeface="Liberation Sans Narrow" pitchFamily="34" charset="-122"/>
                <a:cs typeface="Liberation Sans Narrow" pitchFamily="34" charset="-120"/>
              </a:rPr>
              <a:t>RU Д-RU.PA01.B.00925/23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7206" y="1919135"/>
            <a:ext cx="1857375" cy="11187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/>
                <a:ea typeface="Liberation Sans Narrow" pitchFamily="34" charset="-122"/>
                <a:cs typeface="Liberation Sans Narrow" pitchFamily="34" charset="-120"/>
              </a:rPr>
              <a:t>RU Д-RU.PA01.B.00923/23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206" y="2058438"/>
            <a:ext cx="1857375" cy="169021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rmAutofit/>
          </a:bodyPr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/>
                <a:ea typeface="Liberation Sans Narrow" pitchFamily="34" charset="-122"/>
                <a:cs typeface="Liberation Sans Narrow" pitchFamily="34" charset="-120"/>
              </a:rPr>
              <a:t>RU Д-RU.RA01.B.00926/23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7206" y="2258463"/>
            <a:ext cx="1857375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7206" y="2331687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844" dirty="0"/>
          </a:p>
        </p:txBody>
      </p:sp>
      <p:sp>
        <p:nvSpPr>
          <p:cNvPr id="22" name="Text 20"/>
          <p:cNvSpPr/>
          <p:nvPr/>
        </p:nvSpPr>
        <p:spPr>
          <a:xfrm>
            <a:off x="635794" y="2319185"/>
            <a:ext cx="1728788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72"/>
              </a:lnSpc>
              <a:buNone/>
            </a:pPr>
            <a:r>
              <a:rPr lang="en-US" sz="800" dirty="0">
                <a:solidFill>
                  <a:srgbClr val="00A859"/>
                </a:solidFill>
                <a:latin typeface="Carlito"/>
                <a:ea typeface="Courier New" pitchFamily="34" charset="-122"/>
                <a:cs typeface="Courier New" pitchFamily="34" charset="-120"/>
              </a:rPr>
              <a:t>Действует до 19.06.2028</a:t>
            </a:r>
            <a:endParaRPr lang="en-US" sz="80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2622794"/>
            <a:ext cx="2071688" cy="81795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403622" y="2626366"/>
            <a:ext cx="2064544" cy="810816"/>
          </a:xfrm>
          <a:prstGeom prst="roundRect">
            <a:avLst>
              <a:gd name="adj" fmla="val 14097"/>
            </a:avLst>
          </a:prstGeom>
          <a:noFill/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07206" y="273173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25" dirty="0"/>
          </a:p>
        </p:txBody>
      </p:sp>
      <p:sp>
        <p:nvSpPr>
          <p:cNvPr id="26" name="Text 23"/>
          <p:cNvSpPr/>
          <p:nvPr/>
        </p:nvSpPr>
        <p:spPr>
          <a:xfrm>
            <a:off x="678656" y="2729951"/>
            <a:ext cx="16859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31" dirty="0">
                <a:solidFill>
                  <a:srgbClr val="1F4E79"/>
                </a:solidFill>
                <a:latin typeface="Carlito"/>
                <a:ea typeface="Carlito" pitchFamily="34" charset="-122"/>
                <a:cs typeface="Carlito" pitchFamily="34" charset="-120"/>
              </a:rPr>
              <a:t>МОДИФИКАЦИИ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07206" y="2893400"/>
            <a:ext cx="907256" cy="216027"/>
          </a:xfrm>
          <a:prstGeom prst="roundRect">
            <a:avLst>
              <a:gd name="adj" fmla="val 1763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56174" y="2950325"/>
            <a:ext cx="416905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/>
                <a:ea typeface="Courier New" pitchFamily="34" charset="-122"/>
                <a:cs typeface="Courier New" pitchFamily="34" charset="-120"/>
              </a:rPr>
              <a:t>INTERIO</a:t>
            </a:r>
            <a:endParaRPr lang="en-US" sz="600" dirty="0"/>
          </a:p>
        </p:txBody>
      </p:sp>
      <p:sp>
        <p:nvSpPr>
          <p:cNvPr id="29" name="Text 26"/>
          <p:cNvSpPr/>
          <p:nvPr/>
        </p:nvSpPr>
        <p:spPr>
          <a:xfrm>
            <a:off x="550069" y="295855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565C0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44" dirty="0"/>
          </a:p>
        </p:txBody>
      </p:sp>
      <p:sp>
        <p:nvSpPr>
          <p:cNvPr id="30" name="Text 27"/>
          <p:cNvSpPr/>
          <p:nvPr/>
        </p:nvSpPr>
        <p:spPr>
          <a:xfrm>
            <a:off x="1457325" y="2893400"/>
            <a:ext cx="907256" cy="216027"/>
          </a:xfrm>
          <a:prstGeom prst="roundRect">
            <a:avLst>
              <a:gd name="adj" fmla="val 1763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1621579" y="2950325"/>
            <a:ext cx="386334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/>
                <a:ea typeface="Liberation Sans Narrow" pitchFamily="34" charset="-122"/>
                <a:cs typeface="Liberation Sans Narrow" pitchFamily="34" charset="-120"/>
              </a:rPr>
              <a:t>LOTUS 3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1500188" y="2958551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565C0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44" dirty="0"/>
          </a:p>
        </p:txBody>
      </p:sp>
      <p:sp>
        <p:nvSpPr>
          <p:cNvPr id="33" name="Text 30"/>
          <p:cNvSpPr/>
          <p:nvPr/>
        </p:nvSpPr>
        <p:spPr>
          <a:xfrm>
            <a:off x="507206" y="3129143"/>
            <a:ext cx="907256" cy="216027"/>
          </a:xfrm>
          <a:prstGeom prst="roundRect">
            <a:avLst>
              <a:gd name="adj" fmla="val 1763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671460" y="3186068"/>
            <a:ext cx="386334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/>
                <a:ea typeface="Liberation Sans Narrow" pitchFamily="34" charset="-122"/>
                <a:cs typeface="Liberation Sans Narrow" pitchFamily="34" charset="-120"/>
              </a:rPr>
              <a:t>LOTUS 7</a:t>
            </a:r>
            <a:endParaRPr lang="en-US" sz="600" dirty="0"/>
          </a:p>
        </p:txBody>
      </p:sp>
      <p:sp>
        <p:nvSpPr>
          <p:cNvPr id="35" name="Text 32"/>
          <p:cNvSpPr/>
          <p:nvPr/>
        </p:nvSpPr>
        <p:spPr>
          <a:xfrm>
            <a:off x="550069" y="319429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565C0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44" dirty="0"/>
          </a:p>
        </p:txBody>
      </p:sp>
      <p:sp>
        <p:nvSpPr>
          <p:cNvPr id="36" name="Text 33"/>
          <p:cNvSpPr/>
          <p:nvPr/>
        </p:nvSpPr>
        <p:spPr>
          <a:xfrm>
            <a:off x="1457325" y="3129143"/>
            <a:ext cx="907256" cy="216027"/>
          </a:xfrm>
          <a:prstGeom prst="roundRect">
            <a:avLst>
              <a:gd name="adj" fmla="val 17637"/>
            </a:avLst>
          </a:prstGeom>
          <a:solidFill>
            <a:srgbClr val="E3F2F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4"/>
          <p:cNvSpPr/>
          <p:nvPr/>
        </p:nvSpPr>
        <p:spPr>
          <a:xfrm>
            <a:off x="1615192" y="3186068"/>
            <a:ext cx="442082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1565C0"/>
                </a:solidFill>
                <a:latin typeface="Liberation Sans"/>
                <a:ea typeface="Liberation Sans Narrow" pitchFamily="34" charset="-122"/>
                <a:cs typeface="Liberation Sans Narrow" pitchFamily="34" charset="-120"/>
              </a:rPr>
              <a:t>LOTUS 20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1500188" y="3194294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565C0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●</a:t>
            </a:r>
            <a:endParaRPr lang="en-US" sz="844" dirty="0"/>
          </a:p>
        </p:txBody>
      </p:sp>
      <p:sp>
        <p:nvSpPr>
          <p:cNvPr id="39" name="Text 36"/>
          <p:cNvSpPr/>
          <p:nvPr/>
        </p:nvSpPr>
        <p:spPr>
          <a:xfrm>
            <a:off x="2589609" y="1197282"/>
            <a:ext cx="6150769" cy="2603897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7"/>
          <p:cNvSpPr/>
          <p:nvPr/>
        </p:nvSpPr>
        <p:spPr>
          <a:xfrm>
            <a:off x="2707481" y="1327655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125" dirty="0"/>
          </a:p>
        </p:txBody>
      </p:sp>
      <p:sp>
        <p:nvSpPr>
          <p:cNvPr id="41" name="Text 38"/>
          <p:cNvSpPr/>
          <p:nvPr/>
        </p:nvSpPr>
        <p:spPr>
          <a:xfrm>
            <a:off x="2878930" y="1315153"/>
            <a:ext cx="248358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/>
                <a:ea typeface="Carlito" pitchFamily="34" charset="-122"/>
                <a:cs typeface="Carlito" pitchFamily="34" charset="-120"/>
              </a:rPr>
              <a:t>Зона применения по этажности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7633208" y="1331227"/>
            <a:ext cx="98929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dirty="0">
                <a:solidFill>
                  <a:srgbClr val="555555"/>
                </a:solidFill>
                <a:latin typeface="Liberation Sans"/>
                <a:ea typeface="Courier New" pitchFamily="34" charset="-122"/>
                <a:cs typeface="Courier New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264437"/>
              </p:ext>
            </p:extLst>
          </p:nvPr>
        </p:nvGraphicFramePr>
        <p:xfrm>
          <a:off x="2707481" y="1540182"/>
          <a:ext cx="5843588" cy="1853565"/>
        </p:xfrm>
        <a:graphic>
          <a:graphicData uri="http://schemas.openxmlformats.org/drawingml/2006/table">
            <a:tbl>
              <a:tblPr/>
              <a:tblGrid>
                <a:gridCol w="2337346"/>
                <a:gridCol w="1064642"/>
                <a:gridCol w="1268909"/>
                <a:gridCol w="117269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(только 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(только 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85725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44" name="Text 40"/>
          <p:cNvSpPr/>
          <p:nvPr/>
        </p:nvSpPr>
        <p:spPr>
          <a:xfrm>
            <a:off x="2707481" y="358686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844" dirty="0"/>
          </a:p>
        </p:txBody>
      </p:sp>
      <p:sp>
        <p:nvSpPr>
          <p:cNvPr id="45" name="Text 41"/>
          <p:cNvSpPr/>
          <p:nvPr/>
        </p:nvSpPr>
        <p:spPr>
          <a:xfrm>
            <a:off x="2836069" y="3576150"/>
            <a:ext cx="5786438" cy="107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/>
                <a:ea typeface="Liberation Sans" pitchFamily="34" charset="-122"/>
                <a:cs typeface="Liberation Sans" pitchFamily="34" charset="-120"/>
              </a:rPr>
              <a:t>В зонах &gt;17 этажей на путях эвакуации — только материалы класса НГ</a:t>
            </a:r>
            <a:endParaRPr lang="en-US" sz="800" dirty="0"/>
          </a:p>
        </p:txBody>
      </p:sp>
      <p:sp>
        <p:nvSpPr>
          <p:cNvPr id="46" name="Text 42"/>
          <p:cNvSpPr/>
          <p:nvPr/>
        </p:nvSpPr>
        <p:spPr>
          <a:xfrm>
            <a:off x="400050" y="4046339"/>
            <a:ext cx="8343900" cy="300038"/>
          </a:xfrm>
          <a:prstGeom prst="roundRect">
            <a:avLst>
              <a:gd name="adj" fmla="val 25397"/>
            </a:avLst>
          </a:prstGeom>
          <a:solidFill>
            <a:srgbClr val="1F4E79">
              <a:alpha val="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3"/>
          <p:cNvSpPr/>
          <p:nvPr/>
        </p:nvSpPr>
        <p:spPr>
          <a:xfrm>
            <a:off x="410766" y="4046339"/>
            <a:ext cx="0" cy="300038"/>
          </a:xfrm>
          <a:prstGeom prst="line">
            <a:avLst/>
          </a:prstGeom>
          <a:noFill/>
          <a:ln w="21431">
            <a:solidFill>
              <a:srgbClr val="1F4E79"/>
            </a:solidFill>
            <a:prstDash val="solid"/>
          </a:ln>
        </p:spPr>
        <p:txBody>
          <a:bodyPr/>
          <a:p/>
        </p:txBody>
      </p:sp>
      <p:sp>
        <p:nvSpPr>
          <p:cNvPr id="48" name="Text 44"/>
          <p:cNvSpPr/>
          <p:nvPr/>
        </p:nvSpPr>
        <p:spPr>
          <a:xfrm>
            <a:off x="507206" y="4137963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ⓘ</a:t>
            </a:r>
            <a:endParaRPr lang="en-US" sz="1266" dirty="0"/>
          </a:p>
        </p:txBody>
      </p:sp>
      <p:sp>
        <p:nvSpPr>
          <p:cNvPr id="49" name="Text 45"/>
          <p:cNvSpPr/>
          <p:nvPr/>
        </p:nvSpPr>
        <p:spPr>
          <a:xfrm>
            <a:off x="721519" y="4143862"/>
            <a:ext cx="793670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Премиальная интерьерная ВД-краска. Стены и потолки жилых, общественных, офисных помещений.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036594" y="105370"/>
            <a:ext cx="1164599" cy="1482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600" dirty="0">
                <a:solidFill>
                  <a:srgbClr val="FFFFFF">
                    <a:alpha val="85000"/>
                  </a:srgbClr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ЛКМ · ФЗ-123 · Классы КМ</a:t>
            </a:r>
            <a:endParaRPr lang="en-US" sz="675" dirty="0"/>
          </a:p>
        </p:txBody>
      </p:sp>
      <p:sp>
        <p:nvSpPr>
          <p:cNvPr id="6" name="Text 4"/>
          <p:cNvSpPr/>
          <p:nvPr/>
        </p:nvSpPr>
        <p:spPr>
          <a:xfrm>
            <a:off x="8188247" y="75652"/>
            <a:ext cx="577077" cy="188024"/>
          </a:xfrm>
          <a:prstGeom prst="roundRect">
            <a:avLst>
              <a:gd name="adj" fmla="val 20263"/>
            </a:avLst>
          </a:prstGeom>
          <a:solidFill>
            <a:srgbClr val="FFFFFF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09620" y="85725"/>
            <a:ext cx="534330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08 / 15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00050" y="1150144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00050" y="518703"/>
            <a:ext cx="4655129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6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· ЭМАЛЬ ДЛЯ РАДИАТОРОВ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0050" y="661578"/>
            <a:ext cx="4604861" cy="21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54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Эмаль для радиаторов акриловая ОРЕОЛ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0050" y="900113"/>
            <a:ext cx="4186238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Акриловая ВД-эмаль для радиаторов отопления, труб, металлических элементов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7412868" y="482203"/>
            <a:ext cx="133108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3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061619" y="626564"/>
            <a:ext cx="1705191" cy="289922"/>
          </a:xfrm>
          <a:prstGeom prst="roundRect">
            <a:avLst>
              <a:gd name="adj" fmla="val 19712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84479" y="639366"/>
            <a:ext cx="1659471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 · В1 · Д2 · Т2 · РП1*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105799" y="946547"/>
            <a:ext cx="17364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i="1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* По типичным показателям ВД-эмалей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03622" y="1271588"/>
            <a:ext cx="2850356" cy="1045220"/>
          </a:xfrm>
          <a:prstGeom prst="roundRect">
            <a:avLst>
              <a:gd name="adj" fmla="val 10935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0069" y="141803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266" dirty="0"/>
          </a:p>
        </p:txBody>
      </p:sp>
      <p:sp>
        <p:nvSpPr>
          <p:cNvPr id="18" name="Text 16"/>
          <p:cNvSpPr/>
          <p:nvPr/>
        </p:nvSpPr>
        <p:spPr>
          <a:xfrm>
            <a:off x="735806" y="1425178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E65100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⚠ ДС В БАЗЕ ЗНАНИЙ ОТСУТСТВУЕТ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50069" y="1632347"/>
            <a:ext cx="17603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Рег. № ДС: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324733" y="1632347"/>
            <a:ext cx="78279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8"/>
              </a:lnSpc>
              <a:buNone/>
            </a:pPr>
            <a:r>
              <a:rPr lang="en-US" sz="800" b="1" dirty="0">
                <a:solidFill>
                  <a:srgbClr val="E53935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— нет в базе 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50069" y="1843980"/>
            <a:ext cx="2557463" cy="0"/>
          </a:xfrm>
          <a:prstGeom prst="line">
            <a:avLst/>
          </a:prstGeom>
          <a:noFill/>
          <a:ln w="7144">
            <a:solidFill>
              <a:srgbClr val="FFCC8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50069" y="1904702"/>
            <a:ext cx="2557463" cy="265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46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Имеется </a:t>
            </a:r>
            <a:r>
              <a:rPr lang="en-US" sz="900" b="1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ПБ:</a:t>
            </a:r>
            <a:r>
              <a:rPr lang="en-US" sz="9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«ПБ Эмаль для радиаторов СТО 012-2011.pdf».</a:t>
            </a:r>
            <a:endParaRPr lang="en-US" sz="800" dirty="0"/>
          </a:p>
          <a:p>
            <a:pPr marL="0" indent="0" algn="l">
              <a:lnSpc>
                <a:spcPts val="1046"/>
              </a:lnSpc>
              <a:buNone/>
            </a:pPr>
            <a:r>
              <a:rPr lang="en-US" sz="900" b="1" dirty="0">
                <a:solidFill>
                  <a:srgbClr val="FF98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Запросите ДС у производителя.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3622" y="2438251"/>
            <a:ext cx="2850356" cy="966192"/>
          </a:xfrm>
          <a:prstGeom prst="roundRect">
            <a:avLst>
              <a:gd name="adj" fmla="val 11830"/>
            </a:avLst>
          </a:prstGeom>
          <a:solidFill>
            <a:srgbClr val="E3F2FD"/>
          </a:solidFill>
          <a:ln w="7144">
            <a:solidFill>
              <a:srgbClr val="BBDEFB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50069" y="2584698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266" dirty="0"/>
          </a:p>
        </p:txBody>
      </p:sp>
      <p:sp>
        <p:nvSpPr>
          <p:cNvPr id="25" name="Text 23"/>
          <p:cNvSpPr/>
          <p:nvPr/>
        </p:nvSpPr>
        <p:spPr>
          <a:xfrm>
            <a:off x="735806" y="2591842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ТИП ПРОДУКТА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50069" y="2770436"/>
            <a:ext cx="255746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Термостойкая акриловая водно-дисперсионная эмаль. Применяется для радиаторов, труб отопления и металлических элементов во всех типах зданий.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03997" y="1271588"/>
            <a:ext cx="5336381" cy="3282553"/>
          </a:xfrm>
          <a:prstGeom prst="roundRect">
            <a:avLst>
              <a:gd name="adj" fmla="val 3482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550444" y="141803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29" name="Text 27"/>
          <p:cNvSpPr/>
          <p:nvPr/>
        </p:nvSpPr>
        <p:spPr>
          <a:xfrm>
            <a:off x="3736180" y="1425178"/>
            <a:ext cx="241458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550444" y="1632347"/>
          <a:ext cx="4972050" cy="2068359"/>
        </p:xfrm>
        <a:graphic>
          <a:graphicData uri="http://schemas.openxmlformats.org/drawingml/2006/table">
            <a:tbl>
              <a:tblPr/>
              <a:tblGrid>
                <a:gridCol w="1988753"/>
                <a:gridCol w="905805"/>
                <a:gridCol w="1079711"/>
                <a:gridCol w="99778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этажей≤28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этажей28–50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этажей&gt;50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3550444" y="4300538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84" dirty="0"/>
          </a:p>
        </p:txBody>
      </p:sp>
      <p:sp>
        <p:nvSpPr>
          <p:cNvPr id="40" name="Text 37"/>
          <p:cNvSpPr/>
          <p:nvPr/>
        </p:nvSpPr>
        <p:spPr>
          <a:xfrm>
            <a:off x="3707606" y="4293394"/>
            <a:ext cx="48863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Допускается во всех типах жилых и общественных зданий независимо от этажности.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00050" y="4672013"/>
            <a:ext cx="8343900" cy="328613"/>
          </a:xfrm>
          <a:prstGeom prst="roundRect">
            <a:avLst>
              <a:gd name="adj" fmla="val 23188"/>
            </a:avLst>
          </a:prstGeom>
          <a:solidFill>
            <a:srgbClr val="F0F4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9"/>
          <p:cNvSpPr/>
          <p:nvPr/>
        </p:nvSpPr>
        <p:spPr>
          <a:xfrm>
            <a:off x="414338" y="4672013"/>
            <a:ext cx="0" cy="328613"/>
          </a:xfrm>
          <a:prstGeom prst="line">
            <a:avLst/>
          </a:prstGeom>
          <a:noFill/>
          <a:ln w="28575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571500" y="475773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A85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1547" dirty="0"/>
          </a:p>
        </p:txBody>
      </p:sp>
      <p:sp>
        <p:nvSpPr>
          <p:cNvPr id="44" name="Text 41"/>
          <p:cNvSpPr/>
          <p:nvPr/>
        </p:nvSpPr>
        <p:spPr>
          <a:xfrm>
            <a:off x="814388" y="4767560"/>
            <a:ext cx="7786688" cy="147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3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Назначение.</a:t>
            </a:r>
            <a:r>
              <a:rPr lang="en-US" sz="8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Термостойкая. Для радиаторов и труб отопления во всех типах зданий.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63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0573" y="3971925"/>
            <a:ext cx="1813427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875"/>
              </a:lnSpc>
              <a:buNone/>
            </a:pPr>
            <a:r>
              <a:rPr lang="en-US" sz="1100" b="1" dirty="0">
                <a:solidFill>
                  <a:srgbClr val="00A859">
                    <a:alpha val="5000"/>
                  </a:srgbClr>
                </a:solidFill>
                <a:latin typeface="Segoe UI Symbol" pitchFamily="34" charset="0"/>
                <a:ea typeface="Liberation Sans Narrow" pitchFamily="34" charset="-122"/>
                <a:cs typeface="Liberation Sans Narrow" pitchFamily="34" charset="-120"/>
              </a:rPr>
              <a:t>13</a:t>
            </a:r>
            <a:endParaRPr lang="en-US" sz="7875" dirty="0"/>
          </a:p>
        </p:txBody>
      </p:sp>
      <p:sp>
        <p:nvSpPr>
          <p:cNvPr id="4" name="Text 1"/>
          <p:cNvSpPr/>
          <p:nvPr/>
        </p:nvSpPr>
        <p:spPr>
          <a:xfrm>
            <a:off x="500063" y="378619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5" name="Text 2"/>
          <p:cNvSpPr/>
          <p:nvPr/>
        </p:nvSpPr>
        <p:spPr>
          <a:xfrm>
            <a:off x="771525" y="401890"/>
            <a:ext cx="2615316" cy="111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8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· КАТАЛОГ ПРОДУКТОВ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3634" y="703659"/>
            <a:ext cx="8208169" cy="860822"/>
          </a:xfrm>
          <a:prstGeom prst="roundRect">
            <a:avLst>
              <a:gd name="adj" fmla="val 13278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64369" y="835819"/>
            <a:ext cx="7285592" cy="1190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87" dirty="0" smtClean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ОГНЕЗАЩИТА </a:t>
            </a:r>
            <a:r>
              <a:rPr lang="en-US" sz="800" b="1" kern="0" spc="87" dirty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ДРЕВЕСИНЫ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4369" y="982266"/>
            <a:ext cx="6760454" cy="2511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>
              <a:lnSpc>
                <a:spcPts val="1654"/>
              </a:lnSpc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Раствор водный ББ-11</a:t>
            </a:r>
          </a:p>
        </p:txBody>
      </p:sp>
      <p:sp>
        <p:nvSpPr>
          <p:cNvPr id="12" name="Text 9"/>
          <p:cNvSpPr/>
          <p:nvPr/>
        </p:nvSpPr>
        <p:spPr>
          <a:xfrm>
            <a:off x="664369" y="1260872"/>
            <a:ext cx="6438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Огнезащитная пропитка для древесины. </a:t>
            </a:r>
            <a:r>
              <a:rPr lang="en-US" sz="700" b="1" dirty="0">
                <a:solidFill>
                  <a:srgbClr val="2E7D32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ПОВЫШАЕТ класс пожаробезопасности.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251487" y="823017"/>
            <a:ext cx="1322442" cy="264919"/>
          </a:xfrm>
          <a:prstGeom prst="roundRect">
            <a:avLst>
              <a:gd name="adj" fmla="val 21573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7274347" y="835819"/>
            <a:ext cx="127672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Г1, В1, Д1, Т1, РП1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512460" y="1132284"/>
            <a:ext cx="10386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3" dirty="0">
                <a:solidFill>
                  <a:srgbClr val="90A4AE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Лучший возможный класс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503634" y="1671638"/>
            <a:ext cx="2707481" cy="696516"/>
          </a:xfrm>
          <a:prstGeom prst="roundRect">
            <a:avLst>
              <a:gd name="adj" fmla="val 1641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1506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807244" y="1775222"/>
            <a:ext cx="228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1506" y="1957388"/>
            <a:ext cx="2581466" cy="1511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ЕАЭС RU C-RU.ПБ68.В.02464/26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21506" y="2135981"/>
            <a:ext cx="258146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ТР ЕАЭС 043-2017 · до </a:t>
            </a:r>
            <a:r>
              <a:rPr lang="en-US" sz="700" b="1" dirty="0">
                <a:solidFill>
                  <a:srgbClr val="1F4E7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29.03.2031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3332559" y="1671638"/>
            <a:ext cx="5379244" cy="2589609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3450431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44" name="Text 40"/>
          <p:cNvSpPr/>
          <p:nvPr/>
        </p:nvSpPr>
        <p:spPr>
          <a:xfrm>
            <a:off x="3636169" y="1775222"/>
            <a:ext cx="279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sp>
        <p:nvSpPr>
          <p:cNvPr id="45" name="Text 41"/>
          <p:cNvSpPr/>
          <p:nvPr/>
        </p:nvSpPr>
        <p:spPr>
          <a:xfrm>
            <a:off x="7851093" y="1791295"/>
            <a:ext cx="74283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kern="0" spc="45" dirty="0">
                <a:solidFill>
                  <a:srgbClr val="90A4A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ПОСЛЕ ПРОПИТКИ</a:t>
            </a:r>
            <a:endParaRPr lang="en-US" sz="8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0431" y="1985963"/>
          <a:ext cx="5072062" cy="1123476"/>
        </p:xfrm>
        <a:graphic>
          <a:graphicData uri="http://schemas.openxmlformats.org/drawingml/2006/table">
            <a:tbl>
              <a:tblPr/>
              <a:tblGrid>
                <a:gridCol w="2198489"/>
                <a:gridCol w="888392"/>
                <a:gridCol w="1010617"/>
                <a:gridCol w="974564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 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 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Деревянные конструкции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ДСП, МДФ, фанера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Все зоны (после пропитки)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47" name="Text 42"/>
          <p:cNvSpPr/>
          <p:nvPr/>
        </p:nvSpPr>
        <p:spPr>
          <a:xfrm>
            <a:off x="3454003" y="3132534"/>
            <a:ext cx="5136356" cy="450056"/>
          </a:xfrm>
          <a:prstGeom prst="roundRect">
            <a:avLst>
              <a:gd name="adj" fmla="val 12698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dash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3"/>
          <p:cNvSpPr/>
          <p:nvPr/>
        </p:nvSpPr>
        <p:spPr>
          <a:xfrm>
            <a:off x="3543300" y="3271838"/>
            <a:ext cx="1714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⛨</a:t>
            </a:r>
            <a:endParaRPr lang="en-US" sz="1688" dirty="0"/>
          </a:p>
        </p:txBody>
      </p:sp>
      <p:sp>
        <p:nvSpPr>
          <p:cNvPr id="49" name="Text 44"/>
          <p:cNvSpPr/>
          <p:nvPr/>
        </p:nvSpPr>
        <p:spPr>
          <a:xfrm>
            <a:off x="3800475" y="3221831"/>
            <a:ext cx="4700588" cy="126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Liberation Sans" pitchFamily="34" charset="0"/>
                <a:ea typeface="Carlito" pitchFamily="34" charset="-122"/>
                <a:cs typeface="Carlito" pitchFamily="34" charset="-120"/>
              </a:rPr>
              <a:t>Подходит для всех типов зданий, включая &gt;17 этажей</a:t>
            </a:r>
            <a:endParaRPr lang="en-US" sz="500" dirty="0"/>
          </a:p>
        </p:txBody>
      </p:sp>
      <p:sp>
        <p:nvSpPr>
          <p:cNvPr id="50" name="Text 45"/>
          <p:cNvSpPr/>
          <p:nvPr/>
        </p:nvSpPr>
        <p:spPr>
          <a:xfrm>
            <a:off x="3800475" y="3375422"/>
            <a:ext cx="4700588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700" dirty="0">
                <a:solidFill>
                  <a:srgbClr val="1A1A2E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После обработки древесина приобретает высший класс пожаробезопасности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63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0573" y="3971925"/>
            <a:ext cx="1813427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875"/>
              </a:lnSpc>
              <a:buNone/>
            </a:pPr>
            <a:r>
              <a:rPr lang="en-US" sz="1100" b="1" dirty="0">
                <a:solidFill>
                  <a:srgbClr val="1F4E79">
                    <a:alpha val="4000"/>
                  </a:srgbClr>
                </a:solidFill>
                <a:latin typeface="Segoe UI Symbol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endParaRPr lang="en-US" sz="7875" dirty="0"/>
          </a:p>
        </p:txBody>
      </p:sp>
      <p:sp>
        <p:nvSpPr>
          <p:cNvPr id="4" name="Text 1"/>
          <p:cNvSpPr/>
          <p:nvPr/>
        </p:nvSpPr>
        <p:spPr>
          <a:xfrm>
            <a:off x="500063" y="378619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5" name="Text 2"/>
          <p:cNvSpPr/>
          <p:nvPr/>
        </p:nvSpPr>
        <p:spPr>
          <a:xfrm>
            <a:off x="771525" y="342900"/>
            <a:ext cx="2615316" cy="111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8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· КАТАЛОГ ПРОДУКТОВ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771525" y="482203"/>
            <a:ext cx="234348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6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Жилищное строительство · классы пожароопасности по ФЗ-123</a:t>
            </a:r>
            <a:endParaRPr lang="en-US" sz="619" dirty="0"/>
          </a:p>
        </p:txBody>
      </p:sp>
      <p:sp>
        <p:nvSpPr>
          <p:cNvPr id="9" name="Text 6"/>
          <p:cNvSpPr/>
          <p:nvPr/>
        </p:nvSpPr>
        <p:spPr>
          <a:xfrm>
            <a:off x="503634" y="703659"/>
            <a:ext cx="8208169" cy="860822"/>
          </a:xfrm>
          <a:prstGeom prst="roundRect">
            <a:avLst>
              <a:gd name="adj" fmla="val 13278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64369" y="835819"/>
            <a:ext cx="7207160" cy="1190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87" dirty="0" smtClean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ЭПОКСИДНЫЕ </a:t>
            </a:r>
            <a:r>
              <a:rPr lang="en-US" sz="800" b="1" kern="0" spc="87" dirty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ПОЛЫ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4369" y="982266"/>
            <a:ext cx="7082381" cy="251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ts val="1654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Компаунд эпоксидный EMPILS E 608</a:t>
            </a:r>
          </a:p>
        </p:txBody>
      </p:sp>
      <p:sp>
        <p:nvSpPr>
          <p:cNvPr id="12" name="Text 9"/>
          <p:cNvSpPr/>
          <p:nvPr/>
        </p:nvSpPr>
        <p:spPr>
          <a:xfrm>
            <a:off x="664369" y="1260872"/>
            <a:ext cx="6438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Эпоксидное покрытие для полов. </a:t>
            </a: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Высокая износостойкость.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251487" y="823017"/>
            <a:ext cx="1322442" cy="264919"/>
          </a:xfrm>
          <a:prstGeom prst="roundRect">
            <a:avLst>
              <a:gd name="adj" fmla="val 21573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7274347" y="835819"/>
            <a:ext cx="1276722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2E7D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Г1, В1, Д1, Т1, РП1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512460" y="1132284"/>
            <a:ext cx="10386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3" dirty="0">
                <a:solidFill>
                  <a:srgbClr val="90A4AE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Лучший возможный класс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503634" y="1671638"/>
            <a:ext cx="2707481" cy="696516"/>
          </a:xfrm>
          <a:prstGeom prst="roundRect">
            <a:avLst>
              <a:gd name="adj" fmla="val 1641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1506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807244" y="1775222"/>
            <a:ext cx="228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1506" y="1957388"/>
            <a:ext cx="2471738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C-RU.ПБ68.В.02055/24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21506" y="2135981"/>
            <a:ext cx="247173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Courier New" pitchFamily="34" charset="0"/>
                <a:ea typeface="Liberation Sans" pitchFamily="34" charset="-122"/>
                <a:cs typeface="Liberation Sans" pitchFamily="34" charset="-120"/>
              </a:rPr>
              <a:t>ТР № 123-ФЗ · до </a:t>
            </a:r>
            <a:r>
              <a:rPr lang="en-US" sz="700" b="1" dirty="0">
                <a:solidFill>
                  <a:srgbClr val="1F4E7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27.10.2029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3634" y="2461022"/>
            <a:ext cx="2707481" cy="1621631"/>
          </a:xfrm>
          <a:prstGeom prst="roundRect">
            <a:avLst>
              <a:gd name="adj" fmla="val 7048"/>
            </a:avLst>
          </a:prstGeom>
          <a:solidFill>
            <a:srgbClr val="E8F5E9"/>
          </a:solidFill>
          <a:ln w="7144">
            <a:solidFill>
              <a:srgbClr val="A5D6A7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21506" y="2578894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7D32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835819" y="2582466"/>
            <a:ext cx="225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kern="0" spc="32" dirty="0">
                <a:solidFill>
                  <a:srgbClr val="2E7D32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ЛУЧШИЙ КЛАСС ДЛЯ ПОЛОВ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1506" y="2793206"/>
            <a:ext cx="2471738" cy="6155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700" b="1" dirty="0">
                <a:solidFill>
                  <a:srgbClr val="2E7D32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Лучший класс пожаробезопасности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для полового покрытия. Эпоксидный компаунд для высоконагруженных полов в жилых и общественных зданиях </a:t>
            </a:r>
            <a:r>
              <a:rPr lang="en-US" sz="700" b="1" dirty="0">
                <a:solidFill>
                  <a:srgbClr val="1F4E7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до 17 этажей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.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21506" y="3436144"/>
            <a:ext cx="1207294" cy="360759"/>
          </a:xfrm>
          <a:prstGeom prst="roundRect">
            <a:avLst>
              <a:gd name="adj" fmla="val 10561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Shape 23"/>
          <p:cNvSpPr/>
          <p:nvPr/>
        </p:nvSpPr>
        <p:spPr>
          <a:xfrm>
            <a:off x="632222" y="3436144"/>
            <a:ext cx="0" cy="360759"/>
          </a:xfrm>
          <a:prstGeom prst="line">
            <a:avLst/>
          </a:prstGeom>
          <a:noFill/>
          <a:ln w="21431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28663" y="3493294"/>
            <a:ext cx="101441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Тип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28663" y="3600450"/>
            <a:ext cx="101441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Эпоксидный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1885950" y="3436144"/>
            <a:ext cx="1207294" cy="360759"/>
          </a:xfrm>
          <a:prstGeom prst="roundRect">
            <a:avLst>
              <a:gd name="adj" fmla="val 10561"/>
            </a:avLst>
          </a:prstGeom>
          <a:solidFill>
            <a:srgbClr val="F5F7F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Shape 27"/>
          <p:cNvSpPr/>
          <p:nvPr/>
        </p:nvSpPr>
        <p:spPr>
          <a:xfrm>
            <a:off x="1896666" y="3436144"/>
            <a:ext cx="0" cy="360759"/>
          </a:xfrm>
          <a:prstGeom prst="line">
            <a:avLst/>
          </a:prstGeom>
          <a:noFill/>
          <a:ln w="21431">
            <a:solidFill>
              <a:srgbClr val="00A85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993106" y="3493294"/>
            <a:ext cx="1014413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 fontScale="25000" lnSpcReduction="20000"/>
          </a:bodyPr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777777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Применение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993106" y="3600450"/>
            <a:ext cx="1014413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1F4E7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Высок. нагрузка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332559" y="1671638"/>
            <a:ext cx="5379244" cy="2411016"/>
          </a:xfrm>
          <a:prstGeom prst="roundRect">
            <a:avLst>
              <a:gd name="adj" fmla="val 4741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3450431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5" name="Text 32"/>
          <p:cNvSpPr/>
          <p:nvPr/>
        </p:nvSpPr>
        <p:spPr>
          <a:xfrm>
            <a:off x="3636169" y="1775222"/>
            <a:ext cx="270563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7516453" y="1791295"/>
            <a:ext cx="10774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kern="0" spc="45" dirty="0">
                <a:solidFill>
                  <a:srgbClr val="90A4A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0431" y="1985963"/>
          <a:ext cx="5072063" cy="1960725"/>
        </p:xfrm>
        <a:graphic>
          <a:graphicData uri="http://schemas.openxmlformats.org/drawingml/2006/table">
            <a:tbl>
              <a:tblPr/>
              <a:tblGrid>
                <a:gridCol w="1847776"/>
                <a:gridCol w="996776"/>
                <a:gridCol w="1133959"/>
                <a:gridCol w="1093552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 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 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 (НГ)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50431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5"/>
          <p:cNvSpPr/>
          <p:nvPr/>
        </p:nvSpPr>
        <p:spPr>
          <a:xfrm>
            <a:off x="3450431" y="3871913"/>
            <a:ext cx="522030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Можно</a:t>
            </a:r>
            <a:endParaRPr lang="en-US" sz="800" dirty="0"/>
          </a:p>
        </p:txBody>
      </p:sp>
      <p:sp>
        <p:nvSpPr>
          <p:cNvPr id="40" name="Text 36"/>
          <p:cNvSpPr/>
          <p:nvPr/>
        </p:nvSpPr>
        <p:spPr>
          <a:xfrm>
            <a:off x="3891000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7"/>
          <p:cNvSpPr/>
          <p:nvPr/>
        </p:nvSpPr>
        <p:spPr>
          <a:xfrm>
            <a:off x="3891000" y="3871913"/>
            <a:ext cx="85013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 ограничениями</a:t>
            </a:r>
            <a:endParaRPr lang="en-US" sz="800" dirty="0"/>
          </a:p>
        </p:txBody>
      </p:sp>
      <p:sp>
        <p:nvSpPr>
          <p:cNvPr id="42" name="Text 38"/>
          <p:cNvSpPr/>
          <p:nvPr/>
        </p:nvSpPr>
        <p:spPr>
          <a:xfrm>
            <a:off x="4685407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CD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9"/>
          <p:cNvSpPr/>
          <p:nvPr/>
        </p:nvSpPr>
        <p:spPr>
          <a:xfrm>
            <a:off x="4685407" y="3871913"/>
            <a:ext cx="48523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Нельзя</a:t>
            </a:r>
            <a:endParaRPr lang="en-US" sz="800" dirty="0"/>
          </a:p>
        </p:txBody>
      </p:sp>
      <p:sp>
        <p:nvSpPr>
          <p:cNvPr id="44" name="Text 40"/>
          <p:cNvSpPr/>
          <p:nvPr/>
        </p:nvSpPr>
        <p:spPr>
          <a:xfrm>
            <a:off x="5139035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ECEF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5139035" y="3871913"/>
            <a:ext cx="345489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применяется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6"/>
          <p:cNvSpPr/>
          <p:nvPr/>
        </p:nvSpPr>
        <p:spPr>
          <a:xfrm>
            <a:off x="400050" y="1004834"/>
            <a:ext cx="8343900" cy="0"/>
          </a:xfrm>
          <a:prstGeom prst="line">
            <a:avLst/>
          </a:prstGeom>
          <a:noFill/>
          <a:ln w="7144">
            <a:solidFill>
              <a:srgbClr val="E0E0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00050" y="340627"/>
            <a:ext cx="4019639" cy="11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68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КАРТОЧКА ПРОДУКТА · ЭМАЛЬ МАТОВАЯ ⚠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00050" y="483502"/>
            <a:ext cx="4010468" cy="2261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772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Эмаль акриловая матовая ОРЕОЛ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00050" y="737105"/>
            <a:ext cx="364588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66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ВД-эмаль для внутренней отделки. 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ВНИМАНИЕ: класс В2!</a:t>
            </a:r>
            <a:endParaRPr lang="en-US" sz="844" dirty="0"/>
          </a:p>
        </p:txBody>
      </p:sp>
      <p:sp>
        <p:nvSpPr>
          <p:cNvPr id="12" name="Text 10"/>
          <p:cNvSpPr/>
          <p:nvPr/>
        </p:nvSpPr>
        <p:spPr>
          <a:xfrm>
            <a:off x="7412868" y="476358"/>
            <a:ext cx="1331082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kern="0" spc="34" dirty="0">
                <a:solidFill>
                  <a:srgbClr val="555555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КЛАСС ПОЖАРООПАСНОСТИ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483100" y="620719"/>
            <a:ext cx="1283710" cy="289922"/>
          </a:xfrm>
          <a:prstGeom prst="roundRect">
            <a:avLst>
              <a:gd name="adj" fmla="val 19712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05960" y="633521"/>
            <a:ext cx="1237990" cy="2643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181"/>
              </a:lnSpc>
              <a:buNone/>
            </a:pPr>
            <a:r>
              <a:rPr lang="en-US" sz="8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 · В2 · Д2 · Т2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03622" y="1126277"/>
            <a:ext cx="2850356" cy="1130052"/>
          </a:xfrm>
          <a:prstGeom prst="roundRect">
            <a:avLst>
              <a:gd name="adj" fmla="val 10115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50069" y="127272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266" dirty="0"/>
          </a:p>
        </p:txBody>
      </p:sp>
      <p:sp>
        <p:nvSpPr>
          <p:cNvPr id="17" name="Text 15"/>
          <p:cNvSpPr/>
          <p:nvPr/>
        </p:nvSpPr>
        <p:spPr>
          <a:xfrm>
            <a:off x="735806" y="1279868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E651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⚠ СЕРТИФИКАТ · ВНИМАНИЕ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069" y="1487037"/>
            <a:ext cx="1257188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Рег. № ДС: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821545" y="1487037"/>
            <a:ext cx="1285987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Д-RU.RA01.B.00950/26</a:t>
            </a:r>
            <a:endParaRPr lang="en-US" sz="731" dirty="0"/>
          </a:p>
        </p:txBody>
      </p:sp>
      <p:sp>
        <p:nvSpPr>
          <p:cNvPr id="20" name="Text 18"/>
          <p:cNvSpPr/>
          <p:nvPr/>
        </p:nvSpPr>
        <p:spPr>
          <a:xfrm>
            <a:off x="550069" y="1644869"/>
            <a:ext cx="198395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Courier New" pitchFamily="34" charset="-122"/>
                <a:cs typeface="Courier New" pitchFamily="34" charset="-120"/>
              </a:rPr>
              <a:t>Действует до: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90584" y="1644869"/>
            <a:ext cx="674673" cy="186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43"/>
              </a:lnSpc>
              <a:buNone/>
            </a:pPr>
            <a:r>
              <a:rPr lang="en-US" sz="700" b="1" dirty="0">
                <a:solidFill>
                  <a:srgbClr val="00A859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20.05.2031</a:t>
            </a:r>
            <a:endParaRPr lang="en-US" sz="731" dirty="0"/>
          </a:p>
        </p:txBody>
      </p:sp>
      <p:sp>
        <p:nvSpPr>
          <p:cNvPr id="22" name="Shape 20"/>
          <p:cNvSpPr/>
          <p:nvPr/>
        </p:nvSpPr>
        <p:spPr>
          <a:xfrm>
            <a:off x="550069" y="1891998"/>
            <a:ext cx="2557463" cy="0"/>
          </a:xfrm>
          <a:prstGeom prst="line">
            <a:avLst/>
          </a:prstGeom>
          <a:noFill/>
          <a:ln w="7144">
            <a:solidFill>
              <a:srgbClr val="FFCC8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50069" y="1981295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⊗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721519" y="1981295"/>
            <a:ext cx="238601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ВНИМАНИЕ: ДС отсутствует в базе знаний!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03622" y="2377773"/>
            <a:ext cx="2850356" cy="966192"/>
          </a:xfrm>
          <a:prstGeom prst="roundRect">
            <a:avLst>
              <a:gd name="adj" fmla="val 11830"/>
            </a:avLst>
          </a:prstGeom>
          <a:solidFill>
            <a:srgbClr val="FFEBEE"/>
          </a:solidFill>
          <a:ln w="7144">
            <a:solidFill>
              <a:srgbClr val="FFCDD2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50069" y="252422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⊘</a:t>
            </a:r>
            <a:endParaRPr lang="en-US" sz="1266" dirty="0"/>
          </a:p>
        </p:txBody>
      </p:sp>
      <p:sp>
        <p:nvSpPr>
          <p:cNvPr id="27" name="Text 25"/>
          <p:cNvSpPr/>
          <p:nvPr/>
        </p:nvSpPr>
        <p:spPr>
          <a:xfrm>
            <a:off x="735806" y="2531364"/>
            <a:ext cx="2371725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B71C1C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КЛАСС В2 — ОГРАНИЧЕНИЕ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50069" y="2709957"/>
            <a:ext cx="2557463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80"/>
              </a:lnSpc>
              <a:buNone/>
            </a:pP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Воспламеняемость В2 — умеренно горючие. 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Запрещено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на путях эвакуации в зданиях выше 9 этажей.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03997" y="1126277"/>
            <a:ext cx="5336381" cy="3186113"/>
          </a:xfrm>
          <a:prstGeom prst="roundRect">
            <a:avLst>
              <a:gd name="adj" fmla="val 3587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550444" y="1272724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1" name="Text 29"/>
          <p:cNvSpPr/>
          <p:nvPr/>
        </p:nvSpPr>
        <p:spPr>
          <a:xfrm>
            <a:off x="3736181" y="1279868"/>
            <a:ext cx="233600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800" b="1" kern="0" spc="3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915235"/>
              </p:ext>
            </p:extLst>
          </p:nvPr>
        </p:nvGraphicFramePr>
        <p:xfrm>
          <a:off x="3550444" y="1487037"/>
          <a:ext cx="4972050" cy="2068359"/>
        </p:xfrm>
        <a:graphic>
          <a:graphicData uri="http://schemas.openxmlformats.org/drawingml/2006/table">
            <a:tbl>
              <a:tblPr/>
              <a:tblGrid>
                <a:gridCol w="1988753"/>
                <a:gridCol w="905805"/>
                <a:gridCol w="1079711"/>
                <a:gridCol w="997781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≤9 этажей≤28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этажей28–50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&gt;17 этажей&gt;50 м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 (квартиры)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холлы, фойе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клетки, вестибюли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3550444" y="4058787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!</a:t>
            </a:r>
            <a:endParaRPr lang="en-US" sz="984" dirty="0"/>
          </a:p>
        </p:txBody>
      </p:sp>
      <p:sp>
        <p:nvSpPr>
          <p:cNvPr id="42" name="Text 39"/>
          <p:cNvSpPr/>
          <p:nvPr/>
        </p:nvSpPr>
        <p:spPr>
          <a:xfrm>
            <a:off x="3707606" y="4051643"/>
            <a:ext cx="48863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100" dirty="0">
                <a:solidFill>
                  <a:srgbClr val="FF98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для ≤9 этажей — с ограничениями, не на путях эвакуации.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400050" y="4554141"/>
            <a:ext cx="8343900" cy="446484"/>
          </a:xfrm>
          <a:prstGeom prst="roundRect">
            <a:avLst>
              <a:gd name="adj" fmla="val 17067"/>
            </a:avLst>
          </a:prstGeom>
          <a:solidFill>
            <a:srgbClr val="FFEBE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Shape 41"/>
          <p:cNvSpPr/>
          <p:nvPr/>
        </p:nvSpPr>
        <p:spPr>
          <a:xfrm>
            <a:off x="414338" y="4554141"/>
            <a:ext cx="0" cy="446484"/>
          </a:xfrm>
          <a:prstGeom prst="line">
            <a:avLst/>
          </a:prstGeom>
          <a:noFill/>
          <a:ln w="28575">
            <a:solidFill>
              <a:srgbClr val="E53935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571500" y="463986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46" name="Text 43"/>
          <p:cNvSpPr/>
          <p:nvPr/>
        </p:nvSpPr>
        <p:spPr>
          <a:xfrm>
            <a:off x="814388" y="4639866"/>
            <a:ext cx="7786688" cy="275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3"/>
              </a:lnSpc>
              <a:buNone/>
            </a:pPr>
            <a:r>
              <a:rPr lang="en-US" sz="1100" b="1" dirty="0">
                <a:solidFill>
                  <a:srgbClr val="E53935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 В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— НЕ подходит для путей эвакуации в зданиях выше 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9</a:t>
            </a:r>
            <a:r>
              <a:rPr lang="en-US" sz="700" b="1" dirty="0">
                <a:solidFill>
                  <a:srgbClr val="E5393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этажей!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Только для жилых комнат (квартир). Используйте </a:t>
            </a:r>
            <a:r>
              <a:rPr lang="en-US" sz="700" b="1" dirty="0">
                <a:solidFill>
                  <a:srgbClr val="00A859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глянцевую версию (В1)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для коридоров и лестниц.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863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30573" y="3971925"/>
            <a:ext cx="1813427" cy="10801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875"/>
              </a:lnSpc>
              <a:buNone/>
            </a:pPr>
            <a:r>
              <a:rPr lang="en-US" sz="1100" b="1" dirty="0">
                <a:solidFill>
                  <a:srgbClr val="1F4E79">
                    <a:alpha val="4000"/>
                  </a:srgbClr>
                </a:solidFill>
                <a:latin typeface="Segoe UI Symbol" pitchFamily="34" charset="0"/>
                <a:ea typeface="Liberation Sans Narrow" pitchFamily="34" charset="-122"/>
                <a:cs typeface="Liberation Sans Narrow" pitchFamily="34" charset="-120"/>
              </a:rPr>
              <a:t>11</a:t>
            </a:r>
            <a:endParaRPr lang="en-US" sz="7875" dirty="0"/>
          </a:p>
        </p:txBody>
      </p:sp>
      <p:sp>
        <p:nvSpPr>
          <p:cNvPr id="4" name="Text 1"/>
          <p:cNvSpPr/>
          <p:nvPr/>
        </p:nvSpPr>
        <p:spPr>
          <a:xfrm>
            <a:off x="500063" y="378619"/>
            <a:ext cx="185738" cy="185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828" dirty="0"/>
          </a:p>
        </p:txBody>
      </p:sp>
      <p:sp>
        <p:nvSpPr>
          <p:cNvPr id="5" name="Text 2"/>
          <p:cNvSpPr/>
          <p:nvPr/>
        </p:nvSpPr>
        <p:spPr>
          <a:xfrm>
            <a:off x="750094" y="405255"/>
            <a:ext cx="2615316" cy="111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8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EMPILS · КАТАЛОГ ПРОДУКТОВ</a:t>
            </a:r>
            <a:endParaRPr lang="en-US" sz="500" dirty="0"/>
          </a:p>
        </p:txBody>
      </p:sp>
      <p:sp>
        <p:nvSpPr>
          <p:cNvPr id="9" name="Text 6"/>
          <p:cNvSpPr/>
          <p:nvPr/>
        </p:nvSpPr>
        <p:spPr>
          <a:xfrm>
            <a:off x="503634" y="703659"/>
            <a:ext cx="8208169" cy="860822"/>
          </a:xfrm>
          <a:prstGeom prst="roundRect">
            <a:avLst>
              <a:gd name="adj" fmla="val 13278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664369" y="835819"/>
            <a:ext cx="7536518" cy="1190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87" dirty="0" smtClean="0">
                <a:solidFill>
                  <a:srgbClr val="00A859"/>
                </a:solidFill>
                <a:latin typeface="Liberation Sans" pitchFamily="34" charset="0"/>
                <a:ea typeface="Courier New" pitchFamily="34" charset="-122"/>
                <a:cs typeface="Courier New" pitchFamily="34" charset="-120"/>
              </a:rPr>
              <a:t>ДЕРЕВООБРАБОТКА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64369" y="982266"/>
            <a:ext cx="7389953" cy="251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56"/>
              </a:lnSpc>
              <a:buNone/>
            </a:pPr>
            <a:r>
              <a:rPr lang="en-US" sz="1400" b="1" dirty="0">
                <a:solidFill>
                  <a:srgbClr val="1F4E79"/>
                </a:solidFill>
                <a:latin typeface="Carlito" pitchFamily="34" charset="0"/>
                <a:ea typeface="Liberation Sans Narrow" pitchFamily="34" charset="-122"/>
                <a:cs typeface="Liberation Sans Narrow" pitchFamily="34" charset="-120"/>
              </a:rPr>
              <a:t>Эмаль СТО 05744283-136-2018</a:t>
            </a:r>
            <a:endParaRPr lang="en-US" sz="1688" dirty="0"/>
          </a:p>
        </p:txBody>
      </p:sp>
      <p:sp>
        <p:nvSpPr>
          <p:cNvPr id="12" name="Text 9"/>
          <p:cNvSpPr/>
          <p:nvPr/>
        </p:nvSpPr>
        <p:spPr>
          <a:xfrm>
            <a:off x="664369" y="1260872"/>
            <a:ext cx="6718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7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ВД-эмаль защитно-декоративная для дерева. </a:t>
            </a:r>
            <a:r>
              <a:rPr lang="en-US" sz="700" b="1" dirty="0">
                <a:solidFill>
                  <a:srgbClr val="E651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ВНИМАНИЕ: класс В2!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31098" y="823017"/>
            <a:ext cx="1042831" cy="264919"/>
          </a:xfrm>
          <a:prstGeom prst="roundRect">
            <a:avLst>
              <a:gd name="adj" fmla="val 21573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7553958" y="835819"/>
            <a:ext cx="997111" cy="239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97"/>
              </a:lnSpc>
              <a:buNone/>
            </a:pPr>
            <a:r>
              <a:rPr lang="en-US" sz="800" b="1" dirty="0">
                <a:solidFill>
                  <a:srgbClr val="E651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Г1, В2, Д2, Т2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518511" y="1132284"/>
            <a:ext cx="103255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844"/>
              </a:lnSpc>
              <a:buNone/>
            </a:pPr>
            <a:r>
              <a:rPr lang="en-US" sz="800" kern="0" spc="23" dirty="0">
                <a:solidFill>
                  <a:srgbClr val="90A4AE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Класс пожароопасности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503634" y="1671638"/>
            <a:ext cx="2707481" cy="696516"/>
          </a:xfrm>
          <a:prstGeom prst="roundRect">
            <a:avLst>
              <a:gd name="adj" fmla="val 16410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21506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266" dirty="0"/>
          </a:p>
        </p:txBody>
      </p:sp>
      <p:sp>
        <p:nvSpPr>
          <p:cNvPr id="18" name="Text 15"/>
          <p:cNvSpPr/>
          <p:nvPr/>
        </p:nvSpPr>
        <p:spPr>
          <a:xfrm>
            <a:off x="807244" y="1775222"/>
            <a:ext cx="228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СЕРТИФИКАТ СООТВЕТСТВИЯ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21506" y="1957388"/>
            <a:ext cx="2471738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700" b="1" dirty="0">
                <a:solidFill>
                  <a:srgbClr val="1A1A2E"/>
                </a:solidFill>
                <a:latin typeface="Courier New" pitchFamily="34" charset="0"/>
                <a:ea typeface="Liberation Sans Narrow" pitchFamily="34" charset="-122"/>
                <a:cs typeface="Liberation Sans Narrow" pitchFamily="34" charset="-120"/>
              </a:rPr>
              <a:t>RU Д-RU.RA01.B.00723/24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621506" y="2135981"/>
            <a:ext cx="247173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13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Carlito" pitchFamily="34" charset="0"/>
                <a:ea typeface="Liberation Sans" pitchFamily="34" charset="-122"/>
                <a:cs typeface="Liberation Sans" pitchFamily="34" charset="-120"/>
              </a:rPr>
              <a:t>Действует до </a:t>
            </a:r>
            <a:r>
              <a:rPr lang="en-US" sz="800" b="1" dirty="0">
                <a:solidFill>
                  <a:srgbClr val="1F4E79"/>
                </a:solidFill>
                <a:latin typeface="Carlito" pitchFamily="34" charset="0"/>
                <a:ea typeface="Liberation Sans Narrow" pitchFamily="34" charset="-122"/>
                <a:cs typeface="Liberation Sans Narrow" pitchFamily="34" charset="-120"/>
              </a:rPr>
              <a:t>02.04.2029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503634" y="2461022"/>
            <a:ext cx="2707481" cy="1621631"/>
          </a:xfrm>
          <a:prstGeom prst="roundRect">
            <a:avLst>
              <a:gd name="adj" fmla="val 7048"/>
            </a:avLst>
          </a:prstGeom>
          <a:solidFill>
            <a:srgbClr val="FFF3E0"/>
          </a:solidFill>
          <a:ln w="7144">
            <a:solidFill>
              <a:srgbClr val="FFCC8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621506" y="2578894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51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547" dirty="0"/>
          </a:p>
        </p:txBody>
      </p:sp>
      <p:sp>
        <p:nvSpPr>
          <p:cNvPr id="23" name="Text 20"/>
          <p:cNvSpPr/>
          <p:nvPr/>
        </p:nvSpPr>
        <p:spPr>
          <a:xfrm>
            <a:off x="835819" y="2582466"/>
            <a:ext cx="225742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81"/>
              </a:lnSpc>
              <a:buNone/>
            </a:pPr>
            <a:r>
              <a:rPr lang="en-US" sz="800" b="1" kern="0" spc="32" dirty="0">
                <a:solidFill>
                  <a:srgbClr val="E65100"/>
                </a:solidFill>
                <a:latin typeface="Courier New" pitchFamily="34" charset="0"/>
                <a:ea typeface="Carlito" pitchFamily="34" charset="-122"/>
                <a:cs typeface="Carlito" pitchFamily="34" charset="-120"/>
              </a:rPr>
              <a:t>ВНИМАНИЕ: КЛАСС В2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21506" y="2793206"/>
            <a:ext cx="2471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100" b="1" dirty="0">
                <a:solidFill>
                  <a:srgbClr val="B71C1C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 В</a:t>
            </a:r>
            <a:r>
              <a:rPr lang="en-US" sz="700" b="1" dirty="0">
                <a:solidFill>
                  <a:srgbClr val="B71C1C"/>
                </a:solidFill>
                <a:latin typeface="Liberation Sans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r>
              <a:rPr lang="en-US" sz="700" b="1" dirty="0">
                <a:solidFill>
                  <a:srgbClr val="B71C1C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— НЕ для путей эвакуации</a:t>
            </a:r>
            <a:r>
              <a:rPr lang="en-US" sz="700" dirty="0">
                <a:solidFill>
                  <a:srgbClr val="1A1A2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 выше 9 этажей. Для деревянных поверхностей внутри помещений (кроме пола). Атмосферные условия — с ограничениями.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21506" y="3757613"/>
            <a:ext cx="2471738" cy="0"/>
          </a:xfrm>
          <a:prstGeom prst="line">
            <a:avLst/>
          </a:prstGeom>
          <a:noFill/>
          <a:ln w="7144">
            <a:solidFill>
              <a:srgbClr val="FFCC80"/>
            </a:solidFill>
            <a:prstDash val="dash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21506" y="3855839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5100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◆</a:t>
            </a:r>
            <a:endParaRPr lang="en-US" sz="984" dirty="0"/>
          </a:p>
        </p:txBody>
      </p:sp>
      <p:sp>
        <p:nvSpPr>
          <p:cNvPr id="27" name="Text 24"/>
          <p:cNvSpPr/>
          <p:nvPr/>
        </p:nvSpPr>
        <p:spPr>
          <a:xfrm>
            <a:off x="778669" y="3846909"/>
            <a:ext cx="2314575" cy="11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Рекомендация: рассмотреть ББ-11 для повышения класса</a:t>
            </a:r>
            <a:endParaRPr lang="en-US" sz="619" dirty="0"/>
          </a:p>
        </p:txBody>
      </p:sp>
      <p:sp>
        <p:nvSpPr>
          <p:cNvPr id="28" name="Text 25"/>
          <p:cNvSpPr/>
          <p:nvPr/>
        </p:nvSpPr>
        <p:spPr>
          <a:xfrm>
            <a:off x="3332559" y="1671638"/>
            <a:ext cx="5379244" cy="2411016"/>
          </a:xfrm>
          <a:prstGeom prst="roundRect">
            <a:avLst>
              <a:gd name="adj" fmla="val 4741"/>
            </a:avLst>
          </a:prstGeom>
          <a:solidFill>
            <a:srgbClr val="FFFFFF"/>
          </a:solidFill>
          <a:ln w="7144">
            <a:solidFill>
              <a:srgbClr val="E0E0E0"/>
            </a:solidFill>
            <a:prstDash val="solid"/>
          </a:ln>
          <a:effectLst>
            <a:outerShdw blurRad="76200" dist="19050" dir="5400000" algn="bl" rotWithShape="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3450431" y="1780580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4E79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30" name="Text 27"/>
          <p:cNvSpPr/>
          <p:nvPr/>
        </p:nvSpPr>
        <p:spPr>
          <a:xfrm>
            <a:off x="3636169" y="1775222"/>
            <a:ext cx="278232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44" dirty="0">
                <a:solidFill>
                  <a:srgbClr val="1F4E7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ЗОНЫ ПРИМЕНЕНИЯ ПО ЭТАЖНОСТИ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516453" y="1791295"/>
            <a:ext cx="10774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kern="0" spc="45" dirty="0">
                <a:solidFill>
                  <a:srgbClr val="90A4AE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ФЗ-123 · ПУТИ ЭВАКУАЦИИ</a:t>
            </a:r>
            <a:endParaRPr lang="en-US" sz="6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50431" y="1985963"/>
          <a:ext cx="5072063" cy="1960725"/>
        </p:xfrm>
        <a:graphic>
          <a:graphicData uri="http://schemas.openxmlformats.org/drawingml/2006/table">
            <a:tbl>
              <a:tblPr/>
              <a:tblGrid>
                <a:gridCol w="1847776"/>
                <a:gridCol w="996776"/>
                <a:gridCol w="1133959"/>
                <a:gridCol w="1093552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Зона применения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10001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≤ 9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9–17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&gt; 17 этажей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64294" marR="42863" marT="42863" marB="64294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Жилые комнаты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1B5E20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✓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Коридоры, холлы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Лестничные клетки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Потолки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90A4A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—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F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Полы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71C1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✗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dirty="0">
                          <a:solidFill>
                            <a:srgbClr val="1A1A2E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Фасады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10001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BF360C"/>
                          </a:solidFill>
                          <a:latin typeface="Liberation Sans" pitchFamily="34" charset="0"/>
                          <a:ea typeface="Liberation Sans" pitchFamily="34" charset="-122"/>
                          <a:cs typeface="Liberation Sans" pitchFamily="34" charset="-120"/>
                        </a:rPr>
                        <a:t>⚠</a:t>
                      </a:r>
                      <a:endParaRPr lang="en-US" sz="800" dirty="0">
                        <a:latin typeface="Liberation Sans" charset="0"/>
                        <a:ea typeface="Liberation Sans" charset="0"/>
                        <a:cs typeface="Liberation Sans" charset="0"/>
                      </a:endParaRPr>
                    </a:p>
                  </a:txBody>
                  <a:tcPr marL="57150" marR="42863" marT="42863" marB="5715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33" name="Text 29"/>
          <p:cNvSpPr/>
          <p:nvPr/>
        </p:nvSpPr>
        <p:spPr>
          <a:xfrm>
            <a:off x="3450431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C8E6C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0"/>
          <p:cNvSpPr/>
          <p:nvPr/>
        </p:nvSpPr>
        <p:spPr>
          <a:xfrm>
            <a:off x="3450431" y="3871913"/>
            <a:ext cx="522030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Можно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3891000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E0B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2"/>
          <p:cNvSpPr/>
          <p:nvPr/>
        </p:nvSpPr>
        <p:spPr>
          <a:xfrm>
            <a:off x="3891000" y="3871913"/>
            <a:ext cx="850134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С ограничениями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4685407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FFCDD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4"/>
          <p:cNvSpPr/>
          <p:nvPr/>
        </p:nvSpPr>
        <p:spPr>
          <a:xfrm>
            <a:off x="4685407" y="3871913"/>
            <a:ext cx="485239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Нельзя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5139035" y="3889772"/>
            <a:ext cx="71438" cy="71438"/>
          </a:xfrm>
          <a:prstGeom prst="roundRect">
            <a:avLst>
              <a:gd name="adj" fmla="val 26666"/>
            </a:avLst>
          </a:prstGeom>
          <a:solidFill>
            <a:srgbClr val="ECEFF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5139035" y="3871913"/>
            <a:ext cx="345489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800" dirty="0">
                <a:solidFill>
                  <a:srgbClr val="55555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Не применяется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2116</Words>
  <Application>Microsoft Office PowerPoint</Application>
  <PresentationFormat>Экран (16:9)</PresentationFormat>
  <Paragraphs>757</Paragraphs>
  <Slides>15</Slides>
  <Notes>15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6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21</cp:revision>
  <dcterms:created xsi:type="dcterms:W3CDTF">2026-09-29T07:29:24Z</dcterms:created>
  <dcterms:modified xsi:type="dcterms:W3CDTF">2026-09-29T08:38:42Z</dcterms:modified>
</cp:coreProperties>
</file>