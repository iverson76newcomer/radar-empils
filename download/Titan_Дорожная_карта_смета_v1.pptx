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СМЕТА ПРОГРАММЫ TITAN — 2 ЭТАПА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Источник: Cost_calculation_Titan.xlsx · Оценки на основе рыночных цен 2026 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321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ПЕРВЫЙ ЭТАП — разовые инвестиции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Параллельно — наполнение MML в разрезе TITAN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532120" cy="50292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5166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ВТОРОЙ ЭТАП — операционные расходы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Продвижение после запуска программы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11680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11680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048256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Шелфтокеры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2128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Печать шелфтокеров для полки TITAN (тираж 1000 шт)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25 000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427732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427732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46430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Воблеры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62890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Воблеры на полку (тираж 1000 шт)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27732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20 000 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43784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843784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88036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Брендированные ценники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4495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Ценники с переводом цены в цену/год (тираж 1000 шт)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843784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30 000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59836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259836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29641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Дообеспечение выкрасами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46100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Выкрасы EPL + TITAN для 100 точек (по результатам сбора)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59836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50 000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675888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675888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71246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Листовка TITAN с ССВ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8770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Листовка с совокупной стоимостью владения (тираж 5000 шт)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675888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45 000 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091940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091940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128516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Видео-инструкция по нанесению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9310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Ролик 2-3 мин: как наносить TITAN 3в1 (5 шагов + монтаж)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091940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90 000 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507992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507992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54456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Видеопортфолио объектов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70916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3 видео: ворота (3в1), ворота (молоток), дверь (быстрая)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507992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250 000 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924044"/>
            <a:ext cx="5440680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924044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496062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Видео-презентация для ТП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125212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Обучающий ролик для торговых представителей дистрибьютора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924044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120 000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340096"/>
            <a:ext cx="5440680" cy="3931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340096"/>
            <a:ext cx="2743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7629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7667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13131"/>
                </a:solidFill>
                <a:latin typeface="Calibri"/>
              </a:rPr>
              <a:t>Модернизация сайта + лендинг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5412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Блок TITAN на empils.ru + titanpaints.ru + лендинг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5340096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≈ 180 000 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847588"/>
            <a:ext cx="5440680" cy="411480"/>
          </a:xfrm>
          <a:prstGeom prst="rect">
            <a:avLst/>
          </a:prstGeom>
          <a:solidFill>
            <a:srgbClr val="FB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84758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ИТОГО ЭТАП 1: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847588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~ 810 000 ₽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2011680"/>
            <a:ext cx="5440680" cy="7132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2011680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2066544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B2B видео-отзыв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230428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Съёмка отзыва производителя металлоконструкций (беседки)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2011680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≈ 80 000 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2761488"/>
            <a:ext cx="54406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2761488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281635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Блогер / инфлюенсер ЛКМ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30540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Поиск + 1 интеграция у блогера по ЛКМ в РФ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2761488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≈ 150 000 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3511296"/>
            <a:ext cx="5440680" cy="7132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3511296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35661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Яндекс.Директ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38039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Поиск + РСЯ в регионах с высокой представленностью TITAN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3511296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≈ 30 000 ₽/мес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4261104"/>
            <a:ext cx="54406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4261104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431596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RuTube продвижение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45537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Продвижение раздела TITAN канала (3-6 мес)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4261104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≈ 40 000 ₽/мес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2200" y="5010912"/>
            <a:ext cx="5440680" cy="7132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5010912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506577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13131"/>
                </a:solidFill>
                <a:latin typeface="Calibri"/>
              </a:rPr>
              <a:t>VK геотаргетинг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53035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Таргетинг по 11+ ТТ в регионах присутствия TITAN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41280" y="5010912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55E0A"/>
                </a:solidFill>
                <a:latin typeface="Calibri"/>
              </a:rPr>
              <a:t>≈ 25 000 ₽/мес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2200" y="5852160"/>
            <a:ext cx="5440680" cy="411480"/>
          </a:xfrm>
          <a:prstGeom prst="rect">
            <a:avLst/>
          </a:prstGeom>
          <a:solidFill>
            <a:srgbClr val="FB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63640" y="5852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ИТОГО ЭТАП 2 (мес.):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69680" y="585216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~ 95 000 ₽/мес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6263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ВСЕГО ПРОГРАММА: ~ 810 000 ₽ разово + ~ 95 000 ₽/мес операционных расходов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0" y="6263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Empils  •  TITAN  •  Смета программы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