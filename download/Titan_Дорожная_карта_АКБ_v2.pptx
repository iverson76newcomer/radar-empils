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71" r:id="rId3"/>
    <p:sldId id="286" r:id="rId4"/>
    <p:sldId id="284" r:id="rId5"/>
    <p:sldId id="287" r:id="rId28"/>
    <p:sldId id="288" r:id="rId29"/>
    <p:sldId id="259" r:id="rId6"/>
    <p:sldId id="261" r:id="rId7"/>
    <p:sldId id="262" r:id="rId8"/>
    <p:sldId id="263" r:id="rId9"/>
    <p:sldId id="265" r:id="rId10"/>
    <p:sldId id="266" r:id="rId11"/>
    <p:sldId id="277" r:id="rId12"/>
    <p:sldId id="278" r:id="rId13"/>
    <p:sldId id="270" r:id="rId14"/>
    <p:sldId id="279" r:id="rId15"/>
    <p:sldId id="276" r:id="rId16"/>
    <p:sldId id="272" r:id="rId17"/>
    <p:sldId id="275" r:id="rId18"/>
    <p:sldId id="273" r:id="rId19"/>
    <p:sldId id="274" r:id="rId20"/>
    <p:sldId id="269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4.xml"/><Relationship Id="rId29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23.07.2026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Roboto Mono Medium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1255"/>
              </a:lnSpc>
            </a:pPr>
            <a:r>
              <a:rPr lang="en-US" sz="1100" kern="0" spc="-12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Arial"/>
              </a:rPr>
              <a:t>TITAN — аналитика 1 полугодия: 2025 vs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48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  <a:latin typeface="Arial"/>
              </a:rPr>
              <a:t>Без СтройТерминала (не предоставлял статистику в 2025). Источник: TITAN_анализ_дистрибьюторов_для_программы_v2.xlsx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АКБ розничных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6 096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5 181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89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69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РТТ, продающие TITAN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9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9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9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9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25" y="1781625"/>
            <a:ext cx="2772000" cy="17280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6025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(вторичка)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6025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30 589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6025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6025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20 046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6025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62828"/>
                </a:solidFill>
                <a:latin typeface="Arial"/>
              </a:rPr>
              <a:t>−35%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250" y="1781625"/>
            <a:ext cx="2772000" cy="1728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250" y="1853625"/>
            <a:ext cx="255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Кг TITAN (первичка)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50" y="2141625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Arial"/>
              </a:rPr>
              <a:t>90 504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250" y="2429625"/>
            <a:ext cx="2556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250" y="2573625"/>
            <a:ext cx="25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E3A5F"/>
                </a:solidFill>
                <a:latin typeface="Arial"/>
              </a:rPr>
              <a:t>92 094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250" y="3053250"/>
            <a:ext cx="25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6A34A"/>
                </a:solidFill>
                <a:latin typeface="Arial"/>
              </a:rPr>
              <a:t>+1.8%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325" y="6147075"/>
            <a:ext cx="11763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F47920"/>
                </a:solidFill>
                <a:latin typeface="Arial"/>
              </a:rPr>
              <a:t>⚠ ПАРАДОКС СЕЗОНА: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первичка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растёт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(+1.8%),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вторичка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падает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(−35%).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Дистрибьюторы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закупают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склад</a:t>
            </a:r>
            <a:r>
              <a:rPr sz="1300" dirty="0">
                <a:solidFill>
                  <a:srgbClr val="1A1F36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но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1300" dirty="0">
                <a:solidFill>
                  <a:srgbClr val="1A1F36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продают</a:t>
            </a:r>
            <a:r>
              <a:rPr sz="1300" dirty="0">
                <a:solidFill>
                  <a:srgbClr val="1A1F36"/>
                </a:solidFill>
                <a:latin typeface="Arial"/>
              </a:rPr>
              <a:t> в </a:t>
            </a:r>
            <a:r>
              <a:rPr sz="1300" dirty="0" err="1">
                <a:solidFill>
                  <a:srgbClr val="1A1F36"/>
                </a:solidFill>
                <a:latin typeface="Arial"/>
              </a:rPr>
              <a:t>розницу</a:t>
            </a:r>
            <a:r>
              <a:rPr sz="1300" dirty="0">
                <a:solidFill>
                  <a:srgbClr val="1A1F36"/>
                </a:solidFill>
                <a:latin typeface="Arial"/>
              </a:rPr>
              <a:t>.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000" y="4119824"/>
            <a:ext cx="311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62828"/>
                </a:solidFill>
                <a:latin typeface="Arial"/>
              </a:rPr>
              <a:t>🚨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Тревожные</a:t>
            </a:r>
            <a:r>
              <a:rPr b="1" dirty="0">
                <a:solidFill>
                  <a:srgbClr val="C62828"/>
                </a:solidFill>
                <a:latin typeface="Arial"/>
              </a:rPr>
              <a:t> </a:t>
            </a:r>
            <a:r>
              <a:rPr b="1" dirty="0" err="1">
                <a:solidFill>
                  <a:srgbClr val="C62828"/>
                </a:solidFill>
                <a:latin typeface="Arial"/>
              </a:rPr>
              <a:t>сигналы</a:t>
            </a:r>
            <a:endParaRPr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3999" y="449032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3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метрики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падают</a:t>
            </a:r>
            <a:r>
              <a:rPr sz="1200" dirty="0">
                <a:solidFill>
                  <a:srgbClr val="1A1F36"/>
                </a:solidFill>
                <a:latin typeface="Arial"/>
              </a:rPr>
              <a:t>: АКБ −15%, РТТ −6%,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−35%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999" y="4752900"/>
            <a:ext cx="4898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Севастьянов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(−52%) —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крупнейшее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падение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Бурдинский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сократил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вдвое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53999" y="5205975"/>
            <a:ext cx="4898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47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109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договоров</a:t>
            </a:r>
            <a:r>
              <a:rPr sz="1200" dirty="0">
                <a:solidFill>
                  <a:srgbClr val="1A1F36"/>
                </a:solidFill>
                <a:latin typeface="Arial"/>
              </a:rPr>
              <a:t> (44%) — «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спящие</a:t>
            </a:r>
            <a:r>
              <a:rPr sz="1200" dirty="0">
                <a:solidFill>
                  <a:srgbClr val="1A1F36"/>
                </a:solidFill>
                <a:latin typeface="Arial"/>
              </a:rPr>
              <a:t>»,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закупок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176925" y="4123196"/>
            <a:ext cx="29788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dirty="0">
                <a:solidFill>
                  <a:srgbClr val="16A34A"/>
                </a:solidFill>
                <a:latin typeface="Arial"/>
              </a:rPr>
              <a:t>✅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Позитивные</a:t>
            </a:r>
            <a:r>
              <a:rPr b="1" dirty="0">
                <a:solidFill>
                  <a:srgbClr val="16A34A"/>
                </a:solidFill>
                <a:latin typeface="Arial"/>
              </a:rPr>
              <a:t> </a:t>
            </a:r>
            <a:r>
              <a:rPr b="1" dirty="0" err="1">
                <a:solidFill>
                  <a:srgbClr val="16A34A"/>
                </a:solidFill>
                <a:latin typeface="Arial"/>
              </a:rPr>
              <a:t>сигналы</a:t>
            </a:r>
            <a:endParaRPr b="1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205725" y="44765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Уралстройсервис</a:t>
            </a:r>
            <a:r>
              <a:rPr sz="1200" dirty="0">
                <a:solidFill>
                  <a:srgbClr val="1A1F36"/>
                </a:solidFill>
                <a:latin typeface="Arial"/>
              </a:rPr>
              <a:t> +55% (327→508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), РТТ ×2 (29→58)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5250" y="4748625"/>
            <a:ext cx="41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АЮСС-ВСТК +2-9%,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привлёк</a:t>
            </a:r>
            <a:r>
              <a:rPr sz="1200" dirty="0">
                <a:solidFill>
                  <a:srgbClr val="1A1F36"/>
                </a:solidFill>
                <a:latin typeface="Arial"/>
              </a:rPr>
              <a:t> 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новых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клиентов</a:t>
            </a:r>
            <a:endParaRPr sz="12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5250" y="5001675"/>
            <a:ext cx="41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1A1F36"/>
                </a:solidFill>
                <a:latin typeface="Arial"/>
              </a:rPr>
              <a:t>•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Держава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Трейд</a:t>
            </a:r>
            <a:r>
              <a:rPr sz="1200" dirty="0">
                <a:solidFill>
                  <a:srgbClr val="1A1F36"/>
                </a:solidFill>
                <a:latin typeface="Arial"/>
              </a:rPr>
              <a:t> (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Казахстан</a:t>
            </a:r>
            <a:r>
              <a:rPr sz="1200" dirty="0">
                <a:solidFill>
                  <a:srgbClr val="1A1F36"/>
                </a:solidFill>
                <a:latin typeface="Arial"/>
              </a:rPr>
              <a:t>) +11% = 7 065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кг</a:t>
            </a:r>
            <a:r>
              <a:rPr sz="1200" dirty="0">
                <a:solidFill>
                  <a:srgbClr val="1A1F36"/>
                </a:solidFill>
                <a:latin typeface="Arial"/>
              </a:rPr>
              <a:t> (35%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всей</a:t>
            </a:r>
            <a:r>
              <a:rPr sz="1200" dirty="0">
                <a:solidFill>
                  <a:srgbClr val="1A1F36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A1F36"/>
                </a:solidFill>
                <a:latin typeface="Arial"/>
              </a:rPr>
              <a:t>вторички</a:t>
            </a:r>
            <a:r>
              <a:rPr sz="1200" dirty="0">
                <a:solidFill>
                  <a:srgbClr val="1A1F36"/>
                </a:solidFill>
                <a:latin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305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Arial"/>
              </a:rPr>
              <a:t>TITAN vs конкуренты — ценовое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111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6B7280"/>
                </a:solidFill>
                <a:latin typeface="Arial"/>
              </a:rPr>
              <a:t>Источник: ВсеИнструменты.ру. Цены 10.06.2026 (из презентации TITAN) vs актуальные на сегодня. 16 SKU в 3 категориях.</a:t>
            </a:r>
          </a:p>
        </p:txBody>
      </p:sp>
      <p:pic>
        <p:nvPicPr>
          <p:cNvPr id="4" name="Picture 3" descr="pric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" y="900000"/>
            <a:ext cx="8100000" cy="48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60000" y="90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TITAN (3 SKU)</a:t>
            </a:r>
          </a:p>
          <a:p>
            <a:pPr algn="l"/>
            <a:r>
              <a:rPr sz="1100">
                <a:solidFill>
                  <a:srgbClr val="1A1F36"/>
                </a:solidFill>
                <a:latin typeface="Arial"/>
              </a:rPr>
              <a:t>Средняя цена: 982 → 1 052 ₽</a:t>
            </a:r>
            <a:r>
              <a:rPr sz="1100" b="1">
                <a:solidFill>
                  <a:srgbClr val="C62828"/>
                </a:solidFill>
                <a:latin typeface="Arial"/>
              </a:rPr>
              <a:t>  (+7%)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3в1: 872 → 905 (+4%)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Быстр.: 765 → 956 (+25%) ↑↑</a:t>
            </a:r>
          </a:p>
          <a:p>
            <a:pPr algn="l"/>
            <a:r>
              <a:rPr sz="1000">
                <a:solidFill>
                  <a:srgbClr val="1A1F36"/>
                </a:solidFill>
                <a:latin typeface="Arial"/>
              </a:rPr>
              <a:t>• Молот.: 1 308 → 1 294 (−1%)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6A34A"/>
                </a:solidFill>
                <a:latin typeface="Arial"/>
              </a:rPr>
              <a:t>⚠️ Конкуренты демпингуют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3в1: −17% (1 153→953)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Tikkurila METALLISTA: −23%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(2 085→1 599)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Dufa HAMMERLACK: −27%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(1 653→1 210)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Лакра молотковая: −15%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60000" y="3960000"/>
            <a:ext cx="34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Arial"/>
              </a:rPr>
              <a:t>📈 Подорожали вместе с TITAN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Новбытхим: +53% (765→1 168)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HUSKY молотковая: +44%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(1 196→1 719)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Elcon молотковая: +23%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  (1 097→1 344)</a:t>
            </a:r>
          </a:p>
          <a:p>
            <a:r>
              <a:rPr sz="1000">
                <a:solidFill>
                  <a:srgbClr val="1A1F36"/>
                </a:solidFill>
                <a:latin typeface="Arial"/>
              </a:rPr>
              <a:t>• Dali: +8-9%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940000"/>
            <a:ext cx="11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920"/>
                </a:solidFill>
                <a:latin typeface="Arial"/>
              </a:rPr>
              <a:t>ВЫВОД: </a:t>
            </a:r>
            <a:r>
              <a:rPr sz="1100">
                <a:solidFill>
                  <a:srgbClr val="1A1F36"/>
                </a:solidFill>
                <a:latin typeface="Arial"/>
              </a:rPr>
              <a:t>TITAN подорожал на +7% (быстрее рынка +3%) — теряет ценовое преимущество. HUSKY, Tikkurila и Dufa снизили цены на 15-27% — теперь дешевле TITAN в своих категориях. Рекомендация: точечные акции против HUSKY и Tikkurila, удержание цены на 3в1 (рост всего +4%).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88000"/>
            <a:ext cx="111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Arial"/>
              </a:rPr>
              <a:t>15 из 16 SKU найдены на vseinstrumenti.ru. SKU 10 (Лакра PROF IT быстросохнущая) — нет в наличии или цена не отображается.</a:t>
            </a:r>
          </a:p>
        </p:txBody>
      </p:sp>
    </p:spTree>
    <p:extLst>
      <p:ext uri="{BB962C8B-B14F-4D97-AF65-F5344CB8AC3E}">
        <p14:creationId xmlns:p14="http://schemas.microsoft.com/office/powerpoint/2010/main" val="356281682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TITAN — Аналитика 1 полугодия: 2025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Без «СтройТерминала» и «Технологии, ресурсы строительства» (не предоставляли статистику в 2025-2026 гг). Источник: NEW TITAN_анализ_дистрибьюторов.xlsx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78892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АКБ розничных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6 006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62828"/>
                </a:solidFill>
                <a:latin typeface="Calibri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828"/>
                </a:solidFill>
                <a:latin typeface="Calibri"/>
              </a:rPr>
              <a:t>5 255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−12.5%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Розница СЖИМАЕТСЯ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РТТ, продающие TITAN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465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469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Розничная база стабильна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1234440"/>
            <a:ext cx="2788920" cy="4572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(вторичка)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35 575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57C00"/>
                </a:solidFill>
                <a:latin typeface="Calibri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3256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7C00"/>
                </a:solidFill>
                <a:latin typeface="Calibri"/>
              </a:rPr>
              <a:t>32 719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1656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7C00"/>
                </a:solidFill>
                <a:latin typeface="Calibri"/>
              </a:rPr>
              <a:t>−8%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88936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Берут реже и меньше — проблема глубины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1234440"/>
            <a:ext cx="27889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53144" y="1234440"/>
            <a:ext cx="27889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12344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Кг TITAN (первичка)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B6B6B"/>
                </a:solidFill>
                <a:latin typeface="Calibri"/>
              </a:rPr>
              <a:t>104 812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87584" y="205740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1904" y="1828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E7D32"/>
                </a:solidFill>
                <a:latin typeface="Calibr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1904" y="20574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119 217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0304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7D32"/>
                </a:solidFill>
                <a:latin typeface="Calibri"/>
              </a:rPr>
              <a:t>+13.7%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7584" y="256032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313131"/>
                </a:solidFill>
                <a:latin typeface="Calibri"/>
              </a:rPr>
              <a:t>Рост отгрузок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749039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8861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55E0A"/>
                </a:solidFill>
                <a:latin typeface="Calibri"/>
              </a:rPr>
              <a:t>⚠ ПАРАДОКС СЕЗОНА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25195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13131"/>
                </a:solidFill>
                <a:latin typeface="Calibri"/>
              </a:rPr>
              <a:t>первичка растёт (+13.7%), вторичка падает (−8%). Дистрибьюторы закупают TITAN на склад, но не продают в розницу.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62828"/>
                </a:solidFill>
                <a:latin typeface="Calibri"/>
              </a:rPr>
              <a:t>🚨 Тревожные сигналы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АКБ −12.5% (розница сжимается)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Вторичка −8% — берут реже, чем закупают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47 из 109 договоров (44%) — «спящие», без закупок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7548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✅ Позитивные сигналы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047487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РТТ +0.9% (465→469) — розничная база СТАБИЛИЗИРОВАЛАСЬ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Первичка +13.7% (104 812→119 217 кг) — сильный рост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Уралстройсервис +55%, Держава Трейд (KZ) +11%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ВЫВОД: тренд улучшается (−35% → −8% по вторичке, +1.8% → +13.7% по первичке). Нужна программа активации розницы и работы с «спящими» договорами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90989F"/>
                </a:solidFill>
                <a:latin typeface="Calibri"/>
              </a:rPr>
              <a:t>Empils  •  TITAN  •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3131"/>
                </a:solidFill>
                <a:latin typeface="Calibri"/>
              </a:rPr>
              <a:t>ПИЛОТНЫЕ ДИСТРИБЬЮТОРЫ ПРОГРАММЫ 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3 региона · 3 пилота · отработка программы перед масштабированием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0116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47629"/>
                </a:solidFill>
                <a:latin typeface="Calibri"/>
              </a:rPr>
              <a:t>TITAN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03320" cy="50292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ПАЛИТРА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629"/>
                </a:solidFill>
                <a:latin typeface="Calibri"/>
              </a:rPr>
              <a:t>Краснодарский край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Краснодар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3246120" cy="127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7629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сельскохозяйственный регион Юга России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Высокая концентрация металлоконструкций: фермы, ангары, заборы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Активная стройка в Краснодаре и Сочи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Сильная розничная база DIY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703320" cy="50292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И.П. РЫГАЛОВ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55E0A"/>
                </a:solidFill>
                <a:latin typeface="Calibri"/>
              </a:rPr>
              <a:t>Пензенская область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Пенза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3246120" cy="12700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55E0A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Промышленный регион Поволжья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Производство металлических изделий и конструкций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Дача и частный сектор — высокий спрос на ЛКМ по металлу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Удобная логистика из Ростова-на-Дону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188720"/>
            <a:ext cx="37033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188720"/>
            <a:ext cx="3703320" cy="50292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1887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1887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ПИЛОТ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87452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БРОЗЕКС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423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Свердловская область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9748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📍 Екатеринбург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063240"/>
            <a:ext cx="3246120" cy="127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2004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313131"/>
                </a:solidFill>
                <a:latin typeface="Calibri"/>
              </a:rPr>
              <a:t>ПОЧЕМУ ВЫБРАН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204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Крупнейший промышленный хаб Урала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Тяжёлая промышленность: металлургия, машиностроение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30+ городов присутствия Brozex от Москвы до Новосибирска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Собственный автопарк — развитая логистика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• Эталонный кейс для других партнёров Эмпилс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74552" cy="731520"/>
          </a:xfrm>
          <a:prstGeom prst="roundRect">
            <a:avLst>
              <a:gd name="adj" fmla="val 5000"/>
            </a:avLst>
          </a:prstGeom>
          <a:solidFill>
            <a:srgbClr val="FBE6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55E0A"/>
                </a:solidFill>
                <a:latin typeface="Calibri"/>
              </a:rPr>
              <a:t>🎯 СТРАТЕГИЯ ПИЛОТИРОВАНИЯ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7220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13131"/>
                </a:solidFill>
                <a:latin typeface="Calibri"/>
              </a:rPr>
              <a:t>3 региона (Юг · Поволжье · Урал) — покрытие 3 федеральных округов · 3 разных профиля дистрибьютора (сеть DIY · ИП · крупный оптовик) · отработка программы TITAN перед масштабированием на 109 партнёров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885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525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1925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1125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2885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525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965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925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3365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1125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2565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885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525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965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925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3365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1125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2565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2885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1525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965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1925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63365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1125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2565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2885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1525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965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71925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63365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1125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92565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2885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525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2965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1925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63365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1125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92565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2885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1525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965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1925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63365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1125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2565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885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>продаж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Дорожная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карта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развития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продаж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E0000"/>
                </a:solidFill>
                <a:latin typeface="Arial"/>
              </a:rPr>
              <a:t>⚡ 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Синергия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: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экстремальный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тест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365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контент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для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RuTube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Я.Директ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трафик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точки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→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рост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третичных</a:t>
            </a:r>
            <a:r>
              <a:rPr sz="1200" b="1" i="0" dirty="0">
                <a:solidFill>
                  <a:srgbClr val="8E0000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8E0000"/>
                </a:solidFill>
                <a:latin typeface="Arial"/>
              </a:rPr>
              <a:t>продаж</a:t>
            </a:r>
            <a:endParaRPr sz="1200" b="1" i="0" dirty="0">
              <a:solidFill>
                <a:srgbClr val="8E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В СЕТИ «ЛЕМАНА ПРО» — ЮФО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11 торговых точек  •  7 активностей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49808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Цель: 1) Показать уходимость грунт-эмалей TITAN в 11 ТТ Лемана ПРО на территории ЮФО   2) Инициировать пробную покупку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</a:rPr>
              <a:t>7 АКТИВНОСТЕЙ ПРОДВИЖЕНИЯ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РК на экранах Ростова-на-Дону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6 топовых экранов города · с 01.07 на 1 месяц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40864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45059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5915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Таргетированная реклама в интернете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ГЕО по 11 ТТ · ВКонтакте · с 07.07 по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44368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305409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054096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62656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Промо-акция «Подарок за покупку»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Ростов: 17-18 июля · Краснодар: 18-19 июля · от 1900₽ — кисть+перчатки, от 3900₽ — сертификат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47872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65760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66160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Кэшбек 5% на TITAN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Во всех 11 ТТ Лемана ПРО · с 01.07 по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51376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7200" y="426110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261104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69664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Мастер-классы силами Эмпилс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3 ТТ в Ростове-на-Дону · 17 и 24 июля · выкрасы с покупателем + презентация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6858000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48646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Обеспечение выкрасами 11 ТТ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Выкрасы EPL и TITAN · до 16.07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58384"/>
            <a:ext cx="6858000" cy="57607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" y="5468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68112"/>
            <a:ext cx="329184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Веерные выкрасы B2B Лемана ПРО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13 веерных выкрасов · изготовление до 14.07, распределение до 22.07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71600"/>
            <a:ext cx="4572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11 ТОРГОВЫХ ТОЧЕК — ЮФО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1737360"/>
            <a:ext cx="4572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55279" y="1737360"/>
            <a:ext cx="3200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Город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155679" y="1737360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Рег. 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98079" y="202996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79" y="202996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Ростов-на-Дону, ул. Доватора, 158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155679" y="202996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79" y="233172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55279" y="233172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Аксай, Аксайский пр-т, 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155679" y="233172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98079" y="263347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263347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Верхнетемерницкий, ул. Обсерваторная,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55679" y="263347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98079" y="293522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79" y="293522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Волгоград, Университетский пр-т, 107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155679" y="293522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498079" y="323697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323697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Покрышкина, 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55679" y="323697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98079" y="353872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79" y="353872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Краснодар, ул. Новороссийская, 234/1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155679" y="353872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498079" y="3840480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55279" y="3840480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Новороссийск, ул. Ленина, 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155679" y="3840480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498079" y="4142232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55279" y="4142232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Ставропольский край, с. Татарка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155679" y="4142232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98079" y="4443984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55279" y="4443984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Владикавказ, Архонское шоссе, 1А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155679" y="4443984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79" y="4745736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55279" y="4745736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Адыгея, Тургеневское шоссе, 27/1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155679" y="4745736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498079" y="5047488"/>
            <a:ext cx="4572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55279" y="5047488"/>
            <a:ext cx="3200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Волжский, пр-т Ленина, 2Ж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155679" y="5047488"/>
            <a:ext cx="914400" cy="3017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465711" y="5426924"/>
            <a:ext cx="4572000" cy="13258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557152" y="5472644"/>
            <a:ext cx="4389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ГЕОГРАФИЯ И МЕХАНИКА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57152" y="5746964"/>
            <a:ext cx="4389120" cy="960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spAutoFit/>
          </a:bodyPr>
          <a:lstStyle/>
          <a:p>
            <a:pPr algn="l"/>
            <a:r>
              <a:rPr sz="800" b="0">
                <a:solidFill>
                  <a:srgbClr val="1A1F36"/>
                </a:solidFill>
                <a:latin typeface="Arial"/>
              </a:rPr>
              <a:t>6 регионов ЮФО: Ростовская обл., Краснодарский край, Волгоградская обл., Ставропольский край, Сев. Осетия, Адыгея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Механика: от 1 900 ₽ — кисть + перчатки в подарок</a:t>
            </a:r>
          </a:p>
          <a:p>
            <a:pPr algn="l"/>
            <a:r>
              <a:rPr sz="800" b="1">
                <a:solidFill>
                  <a:srgbClr val="1A1F36"/>
                </a:solidFill>
                <a:latin typeface="Arial"/>
              </a:rPr>
              <a:t>            от 3 900 ₽ — сертификат Лемана ПРО 500 ₽</a:t>
            </a:r>
          </a:p>
          <a:p>
            <a:pPr algn="l"/>
            <a:r>
              <a:rPr sz="800" b="1">
                <a:solidFill>
                  <a:srgbClr val="16A34A"/>
                </a:solidFill>
                <a:latin typeface="Arial"/>
              </a:rPr>
              <a:t>            + 5% кэшбек на TITAN</a:t>
            </a:r>
          </a:p>
        </p:txBody>
      </p:sp>
    </p:spTree>
    <p:extLst>
      <p:ext uri="{BB962C8B-B14F-4D97-AF65-F5344CB8AC3E}">
        <p14:creationId xmlns:p14="http://schemas.microsoft.com/office/powerpoint/2010/main" val="181258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7919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1">
                <a:solidFill>
                  <a:srgbClr val="16A34A"/>
                </a:solidFill>
                <a:latin typeface="Arial"/>
              </a:rPr>
              <a:t>Красишь 1 раз — служит 10 лет  •  Партнёрство, которое окупается за 4 месяца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Расчёт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реальному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MML,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отгрузочные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цены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Эмпилс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10.07.2026</a:t>
            </a:r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E3A5F"/>
                </a:solidFill>
                <a:latin typeface="Arial"/>
              </a:rPr>
              <a:t>Сертификация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> </a:t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Программа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TCO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для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торговых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представителей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общего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>прайса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>  </a:t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660 шт  →  143 376 ₽  (63.8%)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47920"/>
                </a:solidFill>
                <a:latin typeface="Arial"/>
              </a:rPr>
              <a:t>290 шт  →  61 156 ₽  (27.2%)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rial"/>
              </a:rPr>
              <a:t>100 шт  →  20 215 ₽  (9.0%)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✓  TITAN (Эмпилс) — Письменный план «Б» с 6 инструментами + 3 уровнями срабатывания.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 dirty="0" err="1">
                <a:solidFill>
                  <a:srgbClr val="9CA3AF"/>
                </a:solidFill>
                <a:latin typeface="Arial"/>
              </a:rPr>
              <a:t>Empils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 •  TITAN  • 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План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«Б» —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официальная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часть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программы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Не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дополнительная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услуга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, а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гарантия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партнёрства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Итог: 2 KPI на этапе 1 · 3 KPI на этапе 2 · 5 KPI на этапе 3 — все метрики соблюдаются ежемесячно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3901</Words>
  <Application>Microsoft Office PowerPoint</Application>
  <PresentationFormat>Произвольный</PresentationFormat>
  <Paragraphs>936</Paragraphs>
  <Slides>19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57</cp:revision>
  <cp:lastPrinted>2026-07-15T06:35:42Z</cp:lastPrinted>
  <dcterms:created xsi:type="dcterms:W3CDTF">2013-01-27T09:14:16Z</dcterms:created>
  <dcterms:modified xsi:type="dcterms:W3CDTF">2026-07-23T10:36:12Z</dcterms:modified>
  <cp:category/>
</cp:coreProperties>
</file>