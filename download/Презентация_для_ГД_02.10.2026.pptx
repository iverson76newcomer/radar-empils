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61" d="100"/>
          <a:sy n="161" d="100"/>
        </p:scale>
        <p:origin x="-138" y="-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FBEEA3-D4FA-4FB4-A72C-31DD37E08AF9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9E918-18D3-4753-90A0-47B16382A5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591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774409"/>
            <a:ext cx="8686800" cy="0"/>
          </a:xfrm>
          <a:prstGeom prst="line">
            <a:avLst/>
          </a:prstGeom>
          <a:noFill/>
          <a:ln w="7144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716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E6394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547" dirty="0"/>
          </a:p>
        </p:txBody>
      </p:sp>
      <p:sp>
        <p:nvSpPr>
          <p:cNvPr id="4" name="Text 2"/>
          <p:cNvSpPr/>
          <p:nvPr/>
        </p:nvSpPr>
        <p:spPr>
          <a:xfrm>
            <a:off x="442913" y="178594"/>
            <a:ext cx="770453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kern="0" spc="113" dirty="0">
                <a:solidFill>
                  <a:srgbClr val="E6394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TITAN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1038746" y="171450"/>
            <a:ext cx="7144" cy="22860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60190" y="142875"/>
            <a:ext cx="15623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169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ПРОГРАММА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60190" y="250031"/>
            <a:ext cx="138051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1125" b="1" kern="0" spc="5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СДЕЛАНО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7633312" y="169736"/>
            <a:ext cx="1047966" cy="232029"/>
          </a:xfrm>
          <a:prstGeom prst="roundRect">
            <a:avLst>
              <a:gd name="adj" fmla="val 24631"/>
            </a:avLst>
          </a:prstGeom>
          <a:solidFill>
            <a:srgbClr val="161616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49040" y="257175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2ECC71">
              <a:alpha val="79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63340" y="232172"/>
            <a:ext cx="70220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28" dirty="0">
                <a:solidFill>
                  <a:srgbClr val="D1D5D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1 · АКТИВЕН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232172" y="2061945"/>
            <a:ext cx="2831269" cy="2275929"/>
          </a:xfrm>
          <a:prstGeom prst="roundRect">
            <a:avLst>
              <a:gd name="adj" fmla="val 3364"/>
            </a:avLst>
          </a:prstGeom>
          <a:solidFill>
            <a:srgbClr val="161616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21469" y="2398459"/>
            <a:ext cx="2652675" cy="0"/>
          </a:xfrm>
          <a:prstGeom prst="line">
            <a:avLst/>
          </a:prstGeom>
          <a:noFill/>
          <a:ln w="7144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469" y="2210935"/>
            <a:ext cx="21431" cy="114300"/>
          </a:xfrm>
          <a:prstGeom prst="roundRect">
            <a:avLst>
              <a:gd name="adj" fmla="val 88890"/>
            </a:avLst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00050" y="220379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E6394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85788" y="2198434"/>
            <a:ext cx="238835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84" dirty="0">
                <a:solidFill>
                  <a:srgbClr val="E6394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ДИСТРИБЬЮТОРСКИЙ КАНАЛ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1469" y="251310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844" dirty="0"/>
          </a:p>
        </p:txBody>
      </p:sp>
      <p:sp>
        <p:nvSpPr>
          <p:cNvPr id="23" name="Text 21"/>
          <p:cNvSpPr/>
          <p:nvPr/>
        </p:nvSpPr>
        <p:spPr>
          <a:xfrm>
            <a:off x="450056" y="2498816"/>
            <a:ext cx="2524088" cy="296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Пилоты: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Палитра (Краснодар), И.П. Рыгалов (Пенза), Брозекс (Екатеринбург)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1469" y="278233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844" dirty="0"/>
          </a:p>
        </p:txBody>
      </p:sp>
      <p:sp>
        <p:nvSpPr>
          <p:cNvPr id="25" name="Text 23"/>
          <p:cNvSpPr/>
          <p:nvPr/>
        </p:nvSpPr>
        <p:spPr>
          <a:xfrm>
            <a:off x="450056" y="2768046"/>
            <a:ext cx="2524088" cy="15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Обучение: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регионов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РМ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~350 ТП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1469" y="295266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844" dirty="0"/>
          </a:p>
        </p:txBody>
      </p:sp>
      <p:sp>
        <p:nvSpPr>
          <p:cNvPr id="27" name="Text 25"/>
          <p:cNvSpPr/>
          <p:nvPr/>
        </p:nvSpPr>
        <p:spPr>
          <a:xfrm>
            <a:off x="450056" y="2938380"/>
            <a:ext cx="2524088" cy="316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POSM: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 err="1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шелфтокеры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 smtClean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1000 </a:t>
            </a: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шт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воблеры </a:t>
            </a: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1000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ценники </a:t>
            </a: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1000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листовки </a:t>
            </a: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500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1469" y="323618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844" dirty="0"/>
          </a:p>
        </p:txBody>
      </p:sp>
      <p:sp>
        <p:nvSpPr>
          <p:cNvPr id="29" name="Text 27"/>
          <p:cNvSpPr/>
          <p:nvPr/>
        </p:nvSpPr>
        <p:spPr>
          <a:xfrm>
            <a:off x="450056" y="3221898"/>
            <a:ext cx="2524088" cy="316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Контент: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видеоинструкция </a:t>
            </a: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35 865 ₽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видеопортфолио </a:t>
            </a: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71 724 ₽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видео для ТП </a:t>
            </a: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41 611 ₽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1469" y="3508987"/>
            <a:ext cx="2652675" cy="0"/>
          </a:xfrm>
          <a:prstGeom prst="line">
            <a:avLst/>
          </a:prstGeom>
          <a:noFill/>
          <a:ln w="7144">
            <a:solidFill>
              <a:srgbClr val="333333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3156310" y="2109137"/>
            <a:ext cx="2831269" cy="2275929"/>
          </a:xfrm>
          <a:prstGeom prst="roundRect">
            <a:avLst>
              <a:gd name="adj" fmla="val 3364"/>
            </a:avLst>
          </a:prstGeom>
          <a:solidFill>
            <a:srgbClr val="161616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3245607" y="2398459"/>
            <a:ext cx="2652675" cy="0"/>
          </a:xfrm>
          <a:prstGeom prst="line">
            <a:avLst/>
          </a:prstGeom>
          <a:noFill/>
          <a:ln w="7144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45607" y="2210935"/>
            <a:ext cx="21431" cy="114300"/>
          </a:xfrm>
          <a:prstGeom prst="roundRect">
            <a:avLst>
              <a:gd name="adj" fmla="val 88890"/>
            </a:avLst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324188" y="220379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E6394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🛒</a:t>
            </a:r>
            <a:endParaRPr lang="en-US" sz="1266" dirty="0"/>
          </a:p>
        </p:txBody>
      </p:sp>
      <p:sp>
        <p:nvSpPr>
          <p:cNvPr id="38" name="Text 36"/>
          <p:cNvSpPr/>
          <p:nvPr/>
        </p:nvSpPr>
        <p:spPr>
          <a:xfrm>
            <a:off x="3509925" y="2198434"/>
            <a:ext cx="238835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84" dirty="0">
                <a:solidFill>
                  <a:srgbClr val="E6394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СЕТЕВОЙ КАНАЛ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245607" y="250204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844" dirty="0"/>
          </a:p>
        </p:txBody>
      </p:sp>
      <p:sp>
        <p:nvSpPr>
          <p:cNvPr id="40" name="Text 38"/>
          <p:cNvSpPr/>
          <p:nvPr/>
        </p:nvSpPr>
        <p:spPr>
          <a:xfrm>
            <a:off x="3374194" y="2487755"/>
            <a:ext cx="2524088" cy="158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Лемана Про: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ТТ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в ЮФО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245607" y="267237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▭</a:t>
            </a:r>
            <a:endParaRPr lang="en-US" sz="844" dirty="0"/>
          </a:p>
        </p:txBody>
      </p:sp>
      <p:sp>
        <p:nvSpPr>
          <p:cNvPr id="42" name="Text 40"/>
          <p:cNvSpPr/>
          <p:nvPr/>
        </p:nvSpPr>
        <p:spPr>
          <a:xfrm>
            <a:off x="3374194" y="2665233"/>
            <a:ext cx="1001174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619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РК на экранах Ростова:</a:t>
            </a:r>
            <a:endParaRPr lang="en-US" sz="619" dirty="0"/>
          </a:p>
        </p:txBody>
      </p:sp>
      <p:sp>
        <p:nvSpPr>
          <p:cNvPr id="43" name="Text 41"/>
          <p:cNvSpPr/>
          <p:nvPr/>
        </p:nvSpPr>
        <p:spPr>
          <a:xfrm>
            <a:off x="4306230" y="2665233"/>
            <a:ext cx="545068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экранов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245607" y="284271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☞</a:t>
            </a:r>
            <a:endParaRPr lang="en-US" sz="844" dirty="0"/>
          </a:p>
        </p:txBody>
      </p:sp>
      <p:sp>
        <p:nvSpPr>
          <p:cNvPr id="45" name="Text 43"/>
          <p:cNvSpPr/>
          <p:nvPr/>
        </p:nvSpPr>
        <p:spPr>
          <a:xfrm>
            <a:off x="3374194" y="2828423"/>
            <a:ext cx="2524088" cy="158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Таргет ВКонтакте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по </a:t>
            </a: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ТТ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245607" y="301304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44" dirty="0"/>
          </a:p>
        </p:txBody>
      </p:sp>
      <p:sp>
        <p:nvSpPr>
          <p:cNvPr id="47" name="Text 45"/>
          <p:cNvSpPr/>
          <p:nvPr/>
        </p:nvSpPr>
        <p:spPr>
          <a:xfrm>
            <a:off x="3374194" y="2998757"/>
            <a:ext cx="2524088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Промо «Подарок за покупку»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(Ростов + Краснодар)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245607" y="317623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←</a:t>
            </a:r>
            <a:endParaRPr lang="en-US" sz="844" dirty="0"/>
          </a:p>
        </p:txBody>
      </p:sp>
      <p:sp>
        <p:nvSpPr>
          <p:cNvPr id="49" name="Text 47"/>
          <p:cNvSpPr/>
          <p:nvPr/>
        </p:nvSpPr>
        <p:spPr>
          <a:xfrm>
            <a:off x="3374194" y="3161947"/>
            <a:ext cx="2524088" cy="15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Кэшбек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5%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на TITAN (все </a:t>
            </a: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ТТ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245607" y="334656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844" dirty="0"/>
          </a:p>
        </p:txBody>
      </p:sp>
      <p:sp>
        <p:nvSpPr>
          <p:cNvPr id="51" name="Text 49"/>
          <p:cNvSpPr/>
          <p:nvPr/>
        </p:nvSpPr>
        <p:spPr>
          <a:xfrm>
            <a:off x="3374194" y="3332281"/>
            <a:ext cx="2524088" cy="15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Мастер-классы: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ТТ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в Ростове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245607" y="351690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44" dirty="0"/>
          </a:p>
        </p:txBody>
      </p:sp>
      <p:sp>
        <p:nvSpPr>
          <p:cNvPr id="53" name="Text 51"/>
          <p:cNvSpPr/>
          <p:nvPr/>
        </p:nvSpPr>
        <p:spPr>
          <a:xfrm>
            <a:off x="3374194" y="3509758"/>
            <a:ext cx="1095617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Веерные выкрасы B2B: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550075" y="3504769"/>
            <a:ext cx="373886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шт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245607" y="368723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⌧</a:t>
            </a:r>
            <a:endParaRPr lang="en-US" sz="844" dirty="0"/>
          </a:p>
        </p:txBody>
      </p:sp>
      <p:sp>
        <p:nvSpPr>
          <p:cNvPr id="56" name="Text 54"/>
          <p:cNvSpPr/>
          <p:nvPr/>
        </p:nvSpPr>
        <p:spPr>
          <a:xfrm>
            <a:off x="3374194" y="3672948"/>
            <a:ext cx="2524088" cy="15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Скидка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(жёлтый ценник) с </a:t>
            </a: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01.08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245607" y="3846854"/>
            <a:ext cx="2652675" cy="0"/>
          </a:xfrm>
          <a:prstGeom prst="line">
            <a:avLst/>
          </a:prstGeom>
          <a:noFill/>
          <a:ln w="7144">
            <a:solidFill>
              <a:srgbClr val="333333"/>
            </a:solidFill>
            <a:prstDash val="dash"/>
          </a:ln>
        </p:spPr>
      </p:sp>
      <p:sp>
        <p:nvSpPr>
          <p:cNvPr id="70" name="Text 68"/>
          <p:cNvSpPr/>
          <p:nvPr/>
        </p:nvSpPr>
        <p:spPr>
          <a:xfrm>
            <a:off x="6080447" y="2109137"/>
            <a:ext cx="2831381" cy="2275929"/>
          </a:xfrm>
          <a:prstGeom prst="roundRect">
            <a:avLst>
              <a:gd name="adj" fmla="val 3364"/>
            </a:avLst>
          </a:prstGeom>
          <a:solidFill>
            <a:srgbClr val="161616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Shape 69"/>
          <p:cNvSpPr/>
          <p:nvPr/>
        </p:nvSpPr>
        <p:spPr>
          <a:xfrm>
            <a:off x="6169744" y="2398459"/>
            <a:ext cx="2652787" cy="0"/>
          </a:xfrm>
          <a:prstGeom prst="line">
            <a:avLst/>
          </a:prstGeom>
          <a:noFill/>
          <a:ln w="7144">
            <a:solidFill>
              <a:srgbClr val="33333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69744" y="2210935"/>
            <a:ext cx="21431" cy="114300"/>
          </a:xfrm>
          <a:prstGeom prst="roundRect">
            <a:avLst>
              <a:gd name="adj" fmla="val 88890"/>
            </a:avLst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6248326" y="220379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E6394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74" name="Text 72"/>
          <p:cNvSpPr/>
          <p:nvPr/>
        </p:nvSpPr>
        <p:spPr>
          <a:xfrm>
            <a:off x="6434063" y="2198434"/>
            <a:ext cx="238846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84" dirty="0">
                <a:solidFill>
                  <a:srgbClr val="E6394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B2B КАНАЛ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169744" y="250204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844" dirty="0"/>
          </a:p>
        </p:txBody>
      </p:sp>
      <p:sp>
        <p:nvSpPr>
          <p:cNvPr id="76" name="Text 74"/>
          <p:cNvSpPr/>
          <p:nvPr/>
        </p:nvSpPr>
        <p:spPr>
          <a:xfrm>
            <a:off x="6298332" y="2487755"/>
            <a:ext cx="2524199" cy="15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Тест-образец: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пробник </a:t>
            </a: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0,4 л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веерные выкрасы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6169744" y="267237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844" dirty="0"/>
          </a:p>
        </p:txBody>
      </p:sp>
      <p:sp>
        <p:nvSpPr>
          <p:cNvPr id="78" name="Text 76"/>
          <p:cNvSpPr/>
          <p:nvPr/>
        </p:nvSpPr>
        <p:spPr>
          <a:xfrm>
            <a:off x="6298332" y="2658089"/>
            <a:ext cx="2524199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Листовка B2B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с расчётом ССВ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6169744" y="283556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844" dirty="0"/>
          </a:p>
        </p:txBody>
      </p:sp>
      <p:sp>
        <p:nvSpPr>
          <p:cNvPr id="80" name="Text 78"/>
          <p:cNvSpPr/>
          <p:nvPr/>
        </p:nvSpPr>
        <p:spPr>
          <a:xfrm>
            <a:off x="6298332" y="2821279"/>
            <a:ext cx="2524199" cy="296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 инструментов: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тест-образец, листовка, инфлюенсер, маржа, портфолио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6169744" y="310479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844" dirty="0"/>
          </a:p>
        </p:txBody>
      </p:sp>
      <p:sp>
        <p:nvSpPr>
          <p:cNvPr id="82" name="Text 80"/>
          <p:cNvSpPr/>
          <p:nvPr/>
        </p:nvSpPr>
        <p:spPr>
          <a:xfrm>
            <a:off x="6298332" y="3090509"/>
            <a:ext cx="2524199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 маржинальности</a:t>
            </a: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по фасовкам </a:t>
            </a: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(8,5 л выгоднее)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169744" y="3314421"/>
            <a:ext cx="2652787" cy="0"/>
          </a:xfrm>
          <a:prstGeom prst="line">
            <a:avLst/>
          </a:prstGeom>
          <a:noFill/>
          <a:ln w="7144">
            <a:solidFill>
              <a:srgbClr val="333333"/>
            </a:solidFill>
            <a:prstDash val="dash"/>
          </a:ln>
        </p:spPr>
      </p:sp>
      <p:sp>
        <p:nvSpPr>
          <p:cNvPr id="88" name="Text 86"/>
          <p:cNvSpPr/>
          <p:nvPr/>
        </p:nvSpPr>
        <p:spPr>
          <a:xfrm>
            <a:off x="7528285" y="3560881"/>
            <a:ext cx="1290675" cy="375047"/>
          </a:xfrm>
          <a:prstGeom prst="roundRect">
            <a:avLst>
              <a:gd name="adj" fmla="val 15238"/>
            </a:avLst>
          </a:prstGeom>
          <a:solidFill>
            <a:srgbClr val="0E0E0E"/>
          </a:solidFill>
          <a:ln w="7144">
            <a:solidFill>
              <a:srgbClr val="22222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5" name="Text 15"/>
          <p:cNvSpPr/>
          <p:nvPr/>
        </p:nvSpPr>
        <p:spPr>
          <a:xfrm>
            <a:off x="546497" y="617934"/>
            <a:ext cx="107156" cy="107156"/>
          </a:xfrm>
          <a:prstGeom prst="ellipse">
            <a:avLst/>
          </a:prstGeom>
          <a:solidFill>
            <a:srgbClr val="0A0A0A"/>
          </a:solidFill>
          <a:ln w="21431">
            <a:solidFill>
              <a:srgbClr val="2ECC71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6" name="Text 16"/>
          <p:cNvSpPr/>
          <p:nvPr/>
        </p:nvSpPr>
        <p:spPr>
          <a:xfrm>
            <a:off x="571500" y="642938"/>
            <a:ext cx="57150" cy="57150"/>
          </a:xfrm>
          <a:prstGeom prst="ellipse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7" name="Text 17"/>
          <p:cNvSpPr/>
          <p:nvPr/>
        </p:nvSpPr>
        <p:spPr>
          <a:xfrm>
            <a:off x="885825" y="660797"/>
            <a:ext cx="1414463" cy="21431"/>
          </a:xfrm>
          <a:prstGeom prst="roundRect">
            <a:avLst>
              <a:gd name="adj" fmla="val 88890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8" name="Text 18"/>
          <p:cNvSpPr/>
          <p:nvPr/>
        </p:nvSpPr>
        <p:spPr>
          <a:xfrm>
            <a:off x="2532459" y="617934"/>
            <a:ext cx="107156" cy="107156"/>
          </a:xfrm>
          <a:prstGeom prst="ellipse">
            <a:avLst/>
          </a:prstGeom>
          <a:solidFill>
            <a:srgbClr val="0A0A0A"/>
          </a:solidFill>
          <a:ln w="21431">
            <a:solidFill>
              <a:srgbClr val="2ECC71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9" name="Text 19"/>
          <p:cNvSpPr/>
          <p:nvPr/>
        </p:nvSpPr>
        <p:spPr>
          <a:xfrm>
            <a:off x="2557463" y="642938"/>
            <a:ext cx="57150" cy="57150"/>
          </a:xfrm>
          <a:prstGeom prst="ellipse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1788" y="660797"/>
            <a:ext cx="1414463" cy="21431"/>
          </a:xfrm>
          <a:prstGeom prst="rect">
            <a:avLst/>
          </a:prstGeom>
        </p:spPr>
      </p:pic>
      <p:sp>
        <p:nvSpPr>
          <p:cNvPr id="121" name="Text 20"/>
          <p:cNvSpPr/>
          <p:nvPr/>
        </p:nvSpPr>
        <p:spPr>
          <a:xfrm>
            <a:off x="4518422" y="617934"/>
            <a:ext cx="107156" cy="107156"/>
          </a:xfrm>
          <a:prstGeom prst="ellipse">
            <a:avLst/>
          </a:prstGeom>
          <a:solidFill>
            <a:srgbClr val="0A0A0A"/>
          </a:solidFill>
          <a:ln w="21431">
            <a:solidFill>
              <a:srgbClr val="FF8C0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2" name="Text 21"/>
          <p:cNvSpPr/>
          <p:nvPr/>
        </p:nvSpPr>
        <p:spPr>
          <a:xfrm>
            <a:off x="4543425" y="642938"/>
            <a:ext cx="57150" cy="57150"/>
          </a:xfrm>
          <a:prstGeom prst="ellipse">
            <a:avLst/>
          </a:prstGeom>
          <a:solidFill>
            <a:srgbClr val="FF8C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3" name="Text 22"/>
          <p:cNvSpPr/>
          <p:nvPr/>
        </p:nvSpPr>
        <p:spPr>
          <a:xfrm>
            <a:off x="4857750" y="660797"/>
            <a:ext cx="1414463" cy="21431"/>
          </a:xfrm>
          <a:prstGeom prst="roundRect">
            <a:avLst>
              <a:gd name="adj" fmla="val 88890"/>
            </a:avLst>
          </a:prstGeom>
          <a:solidFill>
            <a:srgbClr val="2222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4" name="Text 23"/>
          <p:cNvSpPr/>
          <p:nvPr/>
        </p:nvSpPr>
        <p:spPr>
          <a:xfrm>
            <a:off x="6504384" y="617934"/>
            <a:ext cx="107156" cy="107156"/>
          </a:xfrm>
          <a:prstGeom prst="ellipse">
            <a:avLst/>
          </a:prstGeom>
          <a:solidFill>
            <a:srgbClr val="0A0A0A"/>
          </a:solidFill>
          <a:ln w="21431">
            <a:solidFill>
              <a:srgbClr val="88888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5" name="Text 24"/>
          <p:cNvSpPr/>
          <p:nvPr/>
        </p:nvSpPr>
        <p:spPr>
          <a:xfrm>
            <a:off x="6529388" y="642938"/>
            <a:ext cx="57150" cy="57150"/>
          </a:xfrm>
          <a:prstGeom prst="ellipse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6" name="Text 25"/>
          <p:cNvSpPr/>
          <p:nvPr/>
        </p:nvSpPr>
        <p:spPr>
          <a:xfrm>
            <a:off x="6843713" y="660797"/>
            <a:ext cx="1414463" cy="21431"/>
          </a:xfrm>
          <a:prstGeom prst="roundRect">
            <a:avLst>
              <a:gd name="adj" fmla="val 88890"/>
            </a:avLst>
          </a:prstGeom>
          <a:solidFill>
            <a:srgbClr val="2222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7" name="Text 26"/>
          <p:cNvSpPr/>
          <p:nvPr/>
        </p:nvSpPr>
        <p:spPr>
          <a:xfrm>
            <a:off x="8490347" y="617934"/>
            <a:ext cx="107156" cy="107156"/>
          </a:xfrm>
          <a:prstGeom prst="ellipse">
            <a:avLst/>
          </a:prstGeom>
          <a:solidFill>
            <a:srgbClr val="0A0A0A"/>
          </a:solidFill>
          <a:ln w="21431">
            <a:solidFill>
              <a:srgbClr val="88888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8" name="Text 27"/>
          <p:cNvSpPr/>
          <p:nvPr/>
        </p:nvSpPr>
        <p:spPr>
          <a:xfrm>
            <a:off x="8515350" y="642938"/>
            <a:ext cx="57150" cy="57150"/>
          </a:xfrm>
          <a:prstGeom prst="ellipse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9" name="Text 28"/>
          <p:cNvSpPr/>
          <p:nvPr/>
        </p:nvSpPr>
        <p:spPr>
          <a:xfrm>
            <a:off x="232172" y="796528"/>
            <a:ext cx="1684474" cy="1162058"/>
          </a:xfrm>
          <a:prstGeom prst="roundRect">
            <a:avLst>
              <a:gd name="adj" fmla="val 7181"/>
            </a:avLst>
          </a:prstGeom>
          <a:solidFill>
            <a:srgbClr val="161616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0" name="Text 29"/>
          <p:cNvSpPr/>
          <p:nvPr/>
        </p:nvSpPr>
        <p:spPr>
          <a:xfrm>
            <a:off x="321469" y="845614"/>
            <a:ext cx="11914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56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ЭТАП 1</a:t>
            </a:r>
            <a:endParaRPr lang="en-US" sz="800" dirty="0"/>
          </a:p>
        </p:txBody>
      </p:sp>
      <p:sp>
        <p:nvSpPr>
          <p:cNvPr id="131" name="Text 30"/>
          <p:cNvSpPr/>
          <p:nvPr/>
        </p:nvSpPr>
        <p:spPr>
          <a:xfrm>
            <a:off x="1515194" y="864037"/>
            <a:ext cx="324161" cy="140018"/>
          </a:xfrm>
          <a:prstGeom prst="roundRect">
            <a:avLst>
              <a:gd name="adj" fmla="val 68027"/>
            </a:avLst>
          </a:prstGeom>
          <a:solidFill>
            <a:srgbClr val="2ECC71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2" name="Text 31"/>
          <p:cNvSpPr/>
          <p:nvPr/>
        </p:nvSpPr>
        <p:spPr>
          <a:xfrm>
            <a:off x="1451241" y="842043"/>
            <a:ext cx="392474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28" dirty="0">
                <a:solidFill>
                  <a:srgbClr val="2ECC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DONE</a:t>
            </a:r>
            <a:endParaRPr lang="en-US" sz="800" dirty="0"/>
          </a:p>
        </p:txBody>
      </p:sp>
      <p:sp>
        <p:nvSpPr>
          <p:cNvPr id="133" name="Text 32"/>
          <p:cNvSpPr/>
          <p:nvPr/>
        </p:nvSpPr>
        <p:spPr>
          <a:xfrm>
            <a:off x="321469" y="1025128"/>
            <a:ext cx="1505880" cy="109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42"/>
              </a:lnSpc>
              <a:buNone/>
            </a:pPr>
            <a:r>
              <a:rPr lang="en-US" sz="800" b="1" kern="0" spc="28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POS-МАТЕРИАЛЫ</a:t>
            </a:r>
            <a:endParaRPr lang="en-US" sz="800" dirty="0"/>
          </a:p>
        </p:txBody>
      </p:sp>
      <p:sp>
        <p:nvSpPr>
          <p:cNvPr id="134" name="Text 33"/>
          <p:cNvSpPr/>
          <p:nvPr/>
        </p:nvSpPr>
        <p:spPr>
          <a:xfrm>
            <a:off x="321469" y="1268381"/>
            <a:ext cx="1596233" cy="102383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Autofit/>
          </a:bodyPr>
          <a:lstStyle/>
          <a:p>
            <a:pPr marL="0" indent="0" algn="l">
              <a:lnSpc>
                <a:spcPts val="797"/>
              </a:lnSpc>
              <a:buNone/>
            </a:pPr>
            <a:endParaRPr lang="en-US" sz="600" dirty="0"/>
          </a:p>
        </p:txBody>
      </p:sp>
      <p:sp>
        <p:nvSpPr>
          <p:cNvPr id="135" name="Text 34"/>
          <p:cNvSpPr/>
          <p:nvPr/>
        </p:nvSpPr>
        <p:spPr>
          <a:xfrm>
            <a:off x="302183" y="1153210"/>
            <a:ext cx="1536773" cy="535087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/>
          <a:lstStyle/>
          <a:p>
            <a:pPr>
              <a:lnSpc>
                <a:spcPts val="900"/>
              </a:lnSpc>
            </a:pPr>
            <a:r>
              <a:rPr lang="en-US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1. </a:t>
            </a:r>
            <a:r>
              <a:rPr lang="ru-RU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Руководство по продажам</a:t>
            </a:r>
            <a:br>
              <a:rPr lang="ru-RU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</a:br>
            <a:r>
              <a:rPr lang="en-US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2. </a:t>
            </a:r>
            <a:r>
              <a:rPr lang="en-US" sz="700" dirty="0" err="1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Шелфтокеры</a:t>
            </a:r>
            <a:r>
              <a:rPr lang="en-US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, </a:t>
            </a:r>
            <a:r>
              <a:rPr lang="en-US" sz="700" dirty="0" err="1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воблеры</a:t>
            </a:r>
            <a:r>
              <a:rPr lang="en-US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, </a:t>
            </a:r>
            <a:r>
              <a:rPr lang="en-US" sz="700" dirty="0" err="1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ценники</a:t>
            </a:r>
            <a:endParaRPr lang="en-US" sz="700" dirty="0"/>
          </a:p>
          <a:p>
            <a:pPr marL="0" indent="0" algn="l">
              <a:lnSpc>
                <a:spcPts val="900"/>
              </a:lnSpc>
              <a:buNone/>
            </a:pPr>
            <a:r>
              <a:rPr lang="en-US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3. </a:t>
            </a:r>
            <a:r>
              <a:rPr lang="en-US" sz="700" dirty="0" err="1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Листовк</a:t>
            </a:r>
            <a:r>
              <a:rPr lang="ru-RU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а</a:t>
            </a:r>
            <a:br>
              <a:rPr lang="ru-RU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</a:br>
            <a:r>
              <a:rPr lang="ru-RU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4.</a:t>
            </a:r>
            <a:r>
              <a:rPr lang="en-US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 </a:t>
            </a:r>
            <a:r>
              <a:rPr lang="ru-RU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П</a:t>
            </a:r>
            <a:r>
              <a:rPr lang="en-US" sz="700" dirty="0" err="1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ланограмма</a:t>
            </a:r>
            <a:endParaRPr lang="en-US" sz="700" dirty="0"/>
          </a:p>
        </p:txBody>
      </p:sp>
      <p:sp>
        <p:nvSpPr>
          <p:cNvPr id="136" name="Shape 35"/>
          <p:cNvSpPr/>
          <p:nvPr/>
        </p:nvSpPr>
        <p:spPr>
          <a:xfrm>
            <a:off x="321469" y="1653622"/>
            <a:ext cx="1505880" cy="0"/>
          </a:xfrm>
          <a:prstGeom prst="line">
            <a:avLst/>
          </a:prstGeom>
          <a:noFill/>
          <a:ln w="7144">
            <a:solidFill>
              <a:srgbClr val="222222"/>
            </a:solidFill>
            <a:prstDash val="solid"/>
          </a:ln>
        </p:spPr>
      </p:sp>
      <p:sp>
        <p:nvSpPr>
          <p:cNvPr id="139" name="Text 38"/>
          <p:cNvSpPr/>
          <p:nvPr/>
        </p:nvSpPr>
        <p:spPr>
          <a:xfrm>
            <a:off x="1980940" y="796528"/>
            <a:ext cx="1684474" cy="1162058"/>
          </a:xfrm>
          <a:prstGeom prst="roundRect">
            <a:avLst>
              <a:gd name="adj" fmla="val 7181"/>
            </a:avLst>
          </a:prstGeom>
          <a:solidFill>
            <a:srgbClr val="161616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0" name="Text 39"/>
          <p:cNvSpPr/>
          <p:nvPr/>
        </p:nvSpPr>
        <p:spPr>
          <a:xfrm>
            <a:off x="2070236" y="845614"/>
            <a:ext cx="11914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56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ЭТАП 1</a:t>
            </a:r>
            <a:endParaRPr lang="en-US" sz="800" dirty="0"/>
          </a:p>
        </p:txBody>
      </p:sp>
      <p:sp>
        <p:nvSpPr>
          <p:cNvPr id="141" name="Text 40"/>
          <p:cNvSpPr/>
          <p:nvPr/>
        </p:nvSpPr>
        <p:spPr>
          <a:xfrm>
            <a:off x="3263962" y="834542"/>
            <a:ext cx="324161" cy="140018"/>
          </a:xfrm>
          <a:prstGeom prst="roundRect">
            <a:avLst>
              <a:gd name="adj" fmla="val 68027"/>
            </a:avLst>
          </a:prstGeom>
          <a:solidFill>
            <a:srgbClr val="2ECC71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2" name="Text 41"/>
          <p:cNvSpPr/>
          <p:nvPr/>
        </p:nvSpPr>
        <p:spPr>
          <a:xfrm>
            <a:off x="3156310" y="875108"/>
            <a:ext cx="436173" cy="1214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28" dirty="0">
                <a:solidFill>
                  <a:srgbClr val="2ECC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DONE</a:t>
            </a:r>
            <a:endParaRPr lang="en-US" sz="800" dirty="0"/>
          </a:p>
        </p:txBody>
      </p:sp>
      <p:sp>
        <p:nvSpPr>
          <p:cNvPr id="143" name="Text 42"/>
          <p:cNvSpPr/>
          <p:nvPr/>
        </p:nvSpPr>
        <p:spPr>
          <a:xfrm>
            <a:off x="2070236" y="1025128"/>
            <a:ext cx="1505880" cy="109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42"/>
              </a:lnSpc>
              <a:buNone/>
            </a:pPr>
            <a:r>
              <a:rPr lang="en-US" sz="800" b="1" kern="0" spc="28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КОНТЕНТ И ОБУЧЕНИЕ</a:t>
            </a:r>
            <a:endParaRPr lang="en-US" sz="800" dirty="0"/>
          </a:p>
        </p:txBody>
      </p:sp>
      <p:sp>
        <p:nvSpPr>
          <p:cNvPr id="144" name="Text 43"/>
          <p:cNvSpPr/>
          <p:nvPr/>
        </p:nvSpPr>
        <p:spPr>
          <a:xfrm>
            <a:off x="2023480" y="1162198"/>
            <a:ext cx="1642990" cy="507705"/>
          </a:xfrm>
          <a:prstGeom prst="rect">
            <a:avLst/>
          </a:prstGeom>
          <a:noFill/>
          <a:ln/>
        </p:spPr>
        <p:txBody>
          <a:bodyPr wrap="square" lIns="0" tIns="14288" rIns="0" bIns="14288" rtlCol="0" anchor="t">
            <a:no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ru-RU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1. Видеоролики</a:t>
            </a:r>
            <a:r>
              <a:rPr lang="ru-RU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: 5 штук</a:t>
            </a:r>
          </a:p>
          <a:p>
            <a:pPr>
              <a:lnSpc>
                <a:spcPts val="900"/>
              </a:lnSpc>
            </a:pPr>
            <a:r>
              <a:rPr lang="ru-RU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2. О</a:t>
            </a:r>
            <a:r>
              <a:rPr lang="en-US" sz="700" dirty="0" err="1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блако</a:t>
            </a:r>
            <a:r>
              <a:rPr lang="en-US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 с </a:t>
            </a:r>
            <a:r>
              <a:rPr lang="en-US" sz="700" dirty="0" err="1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материалами</a:t>
            </a:r>
            <a:endParaRPr lang="ru-RU" sz="700" dirty="0" smtClean="0">
              <a:solidFill>
                <a:srgbClr val="CCCCCC"/>
              </a:solidFill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900"/>
              </a:lnSpc>
            </a:pPr>
            <a:r>
              <a:rPr lang="ru-RU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3. </a:t>
            </a:r>
            <a:r>
              <a:rPr lang="en-US" sz="700" dirty="0" err="1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Обучение</a:t>
            </a:r>
            <a:r>
              <a:rPr lang="en-US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:</a:t>
            </a:r>
            <a:r>
              <a:rPr lang="ru-RU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 </a:t>
            </a:r>
            <a:r>
              <a:rPr lang="ru-RU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_</a:t>
            </a:r>
            <a:r>
              <a:rPr lang="en-US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 </a:t>
            </a:r>
            <a:r>
              <a:rPr lang="en-US" sz="700" dirty="0" err="1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регионов</a:t>
            </a:r>
            <a:r>
              <a:rPr lang="en-US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, ~350 ТП</a:t>
            </a:r>
            <a:r>
              <a:rPr lang="ru-RU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 ОП</a:t>
            </a:r>
            <a:endParaRPr lang="en-US" sz="700" dirty="0">
              <a:solidFill>
                <a:srgbClr val="CCCCCC"/>
              </a:solidFill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797"/>
              </a:lnSpc>
            </a:pPr>
            <a:endParaRPr lang="en-US" sz="700" dirty="0"/>
          </a:p>
          <a:p>
            <a:pPr>
              <a:lnSpc>
                <a:spcPts val="797"/>
              </a:lnSpc>
            </a:pPr>
            <a:endParaRPr lang="en-US" sz="700" dirty="0">
              <a:solidFill>
                <a:srgbClr val="CCCCCC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797"/>
              </a:lnSpc>
              <a:buNone/>
            </a:pPr>
            <a:endParaRPr lang="en-US" sz="500" dirty="0">
              <a:solidFill>
                <a:srgbClr val="CCCCCC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146" name="Text 45"/>
          <p:cNvSpPr/>
          <p:nvPr/>
        </p:nvSpPr>
        <p:spPr>
          <a:xfrm>
            <a:off x="2070236" y="1544501"/>
            <a:ext cx="521106" cy="125403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/>
          <a:lstStyle/>
          <a:p>
            <a:pPr marL="0" indent="0" algn="l">
              <a:lnSpc>
                <a:spcPts val="797"/>
              </a:lnSpc>
              <a:buNone/>
            </a:pPr>
            <a:endParaRPr lang="en-US" sz="800" dirty="0"/>
          </a:p>
        </p:txBody>
      </p:sp>
      <p:sp>
        <p:nvSpPr>
          <p:cNvPr id="147" name="Text 46"/>
          <p:cNvSpPr/>
          <p:nvPr/>
        </p:nvSpPr>
        <p:spPr>
          <a:xfrm>
            <a:off x="2569388" y="1555642"/>
            <a:ext cx="1049127" cy="148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endParaRPr lang="en-US" sz="600" dirty="0"/>
          </a:p>
        </p:txBody>
      </p:sp>
      <p:sp>
        <p:nvSpPr>
          <p:cNvPr id="148" name="Text 47"/>
          <p:cNvSpPr/>
          <p:nvPr/>
        </p:nvSpPr>
        <p:spPr>
          <a:xfrm>
            <a:off x="3729707" y="796528"/>
            <a:ext cx="1684474" cy="1162058"/>
          </a:xfrm>
          <a:prstGeom prst="roundRect">
            <a:avLst>
              <a:gd name="adj" fmla="val 7181"/>
            </a:avLst>
          </a:prstGeom>
          <a:solidFill>
            <a:srgbClr val="161616"/>
          </a:solidFill>
          <a:ln w="7144">
            <a:solidFill>
              <a:srgbClr val="FF8C0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9" name="Text 48"/>
          <p:cNvSpPr/>
          <p:nvPr/>
        </p:nvSpPr>
        <p:spPr>
          <a:xfrm>
            <a:off x="3819004" y="845614"/>
            <a:ext cx="9056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56" dirty="0">
                <a:solidFill>
                  <a:srgbClr val="FF8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ЭТАП 2</a:t>
            </a:r>
            <a:endParaRPr lang="en-US" sz="800" dirty="0"/>
          </a:p>
        </p:txBody>
      </p:sp>
      <p:sp>
        <p:nvSpPr>
          <p:cNvPr id="150" name="Text 49"/>
          <p:cNvSpPr/>
          <p:nvPr/>
        </p:nvSpPr>
        <p:spPr>
          <a:xfrm>
            <a:off x="4716125" y="864037"/>
            <a:ext cx="631619" cy="140018"/>
          </a:xfrm>
          <a:prstGeom prst="roundRect">
            <a:avLst>
              <a:gd name="adj" fmla="val 68027"/>
            </a:avLst>
          </a:prstGeom>
          <a:solidFill>
            <a:srgbClr val="FF8C00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1" name="Text 50"/>
          <p:cNvSpPr/>
          <p:nvPr/>
        </p:nvSpPr>
        <p:spPr>
          <a:xfrm>
            <a:off x="4543425" y="834542"/>
            <a:ext cx="894727" cy="1325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28" dirty="0">
                <a:solidFill>
                  <a:srgbClr val="FF8C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152" name="Text 51"/>
          <p:cNvSpPr/>
          <p:nvPr/>
        </p:nvSpPr>
        <p:spPr>
          <a:xfrm>
            <a:off x="3819004" y="1025128"/>
            <a:ext cx="1505880" cy="109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42"/>
              </a:lnSpc>
              <a:buNone/>
            </a:pPr>
            <a:r>
              <a:rPr lang="en-US" sz="800" b="1" kern="0" spc="28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ПРОДВИЖЕНИЕ</a:t>
            </a:r>
            <a:endParaRPr lang="en-US" sz="800" dirty="0"/>
          </a:p>
        </p:txBody>
      </p:sp>
      <p:sp>
        <p:nvSpPr>
          <p:cNvPr id="153" name="Text 52"/>
          <p:cNvSpPr/>
          <p:nvPr/>
        </p:nvSpPr>
        <p:spPr>
          <a:xfrm>
            <a:off x="3774147" y="1111170"/>
            <a:ext cx="1626351" cy="722943"/>
          </a:xfrm>
          <a:prstGeom prst="rect">
            <a:avLst/>
          </a:prstGeom>
          <a:noFill/>
          <a:ln/>
        </p:spPr>
        <p:txBody>
          <a:bodyPr wrap="square" lIns="0" tIns="14288" rIns="0" bIns="14288" rtlCol="0" anchor="t">
            <a:noAutofit/>
          </a:bodyPr>
          <a:lstStyle/>
          <a:p>
            <a:pPr>
              <a:lnSpc>
                <a:spcPts val="797"/>
              </a:lnSpc>
            </a:pPr>
            <a:r>
              <a:rPr lang="ru-RU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1. Доработка сайта </a:t>
            </a:r>
            <a:r>
              <a:rPr lang="en-US" sz="700" dirty="0" err="1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Empils</a:t>
            </a:r>
            <a:r>
              <a:rPr lang="en-US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, </a:t>
            </a:r>
            <a:r>
              <a:rPr lang="ru-RU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посадочной страницы</a:t>
            </a:r>
            <a:br>
              <a:rPr lang="ru-RU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</a:br>
            <a:r>
              <a:rPr lang="ru-RU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2. </a:t>
            </a:r>
            <a:r>
              <a:rPr lang="ru-RU" sz="700" dirty="0" err="1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Таргетированная</a:t>
            </a:r>
            <a:r>
              <a:rPr lang="en-US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 </a:t>
            </a:r>
            <a:r>
              <a:rPr lang="en-US" sz="700" dirty="0" err="1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реклама</a:t>
            </a:r>
            <a:r>
              <a:rPr lang="ru-RU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 </a:t>
            </a:r>
            <a:r>
              <a:rPr lang="en-US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VK</a:t>
            </a:r>
            <a:endParaRPr lang="ru-RU" sz="700" dirty="0">
              <a:solidFill>
                <a:srgbClr val="CCCCCC"/>
              </a:solidFill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797"/>
              </a:lnSpc>
            </a:pPr>
            <a:r>
              <a:rPr lang="ru-RU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3. </a:t>
            </a:r>
            <a:r>
              <a:rPr lang="en-US" sz="700" dirty="0" err="1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Видеореклама</a:t>
            </a:r>
            <a:r>
              <a:rPr lang="ru-RU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 пре-роллы 15-30 сек</a:t>
            </a:r>
          </a:p>
          <a:p>
            <a:pPr>
              <a:lnSpc>
                <a:spcPts val="797"/>
              </a:lnSpc>
            </a:pPr>
            <a:r>
              <a:rPr lang="en-US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 (VK </a:t>
            </a:r>
            <a:r>
              <a:rPr lang="ru-RU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Видео</a:t>
            </a:r>
            <a:r>
              <a:rPr lang="en-US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)</a:t>
            </a:r>
            <a:endParaRPr lang="ru-RU" sz="700" dirty="0" smtClean="0">
              <a:solidFill>
                <a:srgbClr val="CCCCCC"/>
              </a:solidFill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797"/>
              </a:lnSpc>
            </a:pPr>
            <a:r>
              <a:rPr lang="ru-RU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4</a:t>
            </a:r>
            <a:r>
              <a:rPr lang="ru-RU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. </a:t>
            </a:r>
            <a:r>
              <a:rPr lang="en-US" sz="700" dirty="0" err="1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Блогер-инфлюенсер</a:t>
            </a:r>
            <a:endParaRPr lang="ru-RU" sz="700" dirty="0" smtClean="0">
              <a:solidFill>
                <a:srgbClr val="CCCCCC"/>
              </a:solidFill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797"/>
              </a:lnSpc>
            </a:pPr>
            <a:r>
              <a:rPr lang="ru-RU" sz="700" dirty="0" smtClean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5. </a:t>
            </a:r>
            <a:r>
              <a:rPr lang="en-US" sz="700" dirty="0" err="1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Контекстная</a:t>
            </a:r>
            <a:r>
              <a:rPr lang="en-US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 </a:t>
            </a:r>
            <a:r>
              <a:rPr lang="en-US" sz="700" dirty="0" err="1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реклама</a:t>
            </a:r>
            <a:r>
              <a:rPr lang="en-US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 (</a:t>
            </a:r>
            <a:r>
              <a:rPr lang="en-US" sz="700" dirty="0" err="1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Яндекс.Директ</a:t>
            </a:r>
            <a:r>
              <a:rPr lang="en-US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)</a:t>
            </a:r>
          </a:p>
          <a:p>
            <a:pPr>
              <a:lnSpc>
                <a:spcPts val="797"/>
              </a:lnSpc>
            </a:pPr>
            <a:endParaRPr lang="en-US" sz="700" dirty="0">
              <a:solidFill>
                <a:srgbClr val="CCCCCC"/>
              </a:solidFill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797"/>
              </a:lnSpc>
            </a:pPr>
            <a:endParaRPr lang="en-US" sz="700" dirty="0"/>
          </a:p>
          <a:p>
            <a:pPr>
              <a:lnSpc>
                <a:spcPts val="797"/>
              </a:lnSpc>
            </a:pPr>
            <a:endParaRPr lang="en-US" sz="700" dirty="0">
              <a:solidFill>
                <a:srgbClr val="CCCCCC"/>
              </a:solidFill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797"/>
              </a:lnSpc>
              <a:buNone/>
            </a:pPr>
            <a:endParaRPr lang="en-US" sz="700" dirty="0"/>
          </a:p>
        </p:txBody>
      </p:sp>
      <p:sp>
        <p:nvSpPr>
          <p:cNvPr id="155" name="Text 54"/>
          <p:cNvSpPr/>
          <p:nvPr/>
        </p:nvSpPr>
        <p:spPr>
          <a:xfrm>
            <a:off x="3819004" y="1523070"/>
            <a:ext cx="1505880" cy="102383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Autofit/>
          </a:bodyPr>
          <a:lstStyle/>
          <a:p>
            <a:pPr marL="0" indent="0" algn="l">
              <a:lnSpc>
                <a:spcPts val="797"/>
              </a:lnSpc>
              <a:buNone/>
            </a:pPr>
            <a:endParaRPr lang="en-US" sz="600" dirty="0"/>
          </a:p>
        </p:txBody>
      </p:sp>
      <p:sp>
        <p:nvSpPr>
          <p:cNvPr id="156" name="Text 55"/>
          <p:cNvSpPr/>
          <p:nvPr/>
        </p:nvSpPr>
        <p:spPr>
          <a:xfrm>
            <a:off x="3819004" y="1652885"/>
            <a:ext cx="1505880" cy="129815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/>
          <a:lstStyle/>
          <a:p>
            <a:pPr marL="0" indent="0" algn="l">
              <a:lnSpc>
                <a:spcPts val="797"/>
              </a:lnSpc>
              <a:buNone/>
            </a:pPr>
            <a:endParaRPr lang="en-US" sz="800" dirty="0"/>
          </a:p>
        </p:txBody>
      </p:sp>
      <p:sp>
        <p:nvSpPr>
          <p:cNvPr id="157" name="Text 56"/>
          <p:cNvSpPr/>
          <p:nvPr/>
        </p:nvSpPr>
        <p:spPr>
          <a:xfrm>
            <a:off x="5478475" y="796528"/>
            <a:ext cx="1684474" cy="1162058"/>
          </a:xfrm>
          <a:prstGeom prst="roundRect">
            <a:avLst>
              <a:gd name="adj" fmla="val 7181"/>
            </a:avLst>
          </a:prstGeom>
          <a:solidFill>
            <a:srgbClr val="161616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8" name="Text 57"/>
          <p:cNvSpPr/>
          <p:nvPr/>
        </p:nvSpPr>
        <p:spPr>
          <a:xfrm>
            <a:off x="5567772" y="845614"/>
            <a:ext cx="11485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56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ПЛАН «Б»</a:t>
            </a:r>
            <a:endParaRPr lang="en-US" sz="800" dirty="0"/>
          </a:p>
        </p:txBody>
      </p:sp>
      <p:sp>
        <p:nvSpPr>
          <p:cNvPr id="159" name="Text 58"/>
          <p:cNvSpPr/>
          <p:nvPr/>
        </p:nvSpPr>
        <p:spPr>
          <a:xfrm>
            <a:off x="6716920" y="864037"/>
            <a:ext cx="370453" cy="140018"/>
          </a:xfrm>
          <a:prstGeom prst="roundRect">
            <a:avLst>
              <a:gd name="adj" fmla="val 68027"/>
            </a:avLst>
          </a:prstGeom>
          <a:solidFill>
            <a:srgbClr val="888888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0" name="Text 59"/>
          <p:cNvSpPr/>
          <p:nvPr/>
        </p:nvSpPr>
        <p:spPr>
          <a:xfrm>
            <a:off x="6698540" y="842043"/>
            <a:ext cx="407213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28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READY</a:t>
            </a:r>
            <a:endParaRPr lang="en-US" sz="800" dirty="0"/>
          </a:p>
        </p:txBody>
      </p:sp>
      <p:sp>
        <p:nvSpPr>
          <p:cNvPr id="161" name="Text 60"/>
          <p:cNvSpPr/>
          <p:nvPr/>
        </p:nvSpPr>
        <p:spPr>
          <a:xfrm>
            <a:off x="5567772" y="1025128"/>
            <a:ext cx="1505880" cy="109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42"/>
              </a:lnSpc>
              <a:buNone/>
            </a:pPr>
            <a:r>
              <a:rPr lang="en-US" sz="800" b="1" kern="0" spc="28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УПРАВЛЕНИЕ РИСКАМИ</a:t>
            </a:r>
            <a:endParaRPr lang="en-US" sz="800" dirty="0"/>
          </a:p>
        </p:txBody>
      </p:sp>
      <p:sp>
        <p:nvSpPr>
          <p:cNvPr id="162" name="Text 61"/>
          <p:cNvSpPr/>
          <p:nvPr/>
        </p:nvSpPr>
        <p:spPr>
          <a:xfrm>
            <a:off x="5567772" y="1162199"/>
            <a:ext cx="1596233" cy="304864"/>
          </a:xfrm>
          <a:prstGeom prst="rect">
            <a:avLst/>
          </a:prstGeom>
          <a:noFill/>
          <a:ln/>
        </p:spPr>
        <p:txBody>
          <a:bodyPr wrap="square" lIns="0" tIns="14288" rIns="0" bIns="14288" rtlCol="0" anchor="t">
            <a:noAutofit/>
          </a:bodyPr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5 инструментов: </a:t>
            </a:r>
            <a:endParaRPr lang="ru-RU" sz="700" dirty="0">
              <a:solidFill>
                <a:srgbClr val="CCCCCC"/>
              </a:solidFill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797"/>
              </a:lnSpc>
              <a:buNone/>
            </a:pPr>
            <a:r>
              <a:rPr lang="en-US" sz="700" dirty="0" err="1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доп.обучение</a:t>
            </a:r>
            <a:r>
              <a:rPr lang="en-US" sz="700" dirty="0">
                <a:solidFill>
                  <a:srgbClr val="CCCCCC"/>
                </a:solidFill>
                <a:ea typeface="Carlito" pitchFamily="34" charset="-122"/>
                <a:cs typeface="Carlito" pitchFamily="34" charset="-120"/>
              </a:rPr>
              <a:t>, корректировка ассортимента, трейд-промо, мастер-классы, куратор</a:t>
            </a:r>
          </a:p>
        </p:txBody>
      </p:sp>
      <p:sp>
        <p:nvSpPr>
          <p:cNvPr id="163" name="Text 62"/>
          <p:cNvSpPr/>
          <p:nvPr/>
        </p:nvSpPr>
        <p:spPr>
          <a:xfrm>
            <a:off x="5507706" y="1662156"/>
            <a:ext cx="528300" cy="148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ru-RU" sz="800" dirty="0" smtClean="0">
                <a:solidFill>
                  <a:srgbClr val="2ECC71"/>
                </a:solidFill>
                <a:ea typeface="Liberation Sans Narrow" pitchFamily="34" charset="-122"/>
                <a:cs typeface="Liberation Sans Narrow" pitchFamily="34" charset="-120"/>
              </a:rPr>
              <a:t> </a:t>
            </a:r>
            <a:r>
              <a:rPr lang="en-US" sz="800" dirty="0" smtClean="0">
                <a:solidFill>
                  <a:srgbClr val="2ECC71"/>
                </a:solidFill>
                <a:ea typeface="Liberation Sans Narrow" pitchFamily="34" charset="-122"/>
                <a:cs typeface="Liberation Sans Narrow" pitchFamily="34" charset="-120"/>
              </a:rPr>
              <a:t>🟢70-85</a:t>
            </a:r>
            <a:r>
              <a:rPr lang="en-US" sz="800" dirty="0">
                <a:solidFill>
                  <a:srgbClr val="2ECC71"/>
                </a:solidFill>
                <a:ea typeface="Liberation Sans Narrow" pitchFamily="34" charset="-122"/>
                <a:cs typeface="Liberation Sans Narrow" pitchFamily="34" charset="-120"/>
              </a:rPr>
              <a:t>%</a:t>
            </a:r>
            <a:endParaRPr lang="en-US" sz="800" dirty="0"/>
          </a:p>
        </p:txBody>
      </p:sp>
      <p:sp>
        <p:nvSpPr>
          <p:cNvPr id="164" name="Text 63"/>
          <p:cNvSpPr/>
          <p:nvPr/>
        </p:nvSpPr>
        <p:spPr>
          <a:xfrm>
            <a:off x="6083240" y="1664058"/>
            <a:ext cx="528300" cy="148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800" dirty="0" smtClean="0">
                <a:solidFill>
                  <a:srgbClr val="FFD60A"/>
                </a:solidFill>
                <a:ea typeface="Liberation Sans Narrow" pitchFamily="34" charset="-122"/>
                <a:cs typeface="Liberation Sans Narrow" pitchFamily="34" charset="-120"/>
              </a:rPr>
              <a:t>🟡50-70</a:t>
            </a:r>
            <a:r>
              <a:rPr lang="en-US" sz="800" dirty="0">
                <a:solidFill>
                  <a:srgbClr val="FFD60A"/>
                </a:solidFill>
                <a:ea typeface="Liberation Sans Narrow" pitchFamily="34" charset="-122"/>
                <a:cs typeface="Liberation Sans Narrow" pitchFamily="34" charset="-120"/>
              </a:rPr>
              <a:t>%</a:t>
            </a:r>
            <a:endParaRPr lang="en-US" sz="800" dirty="0"/>
          </a:p>
        </p:txBody>
      </p:sp>
      <p:sp>
        <p:nvSpPr>
          <p:cNvPr id="165" name="Text 64"/>
          <p:cNvSpPr/>
          <p:nvPr/>
        </p:nvSpPr>
        <p:spPr>
          <a:xfrm>
            <a:off x="6697538" y="1665527"/>
            <a:ext cx="597061" cy="148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800" dirty="0">
                <a:solidFill>
                  <a:srgbClr val="E63946"/>
                </a:solidFill>
                <a:ea typeface="Segoe UI Symbol" pitchFamily="34" charset="-122"/>
                <a:cs typeface="Segoe UI Symbol" pitchFamily="34" charset="-120"/>
              </a:rPr>
              <a:t>🔴</a:t>
            </a:r>
            <a:r>
              <a:rPr lang="en-US" sz="800" dirty="0">
                <a:solidFill>
                  <a:srgbClr val="E63946"/>
                </a:solidFill>
                <a:ea typeface="Carlito" pitchFamily="34" charset="-122"/>
                <a:cs typeface="Carlito" pitchFamily="34" charset="-120"/>
              </a:rPr>
              <a:t> &lt;</a:t>
            </a:r>
            <a:r>
              <a:rPr lang="en-US" sz="800" dirty="0">
                <a:solidFill>
                  <a:srgbClr val="E63946"/>
                </a:solidFill>
                <a:ea typeface="Liberation Sans Narrow" pitchFamily="34" charset="-122"/>
                <a:cs typeface="Liberation Sans Narrow" pitchFamily="34" charset="-120"/>
              </a:rPr>
              <a:t>50%</a:t>
            </a:r>
            <a:endParaRPr lang="en-US" sz="800" dirty="0"/>
          </a:p>
        </p:txBody>
      </p:sp>
      <p:sp>
        <p:nvSpPr>
          <p:cNvPr id="166" name="Text 65"/>
          <p:cNvSpPr/>
          <p:nvPr/>
        </p:nvSpPr>
        <p:spPr>
          <a:xfrm>
            <a:off x="7227243" y="796528"/>
            <a:ext cx="1684586" cy="1162058"/>
          </a:xfrm>
          <a:prstGeom prst="roundRect">
            <a:avLst>
              <a:gd name="adj" fmla="val 7181"/>
            </a:avLst>
          </a:prstGeom>
          <a:solidFill>
            <a:srgbClr val="161616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7" name="Text 66"/>
          <p:cNvSpPr/>
          <p:nvPr/>
        </p:nvSpPr>
        <p:spPr>
          <a:xfrm>
            <a:off x="7316539" y="845614"/>
            <a:ext cx="120238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56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ЭТАП 3</a:t>
            </a:r>
            <a:endParaRPr lang="en-US" sz="800" dirty="0"/>
          </a:p>
        </p:txBody>
      </p:sp>
      <p:sp>
        <p:nvSpPr>
          <p:cNvPr id="168" name="Text 67"/>
          <p:cNvSpPr/>
          <p:nvPr/>
        </p:nvSpPr>
        <p:spPr>
          <a:xfrm>
            <a:off x="8521637" y="864037"/>
            <a:ext cx="312468" cy="140018"/>
          </a:xfrm>
          <a:prstGeom prst="roundRect">
            <a:avLst>
              <a:gd name="adj" fmla="val 68027"/>
            </a:avLst>
          </a:prstGeom>
          <a:solidFill>
            <a:srgbClr val="888888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9" name="Text 68"/>
          <p:cNvSpPr/>
          <p:nvPr/>
        </p:nvSpPr>
        <p:spPr>
          <a:xfrm>
            <a:off x="8511429" y="842043"/>
            <a:ext cx="332882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28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</a:t>
            </a:r>
            <a:endParaRPr lang="en-US" sz="800" dirty="0"/>
          </a:p>
        </p:txBody>
      </p:sp>
      <p:sp>
        <p:nvSpPr>
          <p:cNvPr id="170" name="Text 69"/>
          <p:cNvSpPr/>
          <p:nvPr/>
        </p:nvSpPr>
        <p:spPr>
          <a:xfrm>
            <a:off x="7316539" y="1025128"/>
            <a:ext cx="1505992" cy="109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42"/>
              </a:lnSpc>
              <a:buNone/>
            </a:pPr>
            <a:r>
              <a:rPr lang="en-US" sz="800" b="1" kern="0" spc="28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МАСШТАБИРОВАНИЕ</a:t>
            </a:r>
            <a:endParaRPr lang="en-US" sz="800" dirty="0"/>
          </a:p>
        </p:txBody>
      </p:sp>
      <p:sp>
        <p:nvSpPr>
          <p:cNvPr id="173" name="Text 72"/>
          <p:cNvSpPr/>
          <p:nvPr/>
        </p:nvSpPr>
        <p:spPr>
          <a:xfrm>
            <a:off x="7274792" y="1182820"/>
            <a:ext cx="1285875" cy="273504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Цель: (DIY 650, СК 250, B2B 100)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70000"/>
            <a:ext cx="12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spc="200">
                <a:solidFill>
                  <a:srgbClr val="E63946"/>
                </a:solidFill>
                <a:latin typeface="Inter"/>
              </a:rPr>
              <a:t>TITAN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190000"/>
            <a:ext cx="28000" cy="250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0000" y="245361"/>
            <a:ext cx="3698766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spc="250" dirty="0" smtClean="0">
                <a:solidFill>
                  <a:srgbClr val="CCCCCC"/>
                </a:solidFill>
                <a:latin typeface="Inter"/>
              </a:rPr>
              <a:t>ПРОЕКТ</a:t>
            </a:r>
            <a:r>
              <a:rPr lang="ru-RU" sz="1100" b="1" spc="250" dirty="0">
                <a:solidFill>
                  <a:srgbClr val="CCCCCC"/>
                </a:solidFill>
                <a:latin typeface="Inter"/>
              </a:rPr>
              <a:t> БЕЛЫЕ ПЯТНА </a:t>
            </a:r>
            <a:endParaRPr sz="1100" b="1" spc="250" dirty="0">
              <a:solidFill>
                <a:srgbClr val="CCCCCC"/>
              </a:solidFill>
              <a:latin typeface="Inter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99151" y="172303"/>
            <a:ext cx="1605960" cy="280000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6350">
            <a:solidFill>
              <a:srgbClr val="FFD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54040" y="230000"/>
            <a:ext cx="15459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spc="150" dirty="0">
                <a:solidFill>
                  <a:srgbClr val="FFD60A"/>
                </a:solidFill>
              </a:rPr>
              <a:t>Q4 2026 · В РАБОТЕ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014" y="601959"/>
            <a:ext cx="8686800" cy="2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115" y="831232"/>
            <a:ext cx="5960000" cy="356000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white_spots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15" y="911232"/>
            <a:ext cx="5800000" cy="34000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31515" y="831232"/>
            <a:ext cx="2860000" cy="356000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1515" y="991232"/>
            <a:ext cx="27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>
                <a:solidFill>
                  <a:srgbClr val="FFD60A"/>
                </a:solidFill>
                <a:latin typeface="Inter"/>
              </a:rPr>
              <a:t>ГРАФИК ВСТРЕЧ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1515" y="1201232"/>
            <a:ext cx="27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Inter"/>
              </a:rPr>
              <a:t>5 регионов · 5+ дистрибьюторов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1515" y="1401232"/>
            <a:ext cx="2700000" cy="20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82020" y="1491232"/>
            <a:ext cx="320000" cy="320000"/>
          </a:xfrm>
          <a:prstGeom prst="roundRect">
            <a:avLst>
              <a:gd name="adj" fmla="val 18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82020" y="1541232"/>
            <a:ext cx="32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E63946"/>
                </a:solidFill>
                <a:latin typeface="Inter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1515" y="1491232"/>
            <a:ext cx="16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Барнаул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1515" y="1691232"/>
            <a:ext cx="1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Inter"/>
              </a:rPr>
              <a:t>Алтайский край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1515" y="1851232"/>
            <a:ext cx="17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20">
                <a:solidFill>
                  <a:srgbClr val="E63946"/>
                </a:solidFill>
                <a:latin typeface="Inter"/>
              </a:rPr>
              <a:t>Олимп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1516" y="1491232"/>
            <a:ext cx="150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dirty="0" smtClean="0">
                <a:solidFill>
                  <a:srgbClr val="FFFFFF"/>
                </a:solidFill>
                <a:latin typeface="Roboto Mono"/>
              </a:rPr>
              <a:t>13</a:t>
            </a:r>
            <a:r>
              <a:rPr lang="en-US" sz="900" b="1" dirty="0" smtClean="0">
                <a:solidFill>
                  <a:srgbClr val="FFFFFF"/>
                </a:solidFill>
                <a:latin typeface="Roboto Mono"/>
              </a:rPr>
              <a:t>-</a:t>
            </a:r>
            <a:r>
              <a:rPr lang="en-US" sz="900" b="1" dirty="0" smtClean="0">
                <a:solidFill>
                  <a:srgbClr val="FFFFFF"/>
                </a:solidFill>
                <a:latin typeface="Roboto Mono"/>
              </a:rPr>
              <a:t>16.10.2026</a:t>
            </a:r>
            <a:endParaRPr sz="900" b="1" dirty="0">
              <a:solidFill>
                <a:srgbClr val="FFFFFF"/>
              </a:solidFill>
              <a:latin typeface="Roboto Mono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211515" y="2021232"/>
            <a:ext cx="2700000" cy="12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182020" y="2051232"/>
            <a:ext cx="320000" cy="320000"/>
          </a:xfrm>
          <a:prstGeom prst="roundRect">
            <a:avLst>
              <a:gd name="adj" fmla="val 18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82020" y="2101232"/>
            <a:ext cx="32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D60A"/>
                </a:solidFill>
                <a:latin typeface="Inter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1515" y="2051232"/>
            <a:ext cx="16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Красноярск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1515" y="2251232"/>
            <a:ext cx="1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Inter"/>
              </a:rPr>
              <a:t>Красноярский край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1515" y="2411232"/>
            <a:ext cx="17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20">
                <a:solidFill>
                  <a:srgbClr val="FFD60A"/>
                </a:solidFill>
                <a:latin typeface="Inter"/>
              </a:rPr>
              <a:t>ООО «ОЧАГ»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2834" y="2051232"/>
            <a:ext cx="95868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dirty="0" smtClean="0">
                <a:solidFill>
                  <a:srgbClr val="FFFFFF"/>
                </a:solidFill>
                <a:latin typeface="Roboto Mono"/>
              </a:rPr>
              <a:t>05</a:t>
            </a:r>
            <a:r>
              <a:rPr lang="en-US" sz="900" b="1" dirty="0" smtClean="0">
                <a:solidFill>
                  <a:srgbClr val="FFFFFF"/>
                </a:solidFill>
                <a:latin typeface="Roboto Mono"/>
              </a:rPr>
              <a:t>-</a:t>
            </a:r>
            <a:r>
              <a:rPr sz="900" b="1" dirty="0" smtClean="0">
                <a:solidFill>
                  <a:srgbClr val="FFFFFF"/>
                </a:solidFill>
                <a:latin typeface="Roboto Mono"/>
              </a:rPr>
              <a:t>11.11</a:t>
            </a:r>
            <a:r>
              <a:rPr lang="en-US" sz="900" b="1" dirty="0" smtClean="0">
                <a:solidFill>
                  <a:srgbClr val="FFFFFF"/>
                </a:solidFill>
                <a:latin typeface="Roboto Mono"/>
              </a:rPr>
              <a:t>.2026</a:t>
            </a:r>
            <a:endParaRPr sz="900" b="1" dirty="0">
              <a:solidFill>
                <a:srgbClr val="FFFFFF"/>
              </a:solidFill>
              <a:latin typeface="Roboto Mono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211515" y="2581232"/>
            <a:ext cx="2700000" cy="12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182020" y="2611232"/>
            <a:ext cx="320000" cy="320000"/>
          </a:xfrm>
          <a:prstGeom prst="roundRect">
            <a:avLst>
              <a:gd name="adj" fmla="val 18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82020" y="2661232"/>
            <a:ext cx="32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8C00"/>
                </a:solidFill>
                <a:latin typeface="Inter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1515" y="2611232"/>
            <a:ext cx="16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Улан-Удэ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1515" y="2811232"/>
            <a:ext cx="1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Inter"/>
              </a:rPr>
              <a:t>Республика Бурятия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1515" y="2971232"/>
            <a:ext cx="17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20">
                <a:solidFill>
                  <a:srgbClr val="FF8C00"/>
                </a:solidFill>
                <a:latin typeface="Inter"/>
              </a:rPr>
              <a:t>Вегос-М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04557" y="2611232"/>
            <a:ext cx="1176958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dirty="0" smtClean="0">
                <a:solidFill>
                  <a:srgbClr val="FFFFFF"/>
                </a:solidFill>
                <a:latin typeface="Roboto Mono"/>
              </a:rPr>
              <a:t>19</a:t>
            </a:r>
            <a:r>
              <a:rPr lang="en-US" sz="900" b="1" dirty="0" smtClean="0">
                <a:solidFill>
                  <a:srgbClr val="FFFFFF"/>
                </a:solidFill>
                <a:latin typeface="Roboto Mono"/>
              </a:rPr>
              <a:t>-</a:t>
            </a:r>
            <a:r>
              <a:rPr sz="900" b="1" dirty="0" smtClean="0">
                <a:solidFill>
                  <a:srgbClr val="FFFFFF"/>
                </a:solidFill>
                <a:latin typeface="Roboto Mono"/>
              </a:rPr>
              <a:t>25.11</a:t>
            </a:r>
            <a:r>
              <a:rPr lang="en-US" sz="900" b="1" dirty="0" smtClean="0">
                <a:solidFill>
                  <a:srgbClr val="FFFFFF"/>
                </a:solidFill>
                <a:latin typeface="Roboto Mono"/>
              </a:rPr>
              <a:t>.2026</a:t>
            </a:r>
            <a:endParaRPr sz="900" b="1" dirty="0">
              <a:solidFill>
                <a:srgbClr val="FFFFFF"/>
              </a:solidFill>
              <a:latin typeface="Roboto Mono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211515" y="3141232"/>
            <a:ext cx="2700000" cy="12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182020" y="3171232"/>
            <a:ext cx="320000" cy="320000"/>
          </a:xfrm>
          <a:prstGeom prst="roundRect">
            <a:avLst>
              <a:gd name="adj" fmla="val 18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82020" y="3221232"/>
            <a:ext cx="32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8C00"/>
                </a:solidFill>
                <a:latin typeface="Inter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1515" y="3171232"/>
            <a:ext cx="16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Омск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1515" y="3371232"/>
            <a:ext cx="1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Inter"/>
              </a:rPr>
              <a:t>Омская область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1515" y="3531232"/>
            <a:ext cx="17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20">
                <a:solidFill>
                  <a:srgbClr val="FF8C00"/>
                </a:solidFill>
                <a:latin typeface="Inter"/>
              </a:rPr>
              <a:t>ИП Шишков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61515" y="3171232"/>
            <a:ext cx="72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ru-RU" sz="900" b="1" dirty="0" smtClean="0">
                <a:solidFill>
                  <a:srgbClr val="FFFFFF"/>
                </a:solidFill>
                <a:latin typeface="Roboto Mono"/>
              </a:rPr>
              <a:t>уточняется</a:t>
            </a:r>
            <a:endParaRPr sz="900" b="1" dirty="0">
              <a:solidFill>
                <a:srgbClr val="FFFFFF"/>
              </a:solidFill>
              <a:latin typeface="Roboto Mono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211515" y="3701232"/>
            <a:ext cx="2700000" cy="12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182020" y="3731232"/>
            <a:ext cx="320000" cy="320000"/>
          </a:xfrm>
          <a:prstGeom prst="roundRect">
            <a:avLst>
              <a:gd name="adj" fmla="val 18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182020" y="3781232"/>
            <a:ext cx="32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D60A"/>
                </a:solidFill>
                <a:latin typeface="Inter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1515" y="3731232"/>
            <a:ext cx="16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Казань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1515" y="3931232"/>
            <a:ext cx="1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Inter"/>
              </a:rPr>
              <a:t>Республика Татарстан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1515" y="4091232"/>
            <a:ext cx="17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20">
                <a:solidFill>
                  <a:srgbClr val="FFD60A"/>
                </a:solidFill>
                <a:latin typeface="Inter"/>
              </a:rPr>
              <a:t>ТС Агава, Карат, Колорит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1515" y="3731232"/>
            <a:ext cx="72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ru-RU" sz="900" b="1" dirty="0">
                <a:solidFill>
                  <a:srgbClr val="FFFFFF"/>
                </a:solidFill>
                <a:latin typeface="Roboto Mono"/>
              </a:rPr>
              <a:t>уточняется</a:t>
            </a:r>
            <a:endParaRPr lang="ru-RU" sz="900" b="1" dirty="0">
              <a:solidFill>
                <a:srgbClr val="FFFFFF"/>
              </a:solidFill>
              <a:latin typeface="Roboto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351</Words>
  <Application>Microsoft Office PowerPoint</Application>
  <PresentationFormat>Экран (16:9)</PresentationFormat>
  <Paragraphs>110</Paragraphs>
  <Slides>2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3" baseType="lpstr">
      <vt:lpstr>Office Theme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Заколодний Роман Александрович</cp:lastModifiedBy>
  <cp:revision>19</cp:revision>
  <dcterms:created xsi:type="dcterms:W3CDTF">2026-10-01T12:44:52Z</dcterms:created>
  <dcterms:modified xsi:type="dcterms:W3CDTF">2026-10-02T04:50:36Z</dcterms:modified>
</cp:coreProperties>
</file>