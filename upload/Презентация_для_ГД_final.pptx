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2"/>
  </p:notesMasterIdLst>
  <p:sldIdLst>
    <p:sldId id="267" r:id="rId2"/>
    <p:sldId id="256" r:id="rId3"/>
    <p:sldId id="261" r:id="rId4"/>
    <p:sldId id="259" r:id="rId5"/>
    <p:sldId id="269" r:id="rId6"/>
    <p:sldId id="257" r:id="rId7"/>
    <p:sldId id="264" r:id="rId8"/>
    <p:sldId id="268" r:id="rId9"/>
    <p:sldId id="258" r:id="rId10"/>
    <p:sldId id="260" r:id="rId11"/>
  </p:sldIdLst>
  <p:sldSz cx="9144000" cy="5143500" type="screen16x9"/>
  <p:notesSz cx="6797675" cy="9926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6897" autoAdjust="0"/>
    <p:restoredTop sz="84439" autoAdjust="0"/>
  </p:normalViewPr>
  <p:slideViewPr>
    <p:cSldViewPr snapToGrid="0" snapToObjects="1">
      <p:cViewPr varScale="1">
        <p:scale>
          <a:sx n="126" d="100"/>
          <a:sy n="126" d="100"/>
        </p:scale>
        <p:origin x="-1110" y="-9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107031" tIns="53515" rIns="107031" bIns="53515" rtlCol="0"/>
          <a:lstStyle>
            <a:lvl1pPr algn="l">
              <a:defRPr sz="14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49919" y="0"/>
            <a:ext cx="2945659" cy="496332"/>
          </a:xfrm>
          <a:prstGeom prst="rect">
            <a:avLst/>
          </a:prstGeom>
        </p:spPr>
        <p:txBody>
          <a:bodyPr vert="horz" lIns="107031" tIns="53515" rIns="107031" bIns="53515" rtlCol="0"/>
          <a:lstStyle>
            <a:lvl1pPr algn="r">
              <a:defRPr sz="1400"/>
            </a:lvl1pPr>
          </a:lstStyle>
          <a:p>
            <a:fld id="{D5FBEEA3-D4FA-4FB4-A72C-31DD37E08AF9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07031" tIns="53515" rIns="107031" bIns="53515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107031" tIns="53515" rIns="107031" bIns="53515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107031" tIns="53515" rIns="107031" bIns="53515" rtlCol="0" anchor="b"/>
          <a:lstStyle>
            <a:lvl1pPr algn="l">
              <a:defRPr sz="14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49919" y="9428583"/>
            <a:ext cx="2945659" cy="496332"/>
          </a:xfrm>
          <a:prstGeom prst="rect">
            <a:avLst/>
          </a:prstGeom>
        </p:spPr>
        <p:txBody>
          <a:bodyPr vert="horz" lIns="107031" tIns="53515" rIns="107031" bIns="53515" rtlCol="0" anchor="b"/>
          <a:lstStyle>
            <a:lvl1pPr algn="r">
              <a:defRPr sz="1400"/>
            </a:lvl1pPr>
          </a:lstStyle>
          <a:p>
            <a:fld id="{6DD9E918-18D3-4753-90A0-47B16382A5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1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400" b="1" dirty="0">
                <a:solidFill>
                  <a:srgbClr val="6B7280"/>
                </a:solidFill>
                <a:latin typeface="Arial"/>
              </a:rPr>
              <a:t>Рейтинг по бренду компании: </a:t>
            </a:r>
            <a:r>
              <a:rPr lang="ru-RU" sz="1400" i="1" dirty="0" err="1">
                <a:solidFill>
                  <a:srgbClr val="6B7280"/>
                </a:solidFill>
                <a:latin typeface="Arial"/>
              </a:rPr>
              <a:t>Yandex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 </a:t>
            </a:r>
            <a:r>
              <a:rPr lang="ru-RU" sz="1400" i="1" dirty="0" err="1">
                <a:solidFill>
                  <a:srgbClr val="6B7280"/>
                </a:solidFill>
                <a:latin typeface="Arial"/>
              </a:rPr>
              <a:t>Wordstat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 API, сентябрь 2026. Метод: брендовые запросы по компаниям (название + «краска» / «компания» / «производитель»). Для каждой компании взят максимальный показатель. </a:t>
            </a:r>
            <a:r>
              <a:rPr lang="ru-RU" sz="1400" i="1" dirty="0" err="1">
                <a:solidFill>
                  <a:srgbClr val="6B7280"/>
                </a:solidFill>
                <a:latin typeface="Arial"/>
              </a:rPr>
              <a:t>Эмпилс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 = 2 966 запросов/мес.</a:t>
            </a:r>
          </a:p>
          <a:p>
            <a:pPr defTabSz="1070305">
              <a:defRPr/>
            </a:pPr>
            <a:r>
              <a:rPr lang="ru-RU" sz="1400" b="1" dirty="0">
                <a:solidFill>
                  <a:srgbClr val="6B7280"/>
                </a:solidFill>
                <a:latin typeface="Arial"/>
              </a:rPr>
              <a:t>Рейтинг по бренду </a:t>
            </a:r>
            <a:r>
              <a:rPr lang="en-US" sz="1400" b="1" dirty="0">
                <a:solidFill>
                  <a:srgbClr val="6B7280"/>
                </a:solidFill>
                <a:latin typeface="Arial"/>
              </a:rPr>
              <a:t>TITAN</a:t>
            </a:r>
            <a:r>
              <a:rPr lang="ru-RU" sz="1400" b="1" dirty="0">
                <a:solidFill>
                  <a:srgbClr val="6B7280"/>
                </a:solidFill>
                <a:latin typeface="Arial"/>
              </a:rPr>
              <a:t>: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Сумма 7 одинаковых запросов | </a:t>
            </a:r>
            <a:r>
              <a:rPr lang="ru-RU" sz="1400" i="1" dirty="0" err="1">
                <a:solidFill>
                  <a:srgbClr val="6B7280"/>
                </a:solidFill>
                <a:latin typeface="Arial"/>
              </a:rPr>
              <a:t>Yandex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 </a:t>
            </a:r>
            <a:r>
              <a:rPr lang="ru-RU" sz="1400" i="1" dirty="0" err="1">
                <a:solidFill>
                  <a:srgbClr val="6B7280"/>
                </a:solidFill>
                <a:latin typeface="Arial"/>
              </a:rPr>
              <a:t>Wordstat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 API, сентябрь 2026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12775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98442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919695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1134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53261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4005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77156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0115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72928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15396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69769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1300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5"/>
          <p:cNvSpPr/>
          <p:nvPr/>
        </p:nvSpPr>
        <p:spPr>
          <a:xfrm>
            <a:off x="280800" y="1219328"/>
            <a:ext cx="79200" cy="23004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561600" y="1391966"/>
            <a:ext cx="7498799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dirty="0" err="1">
                <a:latin typeface="Inter"/>
              </a:rPr>
              <a:t>Дорога</a:t>
            </a:r>
            <a:r>
              <a:rPr sz="4400" b="1" dirty="0">
                <a:latin typeface="Inter"/>
              </a:rPr>
              <a:t> к </a:t>
            </a:r>
            <a:r>
              <a:rPr sz="4400" b="1" dirty="0" err="1">
                <a:latin typeface="Inter"/>
              </a:rPr>
              <a:t>лидерству</a:t>
            </a:r>
            <a:endParaRPr sz="4400" b="1" dirty="0">
              <a:latin typeface="Inter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61600" y="2309966"/>
            <a:ext cx="7498799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0" dirty="0" smtClean="0">
                <a:latin typeface="Inter"/>
              </a:rPr>
              <a:t>Q3-Q4</a:t>
            </a:r>
          </a:p>
          <a:p>
            <a:pPr algn="l"/>
            <a:r>
              <a:rPr sz="1800" b="0" dirty="0" err="1" smtClean="0">
                <a:latin typeface="Inter"/>
              </a:rPr>
              <a:t>Про</a:t>
            </a:r>
            <a:r>
              <a:rPr lang="ru-RU" sz="1800" b="0" dirty="0" err="1" smtClean="0">
                <a:latin typeface="Inter"/>
              </a:rPr>
              <a:t>екты</a:t>
            </a:r>
            <a:r>
              <a:rPr lang="ru-RU" sz="1800" b="0" dirty="0" smtClean="0">
                <a:latin typeface="Inter"/>
              </a:rPr>
              <a:t> развития</a:t>
            </a:r>
            <a:endParaRPr sz="1800" b="0" dirty="0">
              <a:latin typeface="Inter"/>
            </a:endParaRPr>
          </a:p>
        </p:txBody>
      </p:sp>
      <p:sp>
        <p:nvSpPr>
          <p:cNvPr id="88" name="Rectangle 9"/>
          <p:cNvSpPr/>
          <p:nvPr/>
        </p:nvSpPr>
        <p:spPr>
          <a:xfrm>
            <a:off x="0" y="4500000"/>
            <a:ext cx="9144000" cy="14400"/>
          </a:xfrm>
          <a:prstGeom prst="rect">
            <a:avLst/>
          </a:prstGeom>
          <a:solidFill>
            <a:srgbClr val="44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01600" y="4615362"/>
            <a:ext cx="4500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solidFill>
                  <a:srgbClr val="8A95A3"/>
                </a:solidFill>
                <a:latin typeface="Inter"/>
              </a:rPr>
              <a:t>ЗАО «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Эмпилс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» </a:t>
            </a:r>
            <a:endParaRPr lang="en-US" sz="900" b="0" dirty="0" smtClean="0">
              <a:solidFill>
                <a:srgbClr val="8A95A3"/>
              </a:solidFill>
              <a:latin typeface="Inter"/>
            </a:endParaRPr>
          </a:p>
          <a:p>
            <a:pPr algn="l"/>
            <a:r>
              <a:rPr sz="900" b="0" dirty="0" err="1" smtClean="0">
                <a:solidFill>
                  <a:srgbClr val="8A95A3"/>
                </a:solidFill>
                <a:latin typeface="Inter"/>
              </a:rPr>
              <a:t>Ростов-на-Дону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22557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868831"/>
            <a:ext cx="868680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2" y="2071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4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33311" y="1697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51542" y="2380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129" name="Text 28"/>
          <p:cNvSpPr/>
          <p:nvPr/>
        </p:nvSpPr>
        <p:spPr>
          <a:xfrm>
            <a:off x="232172" y="13350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0" name="Text 29"/>
          <p:cNvSpPr/>
          <p:nvPr/>
        </p:nvSpPr>
        <p:spPr>
          <a:xfrm>
            <a:off x="321469" y="1384100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33" name="Text 32"/>
          <p:cNvSpPr/>
          <p:nvPr/>
        </p:nvSpPr>
        <p:spPr>
          <a:xfrm>
            <a:off x="321469" y="16080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POS-МАТЕРИАЛЫ</a:t>
            </a:r>
            <a:endParaRPr lang="en-US" sz="800" dirty="0"/>
          </a:p>
        </p:txBody>
      </p:sp>
      <p:sp>
        <p:nvSpPr>
          <p:cNvPr id="134" name="Text 33"/>
          <p:cNvSpPr/>
          <p:nvPr/>
        </p:nvSpPr>
        <p:spPr>
          <a:xfrm>
            <a:off x="321471" y="1851318"/>
            <a:ext cx="1596233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35" name="Text 34"/>
          <p:cNvSpPr/>
          <p:nvPr/>
        </p:nvSpPr>
        <p:spPr>
          <a:xfrm>
            <a:off x="302185" y="1736147"/>
            <a:ext cx="1536773" cy="535087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>
              <a:lnSpc>
                <a:spcPts val="900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Руководство по продажам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воблеры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ценники</a:t>
            </a:r>
            <a:endParaRPr lang="en-US" sz="700" dirty="0"/>
          </a:p>
          <a:p>
            <a:pPr marL="0" indent="0" algn="l">
              <a:lnSpc>
                <a:spcPts val="900"/>
              </a:lnSpc>
              <a:buNone/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Листовк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а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ланограмма</a:t>
            </a:r>
            <a:endParaRPr lang="en-US" sz="700" dirty="0"/>
          </a:p>
        </p:txBody>
      </p:sp>
      <p:sp>
        <p:nvSpPr>
          <p:cNvPr id="136" name="Shape 35"/>
          <p:cNvSpPr/>
          <p:nvPr/>
        </p:nvSpPr>
        <p:spPr>
          <a:xfrm>
            <a:off x="321469" y="2236558"/>
            <a:ext cx="150588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</p:sp>
      <p:sp>
        <p:nvSpPr>
          <p:cNvPr id="139" name="Text 38"/>
          <p:cNvSpPr/>
          <p:nvPr/>
        </p:nvSpPr>
        <p:spPr>
          <a:xfrm>
            <a:off x="1980940" y="13350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0" name="Text 39"/>
          <p:cNvSpPr/>
          <p:nvPr/>
        </p:nvSpPr>
        <p:spPr>
          <a:xfrm>
            <a:off x="2070236" y="1384100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43" name="Text 42"/>
          <p:cNvSpPr/>
          <p:nvPr/>
        </p:nvSpPr>
        <p:spPr>
          <a:xfrm>
            <a:off x="2070236" y="16080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 И ОБУЧЕНИЕ</a:t>
            </a:r>
            <a:endParaRPr lang="en-US" sz="800" dirty="0"/>
          </a:p>
        </p:txBody>
      </p:sp>
      <p:sp>
        <p:nvSpPr>
          <p:cNvPr id="144" name="Text 43"/>
          <p:cNvSpPr/>
          <p:nvPr/>
        </p:nvSpPr>
        <p:spPr>
          <a:xfrm>
            <a:off x="2023480" y="1745135"/>
            <a:ext cx="1642990" cy="590079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Видеоролики</a:t>
            </a:r>
            <a:r>
              <a:rPr lang="ru-RU" sz="700" dirty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: 5 штук</a:t>
            </a: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2. О</a:t>
            </a:r>
            <a:r>
              <a:rPr lang="en-US" sz="700" dirty="0" err="1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блако</a:t>
            </a:r>
            <a:r>
              <a:rPr lang="en-US" sz="700" dirty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 с </a:t>
            </a:r>
            <a:r>
              <a:rPr lang="en-US" sz="700" dirty="0" err="1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материалами</a:t>
            </a:r>
            <a:endParaRPr lang="ru-RU" sz="700" dirty="0" smtClean="0">
              <a:solidFill>
                <a:srgbClr val="5A6776"/>
              </a:solidFill>
              <a:latin typeface="+mj-lt"/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Обучение</a:t>
            </a:r>
            <a:r>
              <a:rPr lang="en-US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 106</a:t>
            </a:r>
            <a:r>
              <a:rPr lang="en-US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ТП ОП</a:t>
            </a:r>
            <a:r>
              <a:rPr lang="en-US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, </a:t>
            </a:r>
            <a:endParaRPr lang="ru-RU" sz="700" dirty="0" smtClean="0">
              <a:solidFill>
                <a:srgbClr val="5A6776"/>
              </a:solidFill>
              <a:latin typeface="+mj-lt"/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4. Запуск второго углубленного модуля 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обучения</a:t>
            </a:r>
          </a:p>
          <a:p>
            <a:pPr>
              <a:lnSpc>
                <a:spcPts val="900"/>
              </a:lnSpc>
            </a:pPr>
            <a:endParaRPr lang="en-US" sz="700" dirty="0">
              <a:solidFill>
                <a:srgbClr val="5A6776"/>
              </a:solidFill>
              <a:latin typeface="+mj-lt"/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5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146" name="Text 45"/>
          <p:cNvSpPr/>
          <p:nvPr/>
        </p:nvSpPr>
        <p:spPr>
          <a:xfrm>
            <a:off x="2070236" y="2127437"/>
            <a:ext cx="521106" cy="12540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47" name="Text 46"/>
          <p:cNvSpPr/>
          <p:nvPr/>
        </p:nvSpPr>
        <p:spPr>
          <a:xfrm>
            <a:off x="2569390" y="2138578"/>
            <a:ext cx="1049127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48" name="Text 47"/>
          <p:cNvSpPr/>
          <p:nvPr/>
        </p:nvSpPr>
        <p:spPr>
          <a:xfrm>
            <a:off x="3716894" y="1944865"/>
            <a:ext cx="1684474" cy="1388735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9" name="Text 48"/>
          <p:cNvSpPr/>
          <p:nvPr/>
        </p:nvSpPr>
        <p:spPr>
          <a:xfrm>
            <a:off x="3806191" y="1993951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52" name="Text 51"/>
          <p:cNvSpPr/>
          <p:nvPr/>
        </p:nvSpPr>
        <p:spPr>
          <a:xfrm>
            <a:off x="3806191" y="2205216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742"/>
              </a:lnSpc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ШК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53" name="Text 52"/>
          <p:cNvSpPr/>
          <p:nvPr/>
        </p:nvSpPr>
        <p:spPr>
          <a:xfrm>
            <a:off x="3761334" y="2332758"/>
            <a:ext cx="1626351" cy="957642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Доработка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сайта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Empils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посадочной страницы</a:t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Запуск видеоканала (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VK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идео) </a:t>
            </a:r>
            <a:endParaRPr lang="en-US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Видеореклама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пре-роллы 15-30 сек</a:t>
            </a:r>
          </a:p>
          <a:p>
            <a:pPr>
              <a:lnSpc>
                <a:spcPts val="797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(VK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Блогер-инфлюенсер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6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Контекстная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и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таргетированная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Яндекс.Директ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55" name="Text 54"/>
          <p:cNvSpPr/>
          <p:nvPr/>
        </p:nvSpPr>
        <p:spPr>
          <a:xfrm>
            <a:off x="3806191" y="2744658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56" name="Text 55"/>
          <p:cNvSpPr/>
          <p:nvPr/>
        </p:nvSpPr>
        <p:spPr>
          <a:xfrm>
            <a:off x="3806191" y="2874473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57" name="Text 56"/>
          <p:cNvSpPr/>
          <p:nvPr/>
        </p:nvSpPr>
        <p:spPr>
          <a:xfrm>
            <a:off x="5478475" y="13477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8" name="Text 57"/>
          <p:cNvSpPr/>
          <p:nvPr/>
        </p:nvSpPr>
        <p:spPr>
          <a:xfrm>
            <a:off x="5567774" y="1396800"/>
            <a:ext cx="11485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ПЛАН «Б»</a:t>
            </a:r>
            <a:endParaRPr lang="en-US" sz="800" dirty="0"/>
          </a:p>
        </p:txBody>
      </p:sp>
      <p:sp>
        <p:nvSpPr>
          <p:cNvPr id="161" name="Text 60"/>
          <p:cNvSpPr/>
          <p:nvPr/>
        </p:nvSpPr>
        <p:spPr>
          <a:xfrm>
            <a:off x="5567772" y="16207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УПРАВЛЕНИЕ РИСКАМИ</a:t>
            </a:r>
            <a:endParaRPr lang="en-US" sz="800" dirty="0"/>
          </a:p>
        </p:txBody>
      </p:sp>
      <p:sp>
        <p:nvSpPr>
          <p:cNvPr id="162" name="Text 61"/>
          <p:cNvSpPr/>
          <p:nvPr/>
        </p:nvSpPr>
        <p:spPr>
          <a:xfrm>
            <a:off x="5567774" y="1757836"/>
            <a:ext cx="1596233" cy="304864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 инструментов: 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доп.обучение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корректировка ассортимента, трейд-промо, мастер-классы, куратор</a:t>
            </a:r>
          </a:p>
        </p:txBody>
      </p:sp>
      <p:sp>
        <p:nvSpPr>
          <p:cNvPr id="163" name="Text 62"/>
          <p:cNvSpPr/>
          <p:nvPr/>
        </p:nvSpPr>
        <p:spPr>
          <a:xfrm>
            <a:off x="5507706" y="2257793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ru-RU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 </a:t>
            </a:r>
            <a:r>
              <a:rPr lang="en-US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🟢70-85</a:t>
            </a:r>
            <a:r>
              <a:rPr lang="en-US" sz="800" dirty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4" name="Text 63"/>
          <p:cNvSpPr/>
          <p:nvPr/>
        </p:nvSpPr>
        <p:spPr>
          <a:xfrm>
            <a:off x="6083240" y="2259695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 smtClean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🟡50-70</a:t>
            </a:r>
            <a:r>
              <a:rPr lang="en-US" sz="800" dirty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5" name="Text 64"/>
          <p:cNvSpPr/>
          <p:nvPr/>
        </p:nvSpPr>
        <p:spPr>
          <a:xfrm>
            <a:off x="6697540" y="2261164"/>
            <a:ext cx="597061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B5614A"/>
                </a:solidFill>
                <a:ea typeface="Segoe UI Symbol" pitchFamily="34" charset="-122"/>
                <a:cs typeface="Segoe UI Symbol" pitchFamily="34" charset="-120"/>
              </a:rPr>
              <a:t>🔴</a:t>
            </a:r>
            <a:r>
              <a:rPr lang="en-US" sz="800" dirty="0">
                <a:solidFill>
                  <a:srgbClr val="B5614A"/>
                </a:solidFill>
                <a:ea typeface="Carlito" pitchFamily="34" charset="-122"/>
                <a:cs typeface="Carlito" pitchFamily="34" charset="-120"/>
              </a:rPr>
              <a:t> &lt;</a:t>
            </a:r>
            <a:r>
              <a:rPr lang="en-US" sz="800" dirty="0">
                <a:solidFill>
                  <a:srgbClr val="B5614A"/>
                </a:solidFill>
                <a:ea typeface="Liberation Sans Narrow" pitchFamily="34" charset="-122"/>
                <a:cs typeface="Liberation Sans Narrow" pitchFamily="34" charset="-120"/>
              </a:rPr>
              <a:t>50%</a:t>
            </a:r>
            <a:endParaRPr lang="en-US" sz="800" dirty="0"/>
          </a:p>
        </p:txBody>
      </p:sp>
      <p:sp>
        <p:nvSpPr>
          <p:cNvPr id="166" name="Text 65"/>
          <p:cNvSpPr/>
          <p:nvPr/>
        </p:nvSpPr>
        <p:spPr>
          <a:xfrm>
            <a:off x="7227243" y="1347714"/>
            <a:ext cx="1684586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7" name="Text 66"/>
          <p:cNvSpPr/>
          <p:nvPr/>
        </p:nvSpPr>
        <p:spPr>
          <a:xfrm>
            <a:off x="7316539" y="1396800"/>
            <a:ext cx="12023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</a:t>
            </a:r>
            <a:endParaRPr lang="en-US" sz="800" dirty="0"/>
          </a:p>
        </p:txBody>
      </p:sp>
      <p:sp>
        <p:nvSpPr>
          <p:cNvPr id="170" name="Text 69"/>
          <p:cNvSpPr/>
          <p:nvPr/>
        </p:nvSpPr>
        <p:spPr>
          <a:xfrm>
            <a:off x="7316539" y="1620765"/>
            <a:ext cx="1505992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МАСШТАБИРОВАНИЕ</a:t>
            </a:r>
            <a:endParaRPr lang="en-US" sz="800" dirty="0"/>
          </a:p>
        </p:txBody>
      </p:sp>
      <p:sp>
        <p:nvSpPr>
          <p:cNvPr id="173" name="Text 72"/>
          <p:cNvSpPr/>
          <p:nvPr/>
        </p:nvSpPr>
        <p:spPr>
          <a:xfrm>
            <a:off x="7274794" y="1778456"/>
            <a:ext cx="1285875" cy="273504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Цель: (DIY 650, СК 250, B2B 100)</a:t>
            </a:r>
            <a:endParaRPr lang="en-US" sz="800" dirty="0"/>
          </a:p>
        </p:txBody>
      </p:sp>
      <p:sp>
        <p:nvSpPr>
          <p:cNvPr id="182" name="Text 15"/>
          <p:cNvSpPr/>
          <p:nvPr/>
        </p:nvSpPr>
        <p:spPr>
          <a:xfrm>
            <a:off x="520921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3" name="Text 16"/>
          <p:cNvSpPr/>
          <p:nvPr/>
        </p:nvSpPr>
        <p:spPr>
          <a:xfrm>
            <a:off x="545924" y="4911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4" name="Text 17"/>
          <p:cNvSpPr/>
          <p:nvPr/>
        </p:nvSpPr>
        <p:spPr>
          <a:xfrm>
            <a:off x="860249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5" name="Text 18"/>
          <p:cNvSpPr/>
          <p:nvPr/>
        </p:nvSpPr>
        <p:spPr>
          <a:xfrm>
            <a:off x="2506883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6" name="Text 19"/>
          <p:cNvSpPr/>
          <p:nvPr/>
        </p:nvSpPr>
        <p:spPr>
          <a:xfrm>
            <a:off x="2531887" y="4911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6212" y="509025"/>
            <a:ext cx="1414463" cy="21431"/>
          </a:xfrm>
          <a:prstGeom prst="rect">
            <a:avLst/>
          </a:prstGeom>
        </p:spPr>
      </p:pic>
      <p:sp>
        <p:nvSpPr>
          <p:cNvPr id="188" name="Text 20"/>
          <p:cNvSpPr/>
          <p:nvPr/>
        </p:nvSpPr>
        <p:spPr>
          <a:xfrm>
            <a:off x="4492846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FF8C0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9" name="Text 21"/>
          <p:cNvSpPr/>
          <p:nvPr/>
        </p:nvSpPr>
        <p:spPr>
          <a:xfrm>
            <a:off x="4517849" y="491166"/>
            <a:ext cx="57150" cy="57150"/>
          </a:xfrm>
          <a:prstGeom prst="ellipse">
            <a:avLst/>
          </a:prstGeom>
          <a:solidFill>
            <a:srgbClr val="FF8C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0" name="Text 22"/>
          <p:cNvSpPr/>
          <p:nvPr/>
        </p:nvSpPr>
        <p:spPr>
          <a:xfrm>
            <a:off x="4832174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1" name="Text 23"/>
          <p:cNvSpPr/>
          <p:nvPr/>
        </p:nvSpPr>
        <p:spPr>
          <a:xfrm>
            <a:off x="6478808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2" name="Text 24"/>
          <p:cNvSpPr/>
          <p:nvPr/>
        </p:nvSpPr>
        <p:spPr>
          <a:xfrm>
            <a:off x="6503812" y="4911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3" name="Text 25"/>
          <p:cNvSpPr/>
          <p:nvPr/>
        </p:nvSpPr>
        <p:spPr>
          <a:xfrm>
            <a:off x="6818137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4" name="Text 26"/>
          <p:cNvSpPr/>
          <p:nvPr/>
        </p:nvSpPr>
        <p:spPr>
          <a:xfrm>
            <a:off x="8464771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5" name="Text 27"/>
          <p:cNvSpPr/>
          <p:nvPr/>
        </p:nvSpPr>
        <p:spPr>
          <a:xfrm>
            <a:off x="8489774" y="4911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6" name="Text 30"/>
          <p:cNvSpPr/>
          <p:nvPr/>
        </p:nvSpPr>
        <p:spPr>
          <a:xfrm>
            <a:off x="1455807" y="1364395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7" name="Text 31"/>
          <p:cNvSpPr/>
          <p:nvPr/>
        </p:nvSpPr>
        <p:spPr>
          <a:xfrm>
            <a:off x="1420413" y="1382092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198" name="Text 30"/>
          <p:cNvSpPr/>
          <p:nvPr/>
        </p:nvSpPr>
        <p:spPr>
          <a:xfrm>
            <a:off x="3199263" y="1382621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9" name="Text 31"/>
          <p:cNvSpPr/>
          <p:nvPr/>
        </p:nvSpPr>
        <p:spPr>
          <a:xfrm>
            <a:off x="3163869" y="1400318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200" name="Text 49"/>
          <p:cNvSpPr/>
          <p:nvPr/>
        </p:nvSpPr>
        <p:spPr>
          <a:xfrm>
            <a:off x="4507767" y="1976980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1" name="Text 50"/>
          <p:cNvSpPr/>
          <p:nvPr/>
        </p:nvSpPr>
        <p:spPr>
          <a:xfrm>
            <a:off x="4501117" y="1994677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202" name="Text 58"/>
          <p:cNvSpPr/>
          <p:nvPr/>
        </p:nvSpPr>
        <p:spPr>
          <a:xfrm>
            <a:off x="6635136" y="1391627"/>
            <a:ext cx="475833" cy="128220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3" name="Text 59"/>
          <p:cNvSpPr/>
          <p:nvPr/>
        </p:nvSpPr>
        <p:spPr>
          <a:xfrm>
            <a:off x="6654968" y="1387330"/>
            <a:ext cx="519215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READY</a:t>
            </a:r>
            <a:endParaRPr lang="en-US" sz="800" dirty="0"/>
          </a:p>
        </p:txBody>
      </p:sp>
      <p:sp>
        <p:nvSpPr>
          <p:cNvPr id="204" name="Text 67"/>
          <p:cNvSpPr/>
          <p:nvPr/>
        </p:nvSpPr>
        <p:spPr>
          <a:xfrm>
            <a:off x="8465573" y="1377095"/>
            <a:ext cx="392128" cy="166348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5" name="Text 68"/>
          <p:cNvSpPr/>
          <p:nvPr/>
        </p:nvSpPr>
        <p:spPr>
          <a:xfrm>
            <a:off x="8511429" y="1399128"/>
            <a:ext cx="332882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PLAN</a:t>
            </a:r>
            <a:endParaRPr lang="en-US" sz="800" dirty="0"/>
          </a:p>
        </p:txBody>
      </p:sp>
      <p:sp>
        <p:nvSpPr>
          <p:cNvPr id="206" name="Text 7"/>
          <p:cNvSpPr/>
          <p:nvPr/>
        </p:nvSpPr>
        <p:spPr>
          <a:xfrm>
            <a:off x="7743141" y="2571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7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 47"/>
          <p:cNvSpPr/>
          <p:nvPr/>
        </p:nvSpPr>
        <p:spPr>
          <a:xfrm>
            <a:off x="3722418" y="654341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5" name="Text 48"/>
          <p:cNvSpPr/>
          <p:nvPr/>
        </p:nvSpPr>
        <p:spPr>
          <a:xfrm>
            <a:off x="3811715" y="703427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16" name="Text 51"/>
          <p:cNvSpPr/>
          <p:nvPr/>
        </p:nvSpPr>
        <p:spPr>
          <a:xfrm>
            <a:off x="3811715" y="889292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РТТ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17" name="Text 52"/>
          <p:cNvSpPr/>
          <p:nvPr/>
        </p:nvSpPr>
        <p:spPr>
          <a:xfrm>
            <a:off x="3766858" y="1013434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Брендированные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зоны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TITAN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в РТТ Палитра,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Брозекс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И.П. Рыгалов. –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(февраль – май 2027)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/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Специализированные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стойки для размещения в РТТ</a:t>
            </a: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Трейд – маркетинговая поддержка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18" name="Text 54"/>
          <p:cNvSpPr/>
          <p:nvPr/>
        </p:nvSpPr>
        <p:spPr>
          <a:xfrm>
            <a:off x="3811715" y="1425334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19" name="Text 55"/>
          <p:cNvSpPr/>
          <p:nvPr/>
        </p:nvSpPr>
        <p:spPr>
          <a:xfrm>
            <a:off x="3811715" y="1555149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20" name="Text 49"/>
          <p:cNvSpPr/>
          <p:nvPr/>
        </p:nvSpPr>
        <p:spPr>
          <a:xfrm>
            <a:off x="4513291" y="686456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1" name="Text 50"/>
          <p:cNvSpPr/>
          <p:nvPr/>
        </p:nvSpPr>
        <p:spPr>
          <a:xfrm>
            <a:off x="4506641" y="704153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998" y="2668158"/>
            <a:ext cx="3197920" cy="2358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7495" y="2673449"/>
            <a:ext cx="2950907" cy="23536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Тройная стрелка влево/вправо/вверх 5"/>
          <p:cNvSpPr/>
          <p:nvPr/>
        </p:nvSpPr>
        <p:spPr>
          <a:xfrm>
            <a:off x="3701745" y="3458850"/>
            <a:ext cx="1756575" cy="676800"/>
          </a:xfrm>
          <a:prstGeom prst="leftRightUp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3547591" y="4332700"/>
            <a:ext cx="204055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Влияние на новых дилеров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2"/>
          <p:cNvSpPr/>
          <p:nvPr/>
        </p:nvSpPr>
        <p:spPr>
          <a:xfrm>
            <a:off x="181210" y="615994"/>
            <a:ext cx="3438289" cy="3352709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3" name="Shape 33"/>
          <p:cNvSpPr/>
          <p:nvPr/>
        </p:nvSpPr>
        <p:spPr>
          <a:xfrm>
            <a:off x="270508" y="1660171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4" name="Text 34"/>
          <p:cNvSpPr/>
          <p:nvPr/>
        </p:nvSpPr>
        <p:spPr>
          <a:xfrm>
            <a:off x="276901" y="870000"/>
            <a:ext cx="51771" cy="129765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 35"/>
          <p:cNvSpPr/>
          <p:nvPr/>
        </p:nvSpPr>
        <p:spPr>
          <a:xfrm>
            <a:off x="355479" y="881395"/>
            <a:ext cx="156157" cy="145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🛒</a:t>
            </a:r>
            <a:endParaRPr lang="en-US" sz="1400" dirty="0"/>
          </a:p>
        </p:txBody>
      </p:sp>
      <p:sp>
        <p:nvSpPr>
          <p:cNvPr id="6" name="Text 36"/>
          <p:cNvSpPr/>
          <p:nvPr/>
        </p:nvSpPr>
        <p:spPr>
          <a:xfrm>
            <a:off x="541217" y="874589"/>
            <a:ext cx="2900418" cy="158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05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СЕТЕВОЙ </a:t>
            </a:r>
            <a:r>
              <a:rPr lang="en-US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КАНАЛ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– </a:t>
            </a:r>
            <a:r>
              <a:rPr lang="ru-RU" sz="1050" b="1" kern="0" spc="84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Про</a:t>
            </a:r>
            <a:endParaRPr lang="en-US" sz="1050" dirty="0"/>
          </a:p>
        </p:txBody>
      </p:sp>
      <p:sp>
        <p:nvSpPr>
          <p:cNvPr id="7" name="Text 37"/>
          <p:cNvSpPr/>
          <p:nvPr/>
        </p:nvSpPr>
        <p:spPr>
          <a:xfrm>
            <a:off x="257717" y="1732201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900" dirty="0"/>
          </a:p>
        </p:txBody>
      </p:sp>
      <p:sp>
        <p:nvSpPr>
          <p:cNvPr id="8" name="Text 38"/>
          <p:cNvSpPr/>
          <p:nvPr/>
        </p:nvSpPr>
        <p:spPr>
          <a:xfrm>
            <a:off x="399091" y="1728084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Лемана Про: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ЮФО</a:t>
            </a:r>
            <a:endParaRPr lang="en-US" sz="900" dirty="0">
              <a:latin typeface="+mj-lt"/>
            </a:endParaRPr>
          </a:p>
        </p:txBody>
      </p:sp>
      <p:sp>
        <p:nvSpPr>
          <p:cNvPr id="9" name="Text 39"/>
          <p:cNvSpPr/>
          <p:nvPr/>
        </p:nvSpPr>
        <p:spPr>
          <a:xfrm>
            <a:off x="257717" y="190253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10" name="Text 40"/>
          <p:cNvSpPr/>
          <p:nvPr/>
        </p:nvSpPr>
        <p:spPr>
          <a:xfrm>
            <a:off x="399092" y="1904357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ru-RU" sz="900" b="1" dirty="0" smtClean="0">
                <a:latin typeface="+mj-lt"/>
                <a:ea typeface="Carlito" pitchFamily="34" charset="-122"/>
                <a:cs typeface="Carlito" pitchFamily="34" charset="-120"/>
              </a:rPr>
              <a:t>6 экранов</a:t>
            </a:r>
            <a:endParaRPr lang="en-US" sz="900" b="1" dirty="0">
              <a:latin typeface="+mj-lt"/>
            </a:endParaRPr>
          </a:p>
        </p:txBody>
      </p:sp>
      <p:sp>
        <p:nvSpPr>
          <p:cNvPr id="12" name="Text 42"/>
          <p:cNvSpPr/>
          <p:nvPr/>
        </p:nvSpPr>
        <p:spPr>
          <a:xfrm>
            <a:off x="257717" y="207926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900" dirty="0"/>
          </a:p>
        </p:txBody>
      </p:sp>
      <p:sp>
        <p:nvSpPr>
          <p:cNvPr id="13" name="Text 43"/>
          <p:cNvSpPr/>
          <p:nvPr/>
        </p:nvSpPr>
        <p:spPr>
          <a:xfrm>
            <a:off x="399091" y="2081540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Таргет ВКонтакте по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endParaRPr lang="en-US" sz="900" dirty="0">
              <a:latin typeface="+mj-lt"/>
            </a:endParaRPr>
          </a:p>
        </p:txBody>
      </p:sp>
      <p:sp>
        <p:nvSpPr>
          <p:cNvPr id="14" name="Text 44"/>
          <p:cNvSpPr/>
          <p:nvPr/>
        </p:nvSpPr>
        <p:spPr>
          <a:xfrm>
            <a:off x="257717" y="225599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15" name="Text 45"/>
          <p:cNvSpPr/>
          <p:nvPr/>
        </p:nvSpPr>
        <p:spPr>
          <a:xfrm>
            <a:off x="399091" y="2259617"/>
            <a:ext cx="3065249" cy="168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Промо «Подарок за покупку» (Ростов + Краснодар)</a:t>
            </a:r>
            <a:endParaRPr lang="en-US" sz="900" dirty="0">
              <a:latin typeface="+mj-lt"/>
            </a:endParaRPr>
          </a:p>
        </p:txBody>
      </p:sp>
      <p:sp>
        <p:nvSpPr>
          <p:cNvPr id="16" name="Text 46"/>
          <p:cNvSpPr/>
          <p:nvPr/>
        </p:nvSpPr>
        <p:spPr>
          <a:xfrm>
            <a:off x="257717" y="241918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←</a:t>
            </a:r>
            <a:endParaRPr lang="en-US" sz="900" dirty="0"/>
          </a:p>
        </p:txBody>
      </p:sp>
      <p:sp>
        <p:nvSpPr>
          <p:cNvPr id="17" name="Text 47"/>
          <p:cNvSpPr/>
          <p:nvPr/>
        </p:nvSpPr>
        <p:spPr>
          <a:xfrm>
            <a:off x="399091" y="2427852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Кэшбек </a:t>
            </a:r>
            <a:r>
              <a:rPr lang="en-US" sz="900" b="1" dirty="0">
                <a:latin typeface="+mj-lt"/>
                <a:ea typeface="Liberation Sans Narrow" pitchFamily="34" charset="-122"/>
                <a:cs typeface="Liberation Sans Narrow" pitchFamily="34" charset="-120"/>
              </a:rPr>
              <a:t>5%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на TITAN (все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)</a:t>
            </a:r>
            <a:endParaRPr lang="en-US" sz="900" dirty="0">
              <a:latin typeface="+mj-lt"/>
            </a:endParaRPr>
          </a:p>
        </p:txBody>
      </p:sp>
      <p:sp>
        <p:nvSpPr>
          <p:cNvPr id="18" name="Text 48"/>
          <p:cNvSpPr/>
          <p:nvPr/>
        </p:nvSpPr>
        <p:spPr>
          <a:xfrm>
            <a:off x="257717" y="260230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19" name="Text 49"/>
          <p:cNvSpPr/>
          <p:nvPr/>
        </p:nvSpPr>
        <p:spPr>
          <a:xfrm>
            <a:off x="399091" y="261097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  <p:sp>
        <p:nvSpPr>
          <p:cNvPr id="20" name="Text 50"/>
          <p:cNvSpPr/>
          <p:nvPr/>
        </p:nvSpPr>
        <p:spPr>
          <a:xfrm>
            <a:off x="257717" y="2791818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21" name="Text 51"/>
          <p:cNvSpPr/>
          <p:nvPr/>
        </p:nvSpPr>
        <p:spPr>
          <a:xfrm>
            <a:off x="399094" y="2780852"/>
            <a:ext cx="1330516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Веерные выкрасы B2B:</a:t>
            </a:r>
            <a:endParaRPr lang="en-US" sz="900" dirty="0">
              <a:latin typeface="+mj-lt"/>
            </a:endParaRPr>
          </a:p>
        </p:txBody>
      </p:sp>
      <p:sp>
        <p:nvSpPr>
          <p:cNvPr id="23" name="Text 53"/>
          <p:cNvSpPr/>
          <p:nvPr/>
        </p:nvSpPr>
        <p:spPr>
          <a:xfrm>
            <a:off x="257717" y="297494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⌧</a:t>
            </a:r>
            <a:endParaRPr lang="en-US" sz="900" dirty="0"/>
          </a:p>
        </p:txBody>
      </p:sp>
      <p:sp>
        <p:nvSpPr>
          <p:cNvPr id="24" name="Text 54"/>
          <p:cNvSpPr/>
          <p:nvPr/>
        </p:nvSpPr>
        <p:spPr>
          <a:xfrm>
            <a:off x="411879" y="2970823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Скидка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10% + 10% (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жёлтый ценник) с </a:t>
            </a:r>
            <a:r>
              <a:rPr lang="en-US" sz="900" b="1" dirty="0" smtClean="0">
                <a:latin typeface="+mj-lt"/>
                <a:ea typeface="Liberation Sans Narrow" pitchFamily="34" charset="-122"/>
                <a:cs typeface="Liberation Sans Narrow" pitchFamily="34" charset="-120"/>
              </a:rPr>
              <a:t>01.08 - 30.09</a:t>
            </a:r>
            <a:endParaRPr lang="en-US" sz="900" dirty="0">
              <a:latin typeface="+mj-lt"/>
            </a:endParaRPr>
          </a:p>
        </p:txBody>
      </p:sp>
      <p:pic>
        <p:nvPicPr>
          <p:cNvPr id="25" name="Picture 2" descr="C:\Users\zakolodniy\Downloads\Анализ статистики Лемана ПРо за 02.10.2026\01_monthly_tre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132311"/>
            <a:ext cx="5083791" cy="230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zakolodniy\Downloads\Анализ статистики Лемана ПРо за 02.10.2026\05_shop_performance_stock_transi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2531602"/>
            <a:ext cx="5083791" cy="243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Shape 33"/>
          <p:cNvSpPr/>
          <p:nvPr/>
        </p:nvSpPr>
        <p:spPr>
          <a:xfrm>
            <a:off x="248636" y="3284254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29" name="Text 54"/>
          <p:cNvSpPr/>
          <p:nvPr/>
        </p:nvSpPr>
        <p:spPr>
          <a:xfrm>
            <a:off x="290423" y="118651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Запуск продаж 01.06.2026 – 30.09.2026</a:t>
            </a:r>
            <a:endParaRPr lang="en-US" sz="1050" b="1" dirty="0"/>
          </a:p>
        </p:txBody>
      </p:sp>
      <p:sp>
        <p:nvSpPr>
          <p:cNvPr id="32" name="Text 54"/>
          <p:cNvSpPr/>
          <p:nvPr/>
        </p:nvSpPr>
        <p:spPr>
          <a:xfrm>
            <a:off x="316224" y="3336358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Поддержка 01.010.2026 – 30.10.2026</a:t>
            </a:r>
            <a:endParaRPr lang="en-US" sz="1050" b="1" dirty="0"/>
          </a:p>
        </p:txBody>
      </p:sp>
      <p:sp>
        <p:nvSpPr>
          <p:cNvPr id="33" name="Text 39"/>
          <p:cNvSpPr/>
          <p:nvPr/>
        </p:nvSpPr>
        <p:spPr>
          <a:xfrm>
            <a:off x="284030" y="3696917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34" name="Text 40"/>
          <p:cNvSpPr/>
          <p:nvPr/>
        </p:nvSpPr>
        <p:spPr>
          <a:xfrm>
            <a:off x="419011" y="3685951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2 экрана</a:t>
            </a:r>
            <a:endParaRPr lang="en-US" sz="900" dirty="0">
              <a:latin typeface="+mj-lt"/>
            </a:endParaRPr>
          </a:p>
        </p:txBody>
      </p:sp>
      <p:sp>
        <p:nvSpPr>
          <p:cNvPr id="36" name="Text 48"/>
          <p:cNvSpPr/>
          <p:nvPr/>
        </p:nvSpPr>
        <p:spPr>
          <a:xfrm>
            <a:off x="276884" y="354601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37" name="Text 49"/>
          <p:cNvSpPr/>
          <p:nvPr/>
        </p:nvSpPr>
        <p:spPr>
          <a:xfrm>
            <a:off x="405470" y="3529541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  <p:sp>
        <p:nvSpPr>
          <p:cNvPr id="35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8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ru-RU" sz="1200" b="1" kern="0" spc="56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АНАЛИТИКА</a:t>
            </a:r>
            <a:endParaRPr lang="en-US" sz="1200" dirty="0"/>
          </a:p>
        </p:txBody>
      </p:sp>
      <p:sp>
        <p:nvSpPr>
          <p:cNvPr id="39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029298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6"/>
          <p:cNvSpPr/>
          <p:nvPr/>
        </p:nvSpPr>
        <p:spPr>
          <a:xfrm>
            <a:off x="7676511" y="947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8"/>
          <p:cNvSpPr/>
          <p:nvPr/>
        </p:nvSpPr>
        <p:spPr>
          <a:xfrm>
            <a:off x="7894742" y="1630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21" name="Text 7"/>
          <p:cNvSpPr/>
          <p:nvPr/>
        </p:nvSpPr>
        <p:spPr>
          <a:xfrm>
            <a:off x="7786341" y="1821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1"/>
          <p:cNvSpPr/>
          <p:nvPr/>
        </p:nvSpPr>
        <p:spPr>
          <a:xfrm>
            <a:off x="233763" y="529922"/>
            <a:ext cx="2831269" cy="1721858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12"/>
          <p:cNvSpPr/>
          <p:nvPr/>
        </p:nvSpPr>
        <p:spPr>
          <a:xfrm>
            <a:off x="385762" y="896043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25" name="Text 13"/>
          <p:cNvSpPr/>
          <p:nvPr/>
        </p:nvSpPr>
        <p:spPr>
          <a:xfrm>
            <a:off x="385762" y="708519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14"/>
          <p:cNvSpPr/>
          <p:nvPr/>
        </p:nvSpPr>
        <p:spPr>
          <a:xfrm>
            <a:off x="464341" y="70137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266" dirty="0"/>
          </a:p>
        </p:txBody>
      </p:sp>
      <p:sp>
        <p:nvSpPr>
          <p:cNvPr id="27" name="Text 15"/>
          <p:cNvSpPr/>
          <p:nvPr/>
        </p:nvSpPr>
        <p:spPr>
          <a:xfrm>
            <a:off x="650081" y="696019"/>
            <a:ext cx="238835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ДИСТРИБЬЮТОРСКИЙ КАНАЛ</a:t>
            </a:r>
            <a:endParaRPr lang="en-US" sz="800" dirty="0"/>
          </a:p>
        </p:txBody>
      </p:sp>
      <p:sp>
        <p:nvSpPr>
          <p:cNvPr id="28" name="Text 20"/>
          <p:cNvSpPr/>
          <p:nvPr/>
        </p:nvSpPr>
        <p:spPr>
          <a:xfrm>
            <a:off x="385760" y="101068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844" dirty="0"/>
          </a:p>
        </p:txBody>
      </p:sp>
      <p:sp>
        <p:nvSpPr>
          <p:cNvPr id="29" name="Text 21"/>
          <p:cNvSpPr/>
          <p:nvPr/>
        </p:nvSpPr>
        <p:spPr>
          <a:xfrm>
            <a:off x="514347" y="996401"/>
            <a:ext cx="2524088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Пилоты: Палитра (Краснодар), И.П. Рыгалов (Пенза), Брозекс (Екатеринбург)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366710" y="126721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514347" y="1265630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Обучение: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регионов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ru-RU" sz="800" b="1" dirty="0" smtClean="0">
                <a:latin typeface="Courier New" pitchFamily="34" charset="0"/>
                <a:ea typeface="Carlito" pitchFamily="34" charset="-122"/>
                <a:cs typeface="Courier New" pitchFamily="34" charset="-120"/>
              </a:rPr>
              <a:t>106 </a:t>
            </a:r>
            <a:r>
              <a:rPr lang="en-US" sz="800" b="1" dirty="0" smtClean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ТП</a:t>
            </a:r>
            <a:r>
              <a:rPr lang="ru-RU" sz="800" b="1" dirty="0" smtClean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ОП</a:t>
            </a:r>
            <a:endParaRPr lang="en-US" sz="800" b="1" dirty="0"/>
          </a:p>
        </p:txBody>
      </p:sp>
      <p:sp>
        <p:nvSpPr>
          <p:cNvPr id="32" name="Text 24"/>
          <p:cNvSpPr/>
          <p:nvPr/>
        </p:nvSpPr>
        <p:spPr>
          <a:xfrm>
            <a:off x="385760" y="145025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844" dirty="0"/>
          </a:p>
        </p:txBody>
      </p:sp>
      <p:sp>
        <p:nvSpPr>
          <p:cNvPr id="33" name="Text 25"/>
          <p:cNvSpPr/>
          <p:nvPr/>
        </p:nvSpPr>
        <p:spPr>
          <a:xfrm>
            <a:off x="514347" y="1435964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POSM: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шт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воблеры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ценники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листовки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</a:t>
            </a:r>
            <a:endParaRPr lang="en-US" sz="800" dirty="0"/>
          </a:p>
        </p:txBody>
      </p:sp>
      <p:sp>
        <p:nvSpPr>
          <p:cNvPr id="34" name="Text 26"/>
          <p:cNvSpPr/>
          <p:nvPr/>
        </p:nvSpPr>
        <p:spPr>
          <a:xfrm>
            <a:off x="385760" y="1733769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844" dirty="0"/>
          </a:p>
        </p:txBody>
      </p:sp>
      <p:sp>
        <p:nvSpPr>
          <p:cNvPr id="35" name="Text 27"/>
          <p:cNvSpPr/>
          <p:nvPr/>
        </p:nvSpPr>
        <p:spPr>
          <a:xfrm>
            <a:off x="514347" y="1719483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Контент: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видеоинструкция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портфолио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для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ТП</a:t>
            </a:r>
            <a:endParaRPr lang="en-US" sz="800" dirty="0"/>
          </a:p>
        </p:txBody>
      </p:sp>
      <p:sp>
        <p:nvSpPr>
          <p:cNvPr id="36" name="Shape 28"/>
          <p:cNvSpPr/>
          <p:nvPr/>
        </p:nvSpPr>
        <p:spPr>
          <a:xfrm>
            <a:off x="385762" y="2006571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</p:sp>
      <p:sp>
        <p:nvSpPr>
          <p:cNvPr id="60" name="Text 68"/>
          <p:cNvSpPr/>
          <p:nvPr/>
        </p:nvSpPr>
        <p:spPr>
          <a:xfrm>
            <a:off x="296465" y="2693476"/>
            <a:ext cx="2831381" cy="1721857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69"/>
          <p:cNvSpPr/>
          <p:nvPr/>
        </p:nvSpPr>
        <p:spPr>
          <a:xfrm>
            <a:off x="385762" y="2982798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62" name="Text 70"/>
          <p:cNvSpPr/>
          <p:nvPr/>
        </p:nvSpPr>
        <p:spPr>
          <a:xfrm>
            <a:off x="385762" y="2795274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71"/>
          <p:cNvSpPr/>
          <p:nvPr/>
        </p:nvSpPr>
        <p:spPr>
          <a:xfrm>
            <a:off x="464342" y="2788131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64" name="Text 72"/>
          <p:cNvSpPr/>
          <p:nvPr/>
        </p:nvSpPr>
        <p:spPr>
          <a:xfrm>
            <a:off x="650079" y="2782774"/>
            <a:ext cx="2388468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B2B КАНАЛ</a:t>
            </a:r>
            <a:endParaRPr lang="en-US" sz="800" dirty="0"/>
          </a:p>
        </p:txBody>
      </p:sp>
      <p:sp>
        <p:nvSpPr>
          <p:cNvPr id="65" name="Text 73"/>
          <p:cNvSpPr/>
          <p:nvPr/>
        </p:nvSpPr>
        <p:spPr>
          <a:xfrm>
            <a:off x="385760" y="308638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844" dirty="0"/>
          </a:p>
        </p:txBody>
      </p:sp>
      <p:sp>
        <p:nvSpPr>
          <p:cNvPr id="66" name="Text 74"/>
          <p:cNvSpPr/>
          <p:nvPr/>
        </p:nvSpPr>
        <p:spPr>
          <a:xfrm>
            <a:off x="514350" y="3072094"/>
            <a:ext cx="2524199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Тест-образец: пробник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0,4 л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+ веерные выкрасы</a:t>
            </a:r>
            <a:endParaRPr lang="en-US" sz="800" dirty="0"/>
          </a:p>
        </p:txBody>
      </p:sp>
      <p:sp>
        <p:nvSpPr>
          <p:cNvPr id="67" name="Text 75"/>
          <p:cNvSpPr/>
          <p:nvPr/>
        </p:nvSpPr>
        <p:spPr>
          <a:xfrm>
            <a:off x="385760" y="325671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844" dirty="0"/>
          </a:p>
        </p:txBody>
      </p:sp>
      <p:sp>
        <p:nvSpPr>
          <p:cNvPr id="68" name="Text 76"/>
          <p:cNvSpPr/>
          <p:nvPr/>
        </p:nvSpPr>
        <p:spPr>
          <a:xfrm>
            <a:off x="514350" y="324242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Листовка B2B с расчётом ССВ</a:t>
            </a:r>
            <a:endParaRPr lang="en-US" sz="800" dirty="0"/>
          </a:p>
        </p:txBody>
      </p:sp>
      <p:sp>
        <p:nvSpPr>
          <p:cNvPr id="69" name="Text 77"/>
          <p:cNvSpPr/>
          <p:nvPr/>
        </p:nvSpPr>
        <p:spPr>
          <a:xfrm>
            <a:off x="385760" y="341990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844" dirty="0"/>
          </a:p>
        </p:txBody>
      </p:sp>
      <p:sp>
        <p:nvSpPr>
          <p:cNvPr id="70" name="Text 78"/>
          <p:cNvSpPr/>
          <p:nvPr/>
        </p:nvSpPr>
        <p:spPr>
          <a:xfrm>
            <a:off x="514350" y="3405619"/>
            <a:ext cx="2524199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6 инструментов: тест-образец, листовка, инфлюенсер, маржа, портфолио</a:t>
            </a:r>
            <a:endParaRPr lang="en-US" sz="800" dirty="0"/>
          </a:p>
        </p:txBody>
      </p:sp>
      <p:sp>
        <p:nvSpPr>
          <p:cNvPr id="71" name="Text 79"/>
          <p:cNvSpPr/>
          <p:nvPr/>
        </p:nvSpPr>
        <p:spPr>
          <a:xfrm>
            <a:off x="385760" y="368913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844" dirty="0"/>
          </a:p>
        </p:txBody>
      </p:sp>
      <p:sp>
        <p:nvSpPr>
          <p:cNvPr id="72" name="Text 80"/>
          <p:cNvSpPr/>
          <p:nvPr/>
        </p:nvSpPr>
        <p:spPr>
          <a:xfrm>
            <a:off x="514350" y="367484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Расчёт маржинальности по фасовкам (8,5 л выгоднее)</a:t>
            </a:r>
            <a:endParaRPr lang="en-US" sz="800" dirty="0"/>
          </a:p>
        </p:txBody>
      </p:sp>
      <p:sp>
        <p:nvSpPr>
          <p:cNvPr id="73" name="Shape 81"/>
          <p:cNvSpPr/>
          <p:nvPr/>
        </p:nvSpPr>
        <p:spPr>
          <a:xfrm>
            <a:off x="385762" y="3898760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</p:sp>
      <p:sp>
        <p:nvSpPr>
          <p:cNvPr id="40" name="Rectangle 1"/>
          <p:cNvSpPr>
            <a:spLocks noChangeArrowheads="1"/>
          </p:cNvSpPr>
          <p:nvPr/>
        </p:nvSpPr>
        <p:spPr bwMode="auto">
          <a:xfrm>
            <a:off x="3200784" y="271754"/>
            <a:ext cx="5695566" cy="1969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9 месяцев 2025 </a:t>
            </a:r>
            <a:r>
              <a:rPr lang="en-US" sz="1100" b="1" dirty="0" err="1" smtClean="0">
                <a:latin typeface="Arial" charset="0"/>
                <a:cs typeface="Arial" charset="0"/>
              </a:rPr>
              <a:t>vs</a:t>
            </a:r>
            <a:r>
              <a:rPr lang="en-US" sz="1100" b="1" dirty="0" smtClean="0">
                <a:latin typeface="Arial" charset="0"/>
                <a:cs typeface="Arial" charset="0"/>
              </a:rPr>
              <a:t> 9 </a:t>
            </a:r>
            <a:r>
              <a:rPr lang="ru-RU" sz="1100" b="1" dirty="0" smtClean="0">
                <a:latin typeface="Arial" charset="0"/>
                <a:cs typeface="Arial" charset="0"/>
              </a:rPr>
              <a:t>месяцев 2026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 </a:t>
            </a:r>
            <a:endParaRPr kumimoji="0" lang="ru-RU" sz="11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rgbClr val="00B050"/>
                </a:solidFill>
                <a:effectLst/>
                <a:latin typeface="Arial" charset="0"/>
                <a:cs typeface="Arial" charset="0"/>
              </a:rPr>
              <a:t>БРОЗЭКС</a:t>
            </a: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108 → 125 клиентов (+15.7%)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rgbClr val="00B050"/>
                </a:solidFill>
                <a:effectLst/>
                <a:latin typeface="Arial" charset="0"/>
                <a:cs typeface="Arial" charset="0"/>
              </a:rPr>
              <a:t>Рыгалов</a:t>
            </a: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82 → 100 клиентов (+22.0%)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rgbClr val="00B050"/>
                </a:solidFill>
                <a:effectLst/>
                <a:latin typeface="Arial" charset="0"/>
                <a:cs typeface="Arial" charset="0"/>
              </a:rPr>
              <a:t>БРОЗЭКС</a:t>
            </a: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2 014 796 ₽ → 3 439 931 ₽ (+70.7%)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rgbClr val="00B050"/>
                </a:solidFill>
                <a:effectLst/>
                <a:latin typeface="Arial" charset="0"/>
                <a:cs typeface="Arial" charset="0"/>
              </a:rPr>
              <a:t>Рыгалов</a:t>
            </a: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2 555 783 ₽ → 2 690 942 ₽ (+5.3%)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БРОЗЭКС: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Товарооборот растёт быстрее АКБ (+70,7%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+15,7%) — означает рост среднего чека на клиента. Эффективная работа с существующей базой + расширение.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Рыгалову: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АКБ растёт быстрее товарооборота (+22,0%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+5,3%) — новые клиенты дают меньший чек. Требуется работа по увеличению среднего объёма закупок. </a:t>
            </a:r>
          </a:p>
        </p:txBody>
      </p:sp>
      <p:sp>
        <p:nvSpPr>
          <p:cNvPr id="38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9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ru-RU" sz="1200" b="1" kern="0" spc="56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АНАЛИТИКА</a:t>
            </a:r>
            <a:endParaRPr lang="en-US" sz="1200" dirty="0"/>
          </a:p>
        </p:txBody>
      </p:sp>
      <p:sp>
        <p:nvSpPr>
          <p:cNvPr id="41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7873716"/>
              </p:ext>
            </p:extLst>
          </p:nvPr>
        </p:nvGraphicFramePr>
        <p:xfrm>
          <a:off x="3277310" y="2504240"/>
          <a:ext cx="5683541" cy="24707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8723"/>
                <a:gridCol w="2242030"/>
                <a:gridCol w="594138"/>
                <a:gridCol w="829550"/>
                <a:gridCol w="829550"/>
                <a:gridCol w="829550"/>
              </a:tblGrid>
              <a:tr h="193015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u="none" strike="noStrike" dirty="0">
                          <a:effectLst/>
                        </a:rPr>
                        <a:t>№</a:t>
                      </a:r>
                      <a:endParaRPr lang="ru-RU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u="none" strike="noStrike" dirty="0">
                          <a:effectLst/>
                        </a:rPr>
                        <a:t>Магазин (адрес)</a:t>
                      </a:r>
                      <a:endParaRPr lang="ru-RU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</a:rPr>
                        <a:t>SKU TITAN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u="none" strike="noStrike" dirty="0" smtClean="0">
                          <a:effectLst/>
                        </a:rPr>
                        <a:t>Средние продажи в месяц</a:t>
                      </a:r>
                      <a:endParaRPr lang="ru-RU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u="none" strike="noStrike" dirty="0">
                          <a:effectLst/>
                        </a:rPr>
                        <a:t>Остаток, шт.</a:t>
                      </a:r>
                      <a:endParaRPr lang="ru-RU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u="none" strike="noStrike" dirty="0">
                          <a:effectLst/>
                        </a:rPr>
                        <a:t>Продано, шт.</a:t>
                      </a:r>
                      <a:endParaRPr lang="ru-RU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 dirty="0" smtClean="0">
                          <a:effectLst/>
                        </a:rPr>
                        <a:t>Аксай, </a:t>
                      </a:r>
                      <a:r>
                        <a:rPr lang="ru-RU" sz="1000" u="none" strike="noStrike" dirty="0" err="1" smtClean="0">
                          <a:effectLst/>
                        </a:rPr>
                        <a:t>Вартанова</a:t>
                      </a:r>
                      <a:r>
                        <a:rPr lang="ru-RU" sz="1000" u="none" strike="noStrike" dirty="0" smtClean="0">
                          <a:effectLst/>
                        </a:rPr>
                        <a:t> </a:t>
                      </a:r>
                      <a:r>
                        <a:rPr lang="ru-RU" sz="1000" u="none" strike="noStrike" dirty="0">
                          <a:effectLst/>
                        </a:rPr>
                        <a:t>11</a:t>
                      </a:r>
                      <a:endParaRPr lang="ru-RU" sz="1000" b="1" i="0" u="none" strike="noStrike" dirty="0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 smtClean="0">
                          <a:effectLst/>
                        </a:rPr>
                        <a:t>16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24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146</a:t>
                      </a:r>
                      <a:endParaRPr lang="ru-RU" sz="1100" b="1" i="0" u="none" strike="noStrike" dirty="0">
                        <a:solidFill>
                          <a:srgbClr val="00B05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 dirty="0" smtClean="0">
                          <a:effectLst/>
                        </a:rPr>
                        <a:t>Батайск, </a:t>
                      </a:r>
                      <a:r>
                        <a:rPr lang="ru-RU" sz="1000" u="none" strike="noStrike" dirty="0">
                          <a:effectLst/>
                        </a:rPr>
                        <a:t>Ленина 168 а</a:t>
                      </a:r>
                      <a:endParaRPr lang="ru-RU" sz="1000" b="1" i="0" u="none" strike="noStrike" dirty="0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14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 smtClean="0">
                          <a:effectLst/>
                        </a:rPr>
                        <a:t>8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32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77</a:t>
                      </a:r>
                      <a:endParaRPr lang="ru-RU" sz="1000" b="1" i="0" u="none" strike="noStrike" dirty="0">
                        <a:solidFill>
                          <a:srgbClr val="C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3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М.Горького 285Е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20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72</a:t>
                      </a:r>
                      <a:endParaRPr lang="ru-RU" sz="1000" b="1" i="0" u="none" strike="noStrike" dirty="0">
                        <a:solidFill>
                          <a:srgbClr val="C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4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Королева 30 а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14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21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56</a:t>
                      </a:r>
                      <a:endParaRPr lang="ru-RU" sz="1000" b="1" i="0" u="none" strike="noStrike" dirty="0">
                        <a:solidFill>
                          <a:srgbClr val="C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5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40 лет Победы 270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0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45</a:t>
                      </a:r>
                      <a:endParaRPr lang="ru-RU" sz="1000" b="1" i="0" u="none" strike="noStrike" dirty="0">
                        <a:solidFill>
                          <a:srgbClr val="C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6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Малиновского 48 а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11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3,5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24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32</a:t>
                      </a:r>
                      <a:endParaRPr lang="ru-RU" sz="1000" b="1" i="0" u="none" strike="noStrike" dirty="0">
                        <a:solidFill>
                          <a:srgbClr val="C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7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Портовая 532 а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8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16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21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8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40 Лет Победы 264/110а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9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2,1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19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9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Портовая 70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7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1,8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effectLst/>
                        </a:rPr>
                        <a:t>13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17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10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Базарная 11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10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16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11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Таганрогская, 175 Ваш Дом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8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effectLst/>
                        </a:rPr>
                        <a:t>0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13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121464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 </a:t>
                      </a:r>
                      <a:endParaRPr lang="ru-RU" sz="1000" b="1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b="1" u="none" strike="noStrike" dirty="0">
                          <a:effectLst/>
                        </a:rPr>
                        <a:t>ИТОГО</a:t>
                      </a:r>
                      <a:endParaRPr lang="ru-RU" sz="10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effectLst/>
                        </a:rPr>
                        <a:t> </a:t>
                      </a:r>
                      <a:endParaRPr lang="ru-RU" sz="10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0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174</a:t>
                      </a:r>
                      <a:endParaRPr lang="ru-RU" sz="1000" b="1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effectLst/>
                        </a:rPr>
                        <a:t>514</a:t>
                      </a:r>
                      <a:endParaRPr lang="ru-RU" sz="10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3231151" y="2258019"/>
            <a:ext cx="281741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b="1" dirty="0" smtClean="0">
                <a:solidFill>
                  <a:srgbClr val="00B050"/>
                </a:solidFill>
                <a:latin typeface="Arial" charset="0"/>
                <a:cs typeface="Arial" charset="0"/>
              </a:rPr>
              <a:t>Региональная сеть Ваш </a:t>
            </a:r>
            <a:r>
              <a:rPr lang="ru-RU" sz="1000" b="1" dirty="0">
                <a:solidFill>
                  <a:srgbClr val="00B050"/>
                </a:solidFill>
                <a:latin typeface="Arial" charset="0"/>
                <a:cs typeface="Arial" charset="0"/>
              </a:rPr>
              <a:t>дом</a:t>
            </a:r>
          </a:p>
        </p:txBody>
      </p:sp>
    </p:spTree>
    <p:extLst>
      <p:ext uri="{BB962C8B-B14F-4D97-AF65-F5344CB8AC3E}">
        <p14:creationId xmlns:p14="http://schemas.microsoft.com/office/powerpoint/2010/main" val="2412404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4703" y="159902"/>
            <a:ext cx="2504174" cy="48563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01"/>
          <a:stretch/>
        </p:blipFill>
        <p:spPr bwMode="auto">
          <a:xfrm>
            <a:off x="133375" y="3326400"/>
            <a:ext cx="5714830" cy="16682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ounded Rectangle 35"/>
          <p:cNvSpPr/>
          <p:nvPr/>
        </p:nvSpPr>
        <p:spPr>
          <a:xfrm>
            <a:off x="89950" y="519000"/>
            <a:ext cx="5526050" cy="252592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39"/>
          <p:cNvSpPr/>
          <p:nvPr/>
        </p:nvSpPr>
        <p:spPr>
          <a:xfrm>
            <a:off x="233950" y="605400"/>
            <a:ext cx="527405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40"/>
          <p:cNvSpPr/>
          <p:nvPr/>
        </p:nvSpPr>
        <p:spPr>
          <a:xfrm>
            <a:off x="233949" y="605400"/>
            <a:ext cx="45719" cy="558000"/>
          </a:xfrm>
          <a:prstGeom prst="rect">
            <a:avLst/>
          </a:prstGeom>
          <a:solidFill>
            <a:srgbClr val="7B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41"/>
          <p:cNvSpPr/>
          <p:nvPr/>
        </p:nvSpPr>
        <p:spPr>
          <a:xfrm>
            <a:off x="323949" y="713400"/>
            <a:ext cx="396235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B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3949" y="767400"/>
            <a:ext cx="396235" cy="21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7B6FA8"/>
                </a:solidFill>
                <a:latin typeface="Roboto Mon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1149" y="695400"/>
            <a:ext cx="330196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50" dirty="0">
                <a:solidFill>
                  <a:srgbClr val="2F3A48"/>
                </a:solidFill>
                <a:latin typeface="Inter"/>
              </a:rPr>
              <a:t>ПЕРВОЕ КАСАНИЕ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1149" y="857399"/>
            <a:ext cx="3301961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#1: знакомство с брендом Эмпилс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149" y="983400"/>
            <a:ext cx="3301961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7B6FA8"/>
                </a:solidFill>
                <a:latin typeface="Roboto Mono"/>
              </a:rPr>
              <a:t>День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150" y="749400"/>
            <a:ext cx="74844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1200" b="1" dirty="0" smtClean="0">
                <a:solidFill>
                  <a:srgbClr val="7B6FA8"/>
                </a:solidFill>
                <a:latin typeface="Roboto Mono"/>
              </a:rPr>
              <a:t>5</a:t>
            </a:r>
            <a:r>
              <a:rPr sz="1200" b="1" dirty="0" smtClean="0">
                <a:solidFill>
                  <a:srgbClr val="7B6FA8"/>
                </a:solidFill>
                <a:latin typeface="Roboto Mono"/>
              </a:rPr>
              <a:t>%</a:t>
            </a:r>
            <a:endParaRPr sz="1200" b="1" dirty="0">
              <a:solidFill>
                <a:srgbClr val="7B6FA8"/>
              </a:solidFill>
              <a:latin typeface="Roboto Mono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89150" y="911400"/>
            <a:ext cx="748444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 dirty="0" err="1">
                <a:solidFill>
                  <a:srgbClr val="8A95A3"/>
                </a:solidFill>
                <a:latin typeface="Inter"/>
              </a:rPr>
              <a:t>узнаваемость</a:t>
            </a:r>
            <a:endParaRPr sz="7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7" name="Rounded Rectangle 48"/>
          <p:cNvSpPr/>
          <p:nvPr/>
        </p:nvSpPr>
        <p:spPr>
          <a:xfrm>
            <a:off x="233950" y="1199400"/>
            <a:ext cx="527405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49"/>
          <p:cNvSpPr/>
          <p:nvPr/>
        </p:nvSpPr>
        <p:spPr>
          <a:xfrm>
            <a:off x="233949" y="1199400"/>
            <a:ext cx="45719" cy="558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50"/>
          <p:cNvSpPr/>
          <p:nvPr/>
        </p:nvSpPr>
        <p:spPr>
          <a:xfrm>
            <a:off x="323949" y="1307400"/>
            <a:ext cx="396235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B8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3949" y="1361400"/>
            <a:ext cx="396235" cy="21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6B8FA8"/>
                </a:solidFill>
                <a:latin typeface="Roboto Mon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149" y="1289400"/>
            <a:ext cx="330196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50">
                <a:solidFill>
                  <a:srgbClr val="2F3A48"/>
                </a:solidFill>
                <a:latin typeface="Inter"/>
              </a:rPr>
              <a:t>ИНФОРМАЦИОННОЕ ПРИСУТСТВИЕ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149" y="1451399"/>
            <a:ext cx="3301961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#2-3: каталог, кейсы, преимущества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1149" y="1577400"/>
            <a:ext cx="3301961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6B8FA8"/>
                </a:solidFill>
                <a:latin typeface="Roboto Mono"/>
              </a:rPr>
              <a:t>Месяц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9150" y="1343400"/>
            <a:ext cx="74844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6B8FA8"/>
                </a:solidFill>
                <a:latin typeface="Roboto Mono"/>
              </a:rPr>
              <a:t>15%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150" y="1505400"/>
            <a:ext cx="748444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>
                <a:solidFill>
                  <a:srgbClr val="8A95A3"/>
                </a:solidFill>
                <a:latin typeface="Inter"/>
              </a:rPr>
              <a:t>узнаваемость</a:t>
            </a:r>
          </a:p>
        </p:txBody>
      </p:sp>
      <p:sp>
        <p:nvSpPr>
          <p:cNvPr id="26" name="Rounded Rectangle 57"/>
          <p:cNvSpPr/>
          <p:nvPr/>
        </p:nvSpPr>
        <p:spPr>
          <a:xfrm>
            <a:off x="233950" y="1793400"/>
            <a:ext cx="527405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58"/>
          <p:cNvSpPr/>
          <p:nvPr/>
        </p:nvSpPr>
        <p:spPr>
          <a:xfrm>
            <a:off x="233949" y="1793400"/>
            <a:ext cx="45719" cy="558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59"/>
          <p:cNvSpPr/>
          <p:nvPr/>
        </p:nvSpPr>
        <p:spPr>
          <a:xfrm>
            <a:off x="323949" y="1901400"/>
            <a:ext cx="396235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3949" y="1955400"/>
            <a:ext cx="396235" cy="21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9A77C"/>
                </a:solidFill>
                <a:latin typeface="Roboto Mono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1149" y="1883400"/>
            <a:ext cx="330196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50">
                <a:solidFill>
                  <a:srgbClr val="2F3A48"/>
                </a:solidFill>
                <a:latin typeface="Inter"/>
              </a:rPr>
              <a:t>УЗНАВАЕМОСТЬ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1149" y="2045399"/>
            <a:ext cx="3301961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#4-6: отраслевые новости, продукт года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1149" y="2171400"/>
            <a:ext cx="3301961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C9A77C"/>
                </a:solidFill>
                <a:latin typeface="Roboto Mono"/>
              </a:rPr>
              <a:t>Месяц 2-3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9150" y="1937400"/>
            <a:ext cx="74844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C9A77C"/>
                </a:solidFill>
                <a:latin typeface="Roboto Mono"/>
              </a:rPr>
              <a:t>35%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9150" y="2099400"/>
            <a:ext cx="748444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>
                <a:solidFill>
                  <a:srgbClr val="8A95A3"/>
                </a:solidFill>
                <a:latin typeface="Inter"/>
              </a:rPr>
              <a:t>узнаваемость</a:t>
            </a:r>
          </a:p>
        </p:txBody>
      </p:sp>
      <p:sp>
        <p:nvSpPr>
          <p:cNvPr id="35" name="Rounded Rectangle 66"/>
          <p:cNvSpPr/>
          <p:nvPr/>
        </p:nvSpPr>
        <p:spPr>
          <a:xfrm>
            <a:off x="233950" y="2387400"/>
            <a:ext cx="527405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67"/>
          <p:cNvSpPr/>
          <p:nvPr/>
        </p:nvSpPr>
        <p:spPr>
          <a:xfrm>
            <a:off x="233949" y="2387400"/>
            <a:ext cx="45719" cy="5580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68"/>
          <p:cNvSpPr/>
          <p:nvPr/>
        </p:nvSpPr>
        <p:spPr>
          <a:xfrm>
            <a:off x="323949" y="2495400"/>
            <a:ext cx="396235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3949" y="2549400"/>
            <a:ext cx="396235" cy="21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D4A574"/>
                </a:solidFill>
                <a:latin typeface="Roboto Mono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1149" y="2477400"/>
            <a:ext cx="330196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000" b="1" spc="50" dirty="0" smtClean="0">
                <a:solidFill>
                  <a:srgbClr val="2F3A48"/>
                </a:solidFill>
                <a:latin typeface="Inter"/>
              </a:rPr>
              <a:t>ПЕРВИЧНОЕ </a:t>
            </a:r>
            <a:r>
              <a:rPr sz="1000" b="1" spc="50" dirty="0" smtClean="0">
                <a:solidFill>
                  <a:srgbClr val="2F3A48"/>
                </a:solidFill>
                <a:latin typeface="Inter"/>
              </a:rPr>
              <a:t>ДОВЕРИЕ</a:t>
            </a:r>
            <a:endParaRPr sz="1000" b="1" spc="5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71149" y="2639399"/>
            <a:ext cx="3301961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#7-9: отзывы, рейтинги, сертификаты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1149" y="2765400"/>
            <a:ext cx="3301961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D4A574"/>
                </a:solidFill>
                <a:latin typeface="Roboto Mono"/>
              </a:rPr>
              <a:t>Месяц 4-5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9150" y="2531400"/>
            <a:ext cx="74844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1200" b="1" dirty="0" smtClean="0">
                <a:solidFill>
                  <a:srgbClr val="D4A574"/>
                </a:solidFill>
                <a:latin typeface="Roboto Mono"/>
              </a:rPr>
              <a:t>5</a:t>
            </a:r>
            <a:r>
              <a:rPr sz="1200" b="1" dirty="0" smtClean="0">
                <a:solidFill>
                  <a:srgbClr val="D4A574"/>
                </a:solidFill>
                <a:latin typeface="Roboto Mono"/>
              </a:rPr>
              <a:t>0</a:t>
            </a:r>
            <a:r>
              <a:rPr sz="1200" b="1" dirty="0">
                <a:solidFill>
                  <a:srgbClr val="D4A574"/>
                </a:solidFill>
                <a:latin typeface="Roboto Mono"/>
              </a:rPr>
              <a:t>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9150" y="2693400"/>
            <a:ext cx="748444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>
                <a:solidFill>
                  <a:srgbClr val="8A95A3"/>
                </a:solidFill>
                <a:latin typeface="Inter"/>
              </a:rPr>
              <a:t>узнаваемость</a:t>
            </a:r>
          </a:p>
        </p:txBody>
      </p:sp>
      <p:sp>
        <p:nvSpPr>
          <p:cNvPr id="44" name="Text 5"/>
          <p:cNvSpPr/>
          <p:nvPr/>
        </p:nvSpPr>
        <p:spPr>
          <a:xfrm>
            <a:off x="187340" y="3080925"/>
            <a:ext cx="3376660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ru-RU" sz="1200" b="1" dirty="0" smtClean="0"/>
              <a:t>Пример статистики рассылки по региону «Центр» </a:t>
            </a:r>
            <a:endParaRPr lang="en-US" sz="1200" b="1" dirty="0"/>
          </a:p>
        </p:txBody>
      </p:sp>
      <p:sp>
        <p:nvSpPr>
          <p:cNvPr id="45" name="Rectangle 2"/>
          <p:cNvSpPr/>
          <p:nvPr/>
        </p:nvSpPr>
        <p:spPr>
          <a:xfrm>
            <a:off x="257115" y="190001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80711" y="233564"/>
            <a:ext cx="3698766" cy="17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06"/>
              </a:lnSpc>
            </a:pPr>
            <a:r>
              <a:rPr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ПРОЕКТ</a:t>
            </a:r>
            <a:r>
              <a:rPr lang="ru-RU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БЕЛЫЕ ПЯТНА </a:t>
            </a:r>
            <a:endParaRPr sz="12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56688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3515" y="190001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7111" y="233564"/>
            <a:ext cx="3698766" cy="17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06"/>
              </a:lnSpc>
            </a:pPr>
            <a:r>
              <a:rPr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ПРОЕКТ</a:t>
            </a:r>
            <a:r>
              <a:rPr lang="ru-RU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БЕЛЫЕ ПЯТНА </a:t>
            </a:r>
            <a:endParaRPr sz="12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299151" y="172304"/>
            <a:ext cx="160596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48141" y="241798"/>
            <a:ext cx="15459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/>
              <a:t>Q4 2026 · В РАБОТЕ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014" y="554767"/>
            <a:ext cx="8686800" cy="2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0115" y="778715"/>
            <a:ext cx="6071400" cy="36125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0505" y="778715"/>
            <a:ext cx="2860000" cy="35948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70505" y="922736"/>
            <a:ext cx="27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latin typeface="Inter"/>
              </a:rPr>
              <a:t>ГРАФИК ВСТРЕЧ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505" y="1132737"/>
            <a:ext cx="2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latin typeface="Inter"/>
              </a:rPr>
              <a:t>5 </a:t>
            </a:r>
            <a:r>
              <a:rPr sz="900" b="0" dirty="0" err="1">
                <a:latin typeface="Inter"/>
              </a:rPr>
              <a:t>регионов</a:t>
            </a:r>
            <a:r>
              <a:rPr sz="900" b="0" dirty="0">
                <a:latin typeface="Inter"/>
              </a:rPr>
              <a:t> · 5+ </a:t>
            </a:r>
            <a:r>
              <a:rPr sz="900" b="0" dirty="0" err="1">
                <a:latin typeface="Inter"/>
              </a:rPr>
              <a:t>дистрибьюторов</a:t>
            </a:r>
            <a:endParaRPr sz="900" b="0" dirty="0">
              <a:latin typeface="Inter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505" y="13133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41010" y="14196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41010" y="14727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0505" y="14227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Барнаул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0505" y="16227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Алтайский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40505" y="17827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Олимп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40506" y="1422736"/>
            <a:ext cx="1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13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-16.10.2026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70505" y="19507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1010" y="20177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1010" y="20708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0505" y="2020835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Красноярск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0505" y="22208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Красноярский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40505" y="2386735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ООО «ОЧАГ»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81826" y="2020836"/>
            <a:ext cx="95868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05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11.11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70505" y="252981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41010" y="26031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1010" y="26562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0505" y="26062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Улан-Удэ</a:t>
            </a:r>
            <a:endParaRPr sz="1100" b="1" dirty="0">
              <a:latin typeface="Inte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40505" y="28062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Республика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Бурятия</a:t>
            </a:r>
            <a:endParaRPr sz="850" b="0" dirty="0">
              <a:latin typeface="Inter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40505" y="295988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Вегос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-М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547" y="2606237"/>
            <a:ext cx="1176958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19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25.11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70505" y="31342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241010" y="32012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1010" y="32543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0505" y="32043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Омск</a:t>
            </a:r>
            <a:endParaRPr sz="1100" b="1" dirty="0">
              <a:latin typeface="Inte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40505" y="34043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Омская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область</a:t>
            </a:r>
            <a:endParaRPr sz="850" b="0" dirty="0">
              <a:latin typeface="Inte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40505" y="35643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ИП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Шишков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220505" y="32043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 smtClean="0">
                <a:solidFill>
                  <a:srgbClr val="2F3A48"/>
                </a:solidFill>
                <a:latin typeface="Roboto Mono"/>
              </a:rPr>
              <a:t>уточняется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270505" y="37450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241010" y="38120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41010" y="38651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0505" y="38151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Казань</a:t>
            </a:r>
            <a:endParaRPr sz="1100" b="1" dirty="0"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640505" y="40151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Республика Татарстан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40505" y="416923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ТС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Агава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Карат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Колорит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20505" y="38151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>
                <a:solidFill>
                  <a:srgbClr val="2F3A48"/>
                </a:solidFill>
                <a:latin typeface="Roboto Mono"/>
              </a:rPr>
              <a:t>уточняется</a:t>
            </a:r>
          </a:p>
        </p:txBody>
      </p:sp>
      <p:pic>
        <p:nvPicPr>
          <p:cNvPr id="51" name="Picture 10" descr="white_spot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14" y="919468"/>
            <a:ext cx="5800000" cy="34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0000" y="180000"/>
            <a:ext cx="88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Поддержка новых дистрибьюторов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0000"/>
            <a:ext cx="180000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205000"/>
            <a:ext cx="1800000" cy="2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ПРОГРАММА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40000" y="588998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7200" y="900000"/>
            <a:ext cx="6642000" cy="3689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1599" y="1220431"/>
            <a:ext cx="640727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4 ЭТАПА ПОДДЕРЖКИ НОВОГО ДИСТРИБЬЮТОРА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599" y="1451265"/>
            <a:ext cx="640727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 err="1">
                <a:solidFill>
                  <a:srgbClr val="8A95A3"/>
                </a:solidFill>
                <a:latin typeface="Inter"/>
              </a:rPr>
              <a:t>От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подписания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договора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до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первых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продаж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в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новом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регионе</a:t>
            </a:r>
            <a:endParaRPr sz="10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77199" y="1642691"/>
            <a:ext cx="6204087" cy="4690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57200" y="2155025"/>
            <a:ext cx="6028922" cy="4690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0570" y="1879598"/>
            <a:ext cx="613078" cy="590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0570" y="2071941"/>
            <a:ext cx="613078" cy="2210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200" y="2578248"/>
            <a:ext cx="1452492" cy="157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9" y="3194095"/>
            <a:ext cx="1364909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50" dirty="0" smtClean="0">
                <a:solidFill>
                  <a:srgbClr val="8A95A3"/>
                </a:solidFill>
                <a:latin typeface="Inter"/>
              </a:rPr>
              <a:t>Согласование и подписание договора</a:t>
            </a:r>
            <a:endParaRPr sz="9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241910" y="1878810"/>
            <a:ext cx="613078" cy="590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241910" y="2071153"/>
            <a:ext cx="613078" cy="2210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50680" y="2565548"/>
            <a:ext cx="1452492" cy="157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ВЫСТАВКА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3940" y="2882432"/>
            <a:ext cx="1452492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15- 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30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963939" y="3176575"/>
            <a:ext cx="1364909" cy="449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Совместное участие Дистрибьютор + Эмпилс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4050" y="1873292"/>
            <a:ext cx="613078" cy="590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34050" y="2065635"/>
            <a:ext cx="613078" cy="2210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58540" y="2578248"/>
            <a:ext cx="1452492" cy="157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0680" y="2882432"/>
            <a:ext cx="1452492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—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9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410679" y="3176575"/>
            <a:ext cx="1364909" cy="449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Выездное обучение с упором на продажи ФТМ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00790" y="1879598"/>
            <a:ext cx="613078" cy="590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00790" y="2071941"/>
            <a:ext cx="613078" cy="2210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2F3A48"/>
                </a:solidFill>
                <a:latin typeface="Roboto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17420" y="2578248"/>
            <a:ext cx="1452492" cy="157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7420" y="2882432"/>
            <a:ext cx="1452492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>
                <a:solidFill>
                  <a:srgbClr val="C9A77C"/>
                </a:solidFill>
                <a:latin typeface="Roboto Mono"/>
              </a:rPr>
              <a:t>0—90 дней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7419" y="3180380"/>
            <a:ext cx="1364909" cy="299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Мониторинг · KPI · Корректировка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7199" y="4090813"/>
            <a:ext cx="6204087" cy="4690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84397" y="2892432"/>
            <a:ext cx="1452492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-15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54" name="Rounded Rectangle 6"/>
          <p:cNvSpPr/>
          <p:nvPr/>
        </p:nvSpPr>
        <p:spPr>
          <a:xfrm>
            <a:off x="7034400" y="921600"/>
            <a:ext cx="1747668" cy="3689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127034" y="1488803"/>
            <a:ext cx="1562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000" dirty="0" smtClean="0">
                <a:latin typeface="Inter"/>
              </a:rPr>
              <a:t>Возможные выставки</a:t>
            </a:r>
            <a:endParaRPr sz="1000" b="0" dirty="0">
              <a:latin typeface="Inter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127034" y="1939245"/>
            <a:ext cx="1562400" cy="1384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000" dirty="0" smtClean="0">
                <a:latin typeface="Inter"/>
              </a:rPr>
              <a:t>1. Казань</a:t>
            </a:r>
            <a:r>
              <a:rPr lang="ru-RU" sz="1000" dirty="0">
                <a:latin typeface="Inter"/>
              </a:rPr>
              <a:t>, Казань </a:t>
            </a:r>
            <a:r>
              <a:rPr lang="ru-RU" sz="1000" dirty="0" smtClean="0">
                <a:latin typeface="Inter"/>
              </a:rPr>
              <a:t>Экспо</a:t>
            </a:r>
          </a:p>
          <a:p>
            <a:endParaRPr lang="ru-RU" sz="1000" dirty="0" smtClean="0">
              <a:latin typeface="Inter"/>
            </a:endParaRPr>
          </a:p>
          <a:p>
            <a:r>
              <a:rPr lang="ru-RU" sz="1000" dirty="0" smtClean="0">
                <a:latin typeface="Inter"/>
              </a:rPr>
              <a:t>2. Новосибирск</a:t>
            </a:r>
            <a:r>
              <a:rPr lang="ru-RU" sz="1000" dirty="0">
                <a:latin typeface="Inter"/>
              </a:rPr>
              <a:t>, Сибирская строительная </a:t>
            </a:r>
            <a:r>
              <a:rPr lang="ru-RU" sz="1000" dirty="0" smtClean="0">
                <a:latin typeface="Inter"/>
              </a:rPr>
              <a:t>неделя</a:t>
            </a:r>
          </a:p>
          <a:p>
            <a:endParaRPr lang="ru-RU" sz="1000" b="0" dirty="0">
              <a:latin typeface="Inter"/>
            </a:endParaRPr>
          </a:p>
          <a:p>
            <a:r>
              <a:rPr lang="ru-RU" sz="1000" dirty="0">
                <a:latin typeface="Inter"/>
              </a:rPr>
              <a:t>3. Нижний Новгород, Российские Дни Дизайна и Архитектуры </a:t>
            </a:r>
            <a:endParaRPr sz="1000" b="0" dirty="0"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788782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80000"/>
            <a:ext cx="7200000" cy="34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Запуск новинок · Стандарт вывода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2000"/>
            <a:ext cx="1800000" cy="280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208800"/>
            <a:ext cx="1800000" cy="23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СТАНДАРТ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" y="547200"/>
            <a:ext cx="8820000" cy="28800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2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264482"/>
              </p:ext>
            </p:extLst>
          </p:nvPr>
        </p:nvGraphicFramePr>
        <p:xfrm>
          <a:off x="180000" y="728700"/>
          <a:ext cx="8819999" cy="2367180"/>
        </p:xfrm>
        <a:graphic>
          <a:graphicData uri="http://schemas.openxmlformats.org/drawingml/2006/table">
            <a:tbl>
              <a:tblPr/>
              <a:tblGrid>
                <a:gridCol w="324000"/>
                <a:gridCol w="1612800"/>
                <a:gridCol w="756000"/>
                <a:gridCol w="561600"/>
                <a:gridCol w="1216800"/>
                <a:gridCol w="1729892"/>
                <a:gridCol w="872969"/>
                <a:gridCol w="872969"/>
                <a:gridCol w="872969"/>
              </a:tblGrid>
              <a:tr h="251999">
                <a:tc>
                  <a:txBody>
                    <a:bodyPr/>
                    <a:lstStyle/>
                    <a:p>
                      <a:pPr algn="ctr"/>
                      <a:r>
                        <a:rPr sz="950" b="1" dirty="0">
                          <a:solidFill>
                            <a:srgbClr val="FFFFFF"/>
                          </a:solidFill>
                          <a:latin typeface="Inter"/>
                        </a:rPr>
                        <a:t>#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FFFFFF"/>
                          </a:solidFill>
                          <a:latin typeface="Inter"/>
                        </a:rPr>
                        <a:t>Новинка</a:t>
                      </a:r>
                      <a:endParaRPr sz="950" b="1" dirty="0">
                        <a:solidFill>
                          <a:srgbClr val="FFFFFF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1" dirty="0" smtClean="0">
                          <a:solidFill>
                            <a:srgbClr val="FFFFFF"/>
                          </a:solidFill>
                          <a:latin typeface="Inter"/>
                        </a:rPr>
                        <a:t>Дата выхода</a:t>
                      </a:r>
                      <a:endParaRPr sz="950" b="1" dirty="0">
                        <a:solidFill>
                          <a:srgbClr val="FFFFFF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dirty="0">
                          <a:solidFill>
                            <a:srgbClr val="FFFFFF"/>
                          </a:solidFill>
                          <a:latin typeface="Inter"/>
                        </a:rPr>
                        <a:t>SKU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Фасовки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Цвета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Первичка (кг)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Вторичка (кг)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АКБ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01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PROFIWOOD </a:t>
                      </a:r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антисептик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кроющий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ВД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950" b="1" dirty="0" smtClean="0">
                          <a:solidFill>
                            <a:srgbClr val="2F3A48"/>
                          </a:solidFill>
                          <a:latin typeface="Inter"/>
                        </a:rPr>
                        <a:t>10.06.2026</a:t>
                      </a:r>
                      <a:endParaRPr sz="950" b="1" dirty="0">
                        <a:solidFill>
                          <a:srgbClr val="2F3A48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14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0.8 л, 2.1 л, 2.4 л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chemeClr val="tx1"/>
                          </a:solidFill>
                          <a:latin typeface="Inter"/>
                        </a:rPr>
                        <a:t>база С, бежевый, белый, горький шоколад, серый туман, сканд. серый, шоколад. мусс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kern="1200" dirty="0">
                          <a:solidFill>
                            <a:srgbClr val="2F3A48"/>
                          </a:solidFill>
                          <a:latin typeface="Roboto Mono"/>
                          <a:ea typeface="+mn-ea"/>
                          <a:cs typeface="+mn-cs"/>
                        </a:rPr>
                        <a:t>1 774.6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F3A48"/>
                          </a:solidFill>
                          <a:latin typeface="Roboto Mono"/>
                        </a:rPr>
                        <a:t>193.6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 smtClean="0">
                          <a:solidFill>
                            <a:srgbClr val="2F3A48"/>
                          </a:solidFill>
                          <a:latin typeface="Roboto Mono"/>
                        </a:rPr>
                        <a:t>24</a:t>
                      </a:r>
                      <a:endParaRPr sz="1000" b="1" dirty="0">
                        <a:solidFill>
                          <a:srgbClr val="2F3A48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02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Ореол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краска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для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плит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OSB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950" b="1" dirty="0" smtClean="0">
                          <a:solidFill>
                            <a:srgbClr val="2F3A48"/>
                          </a:solidFill>
                          <a:latin typeface="Inter"/>
                        </a:rPr>
                        <a:t>22.04.2026</a:t>
                      </a:r>
                      <a:endParaRPr sz="950" b="1" dirty="0">
                        <a:solidFill>
                          <a:srgbClr val="2F3A48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3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1 </a:t>
                      </a:r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кг</a:t>
                      </a:r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, 12 </a:t>
                      </a:r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кг</a:t>
                      </a:r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, 6 </a:t>
                      </a:r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кг</a:t>
                      </a:r>
                      <a:endParaRPr sz="850" b="0" dirty="0">
                        <a:solidFill>
                          <a:schemeClr val="tx1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база</a:t>
                      </a:r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 А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kern="1200" dirty="0">
                          <a:solidFill>
                            <a:srgbClr val="2F3A48"/>
                          </a:solidFill>
                          <a:latin typeface="Roboto Mono"/>
                          <a:ea typeface="+mn-ea"/>
                          <a:cs typeface="+mn-cs"/>
                        </a:rPr>
                        <a:t>7 746.0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1 994.0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 smtClean="0">
                          <a:solidFill>
                            <a:srgbClr val="2F3A48"/>
                          </a:solidFill>
                          <a:latin typeface="Roboto Mono"/>
                        </a:rPr>
                        <a:t>143</a:t>
                      </a:r>
                      <a:endParaRPr sz="1000" b="1" dirty="0">
                        <a:solidFill>
                          <a:srgbClr val="2F3A48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03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NEWTONE ABSOLUTE BLACK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950" b="1" dirty="0" smtClean="0">
                          <a:solidFill>
                            <a:srgbClr val="2F3A48"/>
                          </a:solidFill>
                          <a:latin typeface="Inter"/>
                        </a:rPr>
                        <a:t>21.07.2026</a:t>
                      </a:r>
                      <a:endParaRPr sz="950" b="1" dirty="0">
                        <a:solidFill>
                          <a:srgbClr val="2F3A48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2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chemeClr val="tx1"/>
                          </a:solidFill>
                          <a:latin typeface="Inter"/>
                        </a:rPr>
                        <a:t>10 л, 2.5 л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чёрный</a:t>
                      </a:r>
                      <a:endParaRPr sz="850" b="0" dirty="0">
                        <a:solidFill>
                          <a:schemeClr val="tx1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kern="1200" dirty="0">
                          <a:solidFill>
                            <a:srgbClr val="2F3A48"/>
                          </a:solidFill>
                          <a:latin typeface="Roboto Mono"/>
                          <a:ea typeface="+mn-ea"/>
                          <a:cs typeface="+mn-cs"/>
                        </a:rPr>
                        <a:t>692.9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A95A3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0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04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NEWTONE SKY </a:t>
                      </a:r>
                      <a:r>
                        <a:rPr sz="950" b="1" kern="1200" dirty="0" err="1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потолочная</a:t>
                      </a:r>
                      <a:endParaRPr sz="950" b="1" kern="1200" dirty="0">
                        <a:solidFill>
                          <a:srgbClr val="2F3A48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950" b="1" kern="1200" dirty="0" smtClean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30.06.2026</a:t>
                      </a:r>
                      <a:endParaRPr sz="950" b="1" kern="1200" dirty="0">
                        <a:solidFill>
                          <a:srgbClr val="2F3A48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2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chemeClr val="tx1"/>
                          </a:solidFill>
                          <a:latin typeface="Inter"/>
                        </a:rPr>
                        <a:t>2.5 л, 9 л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ультрабелый</a:t>
                      </a:r>
                      <a:endParaRPr sz="850" b="0" dirty="0">
                        <a:solidFill>
                          <a:schemeClr val="tx1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kern="1200" dirty="0">
                          <a:solidFill>
                            <a:srgbClr val="2F3A48"/>
                          </a:solidFill>
                          <a:latin typeface="Roboto Mono"/>
                          <a:ea typeface="+mn-ea"/>
                          <a:cs typeface="+mn-cs"/>
                        </a:rPr>
                        <a:t>236.5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A95A3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0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05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kern="1200" dirty="0" err="1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Ореол</a:t>
                      </a:r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sz="950" b="1" kern="1200" dirty="0" err="1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краска</a:t>
                      </a:r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sz="950" b="1" kern="1200" dirty="0" err="1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резиновая</a:t>
                      </a:r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950" b="1" kern="1200" dirty="0" smtClean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21.08.2026</a:t>
                      </a:r>
                      <a:endParaRPr sz="950" b="1" kern="1200" dirty="0">
                        <a:solidFill>
                          <a:srgbClr val="2F3A48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4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chemeClr val="tx1"/>
                          </a:solidFill>
                          <a:latin typeface="Inter"/>
                        </a:rPr>
                        <a:t>1.3 кг, 12 кг, 3 кг, 6 кг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база</a:t>
                      </a:r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 А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kern="1200" dirty="0">
                          <a:solidFill>
                            <a:srgbClr val="2F3A48"/>
                          </a:solidFill>
                          <a:latin typeface="Roboto Mono"/>
                          <a:ea typeface="+mn-ea"/>
                          <a:cs typeface="+mn-cs"/>
                        </a:rPr>
                        <a:t>4 276.8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70.6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 smtClean="0">
                          <a:solidFill>
                            <a:srgbClr val="2F3A48"/>
                          </a:solidFill>
                          <a:latin typeface="Roboto Mono"/>
                        </a:rPr>
                        <a:t>4</a:t>
                      </a:r>
                      <a:endParaRPr sz="1000" b="1" dirty="0">
                        <a:solidFill>
                          <a:srgbClr val="2F3A48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ctr"/>
                      <a:endParaRPr sz="1000" b="1" dirty="0">
                        <a:solidFill>
                          <a:srgbClr val="FFFFFF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ИТОГО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000" b="1" dirty="0">
                        <a:solidFill>
                          <a:srgbClr val="FFFFFF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000" b="1" dirty="0">
                        <a:solidFill>
                          <a:srgbClr val="FFFFFF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Roboto Mono"/>
                        </a:rPr>
                        <a:t>14 727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Roboto Mono"/>
                        </a:rPr>
                        <a:t>2 258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000" b="1" dirty="0">
                        <a:solidFill>
                          <a:srgbClr val="FFFFFF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</a:tr>
            </a:tbl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180000" y="3206174"/>
            <a:ext cx="882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СТАНДАРТ ВЫВОДА · 3 ФАЗЫ</a:t>
            </a:r>
          </a:p>
        </p:txBody>
      </p:sp>
      <p:sp>
        <p:nvSpPr>
          <p:cNvPr id="64" name="Rounded Rectangle 9"/>
          <p:cNvSpPr/>
          <p:nvPr/>
        </p:nvSpPr>
        <p:spPr>
          <a:xfrm>
            <a:off x="180000" y="3466500"/>
            <a:ext cx="2808000" cy="154916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10"/>
          <p:cNvSpPr/>
          <p:nvPr/>
        </p:nvSpPr>
        <p:spPr>
          <a:xfrm>
            <a:off x="180000" y="3466500"/>
            <a:ext cx="2808000" cy="21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24000" y="3550044"/>
            <a:ext cx="540000" cy="251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000" y="3596843"/>
            <a:ext cx="198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00" dirty="0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69" name="Rectangle 14"/>
          <p:cNvSpPr/>
          <p:nvPr/>
        </p:nvSpPr>
        <p:spPr>
          <a:xfrm>
            <a:off x="324000" y="3843816"/>
            <a:ext cx="25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324000" y="3914031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4000" y="3921231"/>
            <a:ext cx="241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Анализ рынка и конкурентов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4000" y="4050831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4000" y="4080702"/>
            <a:ext cx="2412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00" dirty="0">
                <a:solidFill>
                  <a:srgbClr val="2F3A48"/>
                </a:solidFill>
                <a:latin typeface="Inter"/>
              </a:rPr>
              <a:t>Ценообразование и прогноз</a:t>
            </a:r>
            <a:endParaRPr sz="90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24000" y="4187631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76" name="Rectangle 21"/>
          <p:cNvSpPr/>
          <p:nvPr/>
        </p:nvSpPr>
        <p:spPr>
          <a:xfrm>
            <a:off x="324000" y="4783653"/>
            <a:ext cx="2520000" cy="108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25"/>
          <p:cNvSpPr/>
          <p:nvPr/>
        </p:nvSpPr>
        <p:spPr>
          <a:xfrm>
            <a:off x="3096000" y="3466500"/>
            <a:ext cx="2808000" cy="154916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26"/>
          <p:cNvSpPr/>
          <p:nvPr/>
        </p:nvSpPr>
        <p:spPr>
          <a:xfrm>
            <a:off x="3096000" y="3466500"/>
            <a:ext cx="2808000" cy="216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240000" y="3514044"/>
            <a:ext cx="540000" cy="251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dirty="0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16000" y="3596843"/>
            <a:ext cx="198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00" dirty="0">
                <a:solidFill>
                  <a:srgbClr val="2F3A48"/>
                </a:solidFill>
                <a:latin typeface="Inter"/>
              </a:rPr>
              <a:t>ЗАПУСК</a:t>
            </a:r>
          </a:p>
        </p:txBody>
      </p:sp>
      <p:sp>
        <p:nvSpPr>
          <p:cNvPr id="85" name="Rectangle 30"/>
          <p:cNvSpPr/>
          <p:nvPr/>
        </p:nvSpPr>
        <p:spPr>
          <a:xfrm>
            <a:off x="3240000" y="3843816"/>
            <a:ext cx="25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3240000" y="3946044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48000" y="3911095"/>
            <a:ext cx="24120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900" dirty="0" smtClean="0">
                <a:solidFill>
                  <a:srgbClr val="2F3A48"/>
                </a:solidFill>
                <a:latin typeface="Inter"/>
              </a:rPr>
              <a:t>Дорожная карта: к</a:t>
            </a:r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лассификация РТТ для дистрибуции, региональные квоты по директорам </a:t>
            </a:r>
            <a:endParaRPr sz="90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240000" y="4332999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 smtClean="0">
                <a:solidFill>
                  <a:srgbClr val="C9A77C"/>
                </a:solidFill>
                <a:latin typeface="Inter"/>
              </a:rPr>
              <a:t>·</a:t>
            </a:r>
            <a:endParaRPr sz="1200" b="1" dirty="0">
              <a:solidFill>
                <a:srgbClr val="C9A77C"/>
              </a:solidFill>
              <a:latin typeface="Inter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414000" y="4230819"/>
            <a:ext cx="24120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Подготовка </a:t>
            </a:r>
            <a:r>
              <a:rPr sz="900" b="0" dirty="0" smtClean="0">
                <a:solidFill>
                  <a:srgbClr val="2F3A48"/>
                </a:solidFill>
                <a:latin typeface="Inter"/>
              </a:rPr>
              <a:t>POSM </a:t>
            </a:r>
            <a:r>
              <a:rPr sz="900" b="0" dirty="0">
                <a:solidFill>
                  <a:srgbClr val="2F3A48"/>
                </a:solidFill>
                <a:latin typeface="Inter"/>
              </a:rPr>
              <a:t>в 100% </a:t>
            </a:r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(</a:t>
            </a:r>
            <a:r>
              <a:rPr lang="ru-RU" sz="900" b="0" dirty="0" err="1" smtClean="0">
                <a:solidFill>
                  <a:srgbClr val="2F3A48"/>
                </a:solidFill>
                <a:latin typeface="Inter"/>
              </a:rPr>
              <a:t>выкрасы</a:t>
            </a:r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, руководство по продажам, </a:t>
            </a:r>
            <a:r>
              <a:rPr lang="ru-RU" sz="900" b="0" dirty="0" err="1" smtClean="0">
                <a:solidFill>
                  <a:srgbClr val="2F3A48"/>
                </a:solidFill>
                <a:latin typeface="Inter"/>
              </a:rPr>
              <a:t>планограмма</a:t>
            </a:r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, УТП и т.д.) </a:t>
            </a:r>
            <a:endParaRPr sz="90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2" name="Rectangle 37"/>
          <p:cNvSpPr/>
          <p:nvPr/>
        </p:nvSpPr>
        <p:spPr>
          <a:xfrm>
            <a:off x="3240000" y="4813881"/>
            <a:ext cx="2520000" cy="108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41"/>
          <p:cNvSpPr/>
          <p:nvPr/>
        </p:nvSpPr>
        <p:spPr>
          <a:xfrm>
            <a:off x="6012000" y="3466500"/>
            <a:ext cx="2808000" cy="154916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42"/>
          <p:cNvSpPr/>
          <p:nvPr/>
        </p:nvSpPr>
        <p:spPr>
          <a:xfrm>
            <a:off x="6012000" y="3466500"/>
            <a:ext cx="2808000" cy="216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6156000" y="3514044"/>
            <a:ext cx="540000" cy="251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6B8FA8"/>
                </a:solidFill>
                <a:latin typeface="Roboto Mono"/>
              </a:rPr>
              <a:t>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732000" y="3582443"/>
            <a:ext cx="198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00" dirty="0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101" name="Rectangle 46"/>
          <p:cNvSpPr/>
          <p:nvPr/>
        </p:nvSpPr>
        <p:spPr>
          <a:xfrm>
            <a:off x="6156000" y="3843816"/>
            <a:ext cx="25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6156000" y="3931704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56000" y="4113846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53557" y="4105932"/>
            <a:ext cx="241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 err="1">
                <a:solidFill>
                  <a:srgbClr val="2F3A48"/>
                </a:solidFill>
                <a:latin typeface="Inter"/>
              </a:rPr>
              <a:t>Аналитика</a:t>
            </a:r>
            <a:r>
              <a:rPr sz="900" b="0" dirty="0">
                <a:solidFill>
                  <a:srgbClr val="2F3A48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2F3A48"/>
                </a:solidFill>
                <a:latin typeface="Inter"/>
              </a:rPr>
              <a:t>продаж</a:t>
            </a:r>
            <a:r>
              <a:rPr sz="900" b="0" dirty="0">
                <a:solidFill>
                  <a:srgbClr val="2F3A48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2F3A48"/>
                </a:solidFill>
                <a:latin typeface="Inter"/>
              </a:rPr>
              <a:t>по</a:t>
            </a:r>
            <a:r>
              <a:rPr sz="900" b="0" dirty="0">
                <a:solidFill>
                  <a:srgbClr val="2F3A48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2F3A48"/>
                </a:solidFill>
                <a:latin typeface="Inter"/>
              </a:rPr>
              <a:t>неделе</a:t>
            </a:r>
            <a:endParaRPr sz="90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108" name="Rectangle 53"/>
          <p:cNvSpPr/>
          <p:nvPr/>
        </p:nvSpPr>
        <p:spPr>
          <a:xfrm>
            <a:off x="6156000" y="4806324"/>
            <a:ext cx="2520000" cy="108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46000" y="3938572"/>
            <a:ext cx="2412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Трейд-маркетинговая поддержка</a:t>
            </a:r>
            <a:endParaRPr sz="90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346155" y="4347756"/>
            <a:ext cx="2412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dirty="0" err="1">
                <a:solidFill>
                  <a:srgbClr val="2F3A48"/>
                </a:solidFill>
                <a:latin typeface="Inter"/>
              </a:rPr>
              <a:t>Обучение</a:t>
            </a:r>
            <a:r>
              <a:rPr sz="900" dirty="0">
                <a:solidFill>
                  <a:srgbClr val="2F3A48"/>
                </a:solidFill>
                <a:latin typeface="Inter"/>
              </a:rPr>
              <a:t> ТП</a:t>
            </a:r>
            <a:r>
              <a:rPr lang="ru-RU" sz="900" dirty="0">
                <a:solidFill>
                  <a:srgbClr val="2F3A48"/>
                </a:solidFill>
                <a:latin typeface="Inter"/>
              </a:rPr>
              <a:t> ОП</a:t>
            </a:r>
            <a:r>
              <a:rPr sz="900" dirty="0">
                <a:solidFill>
                  <a:srgbClr val="2F3A48"/>
                </a:solidFill>
                <a:latin typeface="Inter"/>
              </a:rPr>
              <a:t>: 350 </a:t>
            </a:r>
            <a:r>
              <a:rPr sz="900" dirty="0" err="1">
                <a:solidFill>
                  <a:srgbClr val="2F3A48"/>
                </a:solidFill>
                <a:latin typeface="Inter"/>
              </a:rPr>
              <a:t>человек</a:t>
            </a:r>
            <a:endParaRPr sz="900" dirty="0">
              <a:solidFill>
                <a:srgbClr val="2F3A48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334007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20650" y="520700"/>
            <a:ext cx="72263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2200" b="1" dirty="0" smtClean="0">
                <a:solidFill>
                  <a:srgbClr val="2F3A48"/>
                </a:solidFill>
                <a:latin typeface="Inter"/>
              </a:rPr>
              <a:t>Выход в сегмент </a:t>
            </a:r>
            <a:r>
              <a:rPr sz="2200" b="1" dirty="0" err="1" smtClean="0">
                <a:solidFill>
                  <a:srgbClr val="2F3A48"/>
                </a:solidFill>
                <a:latin typeface="Inter"/>
              </a:rPr>
              <a:t>жилищного</a:t>
            </a:r>
            <a:r>
              <a:rPr sz="2200" b="1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2200" b="1" dirty="0" err="1">
                <a:solidFill>
                  <a:srgbClr val="2F3A48"/>
                </a:solidFill>
                <a:latin typeface="Inter"/>
              </a:rPr>
              <a:t>строительства</a:t>
            </a:r>
            <a:endParaRPr sz="2200" b="1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270750" y="139065"/>
            <a:ext cx="1601590" cy="2686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97750" y="190649"/>
            <a:ext cx="13689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 smtClean="0">
                <a:solidFill>
                  <a:srgbClr val="C9A77C"/>
                </a:solidFill>
                <a:latin typeface="Inter"/>
              </a:rPr>
              <a:t>В </a:t>
            </a:r>
            <a:r>
              <a:rPr sz="1000" b="1" spc="150" dirty="0">
                <a:solidFill>
                  <a:srgbClr val="C9A77C"/>
                </a:solidFill>
                <a:latin typeface="Inter"/>
              </a:rPr>
              <a:t>РАБОТЕ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56" y="45339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200" y="962590"/>
            <a:ext cx="6066960" cy="39754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200" y="1217915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АССОРТИМЕНТ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00" y="1457915"/>
            <a:ext cx="5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dirty="0">
                <a:solidFill>
                  <a:srgbClr val="8A95A3"/>
                </a:solidFill>
                <a:latin typeface="Inter"/>
              </a:rPr>
              <a:t>25 SKU · 3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уровня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цен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· 9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зон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жилого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 smtClean="0">
                <a:solidFill>
                  <a:srgbClr val="8A95A3"/>
                </a:solidFill>
                <a:latin typeface="Inter"/>
              </a:rPr>
              <a:t>здания</a:t>
            </a:r>
            <a:r>
              <a:rPr lang="ru-RU" sz="900" dirty="0">
                <a:solidFill>
                  <a:srgbClr val="8A95A3"/>
                </a:solidFill>
                <a:latin typeface="Inter"/>
              </a:rPr>
              <a:t>. Все продукты сертифицированы по ФЗ-123 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200" y="1657915"/>
            <a:ext cx="590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1200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1200" y="1902690"/>
            <a:ext cx="1888986" cy="5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1200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200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БЮДЖЕТ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00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 ДИСКОНТ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00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1200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0186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1200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0186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00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0186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00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1200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0186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00000"/>
                </a:solidFill>
                <a:latin typeface="Roboto Mono"/>
              </a:rPr>
              <a:t>11 SKU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50186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50186" y="1902690"/>
            <a:ext cx="1888986" cy="5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230186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0186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СРЕДНИЙ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0186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30186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230186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9172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0186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9172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0186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9172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30186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230186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9172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9A77C"/>
                </a:solidFill>
                <a:latin typeface="Roboto Mono"/>
              </a:rPr>
              <a:t>8 SKU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9172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59172" y="1902690"/>
            <a:ext cx="1888986" cy="5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39172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9172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ПРЕМИУМ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9172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NEWTONE · AVANTGARDE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39172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48158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9172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8158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39172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8158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39172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239172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8158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2F3A48"/>
                </a:solidFill>
                <a:latin typeface="Roboto Mono"/>
              </a:rPr>
              <a:t>6 SKU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94040" y="962590"/>
            <a:ext cx="2860320" cy="394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6254040" y="110259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54040" y="1152590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74040" y="158623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6254040" y="1654338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54040" y="1704338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74040" y="243548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254040" y="250264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54040" y="255264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74040" y="325839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6254040" y="3366486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54040" y="3416486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4040" y="1004851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Каталог / портфолио - ц</a:t>
            </a:r>
            <a:r>
              <a:rPr sz="1100" b="1" dirty="0" err="1" smtClean="0">
                <a:latin typeface="Inter"/>
              </a:rPr>
              <a:t>елевая</a:t>
            </a:r>
            <a:r>
              <a:rPr sz="1100" b="1" dirty="0" smtClean="0">
                <a:latin typeface="Inter"/>
              </a:rPr>
              <a:t> </a:t>
            </a:r>
            <a:r>
              <a:rPr sz="1100" b="1" dirty="0" err="1">
                <a:latin typeface="Inter"/>
              </a:rPr>
              <a:t>аудитория</a:t>
            </a:r>
            <a:endParaRPr sz="1100" b="1" dirty="0"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614040" y="1368201"/>
            <a:ext cx="23603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</a:t>
            </a:r>
            <a:r>
              <a:rPr sz="850" b="0" dirty="0" err="1" smtClean="0">
                <a:solidFill>
                  <a:srgbClr val="2F3A48"/>
                </a:solidFill>
                <a:latin typeface="Inter"/>
              </a:rPr>
              <a:t>рорабы</a:t>
            </a:r>
            <a:r>
              <a:rPr sz="850" b="0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850" b="0" dirty="0">
                <a:solidFill>
                  <a:srgbClr val="2F3A48"/>
                </a:solidFill>
                <a:latin typeface="Inter"/>
              </a:rPr>
              <a:t>· ИТР · </a:t>
            </a:r>
            <a:r>
              <a:rPr sz="850" b="0" dirty="0" err="1">
                <a:solidFill>
                  <a:srgbClr val="2F3A48"/>
                </a:solidFill>
                <a:latin typeface="Inter"/>
              </a:rPr>
              <a:t>технадзор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614040" y="1634688"/>
            <a:ext cx="230000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 smtClean="0">
                <a:latin typeface="Inter"/>
              </a:rPr>
              <a:t>Анализ создания специализированной линейки </a:t>
            </a:r>
            <a:r>
              <a:rPr lang="en-US" sz="1100" b="1" dirty="0">
                <a:latin typeface="Inter"/>
              </a:rPr>
              <a:t>Professional</a:t>
            </a:r>
            <a:endParaRPr sz="1100" b="1" dirty="0">
              <a:latin typeface="Inter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274040" y="2198228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Цена – характеристики – выгоды преимущество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614040" y="2473313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>
                <a:latin typeface="Inter"/>
              </a:rPr>
              <a:t>Гранд-Смета и Смета </a:t>
            </a:r>
            <a:r>
              <a:rPr lang="ru-RU" sz="1100" b="1" dirty="0" err="1">
                <a:latin typeface="Inter"/>
              </a:rPr>
              <a:t>Визард</a:t>
            </a:r>
            <a:r>
              <a:rPr lang="ru-RU" sz="1100" b="1" dirty="0">
                <a:latin typeface="Inter"/>
              </a:rPr>
              <a:t> (</a:t>
            </a:r>
            <a:r>
              <a:rPr lang="ru-RU" sz="1100" b="1" dirty="0" err="1">
                <a:latin typeface="Inter"/>
              </a:rPr>
              <a:t>SmetaWIZARD</a:t>
            </a:r>
            <a:r>
              <a:rPr lang="ru-RU" sz="1100" b="1" dirty="0">
                <a:latin typeface="Inter"/>
              </a:rPr>
              <a:t>) </a:t>
            </a:r>
            <a:endParaRPr sz="1100" b="1" dirty="0">
              <a:latin typeface="Inter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74740" y="2902490"/>
            <a:ext cx="26393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00" dirty="0" smtClean="0"/>
              <a:t>Комплексы </a:t>
            </a:r>
            <a:r>
              <a:rPr lang="ru-RU" sz="900" dirty="0"/>
              <a:t>для автоматизации сметных расчётов в строительстве.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638660" y="3321537"/>
            <a:ext cx="23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Сертификация систем </a:t>
            </a:r>
            <a:endParaRPr sz="1100" b="1" dirty="0">
              <a:latin typeface="Inter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638660" y="3551537"/>
            <a:ext cx="236032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Получение сертификатов подтверждения срока служб использования систем для застройщиков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80" name="Rectangle 90"/>
          <p:cNvSpPr/>
          <p:nvPr/>
        </p:nvSpPr>
        <p:spPr>
          <a:xfrm>
            <a:off x="6286350" y="422241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286350" y="4006554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850" dirty="0" smtClean="0">
                <a:solidFill>
                  <a:srgbClr val="2F3A48"/>
                </a:solidFill>
                <a:latin typeface="Inter"/>
              </a:rPr>
              <a:t>Грунт – Шпатлевка – Грунт – Краска / Эмаль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9306" y="140000"/>
            <a:ext cx="628629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dirty="0" err="1">
                <a:solidFill>
                  <a:srgbClr val="2F3A48"/>
                </a:solidFill>
                <a:latin typeface="Inter"/>
              </a:rPr>
              <a:t>Развитие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категории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ВД-ЛКМ в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дистрибуции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000" y="1100000"/>
            <a:ext cx="190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Проект расширения ассортимента и роста водно-дисперсионных материалов в дистрибуционном канале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16450" y="159050"/>
            <a:ext cx="209895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41850" y="223100"/>
            <a:ext cx="20100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>
                <a:solidFill>
                  <a:srgbClr val="C9A77C"/>
                </a:solidFill>
                <a:latin typeface="Inter"/>
              </a:rPr>
              <a:t>2027 · ПЛАН · ПРОЕКТ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143256" y="116425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675450"/>
            <a:ext cx="6066000" cy="397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200" y="815450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ПЛАН ДЕЙСТВИЙ · 6 НАПРАВЛЕНИЙ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200" y="1045450"/>
            <a:ext cx="5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Ассортимент · Ценообразование · Промо · Обучение · Контент · Контроль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200" y="1265450"/>
            <a:ext cx="5786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1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01200" y="1375450"/>
            <a:ext cx="1862000" cy="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АССОРТИМЕНТ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Расширение SKU · новые сегменты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1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Новые позиции ВД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3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+8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Грунтовки deep-wood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3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Архит. покрытия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3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Спец. средства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3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1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Inter"/>
              </a:rPr>
              <a:t>+8 SKU к концу 2027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63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63200" y="1375450"/>
            <a:ext cx="1862000" cy="4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43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33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МОТИВАЦИЯ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3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Программа для дистрибьюторов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3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43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Ретро-бонус ВД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5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3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Кэшбек на NEWTONE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5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3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Бонус за MML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45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3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Стартовый набор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45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3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243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9A77C"/>
                </a:solidFill>
                <a:latin typeface="Inter"/>
              </a:rPr>
              <a:t>До 10% совокупно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25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25200" y="1375450"/>
            <a:ext cx="1862000" cy="4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05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5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Сертификация ТП и РМ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5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05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Регионов в плане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7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5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ТП обучено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7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5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РМ сертифиц.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7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5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Вебинаров/год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7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5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05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F3A48"/>
                </a:solidFill>
                <a:latin typeface="Inter"/>
              </a:rPr>
              <a:t>+150% к 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1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201200" y="2972650"/>
            <a:ext cx="1862000" cy="40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81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Roboto Mono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1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POSM·МЕРЧАНД.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1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Брендированные зоны ВД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1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81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РТТ с зоной ВД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83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Стойки на 8 SKU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83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1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solidFill>
                  <a:srgbClr val="8A95A3"/>
                </a:solidFill>
                <a:latin typeface="Inter"/>
              </a:rPr>
              <a:t>Шелфтокеры</a:t>
            </a:r>
            <a:endParaRPr sz="8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383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1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Тестеры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3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1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81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B8FA8"/>
                </a:solidFill>
                <a:latin typeface="Inter"/>
              </a:rPr>
              <a:t>120 РТТ · 2027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163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2163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243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33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КОНТЕНТ·РК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43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Продвижение ВД-категории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43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243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Видео для ТП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45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3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VK·Яндекс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45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43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Блогеры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5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43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SEO·контент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45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43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243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Охват 2M+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25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4125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205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95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ТРЕЙД-МАРКЕТИНГ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5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Промоакции и акции в точках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05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205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Промо/квартал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07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05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Скидка при входе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7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05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Подарок за покупку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07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05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Кросс-промо TITAN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07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05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205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8 промо · 2027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1200" y="4269850"/>
            <a:ext cx="5786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Бюджет проекта 2027 — 1,8 млн ₽ · ROI 3,2× · срок окупаемости 14 месяцев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195600" y="675450"/>
            <a:ext cx="2862000" cy="3945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335600" y="815450"/>
            <a:ext cx="258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· 2027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35600" y="1045450"/>
            <a:ext cx="258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Целевые метрики ВД-категории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35600" y="1265450"/>
            <a:ext cx="258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6255600" y="141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255600" y="146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15600" y="142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Доля ВД в MML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615600" y="164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28% → 42%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237600" y="142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8237600" y="145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+14 п.п.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75600" y="192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255600" y="195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255600" y="200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615600" y="196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Первичка ВД (т)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615600" y="218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1 200 → 2 000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237600" y="196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8237600" y="199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+67%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75600" y="246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6255600" y="249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255600" y="254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9A77C"/>
                </a:solidFill>
                <a:latin typeface="Inter"/>
              </a:rPr>
              <a:t>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615600" y="250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РТТ с ВД-зоной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615600" y="272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180 → 350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237600" y="250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8237600" y="253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Inter"/>
              </a:rPr>
              <a:t>+94%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5600" y="300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6255600" y="303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6255600" y="308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615600" y="304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АКБ ВД в точках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15600" y="326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32% → 58%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237600" y="304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237600" y="307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+26 п.п.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75600" y="354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6255600" y="357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55600" y="362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615600" y="358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MML ВД SKU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615600" y="380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33 → 41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237600" y="358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8237600" y="361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75600" y="4041050"/>
            <a:ext cx="2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35600" y="4101050"/>
            <a:ext cx="2582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Цель — удвоение доли ВД-ЛКМ в дистрибуционном канале к концу 2027 года</a:t>
            </a:r>
          </a:p>
        </p:txBody>
      </p:sp>
    </p:spTree>
    <p:extLst>
      <p:ext uri="{BB962C8B-B14F-4D97-AF65-F5344CB8AC3E}">
        <p14:creationId xmlns:p14="http://schemas.microsoft.com/office/powerpoint/2010/main" val="176966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2F3A48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748</TotalTime>
  <Words>1423</Words>
  <Application>Microsoft Office PowerPoint</Application>
  <PresentationFormat>Экран (16:9)</PresentationFormat>
  <Paragraphs>503</Paragraphs>
  <Slides>10</Slides>
  <Notes>2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Заколодний Роман Александрович</cp:lastModifiedBy>
  <cp:revision>149</cp:revision>
  <cp:lastPrinted>2026-10-07T10:44:29Z</cp:lastPrinted>
  <dcterms:created xsi:type="dcterms:W3CDTF">2026-10-01T12:44:52Z</dcterms:created>
  <dcterms:modified xsi:type="dcterms:W3CDTF">2026-10-07T10:44:30Z</dcterms:modified>
</cp:coreProperties>
</file>