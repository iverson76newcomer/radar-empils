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67" r:id="rId2"/>
    <p:sldId id="256" r:id="rId3"/>
    <p:sldId id="261" r:id="rId4"/>
    <p:sldId id="259" r:id="rId5"/>
    <p:sldId id="257" r:id="rId6"/>
    <p:sldId id="269" r:id="rId7"/>
    <p:sldId id="264" r:id="rId8"/>
    <p:sldId id="268" r:id="rId9"/>
    <p:sldId id="258" r:id="rId10"/>
    <p:sldId id="260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6897" autoAdjust="0"/>
    <p:restoredTop sz="88101" autoAdjust="0"/>
  </p:normalViewPr>
  <p:slideViewPr>
    <p:cSldViewPr snapToGrid="0" snapToObjects="1">
      <p:cViewPr varScale="1">
        <p:scale>
          <a:sx n="132" d="100"/>
          <a:sy n="132" d="100"/>
        </p:scale>
        <p:origin x="-930" y="-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BEEA3-D4FA-4FB4-A72C-31DD37E08AF9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Рейтинг</a:t>
            </a:r>
            <a:r>
              <a:rPr lang="ru-RU" sz="1200" b="1" i="0" baseline="0" dirty="0" smtClean="0">
                <a:solidFill>
                  <a:srgbClr val="6B7280"/>
                </a:solidFill>
                <a:latin typeface="Arial"/>
              </a:rPr>
              <a:t> по бренду компании</a:t>
            </a: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: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API, сентябрь 2026. Метод: брендовые запросы по компаниям (название + «краска» / «компания» / «производитель»). Для каждой компании взят максимальный показатель.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Эмпилс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= 2 966 запросов/мес.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Рейтинг по бренду</a:t>
            </a:r>
            <a:r>
              <a:rPr lang="ru-RU" sz="1200" b="1" i="0" baseline="0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en-US" sz="1200" b="1" i="0" baseline="0" dirty="0" smtClean="0">
                <a:solidFill>
                  <a:srgbClr val="6B7280"/>
                </a:solidFill>
                <a:latin typeface="Arial"/>
              </a:rPr>
              <a:t>TITAN</a:t>
            </a: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: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Сумма 7 одинаковых запросов |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API, сентябрь 2026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5"/>
          <p:cNvSpPr/>
          <p:nvPr/>
        </p:nvSpPr>
        <p:spPr>
          <a:xfrm>
            <a:off x="280800" y="1219328"/>
            <a:ext cx="79200" cy="23004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61600" y="1391966"/>
            <a:ext cx="7498799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dirty="0" err="1">
                <a:latin typeface="Inter"/>
              </a:rPr>
              <a:t>Дорога</a:t>
            </a:r>
            <a:r>
              <a:rPr sz="4400" b="1" dirty="0">
                <a:latin typeface="Inter"/>
              </a:rPr>
              <a:t> к </a:t>
            </a:r>
            <a:r>
              <a:rPr sz="4400" b="1" dirty="0" err="1">
                <a:latin typeface="Inter"/>
              </a:rPr>
              <a:t>лидерству</a:t>
            </a:r>
            <a:endParaRPr sz="4400" b="1" dirty="0">
              <a:latin typeface="Inter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61600" y="2309966"/>
            <a:ext cx="7498799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0" dirty="0" smtClean="0">
                <a:latin typeface="Inter"/>
              </a:rPr>
              <a:t>Q3-Q4</a:t>
            </a:r>
          </a:p>
          <a:p>
            <a:pPr algn="l"/>
            <a:r>
              <a:rPr sz="1800" b="0" dirty="0" err="1" smtClean="0">
                <a:latin typeface="Inter"/>
              </a:rPr>
              <a:t>Про</a:t>
            </a:r>
            <a:r>
              <a:rPr lang="ru-RU" sz="1800" b="0" dirty="0" err="1" smtClean="0">
                <a:latin typeface="Inter"/>
              </a:rPr>
              <a:t>екты</a:t>
            </a:r>
            <a:r>
              <a:rPr lang="ru-RU" sz="1800" b="0" dirty="0" smtClean="0">
                <a:latin typeface="Inter"/>
              </a:rPr>
              <a:t> развития</a:t>
            </a:r>
            <a:endParaRPr sz="1800" b="0" dirty="0">
              <a:latin typeface="Inter"/>
            </a:endParaRPr>
          </a:p>
        </p:txBody>
      </p:sp>
      <p:sp>
        <p:nvSpPr>
          <p:cNvPr id="88" name="Rectangle 9"/>
          <p:cNvSpPr/>
          <p:nvPr/>
        </p:nvSpPr>
        <p:spPr>
          <a:xfrm>
            <a:off x="0" y="4500000"/>
            <a:ext cx="9144000" cy="14400"/>
          </a:xfrm>
          <a:prstGeom prst="rect">
            <a:avLst/>
          </a:prstGeom>
          <a:solidFill>
            <a:srgbClr val="44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01600" y="4615362"/>
            <a:ext cx="450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rgbClr val="8A95A3"/>
                </a:solidFill>
                <a:latin typeface="Inter"/>
              </a:rPr>
              <a:t>ЗАО «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Эмпилс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» </a:t>
            </a:r>
            <a:endParaRPr lang="en-US" sz="900" b="0" dirty="0" smtClean="0">
              <a:solidFill>
                <a:srgbClr val="8A95A3"/>
              </a:solidFill>
              <a:latin typeface="Inter"/>
            </a:endParaRPr>
          </a:p>
          <a:p>
            <a:pPr algn="l"/>
            <a:r>
              <a:rPr sz="900" b="0" dirty="0" err="1" smtClean="0">
                <a:solidFill>
                  <a:srgbClr val="8A95A3"/>
                </a:solidFill>
                <a:latin typeface="Inter"/>
              </a:rPr>
              <a:t>Ростов-на-Дону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22557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68831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1851318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1736147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2236558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139" name="Text 38"/>
          <p:cNvSpPr/>
          <p:nvPr/>
        </p:nvSpPr>
        <p:spPr>
          <a:xfrm>
            <a:off x="1980940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1745135"/>
            <a:ext cx="1642990" cy="507705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Видеоролики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_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регионов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~350 ТП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ОП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2127437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2138578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16894" y="1944865"/>
            <a:ext cx="1684474" cy="1388735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06191" y="1993951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06191" y="2205216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61334" y="2332758"/>
            <a:ext cx="1626351" cy="957642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Запуск видеоканала 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идео) </a:t>
            </a:r>
            <a:endParaRPr lang="en-US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6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06191" y="2744658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06191" y="2874473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13477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1396800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16207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1757836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2257793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225969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2261164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1347714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1396800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1620765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1778456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2092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45924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60249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06883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31887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212" y="5090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492846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17849" y="4911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32174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478808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03812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18137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6477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489774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1364395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1382092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1382621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1400318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07767" y="1976980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01117" y="1994677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1391627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1387330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1377095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1399128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22418" y="654341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11715" y="703427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11715" y="889292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6858" y="1013434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Специализированные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стойки для размещения в РТТ</a:t>
            </a: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Трейд – маркетинговая поддержка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11715" y="1425334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11715" y="1555149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13291" y="686456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6641" y="704153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998" y="2668158"/>
            <a:ext cx="3197920" cy="235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7495" y="2673449"/>
            <a:ext cx="2950907" cy="23536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Тройная стрелка влево/вправо/вверх 5"/>
          <p:cNvSpPr/>
          <p:nvPr/>
        </p:nvSpPr>
        <p:spPr>
          <a:xfrm>
            <a:off x="3701745" y="3458850"/>
            <a:ext cx="1756575" cy="676800"/>
          </a:xfrm>
          <a:prstGeom prst="leftRightUp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3547591" y="4332700"/>
            <a:ext cx="20405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Влияние на новых дилеров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615994"/>
            <a:ext cx="3438289" cy="3352709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1660171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4" name="Text 34"/>
          <p:cNvSpPr/>
          <p:nvPr/>
        </p:nvSpPr>
        <p:spPr>
          <a:xfrm>
            <a:off x="276901" y="870000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55479" y="881395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41217" y="874589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57717" y="1732201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72808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>
              <a:latin typeface="+mj-lt"/>
            </a:endParaRPr>
          </a:p>
        </p:txBody>
      </p:sp>
      <p:sp>
        <p:nvSpPr>
          <p:cNvPr id="9" name="Text 39"/>
          <p:cNvSpPr/>
          <p:nvPr/>
        </p:nvSpPr>
        <p:spPr>
          <a:xfrm>
            <a:off x="257717" y="190253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904357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900" b="1" dirty="0" smtClean="0">
                <a:latin typeface="+mj-lt"/>
                <a:ea typeface="Carlito" pitchFamily="34" charset="-122"/>
                <a:cs typeface="Carlito" pitchFamily="34" charset="-120"/>
              </a:rPr>
              <a:t>6 экранов</a:t>
            </a:r>
            <a:endParaRPr lang="en-US" sz="900" b="1" dirty="0">
              <a:latin typeface="+mj-lt"/>
            </a:endParaRPr>
          </a:p>
        </p:txBody>
      </p:sp>
      <p:sp>
        <p:nvSpPr>
          <p:cNvPr id="12" name="Text 42"/>
          <p:cNvSpPr/>
          <p:nvPr/>
        </p:nvSpPr>
        <p:spPr>
          <a:xfrm>
            <a:off x="257717" y="207926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2081540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>
              <a:latin typeface="+mj-lt"/>
            </a:endParaRPr>
          </a:p>
        </p:txBody>
      </p:sp>
      <p:sp>
        <p:nvSpPr>
          <p:cNvPr id="14" name="Text 44"/>
          <p:cNvSpPr/>
          <p:nvPr/>
        </p:nvSpPr>
        <p:spPr>
          <a:xfrm>
            <a:off x="257717" y="225599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2259617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>
              <a:latin typeface="+mj-lt"/>
            </a:endParaRPr>
          </a:p>
        </p:txBody>
      </p:sp>
      <p:sp>
        <p:nvSpPr>
          <p:cNvPr id="16" name="Text 46"/>
          <p:cNvSpPr/>
          <p:nvPr/>
        </p:nvSpPr>
        <p:spPr>
          <a:xfrm>
            <a:off x="257717" y="241918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2427852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+mj-lt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>
              <a:latin typeface="+mj-lt"/>
            </a:endParaRPr>
          </a:p>
        </p:txBody>
      </p:sp>
      <p:sp>
        <p:nvSpPr>
          <p:cNvPr id="18" name="Text 48"/>
          <p:cNvSpPr/>
          <p:nvPr/>
        </p:nvSpPr>
        <p:spPr>
          <a:xfrm>
            <a:off x="257717" y="260230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61097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257717" y="279181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780852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>
              <a:latin typeface="+mj-lt"/>
            </a:endParaRPr>
          </a:p>
        </p:txBody>
      </p:sp>
      <p:sp>
        <p:nvSpPr>
          <p:cNvPr id="23" name="Text 53"/>
          <p:cNvSpPr/>
          <p:nvPr/>
        </p:nvSpPr>
        <p:spPr>
          <a:xfrm>
            <a:off x="257717" y="297494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411879" y="2970823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+mj-lt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>
              <a:latin typeface="+mj-lt"/>
            </a:endParaRPr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328425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9" name="Text 54"/>
          <p:cNvSpPr/>
          <p:nvPr/>
        </p:nvSpPr>
        <p:spPr>
          <a:xfrm>
            <a:off x="290423" y="118651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333635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01.010.2026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6969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9011" y="36859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2 экрана</a:t>
            </a:r>
            <a:endParaRPr lang="en-US" sz="900" dirty="0">
              <a:latin typeface="+mj-lt"/>
            </a:endParaRPr>
          </a:p>
        </p:txBody>
      </p:sp>
      <p:sp>
        <p:nvSpPr>
          <p:cNvPr id="36" name="Text 48"/>
          <p:cNvSpPr/>
          <p:nvPr/>
        </p:nvSpPr>
        <p:spPr>
          <a:xfrm>
            <a:off x="276884" y="354601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3529541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228602" y="2833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3" name="Text 2"/>
          <p:cNvSpPr/>
          <p:nvPr/>
        </p:nvSpPr>
        <p:spPr>
          <a:xfrm>
            <a:off x="305885" y="2729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5"/>
          <p:cNvSpPr/>
          <p:nvPr/>
        </p:nvSpPr>
        <p:spPr>
          <a:xfrm>
            <a:off x="1118897" y="2849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5" name="Text 6"/>
          <p:cNvSpPr/>
          <p:nvPr/>
        </p:nvSpPr>
        <p:spPr>
          <a:xfrm>
            <a:off x="7633311" y="2459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51542" y="3142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43141" y="3333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Rectangle 2"/>
          <p:cNvSpPr/>
          <p:nvPr/>
        </p:nvSpPr>
        <p:spPr>
          <a:xfrm>
            <a:off x="1021010" y="2308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11"/>
          <p:cNvSpPr/>
          <p:nvPr/>
        </p:nvSpPr>
        <p:spPr>
          <a:xfrm>
            <a:off x="233763" y="681122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10472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5" name="Text 13"/>
          <p:cNvSpPr/>
          <p:nvPr/>
        </p:nvSpPr>
        <p:spPr>
          <a:xfrm>
            <a:off x="385762" y="8597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8525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8472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1618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11476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4184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4168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~350 ТП</a:t>
            </a:r>
            <a:endParaRPr lang="en-US" sz="800" dirty="0"/>
          </a:p>
        </p:txBody>
      </p:sp>
      <p:sp>
        <p:nvSpPr>
          <p:cNvPr id="32" name="Text 24"/>
          <p:cNvSpPr/>
          <p:nvPr/>
        </p:nvSpPr>
        <p:spPr>
          <a:xfrm>
            <a:off x="385760" y="16014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5871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8849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8706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1577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5165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1. БРОЗЭКС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2. Рыгалов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3. БРОЗЭКС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4. Рыгалов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99496"/>
            <a:ext cx="120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91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4703" y="159902"/>
            <a:ext cx="2504174" cy="48563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775" y="3284511"/>
            <a:ext cx="5499189" cy="17316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56688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Поддержка новых дистрибьюторов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ПРОГРАММА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588998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960000"/>
            <a:ext cx="606696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200" y="1100000"/>
            <a:ext cx="8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4 ЭТАПА ПОДДЕРЖКИ НОВОГО ДИСТРИБЬЮТОРА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200" y="1330000"/>
            <a:ext cx="8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подписания договора до первых продаж в новом регионе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200" y="1540000"/>
            <a:ext cx="566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1200" y="2060334"/>
            <a:ext cx="550696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457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57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20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200" y="3080334"/>
            <a:ext cx="124674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50" dirty="0" smtClean="0">
                <a:solidFill>
                  <a:srgbClr val="8A95A3"/>
                </a:solidFill>
                <a:latin typeface="Inter"/>
              </a:rPr>
              <a:t>Согласование и подписание договора</a:t>
            </a:r>
            <a:endParaRPr sz="9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025910" y="1779546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25910" y="1889546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4680" y="24476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ВЫСТАВКА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794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15- 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30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74794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Совместное участие Дистрибьютор + Эмпилс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8050" y="1774028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18050" y="1884028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254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—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9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9468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Выездное обучение с упором на продажи ФТМ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479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479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142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142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>
                <a:solidFill>
                  <a:srgbClr val="C9A77C"/>
                </a:solidFill>
                <a:latin typeface="Roboto Mono"/>
              </a:rPr>
              <a:t>0—90 дней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2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Мониторинг · KPI · Корректировка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00" y="3993122"/>
            <a:ext cx="566696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195600" y="960000"/>
            <a:ext cx="286200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5600" y="1100000"/>
            <a:ext cx="24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ПРОГРАММЫ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5600" y="1330000"/>
            <a:ext cx="24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Метрики за первые 90 дней работы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5600" y="1540000"/>
            <a:ext cx="246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20536" y="1710000"/>
            <a:ext cx="40000" cy="5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55600" y="172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Roboto Mono"/>
              </a:rPr>
              <a:t>1 выставка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5600" y="201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Профильное мероприятие в регионе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5600" y="218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20536" y="229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55600" y="230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5600" y="259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ТП дистрибьютора обучено продажам ФТМ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95600" y="276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27360" y="287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55600" y="288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C9A77C"/>
                </a:solidFill>
                <a:latin typeface="Roboto Mono"/>
              </a:rPr>
              <a:t>30 </a:t>
            </a:r>
            <a:r>
              <a:rPr sz="1600" b="1" dirty="0" err="1">
                <a:solidFill>
                  <a:srgbClr val="C9A77C"/>
                </a:solidFill>
                <a:latin typeface="Roboto Mono"/>
              </a:rPr>
              <a:t>дней</a:t>
            </a:r>
            <a:endParaRPr sz="16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395600" y="317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договора до первой отгрузки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95600" y="334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34184" y="3450000"/>
            <a:ext cx="40000" cy="52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55600" y="346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2F3A48"/>
                </a:solidFill>
                <a:latin typeface="Roboto Mono"/>
              </a:rPr>
              <a:t>90 дней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5600" y="375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Период активной поддержки Эмпилс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95600" y="4010000"/>
            <a:ext cx="246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68397" y="277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-15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</p:spTree>
    <p:extLst>
      <p:ext uri="{BB962C8B-B14F-4D97-AF65-F5344CB8AC3E}">
        <p14:creationId xmlns:p14="http://schemas.microsoft.com/office/powerpoint/2010/main" val="3788782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80000"/>
            <a:ext cx="7200000" cy="3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Запуск новинок · Стандарт вывода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58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Итоги 5 новинок 2026 · Первичка: 14 727 кг · Вторичка: 2 258 кг · 25 SKU · АКБ 302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2000"/>
            <a:ext cx="1800000" cy="280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0" y="208800"/>
            <a:ext cx="1800000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799200"/>
            <a:ext cx="8820000" cy="28800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0000" y="961200"/>
          <a:ext cx="8819999" cy="2033998"/>
        </p:xfrm>
        <a:graphic>
          <a:graphicData uri="http://schemas.openxmlformats.org/drawingml/2006/table">
            <a:tbl>
              <a:tblPr firstRow="0" bandRow="0"/>
              <a:tblGrid>
                <a:gridCol w="288000"/>
                <a:gridCol w="1728000"/>
                <a:gridCol w="360000"/>
                <a:gridCol w="1296000"/>
                <a:gridCol w="2015999"/>
                <a:gridCol w="1044000"/>
                <a:gridCol w="1044000"/>
                <a:gridCol w="1044000"/>
              </a:tblGrid>
              <a:tr h="251999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#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Новинка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SKU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Фасовки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Цвета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Первичка (кг)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Вторичка (кг)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АКБ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C00000"/>
                          </a:solidFill>
                          <a:latin typeface="Roboto Mono"/>
                        </a:rPr>
                        <a:t>01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F3A48"/>
                          </a:solidFill>
                          <a:latin typeface="Inter"/>
                        </a:rPr>
                        <a:t>PROFIWOOD антисептик кроющий ВД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14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0.8 л, 2.1 л, 2.4 л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база С, бежевый, белый, горький шоколад, серый туман, сканд. серый, шоколад. мусс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00000"/>
                          </a:solidFill>
                          <a:latin typeface="Roboto Mono"/>
                        </a:rPr>
                        <a:t>1 774.6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193.6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100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C9A77C"/>
                          </a:solidFill>
                          <a:latin typeface="Roboto Mono"/>
                        </a:rPr>
                        <a:t>02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F3A48"/>
                          </a:solidFill>
                          <a:latin typeface="Inter"/>
                        </a:rPr>
                        <a:t>Ореол краска для плит OSB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3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1 кг, 12 кг, 6 кг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база А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9A77C"/>
                          </a:solidFill>
                          <a:latin typeface="Roboto Mono"/>
                        </a:rPr>
                        <a:t>7 746.0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1 994.0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197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6B8FA8"/>
                          </a:solidFill>
                          <a:latin typeface="Roboto Mono"/>
                        </a:rPr>
                        <a:t>03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F3A48"/>
                          </a:solidFill>
                          <a:latin typeface="Inter"/>
                        </a:rPr>
                        <a:t>NEWTONE ABSOLUTE BLACK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2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10 л, 2.5 л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чёрный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6B8FA8"/>
                          </a:solidFill>
                          <a:latin typeface="Roboto Mono"/>
                        </a:rPr>
                        <a:t>692.9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8A95A3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0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8BAA8A"/>
                          </a:solidFill>
                          <a:latin typeface="Roboto Mono"/>
                        </a:rPr>
                        <a:t>04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F3A48"/>
                          </a:solidFill>
                          <a:latin typeface="Inter"/>
                        </a:rPr>
                        <a:t>NEWTONE SKY потолочная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2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2.5 л, 9 л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ультрабелый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8BAA8A"/>
                          </a:solidFill>
                          <a:latin typeface="Roboto Mono"/>
                        </a:rPr>
                        <a:t>236.5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8A95A3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0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7B6FA8"/>
                          </a:solidFill>
                          <a:latin typeface="Roboto Mono"/>
                        </a:rPr>
                        <a:t>05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F3A48"/>
                          </a:solidFill>
                          <a:latin typeface="Inter"/>
                        </a:rPr>
                        <a:t>Ореол краска резиновая ВД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4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1.3 кг, 12 кг, 3 кг, 6 кг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база А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B6FA8"/>
                          </a:solidFill>
                          <a:latin typeface="Roboto Mono"/>
                        </a:rPr>
                        <a:t>4 276.8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70.6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5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Σ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ИТОГО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25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3A48"/>
                          </a:solidFill>
                          <a:latin typeface="Inter"/>
                        </a:rPr>
                        <a:t/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3A48"/>
                          </a:solidFill>
                          <a:latin typeface="Inter"/>
                        </a:rPr>
                        <a:t/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14 727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2 258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302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80000" y="3131999"/>
            <a:ext cx="882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СТАНДАРТ ВЫВОДА · 3 ФАЗЫ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3293999"/>
            <a:ext cx="88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0000" y="3348000"/>
            <a:ext cx="2808000" cy="144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0000" y="3348000"/>
            <a:ext cx="2808000" cy="21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000" y="3456000"/>
            <a:ext cx="54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473999"/>
            <a:ext cx="198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00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3618000"/>
            <a:ext cx="198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Roboto Mono"/>
              </a:rPr>
              <a:t>−60 до 0 дней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3816000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000" y="38880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000" y="38952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Анализ рынка и конкурентов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000" y="40248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4000" y="40320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Ценообразование и MML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000" y="41616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000" y="41688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Подготовка POSM и контента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000" y="4446000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8A95A3"/>
                </a:solidFill>
                <a:latin typeface="Inter"/>
              </a:rPr>
              <a:t>KPI: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60 дней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0000" y="4482000"/>
            <a:ext cx="1008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8A95A3"/>
                </a:solidFill>
                <a:latin typeface="Inter"/>
              </a:rPr>
              <a:t>до запуска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96000" y="3348000"/>
            <a:ext cx="2808000" cy="144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096000" y="3348000"/>
            <a:ext cx="2808000" cy="216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0000" y="3456000"/>
            <a:ext cx="54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6000" y="3473999"/>
            <a:ext cx="198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00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6000" y="3618000"/>
            <a:ext cx="198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Roboto Mono"/>
              </a:rPr>
              <a:t>0 — 30 дней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00" y="3816000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0" y="38880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0000" y="38952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Старт продаж во всех пилотах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0000" y="40248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0000" y="40320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Обучение ТП: 350 человек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0000" y="41616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0000" y="41688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POSM в 100% пилотных точек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0000" y="4446000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40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8A95A3"/>
                </a:solidFill>
                <a:latin typeface="Inter"/>
              </a:rPr>
              <a:t>KPI: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6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16000" y="4482000"/>
            <a:ext cx="1008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8A95A3"/>
                </a:solidFill>
                <a:latin typeface="Inter"/>
              </a:rPr>
              <a:t>наличие POSM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12000" y="3348000"/>
            <a:ext cx="2808000" cy="144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12000" y="3348000"/>
            <a:ext cx="2808000" cy="216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56000" y="3456000"/>
            <a:ext cx="54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6B8FA8"/>
                </a:solidFill>
                <a:latin typeface="Roboto Mono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32000" y="3473999"/>
            <a:ext cx="198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00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32000" y="3618000"/>
            <a:ext cx="198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Roboto Mono"/>
              </a:rPr>
              <a:t>30 — 90 дней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000" y="3816000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6000" y="38880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46000" y="38952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Промоакции и мастер-классы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56000" y="40248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46000" y="40320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Куратор на каждую точку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56000" y="41616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46000" y="41688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Аналитика продаж по неделе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56000" y="4446000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6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8A95A3"/>
                </a:solidFill>
                <a:latin typeface="Inter"/>
              </a:rPr>
              <a:t>KPI: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52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350 ТП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2000" y="4482000"/>
            <a:ext cx="1008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8A95A3"/>
                </a:solidFill>
                <a:latin typeface="Inter"/>
              </a:rPr>
              <a:t>обучено в 1-й мес.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0000" y="4860000"/>
            <a:ext cx="88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0000" y="4896000"/>
            <a:ext cx="882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5A3"/>
                </a:solidFill>
                <a:latin typeface="Inter"/>
              </a:rPr>
              <a:t>Стандарт обязателен для всех новинок. Без прохождения 3 фаз новинка не вводится в MML дистрибьюторов.</a:t>
            </a:r>
          </a:p>
        </p:txBody>
      </p:sp>
    </p:spTree>
    <p:extLst>
      <p:ext uri="{BB962C8B-B14F-4D97-AF65-F5344CB8AC3E}">
        <p14:creationId xmlns:p14="http://schemas.microsoft.com/office/powerpoint/2010/main" val="3334007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217915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457915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657915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90269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90269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90269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48158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8623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54338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704338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3548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04851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/ портфолио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36820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34688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98228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495</TotalTime>
  <Words>1156</Words>
  <Application>Microsoft Office PowerPoint</Application>
  <PresentationFormat>Экран (16:9)</PresentationFormat>
  <Paragraphs>365</Paragraphs>
  <Slides>10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109</cp:revision>
  <dcterms:created xsi:type="dcterms:W3CDTF">2026-10-01T12:44:52Z</dcterms:created>
  <dcterms:modified xsi:type="dcterms:W3CDTF">2026-10-06T07:16:10Z</dcterms:modified>
</cp:coreProperties>
</file>