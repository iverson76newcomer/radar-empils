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6897" autoAdjust="0"/>
    <p:restoredTop sz="86384" autoAdjust="0"/>
  </p:normalViewPr>
  <p:slideViewPr>
    <p:cSldViewPr snapToGrid="0" snapToObjects="1">
      <p:cViewPr>
        <p:scale>
          <a:sx n="150" d="100"/>
          <a:sy n="150" d="100"/>
        </p:scale>
        <p:origin x="-468" y="-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BEEA3-D4FA-4FB4-A72C-31DD37E08AF9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9E918-18D3-4753-90A0-47B16382A5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9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277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8442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1969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1134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326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5400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7715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0115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7292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1539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6976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5345F-A3DA-4B28-9AA6-0DFD2257C5D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30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42455"/>
            <a:ext cx="8686800" cy="0"/>
          </a:xfrm>
          <a:prstGeom prst="line">
            <a:avLst/>
          </a:prstGeom>
          <a:noFill/>
          <a:ln w="7144">
            <a:solidFill>
              <a:srgbClr val="EFE9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2" y="2071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547" dirty="0"/>
          </a:p>
        </p:txBody>
      </p:sp>
      <p:sp>
        <p:nvSpPr>
          <p:cNvPr id="4" name="Text 2"/>
          <p:cNvSpPr/>
          <p:nvPr/>
        </p:nvSpPr>
        <p:spPr>
          <a:xfrm>
            <a:off x="305885" y="196742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00" b="1" kern="0" spc="113" dirty="0">
                <a:solidFill>
                  <a:schemeClr val="tx1">
                    <a:lumMod val="50000"/>
                    <a:lumOff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18897" y="208739"/>
            <a:ext cx="1380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СДЕЛАНО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3311" y="169736"/>
            <a:ext cx="1139029" cy="232029"/>
          </a:xfrm>
          <a:prstGeom prst="roundRect">
            <a:avLst>
              <a:gd name="adj" fmla="val 2463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51542" y="238072"/>
            <a:ext cx="702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АКТИВЕН</a:t>
            </a:r>
            <a:endParaRPr lang="en-US" sz="600" b="1" dirty="0"/>
          </a:p>
        </p:txBody>
      </p:sp>
      <p:sp>
        <p:nvSpPr>
          <p:cNvPr id="13" name="Text 11"/>
          <p:cNvSpPr/>
          <p:nvPr/>
        </p:nvSpPr>
        <p:spPr>
          <a:xfrm>
            <a:off x="232174" y="3088371"/>
            <a:ext cx="2831269" cy="1721858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1471" y="3377693"/>
            <a:ext cx="2652675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471" y="3190169"/>
            <a:ext cx="21431" cy="114300"/>
          </a:xfrm>
          <a:prstGeom prst="roundRect">
            <a:avLst>
              <a:gd name="adj" fmla="val 88890"/>
            </a:avLst>
          </a:prstGeom>
          <a:solidFill>
            <a:srgbClr val="B561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31830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B561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85790" y="3177669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ДИСТРИБЬЮТОРСКИЙ КАНАЛ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1469" y="349233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50056" y="3478051"/>
            <a:ext cx="2524088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Пилоты: Палитра (Краснодар), И.П. Рыгалов (Пенза), Брозекс (Екатеринбург)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2419" y="37488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0056" y="3747280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Обучение: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регионов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РМ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~350 ТП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1469" y="39319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50056" y="3917614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POSM: </a:t>
            </a:r>
            <a:r>
              <a:rPr lang="en-US" sz="800" dirty="0" err="1">
                <a:latin typeface="Carlito" pitchFamily="34" charset="0"/>
                <a:ea typeface="Carlito" pitchFamily="34" charset="-122"/>
                <a:cs typeface="Carlito" pitchFamily="34" charset="-120"/>
              </a:rPr>
              <a:t>шелфтокеры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 smtClean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шт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воблеры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ценники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листовки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1469" y="421541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450056" y="4201133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Контент: видеоинструкция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35 865 ₽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видеопортфолио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71 724 ₽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видео для ТП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41 611 ₽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1471" y="4488221"/>
            <a:ext cx="2652675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156312" y="3088371"/>
            <a:ext cx="2831269" cy="1721857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45609" y="3377693"/>
            <a:ext cx="2652675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5609" y="3190169"/>
            <a:ext cx="21431" cy="114300"/>
          </a:xfrm>
          <a:prstGeom prst="roundRect">
            <a:avLst>
              <a:gd name="adj" fmla="val 88890"/>
            </a:avLst>
          </a:prstGeom>
          <a:solidFill>
            <a:srgbClr val="B561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24188" y="31830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B561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3509925" y="3177669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СЕТЕВОЙ КАНАЛ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45607" y="34812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3374194" y="3466989"/>
            <a:ext cx="2524088" cy="1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Лемана Про: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в ЮФО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45607" y="36516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3374194" y="3644468"/>
            <a:ext cx="1001174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619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РК на экранах Ростова: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4306230" y="3644468"/>
            <a:ext cx="545068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экранов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45607" y="382194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3374194" y="3807657"/>
            <a:ext cx="2524088" cy="1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Таргет ВКонтакте по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45607" y="399227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3374194" y="3977992"/>
            <a:ext cx="2524088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Промо «Подарок за покупку» (Ростов + Краснодар)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45607" y="41554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3374194" y="4141181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Кэшбек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5%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на TITAN (все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45607" y="43258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3374194" y="4311515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Мастер-классы: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ТТ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в Ростове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45607" y="449613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3374196" y="4488993"/>
            <a:ext cx="1095617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Веерные выкрасы B2B: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50075" y="4484004"/>
            <a:ext cx="37388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шт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45607" y="466647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3374194" y="4652182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Скидка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(жёлтый ценник) с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01.08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080449" y="3088371"/>
            <a:ext cx="2831381" cy="1721857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6169746" y="3377693"/>
            <a:ext cx="2652787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69746" y="3190169"/>
            <a:ext cx="21431" cy="114300"/>
          </a:xfrm>
          <a:prstGeom prst="roundRect">
            <a:avLst>
              <a:gd name="adj" fmla="val 88890"/>
            </a:avLst>
          </a:prstGeom>
          <a:solidFill>
            <a:srgbClr val="B561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248326" y="31830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B561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74" name="Text 72"/>
          <p:cNvSpPr/>
          <p:nvPr/>
        </p:nvSpPr>
        <p:spPr>
          <a:xfrm>
            <a:off x="6434063" y="3177669"/>
            <a:ext cx="238846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B2B КАНАЛ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169744" y="34812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844" dirty="0"/>
          </a:p>
        </p:txBody>
      </p:sp>
      <p:sp>
        <p:nvSpPr>
          <p:cNvPr id="76" name="Text 74"/>
          <p:cNvSpPr/>
          <p:nvPr/>
        </p:nvSpPr>
        <p:spPr>
          <a:xfrm>
            <a:off x="6298334" y="3466989"/>
            <a:ext cx="2524199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Тест-образец: пробник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0,4 л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+ веерные выкрасы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169744" y="36516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78" name="Text 76"/>
          <p:cNvSpPr/>
          <p:nvPr/>
        </p:nvSpPr>
        <p:spPr>
          <a:xfrm>
            <a:off x="6298334" y="3637324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Листовка B2B с расчётом ССВ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169744" y="381480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44" dirty="0"/>
          </a:p>
        </p:txBody>
      </p:sp>
      <p:sp>
        <p:nvSpPr>
          <p:cNvPr id="80" name="Text 78"/>
          <p:cNvSpPr/>
          <p:nvPr/>
        </p:nvSpPr>
        <p:spPr>
          <a:xfrm>
            <a:off x="6298334" y="3800514"/>
            <a:ext cx="2524199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6 инструментов: тест-образец, листовка, инфлюенсер, маржа, портфолио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169744" y="408403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44" dirty="0"/>
          </a:p>
        </p:txBody>
      </p:sp>
      <p:sp>
        <p:nvSpPr>
          <p:cNvPr id="82" name="Text 80"/>
          <p:cNvSpPr/>
          <p:nvPr/>
        </p:nvSpPr>
        <p:spPr>
          <a:xfrm>
            <a:off x="6298334" y="4069744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маржинальности по фасовкам (8,5 л выгоднее)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69746" y="4293655"/>
            <a:ext cx="2652787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dash"/>
          </a:ln>
        </p:spPr>
      </p:sp>
      <p:sp>
        <p:nvSpPr>
          <p:cNvPr id="129" name="Text 28"/>
          <p:cNvSpPr/>
          <p:nvPr/>
        </p:nvSpPr>
        <p:spPr>
          <a:xfrm>
            <a:off x="232172" y="820124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29"/>
          <p:cNvSpPr/>
          <p:nvPr/>
        </p:nvSpPr>
        <p:spPr>
          <a:xfrm>
            <a:off x="321469" y="869210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33" name="Text 32"/>
          <p:cNvSpPr/>
          <p:nvPr/>
        </p:nvSpPr>
        <p:spPr>
          <a:xfrm>
            <a:off x="321469" y="1093175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POS-МАТЕРИАЛЫ</a:t>
            </a:r>
            <a:endParaRPr lang="en-US" sz="800" dirty="0"/>
          </a:p>
        </p:txBody>
      </p:sp>
      <p:sp>
        <p:nvSpPr>
          <p:cNvPr id="134" name="Text 33"/>
          <p:cNvSpPr/>
          <p:nvPr/>
        </p:nvSpPr>
        <p:spPr>
          <a:xfrm>
            <a:off x="321471" y="1336428"/>
            <a:ext cx="1596233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35" name="Text 34"/>
          <p:cNvSpPr/>
          <p:nvPr/>
        </p:nvSpPr>
        <p:spPr>
          <a:xfrm>
            <a:off x="302185" y="1221257"/>
            <a:ext cx="1536773" cy="53508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>
              <a:lnSpc>
                <a:spcPts val="900"/>
              </a:lnSpc>
            </a:pP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Руководство по продажам</a:t>
            </a:r>
            <a:b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Шелфтокеры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воблеры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ценники</a:t>
            </a:r>
            <a:endParaRPr lang="en-US" sz="700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Листовк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а</a:t>
            </a:r>
            <a:b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4.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П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ланограмма</a:t>
            </a:r>
            <a:endParaRPr lang="en-US" sz="700" dirty="0"/>
          </a:p>
        </p:txBody>
      </p:sp>
      <p:sp>
        <p:nvSpPr>
          <p:cNvPr id="136" name="Shape 35"/>
          <p:cNvSpPr/>
          <p:nvPr/>
        </p:nvSpPr>
        <p:spPr>
          <a:xfrm>
            <a:off x="321469" y="1721668"/>
            <a:ext cx="1505880" cy="0"/>
          </a:xfrm>
          <a:prstGeom prst="line">
            <a:avLst/>
          </a:prstGeom>
          <a:noFill/>
          <a:ln w="7144">
            <a:solidFill>
              <a:srgbClr val="EFE9DD"/>
            </a:solidFill>
            <a:prstDash val="solid"/>
          </a:ln>
        </p:spPr>
      </p:sp>
      <p:sp>
        <p:nvSpPr>
          <p:cNvPr id="139" name="Text 38"/>
          <p:cNvSpPr/>
          <p:nvPr/>
        </p:nvSpPr>
        <p:spPr>
          <a:xfrm>
            <a:off x="1980940" y="820124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0" name="Text 39"/>
          <p:cNvSpPr/>
          <p:nvPr/>
        </p:nvSpPr>
        <p:spPr>
          <a:xfrm>
            <a:off x="2070236" y="869210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43" name="Text 42"/>
          <p:cNvSpPr/>
          <p:nvPr/>
        </p:nvSpPr>
        <p:spPr>
          <a:xfrm>
            <a:off x="2070236" y="1093175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 И ОБУЧЕНИЕ</a:t>
            </a:r>
            <a:endParaRPr lang="en-US" sz="800" dirty="0"/>
          </a:p>
        </p:txBody>
      </p:sp>
      <p:sp>
        <p:nvSpPr>
          <p:cNvPr id="144" name="Text 43"/>
          <p:cNvSpPr/>
          <p:nvPr/>
        </p:nvSpPr>
        <p:spPr>
          <a:xfrm>
            <a:off x="2023480" y="1230245"/>
            <a:ext cx="1642990" cy="507705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Видеоролики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: 5 штук</a:t>
            </a: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2. О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блако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с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материалами</a:t>
            </a:r>
            <a:endParaRPr lang="ru-RU" sz="700" dirty="0" smtClean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Обучение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: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_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регионов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~350 ТП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ОП</a:t>
            </a: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500" dirty="0">
              <a:solidFill>
                <a:srgbClr val="5A6776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46" name="Text 45"/>
          <p:cNvSpPr/>
          <p:nvPr/>
        </p:nvSpPr>
        <p:spPr>
          <a:xfrm>
            <a:off x="2070236" y="1612547"/>
            <a:ext cx="521106" cy="12540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47" name="Text 46"/>
          <p:cNvSpPr/>
          <p:nvPr/>
        </p:nvSpPr>
        <p:spPr>
          <a:xfrm>
            <a:off x="2569390" y="1623688"/>
            <a:ext cx="1049127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48" name="Text 47"/>
          <p:cNvSpPr/>
          <p:nvPr/>
        </p:nvSpPr>
        <p:spPr>
          <a:xfrm>
            <a:off x="3729707" y="820124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4A57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9" name="Text 48"/>
          <p:cNvSpPr/>
          <p:nvPr/>
        </p:nvSpPr>
        <p:spPr>
          <a:xfrm>
            <a:off x="3819004" y="869210"/>
            <a:ext cx="9056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</a:t>
            </a:r>
            <a:endParaRPr lang="en-US" sz="800" dirty="0"/>
          </a:p>
        </p:txBody>
      </p:sp>
      <p:sp>
        <p:nvSpPr>
          <p:cNvPr id="152" name="Text 51"/>
          <p:cNvSpPr/>
          <p:nvPr/>
        </p:nvSpPr>
        <p:spPr>
          <a:xfrm>
            <a:off x="3819004" y="1093175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153" name="Text 52"/>
          <p:cNvSpPr/>
          <p:nvPr/>
        </p:nvSpPr>
        <p:spPr>
          <a:xfrm>
            <a:off x="3774147" y="1179217"/>
            <a:ext cx="1626351" cy="722943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>
              <a:lnSpc>
                <a:spcPts val="797"/>
              </a:lnSpc>
            </a:pP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Доработка сайта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Empils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посадочной страницы</a:t>
            </a:r>
            <a:b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2. </a:t>
            </a:r>
            <a:r>
              <a:rPr lang="ru-RU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Таргетированная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реклама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VK</a:t>
            </a:r>
            <a:endParaRPr lang="ru-RU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Видеореклама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пре-роллы 15-30 сек</a:t>
            </a:r>
          </a:p>
          <a:p>
            <a:pPr>
              <a:lnSpc>
                <a:spcPts val="797"/>
              </a:lnSpc>
            </a:pP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(VK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Видео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)</a:t>
            </a:r>
            <a:endParaRPr lang="ru-RU" sz="700" dirty="0" smtClean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4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Блогер-инфлюенсер</a:t>
            </a:r>
            <a:endParaRPr lang="ru-RU" sz="700" dirty="0" smtClean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5.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Контекстная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реклама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(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Яндекс.Директ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)</a:t>
            </a:r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700" dirty="0"/>
          </a:p>
        </p:txBody>
      </p:sp>
      <p:sp>
        <p:nvSpPr>
          <p:cNvPr id="155" name="Text 54"/>
          <p:cNvSpPr/>
          <p:nvPr/>
        </p:nvSpPr>
        <p:spPr>
          <a:xfrm>
            <a:off x="3819004" y="1591117"/>
            <a:ext cx="1505880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56" name="Text 55"/>
          <p:cNvSpPr/>
          <p:nvPr/>
        </p:nvSpPr>
        <p:spPr>
          <a:xfrm>
            <a:off x="3819004" y="1720932"/>
            <a:ext cx="1505880" cy="129815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57" name="Text 56"/>
          <p:cNvSpPr/>
          <p:nvPr/>
        </p:nvSpPr>
        <p:spPr>
          <a:xfrm>
            <a:off x="5478475" y="820124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8" name="Text 57"/>
          <p:cNvSpPr/>
          <p:nvPr/>
        </p:nvSpPr>
        <p:spPr>
          <a:xfrm>
            <a:off x="5567774" y="869210"/>
            <a:ext cx="1148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ПЛАН «Б»</a:t>
            </a:r>
            <a:endParaRPr lang="en-US" sz="800" dirty="0"/>
          </a:p>
        </p:txBody>
      </p:sp>
      <p:sp>
        <p:nvSpPr>
          <p:cNvPr id="161" name="Text 60"/>
          <p:cNvSpPr/>
          <p:nvPr/>
        </p:nvSpPr>
        <p:spPr>
          <a:xfrm>
            <a:off x="5567772" y="1093175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РИСКАМИ</a:t>
            </a:r>
            <a:endParaRPr lang="en-US" sz="800" dirty="0"/>
          </a:p>
        </p:txBody>
      </p:sp>
      <p:sp>
        <p:nvSpPr>
          <p:cNvPr id="162" name="Text 61"/>
          <p:cNvSpPr/>
          <p:nvPr/>
        </p:nvSpPr>
        <p:spPr>
          <a:xfrm>
            <a:off x="5567774" y="1230246"/>
            <a:ext cx="1596233" cy="304864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5 инструментов: </a:t>
            </a:r>
            <a:endParaRPr lang="ru-RU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доп.обучение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корректировка ассортимента, трейд-промо, мастер-классы, куратор</a:t>
            </a:r>
          </a:p>
        </p:txBody>
      </p:sp>
      <p:sp>
        <p:nvSpPr>
          <p:cNvPr id="163" name="Text 62"/>
          <p:cNvSpPr/>
          <p:nvPr/>
        </p:nvSpPr>
        <p:spPr>
          <a:xfrm>
            <a:off x="5507706" y="1730203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ru-RU" sz="800" dirty="0" smtClean="0">
                <a:solidFill>
                  <a:srgbClr val="8BAA8A"/>
                </a:solidFill>
                <a:ea typeface="Liberation Sans Narrow" pitchFamily="34" charset="-122"/>
                <a:cs typeface="Liberation Sans Narrow" pitchFamily="34" charset="-120"/>
              </a:rPr>
              <a:t> </a:t>
            </a:r>
            <a:r>
              <a:rPr lang="en-US" sz="800" dirty="0" smtClean="0">
                <a:solidFill>
                  <a:srgbClr val="8BAA8A"/>
                </a:solidFill>
                <a:ea typeface="Liberation Sans Narrow" pitchFamily="34" charset="-122"/>
                <a:cs typeface="Liberation Sans Narrow" pitchFamily="34" charset="-120"/>
              </a:rPr>
              <a:t>🟢70-85</a:t>
            </a:r>
            <a:r>
              <a:rPr lang="en-US" sz="800" dirty="0">
                <a:solidFill>
                  <a:srgbClr val="8BAA8A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4" name="Text 63"/>
          <p:cNvSpPr/>
          <p:nvPr/>
        </p:nvSpPr>
        <p:spPr>
          <a:xfrm>
            <a:off x="6083240" y="1732105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 smtClean="0">
                <a:solidFill>
                  <a:srgbClr val="C9A77C"/>
                </a:solidFill>
                <a:ea typeface="Liberation Sans Narrow" pitchFamily="34" charset="-122"/>
                <a:cs typeface="Liberation Sans Narrow" pitchFamily="34" charset="-120"/>
              </a:rPr>
              <a:t>🟡50-70</a:t>
            </a:r>
            <a:r>
              <a:rPr lang="en-US" sz="800" dirty="0">
                <a:solidFill>
                  <a:srgbClr val="C9A77C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5" name="Text 64"/>
          <p:cNvSpPr/>
          <p:nvPr/>
        </p:nvSpPr>
        <p:spPr>
          <a:xfrm>
            <a:off x="6697540" y="1733574"/>
            <a:ext cx="597061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B5614A"/>
                </a:solidFill>
                <a:ea typeface="Segoe UI Symbol" pitchFamily="34" charset="-122"/>
                <a:cs typeface="Segoe UI Symbol" pitchFamily="34" charset="-120"/>
              </a:rPr>
              <a:t>🔴</a:t>
            </a:r>
            <a:r>
              <a:rPr lang="en-US" sz="800" dirty="0">
                <a:solidFill>
                  <a:srgbClr val="B5614A"/>
                </a:solidFill>
                <a:ea typeface="Carlito" pitchFamily="34" charset="-122"/>
                <a:cs typeface="Carlito" pitchFamily="34" charset="-120"/>
              </a:rPr>
              <a:t> &lt;</a:t>
            </a:r>
            <a:r>
              <a:rPr lang="en-US" sz="800" dirty="0">
                <a:solidFill>
                  <a:srgbClr val="B5614A"/>
                </a:solidFill>
                <a:ea typeface="Liberation Sans Narrow" pitchFamily="34" charset="-122"/>
                <a:cs typeface="Liberation Sans Narrow" pitchFamily="34" charset="-120"/>
              </a:rPr>
              <a:t>50%</a:t>
            </a:r>
            <a:endParaRPr lang="en-US" sz="800" dirty="0"/>
          </a:p>
        </p:txBody>
      </p:sp>
      <p:sp>
        <p:nvSpPr>
          <p:cNvPr id="166" name="Text 65"/>
          <p:cNvSpPr/>
          <p:nvPr/>
        </p:nvSpPr>
        <p:spPr>
          <a:xfrm>
            <a:off x="7227243" y="820124"/>
            <a:ext cx="1684586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7" name="Text 66"/>
          <p:cNvSpPr/>
          <p:nvPr/>
        </p:nvSpPr>
        <p:spPr>
          <a:xfrm>
            <a:off x="7316539" y="869210"/>
            <a:ext cx="12023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3</a:t>
            </a:r>
            <a:endParaRPr lang="en-US" sz="800" dirty="0"/>
          </a:p>
        </p:txBody>
      </p:sp>
      <p:sp>
        <p:nvSpPr>
          <p:cNvPr id="170" name="Text 69"/>
          <p:cNvSpPr/>
          <p:nvPr/>
        </p:nvSpPr>
        <p:spPr>
          <a:xfrm>
            <a:off x="7316539" y="1093175"/>
            <a:ext cx="1505992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МАСШТАБИРОВАНИЕ</a:t>
            </a:r>
            <a:endParaRPr lang="en-US" sz="800" dirty="0"/>
          </a:p>
        </p:txBody>
      </p:sp>
      <p:sp>
        <p:nvSpPr>
          <p:cNvPr id="173" name="Text 72"/>
          <p:cNvSpPr/>
          <p:nvPr/>
        </p:nvSpPr>
        <p:spPr>
          <a:xfrm>
            <a:off x="7274794" y="1250866"/>
            <a:ext cx="1285875" cy="2735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5A677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Цель: (DIY 650, СК 250, B2B 100)</a:t>
            </a:r>
            <a:endParaRPr lang="en-US" sz="800" dirty="0"/>
          </a:p>
        </p:txBody>
      </p:sp>
      <p:sp>
        <p:nvSpPr>
          <p:cNvPr id="182" name="Text 15"/>
          <p:cNvSpPr/>
          <p:nvPr/>
        </p:nvSpPr>
        <p:spPr>
          <a:xfrm>
            <a:off x="546497" y="641530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3" name="Text 16"/>
          <p:cNvSpPr/>
          <p:nvPr/>
        </p:nvSpPr>
        <p:spPr>
          <a:xfrm>
            <a:off x="571500" y="666534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4" name="Text 17"/>
          <p:cNvSpPr/>
          <p:nvPr/>
        </p:nvSpPr>
        <p:spPr>
          <a:xfrm>
            <a:off x="885825" y="684393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5" name="Text 18"/>
          <p:cNvSpPr/>
          <p:nvPr/>
        </p:nvSpPr>
        <p:spPr>
          <a:xfrm>
            <a:off x="2532459" y="641530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6" name="Text 19"/>
          <p:cNvSpPr/>
          <p:nvPr/>
        </p:nvSpPr>
        <p:spPr>
          <a:xfrm>
            <a:off x="2557463" y="666534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8" y="684393"/>
            <a:ext cx="1414463" cy="21431"/>
          </a:xfrm>
          <a:prstGeom prst="rect">
            <a:avLst/>
          </a:prstGeom>
        </p:spPr>
      </p:pic>
      <p:sp>
        <p:nvSpPr>
          <p:cNvPr id="188" name="Text 20"/>
          <p:cNvSpPr/>
          <p:nvPr/>
        </p:nvSpPr>
        <p:spPr>
          <a:xfrm>
            <a:off x="4518422" y="641530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9" name="Text 21"/>
          <p:cNvSpPr/>
          <p:nvPr/>
        </p:nvSpPr>
        <p:spPr>
          <a:xfrm>
            <a:off x="4543425" y="666534"/>
            <a:ext cx="57150" cy="57150"/>
          </a:xfrm>
          <a:prstGeom prst="ellipse">
            <a:avLst/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0" name="Text 22"/>
          <p:cNvSpPr/>
          <p:nvPr/>
        </p:nvSpPr>
        <p:spPr>
          <a:xfrm>
            <a:off x="4857750" y="684393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1" name="Text 23"/>
          <p:cNvSpPr/>
          <p:nvPr/>
        </p:nvSpPr>
        <p:spPr>
          <a:xfrm>
            <a:off x="6504384" y="641530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2" name="Text 24"/>
          <p:cNvSpPr/>
          <p:nvPr/>
        </p:nvSpPr>
        <p:spPr>
          <a:xfrm>
            <a:off x="6529388" y="666534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3" name="Text 25"/>
          <p:cNvSpPr/>
          <p:nvPr/>
        </p:nvSpPr>
        <p:spPr>
          <a:xfrm>
            <a:off x="6843713" y="684393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4" name="Text 26"/>
          <p:cNvSpPr/>
          <p:nvPr/>
        </p:nvSpPr>
        <p:spPr>
          <a:xfrm>
            <a:off x="8490347" y="641530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5" name="Text 27"/>
          <p:cNvSpPr/>
          <p:nvPr/>
        </p:nvSpPr>
        <p:spPr>
          <a:xfrm>
            <a:off x="8515350" y="666534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6" name="Text 30"/>
          <p:cNvSpPr/>
          <p:nvPr/>
        </p:nvSpPr>
        <p:spPr>
          <a:xfrm>
            <a:off x="1455807" y="849505"/>
            <a:ext cx="394640" cy="148652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7" name="Text 31"/>
          <p:cNvSpPr/>
          <p:nvPr/>
        </p:nvSpPr>
        <p:spPr>
          <a:xfrm>
            <a:off x="1420413" y="867202"/>
            <a:ext cx="4492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198" name="Text 30"/>
          <p:cNvSpPr/>
          <p:nvPr/>
        </p:nvSpPr>
        <p:spPr>
          <a:xfrm>
            <a:off x="3199263" y="867731"/>
            <a:ext cx="394640" cy="148652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9" name="Text 31"/>
          <p:cNvSpPr/>
          <p:nvPr/>
        </p:nvSpPr>
        <p:spPr>
          <a:xfrm>
            <a:off x="3163869" y="885428"/>
            <a:ext cx="4492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200" name="Text 49"/>
          <p:cNvSpPr/>
          <p:nvPr/>
        </p:nvSpPr>
        <p:spPr>
          <a:xfrm>
            <a:off x="4520580" y="852239"/>
            <a:ext cx="850423" cy="169513"/>
          </a:xfrm>
          <a:prstGeom prst="roundRect">
            <a:avLst>
              <a:gd name="adj" fmla="val 68027"/>
            </a:avLst>
          </a:prstGeom>
          <a:solidFill>
            <a:srgbClr val="FF8C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1" name="Text 50"/>
          <p:cNvSpPr/>
          <p:nvPr/>
        </p:nvSpPr>
        <p:spPr>
          <a:xfrm>
            <a:off x="4513930" y="869936"/>
            <a:ext cx="894727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02" name="Text 58"/>
          <p:cNvSpPr/>
          <p:nvPr/>
        </p:nvSpPr>
        <p:spPr>
          <a:xfrm>
            <a:off x="6635136" y="864037"/>
            <a:ext cx="475833" cy="128220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3" name="Text 59"/>
          <p:cNvSpPr/>
          <p:nvPr/>
        </p:nvSpPr>
        <p:spPr>
          <a:xfrm>
            <a:off x="6654968" y="859740"/>
            <a:ext cx="519215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READY</a:t>
            </a:r>
            <a:endParaRPr lang="en-US" sz="800" dirty="0"/>
          </a:p>
        </p:txBody>
      </p:sp>
      <p:sp>
        <p:nvSpPr>
          <p:cNvPr id="204" name="Text 67"/>
          <p:cNvSpPr/>
          <p:nvPr/>
        </p:nvSpPr>
        <p:spPr>
          <a:xfrm>
            <a:off x="8465573" y="849505"/>
            <a:ext cx="392128" cy="16634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5" name="Text 68"/>
          <p:cNvSpPr/>
          <p:nvPr/>
        </p:nvSpPr>
        <p:spPr>
          <a:xfrm>
            <a:off x="8511429" y="871538"/>
            <a:ext cx="33288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</a:t>
            </a:r>
            <a:endParaRPr lang="en-US" sz="800" dirty="0"/>
          </a:p>
        </p:txBody>
      </p:sp>
      <p:sp>
        <p:nvSpPr>
          <p:cNvPr id="206" name="Text 7"/>
          <p:cNvSpPr/>
          <p:nvPr/>
        </p:nvSpPr>
        <p:spPr>
          <a:xfrm>
            <a:off x="7743141" y="2571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2ECC71">
              <a:alpha val="7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7" name="Rectangle 2"/>
          <p:cNvSpPr/>
          <p:nvPr/>
        </p:nvSpPr>
        <p:spPr>
          <a:xfrm>
            <a:off x="1021010" y="154607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99496"/>
            <a:ext cx="12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kern="0" spc="113" dirty="0">
                <a:solidFill>
                  <a:schemeClr val="tx1">
                    <a:lumMod val="50000"/>
                    <a:lumOff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991515" y="190001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111" y="233564"/>
            <a:ext cx="3698766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06"/>
              </a:lnSpc>
            </a:pPr>
            <a:r>
              <a:rPr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</a:t>
            </a:r>
            <a:r>
              <a:rPr lang="ru-RU"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БЕЛЫЕ ПЯТНА </a:t>
            </a:r>
            <a:endParaRPr sz="1200" b="1" kern="0" spc="56" dirty="0">
              <a:solidFill>
                <a:srgbClr val="2F3A48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99151" y="172304"/>
            <a:ext cx="1605960" cy="2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48141" y="241798"/>
            <a:ext cx="15459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 dirty="0"/>
              <a:t>Q4 2026 · В РАБОТЕ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014" y="554767"/>
            <a:ext cx="8686800" cy="2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115" y="778715"/>
            <a:ext cx="6071400" cy="36125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0505" y="778715"/>
            <a:ext cx="2860000" cy="3594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0505" y="922736"/>
            <a:ext cx="27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 dirty="0">
                <a:latin typeface="Inter"/>
              </a:rPr>
              <a:t>ГРАФИК ВСТРЕЧ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0505" y="1132737"/>
            <a:ext cx="2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latin typeface="Inter"/>
              </a:rPr>
              <a:t>5 </a:t>
            </a:r>
            <a:r>
              <a:rPr sz="900" b="0" dirty="0" err="1">
                <a:latin typeface="Inter"/>
              </a:rPr>
              <a:t>регионов</a:t>
            </a:r>
            <a:r>
              <a:rPr sz="900" b="0" dirty="0">
                <a:latin typeface="Inter"/>
              </a:rPr>
              <a:t> · 5+ </a:t>
            </a:r>
            <a:r>
              <a:rPr sz="900" b="0" dirty="0" err="1">
                <a:latin typeface="Inter"/>
              </a:rPr>
              <a:t>дистрибьюторов</a:t>
            </a:r>
            <a:endParaRPr sz="900" b="0" dirty="0"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0505" y="13133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1010" y="1419605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1010" y="14727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0505" y="14227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F3A48"/>
                </a:solidFill>
                <a:latin typeface="Inter"/>
              </a:rPr>
              <a:t>Барнаул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0505" y="16227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Алтайский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край</a:t>
            </a:r>
            <a:endParaRPr sz="850" b="0" dirty="0"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40505" y="1782736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 err="1">
                <a:solidFill>
                  <a:srgbClr val="C00000"/>
                </a:solidFill>
                <a:latin typeface="Inter"/>
              </a:rPr>
              <a:t>Олимп</a:t>
            </a:r>
            <a:endParaRPr sz="900" b="0" spc="20" dirty="0">
              <a:solidFill>
                <a:srgbClr val="C00000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40506" y="1422736"/>
            <a:ext cx="15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2F3A48"/>
                </a:solidFill>
                <a:latin typeface="Roboto Mono"/>
              </a:rPr>
              <a:t>13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-16.10.2026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70505" y="19507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41010" y="2017706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1010" y="20708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0505" y="2020835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F3A48"/>
                </a:solidFill>
                <a:latin typeface="Inter"/>
              </a:rPr>
              <a:t>Красноярск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0505" y="22208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Красноярский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край</a:t>
            </a:r>
            <a:endParaRPr sz="850" b="0" dirty="0"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40505" y="2386735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>
                <a:solidFill>
                  <a:srgbClr val="C00000"/>
                </a:solidFill>
                <a:latin typeface="Inter"/>
              </a:rPr>
              <a:t>ООО «ОЧАГ»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1826" y="2020836"/>
            <a:ext cx="95868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2F3A48"/>
                </a:solidFill>
                <a:latin typeface="Roboto Mono"/>
              </a:rPr>
              <a:t>05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-</a:t>
            </a:r>
            <a:r>
              <a:rPr sz="900" b="1" dirty="0" smtClean="0">
                <a:solidFill>
                  <a:srgbClr val="2F3A48"/>
                </a:solidFill>
                <a:latin typeface="Roboto Mono"/>
              </a:rPr>
              <a:t>11.11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.2026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70505" y="252981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41010" y="2603106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41010" y="26562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0505" y="26062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latin typeface="Inter"/>
              </a:rPr>
              <a:t>Улан-Удэ</a:t>
            </a:r>
            <a:endParaRPr sz="1100" b="1" dirty="0"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40505" y="28062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Республика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Бурятия</a:t>
            </a:r>
            <a:endParaRPr sz="850" b="0" dirty="0">
              <a:latin typeface="Inte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40505" y="2959887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 err="1">
                <a:solidFill>
                  <a:srgbClr val="C00000"/>
                </a:solidFill>
                <a:latin typeface="Inter"/>
              </a:rPr>
              <a:t>Вегос</a:t>
            </a:r>
            <a:r>
              <a:rPr sz="900" b="0" spc="20" dirty="0">
                <a:solidFill>
                  <a:srgbClr val="C00000"/>
                </a:solidFill>
                <a:latin typeface="Inter"/>
              </a:rPr>
              <a:t>-М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547" y="2606237"/>
            <a:ext cx="117695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2F3A48"/>
                </a:solidFill>
                <a:latin typeface="Roboto Mono"/>
              </a:rPr>
              <a:t>19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-</a:t>
            </a:r>
            <a:r>
              <a:rPr sz="900" b="1" dirty="0" smtClean="0">
                <a:solidFill>
                  <a:srgbClr val="2F3A48"/>
                </a:solidFill>
                <a:latin typeface="Roboto Mono"/>
              </a:rPr>
              <a:t>25.11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.2026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70505" y="31342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41010" y="3201205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1010" y="32543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0505" y="32043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latin typeface="Inter"/>
              </a:rPr>
              <a:t>Омск</a:t>
            </a:r>
            <a:endParaRPr sz="1100" b="1" dirty="0">
              <a:latin typeface="Inte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40505" y="34043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Омская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область</a:t>
            </a:r>
            <a:endParaRPr sz="850" b="0" dirty="0">
              <a:latin typeface="Inte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40505" y="3564336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>
                <a:solidFill>
                  <a:srgbClr val="C00000"/>
                </a:solidFill>
                <a:latin typeface="Inter"/>
              </a:rPr>
              <a:t>ИП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Шишков</a:t>
            </a:r>
            <a:endParaRPr sz="900" b="0" spc="20" dirty="0">
              <a:solidFill>
                <a:srgbClr val="C00000"/>
              </a:solidFill>
              <a:latin typeface="Inter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20505" y="3204336"/>
            <a:ext cx="72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900" b="1" dirty="0" smtClean="0">
                <a:solidFill>
                  <a:srgbClr val="2F3A48"/>
                </a:solidFill>
                <a:latin typeface="Roboto Mono"/>
              </a:rPr>
              <a:t>уточняется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70505" y="37450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241010" y="3812006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41010" y="38651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0505" y="38151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latin typeface="Inter"/>
              </a:rPr>
              <a:t>Казань</a:t>
            </a:r>
            <a:endParaRPr sz="1100" b="1" dirty="0"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40505" y="40151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Республика Татарстан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0505" y="4169237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>
                <a:solidFill>
                  <a:srgbClr val="C00000"/>
                </a:solidFill>
                <a:latin typeface="Inter"/>
              </a:rPr>
              <a:t>ТС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Агава</a:t>
            </a:r>
            <a:r>
              <a:rPr sz="900" b="0" spc="20" dirty="0">
                <a:solidFill>
                  <a:srgbClr val="C00000"/>
                </a:solidFill>
                <a:latin typeface="Inter"/>
              </a:rPr>
              <a:t>,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Карат</a:t>
            </a:r>
            <a:r>
              <a:rPr sz="900" b="0" spc="20" dirty="0">
                <a:solidFill>
                  <a:srgbClr val="C00000"/>
                </a:solidFill>
                <a:latin typeface="Inter"/>
              </a:rPr>
              <a:t>,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Колорит</a:t>
            </a:r>
            <a:endParaRPr sz="900" b="0" spc="20" dirty="0">
              <a:solidFill>
                <a:srgbClr val="C00000"/>
              </a:solidFill>
              <a:latin typeface="Inter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20505" y="3815136"/>
            <a:ext cx="72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900" b="1" dirty="0">
                <a:solidFill>
                  <a:srgbClr val="2F3A48"/>
                </a:solidFill>
                <a:latin typeface="Roboto Mono"/>
              </a:rPr>
              <a:t>уточняется</a:t>
            </a:r>
          </a:p>
        </p:txBody>
      </p:sp>
      <p:pic>
        <p:nvPicPr>
          <p:cNvPr id="51" name="Picture 10" descr="white_spot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14" y="919468"/>
            <a:ext cx="5800000" cy="34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686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F3A48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F3A48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F3A48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348</Words>
  <Application>Microsoft Office PowerPoint</Application>
  <PresentationFormat>Экран (16:9)</PresentationFormat>
  <Paragraphs>108</Paragraphs>
  <Slides>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29</cp:revision>
  <dcterms:created xsi:type="dcterms:W3CDTF">2026-10-01T12:44:52Z</dcterms:created>
  <dcterms:modified xsi:type="dcterms:W3CDTF">2026-10-02T05:35:34Z</dcterms:modified>
</cp:coreProperties>
</file>