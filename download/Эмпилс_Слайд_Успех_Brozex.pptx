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b="1">
                <a:solidFill>
                  <a:srgbClr val="F47629"/>
                </a:solidFill>
                <a:latin typeface="Calibri"/>
              </a:rPr>
              <a:t>КЕЙС ПАРТНЁРА  ·  ОПЫТ УСПЕШНОГО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3600" b="1">
                <a:solidFill>
                  <a:srgbClr val="E31E24"/>
                </a:solidFill>
                <a:latin typeface="Calibri"/>
              </a:rPr>
              <a:t>БРОЗЕКС ГРУПП</a:t>
            </a:r>
            <a:r>
              <a:rPr sz="3600" b="1">
                <a:solidFill>
                  <a:srgbClr val="F47629"/>
                </a:solidFill>
                <a:latin typeface="Calibri"/>
              </a:rPr>
              <a:t>  ×  ЭМПИЛС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400" i="1">
                <a:solidFill>
                  <a:srgbClr val="6B6B6B"/>
                </a:solidFill>
                <a:latin typeface="Calibri"/>
              </a:rPr>
              <a:t>2023–2026: от экстенсивного роста к операционной эффективности — качество важнее количества</a:t>
            </a:r>
          </a:p>
        </p:txBody>
      </p:sp>
      <p:pic>
        <p:nvPicPr>
          <p:cNvPr id="6" name="Picture 5" descr="Brozex group - компани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521208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15968"/>
            <a:ext cx="52120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 i="1">
                <a:solidFill>
                  <a:srgbClr val="6B6B6B"/>
                </a:solidFill>
                <a:latin typeface="Calibri"/>
              </a:rPr>
              <a:t>Собственный автопарк Brozex — магистральные тягачи MAN, Hino, Hyundai</a:t>
            </a:r>
          </a:p>
        </p:txBody>
      </p:sp>
      <p:pic>
        <p:nvPicPr>
          <p:cNvPr id="8" name="Picture 7" descr="Brozex group - карта регионов 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521208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739128"/>
            <a:ext cx="52120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 i="1">
                <a:solidFill>
                  <a:srgbClr val="6B6B6B"/>
                </a:solidFill>
                <a:latin typeface="Calibri"/>
              </a:rPr>
              <a:t>30+ городов присутствия от Москвы до Новосибирска · хаб — Екатеринбург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6060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00" b="1">
                <a:solidFill>
                  <a:srgbClr val="F47629"/>
                </a:solidFill>
                <a:latin typeface="Calibri"/>
              </a:rPr>
              <a:t>📐  АКБ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95728"/>
            <a:ext cx="2606040" cy="4572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Calibri"/>
              </a:rPr>
              <a:t>1 200</a:t>
            </a:r>
            <a:r>
              <a:rPr sz="1200">
                <a:solidFill>
                  <a:srgbClr val="6B6B6B"/>
                </a:solidFill>
                <a:latin typeface="Calibri"/>
              </a:rPr>
              <a:t>  точек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88036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4CAF50"/>
                </a:solidFill>
                <a:latin typeface="Calibri"/>
              </a:rPr>
              <a:t>● </a:t>
            </a:r>
            <a:r>
              <a:rPr sz="1100" b="1">
                <a:solidFill>
                  <a:srgbClr val="4CAF50"/>
                </a:solidFill>
                <a:latin typeface="Calibri"/>
              </a:rPr>
              <a:t>стабильно · удержание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10896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 i="1">
                <a:solidFill>
                  <a:srgbClr val="6B6B6B"/>
                </a:solidFill>
                <a:latin typeface="Calibri"/>
              </a:rPr>
              <a:t>стратегия удержания, не расширения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01168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103120"/>
            <a:ext cx="26060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00" b="1">
                <a:solidFill>
                  <a:srgbClr val="F47629"/>
                </a:solidFill>
                <a:latin typeface="Calibri"/>
              </a:rPr>
              <a:t>👥  Команда ЭТП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395728"/>
            <a:ext cx="2606040" cy="4572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Calibri"/>
              </a:rPr>
              <a:t>6</a:t>
            </a:r>
            <a:r>
              <a:rPr sz="1200">
                <a:solidFill>
                  <a:srgbClr val="6B6B6B"/>
                </a:solidFill>
                <a:latin typeface="Calibri"/>
              </a:rPr>
              <a:t>  человек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88036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47629"/>
                </a:solidFill>
                <a:latin typeface="Calibri"/>
              </a:rPr>
              <a:t>▲ </a:t>
            </a:r>
            <a:r>
              <a:rPr sz="1100" b="1">
                <a:solidFill>
                  <a:srgbClr val="F47629"/>
                </a:solidFill>
                <a:latin typeface="Calibri"/>
              </a:rPr>
              <a:t>доля 40% в общих продажах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10896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 i="1">
                <a:solidFill>
                  <a:srgbClr val="6B6B6B"/>
                </a:solidFill>
                <a:latin typeface="Calibri"/>
              </a:rPr>
              <a:t>команда Эмпилс в поле у партнёра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56616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657600"/>
            <a:ext cx="26060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00" b="1">
                <a:solidFill>
                  <a:srgbClr val="F47629"/>
                </a:solidFill>
                <a:latin typeface="Calibri"/>
              </a:rPr>
              <a:t>🚚  Стоимость логистики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950208"/>
            <a:ext cx="2606040" cy="4572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>
                <a:solidFill>
                  <a:srgbClr val="6B6B6B"/>
                </a:solidFill>
                <a:latin typeface="Calibri"/>
              </a:rPr>
              <a:t>5%</a:t>
            </a:r>
            <a:r>
              <a:rPr sz="1400">
                <a:solidFill>
                  <a:srgbClr val="E8E8E8"/>
                </a:solidFill>
                <a:latin typeface="Calibri"/>
              </a:rPr>
              <a:t>  →  </a:t>
            </a:r>
            <a:r>
              <a:rPr sz="2800" b="1">
                <a:solidFill>
                  <a:srgbClr val="F47629"/>
                </a:solidFill>
                <a:latin typeface="Calibri"/>
              </a:rPr>
              <a:t>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43484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4CAF50"/>
                </a:solidFill>
                <a:latin typeface="Calibri"/>
              </a:rPr>
              <a:t>▼ </a:t>
            </a:r>
            <a:r>
              <a:rPr sz="1100" b="1">
                <a:solidFill>
                  <a:srgbClr val="4CAF50"/>
                </a:solidFill>
                <a:latin typeface="Calibri"/>
              </a:rPr>
              <a:t>−1 п.п. за 2023→2025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66344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 i="1">
                <a:solidFill>
                  <a:srgbClr val="6B6B6B"/>
                </a:solidFill>
                <a:latin typeface="Calibri"/>
              </a:rPr>
              <a:t>% от оборота · собственный автопарк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356616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657600"/>
            <a:ext cx="26060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00" b="1">
                <a:solidFill>
                  <a:srgbClr val="F47629"/>
                </a:solidFill>
                <a:latin typeface="Calibri"/>
              </a:rPr>
              <a:t>💰  Стоимость тонны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950208"/>
            <a:ext cx="2606040" cy="4572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F47629"/>
                </a:solidFill>
                <a:latin typeface="Calibri"/>
              </a:rPr>
              <a:t>+26%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43484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47629"/>
                </a:solidFill>
                <a:latin typeface="Calibri"/>
              </a:rPr>
              <a:t>▲ </a:t>
            </a:r>
            <a:r>
              <a:rPr sz="1100" b="1">
                <a:solidFill>
                  <a:srgbClr val="F47629"/>
                </a:solidFill>
                <a:latin typeface="Calibri"/>
              </a:rPr>
              <a:t>2024 → 2026 (прогноз)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663440"/>
            <a:ext cx="260604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 i="1">
                <a:solidFill>
                  <a:srgbClr val="6B6B6B"/>
                </a:solidFill>
                <a:latin typeface="Calibri"/>
              </a:rPr>
              <a:t>сдвиг в средний+ и премиум сегмент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512064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5166360"/>
            <a:ext cx="26060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00" b="1">
                <a:solidFill>
                  <a:srgbClr val="F47629"/>
                </a:solidFill>
                <a:latin typeface="Calibri"/>
              </a:rPr>
              <a:t>📦  SKU: сеть + розница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468112"/>
            <a:ext cx="2606040" cy="9601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6B6B6B"/>
                </a:solidFill>
                <a:latin typeface="Calibri"/>
              </a:rPr>
              <a:t>Дистр: </a:t>
            </a:r>
            <a:r>
              <a:rPr sz="1100" b="1">
                <a:solidFill>
                  <a:srgbClr val="222222"/>
                </a:solidFill>
                <a:latin typeface="Calibri"/>
              </a:rPr>
              <a:t>550 SKU</a:t>
            </a:r>
            <a:r>
              <a:rPr sz="900">
                <a:solidFill>
                  <a:srgbClr val="4CAF50"/>
                </a:solidFill>
                <a:latin typeface="Calibri"/>
              </a:rPr>
              <a:t> · очищено от неликвидов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B6B6B"/>
                </a:solidFill>
                <a:latin typeface="Calibri"/>
              </a:rPr>
              <a:t>Сеть (матрица): </a:t>
            </a:r>
            <a:r>
              <a:rPr sz="1100" b="1">
                <a:solidFill>
                  <a:srgbClr val="222222"/>
                </a:solidFill>
                <a:latin typeface="Calibri"/>
              </a:rPr>
              <a:t>150→200</a:t>
            </a:r>
            <a:r>
              <a:rPr sz="1000" b="1">
                <a:solidFill>
                  <a:srgbClr val="F47629"/>
                </a:solidFill>
                <a:latin typeface="Calibri"/>
              </a:rPr>
              <a:t> ▲ +33%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B6B6B"/>
                </a:solidFill>
                <a:latin typeface="Calibri"/>
              </a:rPr>
              <a:t>Прогрузка в сеть: </a:t>
            </a:r>
            <a:r>
              <a:rPr sz="1100" b="1">
                <a:solidFill>
                  <a:srgbClr val="222222"/>
                </a:solidFill>
                <a:latin typeface="Calibri"/>
              </a:rPr>
              <a:t>375 SKU</a:t>
            </a:r>
          </a:p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Розница: </a:t>
            </a:r>
            <a:r>
              <a:rPr sz="1100" b="1">
                <a:solidFill>
                  <a:srgbClr val="222222"/>
                </a:solidFill>
                <a:latin typeface="Calibri"/>
              </a:rPr>
              <a:t>550 SKU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512064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5166360"/>
            <a:ext cx="26060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00" b="1">
                <a:solidFill>
                  <a:srgbClr val="F47629"/>
                </a:solidFill>
                <a:latin typeface="Calibri"/>
              </a:rPr>
              <a:t>📈  Рост ТО 25→26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5468112"/>
            <a:ext cx="2606040" cy="9601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6B6B6B"/>
                </a:solidFill>
                <a:latin typeface="Calibri"/>
              </a:rPr>
              <a:t>Первичка: </a:t>
            </a:r>
            <a:r>
              <a:rPr sz="1100" b="1">
                <a:solidFill>
                  <a:srgbClr val="222222"/>
                </a:solidFill>
                <a:latin typeface="Calibri"/>
              </a:rPr>
              <a:t>+15% т / +20% ₽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B6B6B"/>
                </a:solidFill>
                <a:latin typeface="Calibri"/>
              </a:rPr>
              <a:t>Вторичка: </a:t>
            </a:r>
            <a:r>
              <a:rPr sz="1100" b="1">
                <a:solidFill>
                  <a:srgbClr val="222222"/>
                </a:solidFill>
                <a:latin typeface="Calibri"/>
              </a:rPr>
              <a:t>+5% т / +10% ₽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B6B6B"/>
                </a:solidFill>
                <a:latin typeface="Calibri"/>
              </a:rPr>
              <a:t>Сеть дистры: </a:t>
            </a:r>
            <a:r>
              <a:rPr sz="1100" b="1">
                <a:solidFill>
                  <a:srgbClr val="F47629"/>
                </a:solidFill>
                <a:latin typeface="Calibri"/>
              </a:rPr>
              <a:t>+17% ₽</a:t>
            </a:r>
          </a:p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Розница: </a:t>
            </a:r>
            <a:r>
              <a:rPr sz="1100" b="1">
                <a:solidFill>
                  <a:srgbClr val="6B6B6B"/>
                </a:solidFill>
                <a:latin typeface="Calibri"/>
              </a:rPr>
              <a:t>+2% 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E31E24"/>
                </a:solidFill>
                <a:latin typeface="Calibri"/>
              </a:rPr>
              <a:t>Brozex Group </a:t>
            </a:r>
            <a:r>
              <a:rPr sz="1100">
                <a:solidFill>
                  <a:srgbClr val="FFFFFF"/>
                </a:solidFill>
                <a:latin typeface="Calibri"/>
              </a:rPr>
              <a:t>(г. Екатеринбург, основан 1993)  ·  </a:t>
            </a:r>
            <a:r>
              <a:rPr sz="1100" i="1">
                <a:solidFill>
                  <a:srgbClr val="FBC99A"/>
                </a:solidFill>
                <a:latin typeface="Calibri"/>
              </a:rPr>
              <a:t>партнёр Эмпилс с 2023 года  ·  </a:t>
            </a:r>
            <a:r>
              <a:rPr sz="1100" b="1">
                <a:solidFill>
                  <a:srgbClr val="FFFFFF"/>
                </a:solidFill>
                <a:latin typeface="Calibri"/>
              </a:rPr>
              <a:t>brozex.ru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