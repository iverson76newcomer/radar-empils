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59" r:id="rId6"/>
    <p:sldId id="261" r:id="rId7"/>
    <p:sldId id="262" r:id="rId8"/>
    <p:sldId id="263" r:id="rId9"/>
    <p:sldId id="287" r:id="rId28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РАЗВИТИЕ TITAN В ФЕДЕРАЛЬНЫХ СЕТЯХ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Сейчас: 11 ТТ Лемана Про (ЮФО) · Потенциал: 216 ТТ в 4 федеральных сетях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ФС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7629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43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ТТ 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898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Лемана Про, ЮФО — активно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9728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9525">
            <a:solidFill>
              <a:srgbClr val="D55E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18872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A"/>
                </a:solidFill>
                <a:latin typeface="Calibri"/>
              </a:rPr>
              <a:t>216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143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ТТ ПОТЕНЦИАЛ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3898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4 федеральные сети РФ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97280"/>
            <a:ext cx="370332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31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3131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143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ФЕД. СЕТИ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38988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Лемана · Петрович · Максидом · OBI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1168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214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13131"/>
                </a:solidFill>
                <a:latin typeface="Calibri"/>
              </a:rPr>
              <a:t>ЛЕМАНА ПРО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6888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(бывш. Леруа Мерлен)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88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47629"/>
                </a:solidFill>
                <a:latin typeface="Calibri"/>
              </a:rPr>
              <a:t>112 ТТ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66 городов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66160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661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Calibri"/>
              </a:rPr>
              <a:t>АКТИВНО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566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ОХВАЧЕНО: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1214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7629"/>
                </a:solidFill>
                <a:latin typeface="Calibri"/>
              </a:rPr>
              <a:t>РЕГИОНЫ: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ЮФО: Ростовская, Краснодарский, Волгоградская, Ставропольский, Сев.Осетия, Адыгея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8803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7629"/>
                </a:solidFill>
                <a:latin typeface="Calibri"/>
              </a:rPr>
              <a:t>ПЛАН TITAN: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Расширение на 101 ТТ в остальных регионах: ЦФО, СЗФО, ПФО, УрФО, СибФО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01168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011680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1214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13131"/>
                </a:solidFill>
                <a:latin typeface="Calibri"/>
              </a:rPr>
              <a:t>ПЕТРОВИЧ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6888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СЗФО · ЦФО · УФО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788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D55E0A"/>
                </a:solidFill>
                <a:latin typeface="Calibri"/>
              </a:rPr>
              <a:t>48 ТТ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918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СЗФО + ЦФО + УФО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566160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1214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Санкт-Петербург, Москва, Ленинградская и Московская обл., Урал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8803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0632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Вход через 3-5 пилотных ТТ в СПБ и Москве. Точки класса A (строительно-торговые центры)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16052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160520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2702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13131"/>
                </a:solidFill>
                <a:latin typeface="Calibri"/>
              </a:rPr>
              <a:t>МАКСИДОМ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61772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12 регионов РФ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937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D55E0A"/>
                </a:solidFill>
                <a:latin typeface="Calibri"/>
              </a:rPr>
              <a:t>29 ТТ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44068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12 регионов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715000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7150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42702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453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СПБ, Нижний Новгород, Казань, Екатеринбург, Самара, Уфа, Москва, МО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02920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52120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Пилот в СПБ и Екатеринбурге — 2-3 ТТ. Гипермаркеты DIY, сильный B2C сегмент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416052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4160520"/>
            <a:ext cx="73152" cy="201168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2702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13131"/>
                </a:solidFill>
                <a:latin typeface="Calibri"/>
              </a:rPr>
              <a:t>OBI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61772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Оби · 12-14 городов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937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D55E0A"/>
                </a:solidFill>
                <a:latin typeface="Calibri"/>
              </a:rPr>
              <a:t>27 ТТ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44068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12-14 городов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5715000"/>
            <a:ext cx="2011680" cy="32004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7150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42702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4453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Москва (8), СПБ (5), Нижний Новгород (2), Казань, Самара, Краснодар, др.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20" y="502920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9720" y="52120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313131"/>
                </a:solidFill>
                <a:latin typeface="Calibri"/>
              </a:rPr>
              <a:t>Вход через 2 пилотных ТТ в Москве. Восстановление сети после 2022 г.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6355080"/>
            <a:ext cx="11274552" cy="320040"/>
          </a:xfrm>
          <a:prstGeom prst="roundRect">
            <a:avLst>
              <a:gd name="adj" fmla="val 5000"/>
            </a:avLst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СТРАТЕГИЯ: от 11 ТТ (Лемана ЮФО) → 216 ТТ (4 фед. сети) · Поэтапный вход через пилоты в каждой сети · 2026-2027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