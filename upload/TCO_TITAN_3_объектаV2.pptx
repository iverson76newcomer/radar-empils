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8"/>
  </p:handoutMasterIdLst>
  <p:sldIdLst>
    <p:sldId id="257" r:id="rId2"/>
    <p:sldId id="256" r:id="rId3"/>
    <p:sldId id="259" r:id="rId4"/>
    <p:sldId id="258" r:id="rId5"/>
    <p:sldId id="261" r:id="rId6"/>
    <p:sldId id="260" r:id="rId7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C9D4C-8084-49BD-9DF3-853E6468EF78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0B89-9E3E-4D18-9FD1-C1328E946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876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18" y="1699295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Ворота распашные металлические (дача / гараж / дом)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52783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1818" y="1987296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818" y="200529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t>3.5 × 2.0 м (стандарт по СНиП 2.07.01-89)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5817" y="1987296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818" y="200529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16 м²  |  16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818" y="2419296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818" y="2599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818" y="2779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665₽/цикл  |  Работа: 2,800₽/цикл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3818" y="2653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3818" y="2653296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1818" y="2635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13,860₽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818" y="3175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818" y="3355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1,232₽/цикл  |  Работа: 3,800₽/цикл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3818" y="3229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3818" y="3229296"/>
            <a:ext cx="4051740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71818" y="3211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10,064₽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818" y="3751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818" y="3931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3,520₽/цикл  |  Работа: 1,800₽/цикл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3818" y="3805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63818" y="3805296"/>
            <a:ext cx="2141818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13636" y="3787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5,320₽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7564" y="1120142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7564" y="1211338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7564" y="1463338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rPr dirty="0"/>
              <a:t>8,540₽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7564" y="1931337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rPr dirty="0"/>
              <a:t>61% </a:t>
            </a:r>
            <a:r>
              <a:rPr dirty="0" err="1"/>
              <a:t>экономии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251818" y="4507295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818" y="4561295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8,540₽ (61%)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20" y="6282733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Подробнее</a:t>
            </a:r>
            <a:r>
              <a:rPr dirty="0"/>
              <a:t> </a:t>
            </a:r>
            <a:r>
              <a:rPr dirty="0" err="1"/>
              <a:t>см</a:t>
            </a:r>
            <a:r>
              <a:rPr dirty="0"/>
              <a:t>. </a:t>
            </a:r>
            <a:r>
              <a:rPr dirty="0" err="1"/>
              <a:t>слайд</a:t>
            </a:r>
            <a:r>
              <a:rPr dirty="0"/>
              <a:t> «</a:t>
            </a:r>
            <a:r>
              <a:rPr dirty="0" err="1"/>
              <a:t>Расчёт</a:t>
            </a:r>
            <a:r>
              <a:rPr dirty="0"/>
              <a:t> TCO»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94096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Ворота</a:t>
            </a:r>
            <a:r>
              <a:rPr dirty="0"/>
              <a:t> </a:t>
            </a:r>
            <a:r>
              <a:rPr dirty="0" err="1"/>
              <a:t>распашные</a:t>
            </a:r>
            <a:r>
              <a:rPr dirty="0"/>
              <a:t> </a:t>
            </a:r>
            <a:r>
              <a:rPr dirty="0" err="1"/>
              <a:t>металлические</a:t>
            </a:r>
            <a:r>
              <a:rPr dirty="0"/>
              <a:t> (</a:t>
            </a:r>
            <a:r>
              <a:rPr dirty="0" err="1"/>
              <a:t>дача</a:t>
            </a:r>
            <a:r>
              <a:rPr dirty="0"/>
              <a:t> / </a:t>
            </a:r>
            <a:r>
              <a:rPr dirty="0" err="1"/>
              <a:t>гараж</a:t>
            </a:r>
            <a:r>
              <a:rPr dirty="0"/>
              <a:t> / </a:t>
            </a:r>
            <a:r>
              <a:rPr dirty="0" err="1"/>
              <a:t>дом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84" y="5912156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2000" y="1654278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690278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Ворота распашные металлические (дача / гараж / дом)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3.5 × 2.0 м (стандарт по СНиП 2.07.01-89)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3.5 × 2.0 × 2 стороны + стойки ≈ 16 м² = 16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80955"/>
              </p:ext>
            </p:extLst>
          </p:nvPr>
        </p:nvGraphicFramePr>
        <p:xfrm>
          <a:off x="231355" y="2505378"/>
          <a:ext cx="6840000" cy="26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rPr dirty="0" err="1"/>
                        <a:t>Параметр</a:t>
                      </a:r>
                      <a:endParaRPr dirty="0"/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4.2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5.3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3.8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665₽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1,232₽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3,520₽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1,800₽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13,860₽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10,064₽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rPr dirty="0"/>
                        <a:t>5,320₽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01724" y="2644498"/>
            <a:ext cx="4500000" cy="1201315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87264" y="2744787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rPr dirty="0"/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rPr dirty="0"/>
              <a:t>TITAN 3в1 </a:t>
            </a:r>
            <a:r>
              <a:rPr dirty="0" err="1"/>
              <a:t>экономит</a:t>
            </a:r>
            <a:r>
              <a:rPr dirty="0"/>
              <a:t> 8,540₽ </a:t>
            </a:r>
            <a:r>
              <a:rPr dirty="0" err="1"/>
              <a:t>за</a:t>
            </a:r>
            <a:r>
              <a:rPr dirty="0"/>
              <a:t> 10 </a:t>
            </a:r>
            <a:r>
              <a:rPr dirty="0" err="1"/>
              <a:t>лет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rPr dirty="0"/>
              <a:t>(61% </a:t>
            </a:r>
            <a:r>
              <a:rPr dirty="0" err="1"/>
              <a:t>дешевле</a:t>
            </a:r>
            <a:r>
              <a:rPr dirty="0"/>
              <a:t>) — </a:t>
            </a:r>
            <a:r>
              <a:rPr dirty="0" err="1"/>
              <a:t>красите</a:t>
            </a:r>
            <a:r>
              <a:rPr dirty="0"/>
              <a:t> 1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Почему</a:t>
            </a:r>
            <a:r>
              <a:rPr dirty="0"/>
              <a:t>: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10 </a:t>
            </a:r>
            <a:r>
              <a:rPr dirty="0" err="1"/>
              <a:t>лет</a:t>
            </a:r>
            <a:r>
              <a:rPr dirty="0"/>
              <a:t> </a:t>
            </a:r>
            <a:r>
              <a:rPr dirty="0" err="1"/>
              <a:t>vs</a:t>
            </a:r>
            <a:r>
              <a:rPr dirty="0"/>
              <a:t> 2-5 </a:t>
            </a:r>
            <a:r>
              <a:rPr dirty="0" err="1"/>
              <a:t>лет</a:t>
            </a:r>
            <a:r>
              <a:rPr dirty="0"/>
              <a:t>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грунтовка</a:t>
            </a:r>
            <a:r>
              <a:rPr dirty="0"/>
              <a:t>, </a:t>
            </a:r>
            <a:r>
              <a:rPr dirty="0" err="1"/>
              <a:t>наносится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01724" y="3953813"/>
            <a:ext cx="4500000" cy="1199215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1448" y="4041998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 </a:t>
            </a:r>
            <a:r>
              <a:rPr dirty="0" err="1"/>
              <a:t>цикл</a:t>
            </a:r>
            <a:r>
              <a:rPr dirty="0"/>
              <a:t>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Подготовка</a:t>
            </a:r>
            <a:r>
              <a:rPr dirty="0"/>
              <a:t>: </a:t>
            </a:r>
            <a:r>
              <a:rPr dirty="0" err="1"/>
              <a:t>зачистка</a:t>
            </a:r>
            <a:r>
              <a:rPr dirty="0"/>
              <a:t>, </a:t>
            </a:r>
            <a:r>
              <a:rPr dirty="0" err="1"/>
              <a:t>обезжиривание</a:t>
            </a:r>
            <a:r>
              <a:rPr dirty="0"/>
              <a:t>, </a:t>
            </a:r>
            <a:r>
              <a:rPr dirty="0" err="1"/>
              <a:t>грунтование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Покраска</a:t>
            </a:r>
            <a:r>
              <a:rPr dirty="0"/>
              <a:t>: ~50₽/м² × 16 м² = 800₽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/>
              <a:t>TITAN: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нужно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 err="1"/>
              <a:t>грунтовать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наносить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r>
              <a:rPr dirty="0"/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064248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ГАРАЖ МЕТАЛЛИЧЕСКИЙ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1632104"/>
            <a:ext cx="62657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Гараж-ракушка</a:t>
            </a:r>
            <a:r>
              <a:rPr dirty="0"/>
              <a:t> / </a:t>
            </a:r>
            <a:r>
              <a:rPr dirty="0" err="1"/>
              <a:t>металлический</a:t>
            </a:r>
            <a:r>
              <a:rPr dirty="0"/>
              <a:t> </a:t>
            </a:r>
            <a:r>
              <a:rPr dirty="0" err="1"/>
              <a:t>пенал</a:t>
            </a:r>
            <a:r>
              <a:rPr dirty="0"/>
              <a:t> (</a:t>
            </a:r>
            <a:r>
              <a:rPr dirty="0" err="1"/>
              <a:t>типовой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73997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6000" y="194948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7816" y="199175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rPr dirty="0"/>
              <a:t>3.0 × 6.0 × 2.0 м (</a:t>
            </a:r>
            <a:r>
              <a:rPr dirty="0" err="1"/>
              <a:t>стандарт</a:t>
            </a:r>
            <a:r>
              <a:rPr dirty="0"/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9998" y="1949480"/>
            <a:ext cx="3241721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7539" y="1991756"/>
            <a:ext cx="31337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rPr dirty="0" err="1"/>
              <a:t>Площадь</a:t>
            </a:r>
            <a:r>
              <a:rPr dirty="0"/>
              <a:t>: 54 м²  |  48 м² </a:t>
            </a:r>
            <a:r>
              <a:rPr dirty="0" err="1"/>
              <a:t>стен</a:t>
            </a:r>
            <a:r>
              <a:rPr dirty="0"/>
              <a:t> + </a:t>
            </a:r>
            <a:r>
              <a:rPr dirty="0" err="1"/>
              <a:t>крыша</a:t>
            </a:r>
            <a:r>
              <a:rPr dirty="0"/>
              <a:t> ≈ 54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24624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" y="26424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" y="28224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2,223₽/цикл  |  Работа: 8,700₽/цикл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8000" y="26964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8000" y="2696400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6000" y="26784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43,692₽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" y="32184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00" y="33984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4,144₽/цикл  |  Работа: 11,700₽/цикл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8000" y="32724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8000" y="3272400"/>
            <a:ext cx="4046943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6000" y="32544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31,688₽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000" y="37944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000" y="39744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11,880₽/цикл  |  Работа: 5,700₽/цикл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8000" y="38484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28000" y="3848400"/>
            <a:ext cx="2245179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81179" y="38304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17,580₽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9840" y="1081624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9840" y="1117624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9840" y="1369624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rPr dirty="0"/>
              <a:t>26,112₽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9840" y="1837623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t>59% экономии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6000" y="4469479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000" y="4523479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26,112₽ (59%)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6217997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Подробнее</a:t>
            </a:r>
            <a:r>
              <a:rPr dirty="0"/>
              <a:t> </a:t>
            </a:r>
            <a:r>
              <a:rPr dirty="0" err="1"/>
              <a:t>см</a:t>
            </a:r>
            <a:r>
              <a:rPr dirty="0"/>
              <a:t>. </a:t>
            </a:r>
            <a:r>
              <a:rPr dirty="0" err="1"/>
              <a:t>слайд</a:t>
            </a:r>
            <a:r>
              <a:rPr dirty="0"/>
              <a:t> «</a:t>
            </a:r>
            <a:r>
              <a:rPr dirty="0" err="1"/>
              <a:t>Расчёт</a:t>
            </a:r>
            <a:r>
              <a:rPr dirty="0"/>
              <a:t> TCO»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ГАРАЖ МЕТАЛЛИЧЕСКИЙ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129701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Гараж-ракушка</a:t>
            </a:r>
            <a:r>
              <a:rPr dirty="0"/>
              <a:t> / </a:t>
            </a:r>
            <a:r>
              <a:rPr dirty="0" err="1"/>
              <a:t>металлический</a:t>
            </a:r>
            <a:r>
              <a:rPr dirty="0"/>
              <a:t> </a:t>
            </a:r>
            <a:r>
              <a:rPr dirty="0" err="1"/>
              <a:t>пенал</a:t>
            </a:r>
            <a:r>
              <a:rPr dirty="0"/>
              <a:t> (</a:t>
            </a:r>
            <a:r>
              <a:rPr dirty="0" err="1"/>
              <a:t>типовой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2549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6000" y="1602223"/>
            <a:ext cx="5472000" cy="67425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5999" y="1664474"/>
            <a:ext cx="501855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Объект</a:t>
            </a:r>
            <a:r>
              <a:rPr dirty="0"/>
              <a:t>: </a:t>
            </a:r>
            <a:r>
              <a:rPr dirty="0" err="1"/>
              <a:t>Гараж-ракушка</a:t>
            </a:r>
            <a:r>
              <a:rPr dirty="0"/>
              <a:t> / </a:t>
            </a:r>
            <a:r>
              <a:rPr dirty="0" err="1"/>
              <a:t>металлический</a:t>
            </a:r>
            <a:r>
              <a:rPr dirty="0"/>
              <a:t> </a:t>
            </a:r>
            <a:r>
              <a:rPr dirty="0" err="1"/>
              <a:t>пенал</a:t>
            </a:r>
            <a:r>
              <a:rPr dirty="0"/>
              <a:t> (</a:t>
            </a:r>
            <a:r>
              <a:rPr dirty="0" err="1"/>
              <a:t>типовой</a:t>
            </a:r>
            <a:r>
              <a:rPr dirty="0"/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rPr dirty="0" err="1"/>
              <a:t>Размеры</a:t>
            </a:r>
            <a:r>
              <a:rPr dirty="0"/>
              <a:t>: 3.0 × 6.0 × 2.0 м (</a:t>
            </a:r>
            <a:r>
              <a:rPr dirty="0" err="1"/>
              <a:t>стандарт</a:t>
            </a:r>
            <a:r>
              <a:rPr dirty="0"/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rPr dirty="0" err="1"/>
              <a:t>Площадь</a:t>
            </a:r>
            <a:r>
              <a:rPr dirty="0"/>
              <a:t> </a:t>
            </a:r>
            <a:r>
              <a:rPr dirty="0" err="1"/>
              <a:t>окраски</a:t>
            </a:r>
            <a:r>
              <a:rPr dirty="0"/>
              <a:t>: 2×(3×2) + 2×(6×2) + 3×6 = 6+24+18 = 48 м² </a:t>
            </a:r>
            <a:r>
              <a:rPr dirty="0" err="1"/>
              <a:t>стен</a:t>
            </a:r>
            <a:r>
              <a:rPr dirty="0"/>
              <a:t> + </a:t>
            </a:r>
            <a:r>
              <a:rPr dirty="0" err="1"/>
              <a:t>крыша</a:t>
            </a:r>
            <a:r>
              <a:rPr dirty="0"/>
              <a:t> ≈ 54 м² = 54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16583"/>
              </p:ext>
            </p:extLst>
          </p:nvPr>
        </p:nvGraphicFramePr>
        <p:xfrm>
          <a:off x="288000" y="2556013"/>
          <a:ext cx="6840000" cy="26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Параметр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14.0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17.8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13.0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2,223₽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4,144₽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11,880₽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8,700₽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11,700₽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5,700₽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43,692₽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31,688₽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17,580₽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98252" y="2592890"/>
            <a:ext cx="4500000" cy="1007999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42252" y="2664889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TITAN 3в1 экономит 26,112₽ за 10 лет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(59% дешевле) — красите 1 раз вместо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Почему: срок службы 10 лет vs 2-5 лет,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не нужна грунтовка, наносится на ржавчину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8252" y="3708890"/>
            <a:ext cx="4500000" cy="108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42252" y="3780890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t>Стоимость работы за 1 цикл: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Подготовка: зачистка, обезжиривание, грунтование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Покраска: ~50₽/м² × 54 м² = 2,700₽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TITAN: подготовка проще — не нужно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грунтовать, можно наносить на ржавчину!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266549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Цена</a:t>
            </a:r>
            <a:r>
              <a:rPr dirty="0"/>
              <a:t> TITAN: 765₽/0.75л, 1 720₽/2л, 5 720₽/8.5л (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Инструменты</a:t>
            </a:r>
            <a:r>
              <a:rPr dirty="0"/>
              <a:t>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ДВЕРЬ ВХОДНАЯ МЕТАЛЛИЧЕСКАЯ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988" y="1774443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Входная</a:t>
            </a:r>
            <a:r>
              <a:rPr dirty="0"/>
              <a:t> </a:t>
            </a:r>
            <a:r>
              <a:rPr dirty="0" err="1"/>
              <a:t>дверь</a:t>
            </a:r>
            <a:r>
              <a:rPr dirty="0"/>
              <a:t> в </a:t>
            </a:r>
            <a:r>
              <a:rPr dirty="0" err="1"/>
              <a:t>дом</a:t>
            </a:r>
            <a:r>
              <a:rPr dirty="0"/>
              <a:t> / </a:t>
            </a:r>
            <a:r>
              <a:rPr dirty="0" err="1"/>
              <a:t>квартиру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065905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1816" y="2062444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816" y="2080444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t>960 × 2050 мм (стандарт ГОСТ 31173-2003)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5815" y="2062444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03816" y="2080444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4.4 м²  |  4.4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816" y="2494444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816" y="2674444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816" y="2854444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190₽/цикл  |  Работа: 970₽/цикл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3816" y="2728444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83816" y="2728444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1816" y="2710444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4,640₽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816" y="3250444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816" y="3430444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336₽/цикл  |  Работа: 1,220₽/цикл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3816" y="3304444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83816" y="3304444"/>
            <a:ext cx="3742448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91816" y="3286444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3,112₽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816" y="3826444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816" y="4006444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990₽/цикл  |  Работа: 620₽/цикл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3816" y="3880444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83816" y="3880444"/>
            <a:ext cx="1936163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7979" y="3862444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1,610₽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6050" y="1220516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36050" y="1256516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6050" y="1508516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t>3,030₽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6050" y="1976515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t>65% экономии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816" y="4582443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816" y="4636443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3,030₽ (65%)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6209905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Подробнее</a:t>
            </a:r>
            <a:r>
              <a:rPr dirty="0"/>
              <a:t> </a:t>
            </a:r>
            <a:r>
              <a:rPr dirty="0" err="1"/>
              <a:t>см</a:t>
            </a:r>
            <a:r>
              <a:rPr dirty="0"/>
              <a:t>. </a:t>
            </a:r>
            <a:r>
              <a:rPr dirty="0" err="1"/>
              <a:t>слайд</a:t>
            </a:r>
            <a:r>
              <a:rPr dirty="0"/>
              <a:t> «</a:t>
            </a:r>
            <a:r>
              <a:rPr dirty="0" err="1"/>
              <a:t>Расчёт</a:t>
            </a:r>
            <a:r>
              <a:rPr dirty="0"/>
              <a:t> TCO»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ДВЕРЬ ВХОДНАЯ МЕТАЛЛИЧЕСКАЯ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943773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Входная</a:t>
            </a:r>
            <a:r>
              <a:rPr dirty="0"/>
              <a:t> </a:t>
            </a:r>
            <a:r>
              <a:rPr dirty="0" err="1"/>
              <a:t>дверь</a:t>
            </a:r>
            <a:r>
              <a:rPr dirty="0"/>
              <a:t> в </a:t>
            </a:r>
            <a:r>
              <a:rPr dirty="0" err="1"/>
              <a:t>дом</a:t>
            </a:r>
            <a:r>
              <a:rPr dirty="0"/>
              <a:t> / </a:t>
            </a:r>
            <a:r>
              <a:rPr dirty="0" err="1"/>
              <a:t>квартиру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5984984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000" y="1290072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6000" y="1326072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Входная дверь в дом / квартиру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960 × 2050 мм (стандарт ГОСТ 31173-2003)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0.9×2.05×2 стороны + рама + торцы ≈ 4.4 м² = 4.4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06168"/>
              </p:ext>
            </p:extLst>
          </p:nvPr>
        </p:nvGraphicFramePr>
        <p:xfrm>
          <a:off x="328460" y="1994716"/>
          <a:ext cx="6840000" cy="26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Параметр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1.5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336₽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990₽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970₽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1,220₽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620₽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4,640₽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3,112₽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rPr dirty="0"/>
                        <a:t>1,610₽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6252" y="1780249"/>
            <a:ext cx="4500000" cy="1217434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27884" y="1916026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rPr dirty="0"/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rPr dirty="0"/>
              <a:t>TITAN 3в1 </a:t>
            </a:r>
            <a:r>
              <a:rPr dirty="0" err="1"/>
              <a:t>экономит</a:t>
            </a:r>
            <a:r>
              <a:rPr dirty="0"/>
              <a:t> 3,030₽ </a:t>
            </a:r>
            <a:r>
              <a:rPr dirty="0" err="1"/>
              <a:t>за</a:t>
            </a:r>
            <a:r>
              <a:rPr dirty="0"/>
              <a:t> 10 </a:t>
            </a:r>
            <a:r>
              <a:rPr dirty="0" err="1"/>
              <a:t>лет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rPr dirty="0"/>
              <a:t>(65% </a:t>
            </a:r>
            <a:r>
              <a:rPr dirty="0" err="1"/>
              <a:t>дешевле</a:t>
            </a:r>
            <a:r>
              <a:rPr dirty="0"/>
              <a:t>) — </a:t>
            </a:r>
            <a:r>
              <a:rPr dirty="0" err="1"/>
              <a:t>красите</a:t>
            </a:r>
            <a:r>
              <a:rPr dirty="0"/>
              <a:t> 1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Почему</a:t>
            </a:r>
            <a:r>
              <a:rPr dirty="0"/>
              <a:t>: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10 </a:t>
            </a:r>
            <a:r>
              <a:rPr dirty="0" err="1"/>
              <a:t>лет</a:t>
            </a:r>
            <a:r>
              <a:rPr dirty="0"/>
              <a:t> </a:t>
            </a:r>
            <a:r>
              <a:rPr dirty="0" err="1"/>
              <a:t>vs</a:t>
            </a:r>
            <a:r>
              <a:rPr dirty="0"/>
              <a:t> 2-5 </a:t>
            </a:r>
            <a:r>
              <a:rPr dirty="0" err="1"/>
              <a:t>лет</a:t>
            </a:r>
            <a:r>
              <a:rPr dirty="0"/>
              <a:t>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грунтовка</a:t>
            </a:r>
            <a:r>
              <a:rPr dirty="0"/>
              <a:t>, </a:t>
            </a:r>
            <a:r>
              <a:rPr dirty="0" err="1"/>
              <a:t>наносится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6252" y="3105683"/>
            <a:ext cx="4500000" cy="1288292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028" y="3177683"/>
            <a:ext cx="4320224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 </a:t>
            </a:r>
            <a:r>
              <a:rPr dirty="0" err="1"/>
              <a:t>цикл</a:t>
            </a:r>
            <a:r>
              <a:rPr dirty="0"/>
              <a:t>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Подготовка</a:t>
            </a:r>
            <a:r>
              <a:rPr dirty="0"/>
              <a:t>: </a:t>
            </a:r>
            <a:r>
              <a:rPr dirty="0" err="1"/>
              <a:t>зачистка</a:t>
            </a:r>
            <a:r>
              <a:rPr dirty="0"/>
              <a:t>, </a:t>
            </a:r>
            <a:r>
              <a:rPr dirty="0" err="1"/>
              <a:t>обезжиривание</a:t>
            </a:r>
            <a:r>
              <a:rPr dirty="0"/>
              <a:t>, </a:t>
            </a:r>
            <a:r>
              <a:rPr dirty="0" err="1"/>
              <a:t>грунтование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Покраска</a:t>
            </a:r>
            <a:r>
              <a:rPr dirty="0"/>
              <a:t>: ~50₽/м² × 4.4 м² = 220₽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/>
              <a:t>TITAN: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нужно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 err="1"/>
              <a:t>грунтовать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наносить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r>
              <a:rPr dirty="0"/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128984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1450</Words>
  <Application>Microsoft Office PowerPoint</Application>
  <PresentationFormat>Произвольный</PresentationFormat>
  <Paragraphs>258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</cp:revision>
  <cp:lastPrinted>2026-06-22T08:07:02Z</cp:lastPrinted>
  <dcterms:created xsi:type="dcterms:W3CDTF">2013-01-27T09:14:16Z</dcterms:created>
  <dcterms:modified xsi:type="dcterms:W3CDTF">2026-06-22T08:11:21Z</dcterms:modified>
  <cp:category/>
</cp:coreProperties>
</file>