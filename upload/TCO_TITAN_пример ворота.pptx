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4"/>
  </p:handoutMasterIdLst>
  <p:sldIdLst>
    <p:sldId id="257" r:id="rId2"/>
    <p:sldId id="256" r:id="rId3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8" d="100"/>
          <a:sy n="118" d="100"/>
        </p:scale>
        <p:origin x="-2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C9D4C-8084-49BD-9DF3-853E6468EF78}" type="datetimeFigureOut">
              <a:rPr lang="ru-RU" smtClean="0"/>
              <a:t>08.07.2026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1696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E0B89-9E3E-4D18-9FD1-C1328E946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876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t>TCO: ВЪЕЗДНЫЕ ВОРОТА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818" y="1699295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t>Ворота распашные металлические (дача / гараж / дом)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52783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1818" y="1987296"/>
            <a:ext cx="2880000" cy="306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9818" y="2005296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2540"/>
                </a:solidFill>
                <a:latin typeface="Carlito"/>
              </a:defRPr>
            </a:pPr>
            <a:r>
              <a:rPr dirty="0"/>
              <a:t>3.5 × 2.0 м (</a:t>
            </a:r>
            <a:r>
              <a:rPr dirty="0" err="1"/>
              <a:t>стандарт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СНиП</a:t>
            </a:r>
            <a:r>
              <a:rPr dirty="0"/>
              <a:t> 2.07.01-89)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5817" y="1987296"/>
            <a:ext cx="2880000" cy="306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63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818" y="2005296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4500"/>
                </a:solidFill>
                <a:latin typeface="Carlito"/>
              </a:defRPr>
            </a:pPr>
            <a:r>
              <a:t>Площадь: 16 м²  |  16 м²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818" y="2419296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890"/>
                </a:solidFill>
                <a:latin typeface="Carlito"/>
              </a:defRPr>
            </a:pPr>
            <a:r>
              <a:t>Совокупная стоимость владения за 10 лет (материал + работа)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818" y="2599296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ЭКОНОМ (без грунта)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818" y="2779296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665₽/цикл  |  Работа: 2,800₽/цикл  |  Перекрасок: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3818" y="2653296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63818" y="2653296"/>
            <a:ext cx="5580000" cy="30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71818" y="2635296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13,860₽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818" y="3175296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+ ГФ-021 (грунт + эмаль)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818" y="3355296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1,232₽/цикл  |  Работа: 3,800₽/цикл  |  Перекрасок: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3818" y="3229296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63818" y="3229296"/>
            <a:ext cx="4051740" cy="30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71818" y="3211296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10,064₽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818" y="3751296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7D46"/>
                </a:solidFill>
                <a:latin typeface="Carlito"/>
              </a:defRPr>
            </a:pPr>
            <a:r>
              <a:t>TITAN 3в1 (грунт+эмаль+защита)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818" y="3931296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3,520₽/цикл  |  Работа: 1,800₽/цикл  |  Перекрасок: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3818" y="3805296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63818" y="3805296"/>
            <a:ext cx="2141818" cy="306000"/>
          </a:xfrm>
          <a:prstGeom prst="rect">
            <a:avLst/>
          </a:prstGeom>
          <a:solidFill>
            <a:srgbClr val="1B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13636" y="3787296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3A3A"/>
                </a:solidFill>
                <a:latin typeface="Carlito"/>
              </a:defRPr>
            </a:pPr>
            <a:r>
              <a:t>5,320₽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7564" y="1120142"/>
            <a:ext cx="3060000" cy="1152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2540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7564" y="1211338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7D46"/>
                </a:solidFill>
                <a:latin typeface="Carlito"/>
              </a:defRPr>
            </a:pPr>
            <a:r>
              <a:t>ЭКОНОМИЯ ЗА 10 ЛЕТ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7564" y="1463338"/>
            <a:ext cx="30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7D46"/>
                </a:solidFill>
                <a:latin typeface="Carlito"/>
              </a:defRPr>
            </a:pPr>
            <a:r>
              <a:rPr dirty="0"/>
              <a:t>8,540₽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7564" y="1931337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B7D46"/>
                </a:solidFill>
                <a:latin typeface="Carlito"/>
              </a:defRPr>
            </a:pPr>
            <a:r>
              <a:rPr dirty="0"/>
              <a:t>61% </a:t>
            </a:r>
            <a:r>
              <a:rPr dirty="0" err="1"/>
              <a:t>экономии</a:t>
            </a:r>
            <a:endParaRPr dirty="0"/>
          </a:p>
        </p:txBody>
      </p:sp>
      <p:sp>
        <p:nvSpPr>
          <p:cNvPr id="31" name="Rounded Rectangle 30"/>
          <p:cNvSpPr/>
          <p:nvPr/>
        </p:nvSpPr>
        <p:spPr>
          <a:xfrm>
            <a:off x="251818" y="4507295"/>
            <a:ext cx="10980000" cy="468000"/>
          </a:xfrm>
          <a:prstGeom prst="roundRect">
            <a:avLst>
              <a:gd name="adj" fmla="val 5000"/>
            </a:avLst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1818" y="4561295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rlito"/>
              </a:defRPr>
            </a:pPr>
            <a:r>
              <a:t>TITAN 3в1: красите 1 раз на 10 лет вместо 4 раз  —  экономия 8,540₽ (61%)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620" y="6282733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rPr dirty="0"/>
              <a:t>* </a:t>
            </a:r>
            <a:r>
              <a:rPr dirty="0" err="1"/>
              <a:t>Подробнее</a:t>
            </a:r>
            <a:r>
              <a:rPr dirty="0"/>
              <a:t> </a:t>
            </a:r>
            <a:r>
              <a:rPr dirty="0" err="1"/>
              <a:t>см</a:t>
            </a:r>
            <a:r>
              <a:rPr dirty="0"/>
              <a:t>. </a:t>
            </a:r>
            <a:r>
              <a:rPr dirty="0" err="1"/>
              <a:t>слайд</a:t>
            </a:r>
            <a:r>
              <a:rPr dirty="0"/>
              <a:t> «</a:t>
            </a:r>
            <a:r>
              <a:rPr dirty="0" err="1"/>
              <a:t>Расчёт</a:t>
            </a:r>
            <a:r>
              <a:rPr dirty="0"/>
              <a:t> TCO»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rPr dirty="0"/>
              <a:t>РАСЧЁТ </a:t>
            </a:r>
            <a:r>
              <a:rPr lang="ru-RU" smtClean="0"/>
              <a:t>ССВ</a:t>
            </a:r>
            <a:r>
              <a:rPr smtClean="0"/>
              <a:t>: </a:t>
            </a:r>
            <a:r>
              <a:rPr dirty="0"/>
              <a:t>ВЪЕЗДНЫЕ ВОРОТА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940969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rPr dirty="0" err="1"/>
              <a:t>Ворота</a:t>
            </a:r>
            <a:r>
              <a:rPr dirty="0"/>
              <a:t> </a:t>
            </a:r>
            <a:r>
              <a:rPr dirty="0" err="1"/>
              <a:t>распашные</a:t>
            </a:r>
            <a:r>
              <a:rPr dirty="0"/>
              <a:t> </a:t>
            </a:r>
            <a:r>
              <a:rPr dirty="0" err="1"/>
              <a:t>металлические</a:t>
            </a:r>
            <a:r>
              <a:rPr dirty="0"/>
              <a:t> (</a:t>
            </a:r>
            <a:r>
              <a:rPr dirty="0" err="1"/>
              <a:t>дача</a:t>
            </a:r>
            <a:r>
              <a:rPr dirty="0"/>
              <a:t> / </a:t>
            </a:r>
            <a:r>
              <a:rPr dirty="0" err="1"/>
              <a:t>гараж</a:t>
            </a:r>
            <a:r>
              <a:rPr dirty="0"/>
              <a:t> / </a:t>
            </a:r>
            <a:r>
              <a:rPr dirty="0" err="1"/>
              <a:t>дом</a:t>
            </a:r>
            <a:r>
              <a:rPr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6184" y="5912156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2000" y="1654278"/>
            <a:ext cx="5040000" cy="576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690278"/>
            <a:ext cx="48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t>Объект: Ворота распашные металлические (дача / гараж / дом)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t>Размеры: 3.5 × 2.0 м (стандарт по СНиП 2.07.01-89)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8B4500"/>
                </a:solidFill>
                <a:latin typeface="Carlito"/>
              </a:defRPr>
            </a:pPr>
            <a:r>
              <a:t>Площадь окраски: 3.5 × 2.0 × 2 стороны + стойки ≈ 16 м² = 16 м²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280955"/>
              </p:ext>
            </p:extLst>
          </p:nvPr>
        </p:nvGraphicFramePr>
        <p:xfrm>
          <a:off x="231355" y="2505378"/>
          <a:ext cx="6840000" cy="268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620000"/>
                <a:gridCol w="1800000"/>
                <a:gridCol w="1800000"/>
              </a:tblGrid>
              <a:tr h="23400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rPr dirty="0" err="1"/>
                        <a:t>Параметр</a:t>
                      </a:r>
                      <a:endParaRPr dirty="0"/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ЭКОНОМ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(без грунта)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+ ГФ-021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 + эмаль)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TITAN 3в1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(грунт+эмаль+защита)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Краска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Эмаль ПФ-115 ЭКОНОМ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ГФ-021 грунт + ПФ-115 КМ эмаль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Грунт-эмаль TITAN 3в1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Цена за 1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190₽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280₽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Расход (г/м² × слой)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130 × 2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 × 3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120 × 2 сл.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Краски на 1 цикл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4.2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5.3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3.8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Материал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665₽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1,232₽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3,520₽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Подготовка поверхности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 + грунтование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Очистка от рыхлой ржавчины (без грунтования!)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Работа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2,800₽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3,800₽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1,800₽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Срок службы покрытия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2.5 года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5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Перекрасок за 10 лет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ИТОГО TCO за 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13,860₽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10,064₽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rPr dirty="0"/>
                        <a:t>5,320₽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01724" y="2644498"/>
            <a:ext cx="4500000" cy="1201315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87264" y="2744787"/>
            <a:ext cx="424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1B7D46"/>
                </a:solidFill>
                <a:latin typeface="Carlito"/>
              </a:defRPr>
            </a:pPr>
            <a:r>
              <a:rPr dirty="0"/>
              <a:t>КЛЮЧЕВОЙ ВЫВОД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rPr dirty="0"/>
              <a:t>TITAN 3в1 </a:t>
            </a:r>
            <a:r>
              <a:rPr dirty="0" err="1"/>
              <a:t>экономит</a:t>
            </a:r>
            <a:r>
              <a:rPr dirty="0"/>
              <a:t> 8,540₽ </a:t>
            </a:r>
            <a:r>
              <a:rPr dirty="0" err="1"/>
              <a:t>за</a:t>
            </a:r>
            <a:r>
              <a:rPr dirty="0"/>
              <a:t> 10 </a:t>
            </a:r>
            <a:r>
              <a:rPr dirty="0" err="1"/>
              <a:t>лет</a:t>
            </a: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rPr dirty="0"/>
              <a:t>(61% </a:t>
            </a:r>
            <a:r>
              <a:rPr dirty="0" err="1"/>
              <a:t>дешевле</a:t>
            </a:r>
            <a:r>
              <a:rPr dirty="0"/>
              <a:t>) — </a:t>
            </a:r>
            <a:r>
              <a:rPr dirty="0" err="1"/>
              <a:t>красите</a:t>
            </a:r>
            <a:r>
              <a:rPr dirty="0"/>
              <a:t> 1 </a:t>
            </a:r>
            <a:r>
              <a:rPr dirty="0" err="1"/>
              <a:t>раз</a:t>
            </a:r>
            <a:r>
              <a:rPr dirty="0"/>
              <a:t> </a:t>
            </a:r>
            <a:r>
              <a:rPr dirty="0" err="1"/>
              <a:t>вместо</a:t>
            </a:r>
            <a:r>
              <a:rPr dirty="0"/>
              <a:t> 4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rPr dirty="0" err="1"/>
              <a:t>Почему</a:t>
            </a:r>
            <a:r>
              <a:rPr dirty="0"/>
              <a:t>: </a:t>
            </a:r>
            <a:r>
              <a:rPr dirty="0" err="1"/>
              <a:t>срок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10 </a:t>
            </a:r>
            <a:r>
              <a:rPr dirty="0" err="1"/>
              <a:t>лет</a:t>
            </a:r>
            <a:r>
              <a:rPr dirty="0"/>
              <a:t> </a:t>
            </a:r>
            <a:r>
              <a:rPr dirty="0" err="1"/>
              <a:t>vs</a:t>
            </a:r>
            <a:r>
              <a:rPr dirty="0"/>
              <a:t> 2-5 </a:t>
            </a:r>
            <a:r>
              <a:rPr dirty="0" err="1"/>
              <a:t>лет</a:t>
            </a:r>
            <a:r>
              <a:rPr dirty="0"/>
              <a:t>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грунтовка</a:t>
            </a:r>
            <a:r>
              <a:rPr dirty="0"/>
              <a:t>, </a:t>
            </a:r>
            <a:r>
              <a:rPr dirty="0" err="1"/>
              <a:t>наносится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ржавчину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301724" y="3953813"/>
            <a:ext cx="4500000" cy="1199215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21448" y="4041998"/>
            <a:ext cx="424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E86C00"/>
                </a:solidFill>
                <a:latin typeface="Carlito"/>
              </a:defRPr>
            </a:pPr>
            <a:r>
              <a:rPr dirty="0" err="1"/>
              <a:t>Стоимость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1 </a:t>
            </a:r>
            <a:r>
              <a:rPr dirty="0" err="1"/>
              <a:t>цикл</a:t>
            </a:r>
            <a:r>
              <a:rPr dirty="0"/>
              <a:t>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rPr dirty="0"/>
              <a:t>  </a:t>
            </a:r>
            <a:r>
              <a:rPr dirty="0" err="1"/>
              <a:t>Подготовка</a:t>
            </a:r>
            <a:r>
              <a:rPr dirty="0"/>
              <a:t>: </a:t>
            </a:r>
            <a:r>
              <a:rPr dirty="0" err="1"/>
              <a:t>зачистка</a:t>
            </a:r>
            <a:r>
              <a:rPr dirty="0"/>
              <a:t>, </a:t>
            </a:r>
            <a:r>
              <a:rPr dirty="0" err="1"/>
              <a:t>обезжиривание</a:t>
            </a:r>
            <a:r>
              <a:rPr dirty="0"/>
              <a:t>, </a:t>
            </a:r>
            <a:r>
              <a:rPr dirty="0" err="1"/>
              <a:t>грунтование</a:t>
            </a: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rPr dirty="0"/>
              <a:t>  </a:t>
            </a:r>
            <a:r>
              <a:rPr dirty="0" err="1"/>
              <a:t>Покраска</a:t>
            </a:r>
            <a:r>
              <a:rPr dirty="0"/>
              <a:t>: ~50₽/м² × 16 м² = 800₽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rPr dirty="0"/>
              <a:t>TITAN: </a:t>
            </a:r>
            <a:r>
              <a:rPr dirty="0" err="1"/>
              <a:t>подготовка</a:t>
            </a:r>
            <a:r>
              <a:rPr dirty="0"/>
              <a:t> </a:t>
            </a:r>
            <a:r>
              <a:rPr dirty="0" err="1"/>
              <a:t>проще</a:t>
            </a:r>
            <a:r>
              <a:rPr dirty="0"/>
              <a:t> —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нужно</a:t>
            </a: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rPr dirty="0" err="1"/>
              <a:t>грунтовать</a:t>
            </a:r>
            <a:r>
              <a:rPr dirty="0"/>
              <a:t>,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наносить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ржавчину</a:t>
            </a:r>
            <a:r>
              <a:rPr dirty="0"/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6064248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t>* Цена TITAN: 765₽/0.75л, 1 720₽/2л, 5 720₽/8.5л (Все Инструменты, 2026). ПФ-115 ЭКОНОМ: ~190₽/л. ГФ-021: ~145₽/л. ПФ-115 КМ: ~280₽/л.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486</Words>
  <Application>Microsoft Office PowerPoint</Application>
  <PresentationFormat>Произвольный</PresentationFormat>
  <Paragraphs>86</Paragraphs>
  <Slides>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Office Theme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7</cp:revision>
  <cp:lastPrinted>2026-06-22T11:48:34Z</cp:lastPrinted>
  <dcterms:created xsi:type="dcterms:W3CDTF">2013-01-27T09:14:16Z</dcterms:created>
  <dcterms:modified xsi:type="dcterms:W3CDTF">2026-07-08T11:01:15Z</dcterms:modified>
  <cp:category/>
</cp:coreProperties>
</file>