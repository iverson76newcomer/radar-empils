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КОНКУРЕНТНОЕ ОКРУЖЕНИЕ — TITAN vs КОНКУРЕНТЫ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Arial"/>
              </a:rPr>
              <a:t>3 категории  •  Цены Все Инструменты.ру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777240"/>
            <a:ext cx="11460175" cy="5029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77240"/>
            <a:ext cx="11460175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Arial"/>
              </a:rPr>
              <a:t>Расчёт цены TITAN: отгрузочная цена Эмпилс +25% маржа дистрибьютора +25% маржа розницы = цена на полке. Цены конкурентов — сайт Все Инструменты.ру.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3749039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3749039" cy="6400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46304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КАТЕГОРИЯ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09928"/>
            <a:ext cx="3749039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Грунт-эмаль 3в1 по ржавчине 0.75 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94560"/>
            <a:ext cx="3474719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221992"/>
            <a:ext cx="3474719" cy="10515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Arial"/>
              </a:rPr>
              <a:t>TITAN 3в1 чёрный RAL 9005 0.75 л</a:t>
            </a:r>
          </a:p>
          <a:p>
            <a:pPr algn="ctr"/>
            <a:r>
              <a:rPr sz="900" b="0">
                <a:solidFill>
                  <a:srgbClr val="1A1F36"/>
                </a:solidFill>
                <a:latin typeface="Arial"/>
              </a:rPr>
              <a:t>Отгрузка Эмпилс: 494 ₽</a:t>
            </a:r>
          </a:p>
          <a:p>
            <a:pPr algn="ctr"/>
            <a:r>
              <a:rPr sz="900" b="0">
                <a:solidFill>
                  <a:srgbClr val="1A1F36"/>
                </a:solidFill>
                <a:latin typeface="Arial"/>
              </a:rPr>
              <a:t>+25% дистрибьютор: 617 ₽</a:t>
            </a:r>
          </a:p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+25% розница: 771 ₽ ← цена на полке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429000"/>
            <a:ext cx="347471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КОНКУРЕНТЫ (Все Инструменты.ру):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749040"/>
            <a:ext cx="3474719" cy="365760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4904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Arial"/>
              </a:rPr>
              <a:t>TITAN 3в1 (Эмпилс)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4904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4904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  <a:latin typeface="Arial"/>
              </a:rPr>
              <a:t>771 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11480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Elcon 3в1 глянцевая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11480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кг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1480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958 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480560"/>
            <a:ext cx="3474719" cy="3657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48056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Dufa CORREX 3в1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48056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48056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1 020 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4632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Dali 3в1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51760" y="484632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84632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1 055 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212080"/>
            <a:ext cx="3474719" cy="3657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2120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Husky Klondike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21208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0.9 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521208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1 153 ₽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57784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7784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Tikkurila METALLISTA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57784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57784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2 085 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760720"/>
            <a:ext cx="3474719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760720"/>
            <a:ext cx="3474719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TITAN дешевле всех на 19-63%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1417320"/>
            <a:ext cx="3749039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60" y="1417320"/>
            <a:ext cx="3749039" cy="64008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146304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BBF24"/>
                </a:solidFill>
                <a:latin typeface="Arial"/>
              </a:rPr>
              <a:t>КАТЕГОРИЯ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51960" y="1709928"/>
            <a:ext cx="3749039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Быстросохнущая матовая 0.75 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2194560"/>
            <a:ext cx="3474719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2221992"/>
            <a:ext cx="3474719" cy="10515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Arial"/>
              </a:rPr>
              <a:t>TITAN быстросохнущая матовая 0.75 л</a:t>
            </a:r>
          </a:p>
          <a:p>
            <a:pPr algn="ctr"/>
            <a:r>
              <a:rPr sz="900" b="0">
                <a:solidFill>
                  <a:srgbClr val="1A1F36"/>
                </a:solidFill>
                <a:latin typeface="Arial"/>
              </a:rPr>
              <a:t>Отгрузка Эмпилс: 518 ₽</a:t>
            </a:r>
          </a:p>
          <a:p>
            <a:pPr algn="ctr"/>
            <a:r>
              <a:rPr sz="900" b="0">
                <a:solidFill>
                  <a:srgbClr val="1A1F36"/>
                </a:solidFill>
                <a:latin typeface="Arial"/>
              </a:rPr>
              <a:t>+25% дистрибьютор: 648 ₽</a:t>
            </a:r>
          </a:p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+25% розница: 810 ₽ ← цена на полке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3429000"/>
            <a:ext cx="347471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КОНКУРЕНТЫ (Все Инструменты.ру):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3749040"/>
            <a:ext cx="3474719" cy="3657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34840" y="374904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Новбытхим 5в1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7960" y="374904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374904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765 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89120" y="4114800"/>
            <a:ext cx="3474719" cy="365760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4840" y="411480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Arial"/>
              </a:rPr>
              <a:t>TITAN быстросохнущая (Эмпилс)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7960" y="411480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11480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  <a:latin typeface="Arial"/>
              </a:rPr>
              <a:t>810 ₽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4480560"/>
            <a:ext cx="3474719" cy="3657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34840" y="448056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Elcon 3в1 быстросохнущая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37960" y="448056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кг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78040" y="448056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838 ₽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120" y="484632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34840" y="484632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Лакра PROF IT 4в1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37960" y="484632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кг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484632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906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389120" y="5760720"/>
            <a:ext cx="3474719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5760720"/>
            <a:ext cx="3474719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TITAN на 2-м месте — премиум-качество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38160" y="1417320"/>
            <a:ext cx="3749039" cy="4846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1417320"/>
            <a:ext cx="3749039" cy="64008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1463040"/>
            <a:ext cx="3749039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 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38160" y="1709928"/>
            <a:ext cx="3749039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Молотковый эффект 0.8 кг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275320" y="2194560"/>
            <a:ext cx="3474719" cy="10972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75320" y="2221992"/>
            <a:ext cx="3474719" cy="10515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000" b="1">
                <a:solidFill>
                  <a:srgbClr val="1A1F36"/>
                </a:solidFill>
                <a:latin typeface="Arial"/>
              </a:rPr>
              <a:t>TITAN молотковая 0.8 кг</a:t>
            </a:r>
          </a:p>
          <a:p>
            <a:pPr algn="ctr"/>
            <a:r>
              <a:rPr sz="900" b="0">
                <a:solidFill>
                  <a:srgbClr val="1A1F36"/>
                </a:solidFill>
                <a:latin typeface="Arial"/>
              </a:rPr>
              <a:t>Отгрузка Эмпилс: 701 ₽</a:t>
            </a:r>
          </a:p>
          <a:p>
            <a:pPr algn="ctr"/>
            <a:r>
              <a:rPr sz="900" b="0">
                <a:solidFill>
                  <a:srgbClr val="1A1F36"/>
                </a:solidFill>
                <a:latin typeface="Arial"/>
              </a:rPr>
              <a:t>+25% дистрибьютор: 877 ₽</a:t>
            </a:r>
          </a:p>
          <a:p>
            <a:pPr algn="ctr"/>
            <a:r>
              <a:rPr sz="1000" b="1">
                <a:solidFill>
                  <a:srgbClr val="16A34A"/>
                </a:solidFill>
                <a:latin typeface="Arial"/>
              </a:rPr>
              <a:t>+25% розница: 1 096 ₽ ← цена на полке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3429000"/>
            <a:ext cx="3474719" cy="27432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  <a:latin typeface="Arial"/>
              </a:rPr>
              <a:t>КОНКУРЕНТЫ (Все Инструменты.ру):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75320" y="3749040"/>
            <a:ext cx="3474719" cy="3657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21040" y="374904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Dali 3в1 молотковая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24160" y="374904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064240" y="374904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1 057 ₽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75320" y="411480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21040" y="411480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Elcon кузнечная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24160" y="411480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кг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064240" y="411480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1 097 ₽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275320" y="4480560"/>
            <a:ext cx="3474719" cy="365760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21040" y="448056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Arial"/>
              </a:rPr>
              <a:t>TITAN молотковая (Эмпилс)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24160" y="448056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кг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1064240" y="448056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6A34A"/>
                </a:solidFill>
                <a:latin typeface="Arial"/>
              </a:rPr>
              <a:t>1 096 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75320" y="484632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321040" y="484632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Husky Klondike молотковая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24160" y="484632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0.9 л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064240" y="484632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1 196 ₽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75320" y="5212080"/>
            <a:ext cx="3474719" cy="365760"/>
          </a:xfrm>
          <a:prstGeom prst="rect">
            <a:avLst/>
          </a:prstGeom>
          <a:solidFill>
            <a:srgbClr val="E5E7EB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321040" y="521208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Лакра молотковая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24160" y="521208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0.8 кг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064240" y="521208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1 308 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75320" y="5577840"/>
            <a:ext cx="3474719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321040" y="5577840"/>
            <a:ext cx="210312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800" b="0" i="0">
                <a:solidFill>
                  <a:srgbClr val="1A1F36"/>
                </a:solidFill>
                <a:latin typeface="Arial"/>
              </a:rPr>
              <a:t>Dufa HAMMERLACK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424160" y="5577840"/>
            <a:ext cx="64008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700" b="0" i="0">
                <a:solidFill>
                  <a:srgbClr val="9CA3AF"/>
                </a:solidFill>
                <a:latin typeface="Arial"/>
              </a:rPr>
              <a:t>0.75 л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64240" y="5577840"/>
            <a:ext cx="685800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900" b="1" i="0">
                <a:solidFill>
                  <a:srgbClr val="1A1F36"/>
                </a:solidFill>
                <a:latin typeface="Arial"/>
              </a:rPr>
              <a:t>1 653 ₽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275320" y="5760720"/>
            <a:ext cx="3474719" cy="4114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275320" y="5760720"/>
            <a:ext cx="3474719" cy="41148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000" b="1" i="0">
                <a:solidFill>
                  <a:srgbClr val="FBBF24"/>
                </a:solidFill>
                <a:latin typeface="Arial"/>
              </a:rPr>
              <a:t>TITAN 3-й — дешевле премиум-аналогов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Цены конкурентов — Все Инструменты.ру  •  Цены TITAN — расчёт от отгрузочной цены Эмпилс от 10.07.2026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