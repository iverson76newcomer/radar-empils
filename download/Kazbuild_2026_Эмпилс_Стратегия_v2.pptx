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Цель презентации — согласовать с руководством план участия Эмпилс в Kazbuild 2026.
- Kazbuild 2026 — ключевая B2B-выставка Центральной Азии, Алматы, 28–30 октября.
- Три приоритета: углубление партнёрств, расширение сбыта в Казахстане, выход на новые рынки.
- Ожидаем от руководства: решение по бюджету, утверждённые КП для топ-10 дистрибьюторов, ответственные по зонам.
- Финальный слайд — пять конкретных шагов с дедлайнами к открытию выставки.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Четыре цели — все с измеримым KPI: 7 встреч, 14 областей, 3+ новых дистрибьютора, EN-каталог.
- Главный приоритет — углубление с текущими партнёрами и расширение географии (Ц.Азия, Каспий).
- По Казахстану: сейчас 6 областей покрыто, цель — 14 (полное покрытие).
- EN-каталог — не маркетинговый ход, а инструмент для работы с 30% нерусскоязычных участников.
- Все KPI сверяем в конце выставки — отчёт на следующей неделе после возвращения.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Главный фокус — 7 текущих партнёров: KZ, TJ, KG. Каждый уже работает с Эмпилс, задача — углубление.
- 10 целевых стендов — преимущественно дистрибьюторы и B2B-клиенты. Стенды указаны с павильоном и номером.
- 4 стенда конкурентов — отдельный список для study-визита. TAUDI — главный конкурент в KZ.
- Распределить между членами команды стенда — у каждой колонки свой ответственный.
- По итогам дня — короткий sync: что узнали, какие договорённости, что в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Сейчас покрыто 6 из 14 областей (43%). 8 областей — нулевое присутствие.
- Приоритет — нефтегазовые регионы: Атырау (Tengiz, Karachaganak), Мангистау (Актау, порт Каспий), Павлодар.
- В файле анализа — 47 потенциальных дистрибьюторов по всем областям.
- Цель Kazbuild — 2–3 новых региональных партнёра. Готовить индивидуальные КП под каждую область.
- Алматы — высокая конкуренция (14 кандидатов), но это уже наш stronghold, фокус смещаем на空白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Анализ 10 стран — фокус на тех, где Эмпилс ещё не работает, но есть потенциал.
- 3 приоритетные страны: Азербайджан (дефицит 42%, есть партнёр FAB Boya), Таджикистан (рост +52% в 2024), Молдова (простая логистика, высокое потребление 20,8 кг/чел).
- На Kazbuild 2026 ищем контакты именно в этих трёх странах — особенно иранских и азербайджанских визитёров.
- Турция и Сербия — нетто-экспортёры ЛКМ, это конкуренты, а не целевые рынки.
- ОАЭ — приоритет 4 как хаб для дальнейшего входа в GCC (после 2027).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доводов «за» англоязычный каталог — главный: 30% участников Kazbuild не из РФ/СНГ.
- Пункт 3: каталог — это сигнал о глобальных амбициях, повышает престиж для текущих русскоговорящих партнёров.
- Пункт 4: Tikkurila, Jotun, PPG, AkzoNobel, Hempel — у всех есть EN-каталоги; Эмпилс отстаёт.
- Пункт 5: кейс «Алдан.Экспорт» (Рязань) → Иран с этикеткой на фарси, доставка автотранспортом — рабочая модель.
- Пункт 6: печать каталога ~30 000 руб. — ~3% от бюджета выставки (~1 млн руб.), незаметная статья расходов при высоком эффекте.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Слайд 7 — фокус на подготовку экспортной линейки AVANTGARDE 2027 (4 SKU).
- Пункт 1: ценовое позиционирование между Расцвет и TITAN — главная задача анализа.
- Пункт 2: на Kazbuild 2026 собрать ценовой срез 5–7 конкурентов в сегменте AVANTGARDE.
- Пункты 3-4: дизайн/литография и TDS/SDS на английском — обязательные элементы подготовки.
- Пункт 5: 5–7 глубинных интервью с дистрибьюторами на выставке — валидация спроса.
- Пункты 6-7: мониторинг логистики/таможни + финмодель по 3 сценариям — к решению о запуске.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36644" y="1007269"/>
            <a:ext cx="2271713" cy="2271713"/>
          </a:xfrm>
          <a:prstGeom prst="ellipse">
            <a:avLst/>
          </a:prstGeom>
          <a:noFill/>
          <a:ln w="14288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5250" y="1500188"/>
            <a:ext cx="1285875" cy="1285875"/>
          </a:xfrm>
          <a:prstGeom prst="ellipse">
            <a:avLst/>
          </a:prstGeom>
          <a:solidFill>
            <a:srgbClr val="F4762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71500" y="4450556"/>
            <a:ext cx="8001000" cy="7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32734"/>
            <a:ext cx="9144000" cy="0"/>
          </a:xfrm>
          <a:prstGeom prst="line">
            <a:avLst/>
          </a:prstGeom>
          <a:noFill/>
          <a:ln w="7144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4864894"/>
            <a:ext cx="713883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0989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«Эмпилс» · Ростов-на-Дону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4626" y="4864894"/>
            <a:ext cx="8478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909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Сентябрь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571500"/>
            <a:ext cx="68047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</a:t>
            </a:r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90544" y="587573"/>
            <a:ext cx="15223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STRATEGY DECK ·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1762720"/>
            <a:ext cx="8572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KAZBUILD · АЛМАТЫ · 28–30 ОКТЯБРЯ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009180"/>
            <a:ext cx="8572500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4050" b="1" spc="-81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Kazbuild 2026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571500" y="2649215"/>
            <a:ext cx="85725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и приоритеты участия для Эмпилс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571500" y="3144924"/>
            <a:ext cx="50006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Стратегическая выставка Центральной Азии. 28-30 октября 2026, Алматы. Углубление партнёрств, расширение сбыта, выход на новые рынки.</a:t>
            </a:r>
            <a:endParaRPr lang="en-US" sz="101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119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583425" y="437555"/>
            <a:ext cx="13784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 · ЦЕЛИ И KPI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участия в Kazbuild 2026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62865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стратегических направления. Каждый — с измеримым результатом к концу выставки.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50119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Углубление с текущими партнёрами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583227" y="1945891"/>
            <a:ext cx="370881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76895" y="2131628"/>
            <a:ext cx="34593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ВСТРЕЧ · KZ · TJ · KG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запланированных встреч с текущими партнёрами из KZ, TJ, KG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7009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7744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136356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Расширение сбыта в Казахстане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4791104" y="1945891"/>
            <a:ext cx="62174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246973" y="2131628"/>
            <a:ext cx="3275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ОБЛАСТЕЙ · СЕЙЧАС 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7744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областей Казахстана — цель покрыть партнёрами (сейчас 6)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0119" y="3079961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Географическая экспансия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21506" y="3360353"/>
            <a:ext cx="60364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3+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70223" y="3546091"/>
            <a:ext cx="32660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НОВЫХ ДИСТРИБЬЮТОРА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506" y="3760403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новых потенциальных дистрибьютора из Ц.Азии и Каспия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47009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7744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36356" y="3079961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Англоязычный каталог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4807744" y="3360353"/>
            <a:ext cx="6045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8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5257019" y="3474653"/>
            <a:ext cx="3265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ПОДГОТОВКА К ВЫСТАВКЕ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7744" y="3674678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подготовка к выставке — выход на не-русскоговорящих партнёров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1533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086823" y="437555"/>
            <a:ext cx="1727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 · ВСТРЕЧИ НА ВЫСТАВКЕ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Запланированные встречи и посещение участников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8686"/>
            <a:ext cx="822960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текущих партнёров приедут на наш стенд · 10 стендов ключевых целей · 4 стенда конкурентов для изучения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385106"/>
            <a:ext cx="2669307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8644" y="173872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784" y="1478189"/>
            <a:ext cx="1136258" cy="196025"/>
          </a:xfrm>
          <a:prstGeom prst="roundRect">
            <a:avLst>
              <a:gd name="adj" fmla="val 19436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8644" y="1488691"/>
            <a:ext cx="1090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ПАРТНЁРЫ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58517" y="151726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8644" y="1828019"/>
            <a:ext cx="2433563" cy="125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AJR &amp; Company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PAKO TRADE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Stroy Depot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Держава Трейд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КОРВОН 2011 ООО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Таджикистан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 Глобал ОсОО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Кыргызстан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Стройлюкс-1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37235" y="1385106"/>
            <a:ext cx="2669418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55107" y="1738722"/>
            <a:ext cx="2433675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2247" y="1478189"/>
            <a:ext cx="1032562" cy="196025"/>
          </a:xfrm>
          <a:prstGeom prst="roundRect">
            <a:avLst>
              <a:gd name="adj" fmla="val 19436"/>
            </a:avLst>
          </a:prstGeom>
          <a:solidFill>
            <a:srgbClr val="3131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5107" y="1488691"/>
            <a:ext cx="9868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ЦЕЛЕВЫЕ СТЕНДЫ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3906" y="1517266"/>
            <a:ext cx="1424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3355107" y="1828019"/>
            <a:ext cx="2433675" cy="179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ДХКЗ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(9-430) — дистрибьютор, Астана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ТССП Казахстан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(9-497) — дистрибьютор, Алматы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ALIHAN COMPANY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(10-710) — оптовик, Алматы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СТРОЙМАРТ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(8-283) — дистрибьютор, РФ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35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(9-510) — промпотребитель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MARRIONI DESIGN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(10-680) — дизайн-студия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TIMBERSTONE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(10-705) — древесина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КАЗФЛОР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(9-501) — промполы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ПОЛИМЕРМЕТАЛЛТ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(9-470) — промпотребитель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SHANDONG SANDIA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(8-296) — древесина, Китай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13810" y="1385106"/>
            <a:ext cx="2669307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31682" y="173872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822" y="1478189"/>
            <a:ext cx="788335" cy="196025"/>
          </a:xfrm>
          <a:prstGeom prst="roundRect">
            <a:avLst>
              <a:gd name="adj" fmla="val 19436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31682" y="1488691"/>
            <a:ext cx="742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628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11555" y="151726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31682" y="1828019"/>
            <a:ext cx="2433563" cy="71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DIBA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(10-707) — Иран, Barad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 GROUP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(10-696) — Азербайджан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PUFAS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(9-444) — Германия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TAUDI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(10-709) — главный конкурент KZ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31682" y="256159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131682" y="2650889"/>
            <a:ext cx="24335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31682" y="2800908"/>
            <a:ext cx="24335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Изучить стенды, ассортименты, ценовую политику и подходы к B2B — для отстройки и адаптации КП.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670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638566" y="437555"/>
            <a:ext cx="13096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 · КАЗАХСТАН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Расширение сбыта в Казахстане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7858125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— партнёр в каждой из 14 областей. Сейчас покрыто 6. Файл «Казахстан по областям» — 47 потенциальных дистрибьюторов для анализа.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1471613"/>
            <a:ext cx="51895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ПОКРЫТИЕ ОБЛАСТЕЙ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уже есть и где нужно быть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460772" y="1924459"/>
            <a:ext cx="4021931" cy="1153939"/>
          </a:xfrm>
          <a:prstGeom prst="roundRect">
            <a:avLst>
              <a:gd name="adj" fmla="val 9905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2042331"/>
            <a:ext cx="358839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Текущее покрытие: 6 из 14 областей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72600" y="2070906"/>
            <a:ext cx="2009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43%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96503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85800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+ Астана — сильное присутствие (более 20 партнёров)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68091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7388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957388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Шымкент, Караганда, Актобе — слабое (1–3 партнёра)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39678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28975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3228975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областей — нет присутствия (Восток, Север, Запад)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3185554"/>
            <a:ext cx="4021931" cy="9144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931" y="3303426"/>
            <a:ext cx="35861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 — 47 дистрибьюторов в файле анализа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93381" y="33105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92931" y="3532026"/>
            <a:ext cx="37576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— 14 кандидатов (высокая конкуренция). Астана — 6 кандидатов. Шымкент — 3. Караганда — 1 (КазМетСервис). Актобе — DekoObraz KZ (розничная сеть). Цель — выбрать 3–5 новых партнёров на выставке.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57725" y="1471613"/>
            <a:ext cx="4486275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ПРИОРИТЕТНЫЕ ОБЛАСТИ ДЛЯ ВХОДА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57725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ищем партнёра на Kazbuild 2026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4657725" y="1920887"/>
            <a:ext cx="4029075" cy="250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Восточно-Казахстанская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Усть-Каменогорск, Семей — промышленность, mining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Павлодарская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алюминий, нефтехимия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Мангистауская </a:t>
            </a:r>
            <a:pPr algn="l" indent="0" marL="0">
              <a:lnSpc>
                <a:spcPts val="1103"/>
              </a:lnSpc>
              <a:buNone/>
            </a:pPr>
            <a:r>
              <a:rPr lang="en-US" sz="800" spc="34" kern="0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Актау — нефтегаз, порт Каспий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Атырауская </a:t>
            </a:r>
            <a:pPr algn="l" indent="0" marL="0">
              <a:lnSpc>
                <a:spcPts val="1103"/>
              </a:lnSpc>
              <a:buNone/>
            </a:pPr>
            <a:r>
              <a:rPr lang="en-US" sz="800" spc="34" kern="0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нефтегаз Tengiz, Karachaganak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Костанайская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сельхоз, древесина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Северо-Казахстанская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агро, DIY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1297" y="4391509"/>
            <a:ext cx="4021931" cy="457200"/>
          </a:xfrm>
          <a:prstGeom prst="roundRect">
            <a:avLst>
              <a:gd name="adj" fmla="val 2500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9169" y="44808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4993481" y="4480806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на Kazbuild — найти 2–3 региональных партнёра для приоритетных областей. Подготовить индивидуальные КП.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33952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6811008" y="437555"/>
            <a:ext cx="2025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 · ГЕОГРАФИЧЕСКАЯ ЭКСПАНСИЯ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Географическое окружение — новые рынки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01477"/>
            <a:ext cx="785812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10 стран. Приоритет — те, где Эмпилс ещё не работает, но есть потенциал. Источник — файл «Экспорт потенциал полный».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0037"/>
          <a:ext cx="8229600" cy="914400"/>
        </p:xfrm>
        <a:graphic>
          <a:graphicData uri="http://schemas.openxmlformats.org/drawingml/2006/table">
            <a:tbl>
              <a:tblPr/>
              <a:tblGrid>
                <a:gridCol w="1892759"/>
                <a:gridCol w="905247"/>
                <a:gridCol w="1234418"/>
                <a:gridCol w="1069777"/>
                <a:gridCol w="312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Страна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Дефицит ЛКМ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Рост отрасли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Уд. потребл.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Рекомендация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🥇Азербайджан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8–12%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1 — вход через FAB BoyaПРИОРИТЕТ 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🥈Таджикистан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+52% (2024)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2 — рекордный рост рынкаПРИОРИТЕТ 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🥉Молдова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3–5%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2 — простая логистикаПРИОРИТЕТ 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ОАЭ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Хаб для GCC — выход в регионПРИОРИТЕТ 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Саудовская Аравия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Отложенный рынокПОСЛЕ 2027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Туркменистан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Рисковый рынокПРИОРИТЕТ 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Сербия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−64%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нетто-экспортёрЭКСПОРТЁР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7,9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конкурирующий производительКОНКУРЕНТ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0772" y="3705151"/>
            <a:ext cx="8222456" cy="907256"/>
          </a:xfrm>
          <a:prstGeom prst="roundRect">
            <a:avLst>
              <a:gd name="adj" fmla="val 12598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2931" y="3808735"/>
            <a:ext cx="257175" cy="257175"/>
          </a:xfrm>
          <a:prstGeom prst="ellipse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7934" y="383373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950119" y="3808735"/>
            <a:ext cx="7710678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Главные цели для нового входа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950119" y="3998044"/>
            <a:ext cx="7600950" cy="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Азербайджан — есть FAB Boya как партнёр, дефицит 42%. Таджикистан — рост +52% в 2024 г. (рекорд). Молдова — простая логистика. Эти 3 страны — фокус поиска на Kazbuild 2026.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50119" y="4323299"/>
            <a:ext cx="1000683" cy="196025"/>
          </a:xfrm>
          <a:prstGeom prst="roundRect">
            <a:avLst>
              <a:gd name="adj" fmla="val 19436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50119" y="4333801"/>
            <a:ext cx="1000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АЗЕРБАЙДЖАН · 42%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07952" y="4323299"/>
            <a:ext cx="1051136" cy="196025"/>
          </a:xfrm>
          <a:prstGeom prst="roundRect">
            <a:avLst>
              <a:gd name="adj" fmla="val 19436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07952" y="4333801"/>
            <a:ext cx="10511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ТАДЖИКИСТАН · +52%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16238" y="4323299"/>
            <a:ext cx="1202494" cy="196025"/>
          </a:xfrm>
          <a:prstGeom prst="roundRect">
            <a:avLst>
              <a:gd name="adj" fmla="val 19436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16238" y="4333801"/>
            <a:ext cx="12024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МОЛДОВА · 20,8 кг/чел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705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142076" y="437555"/>
            <a:ext cx="16683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 · АНГЛИЙСКИЙ КАТАЛОГ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Англоязычный каталог — зачем?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01477"/>
            <a:ext cx="7858125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экспортные партнёры — русскоговорящие (СНГ, Ц.Азия). Но Kazbuild 2026 — 30% участников не из РФ/СНГ. Без англоязычного каталога мы теряем растущие рынки.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31441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6503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47629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576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2611710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06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592931" y="1974354"/>
            <a:ext cx="2514716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Kazbuild 2026 — международная площадка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592931" y="2160984"/>
            <a:ext cx="2404988" cy="63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30% участников — из Ирана, ОАЭ, Турции, Китая, Германии. Без англоязычного каталога невозможно провести первичные переговоры с целью изучения этих рынков глубже, чем кабинетное исследование.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2931" y="2818549"/>
            <a:ext cx="667606" cy="152019"/>
          </a:xfrm>
          <a:prstGeom prst="roundRect">
            <a:avLst>
              <a:gd name="adj" fmla="val 18797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2826693"/>
            <a:ext cx="6676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 — НЕ СНГ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37235" y="1527870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72966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84039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388285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3369394" y="1974354"/>
            <a:ext cx="2514828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GCC* — стратегическая цель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3369394" y="2160984"/>
            <a:ext cx="24051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ОАЭ и Саудовская Аравия — крупнейшие растущие рынки ЛКМ в регионе. Без англоязычных материалов вход невозможен.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46534" y="2803404"/>
            <a:ext cx="869484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38493" y="2812405"/>
            <a:ext cx="8855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· ОАЭ · KSA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13810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49541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60614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8164748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6145969" y="1974354"/>
            <a:ext cx="2404988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Повышение престижа</a:t>
            </a:r>
            <a:endParaRPr lang="en-US" sz="816" dirty="0"/>
          </a:p>
        </p:txBody>
      </p:sp>
      <p:sp>
        <p:nvSpPr>
          <p:cNvPr id="29" name="Text 27"/>
          <p:cNvSpPr/>
          <p:nvPr/>
        </p:nvSpPr>
        <p:spPr>
          <a:xfrm>
            <a:off x="6145969" y="2160984"/>
            <a:ext cx="2404988" cy="62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Англоязычный каталог повышает престиж бренда в глазах текущих русскоязычных партнёров. Свидетельство глобальных амбиций Эмпилс и работа по международным стандартам.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3109" y="2803404"/>
            <a:ext cx="822156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45969" y="2812405"/>
            <a:ext cx="7764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ПРЕСТИЖ БРЕНДА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772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6503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7576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2611710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592931" y="3633936"/>
            <a:ext cx="2514716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Конкурентное соответствие</a:t>
            </a:r>
            <a:endParaRPr lang="en-US" sz="816" dirty="0"/>
          </a:p>
        </p:txBody>
      </p:sp>
      <p:sp>
        <p:nvSpPr>
          <p:cNvPr id="37" name="Text 35"/>
          <p:cNvSpPr/>
          <p:nvPr/>
        </p:nvSpPr>
        <p:spPr>
          <a:xfrm>
            <a:off x="592931" y="3820567"/>
            <a:ext cx="2404988" cy="62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Tikkurila, Jotun, PPG, AkzoNobel, Hempel — у всех есть англоязычные каталоги. Эмпилс отстаёт на этом уровне и теряет контекст переговоров, где партнёр сравнивает материалы параллельно.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0071" y="4462986"/>
            <a:ext cx="774941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9089" y="4471988"/>
            <a:ext cx="7369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КОНКУРЕНТОВ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37235" y="3187452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72966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84039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43" name="Text 41"/>
          <p:cNvSpPr/>
          <p:nvPr/>
        </p:nvSpPr>
        <p:spPr>
          <a:xfrm>
            <a:off x="5388285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06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3369394" y="3633936"/>
            <a:ext cx="2514828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Иран — дистрибьюторский кейс</a:t>
            </a:r>
            <a:endParaRPr lang="en-US" sz="816" dirty="0"/>
          </a:p>
        </p:txBody>
      </p:sp>
      <p:sp>
        <p:nvSpPr>
          <p:cNvPr id="45" name="Text 43"/>
          <p:cNvSpPr/>
          <p:nvPr/>
        </p:nvSpPr>
        <p:spPr>
          <a:xfrm>
            <a:off x="3369394" y="3820567"/>
            <a:ext cx="2405100" cy="62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 в Рязани — «Алдан.Экспорт» — поставляет продукцию Эмпилс в Иран. Переделка этикетки на язык фарси, доставка — автотранспортом. Модель уже работает — нужен масштаб.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46534" y="4462986"/>
            <a:ext cx="1106009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69394" y="4471988"/>
            <a:ext cx="106028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КЕЙС · АЛДАН.ЭКСПОРТ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13810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313131"/>
          </a:solidFill>
          <a:ln w="7144">
            <a:solidFill>
              <a:srgbClr val="31313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17382" y="3191024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49541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47629">
              <a:alpha val="18000"/>
            </a:srgbClr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60614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8164748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90989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06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>
            <a:off x="6145969" y="3633936"/>
            <a:ext cx="2404988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6. Расходы на выставку</a:t>
            </a:r>
            <a:endParaRPr lang="en-US" sz="816" dirty="0"/>
          </a:p>
        </p:txBody>
      </p:sp>
      <p:sp>
        <p:nvSpPr>
          <p:cNvPr id="54" name="Text 52"/>
          <p:cNvSpPr/>
          <p:nvPr/>
        </p:nvSpPr>
        <p:spPr>
          <a:xfrm>
            <a:off x="6145969" y="3820567"/>
            <a:ext cx="2404988" cy="63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расходы на Kazbuild 2026 составят порядка 1 млн руб. (стенд + командировки). Печать каталога тиражом 20 шт. — около 30 000 руб. Это малый процент от общей стоимости участия.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45969" y="4478131"/>
            <a:ext cx="762149" cy="152019"/>
          </a:xfrm>
          <a:prstGeom prst="roundRect">
            <a:avLst>
              <a:gd name="adj" fmla="val 18797"/>
            </a:avLst>
          </a:prstGeom>
          <a:solidFill>
            <a:srgbClr val="F4762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41807" y="4486275"/>
            <a:ext cx="7704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~3% ОТ БЮДЖЕТА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517147" y="3328988"/>
            <a:ext cx="3626853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0"/>
              </a:lnSpc>
              <a:buNone/>
            </a:pPr>
            <a:r>
              <a:rPr lang="en-US" sz="15750" b="1" spc="-787" kern="0" dirty="0">
                <a:solidFill>
                  <a:srgbClr val="FFFFFF">
                    <a:alpha val="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5750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705668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7528173" y="437555"/>
            <a:ext cx="14475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09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 · АССОРТИМЕНТ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850106"/>
            <a:ext cx="3522008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ПЛАНИРУЕМАЯ НОВАЯ ЛИНЕЙКА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1039416"/>
            <a:ext cx="3377029" cy="644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Экспортная линейка</a:t>
            </a:r>
            <a:endParaRPr lang="en-US" sz="2138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2138" b="1" spc="-32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AVANTGARDE 2027</a:t>
            </a:r>
            <a:endParaRPr lang="en-US" sz="2138" dirty="0"/>
          </a:p>
        </p:txBody>
      </p:sp>
      <p:sp>
        <p:nvSpPr>
          <p:cNvPr id="10" name="Text 6"/>
          <p:cNvSpPr/>
          <p:nvPr/>
        </p:nvSpPr>
        <p:spPr>
          <a:xfrm>
            <a:off x="457200" y="1722313"/>
            <a:ext cx="3070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Ключевые моменты для анализа и подготовки к выходу экспортной линейки AVANTGARDE.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2136651"/>
            <a:ext cx="428625" cy="28575"/>
          </a:xfrm>
          <a:prstGeom prst="roundRect">
            <a:avLst>
              <a:gd name="adj" fmla="val 66667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57200" y="2293813"/>
            <a:ext cx="3070027" cy="992981"/>
          </a:xfrm>
          <a:prstGeom prst="roundRect">
            <a:avLst>
              <a:gd name="adj" fmla="val 5755"/>
            </a:avLst>
          </a:prstGeom>
          <a:solidFill>
            <a:srgbClr val="F4762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467916" y="2293813"/>
            <a:ext cx="0" cy="992981"/>
          </a:xfrm>
          <a:prstGeom prst="line">
            <a:avLst/>
          </a:prstGeom>
          <a:noFill/>
          <a:ln w="21431">
            <a:solidFill>
              <a:srgbClr val="F4762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2931" y="2393826"/>
            <a:ext cx="281999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SKU В ЭКСПОРТНОЙ ЛИНЕЙКЕ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92931" y="2558132"/>
            <a:ext cx="2819995" cy="664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быстросохнущая ГФ-021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Грунт-Эмаль быстросохнущая матовая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для дерева и бет. пола быстросохнущая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алкидная для радиаторов отопления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60772" y="3390379"/>
            <a:ext cx="3062883" cy="171450"/>
          </a:xfrm>
          <a:prstGeom prst="roundRect">
            <a:avLst>
              <a:gd name="adj" fmla="val 22222"/>
            </a:avLst>
          </a:prstGeom>
          <a:solidFill>
            <a:srgbClr val="F47629">
              <a:alpha val="16000"/>
            </a:srgbClr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7200" y="3386807"/>
            <a:ext cx="307002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ВЫХОД · 2027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784402" y="850106"/>
            <a:ext cx="535959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09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АНАЛИЗ И МОНИТОРИНГ ДЛЯ ПОДГОТОВКИ К ВЫХОДУ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787973" y="1039416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891558" y="1114425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4177308" y="1114425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конкурентов — ценовое позиционирование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177308" y="1251942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Правильное ценовое позиционирование между Расцвет и TITAN. Определить дельту AvantGarde vs Расцвет в экспортном исполнении.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787973" y="1628329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891558" y="1703338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25" name="Text 21"/>
          <p:cNvSpPr/>
          <p:nvPr/>
        </p:nvSpPr>
        <p:spPr>
          <a:xfrm>
            <a:off x="4177308" y="1703338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Ценовой срез конкурентов в сегменте AVANTGARDE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177308" y="1840855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Собрать данные по ценам 5–7 конкурентов (Tikkurila, Jotun, AkzoNobel, Hempel, PPG, National Paints, Berger) в каждом целевом рынке экспорта.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787973" y="2217241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891558" y="2292251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29" name="Text 25"/>
          <p:cNvSpPr/>
          <p:nvPr/>
        </p:nvSpPr>
        <p:spPr>
          <a:xfrm>
            <a:off x="4177308" y="2292251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Дизайн и литография — дельта от Расцвета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177308" y="2429768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Утвердить дизайн-макет и литографию AVANTGARDE в экспортном исполнении. Рассчитать дельту себестоимости и маржинальности vs Расцвет.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3787973" y="2806154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891558" y="2881164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13" dirty="0"/>
          </a:p>
        </p:txBody>
      </p:sp>
      <p:sp>
        <p:nvSpPr>
          <p:cNvPr id="33" name="Text 29"/>
          <p:cNvSpPr/>
          <p:nvPr/>
        </p:nvSpPr>
        <p:spPr>
          <a:xfrm>
            <a:off x="4177308" y="2881164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Сертификация и TDS / SDS на английском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177308" y="3018681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технические datasheets (TDS) и safety datasheets (SDS) на английском языке. Проверить соответствие нормам целевых рынков (ЕАЭС, GCC, Иран).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787973" y="3395067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891558" y="3470077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013" dirty="0"/>
          </a:p>
        </p:txBody>
      </p:sp>
      <p:sp>
        <p:nvSpPr>
          <p:cNvPr id="37" name="Text 33"/>
          <p:cNvSpPr/>
          <p:nvPr/>
        </p:nvSpPr>
        <p:spPr>
          <a:xfrm>
            <a:off x="4177308" y="3470077"/>
            <a:ext cx="4602249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Тестирование市场需求 — отзывы дистрибьюторов</a:t>
            </a:r>
            <a:endParaRPr lang="en-US" sz="731" dirty="0"/>
          </a:p>
        </p:txBody>
      </p:sp>
      <p:sp>
        <p:nvSpPr>
          <p:cNvPr id="38" name="Text 34"/>
          <p:cNvSpPr/>
          <p:nvPr/>
        </p:nvSpPr>
        <p:spPr>
          <a:xfrm>
            <a:off x="4177308" y="3607594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Kazbuild 2026 провести 5–7 глубинных интервью с текущими и потенциальными дистрибьюторами. Зафиксировать спрос, опасения, готовность закупать.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3787973" y="3983980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3891558" y="4058989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013" dirty="0"/>
          </a:p>
        </p:txBody>
      </p:sp>
      <p:sp>
        <p:nvSpPr>
          <p:cNvPr id="41" name="Text 37"/>
          <p:cNvSpPr/>
          <p:nvPr/>
        </p:nvSpPr>
        <p:spPr>
          <a:xfrm>
            <a:off x="4177308" y="4058989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Мониторинг логистики и таможни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177308" y="4196507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Проанализировать маршруты доставки (авто, море, ж/д) и таможенные пошлины по топ-3 целевым странам. Учесть опыт кейса «Алдан.Экспорт» → Иран.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787973" y="4572893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3891558" y="4647902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013" dirty="0"/>
          </a:p>
        </p:txBody>
      </p:sp>
      <p:sp>
        <p:nvSpPr>
          <p:cNvPr id="45" name="Text 41"/>
          <p:cNvSpPr/>
          <p:nvPr/>
        </p:nvSpPr>
        <p:spPr>
          <a:xfrm>
            <a:off x="4177308" y="4647902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Финмодель и ROI по сценариям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177308" y="4785420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Построить финмодель запуска (3 сценария: пессимистичный / базовый / амбициозный). Срок окупаемости, точка безубыточности, целевая маржа по экспорту.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457200" y="4816673"/>
            <a:ext cx="8229600" cy="0"/>
          </a:xfrm>
          <a:prstGeom prst="line">
            <a:avLst/>
          </a:prstGeom>
          <a:noFill/>
          <a:ln w="7144">
            <a:solidFill>
              <a:srgbClr val="44444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57200" y="4891683"/>
            <a:ext cx="786906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0989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«Эмпилс» · Kazbuild 2026 · Алматы, 28–30 октября 2026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8330137" y="4891683"/>
            <a:ext cx="3670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0989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07</a:t>
            </a:r>
            <a:endParaRPr lang="en-US" sz="64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2026-08-18T06:48:57Z</dcterms:created>
  <dcterms:modified xsi:type="dcterms:W3CDTF">2026-08-18T06:48:57Z</dcterms:modified>
</cp:coreProperties>
</file>