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6" r:id="rId4"/>
    <p:sldId id="264" r:id="rId5"/>
    <p:sldId id="259" r:id="rId6"/>
    <p:sldId id="260" r:id="rId7"/>
    <p:sldId id="261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0" d="100"/>
          <a:sy n="110" d="100"/>
        </p:scale>
        <p:origin x="-7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28FCCE-7C25-43B8-8E4F-BD0FC5F8ACE9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FD308C-39FA-4993-81EB-6F4074FE30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4464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7127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91440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457200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Arial"/>
              </a:rPr>
              <a:t>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45720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ПЛАНОГРАММЫ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34640"/>
            <a:ext cx="45720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ВЫКЛАДКИ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657600"/>
            <a:ext cx="22860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3840480"/>
            <a:ext cx="4572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2 варианта выкладки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343400"/>
            <a:ext cx="4572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Arial"/>
              </a:rPr>
              <a:t>3 линейки · 27 SKU · 4 класса ТТ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914400"/>
            <a:ext cx="64008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600" b="1" i="0">
                <a:solidFill>
                  <a:srgbClr val="16A34A"/>
                </a:solidFill>
                <a:latin typeface="Arial"/>
              </a:rPr>
              <a:t>Красишь 1 раз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737360"/>
            <a:ext cx="64008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600" b="1" i="0">
                <a:solidFill>
                  <a:srgbClr val="16A34A"/>
                </a:solidFill>
                <a:latin typeface="Arial"/>
              </a:rPr>
              <a:t>служит 10 лет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2697480"/>
            <a:ext cx="18288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0" y="3200400"/>
            <a:ext cx="6400800" cy="1371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0" y="3200400"/>
            <a:ext cx="137160" cy="13716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52160" y="3337560"/>
            <a:ext cx="5486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800" b="1" i="0">
                <a:solidFill>
                  <a:srgbClr val="C62828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337560"/>
            <a:ext cx="5029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C62828"/>
                </a:solidFill>
                <a:latin typeface="Arial"/>
              </a:rPr>
              <a:t>ВЕСЬ МОДЕЛЬНЫЙ РЯД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840480"/>
            <a:ext cx="5029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Arial"/>
              </a:rPr>
              <a:t>По категориям/сфере назначения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4846320"/>
            <a:ext cx="6400800" cy="1371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0" y="4846320"/>
            <a:ext cx="137160" cy="13716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52160" y="4983480"/>
            <a:ext cx="5486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800" b="1" i="0">
                <a:solidFill>
                  <a:srgbClr val="1E3A5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983480"/>
            <a:ext cx="5029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  <a:latin typeface="Arial"/>
              </a:rPr>
              <a:t>ПО КЛАССАМ ТТ (MML)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486400"/>
            <a:ext cx="502920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i="0" dirty="0">
                <a:solidFill>
                  <a:srgbClr val="9CA3AF"/>
                </a:solidFill>
                <a:latin typeface="Arial"/>
              </a:rPr>
              <a:t>A · B · C </a:t>
            </a:r>
            <a:r>
              <a:rPr sz="1200" b="0" i="0" dirty="0" smtClean="0">
                <a:solidFill>
                  <a:srgbClr val="9CA3AF"/>
                </a:solidFill>
                <a:latin typeface="Arial"/>
              </a:rPr>
              <a:t>·</a:t>
            </a:r>
            <a:r>
              <a:rPr lang="en-US" sz="1200" b="0" i="0" dirty="0" smtClean="0">
                <a:solidFill>
                  <a:srgbClr val="9CA3AF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9CA3AF"/>
                </a:solidFill>
                <a:latin typeface="Arial"/>
              </a:rPr>
              <a:t>— </a:t>
            </a:r>
            <a:r>
              <a:rPr sz="1200" b="0" i="0" dirty="0" err="1">
                <a:solidFill>
                  <a:srgbClr val="9CA3AF"/>
                </a:solidFill>
                <a:latin typeface="Arial"/>
              </a:rPr>
              <a:t>по</a:t>
            </a:r>
            <a:r>
              <a:rPr sz="1200" b="0" i="0" dirty="0">
                <a:solidFill>
                  <a:srgbClr val="9CA3A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9CA3AF"/>
                </a:solidFill>
                <a:latin typeface="Arial"/>
              </a:rPr>
              <a:t>наличию</a:t>
            </a:r>
            <a:r>
              <a:rPr sz="1200" b="0" i="0" dirty="0">
                <a:solidFill>
                  <a:srgbClr val="9CA3A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9CA3AF"/>
                </a:solidFill>
                <a:latin typeface="Arial"/>
              </a:rPr>
              <a:t>ассортимента</a:t>
            </a:r>
            <a:endParaRPr sz="1200" b="0" i="0" dirty="0">
              <a:solidFill>
                <a:srgbClr val="9CA3A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749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ЛОГИКА ВЫКЛАДКИ — ПРИНЦИПЫ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Как распределены цвета на полке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1810"/>
            <a:ext cx="5577840" cy="1727873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911810"/>
            <a:ext cx="5577840" cy="5029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02920" y="100325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00325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C62828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029900"/>
            <a:ext cx="493776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 i="0" dirty="0" err="1">
                <a:solidFill>
                  <a:srgbClr val="FFFFFF"/>
                </a:solidFill>
                <a:latin typeface="Arial"/>
              </a:rPr>
              <a:t>От</a:t>
            </a:r>
            <a:r>
              <a:rPr sz="14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400" b="1" i="0" dirty="0" err="1" smtClean="0">
                <a:solidFill>
                  <a:srgbClr val="FFFFFF"/>
                </a:solidFill>
                <a:latin typeface="Arial"/>
              </a:rPr>
              <a:t>тёмных</a:t>
            </a:r>
            <a:r>
              <a:rPr lang="ru-RU" sz="1400" b="1" i="0" dirty="0" smtClean="0">
                <a:solidFill>
                  <a:srgbClr val="FFFFFF"/>
                </a:solidFill>
                <a:latin typeface="Arial"/>
              </a:rPr>
              <a:t> (топ продаж)</a:t>
            </a:r>
            <a:r>
              <a:rPr sz="14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400" b="1" i="0" dirty="0">
                <a:solidFill>
                  <a:srgbClr val="FFFFFF"/>
                </a:solidFill>
                <a:latin typeface="Arial"/>
              </a:rPr>
              <a:t>к </a:t>
            </a:r>
            <a:r>
              <a:rPr sz="1400" b="1" i="0" dirty="0" err="1">
                <a:solidFill>
                  <a:srgbClr val="FFFFFF"/>
                </a:solidFill>
                <a:latin typeface="Arial"/>
              </a:rPr>
              <a:t>светлым</a:t>
            </a:r>
            <a:endParaRPr sz="14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1551890"/>
            <a:ext cx="5212080" cy="1645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Цвета слева направо: чёрный → коричневый → серый → графит → белый. Покупатель сканирует полку слева — тёмные (топ-продажи) первыми.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911810"/>
            <a:ext cx="5577840" cy="1727873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911810"/>
            <a:ext cx="5577840" cy="50292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263640" y="100325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1003250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47920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957530"/>
            <a:ext cx="49377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Контраст соседей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551890"/>
            <a:ext cx="5212080" cy="1645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Схожие оттенки (серый RAL 7004 и графит RAL 7024) не ставим рядом — они сливаются. Между ними — коричневый для визуального разделения.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767388"/>
            <a:ext cx="5577840" cy="173560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2767388"/>
            <a:ext cx="557784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02920" y="2858828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2858828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813108"/>
            <a:ext cx="49377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ABC по продажам внутри градации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459224"/>
            <a:ext cx="5212080" cy="1645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Arial"/>
              </a:rPr>
              <a:t>ТОП-3 цвета (чёрный 7738 шт, графит 5172 шт, серый 5071 шт) — в начале полки. Дублируем фейсинги на топ-3.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2767388"/>
            <a:ext cx="5577840" cy="173560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26480" y="2767388"/>
            <a:ext cx="557784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263640" y="2858828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2858828"/>
            <a:ext cx="32004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813108"/>
            <a:ext cx="49377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Цветные — отдельно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459224"/>
            <a:ext cx="5212080" cy="38985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ru-RU" sz="1100" b="0" i="0" dirty="0" smtClean="0">
                <a:solidFill>
                  <a:srgbClr val="1A1F36"/>
                </a:solidFill>
                <a:latin typeface="Arial"/>
              </a:rPr>
              <a:t>Ж</a:t>
            </a:r>
            <a:r>
              <a:rPr sz="1100" b="0" i="0" dirty="0" err="1" smtClean="0">
                <a:solidFill>
                  <a:srgbClr val="1A1F36"/>
                </a:solidFill>
                <a:latin typeface="Arial"/>
              </a:rPr>
              <a:t>ёлтый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,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синий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—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после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нейтральных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.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Это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специфические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цвета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(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дача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,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дорожная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техника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) с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меньшим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A1F36"/>
                </a:solidFill>
                <a:latin typeface="Arial"/>
              </a:rPr>
              <a:t>оборотом</a:t>
            </a:r>
            <a:r>
              <a:rPr sz="1100" b="0" i="0" dirty="0">
                <a:solidFill>
                  <a:srgbClr val="1A1F36"/>
                </a:solidFill>
                <a:latin typeface="Arial"/>
              </a:rPr>
              <a:t>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4670332"/>
            <a:ext cx="11430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ТОП-5 ЦВЕТОВ ПО ВТОРИЧНЫМ ПРОДАЖАМ (шт):</a:t>
            </a:r>
          </a:p>
        </p:txBody>
      </p:sp>
      <p:sp>
        <p:nvSpPr>
          <p:cNvPr id="49" name="Rounded Rectangle 87"/>
          <p:cNvSpPr/>
          <p:nvPr/>
        </p:nvSpPr>
        <p:spPr>
          <a:xfrm>
            <a:off x="365760" y="5036092"/>
            <a:ext cx="224028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88"/>
          <p:cNvSpPr/>
          <p:nvPr/>
        </p:nvSpPr>
        <p:spPr>
          <a:xfrm>
            <a:off x="457200" y="5127532"/>
            <a:ext cx="457200" cy="4572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7200" y="5127532"/>
            <a:ext cx="4572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" y="5127532"/>
            <a:ext cx="150876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Чёрный RAL 9005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676172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C62828"/>
                </a:solidFill>
                <a:latin typeface="Arial"/>
              </a:rPr>
              <a:t>7 738 шт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087652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Arial"/>
              </a:rPr>
              <a:t>393 АКБ</a:t>
            </a:r>
          </a:p>
        </p:txBody>
      </p:sp>
      <p:sp>
        <p:nvSpPr>
          <p:cNvPr id="55" name="Rounded Rectangle 93"/>
          <p:cNvSpPr/>
          <p:nvPr/>
        </p:nvSpPr>
        <p:spPr>
          <a:xfrm>
            <a:off x="2697480" y="5036092"/>
            <a:ext cx="224028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94"/>
          <p:cNvSpPr/>
          <p:nvPr/>
        </p:nvSpPr>
        <p:spPr>
          <a:xfrm>
            <a:off x="2788920" y="5127532"/>
            <a:ext cx="457200" cy="457200"/>
          </a:xfrm>
          <a:prstGeom prst="ellipse">
            <a:avLst/>
          </a:prstGeom>
          <a:solidFill>
            <a:srgbClr val="404040"/>
          </a:solidFill>
          <a:ln w="1270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788920" y="5127532"/>
            <a:ext cx="4572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37560" y="5127532"/>
            <a:ext cx="150876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Графитовый RAL 7024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88920" y="5676172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C62828"/>
                </a:solidFill>
                <a:latin typeface="Arial"/>
              </a:rPr>
              <a:t>5 172 шт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88920" y="6087652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Arial"/>
              </a:rPr>
              <a:t>240 АКБ</a:t>
            </a:r>
          </a:p>
        </p:txBody>
      </p:sp>
      <p:sp>
        <p:nvSpPr>
          <p:cNvPr id="61" name="Rounded Rectangle 99"/>
          <p:cNvSpPr/>
          <p:nvPr/>
        </p:nvSpPr>
        <p:spPr>
          <a:xfrm>
            <a:off x="5029200" y="5036092"/>
            <a:ext cx="224028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100"/>
          <p:cNvSpPr/>
          <p:nvPr/>
        </p:nvSpPr>
        <p:spPr>
          <a:xfrm>
            <a:off x="5120640" y="5127532"/>
            <a:ext cx="457200" cy="457200"/>
          </a:xfrm>
          <a:prstGeom prst="ellipse">
            <a:avLst/>
          </a:prstGeom>
          <a:solidFill>
            <a:srgbClr val="B0B0B0"/>
          </a:solidFill>
          <a:ln w="1270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120640" y="5127532"/>
            <a:ext cx="4572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69280" y="5127532"/>
            <a:ext cx="150876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Серый RAL 7004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20640" y="5676172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C62828"/>
                </a:solidFill>
                <a:latin typeface="Arial"/>
              </a:rPr>
              <a:t>5 071 шт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20640" y="6087652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Arial"/>
              </a:rPr>
              <a:t>247 АКБ</a:t>
            </a:r>
          </a:p>
        </p:txBody>
      </p:sp>
      <p:sp>
        <p:nvSpPr>
          <p:cNvPr id="67" name="Rounded Rectangle 105"/>
          <p:cNvSpPr/>
          <p:nvPr/>
        </p:nvSpPr>
        <p:spPr>
          <a:xfrm>
            <a:off x="7360920" y="5036092"/>
            <a:ext cx="224028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D28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106"/>
          <p:cNvSpPr/>
          <p:nvPr/>
        </p:nvSpPr>
        <p:spPr>
          <a:xfrm>
            <a:off x="7452360" y="5127532"/>
            <a:ext cx="457200" cy="457200"/>
          </a:xfrm>
          <a:prstGeom prst="ellipse">
            <a:avLst/>
          </a:prstGeom>
          <a:solidFill>
            <a:srgbClr val="3D2817"/>
          </a:solidFill>
          <a:ln w="1270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452360" y="5127532"/>
            <a:ext cx="4572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01000" y="5127532"/>
            <a:ext cx="150876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Шоколад RAL 8017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52360" y="5676172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C62828"/>
                </a:solidFill>
                <a:latin typeface="Arial"/>
              </a:rPr>
              <a:t>4 524 шт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52360" y="6087652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Arial"/>
              </a:rPr>
              <a:t>287 АКБ</a:t>
            </a:r>
          </a:p>
        </p:txBody>
      </p:sp>
      <p:sp>
        <p:nvSpPr>
          <p:cNvPr id="73" name="Rounded Rectangle 111"/>
          <p:cNvSpPr/>
          <p:nvPr/>
        </p:nvSpPr>
        <p:spPr>
          <a:xfrm>
            <a:off x="9692640" y="5036092"/>
            <a:ext cx="224028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F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112"/>
          <p:cNvSpPr/>
          <p:nvPr/>
        </p:nvSpPr>
        <p:spPr>
          <a:xfrm>
            <a:off x="9784080" y="5127532"/>
            <a:ext cx="457200" cy="457200"/>
          </a:xfrm>
          <a:prstGeom prst="ellipse">
            <a:avLst/>
          </a:prstGeom>
          <a:solidFill>
            <a:srgbClr val="F5F5DC"/>
          </a:solidFill>
          <a:ln w="1270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784080" y="5127532"/>
            <a:ext cx="4572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A1F36"/>
                </a:solidFill>
                <a:latin typeface="Arial"/>
              </a:rP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32720" y="5127532"/>
            <a:ext cx="150876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Белый RAL 9010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84080" y="5676172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C62828"/>
                </a:solidFill>
                <a:latin typeface="Arial"/>
              </a:rPr>
              <a:t>3 273 шт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84080" y="6087652"/>
            <a:ext cx="20574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Arial"/>
              </a:rPr>
              <a:t>225 АКБ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ВАРИАНТ 1 — ВЕСЬ МОДЕЛЬНЫЙ РЯД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3 категории · 27 SKU · выкладка по сфере назначения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28074"/>
            <a:ext cx="11460175" cy="178308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300842"/>
            <a:ext cx="11185855" cy="18288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773794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Arial"/>
              </a:rPr>
              <a:t>ПОЛКА 1: Грунт-эмаль 3в1 по ржавчине (9 цветов × 2 объёма = 14 SKU)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255" y="773794"/>
            <a:ext cx="16459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1" i="0">
                <a:solidFill>
                  <a:srgbClr val="C62828"/>
                </a:solidFill>
                <a:latin typeface="Arial"/>
              </a:rPr>
              <a:t>14 SKU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048114"/>
            <a:ext cx="694486" cy="118872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7512" y="1011538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066402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6006" y="1048114"/>
            <a:ext cx="694486" cy="1188720"/>
          </a:xfrm>
          <a:prstGeom prst="roundRect">
            <a:avLst/>
          </a:prstGeom>
          <a:solidFill>
            <a:srgbClr val="3D28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453438" y="1011538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26006" y="1066402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Шоколад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11933" y="1048114"/>
            <a:ext cx="694486" cy="1188720"/>
          </a:xfrm>
          <a:prstGeom prst="roundRect">
            <a:avLst/>
          </a:prstGeom>
          <a:solidFill>
            <a:srgbClr val="B0B0B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239365" y="1011538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11933" y="1066402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0.75л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97860" y="1048114"/>
            <a:ext cx="694486" cy="1188720"/>
          </a:xfrm>
          <a:prstGeom prst="roundRect">
            <a:avLst/>
          </a:prstGeom>
          <a:solidFill>
            <a:srgbClr val="40404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025292" y="1011538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97860" y="1066402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Графит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83787" y="1048114"/>
            <a:ext cx="694486" cy="1188720"/>
          </a:xfrm>
          <a:prstGeom prst="roundRect">
            <a:avLst/>
          </a:prstGeom>
          <a:solidFill>
            <a:srgbClr val="F5F5DC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11219" y="1011538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83787" y="1066402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0.75л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Белый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69713" y="1048114"/>
            <a:ext cx="694486" cy="1188720"/>
          </a:xfrm>
          <a:prstGeom prst="roundRect">
            <a:avLst/>
          </a:prstGeom>
          <a:solidFill>
            <a:srgbClr val="2D5016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97145" y="1011538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69713" y="1066402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Зелёный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55640" y="1048114"/>
            <a:ext cx="694486" cy="1188720"/>
          </a:xfrm>
          <a:prstGeom prst="roundRect">
            <a:avLst/>
          </a:prstGeom>
          <a:solidFill>
            <a:srgbClr val="E6B80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383072" y="1011538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55640" y="1066402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0.75л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Жёлтый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1567" y="1048114"/>
            <a:ext cx="694486" cy="1188720"/>
          </a:xfrm>
          <a:prstGeom prst="roundRect">
            <a:avLst/>
          </a:prstGeom>
          <a:solidFill>
            <a:srgbClr val="0047AB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68999" y="1011538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41567" y="1066402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Синий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27494" y="1048114"/>
            <a:ext cx="694486" cy="1188720"/>
          </a:xfrm>
          <a:prstGeom prst="roundRect">
            <a:avLst/>
          </a:prstGeom>
          <a:solidFill>
            <a:srgbClr val="7B3F0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954926" y="1011538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27494" y="1066402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К-кор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13421" y="1048114"/>
            <a:ext cx="694486" cy="118872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740853" y="1011538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13421" y="1066402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99347" y="1048114"/>
            <a:ext cx="694486" cy="1188720"/>
          </a:xfrm>
          <a:prstGeom prst="roundRect">
            <a:avLst/>
          </a:prstGeom>
          <a:solidFill>
            <a:srgbClr val="3D28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526779" y="1011538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99347" y="1066402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Шоколад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85274" y="1048114"/>
            <a:ext cx="694486" cy="1188720"/>
          </a:xfrm>
          <a:prstGeom prst="roundRect">
            <a:avLst/>
          </a:prstGeom>
          <a:solidFill>
            <a:srgbClr val="B0B0B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312706" y="1011538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85274" y="1066402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71201" y="1048114"/>
            <a:ext cx="694486" cy="1188720"/>
          </a:xfrm>
          <a:prstGeom prst="roundRect">
            <a:avLst/>
          </a:prstGeom>
          <a:solidFill>
            <a:srgbClr val="40404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098633" y="1011538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071201" y="1066402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Графит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857128" y="1048114"/>
            <a:ext cx="694486" cy="1188720"/>
          </a:xfrm>
          <a:prstGeom prst="roundRect">
            <a:avLst/>
          </a:prstGeom>
          <a:solidFill>
            <a:srgbClr val="F5F5DC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0884560" y="1011538"/>
            <a:ext cx="639622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857128" y="1066402"/>
            <a:ext cx="694486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Белый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5760" y="2694034"/>
            <a:ext cx="11460175" cy="178308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02920" y="4266802"/>
            <a:ext cx="11185855" cy="18288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02919" y="2739754"/>
            <a:ext cx="6333133" cy="2051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 dirty="0">
                <a:solidFill>
                  <a:srgbClr val="1A1F36"/>
                </a:solidFill>
                <a:latin typeface="Arial"/>
              </a:rPr>
              <a:t>ПОЛКА 2: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Быстросохнущая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матовая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(6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цветов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0.75л + 1×2.2л = 7 SKU, </a:t>
            </a:r>
            <a:r>
              <a:rPr sz="1000" b="1" i="0" dirty="0" err="1">
                <a:solidFill>
                  <a:srgbClr val="FF0000"/>
                </a:solidFill>
                <a:latin typeface="Arial"/>
              </a:rPr>
              <a:t>графит</a:t>
            </a:r>
            <a:r>
              <a:rPr sz="1000" b="1" i="0" dirty="0">
                <a:solidFill>
                  <a:srgbClr val="FF0000"/>
                </a:solidFill>
                <a:latin typeface="Arial"/>
              </a:rPr>
              <a:t> RAL 7024 — </a:t>
            </a:r>
            <a:r>
              <a:rPr sz="1000" b="1" i="0" dirty="0" err="1">
                <a:solidFill>
                  <a:srgbClr val="FF0000"/>
                </a:solidFill>
                <a:latin typeface="Arial"/>
              </a:rPr>
              <a:t>скоро</a:t>
            </a:r>
            <a:r>
              <a:rPr sz="1000" b="1" i="0" dirty="0">
                <a:solidFill>
                  <a:srgbClr val="FF0000"/>
                </a:solidFill>
                <a:latin typeface="Arial"/>
              </a:rPr>
              <a:t>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14255" y="2739754"/>
            <a:ext cx="16459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1" i="0">
                <a:solidFill>
                  <a:srgbClr val="1A1F36"/>
                </a:solidFill>
                <a:latin typeface="Arial"/>
              </a:rPr>
              <a:t>7 SKU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3014074"/>
            <a:ext cx="1480413" cy="118872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67512" y="2977498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40080" y="3032362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БЫСТ 0.75л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211933" y="3014074"/>
            <a:ext cx="1480413" cy="1188720"/>
          </a:xfrm>
          <a:prstGeom prst="roundRect">
            <a:avLst/>
          </a:prstGeom>
          <a:solidFill>
            <a:srgbClr val="80808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239365" y="2977498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211933" y="3032362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БЫСТ 0.75л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Серый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783787" y="3014074"/>
            <a:ext cx="1480413" cy="1188720"/>
          </a:xfrm>
          <a:prstGeom prst="roundRect">
            <a:avLst/>
          </a:prstGeom>
          <a:solidFill>
            <a:srgbClr val="3D28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3811219" y="2977498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783787" y="3032362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БЫСТ 0.75л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Шоколад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355640" y="3014074"/>
            <a:ext cx="1480413" cy="1188720"/>
          </a:xfrm>
          <a:prstGeom prst="roundRect">
            <a:avLst/>
          </a:prstGeom>
          <a:solidFill>
            <a:srgbClr val="F5F5DC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383072" y="2977498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355640" y="3032362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БЫСТ 0.75л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Белый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927494" y="3014074"/>
            <a:ext cx="1480413" cy="1188720"/>
          </a:xfrm>
          <a:prstGeom prst="roundRect">
            <a:avLst/>
          </a:prstGeom>
          <a:solidFill>
            <a:srgbClr val="40404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954926" y="2977498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927494" y="3485323"/>
            <a:ext cx="1480413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 dirty="0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 dirty="0">
                <a:solidFill>
                  <a:srgbClr val="FFFFFF"/>
                </a:solidFill>
                <a:latin typeface="Arial"/>
              </a:rPr>
              <a:t>БЫСТ 0.75л</a:t>
            </a:r>
          </a:p>
          <a:p>
            <a:pPr algn="ctr"/>
            <a:r>
              <a:rPr sz="500" b="1" dirty="0" err="1" smtClean="0">
                <a:solidFill>
                  <a:srgbClr val="FF0000"/>
                </a:solidFill>
                <a:latin typeface="Arial"/>
              </a:rPr>
              <a:t>Графит</a:t>
            </a:r>
            <a:r>
              <a:rPr lang="ru-RU" sz="500" b="1" dirty="0" smtClean="0">
                <a:solidFill>
                  <a:srgbClr val="FF0000"/>
                </a:solidFill>
                <a:latin typeface="Arial"/>
              </a:rPr>
              <a:t> – скоро!</a:t>
            </a:r>
            <a:endParaRPr sz="500" b="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8499347" y="3014074"/>
            <a:ext cx="1480413" cy="1188720"/>
          </a:xfrm>
          <a:prstGeom prst="roundRect">
            <a:avLst/>
          </a:prstGeom>
          <a:solidFill>
            <a:srgbClr val="E6C80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8526779" y="2977498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499347" y="3032362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БЫСТ 0.75л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Жёлтый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071201" y="3014074"/>
            <a:ext cx="1480413" cy="118872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0098633" y="2977498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071201" y="3032362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БЫСТ 2.2л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65760" y="4659994"/>
            <a:ext cx="11460175" cy="178308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502920" y="6206884"/>
            <a:ext cx="11185855" cy="18288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02920" y="4705714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B8860B"/>
                </a:solidFill>
                <a:latin typeface="Arial"/>
              </a:rPr>
              <a:t>ПОЛКА 3: Эмаль с молотковым эффектом (6 цветов 0.8кг + 1×2.5кг = 7 SKU)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14255" y="4705714"/>
            <a:ext cx="16459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1" i="0">
                <a:solidFill>
                  <a:srgbClr val="B8860B"/>
                </a:solidFill>
                <a:latin typeface="Arial"/>
              </a:rPr>
              <a:t>7 SKU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40080" y="4980034"/>
            <a:ext cx="1480413" cy="118872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667512" y="4943458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366228" y="5799551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914870" y="589137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899411" y="5648207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1417796" y="519258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40080" y="4998322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0.8кг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211933" y="4980034"/>
            <a:ext cx="1480413" cy="1188720"/>
          </a:xfrm>
          <a:prstGeom prst="roundRect">
            <a:avLst/>
          </a:prstGeom>
          <a:solidFill>
            <a:srgbClr val="4A2C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2239365" y="4943458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2525761" y="5821163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2479342" y="5241017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2972472" y="5543495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2355770" y="5590313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2211933" y="4998322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0.8кг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Корич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783787" y="4980034"/>
            <a:ext cx="1480413" cy="1188720"/>
          </a:xfrm>
          <a:prstGeom prst="roundRect">
            <a:avLst/>
          </a:prstGeom>
          <a:solidFill>
            <a:srgbClr val="C0C0C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3811219" y="4943458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4439128" y="5322981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4921223" y="559182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4169501" y="5705687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4919258" y="546898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783787" y="4998322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МОЛ 0.8кг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Сереб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355640" y="4980034"/>
            <a:ext cx="1480413" cy="1188720"/>
          </a:xfrm>
          <a:prstGeom prst="roundRect">
            <a:avLst/>
          </a:prstGeom>
          <a:solidFill>
            <a:srgbClr val="B8860B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5383072" y="4943458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5582041" y="521155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5774866" y="514250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6652573" y="550928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5732806" y="581012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5355640" y="4998322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0.8кг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Золот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927494" y="4980034"/>
            <a:ext cx="1480413" cy="1188720"/>
          </a:xfrm>
          <a:prstGeom prst="roundRect">
            <a:avLst/>
          </a:prstGeom>
          <a:solidFill>
            <a:srgbClr val="B87333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6954926" y="4943458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7628577" y="532222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7691205" y="571414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7952905" y="5770311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8088697" y="562633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6927494" y="4998322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0.8кг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Медн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499347" y="4980034"/>
            <a:ext cx="1480413" cy="1188720"/>
          </a:xfrm>
          <a:prstGeom prst="roundRect">
            <a:avLst/>
          </a:prstGeom>
          <a:solidFill>
            <a:srgbClr val="355E3B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8526779" y="4943458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8812013" y="5167151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9665969" y="517534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8957305" y="562385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9681592" y="551425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499347" y="4998322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0.8кг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Т-зел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0071201" y="4980034"/>
            <a:ext cx="1480413" cy="118872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10098633" y="4943458"/>
            <a:ext cx="142554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10914281" y="555469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1172660" y="5170325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10762938" y="592713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11361336" y="5425437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0071201" y="4998322"/>
            <a:ext cx="1480413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2.5кг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365760" y="6371476"/>
            <a:ext cx="11460175" cy="32004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365760" y="6371476"/>
            <a:ext cx="11460175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1A1F36"/>
                </a:solidFill>
                <a:latin typeface="Arial"/>
              </a:rPr>
              <a:t>!  Для точек класса A (федеральная DIY) — выкладка всего модельного ряда. Топ-3 цвета дублировать фейсингами.</a:t>
            </a:r>
          </a:p>
        </p:txBody>
      </p:sp>
    </p:spTree>
    <p:extLst>
      <p:ext uri="{BB962C8B-B14F-4D97-AF65-F5344CB8AC3E}">
        <p14:creationId xmlns:p14="http://schemas.microsoft.com/office/powerpoint/2010/main" val="3029170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СВОДНАЯ ТАБЛИЦА — MML TITAN ПО КЛАССАМ ТТ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Сравнение по категориям · RAL указан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2416" y="980818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2416" y="980818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Категория / Объём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2816" y="980818"/>
            <a:ext cx="21945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02816" y="980818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 — Федер. DIY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7376" y="980818"/>
            <a:ext cx="21945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7376" y="980818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 — Локал. сеть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91936" y="980818"/>
            <a:ext cx="20116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91936" y="980818"/>
            <a:ext cx="20116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 — Супермаркет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02416" y="1392298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8136" y="1392298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3в1 по ржавчине, 0.75 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2816" y="1392298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48536" y="1392298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7376" y="1392298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43096" y="1392298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91936" y="1392298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37656" y="1392298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02416" y="2112602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8136" y="2112602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3в1 по ржавчине, 2 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02816" y="2112602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48536" y="2112602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цветов:
RAL 9005 (чёрный)
RAL 8017 (шоколад)
RAL 7004 (серый)
RAL 7024 (графит)
RAL 9010 (белый)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7376" y="2112602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43096" y="2112602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 цвета:
RAL 9005 (чёрный)
RAL 8017 (шоколад)
RAL 7004 (серый)
RAL 7024 (графит)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91936" y="2112602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37656" y="2112602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02416" y="2832906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48136" y="28329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Быстросохнущая, 0.75 л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02816" y="28329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48536" y="28329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7376" y="28329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43096" y="28329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91936" y="2832906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737656" y="28329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02416" y="3518706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48136" y="35187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Быстросохнущая, 2.2 л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02816" y="35187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348536" y="35187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RAL 9005 (чёрный)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7376" y="35187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43096" y="35187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91936" y="3518706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737656" y="35187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02416" y="4204506"/>
            <a:ext cx="320040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48136" y="42045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Молотковая, 0.8 кг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02816" y="42045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48536" y="42045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 цвета:
Чёрный
Коричневый
Серебристый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97376" y="4204506"/>
            <a:ext cx="219456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43096" y="42045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 цвета:
Чёрный
Коричневый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91936" y="4204506"/>
            <a:ext cx="2011680" cy="6858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737656" y="42045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 цвета:
Чёрный
Коричневый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02416" y="4890306"/>
            <a:ext cx="320040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148136" y="4890306"/>
            <a:ext cx="310896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A1F36"/>
                </a:solidFill>
                <a:latin typeface="Arial"/>
              </a:rPr>
              <a:t>Молотковая, 2.5 кг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02816" y="48903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348536" y="48903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 цвет:
Чёрный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97376" y="4890306"/>
            <a:ext cx="219456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543096" y="4890306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691936" y="4890306"/>
            <a:ext cx="201168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737656" y="4890306"/>
            <a:ext cx="192024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02416" y="5576106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102416" y="5576106"/>
            <a:ext cx="320040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ИТОГО SKU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02816" y="5576106"/>
            <a:ext cx="2194560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302816" y="5576106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97376" y="5576106"/>
            <a:ext cx="2194560" cy="41148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497376" y="5576106"/>
            <a:ext cx="219456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691936" y="5576106"/>
            <a:ext cx="201168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691936" y="5576106"/>
            <a:ext cx="20116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ВАРИАНТ 2 — КЛАСС A: ФЕДЕРАЛЬНАЯ СЕТЬ DIY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16 SKU · MML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22960"/>
            <a:ext cx="11460175" cy="173736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350008"/>
            <a:ext cx="11185855" cy="18288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86868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Arial"/>
              </a:rPr>
              <a:t>ПОЛКА 1: 3в1 по ржавчине 0.75 л — 5 цветов 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255" y="868680"/>
            <a:ext cx="16459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1" i="0">
                <a:solidFill>
                  <a:srgbClr val="C62828"/>
                </a:solidFill>
                <a:latin typeface="Arial"/>
              </a:rPr>
              <a:t>6 SKU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143000"/>
            <a:ext cx="1742389" cy="11430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7512" y="1106424"/>
            <a:ext cx="1687525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161288"/>
            <a:ext cx="1742389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73909" y="1143000"/>
            <a:ext cx="1742389" cy="1143000"/>
          </a:xfrm>
          <a:prstGeom prst="roundRect">
            <a:avLst/>
          </a:prstGeom>
          <a:solidFill>
            <a:srgbClr val="F5F5DC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01341" y="1106424"/>
            <a:ext cx="1687525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73909" y="1161288"/>
            <a:ext cx="1742389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0.75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Белый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7738" y="1143000"/>
            <a:ext cx="1742389" cy="1143000"/>
          </a:xfrm>
          <a:prstGeom prst="roundRect">
            <a:avLst/>
          </a:prstGeom>
          <a:solidFill>
            <a:srgbClr val="B0B0B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35170" y="1106424"/>
            <a:ext cx="1687525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07738" y="1161288"/>
            <a:ext cx="1742389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0.75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1567" y="1143000"/>
            <a:ext cx="1742389" cy="1143000"/>
          </a:xfrm>
          <a:prstGeom prst="roundRect">
            <a:avLst/>
          </a:prstGeom>
          <a:solidFill>
            <a:srgbClr val="40404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68999" y="1106424"/>
            <a:ext cx="1687525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41567" y="1161288"/>
            <a:ext cx="1742389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Графит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5396" y="1143000"/>
            <a:ext cx="1742389" cy="1143000"/>
          </a:xfrm>
          <a:prstGeom prst="roundRect">
            <a:avLst/>
          </a:prstGeom>
          <a:solidFill>
            <a:srgbClr val="3D28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02828" y="1106424"/>
            <a:ext cx="1687525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75396" y="1161288"/>
            <a:ext cx="1742389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Шоколад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09225" y="1143000"/>
            <a:ext cx="1742389" cy="11430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836657" y="1106424"/>
            <a:ext cx="1687525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09225" y="1161288"/>
            <a:ext cx="1742389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2697480"/>
            <a:ext cx="11460175" cy="173736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02920" y="4224528"/>
            <a:ext cx="11185855" cy="18288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274320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ПОЛКА 2: 3в1 2 л (4 цвета) + быстросохнущая (2 SKU)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14255" y="2743200"/>
            <a:ext cx="16459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1" i="0">
                <a:solidFill>
                  <a:srgbClr val="1A1F36"/>
                </a:solidFill>
                <a:latin typeface="Arial"/>
              </a:rPr>
              <a:t>5 SKU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3017520"/>
            <a:ext cx="2109155" cy="1143000"/>
          </a:xfrm>
          <a:prstGeom prst="roundRect">
            <a:avLst/>
          </a:prstGeom>
          <a:solidFill>
            <a:srgbClr val="F5F5DC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67512" y="298094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303580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Белый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40675" y="3017520"/>
            <a:ext cx="2109155" cy="1143000"/>
          </a:xfrm>
          <a:prstGeom prst="roundRect">
            <a:avLst/>
          </a:prstGeom>
          <a:solidFill>
            <a:srgbClr val="B0B0B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868107" y="298094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40675" y="303580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41270" y="3017520"/>
            <a:ext cx="2109155" cy="1143000"/>
          </a:xfrm>
          <a:prstGeom prst="roundRect">
            <a:avLst/>
          </a:prstGeom>
          <a:solidFill>
            <a:srgbClr val="40404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068702" y="298094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41270" y="303580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Графит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41865" y="3017520"/>
            <a:ext cx="2109155" cy="1143000"/>
          </a:xfrm>
          <a:prstGeom prst="roundRect">
            <a:avLst/>
          </a:prstGeom>
          <a:solidFill>
            <a:srgbClr val="3D28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269297" y="298094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41865" y="303580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Шоколад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42460" y="3017520"/>
            <a:ext cx="2109155" cy="11430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469892" y="298094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442460" y="303580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БЫСТ 0.75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5760" y="4572000"/>
            <a:ext cx="11460175" cy="173736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02920" y="6099048"/>
            <a:ext cx="11185855" cy="18288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2920" y="461772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B8860B"/>
                </a:solidFill>
                <a:latin typeface="Arial"/>
              </a:rPr>
              <a:t>ПОЛКА 3: молотковый эффект — 4 цвета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14255" y="4617720"/>
            <a:ext cx="16459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1" i="0">
                <a:solidFill>
                  <a:srgbClr val="B8860B"/>
                </a:solidFill>
                <a:latin typeface="Arial"/>
              </a:rPr>
              <a:t>5 SKU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" y="4892040"/>
            <a:ext cx="2109155" cy="11430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67512" y="485546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" y="491032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БЫСТ 2.2л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840675" y="4892040"/>
            <a:ext cx="2109155" cy="11430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2868107" y="485546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3008921" y="5419855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3954459" y="5666783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4493959" y="5126935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3809371" y="526921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840675" y="491032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41270" y="4892040"/>
            <a:ext cx="2109155" cy="11430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068702" y="485546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5709406" y="5631893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5652332" y="548399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6515711" y="5277775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5318262" y="5506405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041270" y="491032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2.5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241865" y="4892040"/>
            <a:ext cx="2109155" cy="1143000"/>
          </a:xfrm>
          <a:prstGeom prst="roundRect">
            <a:avLst/>
          </a:prstGeom>
          <a:solidFill>
            <a:srgbClr val="4A2C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7269297" y="485546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8249221" y="57424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8862234" y="566148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8521066" y="558064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8152364" y="5458087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241865" y="491032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Корич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442460" y="4892040"/>
            <a:ext cx="2109155" cy="1143000"/>
          </a:xfrm>
          <a:prstGeom prst="roundRect">
            <a:avLst/>
          </a:prstGeom>
          <a:solidFill>
            <a:srgbClr val="C0C0C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469892" y="485546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11256257" y="565689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9978250" y="507690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9999572" y="5117691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10639084" y="5248325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442460" y="491032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МОЛ 0.8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Сереб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65760" y="6397354"/>
            <a:ext cx="11460175" cy="32004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65760" y="6397354"/>
            <a:ext cx="11460175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1A1F36"/>
                </a:solidFill>
                <a:latin typeface="Arial"/>
              </a:rPr>
              <a:t>!  Класс A — эталонная выкладка. Топ-3 цвета (чёрный, коричневый, графит) — по 2 фейсинга. Глубина: 6 шт/SKU.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ВАРИАНТ 2 — КЛАСС B: ЛОКАЛЬНАЯ СЕТЬ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12 SKU · MML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22960"/>
            <a:ext cx="11460175" cy="173736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350008"/>
            <a:ext cx="11185855" cy="18288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86868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ПОЛКА 1: 3в1 по ржавчине 0.75 л — 5 цветов 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255" y="868680"/>
            <a:ext cx="16459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1" i="0">
                <a:solidFill>
                  <a:srgbClr val="F47920"/>
                </a:solidFill>
                <a:latin typeface="Arial"/>
              </a:rPr>
              <a:t>5 SKU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143000"/>
            <a:ext cx="2109155" cy="11430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7512" y="110642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16128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40675" y="1143000"/>
            <a:ext cx="2109155" cy="1143000"/>
          </a:xfrm>
          <a:prstGeom prst="roundRect">
            <a:avLst/>
          </a:prstGeom>
          <a:solidFill>
            <a:srgbClr val="F5F5DC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68107" y="110642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40675" y="116128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0.75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Белый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1270" y="1143000"/>
            <a:ext cx="2109155" cy="1143000"/>
          </a:xfrm>
          <a:prstGeom prst="roundRect">
            <a:avLst/>
          </a:prstGeom>
          <a:solidFill>
            <a:srgbClr val="B0B0B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68702" y="110642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41270" y="116128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0.75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41865" y="1143000"/>
            <a:ext cx="2109155" cy="1143000"/>
          </a:xfrm>
          <a:prstGeom prst="roundRect">
            <a:avLst/>
          </a:prstGeom>
          <a:solidFill>
            <a:srgbClr val="40404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269297" y="110642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41865" y="116128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Графит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42460" y="1143000"/>
            <a:ext cx="2109155" cy="1143000"/>
          </a:xfrm>
          <a:prstGeom prst="roundRect">
            <a:avLst/>
          </a:prstGeom>
          <a:solidFill>
            <a:srgbClr val="3D28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469892" y="110642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42460" y="116128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0.75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Шоколад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2697480"/>
            <a:ext cx="11460175" cy="173736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4224528"/>
            <a:ext cx="11185855" cy="18288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274320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ПОЛКА 2: 3в1 2 л (4 цвета) + быстросохнущая (1 SKU)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4255" y="2743200"/>
            <a:ext cx="16459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1" i="0">
                <a:solidFill>
                  <a:srgbClr val="1A1F36"/>
                </a:solidFill>
                <a:latin typeface="Arial"/>
              </a:rPr>
              <a:t>5 SKU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017520"/>
            <a:ext cx="2109155" cy="11430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67512" y="298094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303580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40675" y="3017520"/>
            <a:ext cx="2109155" cy="1143000"/>
          </a:xfrm>
          <a:prstGeom prst="roundRect">
            <a:avLst/>
          </a:prstGeom>
          <a:solidFill>
            <a:srgbClr val="B0B0B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868107" y="298094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840675" y="303580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1A1F36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41270" y="3017520"/>
            <a:ext cx="2109155" cy="1143000"/>
          </a:xfrm>
          <a:prstGeom prst="roundRect">
            <a:avLst/>
          </a:prstGeom>
          <a:solidFill>
            <a:srgbClr val="40404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068702" y="298094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41270" y="303580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Графит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41865" y="3017520"/>
            <a:ext cx="2109155" cy="1143000"/>
          </a:xfrm>
          <a:prstGeom prst="roundRect">
            <a:avLst/>
          </a:prstGeom>
          <a:solidFill>
            <a:srgbClr val="3D28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269297" y="298094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241865" y="303580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Шоколад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42460" y="3017520"/>
            <a:ext cx="2109155" cy="11430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469892" y="2980944"/>
            <a:ext cx="2054291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442460" y="3035808"/>
            <a:ext cx="2109155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БЫСТ 0.75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4572000"/>
            <a:ext cx="11460175" cy="173736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02920" y="6099048"/>
            <a:ext cx="11185855" cy="18288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2920" y="4617720"/>
            <a:ext cx="54864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B8860B"/>
                </a:solidFill>
                <a:latin typeface="Arial"/>
              </a:rPr>
              <a:t>ПОЛКА 3: молотковый эффект — 2 цвета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14255" y="4617720"/>
            <a:ext cx="16459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1" i="0">
                <a:solidFill>
                  <a:srgbClr val="B8860B"/>
                </a:solidFill>
                <a:latin typeface="Arial"/>
              </a:rPr>
              <a:t>2 SKU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4892040"/>
            <a:ext cx="5410047" cy="11430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67512" y="4855464"/>
            <a:ext cx="5355183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5159966" y="5328229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2630323" y="5274121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145317" y="5458641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957896" y="5641075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0080" y="4910328"/>
            <a:ext cx="5410047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41567" y="4892040"/>
            <a:ext cx="5410047" cy="1143000"/>
          </a:xfrm>
          <a:prstGeom prst="roundRect">
            <a:avLst/>
          </a:prstGeom>
          <a:solidFill>
            <a:srgbClr val="4A2C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168999" y="4855464"/>
            <a:ext cx="5355183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599807" y="544800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6453574" y="515400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9711661" y="5171035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7924691" y="5422397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141567" y="4910328"/>
            <a:ext cx="5410047" cy="1106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Корич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65760" y="6405980"/>
            <a:ext cx="11460175" cy="32004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65760" y="6405980"/>
            <a:ext cx="11460175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1A1F36"/>
                </a:solidFill>
                <a:latin typeface="Arial"/>
              </a:rPr>
              <a:t>!  Класс B — основная выкладка. Нет белого 2л, серебристой молотковой, 2.5 кг. Глубина: 4 шт/SKU.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ВАРИАНТ 2 — КЛАСС C и D: СУПЕРМАРКЕТ И ХОЗМАГ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C: 2 SKU · D: 0 SKU · MML (текущий)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9315" y="1872975"/>
            <a:ext cx="5547207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КЛАСС C — СУПЕРМАРКЕТ (2 SKU)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9315" y="2413845"/>
            <a:ext cx="5547207" cy="2286000"/>
          </a:xfrm>
          <a:prstGeom prst="roundRect">
            <a:avLst/>
          </a:prstGeom>
          <a:solidFill>
            <a:srgbClr val="E5E7EB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96475" y="4455029"/>
            <a:ext cx="5272887" cy="18288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58398" y="2733885"/>
            <a:ext cx="1645920" cy="164592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85830" y="2697309"/>
            <a:ext cx="1591056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929300" y="3692601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460991" y="391626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484539" y="2955497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971012" y="365232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8398" y="2752173"/>
            <a:ext cx="1645920" cy="1609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1518" y="2733885"/>
            <a:ext cx="1645920" cy="1645920"/>
          </a:xfrm>
          <a:prstGeom prst="roundRect">
            <a:avLst/>
          </a:prstGeom>
          <a:solidFill>
            <a:srgbClr val="4A2C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88950" y="2697309"/>
            <a:ext cx="1591056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823623" y="3603263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783915" y="330217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834257" y="355515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239823" y="3550803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61518" y="2752173"/>
            <a:ext cx="1645920" cy="1609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500" b="1">
                <a:solidFill>
                  <a:srgbClr val="FFFFFF"/>
                </a:solidFill>
                <a:latin typeface="Arial"/>
              </a:rPr>
              <a:t>МОЛ 0.8</a:t>
            </a:r>
          </a:p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Корич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MML: КАК БЫЛО → КАК ПРЕДЛАГАЕТСЯ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8 рекомендаций на основе продаж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891540"/>
            <a:ext cx="2788920" cy="3657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A — Федеральная DIY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16  → 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+5 SKU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7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1840" y="891540"/>
            <a:ext cx="2788920" cy="36576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B — Локальная сеть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12  → 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+4 SKU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891540"/>
            <a:ext cx="2788920" cy="3657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C — Супермаркет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2  → 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+2 SKU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891540"/>
            <a:ext cx="27889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0" y="891540"/>
            <a:ext cx="2788920" cy="3657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891540"/>
            <a:ext cx="27889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КЛАСС D — Хозмаг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03020"/>
            <a:ext cx="2788920" cy="5029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0  → 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51660"/>
            <a:ext cx="278892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9CA3AF"/>
                </a:solidFill>
                <a:latin typeface="Arial"/>
              </a:rPr>
              <a:t>0 SKU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852160" y="2354580"/>
            <a:ext cx="457200" cy="320040"/>
          </a:xfrm>
          <a:prstGeom prst="down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2785110"/>
            <a:ext cx="114300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8 РЕКОМЕНДАЦИЙ ПО КОРРЕКТИРОВКЕ MML — НА ОСНОВЕ РЕАЛЬНЫХ ПРОДАЖ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036570"/>
            <a:ext cx="4572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3036570"/>
            <a:ext cx="4572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036570"/>
            <a:ext cx="210312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3036570"/>
            <a:ext cx="210312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Категория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3036570"/>
            <a:ext cx="27432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26080" y="3036570"/>
            <a:ext cx="27432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Цвет / RAL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3036570"/>
            <a:ext cx="82296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0" y="3036570"/>
            <a:ext cx="8229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Объём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036570"/>
            <a:ext cx="109728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3036570"/>
            <a:ext cx="10972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Вторичка
(шт)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3036570"/>
            <a:ext cx="82296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0" y="3036570"/>
            <a:ext cx="8229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АКБ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3036570"/>
            <a:ext cx="13716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0" y="303657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Было
(MML)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84080" y="3036570"/>
            <a:ext cx="155448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784080" y="3036570"/>
            <a:ext cx="15544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Стало
(MML)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402330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" y="3402330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3402330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2960" y="3402330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0" y="3402330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926080" y="3402330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Чёрный RAL 9005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0" y="3402330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669280" y="340233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3402330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92240" y="3402330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7 738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89520" y="3402330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89520" y="340233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393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0" y="3402330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12480" y="3402330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A, 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84080" y="3402330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784080" y="3402330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B, 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3731514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65760" y="3731514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2960" y="3731514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22960" y="3731514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26080" y="3731514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926080" y="3731514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Шоколад-коричневый RAL 8017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0" y="3731514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669280" y="373151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92240" y="3731514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92240" y="3731514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4 524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89520" y="3731514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589520" y="373151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287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12480" y="3731514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412480" y="3731514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A, B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784080" y="3731514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784080" y="3731514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B, C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4060698"/>
            <a:ext cx="457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65760" y="4060698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" y="4060698"/>
            <a:ext cx="210312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22960" y="4060698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926080" y="4060698"/>
            <a:ext cx="2743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926080" y="4060698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Зелёный RAL 6005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69280" y="4060698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669280" y="406069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92240" y="4060698"/>
            <a:ext cx="10972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492240" y="4060698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1 893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89520" y="4060698"/>
            <a:ext cx="82296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589520" y="406069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111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412480" y="4060698"/>
            <a:ext cx="13716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412480" y="4060698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784080" y="4060698"/>
            <a:ext cx="155448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784080" y="4060698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65760" y="4389882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65760" y="4389882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2960" y="4389882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22960" y="4389882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926080" y="4389882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926080" y="4389882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669280" y="4389882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669280" y="438988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492240" y="4389882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492240" y="4389882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2 695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589520" y="4389882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589520" y="438988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199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12480" y="4389882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412480" y="4389882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784080" y="4389882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9784080" y="4389882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" y="4719066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365760" y="4719066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22960" y="4719066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822960" y="4719066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926080" y="4719066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2926080" y="4719066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Шоколадно-кор. RAL 8017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669280" y="4719066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669280" y="4719066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492240" y="4719066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492240" y="4719066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2 232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589520" y="4719066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589520" y="4719066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193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412480" y="4719066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8412480" y="4719066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784080" y="4719066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9784080" y="4719066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65760" y="5048250"/>
            <a:ext cx="457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365760" y="5048250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6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22960" y="5048250"/>
            <a:ext cx="210312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822960" y="5048250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926080" y="5048250"/>
            <a:ext cx="27432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926080" y="5048250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Белый RAL 9010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669280" y="5048250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5669280" y="504825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0.75 л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492240" y="5048250"/>
            <a:ext cx="10972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6492240" y="5048250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1 507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589520" y="5048250"/>
            <a:ext cx="82296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7589520" y="5048250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119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412480" y="5048250"/>
            <a:ext cx="137160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8412480" y="5048250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784080" y="5048250"/>
            <a:ext cx="1554480" cy="329184"/>
          </a:xfrm>
          <a:prstGeom prst="rect">
            <a:avLst/>
          </a:prstGeom>
          <a:solidFill>
            <a:srgbClr val="FFEDD5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9784080" y="5048250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65760" y="5377434"/>
            <a:ext cx="457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365760" y="5377434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7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22960" y="5377434"/>
            <a:ext cx="210312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822960" y="5377434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926080" y="5377434"/>
            <a:ext cx="2743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926080" y="5377434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Серебристый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669280" y="5377434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5669280" y="537743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0.8 кг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492240" y="5377434"/>
            <a:ext cx="10972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6492240" y="5377434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2 394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589520" y="5377434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7589520" y="5377434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198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412480" y="5377434"/>
            <a:ext cx="13716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8412480" y="5377434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784080" y="5377434"/>
            <a:ext cx="15544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9784080" y="5377434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A, B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65760" y="5706618"/>
            <a:ext cx="457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365760" y="5706618"/>
            <a:ext cx="457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8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22960" y="5706618"/>
            <a:ext cx="210312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822960" y="5706618"/>
            <a:ext cx="210312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926080" y="5706618"/>
            <a:ext cx="27432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2926080" y="5706618"/>
            <a:ext cx="27432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Медный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669280" y="5706618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5669280" y="570661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0.8 кг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492240" y="5706618"/>
            <a:ext cx="10972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6492240" y="5706618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A1F36"/>
                </a:solidFill>
                <a:latin typeface="Arial"/>
              </a:rPr>
              <a:t>1 162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589520" y="5706618"/>
            <a:ext cx="82296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7589520" y="5706618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0" i="0">
                <a:solidFill>
                  <a:srgbClr val="1A1F36"/>
                </a:solidFill>
                <a:latin typeface="Arial"/>
              </a:rPr>
              <a:t>102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8412480" y="5706618"/>
            <a:ext cx="137160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8412480" y="5706618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  <a:latin typeface="Arial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784080" y="5706618"/>
            <a:ext cx="1554480" cy="329184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9784080" y="5706618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Arial"/>
              </a:rPr>
              <a:t>A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65760" y="6035802"/>
            <a:ext cx="61264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822960" y="6035802"/>
            <a:ext cx="52120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ИТОГО: 8 рекомендаций на основе продаж → +11 SKU-позиций в MML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492240" y="6035802"/>
            <a:ext cx="10972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6492240" y="6035802"/>
            <a:ext cx="10972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22 645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589520" y="6035802"/>
            <a:ext cx="8229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7589520" y="6035802"/>
            <a:ext cx="82296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1 522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412480" y="6035802"/>
            <a:ext cx="137160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8412480" y="6035802"/>
            <a:ext cx="137160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30 SKU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784080" y="6035802"/>
            <a:ext cx="155448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9784080" y="6035802"/>
            <a:ext cx="1554480" cy="329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41 SKU</a:t>
            </a:r>
          </a:p>
        </p:txBody>
      </p:sp>
    </p:spTree>
    <p:extLst>
      <p:ext uri="{BB962C8B-B14F-4D97-AF65-F5344CB8AC3E}">
        <p14:creationId xmlns:p14="http://schemas.microsoft.com/office/powerpoint/2010/main" val="2719408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1063</Words>
  <Application>Microsoft Office PowerPoint</Application>
  <PresentationFormat>Произвольный</PresentationFormat>
  <Paragraphs>379</Paragraphs>
  <Slides>8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Заколодний Роман Александрович</cp:lastModifiedBy>
  <cp:revision>16</cp:revision>
  <dcterms:created xsi:type="dcterms:W3CDTF">2013-01-27T09:14:16Z</dcterms:created>
  <dcterms:modified xsi:type="dcterms:W3CDTF">2026-07-17T08:23:34Z</dcterms:modified>
  <cp:category/>
</cp:coreProperties>
</file>