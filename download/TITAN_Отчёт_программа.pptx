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1042988"/>
            <a:ext cx="8458200" cy="0"/>
          </a:xfrm>
          <a:prstGeom prst="line">
            <a:avLst/>
          </a:prstGeom>
          <a:noFill/>
          <a:ln w="7144">
            <a:solidFill>
              <a:srgbClr val="E2DD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2900" y="257175"/>
            <a:ext cx="761881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spc="169" kern="0" dirty="0">
                <a:solidFill>
                  <a:srgbClr val="6B8F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013" dirty="0"/>
          </a:p>
        </p:txBody>
      </p:sp>
      <p:sp>
        <p:nvSpPr>
          <p:cNvPr id="4" name="Text 2"/>
          <p:cNvSpPr/>
          <p:nvPr/>
        </p:nvSpPr>
        <p:spPr>
          <a:xfrm>
            <a:off x="919088" y="303609"/>
            <a:ext cx="7144" cy="100013"/>
          </a:xfrm>
          <a:prstGeom prst="rect">
            <a:avLst/>
          </a:prstGeom>
          <a:solidFill>
            <a:srgbClr val="E2DD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26244" y="294680"/>
            <a:ext cx="355423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41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ПРОГРАММА 2026 · ОТЧЁТ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2900" y="492919"/>
            <a:ext cx="4576590" cy="279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4"/>
              </a:lnSpc>
              <a:buNone/>
            </a:pPr>
            <a:r>
              <a:rPr lang="en-US" sz="1463" b="1" spc="-11" kern="0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 · сводный отчёт по трём каналам</a:t>
            </a:r>
            <a:endParaRPr lang="en-US" sz="1463" dirty="0"/>
          </a:p>
        </p:txBody>
      </p:sp>
      <p:sp>
        <p:nvSpPr>
          <p:cNvPr id="7" name="Text 5"/>
          <p:cNvSpPr/>
          <p:nvPr/>
        </p:nvSpPr>
        <p:spPr>
          <a:xfrm>
            <a:off x="342900" y="800100"/>
            <a:ext cx="4237583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Период: май — октябрь 2026 · Этап 1 завершён, Этап 2 в активной фазе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6026" y="571500"/>
            <a:ext cx="1305074" cy="1047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spc="141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БЮДЖЕТ ЭТАПА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561659" y="703659"/>
            <a:ext cx="1239441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6B8F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344 200 ₽</a:t>
            </a:r>
            <a:endParaRPr lang="en-US" sz="1238" dirty="0"/>
          </a:p>
        </p:txBody>
      </p:sp>
      <p:sp>
        <p:nvSpPr>
          <p:cNvPr id="10" name="Text 8"/>
          <p:cNvSpPr/>
          <p:nvPr/>
        </p:nvSpPr>
        <p:spPr>
          <a:xfrm>
            <a:off x="346472" y="1178719"/>
            <a:ext cx="2745544" cy="1914971"/>
          </a:xfrm>
          <a:prstGeom prst="roundRect">
            <a:avLst>
              <a:gd name="adj" fmla="val 5969"/>
            </a:avLst>
          </a:prstGeom>
          <a:solidFill>
            <a:srgbClr val="FAF8F3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78631" y="1609130"/>
            <a:ext cx="2481225" cy="0"/>
          </a:xfrm>
          <a:prstGeom prst="line">
            <a:avLst/>
          </a:prstGeom>
          <a:noFill/>
          <a:ln w="7144">
            <a:solidFill>
              <a:srgbClr val="E2DD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631" y="1315343"/>
            <a:ext cx="200025" cy="200025"/>
          </a:xfrm>
          <a:prstGeom prst="roundRect">
            <a:avLst>
              <a:gd name="adj" fmla="val 38095"/>
            </a:avLst>
          </a:prstGeom>
          <a:solidFill>
            <a:srgbClr val="A7C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8888" y="1318915"/>
            <a:ext cx="439512" cy="196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i="1" dirty="0">
                <a:solidFill>
                  <a:srgbClr val="6B8F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store</a:t>
            </a:r>
            <a:endParaRPr lang="en-US" sz="1013" dirty="0"/>
          </a:p>
        </p:txBody>
      </p:sp>
      <p:sp>
        <p:nvSpPr>
          <p:cNvPr id="14" name="Text 12"/>
          <p:cNvSpPr/>
          <p:nvPr/>
        </p:nvSpPr>
        <p:spPr>
          <a:xfrm>
            <a:off x="735806" y="1296591"/>
            <a:ext cx="1931357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68" kern="0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5806" y="1432322"/>
            <a:ext cx="1660225" cy="101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spc="28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MML · Пилоты · Обучение · POSM · Контент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78631" y="1734145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8F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81099" y="1734145"/>
            <a:ext cx="2378757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MML: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30 →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41 SKU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8BAA8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(+11)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8631" y="1910507"/>
            <a:ext cx="91440" cy="306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8F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81099" y="1910507"/>
            <a:ext cx="2378757" cy="30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8631" y="2191792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8F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81099" y="2191792"/>
            <a:ext cx="2378757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~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350 ТП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8631" y="2368153"/>
            <a:ext cx="91440" cy="306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8F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81099" y="2368153"/>
            <a:ext cx="2378757" cy="30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POSM: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шелфтокеры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2000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8631" y="2649438"/>
            <a:ext cx="91440" cy="306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8F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81099" y="2649438"/>
            <a:ext cx="2378757" cy="30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видеоинструкция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35 865 ₽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портфолио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71 724 ₽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видео ТП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41 611 ₽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199172" y="1178719"/>
            <a:ext cx="2745544" cy="1914971"/>
          </a:xfrm>
          <a:prstGeom prst="roundRect">
            <a:avLst>
              <a:gd name="adj" fmla="val 5969"/>
            </a:avLst>
          </a:prstGeom>
          <a:solidFill>
            <a:srgbClr val="FAF8F3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331332" y="1609130"/>
            <a:ext cx="2481225" cy="0"/>
          </a:xfrm>
          <a:prstGeom prst="line">
            <a:avLst/>
          </a:prstGeom>
          <a:noFill/>
          <a:ln w="7144">
            <a:solidFill>
              <a:srgbClr val="E2DDD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31332" y="1315343"/>
            <a:ext cx="200025" cy="200025"/>
          </a:xfrm>
          <a:prstGeom prst="roundRect">
            <a:avLst>
              <a:gd name="adj" fmla="val 38095"/>
            </a:avLst>
          </a:prstGeom>
          <a:solidFill>
            <a:srgbClr val="E5D4B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331332" y="1318915"/>
            <a:ext cx="200025" cy="196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i="1" dirty="0">
                <a:solidFill>
                  <a:srgbClr val="8B73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shopping_cart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588507" y="1296591"/>
            <a:ext cx="1590244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68" kern="0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588507" y="1432322"/>
            <a:ext cx="1258791" cy="101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spc="28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 Про · Промо · Вход в DIY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331332" y="1734145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433800" y="1734145"/>
            <a:ext cx="2378757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 Про: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в ЮФО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331332" y="1910507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433800" y="1910507"/>
            <a:ext cx="2378757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РК: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экранов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Ростова + таргет ВКонтакте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331332" y="2086868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433800" y="2086868"/>
            <a:ext cx="2378757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Промо: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«Подарок за покупку» (Ростов + Краснодар)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331332" y="2263229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433800" y="2263229"/>
            <a:ext cx="2378757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Кэшбек 5%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на TITAN во всех 11 ТТ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331332" y="2439591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433800" y="2439591"/>
            <a:ext cx="2378757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6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Мастер-классы:</a:t>
            </a:r>
            <a:pPr algn="l" indent="0" marL="0">
              <a:lnSpc>
                <a:spcPts val="827"/>
              </a:lnSpc>
              <a:buNone/>
            </a:pPr>
            <a:r>
              <a:rPr lang="en-US" sz="6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827"/>
              </a:lnSpc>
              <a:buNone/>
            </a:pPr>
            <a:r>
              <a:rPr lang="en-US" sz="6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ТТ</a:t>
            </a:r>
            <a:pPr algn="l" indent="0" marL="0">
              <a:lnSpc>
                <a:spcPts val="827"/>
              </a:lnSpc>
              <a:buNone/>
            </a:pPr>
            <a:r>
              <a:rPr lang="en-US" sz="6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в Ростове · Веерные выкрасы B2B </a:t>
            </a:r>
            <a:pPr algn="l" indent="0" marL="0">
              <a:lnSpc>
                <a:spcPts val="827"/>
              </a:lnSpc>
              <a:buNone/>
            </a:pPr>
            <a:r>
              <a:rPr lang="en-US" sz="6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шт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331332" y="2615952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33800" y="2615952"/>
            <a:ext cx="2378757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Скидка 20%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(жёлтый ценник) с 01.08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331332" y="2788741"/>
            <a:ext cx="2481225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3331332" y="2835176"/>
            <a:ext cx="91440" cy="104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431344" y="2835176"/>
            <a:ext cx="2381213" cy="10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8"/>
              </a:lnSpc>
              <a:buNone/>
            </a:pPr>
            <a:r>
              <a:rPr lang="en-US" sz="600" b="1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ПЛАН 2027:</a:t>
            </a:r>
            <a:pPr algn="l" indent="0" marL="0">
              <a:lnSpc>
                <a:spcPts val="748"/>
              </a:lnSpc>
              <a:buNone/>
            </a:pPr>
            <a:r>
              <a:rPr lang="en-US" sz="6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Петрович </a:t>
            </a:r>
            <a:pPr algn="l" indent="0" marL="0">
              <a:lnSpc>
                <a:spcPts val="748"/>
              </a:lnSpc>
              <a:buNone/>
            </a:pPr>
            <a:r>
              <a:rPr lang="en-US" sz="6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ТТ</a:t>
            </a:r>
            <a:pPr algn="l" indent="0" marL="0">
              <a:lnSpc>
                <a:spcPts val="748"/>
              </a:lnSpc>
              <a:buNone/>
            </a:pPr>
            <a:r>
              <a:rPr lang="en-US" sz="6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· Максидом </a:t>
            </a:r>
            <a:pPr algn="l" indent="0" marL="0">
              <a:lnSpc>
                <a:spcPts val="748"/>
              </a:lnSpc>
              <a:buNone/>
            </a:pPr>
            <a:r>
              <a:rPr lang="en-US" sz="6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ТТ</a:t>
            </a:r>
            <a:pPr algn="l" indent="0" marL="0">
              <a:lnSpc>
                <a:spcPts val="748"/>
              </a:lnSpc>
              <a:buNone/>
            </a:pPr>
            <a:r>
              <a:rPr lang="en-US" sz="6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· OBI </a:t>
            </a:r>
            <a:pPr algn="l" indent="0" marL="0">
              <a:lnSpc>
                <a:spcPts val="748"/>
              </a:lnSpc>
              <a:buNone/>
            </a:pPr>
            <a:r>
              <a:rPr lang="en-US" sz="6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ТТ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051872" y="1178719"/>
            <a:ext cx="2745656" cy="1914971"/>
          </a:xfrm>
          <a:prstGeom prst="roundRect">
            <a:avLst>
              <a:gd name="adj" fmla="val 5969"/>
            </a:avLst>
          </a:prstGeom>
          <a:solidFill>
            <a:srgbClr val="FAF8F3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6184032" y="1609130"/>
            <a:ext cx="2481337" cy="0"/>
          </a:xfrm>
          <a:prstGeom prst="line">
            <a:avLst/>
          </a:prstGeom>
          <a:noFill/>
          <a:ln w="7144">
            <a:solidFill>
              <a:srgbClr val="E2DD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84032" y="1315343"/>
            <a:ext cx="200025" cy="200025"/>
          </a:xfrm>
          <a:prstGeom prst="roundRect">
            <a:avLst>
              <a:gd name="adj" fmla="val 38095"/>
            </a:avLst>
          </a:prstGeom>
          <a:solidFill>
            <a:srgbClr val="D9E2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945936" y="1318915"/>
            <a:ext cx="676216" cy="196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i="1" dirty="0">
                <a:solidFill>
                  <a:srgbClr val="7E9C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business</a:t>
            </a:r>
            <a:endParaRPr lang="en-US" sz="1013" dirty="0"/>
          </a:p>
        </p:txBody>
      </p:sp>
      <p:sp>
        <p:nvSpPr>
          <p:cNvPr id="51" name="Text 49"/>
          <p:cNvSpPr/>
          <p:nvPr/>
        </p:nvSpPr>
        <p:spPr>
          <a:xfrm>
            <a:off x="6441207" y="1296591"/>
            <a:ext cx="2093119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68" kern="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B2B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41207" y="1432322"/>
            <a:ext cx="1412855" cy="101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spc="28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Пробы · Листовка · ССВ · Портфолио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6184032" y="1734145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E9C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286500" y="1734145"/>
            <a:ext cx="2378869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пробник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184032" y="1910507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E9C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286500" y="1910507"/>
            <a:ext cx="2378869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с расчётом ССВ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184032" y="2086868"/>
            <a:ext cx="91440" cy="306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E9C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286500" y="2086868"/>
            <a:ext cx="2378869" cy="30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для ТП: тест-образец, листовка, инфлюенсер, маржа, портфолио, выкрасы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184032" y="2368153"/>
            <a:ext cx="91440" cy="306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E9C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286500" y="2368153"/>
            <a:ext cx="2378869" cy="30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ССВ-расчёт: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маржинальность по фасовкам — 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8,5 л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выгоднее в закупке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184032" y="2649438"/>
            <a:ext cx="91440" cy="15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E9C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6286500" y="2649438"/>
            <a:ext cx="2378869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Контент-облако:</a:t>
            </a:r>
            <a:pPr algn="l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единый доступ для ТП и пилотов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42900" y="3211562"/>
            <a:ext cx="8636000" cy="147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41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КЛЮЧЕВЫЕ МЕТРИКИ · ФАКТ VS ПЛАН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346472" y="3390156"/>
            <a:ext cx="2043113" cy="656779"/>
          </a:xfrm>
          <a:prstGeom prst="roundRect">
            <a:avLst>
              <a:gd name="adj" fmla="val 17403"/>
            </a:avLst>
          </a:prstGeom>
          <a:solidFill>
            <a:srgbClr val="FFFFFF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464344" y="3493740"/>
            <a:ext cx="1807369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68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ПЕРВИЧКА (ТОННЫ)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64344" y="3624114"/>
            <a:ext cx="1807369" cy="186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1"/>
              </a:lnSpc>
              <a:buNone/>
            </a:pPr>
            <a:r>
              <a:rPr lang="en-US" sz="1238" b="1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104,8 → 119,2</a:t>
            </a:r>
            <a:endParaRPr lang="en-US" sz="1238" dirty="0"/>
          </a:p>
        </p:txBody>
      </p:sp>
      <p:sp>
        <p:nvSpPr>
          <p:cNvPr id="67" name="Text 65"/>
          <p:cNvSpPr/>
          <p:nvPr/>
        </p:nvSpPr>
        <p:spPr>
          <a:xfrm>
            <a:off x="464344" y="3825478"/>
            <a:ext cx="1807369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8BAA8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▲ +13,7%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2482453" y="3390156"/>
            <a:ext cx="2043113" cy="656779"/>
          </a:xfrm>
          <a:prstGeom prst="roundRect">
            <a:avLst>
              <a:gd name="adj" fmla="val 17403"/>
            </a:avLst>
          </a:prstGeom>
          <a:solidFill>
            <a:srgbClr val="FFFFFF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2600325" y="3493740"/>
            <a:ext cx="1807369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68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С TITAN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600325" y="3624114"/>
            <a:ext cx="1807369" cy="186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1"/>
              </a:lnSpc>
              <a:buNone/>
            </a:pPr>
            <a:r>
              <a:rPr lang="en-US" sz="1238" b="1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465 → 469</a:t>
            </a:r>
            <a:endParaRPr lang="en-US" sz="1238" dirty="0"/>
          </a:p>
        </p:txBody>
      </p:sp>
      <p:sp>
        <p:nvSpPr>
          <p:cNvPr id="71" name="Text 69"/>
          <p:cNvSpPr/>
          <p:nvPr/>
        </p:nvSpPr>
        <p:spPr>
          <a:xfrm>
            <a:off x="2600325" y="3825478"/>
            <a:ext cx="1807369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8BAA8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▲ +0,9%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4618434" y="3390156"/>
            <a:ext cx="2043113" cy="656779"/>
          </a:xfrm>
          <a:prstGeom prst="roundRect">
            <a:avLst>
              <a:gd name="adj" fmla="val 17403"/>
            </a:avLst>
          </a:prstGeom>
          <a:solidFill>
            <a:srgbClr val="FFFFFF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4736306" y="3493740"/>
            <a:ext cx="1807369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68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АКБ В ТОЧКАХ B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4736306" y="3624114"/>
            <a:ext cx="1807369" cy="186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1"/>
              </a:lnSpc>
              <a:buNone/>
            </a:pPr>
            <a:r>
              <a:rPr lang="en-US" sz="1238" b="1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33% → 50%</a:t>
            </a:r>
            <a:endParaRPr lang="en-US" sz="1238" dirty="0"/>
          </a:p>
        </p:txBody>
      </p:sp>
      <p:sp>
        <p:nvSpPr>
          <p:cNvPr id="75" name="Text 73"/>
          <p:cNvSpPr/>
          <p:nvPr/>
        </p:nvSpPr>
        <p:spPr>
          <a:xfrm>
            <a:off x="4736306" y="3825478"/>
            <a:ext cx="1807369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8BA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 +17 п.п.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6754416" y="3390156"/>
            <a:ext cx="2043113" cy="656779"/>
          </a:xfrm>
          <a:prstGeom prst="roundRect">
            <a:avLst>
              <a:gd name="adj" fmla="val 17403"/>
            </a:avLst>
          </a:prstGeom>
          <a:solidFill>
            <a:srgbClr val="FFFFFF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872288" y="3493740"/>
            <a:ext cx="1807369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68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БЮДЖЕТ ПРОГРАММЫ (ЭТАП 1)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6872288" y="3624114"/>
            <a:ext cx="1807369" cy="186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1"/>
              </a:lnSpc>
              <a:buNone/>
            </a:pPr>
            <a:r>
              <a:rPr lang="en-US" sz="1238" b="1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344 200 ₽</a:t>
            </a:r>
            <a:endParaRPr lang="en-US" sz="1238" dirty="0"/>
          </a:p>
        </p:txBody>
      </p:sp>
      <p:sp>
        <p:nvSpPr>
          <p:cNvPr id="79" name="Text 77"/>
          <p:cNvSpPr/>
          <p:nvPr/>
        </p:nvSpPr>
        <p:spPr>
          <a:xfrm>
            <a:off x="6872288" y="3825478"/>
            <a:ext cx="1807369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освоено · этап 1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342900" y="4947047"/>
            <a:ext cx="112369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600" spc="56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 · ПРОГРАММА 2026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1417365" y="4991695"/>
            <a:ext cx="6286500" cy="7144"/>
          </a:xfrm>
          <a:prstGeom prst="rect">
            <a:avLst/>
          </a:prstGeom>
          <a:solidFill>
            <a:srgbClr val="E2DD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7818165" y="4947047"/>
            <a:ext cx="115034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spc="56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СЛАЙД 01 · ЧТО СДЕЛАНО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810816"/>
            <a:ext cx="8458200" cy="0"/>
          </a:xfrm>
          <a:prstGeom prst="line">
            <a:avLst/>
          </a:prstGeom>
          <a:noFill/>
          <a:ln w="7144">
            <a:solidFill>
              <a:srgbClr val="E2DD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2900" y="228600"/>
            <a:ext cx="761881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spc="169" kern="0" dirty="0">
                <a:solidFill>
                  <a:srgbClr val="6B8F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013" dirty="0"/>
          </a:p>
        </p:txBody>
      </p:sp>
      <p:sp>
        <p:nvSpPr>
          <p:cNvPr id="4" name="Text 2"/>
          <p:cNvSpPr/>
          <p:nvPr/>
        </p:nvSpPr>
        <p:spPr>
          <a:xfrm>
            <a:off x="919088" y="275034"/>
            <a:ext cx="7144" cy="100013"/>
          </a:xfrm>
          <a:prstGeom prst="rect">
            <a:avLst/>
          </a:prstGeom>
          <a:solidFill>
            <a:srgbClr val="E2DD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26244" y="266105"/>
            <a:ext cx="3307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41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ДОРОЖНАЯ КАРТА · ЭТАПЫ И СЛЕДУЮЩИЕ ШАГИ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2900" y="464344"/>
            <a:ext cx="365256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spc="-11" kern="0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Этапы программы 2026 → 2027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143750" y="589002"/>
            <a:ext cx="633226" cy="140018"/>
          </a:xfrm>
          <a:prstGeom prst="roundRect">
            <a:avLst>
              <a:gd name="adj" fmla="val 6795894"/>
            </a:avLst>
          </a:prstGeom>
          <a:solidFill>
            <a:srgbClr val="DCE8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143750" y="596503"/>
            <a:ext cx="633226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59"/>
              </a:lnSpc>
              <a:buNone/>
            </a:pPr>
            <a:r>
              <a:rPr lang="en-US" sz="800" spc="28" kern="0" dirty="0">
                <a:solidFill>
                  <a:srgbClr val="5E7E5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ЗАВЕРШЕНО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834126" y="589002"/>
            <a:ext cx="533102" cy="140018"/>
          </a:xfrm>
          <a:prstGeom prst="roundRect">
            <a:avLst>
              <a:gd name="adj" fmla="val 6795894"/>
            </a:avLst>
          </a:prstGeom>
          <a:solidFill>
            <a:srgbClr val="F0E1C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33531" y="596503"/>
            <a:ext cx="534294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59"/>
              </a:lnSpc>
              <a:buNone/>
            </a:pPr>
            <a:r>
              <a:rPr lang="en-US" sz="800" spc="28" kern="0" dirty="0">
                <a:solidFill>
                  <a:srgbClr val="8C6A3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В РАБОТЕ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424379" y="589002"/>
            <a:ext cx="376721" cy="140018"/>
          </a:xfrm>
          <a:prstGeom prst="roundRect">
            <a:avLst>
              <a:gd name="adj" fmla="val 6795894"/>
            </a:avLst>
          </a:prstGeom>
          <a:solidFill>
            <a:srgbClr val="E8E3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424379" y="596503"/>
            <a:ext cx="37672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59"/>
              </a:lnSpc>
              <a:buNone/>
            </a:pPr>
            <a:r>
              <a:rPr lang="en-US" sz="800" spc="28" kern="0" dirty="0">
                <a:solidFill>
                  <a:srgbClr val="6E69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○ ПЛАН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4350" y="1057275"/>
            <a:ext cx="8115300" cy="14288"/>
          </a:xfrm>
          <a:prstGeom prst="rect">
            <a:avLst/>
          </a:prstGeom>
          <a:solidFill>
            <a:srgbClr val="E2DD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14350" y="1057275"/>
            <a:ext cx="4869135" cy="14288"/>
          </a:xfrm>
          <a:prstGeom prst="rect">
            <a:avLst/>
          </a:prstGeom>
          <a:solidFill>
            <a:srgbClr val="A7C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18667" y="964406"/>
            <a:ext cx="185738" cy="185738"/>
          </a:xfrm>
          <a:prstGeom prst="ellipse">
            <a:avLst/>
          </a:prstGeom>
          <a:solidFill>
            <a:srgbClr val="DCE8DA"/>
          </a:solidFill>
          <a:ln w="14288">
            <a:solidFill>
              <a:srgbClr val="8BAA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11523" y="957263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dirty="0">
                <a:solidFill>
                  <a:srgbClr val="8BAA8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67489" y="1200150"/>
            <a:ext cx="1287981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28" kern="0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POS-МАТЕРИАЛЫ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67867" y="1360884"/>
            <a:ext cx="657907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spc="56" kern="0" dirty="0">
                <a:solidFill>
                  <a:srgbClr val="8BAA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ЗАВЕРШЕНО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7738" y="1500188"/>
            <a:ext cx="1467483" cy="236887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>
            <a:normAutofit/>
          </a:bodyPr>
          <a:lstStyle/>
          <a:p>
            <a:pPr algn="ctr" indent="0" marL="0">
              <a:lnSpc>
                <a:spcPts val="81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Шелфтокеры, воблеры, ценники, листовки</a:t>
            </a:r>
            <a:endParaRPr lang="en-US" sz="800" dirty="0"/>
          </a:p>
          <a:p>
            <a:pPr algn="ctr" indent="0" marL="0">
              <a:lnSpc>
                <a:spcPts val="81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MML + планограмма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7984" y="1764506"/>
            <a:ext cx="4954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344 200 ₽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798787" y="964406"/>
            <a:ext cx="185738" cy="185738"/>
          </a:xfrm>
          <a:prstGeom prst="ellipse">
            <a:avLst/>
          </a:prstGeom>
          <a:solidFill>
            <a:srgbClr val="DCE8DA"/>
          </a:solidFill>
          <a:ln w="14288">
            <a:solidFill>
              <a:srgbClr val="8BAA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791644" y="957263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dirty="0">
                <a:solidFill>
                  <a:srgbClr val="8BAA8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124316" y="1200150"/>
            <a:ext cx="1534680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28" kern="0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КОНТЕНТ И ОБУЧЕНИЕ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648099" y="1360884"/>
            <a:ext cx="657907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spc="56" kern="0" dirty="0">
                <a:solidFill>
                  <a:srgbClr val="8BAA8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ЗАВЕРШЕНО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222488" y="1500188"/>
            <a:ext cx="1338337" cy="236887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>
            <a:normAutofit/>
          </a:bodyPr>
          <a:lstStyle/>
          <a:p>
            <a:pPr algn="ctr" indent="0" marL="0">
              <a:lnSpc>
                <a:spcPts val="81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 видео, QR-коды, облако материалов</a:t>
            </a:r>
            <a:endParaRPr lang="en-US" sz="800" dirty="0"/>
          </a:p>
          <a:p>
            <a:pPr algn="ctr" indent="0" marL="0">
              <a:lnSpc>
                <a:spcPts val="81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12 регионов · ~350 ТП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84165" y="1764506"/>
            <a:ext cx="33984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479020" y="964406"/>
            <a:ext cx="185738" cy="185738"/>
          </a:xfrm>
          <a:prstGeom prst="ellipse">
            <a:avLst/>
          </a:prstGeom>
          <a:solidFill>
            <a:srgbClr val="F0E1CD"/>
          </a:solidFill>
          <a:ln w="14288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71876" y="957263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dirty="0">
                <a:solidFill>
                  <a:srgbClr val="D4A57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941679" y="1200150"/>
            <a:ext cx="1260531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28" kern="0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ЭТАП 2 · ПРОДВИЖЕНИЕ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380123" y="1360884"/>
            <a:ext cx="51788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spc="56" kern="0" dirty="0">
                <a:solidFill>
                  <a:srgbClr val="D4A57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РАБОТЕ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12319" y="1500188"/>
            <a:ext cx="1319250" cy="236887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>
            <a:normAutofit/>
          </a:bodyPr>
          <a:lstStyle/>
          <a:p>
            <a:pPr algn="ctr" indent="0" marL="0">
              <a:lnSpc>
                <a:spcPts val="81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Экстремальный тест 365 дней</a:t>
            </a:r>
            <a:endParaRPr lang="en-US" sz="800" dirty="0"/>
          </a:p>
          <a:p>
            <a:pPr algn="ctr" indent="0" marL="0">
              <a:lnSpc>
                <a:spcPts val="81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Яндекс.Директ · VK · RuTube · Блогер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335363" y="1764506"/>
            <a:ext cx="55454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онлайн 24/7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159252" y="964406"/>
            <a:ext cx="185738" cy="185738"/>
          </a:xfrm>
          <a:prstGeom prst="ellipse">
            <a:avLst/>
          </a:prstGeom>
          <a:solidFill>
            <a:srgbClr val="E8E3D9"/>
          </a:solidFill>
          <a:ln w="14288">
            <a:solidFill>
              <a:srgbClr val="B0AAA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152108" y="957263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dirty="0">
                <a:solidFill>
                  <a:srgbClr val="B0AAA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434545" y="1200150"/>
            <a:ext cx="1635151" cy="133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28" kern="0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ПЛАН «Б» · УПРАВЛЕНИЕ РИСКАМИ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24426" y="1360884"/>
            <a:ext cx="408801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spc="56" kern="0" dirty="0">
                <a:solidFill>
                  <a:srgbClr val="B0AAA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ГОТОВ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440635" y="1500188"/>
            <a:ext cx="1623082" cy="236887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>
            <a:normAutofit/>
          </a:bodyPr>
          <a:lstStyle/>
          <a:p>
            <a:pPr algn="ctr" indent="0" marL="0">
              <a:lnSpc>
                <a:spcPts val="81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5 инструментов: обучение, ассортимент, трейд-промо, МК, куратор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75833" y="1784152"/>
            <a:ext cx="57150" cy="57150"/>
          </a:xfrm>
          <a:prstGeom prst="roundRect">
            <a:avLst>
              <a:gd name="adj" fmla="val 66667"/>
            </a:avLst>
          </a:prstGeom>
          <a:solidFill>
            <a:srgbClr val="8BAA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126100" y="1784152"/>
            <a:ext cx="57150" cy="57150"/>
          </a:xfrm>
          <a:prstGeom prst="roundRect">
            <a:avLst>
              <a:gd name="adj" fmla="val 66667"/>
            </a:avLst>
          </a:prstGeom>
          <a:solidFill>
            <a:srgbClr val="D4A57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476367" y="1784152"/>
            <a:ext cx="57150" cy="57150"/>
          </a:xfrm>
          <a:prstGeom prst="roundRect">
            <a:avLst>
              <a:gd name="adj" fmla="val 66667"/>
            </a:avLst>
          </a:prstGeom>
          <a:solidFill>
            <a:srgbClr val="B0AA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775833" y="1764506"/>
            <a:ext cx="119071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dirty="0">
                <a:solidFill>
                  <a:srgbClr val="8A95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70-85% 50-70% &lt;50%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839484" y="964406"/>
            <a:ext cx="185738" cy="185738"/>
          </a:xfrm>
          <a:prstGeom prst="ellipse">
            <a:avLst/>
          </a:prstGeom>
          <a:solidFill>
            <a:srgbClr val="E8E3D9"/>
          </a:solidFill>
          <a:ln w="14288">
            <a:solidFill>
              <a:srgbClr val="B0AAA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832341" y="957263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dirty="0">
                <a:solidFill>
                  <a:srgbClr val="B0AAA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83013" y="1200150"/>
            <a:ext cx="1098569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28" kern="0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12942" y="1360884"/>
            <a:ext cx="582249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spc="56" kern="0" dirty="0">
                <a:solidFill>
                  <a:srgbClr val="B0AAA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ПЛАН 2027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454726" y="1500188"/>
            <a:ext cx="955142" cy="236887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>
            <a:normAutofit/>
          </a:bodyPr>
          <a:lstStyle/>
          <a:p>
            <a:pPr algn="ctr" indent="0" marL="0">
              <a:lnSpc>
                <a:spcPts val="81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Цель: 1000 РТТ</a:t>
            </a:r>
            <a:endParaRPr lang="en-US" sz="800" dirty="0"/>
          </a:p>
          <a:p>
            <a:pPr algn="ctr" indent="0" marL="0">
              <a:lnSpc>
                <a:spcPts val="81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(DIY 850 · СК 100 · B2B 50)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803319" y="1764506"/>
            <a:ext cx="33032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2F3A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т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342900" y="2028825"/>
            <a:ext cx="708046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41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СЛЕДУЮЩИЕ ШАГИ · ЭТАП 2 → ЭТАП 3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437648" y="2035969"/>
            <a:ext cx="1472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Период реализации: Q4 2026 — Q2 2027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46472" y="2221706"/>
            <a:ext cx="2755032" cy="1272480"/>
          </a:xfrm>
          <a:prstGeom prst="roundRect">
            <a:avLst>
              <a:gd name="adj" fmla="val 8982"/>
            </a:avLst>
          </a:prstGeom>
          <a:solidFill>
            <a:srgbClr val="FFFFFF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78631" y="2339578"/>
            <a:ext cx="2490713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79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01 · ДОКАЗАТЕЛЬСТВО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78631" y="2469952"/>
            <a:ext cx="24907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Экстремальный тест 365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78631" y="2860849"/>
            <a:ext cx="2490713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478631" y="2719983"/>
            <a:ext cx="91440" cy="10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8F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78644" y="2719983"/>
            <a:ext cx="2390701" cy="108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6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Объект окрашен TITAN 3в1, выставлен на улице 365 дней</a:t>
            </a:r>
            <a:endParaRPr lang="en-US" sz="600" dirty="0"/>
          </a:p>
        </p:txBody>
      </p:sp>
      <p:sp>
        <p:nvSpPr>
          <p:cNvPr id="56" name="Shape 54"/>
          <p:cNvSpPr/>
          <p:nvPr/>
        </p:nvSpPr>
        <p:spPr>
          <a:xfrm>
            <a:off x="478631" y="3033861"/>
            <a:ext cx="2490713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478631" y="2892996"/>
            <a:ext cx="91440" cy="10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8F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78644" y="2892996"/>
            <a:ext cx="2390701" cy="108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Трансляция: онлайн-камера на titanpaints.ru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78631" y="3206874"/>
            <a:ext cx="2490713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478631" y="3066008"/>
            <a:ext cx="91440" cy="10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8F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578644" y="3066008"/>
            <a:ext cx="2390701" cy="108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Контроль: ежемесячные фото + экспертиза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78631" y="3239021"/>
            <a:ext cx="91440" cy="13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8F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78644" y="3239021"/>
            <a:ext cx="2390701" cy="137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Цель: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публично доказать «10 лет без перекраски»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3194372" y="2221706"/>
            <a:ext cx="2755143" cy="1272480"/>
          </a:xfrm>
          <a:prstGeom prst="roundRect">
            <a:avLst>
              <a:gd name="adj" fmla="val 8982"/>
            </a:avLst>
          </a:prstGeom>
          <a:solidFill>
            <a:srgbClr val="FFFFFF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3326532" y="2339578"/>
            <a:ext cx="2490825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79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02 · ОХВАТ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3326532" y="2469952"/>
            <a:ext cx="24908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Digital-продвижение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3326532" y="2860849"/>
            <a:ext cx="2490825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3326532" y="2719983"/>
            <a:ext cx="91440" cy="10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3426544" y="2719983"/>
            <a:ext cx="2390812" cy="108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Яндекс.Директ: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«краска по ржавчине» → TITAN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3326532" y="3033861"/>
            <a:ext cx="2490825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71" name="Text 69"/>
          <p:cNvSpPr/>
          <p:nvPr/>
        </p:nvSpPr>
        <p:spPr>
          <a:xfrm>
            <a:off x="3326532" y="2892996"/>
            <a:ext cx="91440" cy="10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3426544" y="2892996"/>
            <a:ext cx="2390812" cy="108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RuTube: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пре-роллы 15–30 сек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3326532" y="3206874"/>
            <a:ext cx="2490825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74" name="Text 72"/>
          <p:cNvSpPr/>
          <p:nvPr/>
        </p:nvSpPr>
        <p:spPr>
          <a:xfrm>
            <a:off x="3326532" y="3066008"/>
            <a:ext cx="91440" cy="10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3426544" y="3066008"/>
            <a:ext cx="2390812" cy="108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VK: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геотаргетинг по ТТ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3326532" y="3239021"/>
            <a:ext cx="91440" cy="13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77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426544" y="3239021"/>
            <a:ext cx="2390812" cy="137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Блогер: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обзор TITAN vs ПФ-115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6042385" y="2221706"/>
            <a:ext cx="2755032" cy="1272480"/>
          </a:xfrm>
          <a:prstGeom prst="roundRect">
            <a:avLst>
              <a:gd name="adj" fmla="val 8982"/>
            </a:avLst>
          </a:prstGeom>
          <a:solidFill>
            <a:srgbClr val="FFFFFF"/>
          </a:solidFill>
          <a:ln w="7144">
            <a:solidFill>
              <a:srgbClr val="E2DDD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6174544" y="2339578"/>
            <a:ext cx="2490713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79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03 · РАСШИРЕНИЕ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6174544" y="2469952"/>
            <a:ext cx="24907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Вход в федеральные сети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174544" y="2860849"/>
            <a:ext cx="2490713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82" name="Text 80"/>
          <p:cNvSpPr/>
          <p:nvPr/>
        </p:nvSpPr>
        <p:spPr>
          <a:xfrm>
            <a:off x="6174544" y="2719983"/>
            <a:ext cx="91440" cy="10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E9C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6274557" y="2719983"/>
            <a:ext cx="2390701" cy="108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Петрович: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ТТ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(СЗФО + ЦФО + УФО) · план 2027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6174544" y="3033861"/>
            <a:ext cx="2490713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85" name="Text 83"/>
          <p:cNvSpPr/>
          <p:nvPr/>
        </p:nvSpPr>
        <p:spPr>
          <a:xfrm>
            <a:off x="6174544" y="2892996"/>
            <a:ext cx="91440" cy="10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E9C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6274557" y="2892996"/>
            <a:ext cx="2390701" cy="108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Максидом: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ТТ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(12 регионов)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6174544" y="3206874"/>
            <a:ext cx="2490713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dash"/>
          </a:ln>
        </p:spPr>
      </p:sp>
      <p:sp>
        <p:nvSpPr>
          <p:cNvPr id="88" name="Text 86"/>
          <p:cNvSpPr/>
          <p:nvPr/>
        </p:nvSpPr>
        <p:spPr>
          <a:xfrm>
            <a:off x="6174544" y="3066008"/>
            <a:ext cx="91440" cy="10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E9C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6274557" y="3066008"/>
            <a:ext cx="2390701" cy="108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OBI: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ТТ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(восстановление присутствия)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6174544" y="3239021"/>
            <a:ext cx="91440" cy="13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E9C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▸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6274557" y="3239021"/>
            <a:ext cx="2390701" cy="137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6"/>
              </a:lnSpc>
              <a:buNone/>
            </a:pPr>
            <a:r>
              <a:rPr lang="en-US" sz="800" b="1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Мегаполис: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2F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ТТ</a:t>
            </a:r>
            <a:pPr algn="l" indent="0" marL="0">
              <a:lnSpc>
                <a:spcPts val="856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(Калининград)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42900" y="4947047"/>
            <a:ext cx="15464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600" spc="56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 · ДОРОЖНАЯ КАРТА 2026—2027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1889075" y="4991695"/>
            <a:ext cx="5256237" cy="7144"/>
          </a:xfrm>
          <a:prstGeom prst="rect">
            <a:avLst/>
          </a:prstGeom>
          <a:solidFill>
            <a:srgbClr val="E2DD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7259613" y="4947047"/>
            <a:ext cx="16648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spc="56" kern="0" dirty="0">
                <a:solidFill>
                  <a:srgbClr val="8A95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СЛАЙД 02 · ЭТАПЫ И СЛЕДУЮЩИЕ ШАГИ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2026-10-01T12:56:05Z</dcterms:created>
  <dcterms:modified xsi:type="dcterms:W3CDTF">2026-10-01T12:56:05Z</dcterms:modified>
</cp:coreProperties>
</file>