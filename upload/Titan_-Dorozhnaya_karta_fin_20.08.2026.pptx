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2"/>
  </p:notesMasterIdLst>
  <p:handoutMasterIdLst>
    <p:handoutMasterId r:id="rId23"/>
  </p:handoutMasterIdLst>
  <p:sldIdLst>
    <p:sldId id="271" r:id="rId3"/>
    <p:sldId id="284" r:id="rId4"/>
    <p:sldId id="276" r:id="rId5"/>
    <p:sldId id="289" r:id="rId6"/>
    <p:sldId id="275" r:id="rId7"/>
    <p:sldId id="286" r:id="rId8"/>
    <p:sldId id="269" r:id="rId9"/>
    <p:sldId id="290" r:id="rId10"/>
    <p:sldId id="265" r:id="rId11"/>
    <p:sldId id="266" r:id="rId12"/>
    <p:sldId id="280" r:id="rId13"/>
    <p:sldId id="277" r:id="rId14"/>
    <p:sldId id="274" r:id="rId15"/>
    <p:sldId id="295" r:id="rId16"/>
    <p:sldId id="296" r:id="rId17"/>
    <p:sldId id="299" r:id="rId18"/>
    <p:sldId id="292" r:id="rId19"/>
    <p:sldId id="293" r:id="rId20"/>
    <p:sldId id="294" r:id="rId21"/>
  </p:sldIdLst>
  <p:sldSz cx="12192000" cy="6858000"/>
  <p:notesSz cx="9926638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78" autoAdjust="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-44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5622798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07A6CA-850D-4EF3-A94A-A906330D8CBA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5622798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24A80D-685B-45E5-835E-FDA60ABB44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9182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622798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12E25D-78B6-4A07-B316-4AE7887BB689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DCC15A-4218-4A78-913C-2917A1EC10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929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7127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58263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63910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81766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31344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69475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58263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34275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30132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375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3000">
              <a:schemeClr val="bg1">
                <a:lumMod val="95000"/>
              </a:schemeClr>
            </a:gs>
            <a:gs pos="100000">
              <a:schemeClr val="bg1">
                <a:lumMod val="5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2957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jpe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61152" y="-38100"/>
            <a:ext cx="1695451" cy="806451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84" b="-2003"/>
          <a:stretch/>
        </p:blipFill>
        <p:spPr>
          <a:xfrm>
            <a:off x="7905753" y="2070101"/>
            <a:ext cx="4324351" cy="387985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551" b="12331"/>
          <a:stretch/>
        </p:blipFill>
        <p:spPr>
          <a:xfrm>
            <a:off x="3087371" y="2832100"/>
            <a:ext cx="4632052" cy="403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880351" y="327910"/>
            <a:ext cx="2595599" cy="2595599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61978" y="4384676"/>
            <a:ext cx="3816351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lnSpc>
                <a:spcPts val="4332"/>
              </a:lnSpc>
            </a:pPr>
            <a:r>
              <a:rPr lang="ru-RU" sz="4000" kern="0" spc="-183" dirty="0" smtClean="0">
                <a:latin typeface="Roboto Mono Medium" panose="00000009000000000000" pitchFamily="50" charset="0"/>
                <a:ea typeface="Roboto Mono Medium" panose="00000009000000000000" pitchFamily="50" charset="0"/>
                <a:cs typeface="Roboto Mono" pitchFamily="34" charset="-120"/>
              </a:rPr>
              <a:t>Дорожная </a:t>
            </a:r>
            <a:r>
              <a:rPr lang="ru-RU" sz="4000" kern="0" spc="-183" dirty="0" smtClean="0">
                <a:latin typeface="Roboto Mono Medium" panose="00000009000000000000" pitchFamily="50" charset="0"/>
                <a:ea typeface="Roboto Mono Medium" panose="00000009000000000000" pitchFamily="50" charset="0"/>
              </a:rPr>
              <a:t>карта</a:t>
            </a:r>
            <a:endParaRPr lang="en-US" sz="4000" dirty="0">
              <a:latin typeface="Roboto Mono Medium" panose="00000009000000000000" pitchFamily="50" charset="0"/>
              <a:ea typeface="Roboto Mono Medium" panose="00000009000000000000" pitchFamily="50" charset="0"/>
            </a:endParaRPr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38153" y="509403"/>
            <a:ext cx="3790951" cy="3730997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438153" y="6337302"/>
            <a:ext cx="361951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lnSpc>
                <a:spcPts val="1255"/>
              </a:lnSpc>
            </a:pPr>
            <a:r>
              <a:rPr lang="en-US" sz="1100" kern="0" spc="-12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2026</a:t>
            </a:r>
            <a:endParaRPr lang="en-US" sz="1100" dirty="0">
              <a:solidFill>
                <a:prstClr val="black"/>
              </a:solidFill>
            </a:endParaRPr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80" b="6250"/>
          <a:stretch/>
        </p:blipFill>
        <p:spPr>
          <a:xfrm>
            <a:off x="4114800" y="5238752"/>
            <a:ext cx="8077200" cy="1619251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395166" y="1984265"/>
            <a:ext cx="2939076" cy="4126841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344153" y="527053"/>
            <a:ext cx="1250951" cy="1250951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107728" y="1950264"/>
            <a:ext cx="3127517" cy="4198037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069696" y="1778001"/>
            <a:ext cx="4830464" cy="4830464"/>
          </a:xfrm>
          <a:prstGeom prst="rect">
            <a:avLst/>
          </a:prstGeom>
        </p:spPr>
      </p:pic>
      <p:sp>
        <p:nvSpPr>
          <p:cNvPr id="14" name="Text 2"/>
          <p:cNvSpPr/>
          <p:nvPr/>
        </p:nvSpPr>
        <p:spPr>
          <a:xfrm>
            <a:off x="8915400" y="4883149"/>
            <a:ext cx="3276600" cy="1016000"/>
          </a:xfrm>
          <a:prstGeom prst="rect">
            <a:avLst/>
          </a:prstGeom>
          <a:solidFill>
            <a:srgbClr val="E30614"/>
          </a:solidFill>
          <a:ln/>
        </p:spPr>
        <p:txBody>
          <a:bodyPr wrap="square" lIns="121914" tIns="60957" rIns="121914" bIns="60957" rtlCol="0" anchor="ctr"/>
          <a:lstStyle/>
          <a:p>
            <a:pPr defTabSz="1219140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5" name="Text 3"/>
          <p:cNvSpPr/>
          <p:nvPr/>
        </p:nvSpPr>
        <p:spPr>
          <a:xfrm>
            <a:off x="8915400" y="5016500"/>
            <a:ext cx="3276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lnSpc>
                <a:spcPts val="3021"/>
              </a:lnSpc>
            </a:pPr>
            <a:r>
              <a:rPr lang="en-US" sz="2900" kern="0" spc="-63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У КОРРОЗИИ</a:t>
            </a:r>
            <a:endParaRPr lang="en-US" sz="2900" dirty="0">
              <a:solidFill>
                <a:prstClr val="black"/>
              </a:solidFill>
            </a:endParaRPr>
          </a:p>
          <a:p>
            <a:pPr algn="ctr" defTabSz="1219140">
              <a:lnSpc>
                <a:spcPts val="3021"/>
              </a:lnSpc>
            </a:pPr>
            <a:r>
              <a:rPr lang="en-US" sz="2900" kern="0" spc="-63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НЕТ ШАНСОВ</a:t>
            </a:r>
            <a:endParaRPr lang="en-US" sz="29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828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180000"/>
            <a:ext cx="1116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1E3A5F"/>
                </a:solidFill>
                <a:latin typeface="Arial"/>
              </a:rPr>
              <a:t>TITAN — </a:t>
            </a:r>
            <a:r>
              <a:rPr sz="2600" b="1" dirty="0" err="1">
                <a:solidFill>
                  <a:srgbClr val="1E3A5F"/>
                </a:solidFill>
                <a:latin typeface="Arial"/>
              </a:rPr>
              <a:t>аналитика</a:t>
            </a:r>
            <a:r>
              <a:rPr sz="2600" b="1" dirty="0">
                <a:solidFill>
                  <a:srgbClr val="1E3A5F"/>
                </a:solidFill>
                <a:latin typeface="Arial"/>
              </a:rPr>
              <a:t> </a:t>
            </a:r>
            <a:r>
              <a:rPr lang="ru-RU" sz="2600" b="1" dirty="0" smtClean="0">
                <a:solidFill>
                  <a:srgbClr val="1E3A5F"/>
                </a:solidFill>
                <a:latin typeface="Arial"/>
              </a:rPr>
              <a:t>7 месяцев </a:t>
            </a:r>
            <a:r>
              <a:rPr lang="en-US" sz="2600" b="1" dirty="0" err="1">
                <a:solidFill>
                  <a:srgbClr val="1E3A5F"/>
                </a:solidFill>
                <a:latin typeface="Arial"/>
              </a:rPr>
              <a:t>cislink</a:t>
            </a:r>
            <a:r>
              <a:rPr sz="2600" b="1" dirty="0" smtClean="0">
                <a:solidFill>
                  <a:srgbClr val="1E3A5F"/>
                </a:solidFill>
                <a:latin typeface="Arial"/>
              </a:rPr>
              <a:t>: </a:t>
            </a:r>
            <a:r>
              <a:rPr sz="2600" b="1" dirty="0">
                <a:solidFill>
                  <a:srgbClr val="1E3A5F"/>
                </a:solidFill>
                <a:latin typeface="Arial"/>
              </a:rPr>
              <a:t>2025 </a:t>
            </a:r>
            <a:r>
              <a:rPr sz="2600" b="1" dirty="0" err="1">
                <a:solidFill>
                  <a:srgbClr val="1E3A5F"/>
                </a:solidFill>
                <a:latin typeface="Arial"/>
              </a:rPr>
              <a:t>vs</a:t>
            </a:r>
            <a:r>
              <a:rPr sz="2600" b="1" dirty="0">
                <a:solidFill>
                  <a:srgbClr val="1E3A5F"/>
                </a:solidFill>
                <a:latin typeface="Arial"/>
              </a:rPr>
              <a:t> 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1900" y="3428025"/>
            <a:ext cx="651838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600" b="1" dirty="0" smtClean="0">
                <a:solidFill>
                  <a:srgbClr val="1E3A5F"/>
                </a:solidFill>
                <a:latin typeface="Arial"/>
              </a:rPr>
              <a:t>Аналитика по классификации точек </a:t>
            </a:r>
            <a:endParaRPr sz="2600" b="1" dirty="0">
              <a:solidFill>
                <a:srgbClr val="1E3A5F"/>
              </a:solidFill>
              <a:latin typeface="Arial"/>
            </a:endParaRPr>
          </a:p>
        </p:txBody>
      </p:sp>
      <p:sp>
        <p:nvSpPr>
          <p:cNvPr id="55" name="Rounded Rectangle 3"/>
          <p:cNvSpPr/>
          <p:nvPr/>
        </p:nvSpPr>
        <p:spPr>
          <a:xfrm>
            <a:off x="3188925" y="1133925"/>
            <a:ext cx="2772000" cy="172800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296925" y="1205925"/>
            <a:ext cx="255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200" b="1" dirty="0">
                <a:solidFill>
                  <a:srgbClr val="1E3A5F"/>
                </a:solidFill>
                <a:latin typeface="Arial"/>
              </a:rPr>
              <a:t>О</a:t>
            </a:r>
            <a:r>
              <a:rPr sz="1200" b="1" dirty="0" smtClean="0">
                <a:solidFill>
                  <a:srgbClr val="1E3A5F"/>
                </a:solidFill>
                <a:latin typeface="Arial"/>
              </a:rPr>
              <a:t>КБ </a:t>
            </a:r>
            <a:r>
              <a:rPr sz="1200" b="1" dirty="0" err="1">
                <a:solidFill>
                  <a:srgbClr val="1E3A5F"/>
                </a:solidFill>
                <a:latin typeface="Arial"/>
              </a:rPr>
              <a:t>розничных</a:t>
            </a:r>
            <a:r>
              <a:rPr sz="1200" b="1" dirty="0">
                <a:solidFill>
                  <a:srgbClr val="1E3A5F"/>
                </a:solidFill>
                <a:latin typeface="Arial"/>
              </a:rPr>
              <a:t> </a:t>
            </a:r>
            <a:r>
              <a:rPr sz="1200" b="1" dirty="0" err="1">
                <a:solidFill>
                  <a:srgbClr val="1E3A5F"/>
                </a:solidFill>
                <a:latin typeface="Arial"/>
              </a:rPr>
              <a:t>клиентов</a:t>
            </a:r>
            <a:endParaRPr sz="1200" b="1" dirty="0">
              <a:solidFill>
                <a:srgbClr val="1E3A5F"/>
              </a:solidFill>
              <a:latin typeface="Arial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194051" y="1493925"/>
            <a:ext cx="76174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dirty="0">
                <a:solidFill>
                  <a:srgbClr val="6B7280"/>
                </a:solidFill>
                <a:latin typeface="Arial"/>
              </a:rPr>
              <a:t>6 </a:t>
            </a:r>
            <a:r>
              <a:rPr sz="1800" dirty="0" smtClean="0">
                <a:solidFill>
                  <a:srgbClr val="6B7280"/>
                </a:solidFill>
                <a:latin typeface="Arial"/>
              </a:rPr>
              <a:t>0</a:t>
            </a:r>
            <a:r>
              <a:rPr lang="ru-RU" sz="1800" dirty="0" smtClean="0">
                <a:solidFill>
                  <a:srgbClr val="6B7280"/>
                </a:solidFill>
                <a:latin typeface="Arial"/>
              </a:rPr>
              <a:t>0</a:t>
            </a:r>
            <a:r>
              <a:rPr sz="1800" dirty="0" smtClean="0">
                <a:solidFill>
                  <a:srgbClr val="6B7280"/>
                </a:solidFill>
                <a:latin typeface="Arial"/>
              </a:rPr>
              <a:t>6</a:t>
            </a:r>
            <a:endParaRPr sz="1800" dirty="0">
              <a:solidFill>
                <a:srgbClr val="6B7280"/>
              </a:solidFill>
              <a:latin typeface="Arial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296925" y="1781925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02493" y="1925925"/>
            <a:ext cx="114486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 dirty="0">
                <a:solidFill>
                  <a:srgbClr val="1E3A5F"/>
                </a:solidFill>
                <a:latin typeface="Arial"/>
              </a:rPr>
              <a:t>5 </a:t>
            </a:r>
            <a:r>
              <a:rPr lang="ru-RU" sz="3000" b="1" dirty="0" smtClean="0">
                <a:solidFill>
                  <a:srgbClr val="1E3A5F"/>
                </a:solidFill>
                <a:latin typeface="Arial"/>
              </a:rPr>
              <a:t>255</a:t>
            </a:r>
            <a:endParaRPr sz="3000" b="1" dirty="0">
              <a:solidFill>
                <a:srgbClr val="1E3A5F"/>
              </a:solidFill>
              <a:latin typeface="Arial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000089" y="2405550"/>
            <a:ext cx="114967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>
                <a:solidFill>
                  <a:srgbClr val="C62828"/>
                </a:solidFill>
                <a:latin typeface="Arial"/>
              </a:rPr>
              <a:t>−</a:t>
            </a:r>
            <a:r>
              <a:rPr sz="2200" b="1" dirty="0" smtClean="0">
                <a:solidFill>
                  <a:srgbClr val="C62828"/>
                </a:solidFill>
                <a:latin typeface="Arial"/>
              </a:rPr>
              <a:t>1</a:t>
            </a:r>
            <a:r>
              <a:rPr lang="ru-RU" sz="2200" b="1" dirty="0" smtClean="0">
                <a:solidFill>
                  <a:srgbClr val="C62828"/>
                </a:solidFill>
                <a:latin typeface="Arial"/>
              </a:rPr>
              <a:t>2,5</a:t>
            </a:r>
            <a:r>
              <a:rPr sz="2200" b="1" dirty="0" smtClean="0">
                <a:solidFill>
                  <a:srgbClr val="C62828"/>
                </a:solidFill>
                <a:latin typeface="Arial"/>
              </a:rPr>
              <a:t>%</a:t>
            </a:r>
            <a:endParaRPr sz="2200" b="1" dirty="0">
              <a:solidFill>
                <a:srgbClr val="C62828"/>
              </a:solidFill>
              <a:latin typeface="Arial"/>
            </a:endParaRPr>
          </a:p>
        </p:txBody>
      </p:sp>
      <p:sp>
        <p:nvSpPr>
          <p:cNvPr id="61" name="Rounded Rectangle 10"/>
          <p:cNvSpPr/>
          <p:nvPr/>
        </p:nvSpPr>
        <p:spPr>
          <a:xfrm>
            <a:off x="6068925" y="1133925"/>
            <a:ext cx="2772000" cy="17280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176925" y="1205925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РТТ, продающие TITAN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70231" y="1493925"/>
            <a:ext cx="56938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dirty="0" smtClean="0">
                <a:solidFill>
                  <a:srgbClr val="6B7280"/>
                </a:solidFill>
                <a:latin typeface="Arial"/>
              </a:rPr>
              <a:t>46</a:t>
            </a:r>
            <a:r>
              <a:rPr lang="ru-RU" sz="1800" dirty="0" smtClean="0">
                <a:solidFill>
                  <a:srgbClr val="6B7280"/>
                </a:solidFill>
                <a:latin typeface="Arial"/>
              </a:rPr>
              <a:t>5</a:t>
            </a:r>
            <a:endParaRPr sz="1800" dirty="0">
              <a:solidFill>
                <a:srgbClr val="6B7280"/>
              </a:solidFill>
              <a:latin typeface="Arial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176925" y="1781925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42793" y="1925925"/>
            <a:ext cx="82426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ru-RU" sz="3000" b="1" dirty="0" smtClean="0">
                <a:solidFill>
                  <a:srgbClr val="1E3A5F"/>
                </a:solidFill>
                <a:latin typeface="Arial"/>
              </a:rPr>
              <a:t>469</a:t>
            </a:r>
            <a:endParaRPr sz="3000" b="1" dirty="0">
              <a:solidFill>
                <a:srgbClr val="1E3A5F"/>
              </a:solidFill>
              <a:latin typeface="Arial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958636" y="2405550"/>
            <a:ext cx="99257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ru-RU" sz="2200" b="1" dirty="0">
                <a:solidFill>
                  <a:srgbClr val="16A34A"/>
                </a:solidFill>
                <a:latin typeface="Arial"/>
              </a:rPr>
              <a:t>+0,9</a:t>
            </a:r>
            <a:r>
              <a:rPr sz="2200" b="1" dirty="0">
                <a:solidFill>
                  <a:srgbClr val="16A34A"/>
                </a:solidFill>
                <a:latin typeface="Arial"/>
              </a:rPr>
              <a:t>%</a:t>
            </a:r>
          </a:p>
        </p:txBody>
      </p:sp>
      <p:sp>
        <p:nvSpPr>
          <p:cNvPr id="67" name="Rounded Rectangle 17"/>
          <p:cNvSpPr/>
          <p:nvPr/>
        </p:nvSpPr>
        <p:spPr>
          <a:xfrm>
            <a:off x="8948025" y="1133925"/>
            <a:ext cx="2772000" cy="172800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056025" y="1205925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 err="1" smtClean="0">
                <a:solidFill>
                  <a:srgbClr val="1E3A5F"/>
                </a:solidFill>
                <a:latin typeface="Arial"/>
              </a:rPr>
              <a:t>Кг</a:t>
            </a:r>
            <a:r>
              <a:rPr sz="1200" b="1" dirty="0" smtClean="0">
                <a:solidFill>
                  <a:srgbClr val="1E3A5F"/>
                </a:solidFill>
                <a:latin typeface="Arial"/>
              </a:rPr>
              <a:t> </a:t>
            </a:r>
            <a:r>
              <a:rPr sz="1200" b="1" dirty="0">
                <a:solidFill>
                  <a:srgbClr val="1E3A5F"/>
                </a:solidFill>
                <a:latin typeface="Arial"/>
              </a:rPr>
              <a:t>TITAN (</a:t>
            </a:r>
            <a:r>
              <a:rPr sz="1200" b="1" dirty="0" err="1" smtClean="0">
                <a:solidFill>
                  <a:srgbClr val="1E3A5F"/>
                </a:solidFill>
                <a:latin typeface="Arial"/>
              </a:rPr>
              <a:t>вторичка</a:t>
            </a:r>
            <a:r>
              <a:rPr sz="1200" b="1" dirty="0" smtClean="0">
                <a:solidFill>
                  <a:srgbClr val="1E3A5F"/>
                </a:solidFill>
                <a:latin typeface="Arial"/>
              </a:rPr>
              <a:t>)</a:t>
            </a:r>
            <a:endParaRPr sz="1200" b="1" dirty="0">
              <a:solidFill>
                <a:srgbClr val="1E3A5F"/>
              </a:solidFill>
              <a:latin typeface="Arial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0017271" y="1493925"/>
            <a:ext cx="63350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dirty="0" smtClean="0">
                <a:solidFill>
                  <a:srgbClr val="6B7280"/>
                </a:solidFill>
                <a:latin typeface="Arial"/>
              </a:rPr>
              <a:t>3</a:t>
            </a:r>
            <a:r>
              <a:rPr lang="ru-RU" sz="1800" dirty="0" smtClean="0">
                <a:solidFill>
                  <a:srgbClr val="6B7280"/>
                </a:solidFill>
                <a:latin typeface="Arial"/>
              </a:rPr>
              <a:t>5,5</a:t>
            </a:r>
            <a:endParaRPr sz="1800" dirty="0">
              <a:solidFill>
                <a:srgbClr val="6B7280"/>
              </a:solidFill>
              <a:latin typeface="Arial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9056025" y="1781925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68192" y="1925925"/>
            <a:ext cx="931665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ru-RU" sz="3000" b="1" dirty="0" smtClean="0">
                <a:solidFill>
                  <a:srgbClr val="1E3A5F"/>
                </a:solidFill>
                <a:latin typeface="Arial"/>
              </a:rPr>
              <a:t>32,7</a:t>
            </a:r>
          </a:p>
          <a:p>
            <a:pPr algn="ctr"/>
            <a:endParaRPr sz="3000" b="1" dirty="0">
              <a:solidFill>
                <a:srgbClr val="1E3A5F"/>
              </a:solidFill>
              <a:latin typeface="Arial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955556" y="2405550"/>
            <a:ext cx="756938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 smtClean="0">
                <a:solidFill>
                  <a:srgbClr val="C62828"/>
                </a:solidFill>
                <a:latin typeface="Arial"/>
              </a:rPr>
              <a:t>−</a:t>
            </a:r>
            <a:r>
              <a:rPr lang="ru-RU" sz="2200" b="1" dirty="0" smtClean="0">
                <a:solidFill>
                  <a:srgbClr val="C62828"/>
                </a:solidFill>
                <a:latin typeface="Arial"/>
              </a:rPr>
              <a:t>8</a:t>
            </a:r>
            <a:r>
              <a:rPr sz="2200" b="1" dirty="0" smtClean="0">
                <a:solidFill>
                  <a:srgbClr val="C62828"/>
                </a:solidFill>
                <a:latin typeface="Arial"/>
              </a:rPr>
              <a:t>%</a:t>
            </a:r>
            <a:endParaRPr sz="2200" b="1" dirty="0">
              <a:solidFill>
                <a:srgbClr val="C62828"/>
              </a:solidFill>
              <a:latin typeface="Arial"/>
            </a:endParaRPr>
          </a:p>
        </p:txBody>
      </p:sp>
      <p:sp>
        <p:nvSpPr>
          <p:cNvPr id="73" name="Rounded Rectangle 24"/>
          <p:cNvSpPr/>
          <p:nvPr/>
        </p:nvSpPr>
        <p:spPr>
          <a:xfrm>
            <a:off x="332250" y="1133925"/>
            <a:ext cx="2772000" cy="17280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40250" y="1205925"/>
            <a:ext cx="255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 smtClean="0">
                <a:solidFill>
                  <a:srgbClr val="1E3A5F"/>
                </a:solidFill>
                <a:latin typeface="Arial"/>
              </a:rPr>
              <a:t> </a:t>
            </a:r>
            <a:r>
              <a:rPr sz="1200" b="1" dirty="0">
                <a:solidFill>
                  <a:srgbClr val="1E3A5F"/>
                </a:solidFill>
                <a:latin typeface="Arial"/>
              </a:rPr>
              <a:t>TITAN (</a:t>
            </a:r>
            <a:r>
              <a:rPr sz="1200" b="1" dirty="0" err="1" smtClean="0">
                <a:solidFill>
                  <a:srgbClr val="1E3A5F"/>
                </a:solidFill>
                <a:latin typeface="Arial"/>
              </a:rPr>
              <a:t>первичка</a:t>
            </a:r>
            <a:r>
              <a:rPr lang="ru-RU" sz="1200" b="1" dirty="0" smtClean="0">
                <a:solidFill>
                  <a:srgbClr val="1E3A5F"/>
                </a:solidFill>
                <a:latin typeface="Arial"/>
              </a:rPr>
              <a:t>, тон</a:t>
            </a:r>
            <a:r>
              <a:rPr sz="1200" b="1" dirty="0" smtClean="0">
                <a:solidFill>
                  <a:srgbClr val="1E3A5F"/>
                </a:solidFill>
                <a:latin typeface="Arial"/>
              </a:rPr>
              <a:t>)</a:t>
            </a:r>
            <a:endParaRPr sz="1200" b="1" dirty="0">
              <a:solidFill>
                <a:srgbClr val="1E3A5F"/>
              </a:solidFill>
              <a:latin typeface="Arial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337378" y="1493925"/>
            <a:ext cx="76174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ru-RU" sz="1800" dirty="0" smtClean="0">
                <a:solidFill>
                  <a:srgbClr val="6B7280"/>
                </a:solidFill>
                <a:latin typeface="Arial"/>
              </a:rPr>
              <a:t>104,8</a:t>
            </a:r>
            <a:endParaRPr sz="1800" dirty="0">
              <a:solidFill>
                <a:srgbClr val="6B7280"/>
              </a:solidFill>
              <a:latin typeface="Arial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40250" y="1781925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56429" y="1925925"/>
            <a:ext cx="112364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ru-RU" sz="3000" b="1" dirty="0" smtClean="0">
                <a:solidFill>
                  <a:srgbClr val="1E3A5F"/>
                </a:solidFill>
                <a:latin typeface="Arial"/>
              </a:rPr>
              <a:t>119,2</a:t>
            </a:r>
            <a:endParaRPr sz="3000" b="1" dirty="0">
              <a:solidFill>
                <a:srgbClr val="1E3A5F"/>
              </a:solidFill>
              <a:latin typeface="Arial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143413" y="2405550"/>
            <a:ext cx="114967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>
                <a:solidFill>
                  <a:srgbClr val="16A34A"/>
                </a:solidFill>
                <a:latin typeface="Arial"/>
              </a:rPr>
              <a:t>+</a:t>
            </a:r>
            <a:r>
              <a:rPr sz="2200" b="1" dirty="0" smtClean="0">
                <a:solidFill>
                  <a:srgbClr val="16A34A"/>
                </a:solidFill>
                <a:latin typeface="Arial"/>
              </a:rPr>
              <a:t>1</a:t>
            </a:r>
            <a:r>
              <a:rPr lang="ru-RU" sz="2200" b="1" dirty="0" smtClean="0">
                <a:solidFill>
                  <a:srgbClr val="16A34A"/>
                </a:solidFill>
                <a:latin typeface="Arial"/>
              </a:rPr>
              <a:t>3</a:t>
            </a:r>
            <a:r>
              <a:rPr sz="2200" b="1" dirty="0" smtClean="0">
                <a:solidFill>
                  <a:srgbClr val="16A34A"/>
                </a:solidFill>
                <a:latin typeface="Arial"/>
              </a:rPr>
              <a:t>.</a:t>
            </a:r>
            <a:r>
              <a:rPr lang="ru-RU" sz="2200" b="1" dirty="0" smtClean="0">
                <a:solidFill>
                  <a:srgbClr val="16A34A"/>
                </a:solidFill>
                <a:latin typeface="Arial"/>
              </a:rPr>
              <a:t>7</a:t>
            </a:r>
            <a:r>
              <a:rPr sz="2200" b="1" dirty="0" smtClean="0">
                <a:solidFill>
                  <a:srgbClr val="16A34A"/>
                </a:solidFill>
                <a:latin typeface="Arial"/>
              </a:rPr>
              <a:t>%</a:t>
            </a:r>
            <a:endParaRPr sz="2200" b="1" dirty="0">
              <a:solidFill>
                <a:srgbClr val="16A34A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76118" y="3458027"/>
            <a:ext cx="114569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600" b="1" dirty="0" smtClean="0">
                <a:solidFill>
                  <a:srgbClr val="00B050"/>
                </a:solidFill>
                <a:latin typeface="Arial"/>
              </a:rPr>
              <a:t>Цели</a:t>
            </a:r>
            <a:r>
              <a:rPr lang="en-US" sz="2600" b="1" dirty="0" smtClean="0">
                <a:solidFill>
                  <a:srgbClr val="00B050"/>
                </a:solidFill>
                <a:latin typeface="Arial"/>
              </a:rPr>
              <a:t>:</a:t>
            </a:r>
            <a:endParaRPr lang="ru-RU" sz="2600" b="1" dirty="0">
              <a:solidFill>
                <a:srgbClr val="00B050"/>
              </a:solidFill>
              <a:latin typeface="Arial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382000" y="4714875"/>
            <a:ext cx="18473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sz="2600" b="1" dirty="0">
              <a:solidFill>
                <a:srgbClr val="1E3A5F"/>
              </a:solidFill>
              <a:latin typeface="Arial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015787" y="3988571"/>
            <a:ext cx="47588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400" b="1" dirty="0" smtClean="0">
                <a:solidFill>
                  <a:srgbClr val="00B050"/>
                </a:solidFill>
                <a:latin typeface="Arial"/>
              </a:rPr>
              <a:t>Достижение доли 80% АКБ Титана в точках B, C, </a:t>
            </a:r>
            <a:r>
              <a:rPr lang="en-US" sz="1400" b="1" dirty="0" smtClean="0">
                <a:solidFill>
                  <a:srgbClr val="00B050"/>
                </a:solidFill>
                <a:latin typeface="Arial"/>
              </a:rPr>
              <a:t>D</a:t>
            </a:r>
            <a:r>
              <a:rPr lang="ru-RU" sz="1400" b="1" dirty="0" smtClean="0">
                <a:solidFill>
                  <a:srgbClr val="00B050"/>
                </a:solidFill>
                <a:latin typeface="Arial"/>
              </a:rPr>
              <a:t> от </a:t>
            </a:r>
            <a:r>
              <a:rPr lang="ru-RU" sz="1400" b="1" dirty="0" smtClean="0">
                <a:solidFill>
                  <a:srgbClr val="00B050"/>
                </a:solidFill>
                <a:latin typeface="Arial"/>
              </a:rPr>
              <a:t>общей АКБ</a:t>
            </a:r>
            <a:r>
              <a:rPr lang="en-US" sz="1400" b="1" dirty="0" smtClean="0">
                <a:solidFill>
                  <a:srgbClr val="00B050"/>
                </a:solidFill>
                <a:latin typeface="Arial"/>
              </a:rPr>
              <a:t> </a:t>
            </a:r>
            <a:endParaRPr lang="ru-RU" sz="1400" b="1" dirty="0" smtClean="0">
              <a:solidFill>
                <a:srgbClr val="00B05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ru-RU" sz="1400" b="1" dirty="0" smtClean="0">
                <a:latin typeface="Arial"/>
              </a:rPr>
              <a:t>Цель 1000 РТТ                              Цель </a:t>
            </a:r>
            <a:r>
              <a:rPr lang="ru-RU" sz="1400" b="1" dirty="0">
                <a:latin typeface="Arial"/>
              </a:rPr>
              <a:t>-</a:t>
            </a:r>
            <a:r>
              <a:rPr lang="ru-RU" sz="1400" b="1" dirty="0" smtClean="0">
                <a:latin typeface="Arial"/>
              </a:rPr>
              <a:t> 1000 т.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Arial"/>
              </a:rPr>
              <a:t>DIY -</a:t>
            </a:r>
            <a:r>
              <a:rPr lang="ru-RU" sz="1400" b="1" dirty="0" smtClean="0">
                <a:latin typeface="Arial"/>
              </a:rPr>
              <a:t> </a:t>
            </a:r>
            <a:r>
              <a:rPr lang="en-US" sz="1400" b="1" dirty="0" smtClean="0">
                <a:latin typeface="Arial"/>
              </a:rPr>
              <a:t>8</a:t>
            </a:r>
            <a:r>
              <a:rPr lang="ru-RU" sz="1400" b="1" dirty="0" smtClean="0">
                <a:latin typeface="Arial"/>
              </a:rPr>
              <a:t>5</a:t>
            </a:r>
            <a:r>
              <a:rPr lang="en-US" sz="1400" b="1" dirty="0" smtClean="0">
                <a:latin typeface="Arial"/>
              </a:rPr>
              <a:t>0</a:t>
            </a:r>
            <a:r>
              <a:rPr lang="ru-RU" sz="1400" b="1" dirty="0" smtClean="0">
                <a:latin typeface="Arial"/>
              </a:rPr>
              <a:t> РТТ.                                 </a:t>
            </a:r>
            <a:r>
              <a:rPr lang="en-US" sz="1400" b="1" dirty="0" smtClean="0">
                <a:latin typeface="Arial"/>
              </a:rPr>
              <a:t>DIY</a:t>
            </a:r>
            <a:r>
              <a:rPr lang="ru-RU" sz="1400" b="1" dirty="0" smtClean="0">
                <a:latin typeface="Arial"/>
              </a:rPr>
              <a:t> - 650 т.</a:t>
            </a:r>
          </a:p>
          <a:p>
            <a:pPr>
              <a:lnSpc>
                <a:spcPct val="150000"/>
              </a:lnSpc>
            </a:pPr>
            <a:r>
              <a:rPr lang="ru-RU" sz="1400" b="1" dirty="0" smtClean="0">
                <a:latin typeface="Arial"/>
              </a:rPr>
              <a:t>Сетевой канал – 100 ТТ       </a:t>
            </a:r>
            <a:r>
              <a:rPr lang="en-US" sz="1400" b="1" dirty="0" smtClean="0">
                <a:latin typeface="Arial"/>
              </a:rPr>
              <a:t>        </a:t>
            </a:r>
            <a:r>
              <a:rPr lang="ru-RU" sz="1400" b="1" dirty="0" smtClean="0">
                <a:latin typeface="Arial"/>
              </a:rPr>
              <a:t>СК -  250 т.  </a:t>
            </a:r>
            <a:r>
              <a:rPr lang="en-US" sz="1400" b="1" dirty="0" smtClean="0">
                <a:latin typeface="Arial"/>
              </a:rPr>
              <a:t>    </a:t>
            </a:r>
            <a:endParaRPr lang="ru-RU" sz="1400" b="1" dirty="0" smtClean="0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Arial"/>
              </a:rPr>
              <a:t>B2B – 50 </a:t>
            </a:r>
            <a:r>
              <a:rPr lang="ru-RU" sz="1400" b="1" dirty="0" smtClean="0">
                <a:latin typeface="Arial"/>
              </a:rPr>
              <a:t>РТТ                                 </a:t>
            </a:r>
            <a:r>
              <a:rPr lang="ru-RU" sz="1400" b="1" dirty="0" smtClean="0">
                <a:latin typeface="Arial"/>
              </a:rPr>
              <a:t> </a:t>
            </a:r>
            <a:r>
              <a:rPr lang="en-US" sz="1400" b="1" dirty="0" smtClean="0">
                <a:latin typeface="Arial"/>
              </a:rPr>
              <a:t>B2B</a:t>
            </a:r>
            <a:r>
              <a:rPr lang="ru-RU" sz="1400" b="1" dirty="0" smtClean="0">
                <a:latin typeface="Arial"/>
              </a:rPr>
              <a:t> </a:t>
            </a:r>
            <a:r>
              <a:rPr lang="en-US" sz="1400" b="1" dirty="0" smtClean="0">
                <a:latin typeface="Arial"/>
              </a:rPr>
              <a:t>- </a:t>
            </a:r>
            <a:r>
              <a:rPr lang="ru-RU" sz="1400" b="1" dirty="0" smtClean="0">
                <a:latin typeface="Arial"/>
              </a:rPr>
              <a:t>100 т.</a:t>
            </a:r>
            <a:endParaRPr lang="ru-RU" sz="1400" b="1" dirty="0">
              <a:latin typeface="+mj-lt"/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980010"/>
              </p:ext>
            </p:extLst>
          </p:nvPr>
        </p:nvGraphicFramePr>
        <p:xfrm>
          <a:off x="321900" y="4143375"/>
          <a:ext cx="6518383" cy="18097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37309"/>
                <a:gridCol w="680179"/>
                <a:gridCol w="680179"/>
                <a:gridCol w="680179"/>
                <a:gridCol w="680179"/>
                <a:gridCol w="680179"/>
                <a:gridCol w="680179"/>
              </a:tblGrid>
              <a:tr h="301625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Зыков Юрий Анатольевич, УСС</a:t>
                      </a:r>
                      <a:endParaRPr lang="ru-RU" sz="1100">
                        <a:effectLst/>
                        <a:latin typeface="Calibri"/>
                        <a:ea typeface="SimSun"/>
                      </a:endParaRPr>
                    </a:p>
                  </a:txBody>
                  <a:tcPr marL="68580" marR="68580" marT="0" marB="0" anchor="ctr"/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2025</a:t>
                      </a:r>
                      <a:endParaRPr lang="ru-RU" sz="1100" dirty="0">
                        <a:effectLst/>
                        <a:latin typeface="Calibri"/>
                        <a:ea typeface="SimSun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2026</a:t>
                      </a:r>
                      <a:endParaRPr lang="ru-RU" sz="1100">
                        <a:effectLst/>
                        <a:latin typeface="Calibri"/>
                        <a:ea typeface="SimSun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0162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B</a:t>
                      </a:r>
                      <a:endParaRPr lang="ru-RU" sz="1100">
                        <a:effectLst/>
                        <a:latin typeface="Calibri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C</a:t>
                      </a:r>
                      <a:endParaRPr lang="ru-RU" sz="1100">
                        <a:effectLst/>
                        <a:latin typeface="Calibri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D</a:t>
                      </a:r>
                      <a:endParaRPr lang="ru-RU" sz="1100">
                        <a:effectLst/>
                        <a:latin typeface="Calibri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B</a:t>
                      </a:r>
                      <a:endParaRPr lang="ru-RU" sz="1100">
                        <a:effectLst/>
                        <a:latin typeface="Calibri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C</a:t>
                      </a:r>
                      <a:endParaRPr lang="ru-RU" sz="1100">
                        <a:effectLst/>
                        <a:latin typeface="Calibri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D</a:t>
                      </a:r>
                      <a:endParaRPr lang="ru-RU" sz="1100">
                        <a:effectLst/>
                        <a:latin typeface="Calibri"/>
                        <a:ea typeface="SimSun"/>
                      </a:endParaRPr>
                    </a:p>
                  </a:txBody>
                  <a:tcPr marL="68580" marR="68580" marT="0" marB="0" anchor="ctr"/>
                </a:tc>
              </a:tr>
              <a:tr h="3016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Общая АКБ</a:t>
                      </a:r>
                      <a:endParaRPr lang="ru-RU" sz="1100">
                        <a:effectLst/>
                        <a:latin typeface="Calibri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3</a:t>
                      </a:r>
                      <a:endParaRPr lang="ru-RU" sz="1100">
                        <a:effectLst/>
                        <a:latin typeface="Calibri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20</a:t>
                      </a:r>
                      <a:endParaRPr lang="ru-RU" sz="1100">
                        <a:effectLst/>
                        <a:latin typeface="Calibri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75</a:t>
                      </a:r>
                      <a:endParaRPr lang="ru-RU" sz="1100">
                        <a:effectLst/>
                        <a:latin typeface="Calibri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2</a:t>
                      </a:r>
                      <a:endParaRPr lang="ru-RU" sz="1100">
                        <a:effectLst/>
                        <a:latin typeface="Calibri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25</a:t>
                      </a:r>
                      <a:endParaRPr lang="ru-RU" sz="1100">
                        <a:effectLst/>
                        <a:latin typeface="Calibri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81</a:t>
                      </a:r>
                      <a:endParaRPr lang="ru-RU" sz="1100">
                        <a:effectLst/>
                        <a:latin typeface="Calibri"/>
                        <a:ea typeface="SimSun"/>
                      </a:endParaRPr>
                    </a:p>
                  </a:txBody>
                  <a:tcPr marL="68580" marR="68580" marT="0" marB="0" anchor="ctr"/>
                </a:tc>
              </a:tr>
              <a:tr h="3016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АКБ Титан</a:t>
                      </a:r>
                      <a:endParaRPr lang="ru-RU" sz="1100">
                        <a:effectLst/>
                        <a:latin typeface="Calibri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1</a:t>
                      </a:r>
                      <a:endParaRPr lang="ru-RU" sz="1100">
                        <a:effectLst/>
                        <a:latin typeface="Calibri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8</a:t>
                      </a:r>
                      <a:endParaRPr lang="ru-RU" sz="1100">
                        <a:effectLst/>
                        <a:latin typeface="Calibri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12</a:t>
                      </a:r>
                      <a:endParaRPr lang="ru-RU" sz="1100">
                        <a:effectLst/>
                        <a:latin typeface="Calibri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1</a:t>
                      </a:r>
                      <a:endParaRPr lang="ru-RU" sz="1100">
                        <a:effectLst/>
                        <a:latin typeface="Calibri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12</a:t>
                      </a:r>
                      <a:endParaRPr lang="ru-RU" sz="1100">
                        <a:effectLst/>
                        <a:latin typeface="Calibri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20</a:t>
                      </a:r>
                      <a:endParaRPr lang="ru-RU" sz="1100">
                        <a:effectLst/>
                        <a:latin typeface="Calibri"/>
                        <a:ea typeface="SimSun"/>
                      </a:endParaRPr>
                    </a:p>
                  </a:txBody>
                  <a:tcPr marL="68580" marR="68580" marT="0" marB="0" anchor="ctr"/>
                </a:tc>
              </a:tr>
              <a:tr h="3016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Доля АКБ Титана от общей АКБ</a:t>
                      </a:r>
                      <a:endParaRPr lang="ru-RU" sz="1100">
                        <a:effectLst/>
                        <a:latin typeface="Calibri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33%</a:t>
                      </a:r>
                      <a:endParaRPr lang="ru-RU" sz="1100">
                        <a:effectLst/>
                        <a:latin typeface="Calibri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40%</a:t>
                      </a:r>
                      <a:endParaRPr lang="ru-RU" sz="1100">
                        <a:effectLst/>
                        <a:latin typeface="Calibri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16%</a:t>
                      </a:r>
                      <a:endParaRPr lang="ru-RU" sz="1100">
                        <a:effectLst/>
                        <a:latin typeface="Calibri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50%</a:t>
                      </a:r>
                      <a:endParaRPr lang="ru-RU" sz="1100">
                        <a:effectLst/>
                        <a:latin typeface="Calibri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48%</a:t>
                      </a:r>
                      <a:endParaRPr lang="ru-RU" sz="1100">
                        <a:effectLst/>
                        <a:latin typeface="Calibri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25%</a:t>
                      </a:r>
                      <a:endParaRPr lang="ru-RU" sz="1100">
                        <a:effectLst/>
                        <a:latin typeface="Calibri"/>
                        <a:ea typeface="SimSun"/>
                      </a:endParaRPr>
                    </a:p>
                  </a:txBody>
                  <a:tcPr marL="68580" marR="68580" marT="0" marB="0" anchor="ctr"/>
                </a:tc>
              </a:tr>
              <a:tr h="3016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Среднее кол-во SKU в 1ртт</a:t>
                      </a:r>
                      <a:endParaRPr lang="ru-RU" sz="1100">
                        <a:effectLst/>
                        <a:latin typeface="Calibri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4</a:t>
                      </a:r>
                      <a:endParaRPr lang="ru-RU" sz="1100">
                        <a:effectLst/>
                        <a:latin typeface="Calibri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2</a:t>
                      </a:r>
                      <a:endParaRPr lang="ru-RU" sz="1100">
                        <a:effectLst/>
                        <a:latin typeface="Calibri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3</a:t>
                      </a:r>
                      <a:endParaRPr lang="ru-RU" sz="1100">
                        <a:effectLst/>
                        <a:latin typeface="Calibri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3</a:t>
                      </a:r>
                      <a:endParaRPr lang="ru-RU" sz="1100">
                        <a:effectLst/>
                        <a:latin typeface="Calibri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3</a:t>
                      </a:r>
                      <a:endParaRPr lang="ru-RU" sz="1100">
                        <a:effectLst/>
                        <a:latin typeface="Calibri"/>
                        <a:ea typeface="SimSu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3</a:t>
                      </a:r>
                      <a:endParaRPr lang="ru-RU" sz="1100" dirty="0">
                        <a:effectLst/>
                        <a:latin typeface="Calibri"/>
                        <a:ea typeface="SimSun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7026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6827"/>
            <a:ext cx="11460175" cy="38985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Arial"/>
              </a:rPr>
              <a:t>MML: КАК </a:t>
            </a:r>
            <a:r>
              <a:rPr lang="ru-RU" sz="2200" b="1" i="0" dirty="0" smtClean="0">
                <a:solidFill>
                  <a:srgbClr val="FFFFFF"/>
                </a:solidFill>
                <a:latin typeface="Arial"/>
              </a:rPr>
              <a:t>СЕЙЧАС</a:t>
            </a:r>
            <a:r>
              <a:rPr sz="22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→ </a:t>
            </a:r>
            <a:r>
              <a:rPr lang="ru-RU" sz="2200" b="1" i="0" dirty="0" smtClean="0">
                <a:solidFill>
                  <a:srgbClr val="FFFFFF"/>
                </a:solidFill>
                <a:latin typeface="Arial"/>
              </a:rPr>
              <a:t>СЛЕДУЮЩИЙ ЭТАП</a:t>
            </a:r>
            <a:endParaRPr sz="22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891540"/>
            <a:ext cx="2788920" cy="3657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A — Федеральная DIY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16  →  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+5 SKU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91840" y="891540"/>
            <a:ext cx="2788920" cy="36576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B — Локальная сеть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12  →  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+4 SKU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891540"/>
            <a:ext cx="2788920" cy="3657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C — Супермаркет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2  → 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+2 SKU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4000" y="891540"/>
            <a:ext cx="2788920" cy="3657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D — Хозмаг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0  → 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9CA3AF"/>
                </a:solidFill>
                <a:latin typeface="Arial"/>
              </a:rPr>
              <a:t>0 SKU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5852160" y="2354580"/>
            <a:ext cx="457200" cy="320040"/>
          </a:xfrm>
          <a:prstGeom prst="downArrow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2785110"/>
            <a:ext cx="1143000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ru-RU" sz="1200" b="1" i="0" dirty="0" smtClean="0">
                <a:solidFill>
                  <a:srgbClr val="1E3A5F"/>
                </a:solidFill>
                <a:latin typeface="Arial"/>
              </a:rPr>
              <a:t>СЛЕДУЮЩИЙ ЭТАП РАСШИРЕНИЯ </a:t>
            </a:r>
            <a:r>
              <a:rPr sz="1200" b="1" i="0" dirty="0" smtClean="0">
                <a:solidFill>
                  <a:srgbClr val="1E3A5F"/>
                </a:solidFill>
                <a:latin typeface="Arial"/>
              </a:rPr>
              <a:t>MML </a:t>
            </a:r>
            <a:r>
              <a:rPr sz="1200" b="1" i="0" dirty="0">
                <a:solidFill>
                  <a:srgbClr val="1E3A5F"/>
                </a:solidFill>
                <a:latin typeface="Arial"/>
              </a:rPr>
              <a:t>— НА ОСНОВЕ РЕАЛЬНЫХ ПРОДАЖ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036570"/>
            <a:ext cx="45720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3036570"/>
            <a:ext cx="4572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3036570"/>
            <a:ext cx="210312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3036570"/>
            <a:ext cx="21031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Категория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3036570"/>
            <a:ext cx="274320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926080" y="3036570"/>
            <a:ext cx="27432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Цвет / RAL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0" y="3036570"/>
            <a:ext cx="82296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0" y="3036570"/>
            <a:ext cx="8229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Объём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036570"/>
            <a:ext cx="109728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92240" y="3036570"/>
            <a:ext cx="10972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Вторичка
(шт)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0" y="3036570"/>
            <a:ext cx="82296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89520" y="3036570"/>
            <a:ext cx="8229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АКБ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12480" y="3036570"/>
            <a:ext cx="137160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0" y="3036570"/>
            <a:ext cx="13716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Было
(MML)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84080" y="3036570"/>
            <a:ext cx="155448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784080" y="3036570"/>
            <a:ext cx="15544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Стало
(MML)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402330"/>
            <a:ext cx="457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65760" y="3402330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" y="3402330"/>
            <a:ext cx="210312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2960" y="3402330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80" y="3402330"/>
            <a:ext cx="2743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926080" y="3402330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Чёрный RAL 9005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0" y="3402330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669280" y="340233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3402330"/>
            <a:ext cx="10972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92240" y="3402330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7 738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89520" y="3402330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589520" y="340233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393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12480" y="3402330"/>
            <a:ext cx="13716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412480" y="3402330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A, 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84080" y="3402330"/>
            <a:ext cx="15544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784080" y="3402330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B, 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3731514"/>
            <a:ext cx="457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65760" y="3731514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2960" y="3731514"/>
            <a:ext cx="210312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22960" y="3731514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26080" y="3731514"/>
            <a:ext cx="2743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926080" y="3731514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Шоколад-коричневый RAL 8017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0" y="3731514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669280" y="373151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92240" y="3731514"/>
            <a:ext cx="10972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492240" y="3731514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4 524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589520" y="3731514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589520" y="373151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287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12480" y="3731514"/>
            <a:ext cx="13716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412480" y="3731514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A, B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784080" y="3731514"/>
            <a:ext cx="15544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784080" y="3731514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B, C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4060698"/>
            <a:ext cx="457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65760" y="4060698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2960" y="4060698"/>
            <a:ext cx="210312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22960" y="4060698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926080" y="4060698"/>
            <a:ext cx="2743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926080" y="4060698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Зелёный RAL 6005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69280" y="4060698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669280" y="406069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92240" y="4060698"/>
            <a:ext cx="10972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492240" y="4060698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1 893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589520" y="4060698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7589520" y="406069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111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412480" y="4060698"/>
            <a:ext cx="13716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412480" y="4060698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784080" y="4060698"/>
            <a:ext cx="15544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9784080" y="4060698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65760" y="4389882"/>
            <a:ext cx="457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65760" y="4389882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22960" y="4389882"/>
            <a:ext cx="210312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822960" y="4389882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926080" y="4389882"/>
            <a:ext cx="2743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2926080" y="4389882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Серый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669280" y="4389882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5669280" y="4389882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492240" y="4389882"/>
            <a:ext cx="10972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492240" y="4389882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2 695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589520" y="4389882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589520" y="4389882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199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412480" y="4389882"/>
            <a:ext cx="13716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8412480" y="4389882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784080" y="4389882"/>
            <a:ext cx="15544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9784080" y="4389882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65760" y="4719066"/>
            <a:ext cx="457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365760" y="4719066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22960" y="4719066"/>
            <a:ext cx="210312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822960" y="4719066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926080" y="4719066"/>
            <a:ext cx="2743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2926080" y="4719066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Шоколадно-кор. RAL 8017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669280" y="4719066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5669280" y="4719066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492240" y="4719066"/>
            <a:ext cx="10972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492240" y="4719066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2 232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589520" y="4719066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589520" y="4719066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193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412480" y="4719066"/>
            <a:ext cx="13716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8412480" y="4719066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784080" y="4719066"/>
            <a:ext cx="15544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9784080" y="4719066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65760" y="5048250"/>
            <a:ext cx="457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365760" y="5048250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6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22960" y="5048250"/>
            <a:ext cx="210312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822960" y="5048250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926080" y="5048250"/>
            <a:ext cx="2743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2926080" y="5048250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Белый RAL 9010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669280" y="5048250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5669280" y="504825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492240" y="5048250"/>
            <a:ext cx="10972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6492240" y="5048250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1 507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589520" y="5048250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7589520" y="504825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119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412480" y="5048250"/>
            <a:ext cx="13716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8412480" y="5048250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784080" y="5048250"/>
            <a:ext cx="15544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9784080" y="5048250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65760" y="5377434"/>
            <a:ext cx="457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365760" y="5377434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7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22960" y="5377434"/>
            <a:ext cx="210312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822960" y="5377434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926080" y="5377434"/>
            <a:ext cx="2743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2926080" y="5377434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Серебристый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669280" y="5377434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5669280" y="537743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0.8 кг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492240" y="5377434"/>
            <a:ext cx="10972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6492240" y="5377434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2 394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589520" y="5377434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7589520" y="537743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198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8412480" y="5377434"/>
            <a:ext cx="13716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8412480" y="5377434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9784080" y="5377434"/>
            <a:ext cx="15544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9784080" y="5377434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365760" y="5706618"/>
            <a:ext cx="457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365760" y="5706618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8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22960" y="5706618"/>
            <a:ext cx="210312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822960" y="5706618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926080" y="5706618"/>
            <a:ext cx="2743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2926080" y="5706618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Медный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669280" y="5706618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5669280" y="570661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0.8 кг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492240" y="5706618"/>
            <a:ext cx="10972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6492240" y="5706618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1 162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7589520" y="5706618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7589520" y="570661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102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8412480" y="5706618"/>
            <a:ext cx="13716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8412480" y="5706618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784080" y="5706618"/>
            <a:ext cx="15544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9784080" y="5706618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365760" y="6035802"/>
            <a:ext cx="61264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822960" y="6035802"/>
            <a:ext cx="52120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Arial"/>
              </a:rPr>
              <a:t>ИТОГО: 8 рекомендаций на основе продаж → +11 SKU-позиций в MML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492240" y="6035802"/>
            <a:ext cx="10972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6492240" y="6035802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22 645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7589520" y="6035802"/>
            <a:ext cx="82296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7589520" y="6035802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1 522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8412480" y="6035802"/>
            <a:ext cx="137160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8412480" y="6035802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30 SKU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9784080" y="6035802"/>
            <a:ext cx="155448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9784080" y="6035802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41 SKU</a:t>
            </a:r>
          </a:p>
        </p:txBody>
      </p:sp>
    </p:spTree>
    <p:extLst>
      <p:ext uri="{BB962C8B-B14F-4D97-AF65-F5344CB8AC3E}">
        <p14:creationId xmlns:p14="http://schemas.microsoft.com/office/powerpoint/2010/main" val="1419414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9525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6827"/>
            <a:ext cx="11460175" cy="38985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ru-RU" sz="2200" b="1" i="0" dirty="0" smtClean="0">
                <a:solidFill>
                  <a:srgbClr val="FFFFFF"/>
                </a:solidFill>
                <a:latin typeface="Arial"/>
              </a:rPr>
              <a:t>ЭТАП  – </a:t>
            </a:r>
            <a:r>
              <a:rPr sz="2200" b="1" i="0" dirty="0" smtClean="0">
                <a:solidFill>
                  <a:srgbClr val="FFFFFF"/>
                </a:solidFill>
                <a:latin typeface="Arial"/>
              </a:rPr>
              <a:t>ПОИСК 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НОВОГО ПАРТНЁРА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3360" y="954405"/>
            <a:ext cx="11826240" cy="64008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6240" y="1141075"/>
            <a:ext cx="11094415" cy="2667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 dirty="0" err="1">
                <a:solidFill>
                  <a:srgbClr val="1E3A5F"/>
                </a:solidFill>
                <a:latin typeface="Arial"/>
              </a:rPr>
              <a:t>Цель</a:t>
            </a:r>
            <a:r>
              <a:rPr sz="1400" b="1" i="0" dirty="0">
                <a:solidFill>
                  <a:srgbClr val="1E3A5F"/>
                </a:solidFill>
                <a:latin typeface="Arial"/>
              </a:rPr>
              <a:t>: </a:t>
            </a:r>
            <a:r>
              <a:rPr sz="1400" b="1" i="0" dirty="0" err="1">
                <a:solidFill>
                  <a:srgbClr val="1E3A5F"/>
                </a:solidFill>
                <a:latin typeface="Arial"/>
              </a:rPr>
              <a:t>выйти</a:t>
            </a:r>
            <a:r>
              <a:rPr sz="1400" b="1" i="0" dirty="0">
                <a:solidFill>
                  <a:srgbClr val="1E3A5F"/>
                </a:solidFill>
                <a:latin typeface="Arial"/>
              </a:rPr>
              <a:t> </a:t>
            </a:r>
            <a:r>
              <a:rPr sz="1400" b="1" i="0" dirty="0" err="1">
                <a:solidFill>
                  <a:srgbClr val="1E3A5F"/>
                </a:solidFill>
                <a:latin typeface="Arial"/>
              </a:rPr>
              <a:t>на</a:t>
            </a:r>
            <a:r>
              <a:rPr sz="1400" b="1" i="0" dirty="0">
                <a:solidFill>
                  <a:srgbClr val="1E3A5F"/>
                </a:solidFill>
                <a:latin typeface="Arial"/>
              </a:rPr>
              <a:t> </a:t>
            </a:r>
            <a:r>
              <a:rPr sz="1400" b="1" i="0" dirty="0" err="1">
                <a:solidFill>
                  <a:srgbClr val="1E3A5F"/>
                </a:solidFill>
                <a:latin typeface="Arial"/>
              </a:rPr>
              <a:t>контакт</a:t>
            </a:r>
            <a:r>
              <a:rPr sz="1400" b="1" i="0" dirty="0">
                <a:solidFill>
                  <a:srgbClr val="1E3A5F"/>
                </a:solidFill>
                <a:latin typeface="Arial"/>
              </a:rPr>
              <a:t> с </a:t>
            </a:r>
            <a:r>
              <a:rPr sz="1400" b="1" i="0" dirty="0" err="1">
                <a:solidFill>
                  <a:srgbClr val="1E3A5F"/>
                </a:solidFill>
                <a:latin typeface="Arial"/>
              </a:rPr>
              <a:t>потенциальным</a:t>
            </a:r>
            <a:r>
              <a:rPr sz="1400" b="1" i="0" dirty="0">
                <a:solidFill>
                  <a:srgbClr val="1E3A5F"/>
                </a:solidFill>
                <a:latin typeface="Arial"/>
              </a:rPr>
              <a:t> </a:t>
            </a:r>
            <a:r>
              <a:rPr sz="1400" b="1" i="0" dirty="0" err="1">
                <a:solidFill>
                  <a:srgbClr val="1E3A5F"/>
                </a:solidFill>
                <a:latin typeface="Arial"/>
              </a:rPr>
              <a:t>партнёром</a:t>
            </a:r>
            <a:r>
              <a:rPr sz="1400" b="1" i="0" dirty="0">
                <a:solidFill>
                  <a:srgbClr val="1E3A5F"/>
                </a:solidFill>
                <a:latin typeface="Arial"/>
              </a:rPr>
              <a:t> и </a:t>
            </a:r>
            <a:r>
              <a:rPr sz="1400" b="1" i="0" dirty="0" err="1">
                <a:solidFill>
                  <a:srgbClr val="1E3A5F"/>
                </a:solidFill>
                <a:latin typeface="Arial"/>
              </a:rPr>
              <a:t>презентовать</a:t>
            </a:r>
            <a:r>
              <a:rPr sz="1400" b="1" i="0" dirty="0">
                <a:solidFill>
                  <a:srgbClr val="1E3A5F"/>
                </a:solidFill>
                <a:latin typeface="Arial"/>
              </a:rPr>
              <a:t> </a:t>
            </a:r>
            <a:r>
              <a:rPr lang="ru-RU" sz="1400" b="1" dirty="0" smtClean="0">
                <a:solidFill>
                  <a:srgbClr val="1E3A5F"/>
                </a:solidFill>
                <a:latin typeface="Arial"/>
              </a:rPr>
              <a:t>контракт </a:t>
            </a:r>
            <a:r>
              <a:rPr lang="ru-RU" sz="1400" b="1" dirty="0" err="1" smtClean="0">
                <a:solidFill>
                  <a:srgbClr val="1E3A5F"/>
                </a:solidFill>
                <a:latin typeface="Arial"/>
              </a:rPr>
              <a:t>Эмпилс</a:t>
            </a:r>
            <a:r>
              <a:rPr lang="ru-RU" sz="1400" b="1" dirty="0" smtClean="0">
                <a:solidFill>
                  <a:srgbClr val="1E3A5F"/>
                </a:solidFill>
                <a:latin typeface="Arial"/>
              </a:rPr>
              <a:t> и </a:t>
            </a:r>
            <a:r>
              <a:rPr sz="1400" b="1" i="0" dirty="0" err="1" smtClean="0">
                <a:solidFill>
                  <a:srgbClr val="1E3A5F"/>
                </a:solidFill>
                <a:latin typeface="Arial"/>
              </a:rPr>
              <a:t>программу</a:t>
            </a:r>
            <a:r>
              <a:rPr sz="1400" b="1" i="0" dirty="0" smtClean="0">
                <a:solidFill>
                  <a:srgbClr val="1E3A5F"/>
                </a:solidFill>
                <a:latin typeface="Arial"/>
              </a:rPr>
              <a:t> </a:t>
            </a:r>
            <a:r>
              <a:rPr sz="1400" b="1" i="0" dirty="0">
                <a:solidFill>
                  <a:srgbClr val="1E3A5F"/>
                </a:solidFill>
                <a:latin typeface="Arial"/>
              </a:rPr>
              <a:t>TITAN</a:t>
            </a:r>
          </a:p>
        </p:txBody>
      </p:sp>
      <p:sp>
        <p:nvSpPr>
          <p:cNvPr id="9" name="Rectangle 8"/>
          <p:cNvSpPr/>
          <p:nvPr/>
        </p:nvSpPr>
        <p:spPr>
          <a:xfrm>
            <a:off x="213360" y="1777365"/>
            <a:ext cx="54864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3360" y="1777365"/>
            <a:ext cx="5486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1777365"/>
            <a:ext cx="3200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2000" y="1777365"/>
            <a:ext cx="32004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Инструмент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62400" y="1777365"/>
            <a:ext cx="50292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62400" y="1777365"/>
            <a:ext cx="50292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Описание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91600" y="1777365"/>
            <a:ext cx="30175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91600" y="1777365"/>
            <a:ext cx="3017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Эффективность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3360" y="2188845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13360" y="2188845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2000" y="2188845"/>
            <a:ext cx="32004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3440" y="2188845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Персональный визит РМ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62400" y="2188845"/>
            <a:ext cx="50292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53840" y="2188845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Региональный менеджер приезжает в офис потенциального партнёра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91600" y="2188845"/>
            <a:ext cx="301752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83040" y="2188845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Самый эффективный канал. Конверсия 40-60%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3360" y="2902077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13360" y="2902077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2000" y="2902077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3440" y="2902077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Звонок РМ (теплый прозвон)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62400" y="2902077"/>
            <a:ext cx="5029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053840" y="2902077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Звонок после email или бумажного письма — договориться о встрече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91600" y="2902077"/>
            <a:ext cx="3017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83040" y="2902077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Конверсия в встречу 15-25%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3360" y="3615309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13360" y="3615309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2000" y="3615309"/>
            <a:ext cx="32004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3440" y="3615309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Отправка приглашения в МАХ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62400" y="3615309"/>
            <a:ext cx="50292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53840" y="3615309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Презентация программы TITAN через мессенджер МАХ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91600" y="3615309"/>
            <a:ext cx="301752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83040" y="3615309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Удобно для дистрибьюторов, использующих МАХ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3360" y="4328541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13360" y="4328541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2000" y="4328541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3440" y="4328541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Email-рассылка по базе «белые пятна»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62400" y="4328541"/>
            <a:ext cx="5029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053840" y="4328541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Персонализированное письмо + приглашение посетить завод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91600" y="4328541"/>
            <a:ext cx="3017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083040" y="4328541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Масштабируемый канал. Конверсия 3-7%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3360" y="5041773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13360" y="5041773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2000" y="5041773"/>
            <a:ext cx="32004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53440" y="5041773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Письмо по обычной почте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962400" y="5041773"/>
            <a:ext cx="50292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053840" y="5041773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Напечатанное приглашение посетить завод, отправленное Почтой России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91600" y="5041773"/>
            <a:ext cx="301752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083040" y="5041773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Конверсия 8-15%. Бумага воспринимается как «серьёзный жест»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3360" y="5755005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13360" y="5755005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62000" y="5755005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53440" y="5755005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Приглашение на профильной выставке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62400" y="5755005"/>
            <a:ext cx="5029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053840" y="5932085"/>
            <a:ext cx="4846320" cy="3590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1000" b="0" i="0" dirty="0" err="1">
                <a:solidFill>
                  <a:srgbClr val="1A1F36"/>
                </a:solidFill>
                <a:latin typeface="Arial"/>
              </a:rPr>
              <a:t>Контакт</a:t>
            </a:r>
            <a:r>
              <a:rPr sz="1000" b="0" i="0" dirty="0">
                <a:solidFill>
                  <a:srgbClr val="1A1F36"/>
                </a:solidFill>
                <a:latin typeface="Arial"/>
              </a:rPr>
              <a:t> в </a:t>
            </a:r>
            <a:r>
              <a:rPr sz="1000" b="0" i="0" dirty="0" err="1">
                <a:solidFill>
                  <a:srgbClr val="1A1F36"/>
                </a:solidFill>
                <a:latin typeface="Arial"/>
              </a:rPr>
              <a:t>период</a:t>
            </a:r>
            <a:r>
              <a:rPr sz="10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1A1F36"/>
                </a:solidFill>
                <a:latin typeface="Arial"/>
              </a:rPr>
              <a:t>участия</a:t>
            </a:r>
            <a:r>
              <a:rPr sz="10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1A1F36"/>
                </a:solidFill>
                <a:latin typeface="Arial"/>
              </a:rPr>
              <a:t>партнёра</a:t>
            </a:r>
            <a:r>
              <a:rPr sz="1000" b="0" i="0" dirty="0">
                <a:solidFill>
                  <a:srgbClr val="1A1F36"/>
                </a:solidFill>
                <a:latin typeface="Arial"/>
              </a:rPr>
              <a:t> в </a:t>
            </a:r>
            <a:r>
              <a:rPr sz="1000" b="0" i="0" dirty="0" err="1">
                <a:solidFill>
                  <a:srgbClr val="1A1F36"/>
                </a:solidFill>
                <a:latin typeface="Arial"/>
              </a:rPr>
              <a:t>выставке</a:t>
            </a:r>
            <a:r>
              <a:rPr sz="10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0" i="0" dirty="0" smtClean="0">
                <a:solidFill>
                  <a:srgbClr val="1A1F36"/>
                </a:solidFill>
                <a:latin typeface="Arial"/>
              </a:rPr>
              <a:t>(</a:t>
            </a:r>
            <a:r>
              <a:rPr lang="ru-RU" sz="1000" dirty="0">
                <a:solidFill>
                  <a:srgbClr val="1A1F36"/>
                </a:solidFill>
                <a:latin typeface="Arial"/>
              </a:rPr>
              <a:t>Сибирская строительная </a:t>
            </a:r>
            <a:r>
              <a:rPr lang="ru-RU" sz="1000" dirty="0" smtClean="0">
                <a:solidFill>
                  <a:srgbClr val="1A1F36"/>
                </a:solidFill>
                <a:latin typeface="Arial"/>
              </a:rPr>
              <a:t>неделя </a:t>
            </a:r>
            <a:r>
              <a:rPr lang="ru-RU" sz="1000" dirty="0">
                <a:solidFill>
                  <a:srgbClr val="1A1F36"/>
                </a:solidFill>
                <a:latin typeface="Arial"/>
              </a:rPr>
              <a:t>2027, Казань </a:t>
            </a:r>
            <a:r>
              <a:rPr lang="ru-RU" sz="1000" dirty="0" smtClean="0">
                <a:solidFill>
                  <a:srgbClr val="1A1F36"/>
                </a:solidFill>
                <a:latin typeface="Arial"/>
              </a:rPr>
              <a:t>Экспо 2027, </a:t>
            </a:r>
            <a:r>
              <a:rPr lang="en-US" sz="1000" dirty="0" smtClean="0">
                <a:solidFill>
                  <a:srgbClr val="1A1F36"/>
                </a:solidFill>
                <a:latin typeface="Arial"/>
              </a:rPr>
              <a:t>Build </a:t>
            </a:r>
            <a:r>
              <a:rPr lang="en-US" sz="1000" dirty="0">
                <a:solidFill>
                  <a:srgbClr val="1A1F36"/>
                </a:solidFill>
                <a:latin typeface="Arial"/>
              </a:rPr>
              <a:t>Ural </a:t>
            </a:r>
            <a:r>
              <a:rPr lang="en-US" sz="1000" dirty="0" smtClean="0">
                <a:solidFill>
                  <a:srgbClr val="1A1F36"/>
                </a:solidFill>
                <a:latin typeface="Arial"/>
              </a:rPr>
              <a:t>2027</a:t>
            </a:r>
            <a:r>
              <a:rPr lang="ru-RU" sz="1000" dirty="0">
                <a:solidFill>
                  <a:srgbClr val="1A1F36"/>
                </a:solidFill>
                <a:latin typeface="Arial"/>
              </a:rPr>
              <a:t>, </a:t>
            </a:r>
            <a:r>
              <a:rPr lang="ru-RU" sz="1000" dirty="0" err="1">
                <a:solidFill>
                  <a:srgbClr val="1A1F36"/>
                </a:solidFill>
                <a:latin typeface="Arial"/>
              </a:rPr>
              <a:t>АлтайСтрой</a:t>
            </a:r>
            <a:r>
              <a:rPr lang="ru-RU" sz="100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1000" b="0" i="0" dirty="0">
                <a:solidFill>
                  <a:srgbClr val="1A1F36"/>
                </a:solidFill>
                <a:latin typeface="Arial"/>
              </a:rPr>
              <a:t>и </a:t>
            </a:r>
            <a:r>
              <a:rPr sz="1000" b="0" i="0" dirty="0" err="1">
                <a:solidFill>
                  <a:srgbClr val="1A1F36"/>
                </a:solidFill>
                <a:latin typeface="Arial"/>
              </a:rPr>
              <a:t>др</a:t>
            </a:r>
            <a:r>
              <a:rPr sz="1000" b="0" i="0" dirty="0">
                <a:solidFill>
                  <a:srgbClr val="1A1F36"/>
                </a:solidFill>
                <a:latin typeface="Arial"/>
              </a:rPr>
              <a:t>.)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91600" y="5755005"/>
            <a:ext cx="3017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083040" y="5755005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Личный контакт на стенде Эмпилс</a:t>
            </a:r>
          </a:p>
        </p:txBody>
      </p:sp>
    </p:spTree>
    <p:extLst>
      <p:ext uri="{BB962C8B-B14F-4D97-AF65-F5344CB8AC3E}">
        <p14:creationId xmlns:p14="http://schemas.microsoft.com/office/powerpoint/2010/main" val="238874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2215"/>
            <a:ext cx="11460175" cy="3590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Arial"/>
              </a:rPr>
              <a:t>🎓  ОБУЧЕНИЕ ТОРГОВЫХ ПРЕДСТАВИТЕЛЕЙ ПО ПРОГРАММЕ TITAN </a:t>
            </a:r>
            <a:r>
              <a:rPr lang="ru-RU" sz="2000" b="1" i="0" dirty="0" smtClean="0">
                <a:solidFill>
                  <a:srgbClr val="FFFFFF"/>
                </a:solidFill>
                <a:latin typeface="Arial"/>
              </a:rPr>
              <a:t>ССВ</a:t>
            </a:r>
            <a:endParaRPr sz="20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11460175" cy="594360"/>
          </a:xfrm>
          <a:prstGeom prst="round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848717"/>
            <a:ext cx="11460175" cy="45140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 dirty="0" err="1">
                <a:solidFill>
                  <a:srgbClr val="FFFFFF"/>
                </a:solidFill>
                <a:latin typeface="Arial"/>
              </a:rPr>
              <a:t>Масштаб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программы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: 12 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регионов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  •  6 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региональных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директоров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  </a:t>
            </a:r>
            <a:endParaRPr lang="ru-RU" sz="1300" b="1" i="0" dirty="0" smtClean="0">
              <a:solidFill>
                <a:srgbClr val="FFFFFF"/>
              </a:solidFill>
              <a:latin typeface="Arial"/>
            </a:endParaRPr>
          </a:p>
          <a:p>
            <a:pPr algn="ctr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  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19 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региональных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менеджеров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  •  109 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дистрибьюторов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  • 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~</a:t>
            </a:r>
            <a:r>
              <a:rPr lang="ru-RU" sz="1300" b="1" i="0" dirty="0" smtClean="0">
                <a:solidFill>
                  <a:srgbClr val="FFFFFF"/>
                </a:solidFill>
                <a:latin typeface="Arial"/>
              </a:rPr>
              <a:t>35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0 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ТП 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общего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прайса</a:t>
            </a:r>
            <a:endParaRPr sz="13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1659255"/>
            <a:ext cx="64008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СТРУКТУРА ДИСТРИБУЦИИ ПО РЕГИОНАМ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67890"/>
            <a:ext cx="22860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2167890"/>
            <a:ext cx="228600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Регион (SBU)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2167890"/>
            <a:ext cx="25603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51760" y="2167890"/>
            <a:ext cx="25603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Директор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2167890"/>
            <a:ext cx="731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2080" y="2167890"/>
            <a:ext cx="7315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РМ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2167890"/>
            <a:ext cx="82296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0" y="216789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Дистр.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48793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248793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Дальний Восток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248793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97480" y="248793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Белокопытов А.Н.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12080" y="248793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12080" y="248793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248793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0" y="248793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21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76225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276225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Экспорт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1760" y="276225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697480" y="276225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Копай-Гора Д.А.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80" y="276225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12080" y="276225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276225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0" y="276225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21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03657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1480" y="303657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Юг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303657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697480" y="303657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Меликсетьян С.З.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12080" y="303657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212080" y="303657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303657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0" y="303657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19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31089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11480" y="331089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Поволжье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51760" y="331089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697480" y="331089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Меликсетьян С.З.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12080" y="331089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212080" y="331089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331089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43600" y="331089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358521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11480" y="358521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Урал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51760" y="358521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697480" y="358521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Захарова О.Г.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12080" y="358521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212080" y="358521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0" y="358521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943600" y="358521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385953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11480" y="385953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Западная Сибирь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51760" y="385953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697480" y="385953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Захарова О.Г.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12080" y="385953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212080" y="385953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0" y="385953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943600" y="385953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413385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11480" y="413385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Центр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51760" y="413385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697480" y="413385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Еремеев В.Н.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212080" y="413385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212080" y="413385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0" y="413385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943600" y="413385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5760" y="440817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11480" y="440817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Северо-Запад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651760" y="440817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697480" y="440817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Еремеев В.Н.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212080" y="440817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212080" y="440817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943600" y="440817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943600" y="440817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5760" y="468249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11480" y="468249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Федеральные сети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651760" y="468249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2697480" y="468249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Пустовалов С.И.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212080" y="468249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212080" y="468249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943600" y="468249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43600" y="468249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65760" y="495681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11480" y="495681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Москва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651760" y="495681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2697480" y="495681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Еремеев В.Н.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212080" y="495681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212080" y="495681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943600" y="495681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943600" y="495681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65760" y="523113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11480" y="523113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Новые территории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651760" y="523113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2697480" y="523113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Меликсетьян С.З.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212080" y="523113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212080" y="523113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943600" y="523113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943600" y="523113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65760" y="550545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11480" y="550545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Восточная Сибирь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651760" y="550545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697480" y="550545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Белокопытов А.Н.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212080" y="550545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5212080" y="550545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943600" y="550545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5943600" y="550545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2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65760" y="5779770"/>
            <a:ext cx="4846320" cy="27432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411480" y="5779770"/>
            <a:ext cx="4754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Arial"/>
              </a:rPr>
              <a:t>ИТОГО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212080" y="5779770"/>
            <a:ext cx="731520" cy="27432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5212080" y="577977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19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943600" y="5779770"/>
            <a:ext cx="822960" cy="27432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5943600" y="577977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109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6941820" y="2186940"/>
            <a:ext cx="4937760" cy="210312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7113270" y="2289810"/>
            <a:ext cx="493776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 dirty="0">
                <a:solidFill>
                  <a:srgbClr val="16A34A"/>
                </a:solidFill>
                <a:latin typeface="Arial"/>
              </a:rPr>
              <a:t>🎯  ПРОЦЕСС ОБУЧЕНИЯ </a:t>
            </a:r>
          </a:p>
        </p:txBody>
      </p:sp>
      <p:sp>
        <p:nvSpPr>
          <p:cNvPr id="151" name="Oval 150"/>
          <p:cNvSpPr/>
          <p:nvPr/>
        </p:nvSpPr>
        <p:spPr>
          <a:xfrm>
            <a:off x="7078980" y="2710815"/>
            <a:ext cx="256032" cy="256032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7078980" y="2710815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444740" y="2698102"/>
            <a:ext cx="4297680" cy="3180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 dirty="0" err="1">
                <a:solidFill>
                  <a:srgbClr val="C62828"/>
                </a:solidFill>
                <a:latin typeface="Arial"/>
              </a:rPr>
              <a:t>Сбор</a:t>
            </a:r>
            <a:r>
              <a:rPr sz="10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000" b="1" dirty="0" err="1">
                <a:solidFill>
                  <a:srgbClr val="C62828"/>
                </a:solidFill>
                <a:latin typeface="Arial"/>
              </a:rPr>
              <a:t>данных</a:t>
            </a:r>
            <a:r>
              <a:rPr sz="10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000" b="1" dirty="0" err="1">
                <a:solidFill>
                  <a:srgbClr val="C62828"/>
                </a:solidFill>
                <a:latin typeface="Arial"/>
              </a:rPr>
              <a:t>по</a:t>
            </a:r>
            <a:r>
              <a:rPr sz="10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000" b="1" dirty="0" smtClean="0">
                <a:solidFill>
                  <a:srgbClr val="C62828"/>
                </a:solidFill>
                <a:latin typeface="Arial"/>
              </a:rPr>
              <a:t>ТП</a:t>
            </a:r>
            <a:r>
              <a:rPr lang="ru-RU" sz="1000" b="1" dirty="0" smtClean="0">
                <a:solidFill>
                  <a:srgbClr val="C62828"/>
                </a:solidFill>
                <a:latin typeface="Arial"/>
              </a:rPr>
              <a:t> общего прайса</a:t>
            </a:r>
            <a:r>
              <a:rPr sz="1000" b="1" dirty="0" smtClean="0">
                <a:solidFill>
                  <a:srgbClr val="C62828"/>
                </a:solidFill>
                <a:latin typeface="Arial"/>
              </a:rPr>
              <a:t> </a:t>
            </a:r>
            <a:endParaRPr sz="1000" b="1" dirty="0">
              <a:solidFill>
                <a:srgbClr val="C62828"/>
              </a:solidFill>
              <a:latin typeface="Arial"/>
            </a:endParaRPr>
          </a:p>
          <a:p>
            <a:pPr algn="l"/>
            <a:r>
              <a:rPr sz="900" b="0" dirty="0" err="1">
                <a:solidFill>
                  <a:srgbClr val="1A1F36"/>
                </a:solidFill>
                <a:latin typeface="Arial"/>
              </a:rPr>
              <a:t>Региональные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менеджеры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заполняют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таблицу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по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своим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дистрибьюторам</a:t>
            </a:r>
            <a:endParaRPr sz="9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54" name="Oval 153"/>
          <p:cNvSpPr/>
          <p:nvPr/>
        </p:nvSpPr>
        <p:spPr>
          <a:xfrm>
            <a:off x="7078980" y="3190113"/>
            <a:ext cx="256032" cy="256032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7078980" y="3190113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444740" y="3177400"/>
            <a:ext cx="4297680" cy="3180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lang="ru-RU" sz="1000" b="1" dirty="0" smtClean="0">
                <a:solidFill>
                  <a:srgbClr val="F47920"/>
                </a:solidFill>
                <a:latin typeface="Arial"/>
              </a:rPr>
              <a:t>Онлайн обучение </a:t>
            </a:r>
            <a:r>
              <a:rPr sz="1000" b="1" dirty="0" smtClean="0">
                <a:solidFill>
                  <a:srgbClr val="F47920"/>
                </a:solidFill>
                <a:latin typeface="Arial"/>
              </a:rPr>
              <a:t> </a:t>
            </a:r>
            <a:endParaRPr sz="1000" b="1" dirty="0">
              <a:solidFill>
                <a:srgbClr val="F47920"/>
              </a:solidFill>
              <a:latin typeface="Arial"/>
            </a:endParaRPr>
          </a:p>
          <a:p>
            <a:pPr algn="l"/>
            <a:r>
              <a:rPr sz="900" b="0" dirty="0" err="1">
                <a:solidFill>
                  <a:srgbClr val="1A1F36"/>
                </a:solidFill>
                <a:latin typeface="Arial"/>
              </a:rPr>
              <a:t>Онлайн-материалы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по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TITAN </a:t>
            </a:r>
            <a:r>
              <a:rPr sz="900" b="0" dirty="0" smtClean="0">
                <a:solidFill>
                  <a:srgbClr val="1A1F36"/>
                </a:solidFill>
                <a:latin typeface="Arial"/>
              </a:rPr>
              <a:t>+ </a:t>
            </a:r>
            <a:r>
              <a:rPr sz="900" b="0" dirty="0" err="1" smtClean="0">
                <a:solidFill>
                  <a:srgbClr val="1A1F36"/>
                </a:solidFill>
                <a:latin typeface="Arial"/>
              </a:rPr>
              <a:t>видеоинструкц</a:t>
            </a:r>
            <a:r>
              <a:rPr lang="ru-RU" sz="900" b="0" dirty="0" err="1" smtClean="0">
                <a:solidFill>
                  <a:srgbClr val="1A1F36"/>
                </a:solidFill>
                <a:latin typeface="Arial"/>
              </a:rPr>
              <a:t>ия</a:t>
            </a:r>
            <a:r>
              <a:rPr lang="ru-RU" sz="900" b="0" dirty="0" smtClean="0">
                <a:solidFill>
                  <a:srgbClr val="1A1F36"/>
                </a:solidFill>
                <a:latin typeface="Arial"/>
              </a:rPr>
              <a:t> скрипт продаж</a:t>
            </a:r>
            <a:endParaRPr sz="9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57" name="Oval 156"/>
          <p:cNvSpPr/>
          <p:nvPr/>
        </p:nvSpPr>
        <p:spPr>
          <a:xfrm>
            <a:off x="7078980" y="3707511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7078980" y="3707511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444740" y="3694798"/>
            <a:ext cx="4297680" cy="3180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 dirty="0" err="1">
                <a:solidFill>
                  <a:srgbClr val="16A34A"/>
                </a:solidFill>
                <a:latin typeface="Arial"/>
              </a:rPr>
              <a:t>Прохождение</a:t>
            </a:r>
            <a:r>
              <a:rPr sz="1000" b="1" dirty="0">
                <a:solidFill>
                  <a:srgbClr val="16A34A"/>
                </a:solidFill>
                <a:latin typeface="Arial"/>
              </a:rPr>
              <a:t> </a:t>
            </a:r>
            <a:r>
              <a:rPr sz="1000" b="1" dirty="0" err="1">
                <a:solidFill>
                  <a:srgbClr val="16A34A"/>
                </a:solidFill>
                <a:latin typeface="Arial"/>
              </a:rPr>
              <a:t>теста</a:t>
            </a:r>
            <a:r>
              <a:rPr sz="1000" b="1" dirty="0">
                <a:solidFill>
                  <a:srgbClr val="16A34A"/>
                </a:solidFill>
                <a:latin typeface="Arial"/>
              </a:rPr>
              <a:t> </a:t>
            </a:r>
            <a:r>
              <a:rPr sz="1000" b="1" dirty="0" smtClean="0">
                <a:solidFill>
                  <a:srgbClr val="16A34A"/>
                </a:solidFill>
                <a:latin typeface="Arial"/>
              </a:rPr>
              <a:t> </a:t>
            </a:r>
            <a:endParaRPr sz="1000" b="1" dirty="0">
              <a:solidFill>
                <a:srgbClr val="16A34A"/>
              </a:solidFill>
              <a:latin typeface="Arial"/>
            </a:endParaRPr>
          </a:p>
          <a:p>
            <a:pPr algn="l"/>
            <a:r>
              <a:rPr sz="900" b="0" dirty="0" err="1">
                <a:solidFill>
                  <a:srgbClr val="1A1F36"/>
                </a:solidFill>
                <a:latin typeface="Arial"/>
              </a:rPr>
              <a:t>Каждый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ТП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проходит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тест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знание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программы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11026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37631"/>
            <a:ext cx="1005840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dirty="0">
                <a:solidFill>
                  <a:srgbClr val="313131"/>
                </a:solidFill>
                <a:latin typeface="Calibri"/>
              </a:rPr>
              <a:t>ПИЛОТНЫЕ </a:t>
            </a:r>
            <a:r>
              <a:rPr lang="ru-RU" sz="2200" b="1" i="0" dirty="0" smtClean="0">
                <a:solidFill>
                  <a:srgbClr val="313131"/>
                </a:solidFill>
                <a:latin typeface="Calibri"/>
              </a:rPr>
              <a:t>КАНАЛЫ</a:t>
            </a:r>
            <a:r>
              <a:rPr sz="2200" b="1" i="0" dirty="0" smtClean="0">
                <a:solidFill>
                  <a:srgbClr val="313131"/>
                </a:solidFill>
                <a:latin typeface="Calibri"/>
              </a:rPr>
              <a:t> </a:t>
            </a:r>
            <a:r>
              <a:rPr sz="2200" b="1" i="0" dirty="0">
                <a:solidFill>
                  <a:srgbClr val="313131"/>
                </a:solidFill>
                <a:latin typeface="Calibri"/>
              </a:rPr>
              <a:t>ПРОГРАММЫ TITAN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3703320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826895"/>
            <a:ext cx="3703320" cy="50292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826895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826895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ПИЛОТ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12695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13131"/>
                </a:solidFill>
                <a:latin typeface="Calibri"/>
              </a:rPr>
              <a:t>ПАЛИТРА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61335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dirty="0" err="1">
                <a:solidFill>
                  <a:srgbClr val="F47629"/>
                </a:solidFill>
                <a:latin typeface="Calibri"/>
              </a:rPr>
              <a:t>Краснодарский</a:t>
            </a:r>
            <a:r>
              <a:rPr sz="1300" b="1" i="0" dirty="0">
                <a:solidFill>
                  <a:srgbClr val="F47629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F47629"/>
                </a:solidFill>
                <a:latin typeface="Calibri"/>
              </a:rPr>
              <a:t>край</a:t>
            </a:r>
            <a:endParaRPr sz="1300" b="1" i="0" dirty="0">
              <a:solidFill>
                <a:srgbClr val="F47629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" y="3335655"/>
            <a:ext cx="3246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dirty="0">
                <a:solidFill>
                  <a:srgbClr val="6B6B6B"/>
                </a:solidFill>
                <a:latin typeface="Calibri"/>
              </a:rPr>
              <a:t>📍 </a:t>
            </a:r>
            <a:r>
              <a:rPr sz="1100" b="0" i="0" dirty="0" err="1">
                <a:solidFill>
                  <a:srgbClr val="6B6B6B"/>
                </a:solidFill>
                <a:latin typeface="Calibri"/>
              </a:rPr>
              <a:t>Краснодар</a:t>
            </a:r>
            <a:endParaRPr sz="1100" b="0" i="0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85800" y="3701415"/>
            <a:ext cx="3246120" cy="127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251960" y="1188720"/>
            <a:ext cx="3703320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51960" y="1826895"/>
            <a:ext cx="3703320" cy="502920"/>
          </a:xfrm>
          <a:prstGeom prst="rect">
            <a:avLst/>
          </a:prstGeom>
          <a:solidFill>
            <a:srgbClr val="D55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34840" y="1826895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1826895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ПИЛОТ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512695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13131"/>
                </a:solidFill>
                <a:latin typeface="Calibri"/>
              </a:rPr>
              <a:t>И.П. РЫГАЛОВ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061335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55E0A"/>
                </a:solidFill>
                <a:latin typeface="Calibri"/>
              </a:rPr>
              <a:t>Пензенская область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335655"/>
            <a:ext cx="3246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📍 Пенза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3701415"/>
            <a:ext cx="3246120" cy="12700"/>
          </a:xfrm>
          <a:prstGeom prst="rect">
            <a:avLst/>
          </a:prstGeom>
          <a:solidFill>
            <a:srgbClr val="D55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046720" y="1188720"/>
            <a:ext cx="3703320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46720" y="1826895"/>
            <a:ext cx="3703320" cy="502920"/>
          </a:xfrm>
          <a:prstGeom prst="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0" y="1826895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1826895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ПИЛОТ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2512695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13131"/>
                </a:solidFill>
                <a:latin typeface="Calibri"/>
              </a:rPr>
              <a:t>БРОЗЕКС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3061335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13131"/>
                </a:solidFill>
                <a:latin typeface="Calibri"/>
              </a:rPr>
              <a:t>Свердловская область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373755"/>
            <a:ext cx="3246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📍 Екатеринбург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75320" y="3701415"/>
            <a:ext cx="3246120" cy="12700"/>
          </a:xfrm>
          <a:prstGeom prst="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36"/>
          <p:cNvSpPr/>
          <p:nvPr/>
        </p:nvSpPr>
        <p:spPr>
          <a:xfrm>
            <a:off x="457200" y="939165"/>
            <a:ext cx="11292840" cy="731520"/>
          </a:xfrm>
          <a:prstGeom prst="roundRect">
            <a:avLst>
              <a:gd name="adj" fmla="val 5000"/>
            </a:avLst>
          </a:prstGeom>
          <a:solidFill>
            <a:srgbClr val="FBE6D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</a:rPr>
              <a:t>Дистрибьюторский канал</a:t>
            </a:r>
          </a:p>
        </p:txBody>
      </p:sp>
      <p:sp>
        <p:nvSpPr>
          <p:cNvPr id="42" name="Rounded Rectangle 36"/>
          <p:cNvSpPr/>
          <p:nvPr/>
        </p:nvSpPr>
        <p:spPr>
          <a:xfrm>
            <a:off x="449427" y="4120515"/>
            <a:ext cx="11292840" cy="731520"/>
          </a:xfrm>
          <a:prstGeom prst="roundRect">
            <a:avLst>
              <a:gd name="adj" fmla="val 5000"/>
            </a:avLst>
          </a:prstGeom>
          <a:solidFill>
            <a:srgbClr val="FBE6D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</a:rPr>
              <a:t>Федеральные и региональные сети</a:t>
            </a:r>
          </a:p>
        </p:txBody>
      </p:sp>
      <p:sp>
        <p:nvSpPr>
          <p:cNvPr id="43" name="Rectangle 7"/>
          <p:cNvSpPr/>
          <p:nvPr/>
        </p:nvSpPr>
        <p:spPr>
          <a:xfrm>
            <a:off x="2377440" y="4991735"/>
            <a:ext cx="3703320" cy="50292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371726" y="5089306"/>
            <a:ext cx="369760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2000" b="1" i="0" dirty="0" smtClean="0">
                <a:solidFill>
                  <a:srgbClr val="313131"/>
                </a:solidFill>
                <a:latin typeface="Calibri"/>
              </a:rPr>
              <a:t>ЛЕМАНА ПРО</a:t>
            </a:r>
            <a:endParaRPr sz="2000" b="1" i="0" dirty="0">
              <a:solidFill>
                <a:srgbClr val="313131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606040" y="5570220"/>
            <a:ext cx="32461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300" b="1" dirty="0" smtClean="0">
                <a:solidFill>
                  <a:srgbClr val="F47629"/>
                </a:solidFill>
                <a:latin typeface="Calibri"/>
              </a:rPr>
              <a:t>ЮФО</a:t>
            </a:r>
            <a:endParaRPr sz="1300" b="1" i="0" dirty="0">
              <a:solidFill>
                <a:srgbClr val="F47629"/>
              </a:solidFill>
              <a:latin typeface="Calibri"/>
            </a:endParaRPr>
          </a:p>
        </p:txBody>
      </p:sp>
      <p:sp>
        <p:nvSpPr>
          <p:cNvPr id="49" name="Rectangle 13"/>
          <p:cNvSpPr/>
          <p:nvPr/>
        </p:nvSpPr>
        <p:spPr>
          <a:xfrm>
            <a:off x="4434840" y="6828155"/>
            <a:ext cx="3246120" cy="127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13"/>
          <p:cNvSpPr/>
          <p:nvPr/>
        </p:nvSpPr>
        <p:spPr>
          <a:xfrm>
            <a:off x="2611755" y="5863590"/>
            <a:ext cx="3246120" cy="127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7"/>
          <p:cNvSpPr/>
          <p:nvPr/>
        </p:nvSpPr>
        <p:spPr>
          <a:xfrm>
            <a:off x="6349364" y="4991734"/>
            <a:ext cx="3703320" cy="50292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43650" y="5089305"/>
            <a:ext cx="369760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2000" b="1" i="0" dirty="0" smtClean="0">
                <a:solidFill>
                  <a:srgbClr val="313131"/>
                </a:solidFill>
                <a:latin typeface="Calibri"/>
              </a:rPr>
              <a:t>ВАШ ДОМ</a:t>
            </a:r>
            <a:endParaRPr sz="2000" b="1" i="0" dirty="0">
              <a:solidFill>
                <a:srgbClr val="313131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469380" y="5570220"/>
            <a:ext cx="32461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300" b="1" dirty="0" smtClean="0">
                <a:solidFill>
                  <a:srgbClr val="F47629"/>
                </a:solidFill>
                <a:latin typeface="Calibri"/>
              </a:rPr>
              <a:t>ЮФО</a:t>
            </a:r>
            <a:endParaRPr sz="1300" b="1" i="0" dirty="0">
              <a:solidFill>
                <a:srgbClr val="F47629"/>
              </a:solidFill>
              <a:latin typeface="Calibri"/>
            </a:endParaRPr>
          </a:p>
        </p:txBody>
      </p:sp>
      <p:sp>
        <p:nvSpPr>
          <p:cNvPr id="44" name="Rectangle 13"/>
          <p:cNvSpPr/>
          <p:nvPr/>
        </p:nvSpPr>
        <p:spPr>
          <a:xfrm>
            <a:off x="6475095" y="5863590"/>
            <a:ext cx="3246120" cy="127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524821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Arial"/>
              </a:rPr>
              <a:t>KPI И КОНТРОЛЬ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Как измеряем успех  •  10 метрик по 3 этапам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630680"/>
            <a:ext cx="11460175" cy="369441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647657"/>
            <a:ext cx="11460175" cy="29751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ru-RU" sz="1600" b="1" i="0" dirty="0" smtClean="0">
                <a:solidFill>
                  <a:srgbClr val="1E3A5F"/>
                </a:solidFill>
                <a:latin typeface="Arial"/>
              </a:rPr>
              <a:t>Ц</a:t>
            </a:r>
            <a:r>
              <a:rPr sz="1600" b="1" i="0" dirty="0" err="1" smtClean="0">
                <a:solidFill>
                  <a:srgbClr val="1E3A5F"/>
                </a:solidFill>
                <a:latin typeface="Arial"/>
              </a:rPr>
              <a:t>ели</a:t>
            </a:r>
            <a:r>
              <a:rPr sz="1600" b="1" i="0" dirty="0" smtClean="0">
                <a:solidFill>
                  <a:srgbClr val="1E3A5F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1E3A5F"/>
                </a:solidFill>
                <a:latin typeface="Arial"/>
              </a:rPr>
              <a:t>по</a:t>
            </a:r>
            <a:r>
              <a:rPr sz="1600" b="1" i="0" dirty="0">
                <a:solidFill>
                  <a:srgbClr val="1E3A5F"/>
                </a:solidFill>
                <a:latin typeface="Arial"/>
              </a:rPr>
              <a:t> </a:t>
            </a:r>
            <a:r>
              <a:rPr lang="ru-RU" sz="1600" b="1" dirty="0" smtClean="0">
                <a:solidFill>
                  <a:srgbClr val="1E3A5F"/>
                </a:solidFill>
                <a:latin typeface="Arial"/>
              </a:rPr>
              <a:t>конкретным дистрибьюторам</a:t>
            </a:r>
            <a:endParaRPr sz="1600" b="1" i="0" dirty="0">
              <a:solidFill>
                <a:srgbClr val="1E3A5F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2335530"/>
            <a:ext cx="7315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2335530"/>
            <a:ext cx="731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Этап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335530"/>
            <a:ext cx="45720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2335530"/>
            <a:ext cx="45720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Метрика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2335530"/>
            <a:ext cx="36576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0" y="2335530"/>
            <a:ext cx="36576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Целевое значение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0" y="2335530"/>
            <a:ext cx="24688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0" y="2335530"/>
            <a:ext cx="24688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Периодичность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747010"/>
            <a:ext cx="73152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2747010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2747010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2747010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Объём закупок TITAN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2747010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60720" y="2873018"/>
            <a:ext cx="347472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 dirty="0" smtClean="0">
                <a:solidFill>
                  <a:srgbClr val="C62828"/>
                </a:solidFill>
                <a:latin typeface="Arial"/>
              </a:rPr>
              <a:t>+</a:t>
            </a:r>
            <a:r>
              <a:rPr lang="ru-RU" sz="1000" b="1" i="0" dirty="0" smtClean="0">
                <a:solidFill>
                  <a:srgbClr val="C62828"/>
                </a:solidFill>
                <a:latin typeface="Arial"/>
              </a:rPr>
              <a:t>____</a:t>
            </a:r>
            <a:r>
              <a:rPr sz="1000" b="1" i="0" dirty="0" smtClean="0">
                <a:solidFill>
                  <a:srgbClr val="C62828"/>
                </a:solidFill>
                <a:latin typeface="Arial"/>
              </a:rPr>
              <a:t>% </a:t>
            </a:r>
            <a:r>
              <a:rPr sz="1000" b="1" i="0" dirty="0">
                <a:solidFill>
                  <a:srgbClr val="C62828"/>
                </a:solidFill>
                <a:latin typeface="Arial"/>
              </a:rPr>
              <a:t>к </a:t>
            </a:r>
            <a:r>
              <a:rPr sz="1000" b="1" i="0" dirty="0" err="1">
                <a:solidFill>
                  <a:srgbClr val="C62828"/>
                </a:solidFill>
                <a:latin typeface="Arial"/>
              </a:rPr>
              <a:t>базовому</a:t>
            </a:r>
            <a:r>
              <a:rPr sz="1000" b="1" i="0" dirty="0">
                <a:solidFill>
                  <a:srgbClr val="C62828"/>
                </a:solidFill>
                <a:latin typeface="Arial"/>
              </a:rPr>
              <a:t> </a:t>
            </a:r>
            <a:r>
              <a:rPr sz="1000" b="1" i="0" dirty="0" err="1">
                <a:solidFill>
                  <a:srgbClr val="C62828"/>
                </a:solidFill>
                <a:latin typeface="Arial"/>
              </a:rPr>
              <a:t>периоду</a:t>
            </a:r>
            <a:endParaRPr sz="1000" b="1" i="0" dirty="0">
              <a:solidFill>
                <a:srgbClr val="C62828"/>
              </a:solidFill>
              <a:latin typeface="Arial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326880" y="2747010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8320" y="2747010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204210"/>
            <a:ext cx="73152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3204210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3204210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88720" y="3204210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Доля TITAN в ассортименте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3204210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60720" y="3330218"/>
            <a:ext cx="347472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 dirty="0" err="1" smtClean="0">
                <a:solidFill>
                  <a:srgbClr val="C62828"/>
                </a:solidFill>
                <a:latin typeface="Arial"/>
              </a:rPr>
              <a:t>Не</a:t>
            </a:r>
            <a:r>
              <a:rPr sz="1000" b="1" i="0" dirty="0" smtClean="0">
                <a:solidFill>
                  <a:srgbClr val="C62828"/>
                </a:solidFill>
                <a:latin typeface="Arial"/>
              </a:rPr>
              <a:t> </a:t>
            </a:r>
            <a:r>
              <a:rPr sz="1000" b="1" i="0" dirty="0" err="1" smtClean="0">
                <a:solidFill>
                  <a:srgbClr val="C62828"/>
                </a:solidFill>
                <a:latin typeface="Arial"/>
              </a:rPr>
              <a:t>менее</a:t>
            </a:r>
            <a:r>
              <a:rPr sz="1000" b="1" i="0" dirty="0" smtClean="0">
                <a:solidFill>
                  <a:srgbClr val="C62828"/>
                </a:solidFill>
                <a:latin typeface="Arial"/>
              </a:rPr>
              <a:t> </a:t>
            </a:r>
            <a:r>
              <a:rPr lang="ru-RU" sz="1000" b="1" i="0" dirty="0" smtClean="0">
                <a:solidFill>
                  <a:srgbClr val="C62828"/>
                </a:solidFill>
                <a:latin typeface="Arial"/>
              </a:rPr>
              <a:t>____</a:t>
            </a:r>
            <a:r>
              <a:rPr sz="1000" b="1" i="0" dirty="0" smtClean="0">
                <a:solidFill>
                  <a:srgbClr val="C62828"/>
                </a:solidFill>
                <a:latin typeface="Arial"/>
              </a:rPr>
              <a:t> </a:t>
            </a:r>
            <a:r>
              <a:rPr sz="1000" b="1" i="0" dirty="0" err="1" smtClean="0">
                <a:solidFill>
                  <a:srgbClr val="C62828"/>
                </a:solidFill>
                <a:latin typeface="Arial"/>
              </a:rPr>
              <a:t>цветов</a:t>
            </a:r>
            <a:r>
              <a:rPr sz="1000" b="1" i="0" dirty="0" smtClean="0">
                <a:solidFill>
                  <a:srgbClr val="C62828"/>
                </a:solidFill>
                <a:latin typeface="Arial"/>
              </a:rPr>
              <a:t> RAL</a:t>
            </a:r>
            <a:r>
              <a:rPr lang="ru-RU" sz="1000" b="1" i="0" dirty="0" smtClean="0">
                <a:solidFill>
                  <a:srgbClr val="C62828"/>
                </a:solidFill>
                <a:latin typeface="Arial"/>
              </a:rPr>
              <a:t> в __ категориях</a:t>
            </a:r>
            <a:endParaRPr sz="1000" b="1" i="0" dirty="0">
              <a:solidFill>
                <a:srgbClr val="C62828"/>
              </a:solidFill>
              <a:latin typeface="Arial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326880" y="3204210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18320" y="3204210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 dirty="0" err="1">
                <a:solidFill>
                  <a:srgbClr val="9CA3AF"/>
                </a:solidFill>
                <a:latin typeface="Arial"/>
              </a:rPr>
              <a:t>Ежеквартально</a:t>
            </a:r>
            <a:endParaRPr sz="900" b="0" i="1" dirty="0">
              <a:solidFill>
                <a:srgbClr val="9CA3AF"/>
              </a:solidFill>
              <a:latin typeface="Arial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65760" y="3661410"/>
            <a:ext cx="731520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3661410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7280" y="3661410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88720" y="3661410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Количество активных РТТ с TITAN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0" y="3661410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760720" y="3787418"/>
            <a:ext cx="347472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 dirty="0" smtClean="0">
                <a:solidFill>
                  <a:srgbClr val="F47920"/>
                </a:solidFill>
                <a:latin typeface="Arial"/>
              </a:rPr>
              <a:t>+</a:t>
            </a:r>
            <a:r>
              <a:rPr lang="ru-RU" sz="1000" b="1" dirty="0" smtClean="0">
                <a:solidFill>
                  <a:srgbClr val="F47920"/>
                </a:solidFill>
                <a:latin typeface="Arial"/>
              </a:rPr>
              <a:t>__</a:t>
            </a:r>
            <a:r>
              <a:rPr sz="1000" b="1" i="0" dirty="0" smtClean="0">
                <a:solidFill>
                  <a:srgbClr val="F47920"/>
                </a:solidFill>
                <a:latin typeface="Arial"/>
              </a:rPr>
              <a:t>% </a:t>
            </a:r>
            <a:r>
              <a:rPr sz="1000" b="1" i="0" dirty="0">
                <a:solidFill>
                  <a:srgbClr val="F47920"/>
                </a:solidFill>
                <a:latin typeface="Arial"/>
              </a:rPr>
              <a:t>к </a:t>
            </a:r>
            <a:r>
              <a:rPr sz="1000" b="1" i="0" dirty="0" err="1">
                <a:solidFill>
                  <a:srgbClr val="F47920"/>
                </a:solidFill>
                <a:latin typeface="Arial"/>
              </a:rPr>
              <a:t>базовому</a:t>
            </a:r>
            <a:r>
              <a:rPr sz="1000" b="1" i="0" dirty="0">
                <a:solidFill>
                  <a:srgbClr val="F47920"/>
                </a:solidFill>
                <a:latin typeface="Arial"/>
              </a:rPr>
              <a:t> </a:t>
            </a:r>
            <a:r>
              <a:rPr sz="1000" b="1" i="0" dirty="0" err="1">
                <a:solidFill>
                  <a:srgbClr val="F47920"/>
                </a:solidFill>
                <a:latin typeface="Arial"/>
              </a:rPr>
              <a:t>периоду</a:t>
            </a:r>
            <a:endParaRPr sz="1000" b="1" i="0" dirty="0">
              <a:solidFill>
                <a:srgbClr val="F47920"/>
              </a:solidFill>
              <a:latin typeface="Arial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9326880" y="3661410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418320" y="3661410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118610"/>
            <a:ext cx="731520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60" y="4118610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97280" y="4118610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88720" y="4244618"/>
            <a:ext cx="438912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 dirty="0" err="1">
                <a:solidFill>
                  <a:srgbClr val="1A1F36"/>
                </a:solidFill>
                <a:latin typeface="Arial"/>
              </a:rPr>
              <a:t>Охват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ТП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обучением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0" y="4118610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760720" y="4244618"/>
            <a:ext cx="347472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ru-RU" sz="1000" b="1" dirty="0" smtClean="0">
                <a:solidFill>
                  <a:srgbClr val="F47920"/>
                </a:solidFill>
                <a:latin typeface="Arial"/>
              </a:rPr>
              <a:t>___</a:t>
            </a:r>
            <a:r>
              <a:rPr sz="1000" b="1" i="0" dirty="0" smtClean="0">
                <a:solidFill>
                  <a:srgbClr val="F47920"/>
                </a:solidFill>
                <a:latin typeface="Arial"/>
              </a:rPr>
              <a:t>% ТП</a:t>
            </a:r>
            <a:r>
              <a:rPr lang="ru-RU" sz="1000" b="1" i="0" dirty="0" smtClean="0">
                <a:solidFill>
                  <a:srgbClr val="F47920"/>
                </a:solidFill>
                <a:latin typeface="Arial"/>
              </a:rPr>
              <a:t> </a:t>
            </a:r>
            <a:r>
              <a:rPr sz="1000" b="1" i="0" dirty="0" err="1" smtClean="0">
                <a:solidFill>
                  <a:srgbClr val="F47920"/>
                </a:solidFill>
                <a:latin typeface="Arial"/>
              </a:rPr>
              <a:t>дистрибьютор</a:t>
            </a:r>
            <a:r>
              <a:rPr lang="ru-RU" sz="1000" b="1" i="0" dirty="0" err="1" smtClean="0">
                <a:solidFill>
                  <a:srgbClr val="F47920"/>
                </a:solidFill>
                <a:latin typeface="Arial"/>
              </a:rPr>
              <a:t>ов</a:t>
            </a:r>
            <a:endParaRPr sz="1000" b="1" i="0" dirty="0">
              <a:solidFill>
                <a:srgbClr val="F47920"/>
              </a:solidFill>
              <a:latin typeface="Arial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9326880" y="4118610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418320" y="4252312"/>
            <a:ext cx="2286000" cy="18979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 dirty="0">
                <a:solidFill>
                  <a:srgbClr val="9CA3AF"/>
                </a:solidFill>
                <a:latin typeface="Arial"/>
              </a:rPr>
              <a:t>К </a:t>
            </a:r>
            <a:r>
              <a:rPr lang="en-US" sz="900" b="0" i="1" dirty="0" smtClean="0">
                <a:solidFill>
                  <a:srgbClr val="9CA3AF"/>
                </a:solidFill>
                <a:latin typeface="Arial"/>
              </a:rPr>
              <a:t>2</a:t>
            </a:r>
            <a:r>
              <a:rPr sz="900" b="0" i="1" dirty="0" smtClean="0">
                <a:solidFill>
                  <a:srgbClr val="9CA3AF"/>
                </a:solidFill>
                <a:latin typeface="Arial"/>
              </a:rPr>
              <a:t>-му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месяцу</a:t>
            </a:r>
            <a:endParaRPr sz="900" b="0" i="1" dirty="0">
              <a:solidFill>
                <a:srgbClr val="9CA3AF"/>
              </a:solidFill>
              <a:latin typeface="Arial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365760" y="4575810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65760" y="4575810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97280" y="4575810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188720" y="4575810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 dirty="0" err="1">
                <a:solidFill>
                  <a:srgbClr val="1A1F36"/>
                </a:solidFill>
                <a:latin typeface="Arial"/>
              </a:rPr>
              <a:t>Точки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с POS-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материалами</a:t>
            </a:r>
            <a:endParaRPr sz="10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5669280" y="4575810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760720" y="4701818"/>
            <a:ext cx="347472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ru-RU" sz="1000" b="1" i="0" dirty="0" smtClean="0">
                <a:solidFill>
                  <a:srgbClr val="16A34A"/>
                </a:solidFill>
                <a:latin typeface="Arial"/>
              </a:rPr>
              <a:t>____</a:t>
            </a:r>
            <a:r>
              <a:rPr sz="1000" b="1" i="0" dirty="0" smtClean="0">
                <a:solidFill>
                  <a:srgbClr val="16A34A"/>
                </a:solidFill>
                <a:latin typeface="Arial"/>
              </a:rPr>
              <a:t>% </a:t>
            </a:r>
            <a:r>
              <a:rPr sz="1000" b="1" i="0" dirty="0" err="1">
                <a:solidFill>
                  <a:srgbClr val="16A34A"/>
                </a:solidFill>
                <a:latin typeface="Arial"/>
              </a:rPr>
              <a:t>точек</a:t>
            </a:r>
            <a:r>
              <a:rPr sz="1000" b="1" i="0" dirty="0">
                <a:solidFill>
                  <a:srgbClr val="16A34A"/>
                </a:solidFill>
                <a:latin typeface="Arial"/>
              </a:rPr>
              <a:t> с TITAN </a:t>
            </a:r>
            <a:r>
              <a:rPr sz="1000" b="1" i="0" dirty="0" err="1">
                <a:solidFill>
                  <a:srgbClr val="16A34A"/>
                </a:solidFill>
                <a:latin typeface="Arial"/>
              </a:rPr>
              <a:t>на</a:t>
            </a:r>
            <a:r>
              <a:rPr sz="1000" b="1" i="0" dirty="0">
                <a:solidFill>
                  <a:srgbClr val="16A34A"/>
                </a:solidFill>
                <a:latin typeface="Arial"/>
              </a:rPr>
              <a:t> </a:t>
            </a:r>
            <a:r>
              <a:rPr sz="1000" b="1" i="0" dirty="0" err="1">
                <a:solidFill>
                  <a:srgbClr val="16A34A"/>
                </a:solidFill>
                <a:latin typeface="Arial"/>
              </a:rPr>
              <a:t>полке</a:t>
            </a:r>
            <a:endParaRPr sz="1000" b="1" i="0" dirty="0">
              <a:solidFill>
                <a:srgbClr val="16A34A"/>
              </a:solidFill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9326880" y="4575810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418320" y="4709512"/>
            <a:ext cx="2286000" cy="18979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 dirty="0">
                <a:solidFill>
                  <a:srgbClr val="9CA3AF"/>
                </a:solidFill>
                <a:latin typeface="Arial"/>
              </a:rPr>
              <a:t>К </a:t>
            </a:r>
            <a:r>
              <a:rPr lang="en-US" sz="900" i="1" dirty="0">
                <a:solidFill>
                  <a:srgbClr val="9CA3AF"/>
                </a:solidFill>
                <a:latin typeface="Arial"/>
              </a:rPr>
              <a:t>3</a:t>
            </a:r>
            <a:r>
              <a:rPr sz="900" b="0" i="1" dirty="0" smtClean="0">
                <a:solidFill>
                  <a:srgbClr val="9CA3AF"/>
                </a:solidFill>
                <a:latin typeface="Arial"/>
              </a:rPr>
              <a:t>-му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месяцу</a:t>
            </a:r>
            <a:endParaRPr sz="900" b="0" i="1" dirty="0">
              <a:solidFill>
                <a:srgbClr val="9CA3AF"/>
              </a:solidFill>
              <a:latin typeface="Arial"/>
            </a:endParaRPr>
          </a:p>
        </p:txBody>
      </p:sp>
      <p:sp>
        <p:nvSpPr>
          <p:cNvPr id="99" name="Rectangle 80"/>
          <p:cNvSpPr/>
          <p:nvPr/>
        </p:nvSpPr>
        <p:spPr>
          <a:xfrm>
            <a:off x="365760" y="5033010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365760" y="5033010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1" name="Rectangle 82"/>
          <p:cNvSpPr/>
          <p:nvPr/>
        </p:nvSpPr>
        <p:spPr>
          <a:xfrm>
            <a:off x="1097280" y="5033010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1188720" y="5033010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Сканирования QR-кода</a:t>
            </a:r>
          </a:p>
        </p:txBody>
      </p:sp>
      <p:sp>
        <p:nvSpPr>
          <p:cNvPr id="103" name="Rectangle 84"/>
          <p:cNvSpPr/>
          <p:nvPr/>
        </p:nvSpPr>
        <p:spPr>
          <a:xfrm>
            <a:off x="5669280" y="5033010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5760720" y="5159018"/>
            <a:ext cx="347472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ru-RU" sz="1000" b="1" i="0" dirty="0" smtClean="0">
                <a:solidFill>
                  <a:srgbClr val="16A34A"/>
                </a:solidFill>
                <a:latin typeface="Arial"/>
              </a:rPr>
              <a:t>____</a:t>
            </a:r>
            <a:r>
              <a:rPr sz="1000" b="1" i="0" dirty="0" err="1" smtClean="0">
                <a:solidFill>
                  <a:srgbClr val="16A34A"/>
                </a:solidFill>
                <a:latin typeface="Arial"/>
              </a:rPr>
              <a:t>сканов</a:t>
            </a:r>
            <a:r>
              <a:rPr sz="1000" b="1" i="0" dirty="0" smtClean="0">
                <a:solidFill>
                  <a:srgbClr val="16A34A"/>
                </a:solidFill>
                <a:latin typeface="Arial"/>
              </a:rPr>
              <a:t>/</a:t>
            </a:r>
            <a:r>
              <a:rPr sz="1000" b="1" i="0" dirty="0" err="1" smtClean="0">
                <a:solidFill>
                  <a:srgbClr val="16A34A"/>
                </a:solidFill>
                <a:latin typeface="Arial"/>
              </a:rPr>
              <a:t>мес</a:t>
            </a:r>
            <a:endParaRPr sz="1000" b="1" i="0" dirty="0">
              <a:solidFill>
                <a:srgbClr val="16A34A"/>
              </a:solidFill>
              <a:latin typeface="Arial"/>
            </a:endParaRPr>
          </a:p>
        </p:txBody>
      </p:sp>
      <p:sp>
        <p:nvSpPr>
          <p:cNvPr id="105" name="Rectangle 86"/>
          <p:cNvSpPr/>
          <p:nvPr/>
        </p:nvSpPr>
        <p:spPr>
          <a:xfrm>
            <a:off x="9326880" y="5033010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9418320" y="5033010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00149" y="2644103"/>
            <a:ext cx="10020301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6000" b="1" dirty="0" smtClean="0">
                <a:solidFill>
                  <a:srgbClr val="F47629"/>
                </a:solidFill>
                <a:latin typeface="+mj-lt"/>
              </a:rPr>
              <a:t>ДИСТРИБУТОРСКИЙ КАНАЛ</a:t>
            </a:r>
            <a:endParaRPr sz="6000" b="1" dirty="0">
              <a:solidFill>
                <a:srgbClr val="F47629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50748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6827"/>
            <a:ext cx="11460175" cy="38985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ru-RU" sz="2200" b="1" i="0" dirty="0" smtClean="0">
                <a:solidFill>
                  <a:srgbClr val="FFFFFF"/>
                </a:solidFill>
                <a:latin typeface="Arial"/>
              </a:rPr>
              <a:t>ЭТАП 1. </a:t>
            </a:r>
            <a:r>
              <a:rPr sz="2200" b="1" i="0" dirty="0" smtClean="0">
                <a:solidFill>
                  <a:srgbClr val="FFFFFF"/>
                </a:solidFill>
                <a:latin typeface="Arial"/>
              </a:rPr>
              <a:t>POS-МАТЕРИАЛЫ 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НА ПОЛКЕ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431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9431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431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431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ШЕЛФТОКЕР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750" y="5324475"/>
            <a:ext cx="2103120" cy="4667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полку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с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выкладкой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Титан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
</a:t>
            </a:r>
            <a:r>
              <a:rPr lang="ru-RU" sz="900" dirty="0">
                <a:solidFill>
                  <a:srgbClr val="1A1F36"/>
                </a:solidFill>
                <a:latin typeface="Arial"/>
              </a:rPr>
              <a:t>Красишь 1 раз — служит 10 лет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!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
+ QR-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код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titanpaints.ru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7175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57175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7175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175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ВОБЛЕР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1470" y="5336574"/>
            <a:ext cx="210312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ru-RU" sz="900" dirty="0">
                <a:solidFill>
                  <a:srgbClr val="1A1F36"/>
                </a:solidFill>
                <a:latin typeface="Arial"/>
              </a:rPr>
              <a:t>На полку с выкладкой Титан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.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94919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94919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4919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4919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БРЕНДИРОВАННЫЙ ЦЕННИК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50155" y="5286375"/>
            <a:ext cx="210312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ru-RU" sz="900" b="0" i="0" dirty="0" err="1" smtClean="0">
                <a:solidFill>
                  <a:srgbClr val="1A1F36"/>
                </a:solidFill>
                <a:latin typeface="Arial"/>
              </a:rPr>
              <a:t>Брендированный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 smtClean="0">
                <a:solidFill>
                  <a:srgbClr val="1A1F36"/>
                </a:solidFill>
                <a:latin typeface="Arial"/>
              </a:rPr>
              <a:t>цен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ник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32663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2663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2663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26630" y="1176675"/>
            <a:ext cx="2286000" cy="38985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ru-RU" sz="1100" b="1" i="0" dirty="0" smtClean="0">
                <a:solidFill>
                  <a:srgbClr val="FFFFFF"/>
                </a:solidFill>
                <a:latin typeface="Arial"/>
              </a:rPr>
              <a:t>ЛИСТОВКА / </a:t>
            </a:r>
            <a:r>
              <a:rPr sz="1100" b="1" i="0" dirty="0" smtClean="0">
                <a:solidFill>
                  <a:srgbClr val="FFFFFF"/>
                </a:solidFill>
                <a:latin typeface="Arial"/>
              </a:rPr>
              <a:t>ПОРТФОЛИО </a:t>
            </a:r>
            <a:r>
              <a:rPr sz="1100" b="1" i="0" dirty="0">
                <a:solidFill>
                  <a:srgbClr val="FFFFFF"/>
                </a:solidFill>
                <a:latin typeface="Arial"/>
              </a:rPr>
              <a:t>ОБЪЕКТОВ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18070" y="4991100"/>
            <a:ext cx="2103120" cy="88229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Наиболее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распространённые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объекты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
с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экономическими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параметрами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ССВ.
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Ворота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, </a:t>
            </a:r>
            <a:r>
              <a:rPr lang="ru-RU" sz="900" dirty="0" smtClean="0">
                <a:solidFill>
                  <a:srgbClr val="1A1F36"/>
                </a:solidFill>
                <a:latin typeface="Arial"/>
              </a:rPr>
              <a:t>дверь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, 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гараж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.</a:t>
            </a:r>
            <a:endParaRPr lang="ru-RU" sz="900" b="0" i="0" dirty="0" smtClean="0">
              <a:solidFill>
                <a:srgbClr val="1A1F36"/>
              </a:solidFill>
              <a:latin typeface="Arial"/>
            </a:endParaRPr>
          </a:p>
          <a:p>
            <a:pPr algn="l"/>
            <a:r>
              <a:rPr lang="ru-RU" sz="900" dirty="0" smtClean="0">
                <a:solidFill>
                  <a:srgbClr val="1A1F36"/>
                </a:solidFill>
                <a:latin typeface="Arial"/>
              </a:rPr>
              <a:t>На сайте и на листовке</a:t>
            </a:r>
          </a:p>
          <a:p>
            <a:pPr algn="l"/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Для развития АКБ и </a:t>
            </a:r>
            <a:r>
              <a:rPr lang="en-US" sz="900" b="0" i="0" dirty="0" smtClean="0">
                <a:solidFill>
                  <a:srgbClr val="1A1F36"/>
                </a:solidFill>
                <a:latin typeface="Arial"/>
              </a:rPr>
              <a:t>B2B 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клиентов.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970407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70407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0407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 dirty="0">
                <a:solidFill>
                  <a:srgbClr val="FBBF24"/>
                </a:solidFill>
                <a:latin typeface="Arial"/>
              </a:rPr>
              <a:t>ИНСТРУМЕНТ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407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 dirty="0" smtClean="0">
                <a:solidFill>
                  <a:srgbClr val="FFFFFF"/>
                </a:solidFill>
                <a:latin typeface="Arial"/>
              </a:rPr>
              <a:t>MML + ПЛАНОГРАММА</a:t>
            </a:r>
            <a:endParaRPr sz="11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795510" y="5191125"/>
            <a:ext cx="2103120" cy="4667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 smtClean="0">
                <a:solidFill>
                  <a:srgbClr val="1A1F36"/>
                </a:solidFill>
                <a:latin typeface="Arial"/>
              </a:rPr>
              <a:t>Выкладка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lang="en-US" altLang="zh-CN" sz="900" dirty="0" smtClean="0">
                <a:solidFill>
                  <a:srgbClr val="1A1F36"/>
                </a:solidFill>
                <a:latin typeface="Arial"/>
              </a:rPr>
              <a:t>TITAN</a:t>
            </a:r>
            <a:r>
              <a:rPr lang="ru-RU" altLang="zh-CN" sz="900" dirty="0" smtClean="0">
                <a:solidFill>
                  <a:srgbClr val="1A1F36"/>
                </a:solidFill>
                <a:latin typeface="Arial"/>
              </a:rPr>
              <a:t> для унификации выкладки с учетом разных торговых точек</a:t>
            </a:r>
          </a:p>
        </p:txBody>
      </p:sp>
      <p:pic>
        <p:nvPicPr>
          <p:cNvPr id="38" name="Рисунок 37" descr="Шелфтокер пример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1" t="7246" b="24059"/>
          <a:stretch>
            <a:fillRect/>
          </a:stretch>
        </p:blipFill>
        <p:spPr bwMode="auto">
          <a:xfrm>
            <a:off x="346731" y="1691640"/>
            <a:ext cx="1981155" cy="1890333"/>
          </a:xfrm>
          <a:prstGeom prst="rect">
            <a:avLst/>
          </a:prstGeom>
          <a:noFill/>
        </p:spPr>
      </p:pic>
      <p:pic>
        <p:nvPicPr>
          <p:cNvPr id="39" name="Рисунок 38" descr="Воблер пример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8014" y="1689870"/>
            <a:ext cx="1970033" cy="1890333"/>
          </a:xfrm>
          <a:prstGeom prst="rect">
            <a:avLst/>
          </a:prstGeom>
          <a:noFill/>
        </p:spPr>
      </p:pic>
      <p:pic>
        <p:nvPicPr>
          <p:cNvPr id="40" name="Picture 4"/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1" r="10137"/>
          <a:stretch/>
        </p:blipFill>
        <p:spPr>
          <a:xfrm>
            <a:off x="5031728" y="1708920"/>
            <a:ext cx="2130634" cy="189033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32" y="3718308"/>
            <a:ext cx="1981155" cy="716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1675" y="3718308"/>
            <a:ext cx="2052915" cy="1410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1105" y="3718308"/>
            <a:ext cx="2114508" cy="1291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06"/>
          <a:stretch/>
        </p:blipFill>
        <p:spPr bwMode="auto">
          <a:xfrm>
            <a:off x="9801624" y="2402904"/>
            <a:ext cx="2087481" cy="1588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8244" y="1711157"/>
            <a:ext cx="1976775" cy="2832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-176750"/>
            <a:ext cx="11460175" cy="72840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endParaRPr lang="en-US" sz="2200" b="1" dirty="0">
              <a:solidFill>
                <a:srgbClr val="FFFFFF"/>
              </a:solidFill>
              <a:latin typeface="Arial"/>
            </a:endParaRPr>
          </a:p>
          <a:p>
            <a:r>
              <a:rPr lang="ru-RU" sz="2200" b="1" dirty="0">
                <a:solidFill>
                  <a:srgbClr val="FFFFFF"/>
                </a:solidFill>
                <a:latin typeface="Arial"/>
              </a:rPr>
              <a:t>ЭТАП 1. </a:t>
            </a:r>
            <a:r>
              <a:rPr sz="2200" b="1" i="0" dirty="0" smtClean="0">
                <a:solidFill>
                  <a:srgbClr val="FFFFFF"/>
                </a:solidFill>
                <a:latin typeface="Arial"/>
              </a:rPr>
              <a:t>КОНТЕНТ 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И ОБУЧЕНИЕ ПОКУПАТЕЛЯ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183771"/>
            <a:ext cx="4206240" cy="23596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 dirty="0" err="1">
                <a:solidFill>
                  <a:srgbClr val="FFFFFF"/>
                </a:solidFill>
                <a:latin typeface="Arial"/>
              </a:rPr>
              <a:t>Инструменты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FFFFFF"/>
                </a:solidFill>
                <a:latin typeface="Arial"/>
              </a:rPr>
              <a:t>6-9</a:t>
            </a:r>
            <a:endParaRPr sz="120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960120"/>
            <a:ext cx="27889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ИНСТРУКЦИЯ ПО НАНЕСЕНИЮ</a:t>
            </a:r>
          </a:p>
        </p:txBody>
      </p:sp>
      <p:pic>
        <p:nvPicPr>
          <p:cNvPr id="11" name="Picture 10" descr="06_instruction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45920"/>
            <a:ext cx="2514600" cy="1554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3320415"/>
            <a:ext cx="2606040" cy="4667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Пошаговая быстрая видео</a:t>
            </a:r>
            <a:r>
              <a:rPr sz="900" b="0" i="0" dirty="0" err="1" smtClean="0">
                <a:solidFill>
                  <a:srgbClr val="1A1F36"/>
                </a:solidFill>
                <a:latin typeface="Arial"/>
              </a:rPr>
              <a:t>инструкция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для конечного потребителя(текст + видео)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
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464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403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94640" y="1002382"/>
            <a:ext cx="2788920" cy="18979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 dirty="0">
                <a:solidFill>
                  <a:srgbClr val="FBBF24"/>
                </a:solidFill>
                <a:latin typeface="Arial"/>
              </a:rPr>
              <a:t>ИНСТРУМЕНТ </a:t>
            </a:r>
            <a:r>
              <a:rPr lang="ru-RU" sz="900" b="1" i="0" dirty="0" smtClean="0">
                <a:solidFill>
                  <a:srgbClr val="FBBF24"/>
                </a:solidFill>
                <a:latin typeface="Arial"/>
              </a:rPr>
              <a:t>8</a:t>
            </a:r>
            <a:endParaRPr sz="900" b="1" i="0" dirty="0">
              <a:solidFill>
                <a:srgbClr val="FBBF24"/>
              </a:solidFill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9464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ФОТО/ВИДЕО POSm НА ОБЛАКЕ</a:t>
            </a:r>
          </a:p>
        </p:txBody>
      </p:sp>
      <p:pic>
        <p:nvPicPr>
          <p:cNvPr id="17" name="Picture 16" descr="07_cloud_pos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1800" y="1645920"/>
            <a:ext cx="2514600" cy="1554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86080" y="3291840"/>
            <a:ext cx="2606040" cy="4667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Материалы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для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розничных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точек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
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облаке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 </a:t>
            </a:r>
            <a:r>
              <a:rPr lang="ru-RU" sz="900" dirty="0" smtClean="0">
                <a:solidFill>
                  <a:srgbClr val="1A1F36"/>
                </a:solidFill>
                <a:latin typeface="Arial"/>
              </a:rPr>
              <a:t>Исходники продукции, листовка, видеоролики, примеры </a:t>
            </a:r>
            <a:r>
              <a:rPr sz="900" b="0" i="0" dirty="0" err="1" smtClean="0">
                <a:solidFill>
                  <a:srgbClr val="1A1F36"/>
                </a:solidFill>
                <a:latin typeface="Arial"/>
              </a:rPr>
              <a:t>выклад</a:t>
            </a:r>
            <a:r>
              <a:rPr lang="ru-RU" sz="900" b="0" i="0" dirty="0" err="1" smtClean="0">
                <a:solidFill>
                  <a:srgbClr val="1A1F36"/>
                </a:solidFill>
                <a:latin typeface="Arial"/>
              </a:rPr>
              <a:t>ок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,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135234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35234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35234" y="1002382"/>
            <a:ext cx="2788920" cy="18979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 dirty="0">
                <a:solidFill>
                  <a:srgbClr val="FBBF24"/>
                </a:solidFill>
                <a:latin typeface="Arial"/>
              </a:rPr>
              <a:t>ИНСТРУМЕНТ </a:t>
            </a:r>
            <a:r>
              <a:rPr lang="ru-RU" sz="900" b="1" i="0" dirty="0" smtClean="0">
                <a:solidFill>
                  <a:srgbClr val="FBBF24"/>
                </a:solidFill>
                <a:latin typeface="Arial"/>
              </a:rPr>
              <a:t>9</a:t>
            </a:r>
            <a:endParaRPr sz="900" b="1" i="0" dirty="0">
              <a:solidFill>
                <a:srgbClr val="FBBF24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35234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КОНТЕНТ ДЛЯ СОЦСЕТЕЙ</a:t>
            </a:r>
          </a:p>
        </p:txBody>
      </p:sp>
      <p:pic>
        <p:nvPicPr>
          <p:cNvPr id="23" name="Picture 22" descr="08_social_cont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2394" y="1645920"/>
            <a:ext cx="2514600" cy="1554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26674" y="3291840"/>
            <a:ext cx="2606040" cy="4667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Папка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облаке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с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библиотекой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
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готовых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постов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про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 smtClean="0">
                <a:solidFill>
                  <a:srgbClr val="1A1F36"/>
                </a:solidFill>
                <a:latin typeface="Arial"/>
              </a:rPr>
              <a:t>Титан</a:t>
            </a:r>
            <a:r>
              <a:rPr lang="en-US"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для </a:t>
            </a:r>
            <a:r>
              <a:rPr lang="en-US" sz="900" b="0" i="0" dirty="0" smtClean="0">
                <a:solidFill>
                  <a:srgbClr val="1A1F36"/>
                </a:solidFill>
                <a:latin typeface="Arial"/>
              </a:rPr>
              <a:t>SMM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
(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картинка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+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текст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63385" y="927292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63385" y="927292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63385" y="1015274"/>
            <a:ext cx="2788920" cy="18979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 dirty="0">
                <a:solidFill>
                  <a:srgbClr val="FBBF24"/>
                </a:solidFill>
                <a:latin typeface="Arial"/>
              </a:rPr>
              <a:t>ИНСТРУМЕНТ </a:t>
            </a:r>
            <a:r>
              <a:rPr lang="ru-RU" sz="900" b="1" i="0" dirty="0" smtClean="0">
                <a:solidFill>
                  <a:srgbClr val="FBBF24"/>
                </a:solidFill>
                <a:latin typeface="Arial"/>
              </a:rPr>
              <a:t>7</a:t>
            </a:r>
            <a:endParaRPr sz="900" b="1" i="0" dirty="0">
              <a:solidFill>
                <a:srgbClr val="FBBF24"/>
              </a:solidFill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263385" y="1201612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ВИДЕОРОЛИКИ</a:t>
            </a:r>
          </a:p>
        </p:txBody>
      </p:sp>
      <p:pic>
        <p:nvPicPr>
          <p:cNvPr id="29" name="Picture 28" descr="09_video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0545" y="1658812"/>
            <a:ext cx="2514600" cy="1554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354825" y="3199957"/>
            <a:ext cx="2606040" cy="6052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1. </a:t>
            </a:r>
            <a:r>
              <a:rPr lang="ru-RU" sz="900" b="0" i="0" dirty="0" err="1" smtClean="0">
                <a:solidFill>
                  <a:srgbClr val="1A1F36"/>
                </a:solidFill>
                <a:latin typeface="Arial"/>
              </a:rPr>
              <a:t>Видеопортфолио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 </a:t>
            </a:r>
            <a:br>
              <a:rPr lang="ru-RU" sz="900" b="0" i="0" dirty="0" smtClean="0">
                <a:solidFill>
                  <a:srgbClr val="1A1F36"/>
                </a:solidFill>
                <a:latin typeface="Arial"/>
              </a:rPr>
            </a:b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2. Видеоролик д</a:t>
            </a:r>
            <a:r>
              <a:rPr sz="900" b="0" i="0" dirty="0" err="1" smtClean="0">
                <a:solidFill>
                  <a:srgbClr val="1A1F36"/>
                </a:solidFill>
                <a:latin typeface="Arial"/>
              </a:rPr>
              <a:t>ля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ТП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общего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прайса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:
УТП,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свойства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,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выгода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по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Титан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
+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ролик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скрипт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продажи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59" y="4297680"/>
            <a:ext cx="5686545" cy="19202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4389120"/>
            <a:ext cx="530352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1200" b="1" i="0" dirty="0" smtClean="0">
                <a:solidFill>
                  <a:srgbClr val="16A34A"/>
                </a:solidFill>
                <a:latin typeface="Arial"/>
              </a:rPr>
              <a:t>QR-КОД </a:t>
            </a:r>
            <a:r>
              <a:rPr sz="1200" b="1" i="0" dirty="0">
                <a:solidFill>
                  <a:srgbClr val="16A34A"/>
                </a:solidFill>
                <a:latin typeface="Arial"/>
              </a:rPr>
              <a:t>НА </a:t>
            </a:r>
            <a:r>
              <a:rPr lang="en-US" sz="1200" b="1" dirty="0" err="1" smtClean="0">
                <a:solidFill>
                  <a:srgbClr val="16A34A"/>
                </a:solidFill>
                <a:latin typeface="Arial"/>
              </a:rPr>
              <a:t>POSm</a:t>
            </a:r>
            <a:r>
              <a:rPr lang="ru-RU" sz="1200" b="1" dirty="0">
                <a:solidFill>
                  <a:srgbClr val="16A34A"/>
                </a:solidFill>
                <a:latin typeface="Arial"/>
              </a:rPr>
              <a:t> / </a:t>
            </a:r>
            <a:r>
              <a:rPr lang="ru-RU" sz="1200" b="1" dirty="0" smtClean="0">
                <a:solidFill>
                  <a:srgbClr val="16A34A"/>
                </a:solidFill>
                <a:latin typeface="Arial"/>
              </a:rPr>
              <a:t>на </a:t>
            </a:r>
            <a:r>
              <a:rPr lang="ru-RU" sz="1200" b="1" dirty="0">
                <a:solidFill>
                  <a:srgbClr val="16A34A"/>
                </a:solidFill>
                <a:latin typeface="Arial"/>
              </a:rPr>
              <a:t>банке </a:t>
            </a:r>
            <a:endParaRPr sz="1200" b="1" i="0" dirty="0">
              <a:solidFill>
                <a:srgbClr val="16A34A"/>
              </a:solidFill>
              <a:latin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10541" y="4754880"/>
            <a:ext cx="5194934" cy="89768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ru-RU" sz="1100" b="0" i="0" dirty="0" smtClean="0">
                <a:solidFill>
                  <a:srgbClr val="1A1F36"/>
                </a:solidFill>
                <a:latin typeface="Arial"/>
              </a:rPr>
              <a:t>Добавление </a:t>
            </a:r>
            <a:r>
              <a:rPr lang="en-US" sz="1100" b="0" i="0" dirty="0" smtClean="0">
                <a:solidFill>
                  <a:srgbClr val="1A1F36"/>
                </a:solidFill>
                <a:latin typeface="Arial"/>
              </a:rPr>
              <a:t>UTM </a:t>
            </a:r>
            <a:r>
              <a:rPr lang="ru-RU" sz="1100" b="0" i="0" dirty="0" smtClean="0">
                <a:solidFill>
                  <a:srgbClr val="1A1F36"/>
                </a:solidFill>
                <a:latin typeface="Arial"/>
              </a:rPr>
              <a:t>меток для отслеживания переходов через </a:t>
            </a:r>
            <a:r>
              <a:rPr sz="1100" b="0" i="0" dirty="0" smtClean="0">
                <a:solidFill>
                  <a:srgbClr val="1A1F36"/>
                </a:solidFill>
                <a:latin typeface="Arial"/>
              </a:rPr>
              <a:t>QR-</a:t>
            </a:r>
            <a:r>
              <a:rPr lang="ru-RU" sz="1100" b="0" i="0" dirty="0" smtClean="0">
                <a:solidFill>
                  <a:srgbClr val="1A1F36"/>
                </a:solidFill>
                <a:latin typeface="Arial"/>
              </a:rPr>
              <a:t> на </a:t>
            </a:r>
            <a:r>
              <a:rPr lang="en-US" sz="1100" b="0" i="0" dirty="0" err="1" smtClean="0">
                <a:solidFill>
                  <a:srgbClr val="1A1F36"/>
                </a:solidFill>
                <a:latin typeface="Arial"/>
              </a:rPr>
              <a:t>POSm</a:t>
            </a:r>
            <a:r>
              <a:rPr lang="en-US" sz="1100" b="0" i="0" dirty="0" smtClean="0">
                <a:solidFill>
                  <a:srgbClr val="1A1F36"/>
                </a:solidFill>
                <a:latin typeface="Arial"/>
              </a:rPr>
              <a:t> / </a:t>
            </a:r>
            <a:r>
              <a:rPr sz="1100" b="0" i="0" dirty="0" err="1" smtClean="0">
                <a:solidFill>
                  <a:srgbClr val="1A1F36"/>
                </a:solidFill>
                <a:latin typeface="Arial"/>
              </a:rPr>
              <a:t>код</a:t>
            </a:r>
            <a:r>
              <a:rPr sz="11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банке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→ </a:t>
            </a:r>
            <a:r>
              <a:rPr lang="ru-RU" sz="11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 smtClean="0">
                <a:solidFill>
                  <a:srgbClr val="1A1F36"/>
                </a:solidFill>
                <a:latin typeface="Arial"/>
              </a:rPr>
              <a:t>видеоинструкция</a:t>
            </a:r>
            <a:r>
              <a:rPr sz="11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использования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smtClean="0">
                <a:solidFill>
                  <a:srgbClr val="1A1F36"/>
                </a:solidFill>
                <a:latin typeface="Arial"/>
              </a:rPr>
              <a:t>+</a:t>
            </a:r>
            <a:r>
              <a:rPr lang="ru-RU" sz="1100" b="0" i="0" dirty="0" smtClean="0">
                <a:solidFill>
                  <a:srgbClr val="1A1F36"/>
                </a:solidFill>
                <a:latin typeface="Arial"/>
              </a:rPr>
              <a:t> </a:t>
            </a:r>
          </a:p>
          <a:p>
            <a:pPr algn="l"/>
            <a:r>
              <a:rPr lang="ru-RU" sz="1100" b="0" i="0" dirty="0" err="1" smtClean="0">
                <a:solidFill>
                  <a:srgbClr val="1A1F36"/>
                </a:solidFill>
                <a:latin typeface="Arial"/>
              </a:rPr>
              <a:t>видео</a:t>
            </a:r>
            <a:r>
              <a:rPr lang="ru-RU" sz="1100" dirty="0" err="1" smtClean="0">
                <a:solidFill>
                  <a:srgbClr val="1A1F36"/>
                </a:solidFill>
                <a:latin typeface="Arial"/>
              </a:rPr>
              <a:t>портфолио</a:t>
            </a:r>
            <a:r>
              <a:rPr lang="ru-RU" sz="1100" dirty="0" smtClean="0">
                <a:solidFill>
                  <a:srgbClr val="1A1F36"/>
                </a:solidFill>
                <a:latin typeface="Arial"/>
              </a:rPr>
              <a:t> типовых объектов</a:t>
            </a:r>
            <a:r>
              <a:rPr sz="1100" b="0" i="0" dirty="0" smtClean="0">
                <a:solidFill>
                  <a:srgbClr val="1A1F36"/>
                </a:solidFill>
                <a:latin typeface="Arial"/>
              </a:rPr>
              <a:t>.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
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Покупатель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сам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узнаёт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о TITAN,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продавца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404" y="4297680"/>
            <a:ext cx="5779236" cy="19202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4389120"/>
            <a:ext cx="3895725" cy="75918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 dirty="0">
                <a:solidFill>
                  <a:srgbClr val="16A34A"/>
                </a:solidFill>
                <a:latin typeface="Arial"/>
              </a:rPr>
              <a:t>ДОП: </a:t>
            </a:r>
            <a:r>
              <a:rPr lang="ru-RU" sz="1200" b="1" i="0" dirty="0" smtClean="0">
                <a:solidFill>
                  <a:srgbClr val="16A34A"/>
                </a:solidFill>
                <a:latin typeface="Arial"/>
              </a:rPr>
              <a:t>Выездное оборудование</a:t>
            </a:r>
          </a:p>
          <a:p>
            <a:pPr algn="l"/>
            <a:endParaRPr lang="ru-RU" sz="1200" b="1" dirty="0">
              <a:solidFill>
                <a:srgbClr val="16A34A"/>
              </a:solidFill>
              <a:latin typeface="Arial"/>
            </a:endParaRPr>
          </a:p>
          <a:p>
            <a:r>
              <a:rPr lang="ru-RU" sz="1100" dirty="0" smtClean="0">
                <a:solidFill>
                  <a:srgbClr val="1A1F36"/>
                </a:solidFill>
                <a:latin typeface="Arial"/>
              </a:rPr>
              <a:t>Ролл-ап - для специализированных мероприятий например как мастер-класс в </a:t>
            </a:r>
            <a:r>
              <a:rPr lang="ru-RU" sz="1100" dirty="0" err="1" smtClean="0">
                <a:solidFill>
                  <a:srgbClr val="1A1F36"/>
                </a:solidFill>
                <a:latin typeface="Arial"/>
              </a:rPr>
              <a:t>Лемана</a:t>
            </a:r>
            <a:r>
              <a:rPr lang="ru-RU" sz="1100" dirty="0" smtClean="0">
                <a:solidFill>
                  <a:srgbClr val="1A1F36"/>
                </a:solidFill>
                <a:latin typeface="Arial"/>
              </a:rPr>
              <a:t> Про </a:t>
            </a:r>
            <a:endParaRPr sz="1100" dirty="0">
              <a:solidFill>
                <a:srgbClr val="1A1F36"/>
              </a:solidFill>
              <a:latin typeface="Arial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5590" y="4375402"/>
            <a:ext cx="752682" cy="1794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65063"/>
            <a:ext cx="731520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dirty="0">
                <a:solidFill>
                  <a:srgbClr val="313131"/>
                </a:solidFill>
                <a:latin typeface="Calibri"/>
              </a:rPr>
              <a:t>СМЕТА ПРОГРАММЫ TITAN — </a:t>
            </a:r>
            <a:r>
              <a:rPr lang="ru-RU" sz="2200" b="1" i="0" dirty="0" smtClean="0">
                <a:solidFill>
                  <a:srgbClr val="313131"/>
                </a:solidFill>
                <a:latin typeface="Calibri"/>
              </a:rPr>
              <a:t>1</a:t>
            </a:r>
            <a:r>
              <a:rPr sz="2200" b="1" i="0" dirty="0" smtClean="0">
                <a:solidFill>
                  <a:srgbClr val="313131"/>
                </a:solidFill>
                <a:latin typeface="Calibri"/>
              </a:rPr>
              <a:t> ЭТАП</a:t>
            </a:r>
            <a:endParaRPr sz="2200" b="1" i="0" dirty="0">
              <a:solidFill>
                <a:srgbClr val="313131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0" y="22860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47629"/>
                </a:solidFill>
                <a:latin typeface="Calibri"/>
              </a:rPr>
              <a:t>TITAN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990850" y="857250"/>
            <a:ext cx="553212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990850" y="857250"/>
            <a:ext cx="5532120" cy="50292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73730" y="1000988"/>
            <a:ext cx="516636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dirty="0">
                <a:solidFill>
                  <a:srgbClr val="FFFFFF"/>
                </a:solidFill>
                <a:latin typeface="Calibri"/>
              </a:rPr>
              <a:t>ПЕРВЫЙ ЭТАП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73730" y="1428080"/>
            <a:ext cx="516636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 dirty="0" err="1">
                <a:solidFill>
                  <a:srgbClr val="6B6B6B"/>
                </a:solidFill>
                <a:latin typeface="Calibri"/>
              </a:rPr>
              <a:t>Параллельно</a:t>
            </a:r>
            <a:r>
              <a:rPr sz="900" b="0" i="1" dirty="0">
                <a:solidFill>
                  <a:srgbClr val="6B6B6B"/>
                </a:solidFill>
                <a:latin typeface="Calibri"/>
              </a:rPr>
              <a:t> — </a:t>
            </a:r>
            <a:r>
              <a:rPr sz="900" b="0" i="1" dirty="0" err="1">
                <a:solidFill>
                  <a:srgbClr val="6B6B6B"/>
                </a:solidFill>
                <a:latin typeface="Calibri"/>
              </a:rPr>
              <a:t>наполнение</a:t>
            </a:r>
            <a:r>
              <a:rPr sz="900" b="0" i="1" dirty="0">
                <a:solidFill>
                  <a:srgbClr val="6B6B6B"/>
                </a:solidFill>
                <a:latin typeface="Calibri"/>
              </a:rPr>
              <a:t> MML в </a:t>
            </a:r>
            <a:r>
              <a:rPr sz="900" b="0" i="1" dirty="0" err="1">
                <a:solidFill>
                  <a:srgbClr val="6B6B6B"/>
                </a:solidFill>
                <a:latin typeface="Calibri"/>
              </a:rPr>
              <a:t>разрезе</a:t>
            </a:r>
            <a:r>
              <a:rPr sz="900" b="0" i="1" dirty="0">
                <a:solidFill>
                  <a:srgbClr val="6B6B6B"/>
                </a:solidFill>
                <a:latin typeface="Calibri"/>
              </a:rPr>
              <a:t> </a:t>
            </a:r>
            <a:r>
              <a:rPr sz="900" b="0" i="1" dirty="0" smtClean="0">
                <a:solidFill>
                  <a:srgbClr val="6B6B6B"/>
                </a:solidFill>
                <a:latin typeface="Calibri"/>
              </a:rPr>
              <a:t>TITAN</a:t>
            </a:r>
            <a:r>
              <a:rPr lang="ru-RU" sz="900" b="0" i="1" dirty="0" smtClean="0">
                <a:solidFill>
                  <a:srgbClr val="6B6B6B"/>
                </a:solidFill>
                <a:latin typeface="Calibri"/>
              </a:rPr>
              <a:t> и трейд маркетинговые промо</a:t>
            </a:r>
            <a:endParaRPr sz="900" b="0" i="1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036570" y="1725930"/>
            <a:ext cx="5440680" cy="39319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28010" y="1725930"/>
            <a:ext cx="2743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47629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8050" y="1762506"/>
            <a:ext cx="3383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13131"/>
                </a:solidFill>
                <a:latin typeface="Calibri"/>
              </a:rPr>
              <a:t>Шелфтокеры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8050" y="1927098"/>
            <a:ext cx="338328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dirty="0" err="1">
                <a:solidFill>
                  <a:srgbClr val="6B6B6B"/>
                </a:solidFill>
                <a:latin typeface="Calibri"/>
              </a:rPr>
              <a:t>Печать</a:t>
            </a:r>
            <a:r>
              <a:rPr sz="80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6B6B6B"/>
                </a:solidFill>
                <a:latin typeface="Calibri"/>
              </a:rPr>
              <a:t>шелфтокеров</a:t>
            </a:r>
            <a:r>
              <a:rPr sz="80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6B6B6B"/>
                </a:solidFill>
                <a:latin typeface="Calibri"/>
              </a:rPr>
              <a:t>для</a:t>
            </a:r>
            <a:r>
              <a:rPr sz="80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6B6B6B"/>
                </a:solidFill>
                <a:latin typeface="Calibri"/>
              </a:rPr>
              <a:t>полки</a:t>
            </a:r>
            <a:r>
              <a:rPr sz="800" b="0" i="0" dirty="0">
                <a:solidFill>
                  <a:srgbClr val="6B6B6B"/>
                </a:solidFill>
                <a:latin typeface="Calibri"/>
              </a:rPr>
              <a:t> TITAN (</a:t>
            </a:r>
            <a:r>
              <a:rPr sz="800" b="0" i="0" dirty="0" err="1">
                <a:solidFill>
                  <a:srgbClr val="6B6B6B"/>
                </a:solidFill>
                <a:latin typeface="Calibri"/>
              </a:rPr>
              <a:t>тираж</a:t>
            </a:r>
            <a:r>
              <a:rPr sz="80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lang="ru-RU" sz="800" b="0" i="0" dirty="0" smtClean="0">
                <a:solidFill>
                  <a:srgbClr val="6B6B6B"/>
                </a:solidFill>
                <a:latin typeface="Calibri"/>
              </a:rPr>
              <a:t> </a:t>
            </a:r>
            <a:r>
              <a:rPr lang="en-US" sz="800" b="0" i="0" dirty="0" smtClean="0">
                <a:solidFill>
                  <a:srgbClr val="6B6B6B"/>
                </a:solidFill>
                <a:latin typeface="Calibri"/>
              </a:rPr>
              <a:t>2</a:t>
            </a:r>
            <a:r>
              <a:rPr lang="ru-RU" sz="800" b="0" i="0" dirty="0" smtClean="0">
                <a:solidFill>
                  <a:srgbClr val="6B6B6B"/>
                </a:solidFill>
                <a:latin typeface="Calibri"/>
              </a:rPr>
              <a:t>000</a:t>
            </a:r>
            <a:r>
              <a:rPr sz="800" b="0" i="0" dirty="0" smtClean="0">
                <a:solidFill>
                  <a:srgbClr val="6B6B6B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6B6B6B"/>
                </a:solidFill>
                <a:latin typeface="Calibri"/>
              </a:rPr>
              <a:t>шт</a:t>
            </a:r>
            <a:r>
              <a:rPr sz="800" b="0" i="0" dirty="0">
                <a:solidFill>
                  <a:srgbClr val="6B6B6B"/>
                </a:solidFill>
                <a:latin typeface="Calibri"/>
              </a:rPr>
              <a:t>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27045" y="2141982"/>
            <a:ext cx="544068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28010" y="2141982"/>
            <a:ext cx="2743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47629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48050" y="2178558"/>
            <a:ext cx="3383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13131"/>
                </a:solidFill>
                <a:latin typeface="Calibri"/>
              </a:rPr>
              <a:t>Воблеры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48050" y="2343150"/>
            <a:ext cx="338328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dirty="0" err="1">
                <a:solidFill>
                  <a:srgbClr val="6B6B6B"/>
                </a:solidFill>
                <a:latin typeface="Calibri"/>
              </a:rPr>
              <a:t>Воблеры</a:t>
            </a:r>
            <a:r>
              <a:rPr sz="80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6B6B6B"/>
                </a:solidFill>
                <a:latin typeface="Calibri"/>
              </a:rPr>
              <a:t>на</a:t>
            </a:r>
            <a:r>
              <a:rPr sz="80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6B6B6B"/>
                </a:solidFill>
                <a:latin typeface="Calibri"/>
              </a:rPr>
              <a:t>полку</a:t>
            </a:r>
            <a:r>
              <a:rPr sz="800" b="0" i="0" dirty="0">
                <a:solidFill>
                  <a:srgbClr val="6B6B6B"/>
                </a:solidFill>
                <a:latin typeface="Calibri"/>
              </a:rPr>
              <a:t> (</a:t>
            </a:r>
            <a:r>
              <a:rPr sz="800" b="0" i="0" dirty="0" err="1">
                <a:solidFill>
                  <a:srgbClr val="6B6B6B"/>
                </a:solidFill>
                <a:latin typeface="Calibri"/>
              </a:rPr>
              <a:t>тираж</a:t>
            </a:r>
            <a:r>
              <a:rPr sz="80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lang="ru-RU" sz="800" b="0" i="0" dirty="0" smtClean="0">
                <a:solidFill>
                  <a:srgbClr val="6B6B6B"/>
                </a:solidFill>
                <a:latin typeface="Calibri"/>
              </a:rPr>
              <a:t> </a:t>
            </a:r>
            <a:r>
              <a:rPr lang="en-US" sz="800" dirty="0" smtClean="0">
                <a:solidFill>
                  <a:srgbClr val="6B6B6B"/>
                </a:solidFill>
                <a:latin typeface="Calibri"/>
              </a:rPr>
              <a:t>1</a:t>
            </a:r>
            <a:r>
              <a:rPr sz="800" b="0" i="0" dirty="0" smtClean="0">
                <a:solidFill>
                  <a:srgbClr val="6B6B6B"/>
                </a:solidFill>
                <a:latin typeface="Calibri"/>
              </a:rPr>
              <a:t>000 </a:t>
            </a:r>
            <a:r>
              <a:rPr sz="800" b="0" i="0" dirty="0" err="1">
                <a:solidFill>
                  <a:srgbClr val="6B6B6B"/>
                </a:solidFill>
                <a:latin typeface="Calibri"/>
              </a:rPr>
              <a:t>шт</a:t>
            </a:r>
            <a:r>
              <a:rPr sz="800" b="0" i="0" dirty="0">
                <a:solidFill>
                  <a:srgbClr val="6B6B6B"/>
                </a:solidFill>
                <a:latin typeface="Calibri"/>
              </a:rPr>
              <a:t>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36570" y="2558034"/>
            <a:ext cx="5440680" cy="39319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28010" y="2558034"/>
            <a:ext cx="2743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47629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48050" y="2594610"/>
            <a:ext cx="3383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13131"/>
                </a:solidFill>
                <a:latin typeface="Calibri"/>
              </a:rPr>
              <a:t>Брендированные ценники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48050" y="2759202"/>
            <a:ext cx="338328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dirty="0" err="1">
                <a:solidFill>
                  <a:srgbClr val="6B6B6B"/>
                </a:solidFill>
                <a:latin typeface="Calibri"/>
              </a:rPr>
              <a:t>Ценники</a:t>
            </a:r>
            <a:r>
              <a:rPr sz="80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lang="ru-RU" sz="800" dirty="0" smtClean="0">
                <a:solidFill>
                  <a:srgbClr val="6B6B6B"/>
                </a:solidFill>
                <a:latin typeface="Calibri"/>
              </a:rPr>
              <a:t>акцентирующие внимание </a:t>
            </a:r>
            <a:r>
              <a:rPr sz="800" b="0" i="0" dirty="0" smtClean="0">
                <a:solidFill>
                  <a:srgbClr val="6B6B6B"/>
                </a:solidFill>
                <a:latin typeface="Calibri"/>
              </a:rPr>
              <a:t>(</a:t>
            </a:r>
            <a:r>
              <a:rPr sz="800" b="0" i="0" dirty="0" err="1" smtClean="0">
                <a:solidFill>
                  <a:srgbClr val="6B6B6B"/>
                </a:solidFill>
                <a:latin typeface="Calibri"/>
              </a:rPr>
              <a:t>тираж</a:t>
            </a:r>
            <a:r>
              <a:rPr sz="800" b="0" i="0" dirty="0" smtClean="0">
                <a:solidFill>
                  <a:srgbClr val="6B6B6B"/>
                </a:solidFill>
                <a:latin typeface="Calibri"/>
              </a:rPr>
              <a:t> </a:t>
            </a:r>
            <a:r>
              <a:rPr lang="ru-RU" sz="800" b="0" i="0" dirty="0" smtClean="0">
                <a:solidFill>
                  <a:srgbClr val="6B6B6B"/>
                </a:solidFill>
                <a:latin typeface="Calibri"/>
              </a:rPr>
              <a:t>1</a:t>
            </a:r>
            <a:r>
              <a:rPr sz="800" b="0" i="0" dirty="0" smtClean="0">
                <a:solidFill>
                  <a:srgbClr val="6B6B6B"/>
                </a:solidFill>
                <a:latin typeface="Calibri"/>
              </a:rPr>
              <a:t>000 </a:t>
            </a:r>
            <a:r>
              <a:rPr sz="800" b="0" i="0" dirty="0" err="1">
                <a:solidFill>
                  <a:srgbClr val="6B6B6B"/>
                </a:solidFill>
                <a:latin typeface="Calibri"/>
              </a:rPr>
              <a:t>шт</a:t>
            </a:r>
            <a:r>
              <a:rPr sz="800" b="0" i="0" dirty="0">
                <a:solidFill>
                  <a:srgbClr val="6B6B6B"/>
                </a:solidFill>
                <a:latin typeface="Calibri"/>
              </a:rPr>
              <a:t>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36570" y="2961513"/>
            <a:ext cx="5440680" cy="39319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128010" y="3073470"/>
            <a:ext cx="2743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ru-RU" sz="1100" b="1" i="0" dirty="0" smtClean="0">
                <a:solidFill>
                  <a:srgbClr val="F47629"/>
                </a:solidFill>
                <a:latin typeface="Calibri"/>
              </a:rPr>
              <a:t>4</a:t>
            </a:r>
            <a:endParaRPr sz="1100" b="1" i="0" dirty="0">
              <a:solidFill>
                <a:srgbClr val="F47629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448050" y="2998089"/>
            <a:ext cx="33832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dirty="0" err="1">
                <a:solidFill>
                  <a:srgbClr val="313131"/>
                </a:solidFill>
                <a:latin typeface="Calibri"/>
              </a:rPr>
              <a:t>Листовка</a:t>
            </a:r>
            <a:r>
              <a:rPr sz="1000" b="1" i="0" dirty="0">
                <a:solidFill>
                  <a:srgbClr val="313131"/>
                </a:solidFill>
                <a:latin typeface="Calibri"/>
              </a:rPr>
              <a:t> TITAN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48050" y="3162681"/>
            <a:ext cx="338328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dirty="0" err="1">
                <a:solidFill>
                  <a:srgbClr val="6B6B6B"/>
                </a:solidFill>
                <a:latin typeface="Calibri"/>
              </a:rPr>
              <a:t>Листовка</a:t>
            </a:r>
            <a:r>
              <a:rPr sz="800" b="0" i="0" dirty="0">
                <a:solidFill>
                  <a:srgbClr val="6B6B6B"/>
                </a:solidFill>
                <a:latin typeface="Calibri"/>
              </a:rPr>
              <a:t> с </a:t>
            </a:r>
            <a:r>
              <a:rPr sz="800" b="0" i="0" dirty="0" err="1">
                <a:solidFill>
                  <a:srgbClr val="6B6B6B"/>
                </a:solidFill>
                <a:latin typeface="Calibri"/>
              </a:rPr>
              <a:t>совокупной</a:t>
            </a:r>
            <a:r>
              <a:rPr sz="80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6B6B6B"/>
                </a:solidFill>
                <a:latin typeface="Calibri"/>
              </a:rPr>
              <a:t>стоимостью</a:t>
            </a:r>
            <a:r>
              <a:rPr sz="80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6B6B6B"/>
                </a:solidFill>
                <a:latin typeface="Calibri"/>
              </a:rPr>
              <a:t>владения</a:t>
            </a:r>
            <a:r>
              <a:rPr sz="800" b="0" i="0" dirty="0">
                <a:solidFill>
                  <a:srgbClr val="6B6B6B"/>
                </a:solidFill>
                <a:latin typeface="Calibri"/>
              </a:rPr>
              <a:t> (</a:t>
            </a:r>
            <a:r>
              <a:rPr sz="800" b="0" i="0" dirty="0" err="1">
                <a:solidFill>
                  <a:srgbClr val="6B6B6B"/>
                </a:solidFill>
                <a:latin typeface="Calibri"/>
              </a:rPr>
              <a:t>тираж</a:t>
            </a:r>
            <a:r>
              <a:rPr sz="80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800" b="0" i="0" dirty="0" smtClean="0">
                <a:solidFill>
                  <a:srgbClr val="6B6B6B"/>
                </a:solidFill>
                <a:latin typeface="Calibri"/>
              </a:rPr>
              <a:t>500 </a:t>
            </a:r>
            <a:r>
              <a:rPr sz="800" b="0" i="0" dirty="0" err="1">
                <a:solidFill>
                  <a:srgbClr val="6B6B6B"/>
                </a:solidFill>
                <a:latin typeface="Calibri"/>
              </a:rPr>
              <a:t>шт</a:t>
            </a:r>
            <a:r>
              <a:rPr sz="800" b="0" i="0" dirty="0">
                <a:solidFill>
                  <a:srgbClr val="6B6B6B"/>
                </a:solidFill>
                <a:latin typeface="Calibri"/>
              </a:rPr>
              <a:t>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22770" y="3073470"/>
            <a:ext cx="13716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ru-RU" sz="1100" b="1" i="0" dirty="0" smtClean="0">
                <a:solidFill>
                  <a:srgbClr val="D55E0A"/>
                </a:solidFill>
                <a:latin typeface="Calibri"/>
              </a:rPr>
              <a:t>20</a:t>
            </a:r>
            <a:r>
              <a:rPr sz="1100" b="1" i="0" dirty="0" smtClean="0">
                <a:solidFill>
                  <a:srgbClr val="D55E0A"/>
                </a:solidFill>
                <a:latin typeface="Calibri"/>
              </a:rPr>
              <a:t> </a:t>
            </a:r>
            <a:r>
              <a:rPr sz="1100" b="1" i="0" dirty="0">
                <a:solidFill>
                  <a:srgbClr val="D55E0A"/>
                </a:solidFill>
                <a:latin typeface="Calibri"/>
              </a:rPr>
              <a:t>000 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36570" y="3377565"/>
            <a:ext cx="544068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128010" y="3489522"/>
            <a:ext cx="2743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ru-RU" sz="1100" b="1" i="0" dirty="0" smtClean="0">
                <a:solidFill>
                  <a:srgbClr val="F47629"/>
                </a:solidFill>
                <a:latin typeface="Calibri"/>
              </a:rPr>
              <a:t>5</a:t>
            </a:r>
            <a:endParaRPr sz="1100" b="1" i="0" dirty="0">
              <a:solidFill>
                <a:srgbClr val="F47629"/>
              </a:solidFill>
              <a:latin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448050" y="3414141"/>
            <a:ext cx="33832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dirty="0" err="1" smtClean="0">
                <a:solidFill>
                  <a:srgbClr val="313131"/>
                </a:solidFill>
                <a:latin typeface="Calibri"/>
              </a:rPr>
              <a:t>Видео-инструкция</a:t>
            </a:r>
            <a:r>
              <a:rPr lang="ru-RU" sz="1000" b="1" i="0" dirty="0" smtClean="0">
                <a:solidFill>
                  <a:srgbClr val="313131"/>
                </a:solidFill>
                <a:latin typeface="Calibri"/>
              </a:rPr>
              <a:t> </a:t>
            </a:r>
            <a:r>
              <a:rPr sz="1000" b="1" i="0" dirty="0" err="1" smtClean="0">
                <a:solidFill>
                  <a:srgbClr val="313131"/>
                </a:solidFill>
                <a:latin typeface="Calibri"/>
              </a:rPr>
              <a:t>по</a:t>
            </a:r>
            <a:r>
              <a:rPr sz="1000" b="1" i="0" dirty="0" smtClean="0">
                <a:solidFill>
                  <a:srgbClr val="313131"/>
                </a:solidFill>
                <a:latin typeface="Calibri"/>
              </a:rPr>
              <a:t> </a:t>
            </a:r>
            <a:r>
              <a:rPr sz="1000" b="1" i="0" dirty="0" err="1">
                <a:solidFill>
                  <a:srgbClr val="313131"/>
                </a:solidFill>
                <a:latin typeface="Calibri"/>
              </a:rPr>
              <a:t>нанесению</a:t>
            </a:r>
            <a:endParaRPr sz="1000" b="1" i="0" dirty="0">
              <a:solidFill>
                <a:srgbClr val="313131"/>
              </a:solidFill>
              <a:latin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448050" y="3578733"/>
            <a:ext cx="3383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B6B6B"/>
                </a:solidFill>
                <a:latin typeface="Calibri"/>
              </a:rPr>
              <a:t>Ролик 2-3 мин: как наносить TITAN 3в1 (5 шагов + монтаж)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22770" y="3489522"/>
            <a:ext cx="13716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 dirty="0" smtClean="0">
                <a:solidFill>
                  <a:srgbClr val="D55E0A"/>
                </a:solidFill>
                <a:latin typeface="Calibri"/>
              </a:rPr>
              <a:t> </a:t>
            </a:r>
            <a:r>
              <a:rPr lang="ru-RU" sz="1100" b="1" dirty="0" smtClean="0">
                <a:solidFill>
                  <a:srgbClr val="D55E0A"/>
                </a:solidFill>
                <a:latin typeface="Calibri"/>
              </a:rPr>
              <a:t>35</a:t>
            </a:r>
            <a:r>
              <a:rPr sz="1100" b="1" i="0" dirty="0" smtClean="0">
                <a:solidFill>
                  <a:srgbClr val="D55E0A"/>
                </a:solidFill>
                <a:latin typeface="Calibri"/>
              </a:rPr>
              <a:t> </a:t>
            </a:r>
            <a:r>
              <a:rPr lang="ru-RU" sz="1100" b="1" i="0" dirty="0" smtClean="0">
                <a:solidFill>
                  <a:srgbClr val="D55E0A"/>
                </a:solidFill>
                <a:latin typeface="Calibri"/>
              </a:rPr>
              <a:t>865</a:t>
            </a:r>
            <a:r>
              <a:rPr sz="1100" b="1" i="0" dirty="0" smtClean="0">
                <a:solidFill>
                  <a:srgbClr val="D55E0A"/>
                </a:solidFill>
                <a:latin typeface="Calibri"/>
              </a:rPr>
              <a:t> </a:t>
            </a:r>
            <a:r>
              <a:rPr sz="1100" b="1" i="0" dirty="0">
                <a:solidFill>
                  <a:srgbClr val="D55E0A"/>
                </a:solidFill>
                <a:latin typeface="Calibri"/>
              </a:rPr>
              <a:t>₽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36570" y="3793617"/>
            <a:ext cx="5440680" cy="39319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128010" y="3905574"/>
            <a:ext cx="2743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ru-RU" sz="1100" b="1" i="0" dirty="0" smtClean="0">
                <a:solidFill>
                  <a:srgbClr val="F47629"/>
                </a:solidFill>
                <a:latin typeface="Calibri"/>
              </a:rPr>
              <a:t>6</a:t>
            </a:r>
            <a:endParaRPr sz="1100" b="1" i="0" dirty="0">
              <a:solidFill>
                <a:srgbClr val="F47629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448050" y="3830193"/>
            <a:ext cx="3383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13131"/>
                </a:solidFill>
                <a:latin typeface="Calibri"/>
              </a:rPr>
              <a:t>Видеопортфолио объектов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48050" y="3994785"/>
            <a:ext cx="338328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ru-RU" sz="800" dirty="0">
                <a:solidFill>
                  <a:srgbClr val="6B6B6B"/>
                </a:solidFill>
                <a:latin typeface="Calibri"/>
              </a:rPr>
              <a:t>2</a:t>
            </a:r>
            <a:r>
              <a:rPr sz="800" b="0" i="0" dirty="0" smtClean="0">
                <a:solidFill>
                  <a:srgbClr val="6B6B6B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6B6B6B"/>
                </a:solidFill>
                <a:latin typeface="Calibri"/>
              </a:rPr>
              <a:t>видео</a:t>
            </a:r>
            <a:r>
              <a:rPr sz="800" b="0" i="0" dirty="0">
                <a:solidFill>
                  <a:srgbClr val="6B6B6B"/>
                </a:solidFill>
                <a:latin typeface="Calibri"/>
              </a:rPr>
              <a:t>: </a:t>
            </a:r>
            <a:r>
              <a:rPr sz="800" b="0" i="0" dirty="0" err="1">
                <a:solidFill>
                  <a:srgbClr val="6B6B6B"/>
                </a:solidFill>
                <a:latin typeface="Calibri"/>
              </a:rPr>
              <a:t>ворота</a:t>
            </a:r>
            <a:r>
              <a:rPr sz="800" b="0" i="0" dirty="0">
                <a:solidFill>
                  <a:srgbClr val="6B6B6B"/>
                </a:solidFill>
                <a:latin typeface="Calibri"/>
              </a:rPr>
              <a:t> (3в1), </a:t>
            </a:r>
            <a:r>
              <a:rPr lang="ru-RU" sz="800" b="0" i="0" dirty="0" smtClean="0">
                <a:solidFill>
                  <a:srgbClr val="6B6B6B"/>
                </a:solidFill>
                <a:latin typeface="Calibri"/>
              </a:rPr>
              <a:t>дверь</a:t>
            </a:r>
            <a:r>
              <a:rPr sz="800" b="0" i="0" dirty="0" smtClean="0">
                <a:solidFill>
                  <a:srgbClr val="6B6B6B"/>
                </a:solidFill>
                <a:latin typeface="Calibri"/>
              </a:rPr>
              <a:t>(</a:t>
            </a:r>
            <a:r>
              <a:rPr lang="ru-RU" sz="800" b="0" i="0" dirty="0" smtClean="0">
                <a:solidFill>
                  <a:srgbClr val="6B6B6B"/>
                </a:solidFill>
                <a:latin typeface="Calibri"/>
              </a:rPr>
              <a:t> </a:t>
            </a:r>
            <a:r>
              <a:rPr sz="800" b="0" i="0" dirty="0" err="1" smtClean="0">
                <a:solidFill>
                  <a:srgbClr val="6B6B6B"/>
                </a:solidFill>
                <a:latin typeface="Calibri"/>
              </a:rPr>
              <a:t>молоток</a:t>
            </a:r>
            <a:r>
              <a:rPr sz="800" b="0" i="0" dirty="0" smtClean="0">
                <a:solidFill>
                  <a:srgbClr val="6B6B6B"/>
                </a:solidFill>
                <a:latin typeface="Calibri"/>
              </a:rPr>
              <a:t>) </a:t>
            </a:r>
            <a:endParaRPr sz="800" b="0" i="0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922770" y="3905574"/>
            <a:ext cx="13716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 dirty="0" smtClean="0">
                <a:solidFill>
                  <a:srgbClr val="D55E0A"/>
                </a:solidFill>
                <a:latin typeface="Calibri"/>
              </a:rPr>
              <a:t> </a:t>
            </a:r>
            <a:r>
              <a:rPr lang="ru-RU" sz="1100" b="1" i="0" dirty="0" smtClean="0">
                <a:solidFill>
                  <a:srgbClr val="D55E0A"/>
                </a:solidFill>
                <a:latin typeface="Calibri"/>
              </a:rPr>
              <a:t>71</a:t>
            </a:r>
            <a:r>
              <a:rPr sz="1100" b="1" i="0" dirty="0" smtClean="0">
                <a:solidFill>
                  <a:srgbClr val="D55E0A"/>
                </a:solidFill>
                <a:latin typeface="Calibri"/>
              </a:rPr>
              <a:t> </a:t>
            </a:r>
            <a:r>
              <a:rPr lang="ru-RU" sz="1100" b="1" i="0" dirty="0" smtClean="0">
                <a:solidFill>
                  <a:srgbClr val="D55E0A"/>
                </a:solidFill>
                <a:latin typeface="Calibri"/>
              </a:rPr>
              <a:t>724</a:t>
            </a:r>
            <a:r>
              <a:rPr sz="1100" b="1" i="0" dirty="0" smtClean="0">
                <a:solidFill>
                  <a:srgbClr val="D55E0A"/>
                </a:solidFill>
                <a:latin typeface="Calibri"/>
              </a:rPr>
              <a:t> </a:t>
            </a:r>
            <a:r>
              <a:rPr sz="1100" b="1" i="0" dirty="0">
                <a:solidFill>
                  <a:srgbClr val="D55E0A"/>
                </a:solidFill>
                <a:latin typeface="Calibri"/>
              </a:rPr>
              <a:t>₽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36570" y="4209669"/>
            <a:ext cx="544068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128010" y="4321626"/>
            <a:ext cx="2743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ru-RU" sz="1100" b="1" i="0" dirty="0" smtClean="0">
                <a:solidFill>
                  <a:srgbClr val="F47629"/>
                </a:solidFill>
                <a:latin typeface="Calibri"/>
              </a:rPr>
              <a:t>7</a:t>
            </a:r>
            <a:endParaRPr sz="1100" b="1" i="0" dirty="0">
              <a:solidFill>
                <a:srgbClr val="F47629"/>
              </a:solidFill>
              <a:latin typeface="Calibri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448050" y="4246245"/>
            <a:ext cx="3383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dirty="0" err="1">
                <a:solidFill>
                  <a:srgbClr val="313131"/>
                </a:solidFill>
                <a:latin typeface="Calibri"/>
              </a:rPr>
              <a:t>Видео-презентация</a:t>
            </a:r>
            <a:r>
              <a:rPr sz="1000" b="1" i="0" dirty="0">
                <a:solidFill>
                  <a:srgbClr val="313131"/>
                </a:solidFill>
                <a:latin typeface="Calibri"/>
              </a:rPr>
              <a:t> </a:t>
            </a:r>
            <a:r>
              <a:rPr sz="1000" b="1" i="0" dirty="0" err="1">
                <a:solidFill>
                  <a:srgbClr val="313131"/>
                </a:solidFill>
                <a:latin typeface="Calibri"/>
              </a:rPr>
              <a:t>для</a:t>
            </a:r>
            <a:r>
              <a:rPr sz="1000" b="1" i="0" dirty="0">
                <a:solidFill>
                  <a:srgbClr val="313131"/>
                </a:solidFill>
                <a:latin typeface="Calibri"/>
              </a:rPr>
              <a:t> ТП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48050" y="4410837"/>
            <a:ext cx="3383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dirty="0" err="1">
                <a:solidFill>
                  <a:srgbClr val="6B6B6B"/>
                </a:solidFill>
                <a:latin typeface="Calibri"/>
              </a:rPr>
              <a:t>Обучающий</a:t>
            </a:r>
            <a:r>
              <a:rPr sz="80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6B6B6B"/>
                </a:solidFill>
                <a:latin typeface="Calibri"/>
              </a:rPr>
              <a:t>ролик</a:t>
            </a:r>
            <a:r>
              <a:rPr sz="80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6B6B6B"/>
                </a:solidFill>
                <a:latin typeface="Calibri"/>
              </a:rPr>
              <a:t>для</a:t>
            </a:r>
            <a:r>
              <a:rPr sz="80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6B6B6B"/>
                </a:solidFill>
                <a:latin typeface="Calibri"/>
              </a:rPr>
              <a:t>торговых</a:t>
            </a:r>
            <a:r>
              <a:rPr sz="80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6B6B6B"/>
                </a:solidFill>
                <a:latin typeface="Calibri"/>
              </a:rPr>
              <a:t>представителей</a:t>
            </a:r>
            <a:r>
              <a:rPr sz="80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6B6B6B"/>
                </a:solidFill>
                <a:latin typeface="Calibri"/>
              </a:rPr>
              <a:t>дистрибьютора</a:t>
            </a:r>
            <a:endParaRPr sz="800" b="0" i="0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922770" y="4321626"/>
            <a:ext cx="13716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 dirty="0" smtClean="0">
                <a:solidFill>
                  <a:srgbClr val="D55E0A"/>
                </a:solidFill>
                <a:latin typeface="Calibri"/>
              </a:rPr>
              <a:t> </a:t>
            </a:r>
            <a:r>
              <a:rPr lang="ru-RU" sz="1100" b="1" i="0" dirty="0" smtClean="0">
                <a:solidFill>
                  <a:srgbClr val="D55E0A"/>
                </a:solidFill>
                <a:latin typeface="Calibri"/>
              </a:rPr>
              <a:t>41 611</a:t>
            </a:r>
            <a:r>
              <a:rPr sz="1100" b="1" i="0" dirty="0" smtClean="0">
                <a:solidFill>
                  <a:srgbClr val="D55E0A"/>
                </a:solidFill>
                <a:latin typeface="Calibri"/>
              </a:rPr>
              <a:t> </a:t>
            </a:r>
            <a:r>
              <a:rPr sz="1100" b="1" i="0" dirty="0">
                <a:solidFill>
                  <a:srgbClr val="D55E0A"/>
                </a:solidFill>
                <a:latin typeface="Calibri"/>
              </a:rPr>
              <a:t>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36570" y="4625721"/>
            <a:ext cx="5440680" cy="39319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128010" y="4737678"/>
            <a:ext cx="2743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ru-RU" sz="1100" b="1" i="0" dirty="0" smtClean="0">
                <a:solidFill>
                  <a:srgbClr val="F47629"/>
                </a:solidFill>
                <a:latin typeface="Calibri"/>
              </a:rPr>
              <a:t>8</a:t>
            </a:r>
            <a:endParaRPr sz="1100" b="1" i="0" dirty="0">
              <a:solidFill>
                <a:srgbClr val="F47629"/>
              </a:solidFill>
              <a:latin typeface="Calibri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448050" y="4662297"/>
            <a:ext cx="3383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13131"/>
                </a:solidFill>
                <a:latin typeface="Calibri"/>
              </a:rPr>
              <a:t>Модернизация сайта + лендинг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8050" y="4826889"/>
            <a:ext cx="338328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dirty="0" err="1">
                <a:solidFill>
                  <a:srgbClr val="6B6B6B"/>
                </a:solidFill>
                <a:latin typeface="Calibri"/>
              </a:rPr>
              <a:t>Блок</a:t>
            </a:r>
            <a:r>
              <a:rPr sz="800" b="0" i="0" dirty="0">
                <a:solidFill>
                  <a:srgbClr val="6B6B6B"/>
                </a:solidFill>
                <a:latin typeface="Calibri"/>
              </a:rPr>
              <a:t> TITAN </a:t>
            </a:r>
            <a:r>
              <a:rPr sz="800" b="0" i="0" dirty="0" err="1">
                <a:solidFill>
                  <a:srgbClr val="6B6B6B"/>
                </a:solidFill>
                <a:latin typeface="Calibri"/>
              </a:rPr>
              <a:t>на</a:t>
            </a:r>
            <a:r>
              <a:rPr sz="800" b="0" i="0" dirty="0">
                <a:solidFill>
                  <a:srgbClr val="6B6B6B"/>
                </a:solidFill>
                <a:latin typeface="Calibri"/>
              </a:rPr>
              <a:t> empils.ru + titanpaints.ru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22770" y="4737678"/>
            <a:ext cx="13716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ru-RU" sz="1100" b="1" i="0" dirty="0" smtClean="0">
                <a:solidFill>
                  <a:srgbClr val="D55E0A"/>
                </a:solidFill>
                <a:latin typeface="Calibri"/>
              </a:rPr>
              <a:t>5</a:t>
            </a:r>
            <a:r>
              <a:rPr sz="1100" b="1" i="0" dirty="0" smtClean="0">
                <a:solidFill>
                  <a:srgbClr val="D55E0A"/>
                </a:solidFill>
                <a:latin typeface="Calibri"/>
              </a:rPr>
              <a:t>0 </a:t>
            </a:r>
            <a:r>
              <a:rPr sz="1100" b="1" i="0" dirty="0">
                <a:solidFill>
                  <a:srgbClr val="D55E0A"/>
                </a:solidFill>
                <a:latin typeface="Calibri"/>
              </a:rPr>
              <a:t>000 ₽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036570" y="5133213"/>
            <a:ext cx="5440680" cy="411480"/>
          </a:xfrm>
          <a:prstGeom prst="rect">
            <a:avLst/>
          </a:prstGeom>
          <a:solidFill>
            <a:srgbClr val="FBE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128010" y="5133213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13131"/>
                </a:solidFill>
                <a:latin typeface="Calibri"/>
              </a:rPr>
              <a:t>ИТОГО ЭТАП 1: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34050" y="5231231"/>
            <a:ext cx="260604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 i="0" dirty="0" smtClean="0">
                <a:solidFill>
                  <a:srgbClr val="D55E0A"/>
                </a:solidFill>
                <a:latin typeface="Calibri"/>
              </a:rPr>
              <a:t> </a:t>
            </a:r>
            <a:r>
              <a:rPr lang="en-US" sz="1400" b="1" i="0" dirty="0" smtClean="0">
                <a:solidFill>
                  <a:srgbClr val="D55E0A"/>
                </a:solidFill>
                <a:latin typeface="Calibri"/>
              </a:rPr>
              <a:t>344</a:t>
            </a:r>
            <a:r>
              <a:rPr sz="1400" b="1" i="0" dirty="0" smtClean="0">
                <a:solidFill>
                  <a:srgbClr val="D55E0A"/>
                </a:solidFill>
                <a:latin typeface="Calibri"/>
              </a:rPr>
              <a:t> </a:t>
            </a:r>
            <a:r>
              <a:rPr lang="ru-RU" sz="1400" b="1" dirty="0">
                <a:solidFill>
                  <a:srgbClr val="D55E0A"/>
                </a:solidFill>
                <a:latin typeface="Calibri"/>
              </a:rPr>
              <a:t>2</a:t>
            </a:r>
            <a:r>
              <a:rPr sz="1400" b="1" i="0" dirty="0" smtClean="0">
                <a:solidFill>
                  <a:srgbClr val="D55E0A"/>
                </a:solidFill>
                <a:latin typeface="Calibri"/>
              </a:rPr>
              <a:t>00 </a:t>
            </a:r>
            <a:r>
              <a:rPr sz="1400" b="1" i="0" dirty="0">
                <a:solidFill>
                  <a:srgbClr val="D55E0A"/>
                </a:solidFill>
                <a:latin typeface="Calibri"/>
              </a:rPr>
              <a:t>₽</a:t>
            </a:r>
          </a:p>
        </p:txBody>
      </p:sp>
      <p:sp>
        <p:nvSpPr>
          <p:cNvPr id="91" name="Rectangle 90"/>
          <p:cNvSpPr/>
          <p:nvPr/>
        </p:nvSpPr>
        <p:spPr>
          <a:xfrm>
            <a:off x="0" y="6263640"/>
            <a:ext cx="12191695" cy="457200"/>
          </a:xfrm>
          <a:prstGeom prst="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934200" y="2231079"/>
            <a:ext cx="13716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100" b="1" dirty="0">
                <a:solidFill>
                  <a:srgbClr val="D55E0A"/>
                </a:solidFill>
                <a:latin typeface="Calibri"/>
              </a:rPr>
              <a:t>6</a:t>
            </a:r>
            <a:r>
              <a:rPr sz="1100" b="1" i="0" dirty="0" smtClean="0">
                <a:solidFill>
                  <a:srgbClr val="D55E0A"/>
                </a:solidFill>
                <a:latin typeface="Calibri"/>
              </a:rPr>
              <a:t>0 </a:t>
            </a:r>
            <a:r>
              <a:rPr sz="1100" b="1" i="0" dirty="0">
                <a:solidFill>
                  <a:srgbClr val="D55E0A"/>
                </a:solidFill>
                <a:latin typeface="Calibri"/>
              </a:rPr>
              <a:t>000 ₽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68490" y="1776109"/>
            <a:ext cx="13716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100" b="1" i="0" dirty="0" smtClean="0">
                <a:solidFill>
                  <a:srgbClr val="D55E0A"/>
                </a:solidFill>
                <a:latin typeface="Calibri"/>
              </a:rPr>
              <a:t>30</a:t>
            </a:r>
            <a:r>
              <a:rPr sz="1100" b="1" i="0" dirty="0" smtClean="0">
                <a:solidFill>
                  <a:srgbClr val="D55E0A"/>
                </a:solidFill>
                <a:latin typeface="Calibri"/>
              </a:rPr>
              <a:t> </a:t>
            </a:r>
            <a:r>
              <a:rPr sz="1100" b="1" i="0" dirty="0">
                <a:solidFill>
                  <a:srgbClr val="D55E0A"/>
                </a:solidFill>
                <a:latin typeface="Calibri"/>
              </a:rPr>
              <a:t>000 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22770" y="2697143"/>
            <a:ext cx="13716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100" b="1" i="0" dirty="0" smtClean="0">
                <a:solidFill>
                  <a:srgbClr val="D55E0A"/>
                </a:solidFill>
                <a:latin typeface="Calibri"/>
              </a:rPr>
              <a:t>35</a:t>
            </a:r>
            <a:r>
              <a:rPr sz="1100" b="1" i="0" dirty="0" smtClean="0">
                <a:solidFill>
                  <a:srgbClr val="D55E0A"/>
                </a:solidFill>
                <a:latin typeface="Calibri"/>
              </a:rPr>
              <a:t> </a:t>
            </a:r>
            <a:r>
              <a:rPr sz="1100" b="1" i="0" dirty="0">
                <a:solidFill>
                  <a:srgbClr val="D55E0A"/>
                </a:solidFill>
                <a:latin typeface="Calibri"/>
              </a:rPr>
              <a:t>000 ₽</a:t>
            </a:r>
          </a:p>
        </p:txBody>
      </p:sp>
    </p:spTree>
    <p:extLst>
      <p:ext uri="{BB962C8B-B14F-4D97-AF65-F5344CB8AC3E}">
        <p14:creationId xmlns:p14="http://schemas.microsoft.com/office/powerpoint/2010/main" val="3906122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2215"/>
            <a:ext cx="11460175" cy="3590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ru-RU" sz="2000" b="1" i="0" dirty="0" smtClean="0">
                <a:solidFill>
                  <a:srgbClr val="FFFFFF"/>
                </a:solidFill>
                <a:latin typeface="Arial"/>
              </a:rPr>
              <a:t>ЭТАП 2 -</a:t>
            </a:r>
            <a:r>
              <a:rPr sz="2000" b="1" i="0" dirty="0" smtClean="0">
                <a:solidFill>
                  <a:srgbClr val="FFFFFF"/>
                </a:solidFill>
                <a:latin typeface="Arial"/>
              </a:rPr>
              <a:t>ПРОДВИЖЕНИЕ </a:t>
            </a:r>
            <a:r>
              <a:rPr sz="2000" b="1" i="0" dirty="0">
                <a:solidFill>
                  <a:srgbClr val="FFFFFF"/>
                </a:solidFill>
                <a:latin typeface="Arial"/>
              </a:rPr>
              <a:t>TITAN </a:t>
            </a:r>
            <a:r>
              <a:rPr sz="2000" b="1" i="0" dirty="0" smtClean="0">
                <a:solidFill>
                  <a:srgbClr val="FFFFFF"/>
                </a:solidFill>
                <a:latin typeface="Arial"/>
              </a:rPr>
              <a:t>— </a:t>
            </a:r>
            <a:r>
              <a:rPr sz="2000" b="1" i="0" dirty="0">
                <a:solidFill>
                  <a:srgbClr val="FFFFFF"/>
                </a:solidFill>
                <a:latin typeface="Arial"/>
              </a:rPr>
              <a:t>ЭКСТРЕМАЛЬНЫЙ </a:t>
            </a:r>
            <a:r>
              <a:rPr sz="2000" b="1" i="0" dirty="0" smtClean="0">
                <a:solidFill>
                  <a:srgbClr val="FFFFFF"/>
                </a:solidFill>
                <a:latin typeface="Arial"/>
              </a:rPr>
              <a:t>ТЕСТ</a:t>
            </a:r>
            <a:r>
              <a:rPr lang="ru-RU" sz="2000" b="1" i="0" dirty="0" smtClean="0">
                <a:solidFill>
                  <a:srgbClr val="FFFFFF"/>
                </a:solidFill>
                <a:latin typeface="Arial"/>
              </a:rPr>
              <a:t> + </a:t>
            </a:r>
            <a:r>
              <a:rPr lang="en-US" sz="2000" b="1" i="0" dirty="0" smtClean="0">
                <a:solidFill>
                  <a:srgbClr val="FFFFFF"/>
                </a:solidFill>
                <a:latin typeface="Arial"/>
              </a:rPr>
              <a:t>Digital</a:t>
            </a:r>
            <a:endParaRPr sz="20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19695" y="191465"/>
            <a:ext cx="4206240" cy="2205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lang="ru-RU" sz="1100" b="0" i="0" dirty="0" smtClean="0">
                <a:solidFill>
                  <a:srgbClr val="FBBF24"/>
                </a:solidFill>
                <a:latin typeface="Arial"/>
              </a:rPr>
              <a:t>4</a:t>
            </a:r>
            <a:r>
              <a:rPr sz="1100" b="0" i="0" dirty="0" smtClean="0">
                <a:solidFill>
                  <a:srgbClr val="FBBF24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FBBF24"/>
                </a:solidFill>
                <a:latin typeface="Arial"/>
              </a:rPr>
              <a:t>инструмента</a:t>
            </a:r>
            <a:r>
              <a:rPr sz="1100" b="0" i="0" dirty="0">
                <a:solidFill>
                  <a:srgbClr val="FBBF24"/>
                </a:solidFill>
                <a:latin typeface="Arial"/>
              </a:rPr>
              <a:t> · </a:t>
            </a:r>
            <a:r>
              <a:rPr sz="1100" b="0" i="0" dirty="0" err="1">
                <a:solidFill>
                  <a:srgbClr val="FBBF24"/>
                </a:solidFill>
                <a:latin typeface="Arial"/>
              </a:rPr>
              <a:t>за</a:t>
            </a:r>
            <a:r>
              <a:rPr sz="1100" b="0" i="0" dirty="0">
                <a:solidFill>
                  <a:srgbClr val="FBBF24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FBBF24"/>
                </a:solidFill>
                <a:latin typeface="Arial"/>
              </a:rPr>
              <a:t>пределами</a:t>
            </a:r>
            <a:r>
              <a:rPr sz="1100" b="0" i="0" dirty="0">
                <a:solidFill>
                  <a:srgbClr val="FBBF24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FBBF24"/>
                </a:solidFill>
                <a:latin typeface="Arial"/>
              </a:rPr>
              <a:t>полки</a:t>
            </a:r>
            <a:endParaRPr sz="1100" b="0" i="0" dirty="0">
              <a:solidFill>
                <a:srgbClr val="FBBF24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3749039" cy="503301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777240"/>
            <a:ext cx="3749039" cy="7315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784860"/>
            <a:ext cx="374903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🔥  ЭКСТРЕМАЛЬНЫЙ ТЕСТ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59180"/>
            <a:ext cx="3749039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TITAN vs 365 дней
под открытым небом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770" y="16459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C62828"/>
                </a:solidFill>
                <a:latin typeface="Arial"/>
              </a:rPr>
              <a:t>Что: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645920"/>
            <a:ext cx="2743199" cy="4667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ru-RU" sz="900" dirty="0" smtClean="0">
                <a:solidFill>
                  <a:srgbClr val="1A1F36"/>
                </a:solidFill>
                <a:latin typeface="Arial"/>
              </a:rPr>
              <a:t>Объект  или какая-то металлическая конструкция </a:t>
            </a:r>
            <a:r>
              <a:rPr sz="900" b="0" i="0" dirty="0" err="1" smtClean="0">
                <a:solidFill>
                  <a:srgbClr val="1A1F36"/>
                </a:solidFill>
                <a:latin typeface="Arial"/>
              </a:rPr>
              <a:t>краси</a:t>
            </a:r>
            <a:r>
              <a:rPr lang="ru-RU" sz="900" b="0" i="0" dirty="0" err="1" smtClean="0">
                <a:solidFill>
                  <a:srgbClr val="1A1F36"/>
                </a:solidFill>
                <a:latin typeface="Arial"/>
              </a:rPr>
              <a:t>тся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 в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TITAN 3в1 и </a:t>
            </a:r>
            <a:r>
              <a:rPr sz="900" b="0" i="0" dirty="0" err="1" smtClean="0">
                <a:solidFill>
                  <a:srgbClr val="1A1F36"/>
                </a:solidFill>
                <a:latin typeface="Arial"/>
              </a:rPr>
              <a:t>выставляе</a:t>
            </a:r>
            <a:r>
              <a:rPr lang="ru-RU" sz="900" b="0" i="0" dirty="0" err="1" smtClean="0">
                <a:solidFill>
                  <a:srgbClr val="1A1F36"/>
                </a:solidFill>
                <a:latin typeface="Arial"/>
              </a:rPr>
              <a:t>ся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 на открытую площадь на заводе </a:t>
            </a:r>
            <a:r>
              <a:rPr lang="ru-RU" sz="900" b="0" i="0" dirty="0" err="1" smtClean="0">
                <a:solidFill>
                  <a:srgbClr val="1A1F36"/>
                </a:solidFill>
                <a:latin typeface="Arial"/>
              </a:rPr>
              <a:t>Эмпилс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5770" y="2359152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Условия: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359152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Солнце, дождь, снег, град, перепады от -25°C до +40°C — 365 дней без укрытия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770" y="3072384"/>
            <a:ext cx="81153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Трансляция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72384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Онлайн-камера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24/7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сайте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titanpaints.ru —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каждый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может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смотреть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770" y="3785616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Контроль: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785616"/>
            <a:ext cx="2743199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Ежемесячные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фото-отчёты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+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независимая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экспертиза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ООО «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Рутил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»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 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5770" y="4317873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Финал: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298823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Через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365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дней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—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торжественное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снятие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,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публикация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результатов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2920" y="4701540"/>
            <a:ext cx="3474719" cy="3200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4701540"/>
            <a:ext cx="347471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ЦЕЛЬ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124450"/>
            <a:ext cx="3474719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Доказать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«10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лет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перекраски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»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не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словах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, а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публично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— в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реальном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времени</a:t>
            </a:r>
            <a:endParaRPr sz="9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251959" y="777240"/>
            <a:ext cx="3749039" cy="503301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51959" y="777240"/>
            <a:ext cx="3749039" cy="7315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51959" y="849982"/>
            <a:ext cx="3749039" cy="18979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 dirty="0">
                <a:solidFill>
                  <a:srgbClr val="FBBF24"/>
                </a:solidFill>
                <a:latin typeface="Arial"/>
              </a:rPr>
              <a:t>🔍  </a:t>
            </a:r>
            <a:r>
              <a:rPr sz="900" b="1" i="0" dirty="0" smtClean="0">
                <a:solidFill>
                  <a:srgbClr val="FBBF24"/>
                </a:solidFill>
                <a:latin typeface="Arial"/>
              </a:rPr>
              <a:t>КОНТЕКСТНАЯ РЕКЛАМА</a:t>
            </a:r>
            <a:endParaRPr sz="900" b="1" dirty="0">
              <a:solidFill>
                <a:srgbClr val="FBBF24"/>
              </a:solidFill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251959" y="1139244"/>
            <a:ext cx="3749039" cy="251351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 dirty="0" err="1" smtClean="0">
                <a:solidFill>
                  <a:srgbClr val="FFFFFF"/>
                </a:solidFill>
                <a:latin typeface="Arial"/>
              </a:rPr>
              <a:t>Яндекс.Директ</a:t>
            </a:r>
            <a:r>
              <a:rPr lang="ru-RU" sz="1300" b="1" i="0" dirty="0" smtClean="0">
                <a:solidFill>
                  <a:srgbClr val="FFFFFF"/>
                </a:solidFill>
                <a:latin typeface="Arial"/>
              </a:rPr>
              <a:t> / </a:t>
            </a:r>
            <a:r>
              <a:rPr lang="en-US" sz="1300" b="1" dirty="0">
                <a:solidFill>
                  <a:srgbClr val="FFFFFF"/>
                </a:solidFill>
                <a:latin typeface="Arial"/>
              </a:rPr>
              <a:t>VK </a:t>
            </a:r>
            <a:r>
              <a:rPr lang="ru-RU" sz="1300" b="1" dirty="0" err="1" smtClean="0">
                <a:solidFill>
                  <a:srgbClr val="FFFFFF"/>
                </a:solidFill>
                <a:latin typeface="Arial"/>
              </a:rPr>
              <a:t>Геотаретинг</a:t>
            </a:r>
            <a:endParaRPr lang="ru-RU" sz="13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389119" y="16459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  <a:latin typeface="Arial"/>
              </a:rPr>
              <a:t>Как: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39" y="1645920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Человек вводит «краска по ржавчине», «грунт-эмаль 3 в 1», «как покрасить забор» — видит рекламу TITAN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19" y="2359152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Формат: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39" y="2359152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Текстово-графические объявления + баннеры РСЯ на сайтах партнёров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19" y="3072384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Таргетинг: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39" y="3072384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Мужчины 25-55 лет, интересы: ремонт, строительство, дача, авто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19" y="3785616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Посыл: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39" y="3785616"/>
            <a:ext cx="2743199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 dirty="0">
                <a:solidFill>
                  <a:srgbClr val="1A1F36"/>
                </a:solidFill>
                <a:latin typeface="Arial"/>
              </a:rPr>
              <a:t>«TITAN 3в1 — 10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лет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перекраски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Найдите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в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магазине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[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сеть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]» +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ссылка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lang="en-US" sz="900" dirty="0">
                <a:solidFill>
                  <a:srgbClr val="1A1F36"/>
                </a:solidFill>
                <a:latin typeface="Arial"/>
              </a:rPr>
              <a:t>titanpaints.ru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389119" y="4701540"/>
            <a:ext cx="3474719" cy="3200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389119" y="4701540"/>
            <a:ext cx="347471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ЦЕЛЬ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19" y="5124450"/>
            <a:ext cx="3474719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Ловить горячий спрос — тех, кто уже ищет ЛКМ, и направлять в точки продаж TITAN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58" y="777240"/>
            <a:ext cx="3749039" cy="503301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38158" y="777240"/>
            <a:ext cx="3749039" cy="7315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38158" y="784860"/>
            <a:ext cx="374903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📺  ВИДЕОРЕКЛАМА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58" y="1059180"/>
            <a:ext cx="3749039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 dirty="0" err="1">
                <a:solidFill>
                  <a:srgbClr val="FFFFFF"/>
                </a:solidFill>
                <a:latin typeface="Arial"/>
              </a:rPr>
              <a:t>RuTube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
(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без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 VPN в РФ)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18" y="1645920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  <a:latin typeface="Arial"/>
              </a:rPr>
              <a:t>Почему RuTube: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58" y="1645920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Единственная видеоплатформа, которая работает в РФ без VPN. Аудитория растёт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18" y="2359152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Формат: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58" y="2359152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Пре-роллы 15-30 сек перед видео о ремонте, строительстве, даче, авто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18" y="3072384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Контент: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58" y="3072384"/>
            <a:ext cx="2468879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Демо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vs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ПФ-115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. – ССВ. Видео реальных  примеров объектов.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275318" y="3785616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Таргетинг: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58" y="3785616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Мужчины 25-55, каналы: «Ремонт», «Строительство», «Дача», «Гараж», «Сделай сам»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75318" y="4701540"/>
            <a:ext cx="3474719" cy="3200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75318" y="4701540"/>
            <a:ext cx="347471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ЦЕЛЬ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5318" y="5124450"/>
            <a:ext cx="3474719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Массовый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охват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целевой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аудитории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+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видеоконтент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из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теста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365 =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синергия</a:t>
            </a:r>
            <a:endParaRPr sz="9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54" name="Rounded Rectangle 30"/>
          <p:cNvSpPr/>
          <p:nvPr/>
        </p:nvSpPr>
        <p:spPr>
          <a:xfrm>
            <a:off x="365760" y="6000751"/>
            <a:ext cx="11384277" cy="706348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 dirty="0" smtClean="0">
              <a:solidFill>
                <a:schemeClr val="tx1"/>
              </a:solidFill>
            </a:endParaRPr>
          </a:p>
          <a:p>
            <a:pPr algn="ctr"/>
            <a:r>
              <a:rPr lang="ru-RU" sz="1400" dirty="0" smtClean="0">
                <a:solidFill>
                  <a:schemeClr val="tx1"/>
                </a:solidFill>
              </a:rPr>
              <a:t>Сотрудничество </a:t>
            </a:r>
            <a:r>
              <a:rPr lang="ru-RU" sz="1400" dirty="0">
                <a:solidFill>
                  <a:schemeClr val="tx1"/>
                </a:solidFill>
              </a:rPr>
              <a:t>с </a:t>
            </a:r>
            <a:r>
              <a:rPr lang="ru-RU" sz="1400" dirty="0" err="1">
                <a:solidFill>
                  <a:schemeClr val="tx1"/>
                </a:solidFill>
              </a:rPr>
              <a:t>блогером</a:t>
            </a:r>
            <a:r>
              <a:rPr lang="ru-RU" sz="1400" dirty="0">
                <a:solidFill>
                  <a:schemeClr val="tx1"/>
                </a:solidFill>
              </a:rPr>
              <a:t> в сфере ЛКМ для продвижения TITAN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51960" y="6068922"/>
            <a:ext cx="3739514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ru-RU" sz="1400" b="1" dirty="0">
                <a:latin typeface="Arial"/>
              </a:rPr>
              <a:t>🔍</a:t>
            </a:r>
            <a:r>
              <a:rPr lang="ru-RU" sz="1400" b="1" dirty="0">
                <a:solidFill>
                  <a:srgbClr val="FBBF24"/>
                </a:solidFill>
                <a:latin typeface="Arial"/>
              </a:rPr>
              <a:t> </a:t>
            </a:r>
            <a:r>
              <a:rPr lang="ru-RU" sz="1400" b="1" dirty="0" smtClean="0">
                <a:solidFill>
                  <a:srgbClr val="1A1F36"/>
                </a:solidFill>
                <a:latin typeface="Arial"/>
              </a:rPr>
              <a:t>Работа с </a:t>
            </a:r>
            <a:r>
              <a:rPr lang="ru-RU" sz="1400" b="1" dirty="0" err="1" smtClean="0">
                <a:solidFill>
                  <a:srgbClr val="1A1F36"/>
                </a:solidFill>
                <a:latin typeface="Arial"/>
              </a:rPr>
              <a:t>блогером</a:t>
            </a:r>
            <a:r>
              <a:rPr lang="ru-RU" sz="1400" b="1" dirty="0">
                <a:solidFill>
                  <a:srgbClr val="1A1F36"/>
                </a:solidFill>
                <a:latin typeface="Arial"/>
              </a:rPr>
              <a:t> </a:t>
            </a:r>
            <a:r>
              <a:rPr lang="ru-RU" sz="1400" b="1" dirty="0" smtClean="0">
                <a:solidFill>
                  <a:srgbClr val="1A1F36"/>
                </a:solidFill>
                <a:latin typeface="Arial"/>
              </a:rPr>
              <a:t>/ </a:t>
            </a:r>
            <a:r>
              <a:rPr lang="ru-RU" sz="1400" b="1" dirty="0" err="1" smtClean="0">
                <a:solidFill>
                  <a:srgbClr val="1A1F36"/>
                </a:solidFill>
                <a:latin typeface="Arial"/>
              </a:rPr>
              <a:t>инфлюенсером</a:t>
            </a:r>
            <a:r>
              <a:rPr lang="ru-RU" sz="1400" b="1" dirty="0" smtClean="0">
                <a:solidFill>
                  <a:srgbClr val="1A1F36"/>
                </a:solidFill>
                <a:latin typeface="Arial"/>
              </a:rPr>
              <a:t> </a:t>
            </a:r>
            <a:endParaRPr sz="1400" b="1" i="0" dirty="0">
              <a:solidFill>
                <a:srgbClr val="1A1F36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6116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🛡  ПЛАН «Б» — УПРАВЛЕНИЕ РИСКАМИ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660" y="1154430"/>
            <a:ext cx="6400800" cy="25135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ru-RU" sz="1300" b="1" i="0" dirty="0" smtClean="0">
                <a:solidFill>
                  <a:srgbClr val="1E3A5F"/>
                </a:solidFill>
                <a:latin typeface="Arial"/>
              </a:rPr>
              <a:t>5</a:t>
            </a:r>
            <a:r>
              <a:rPr sz="1300" b="1" i="0" dirty="0" smtClean="0">
                <a:solidFill>
                  <a:srgbClr val="1E3A5F"/>
                </a:solidFill>
                <a:latin typeface="Arial"/>
              </a:rPr>
              <a:t> </a:t>
            </a:r>
            <a:r>
              <a:rPr sz="1300" b="1" i="0" dirty="0">
                <a:solidFill>
                  <a:srgbClr val="1E3A5F"/>
                </a:solidFill>
                <a:latin typeface="Arial"/>
              </a:rPr>
              <a:t>ИНСТРУМЕНТОВ ПЛАНА «Б» — ЧТО ДЕЛАЕМ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8135" y="1594485"/>
            <a:ext cx="6583680" cy="658368"/>
          </a:xfrm>
          <a:prstGeom prst="rect">
            <a:avLst/>
          </a:prstGeom>
          <a:solidFill>
            <a:schemeClr val="bg1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09575" y="1731645"/>
            <a:ext cx="365760" cy="36576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9575" y="1731645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2495" y="1696851"/>
            <a:ext cx="5897880" cy="47192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dirty="0" err="1">
                <a:solidFill>
                  <a:srgbClr val="C62828"/>
                </a:solidFill>
                <a:latin typeface="Arial"/>
              </a:rPr>
              <a:t>Дополнительное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обучение</a:t>
            </a:r>
            <a:endParaRPr sz="1100" b="1" dirty="0">
              <a:solidFill>
                <a:srgbClr val="C62828"/>
              </a:solidFill>
              <a:latin typeface="Arial"/>
            </a:endParaRPr>
          </a:p>
          <a:p>
            <a:pPr algn="l"/>
            <a:r>
              <a:rPr lang="ru-RU" sz="900" b="0" dirty="0" smtClean="0">
                <a:solidFill>
                  <a:srgbClr val="1A1F36"/>
                </a:solidFill>
                <a:latin typeface="Arial"/>
              </a:rPr>
              <a:t>Очный</a:t>
            </a:r>
            <a:r>
              <a:rPr sz="900" b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выезд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тренера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Эмпилс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к ТП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дистрибьютора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.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Анализ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ошибок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,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отработка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возражений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«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по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цене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»,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разбор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реальных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кейсов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из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этой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же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сети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8135" y="2508504"/>
            <a:ext cx="6583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09575" y="2645664"/>
            <a:ext cx="365760" cy="36576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9575" y="2645664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495" y="2610870"/>
            <a:ext cx="5897880" cy="47192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dirty="0" err="1">
                <a:solidFill>
                  <a:srgbClr val="F47920"/>
                </a:solidFill>
                <a:latin typeface="Arial"/>
              </a:rPr>
              <a:t>Корректировка</a:t>
            </a:r>
            <a:r>
              <a:rPr sz="1100" b="1" dirty="0">
                <a:solidFill>
                  <a:srgbClr val="F47920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F47920"/>
                </a:solidFill>
                <a:latin typeface="Arial"/>
              </a:rPr>
              <a:t>ассортимента</a:t>
            </a:r>
            <a:endParaRPr sz="1100" b="1" dirty="0">
              <a:solidFill>
                <a:srgbClr val="F47920"/>
              </a:solidFill>
              <a:latin typeface="Arial"/>
            </a:endParaRPr>
          </a:p>
          <a:p>
            <a:pPr algn="l"/>
            <a:r>
              <a:rPr sz="900" b="0" dirty="0" err="1">
                <a:solidFill>
                  <a:srgbClr val="1A1F36"/>
                </a:solidFill>
                <a:latin typeface="Arial"/>
              </a:rPr>
              <a:t>Анализ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продаж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по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SKU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за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6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мес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.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Замена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медленных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цветов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ходовые</a:t>
            </a:r>
            <a:r>
              <a:rPr sz="900" b="0" dirty="0" smtClean="0">
                <a:solidFill>
                  <a:srgbClr val="1A1F36"/>
                </a:solidFill>
                <a:latin typeface="Arial"/>
              </a:rPr>
              <a:t>.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Подбор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оптимальной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матрицы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под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конкретный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регион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8135" y="3317748"/>
            <a:ext cx="6583680" cy="658368"/>
          </a:xfrm>
          <a:prstGeom prst="rect">
            <a:avLst/>
          </a:prstGeom>
          <a:solidFill>
            <a:schemeClr val="bg1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09575" y="3454908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9575" y="3454908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495" y="3489363"/>
            <a:ext cx="5897880" cy="33342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dirty="0" err="1">
                <a:solidFill>
                  <a:srgbClr val="16A34A"/>
                </a:solidFill>
                <a:latin typeface="Arial"/>
              </a:rPr>
              <a:t>Дополнительные</a:t>
            </a:r>
            <a:r>
              <a:rPr sz="1100" b="1" dirty="0">
                <a:solidFill>
                  <a:srgbClr val="16A34A"/>
                </a:solidFill>
                <a:latin typeface="Arial"/>
              </a:rPr>
              <a:t> </a:t>
            </a:r>
            <a:r>
              <a:rPr lang="ru-RU" sz="1100" b="1" dirty="0" smtClean="0">
                <a:solidFill>
                  <a:srgbClr val="16A34A"/>
                </a:solidFill>
                <a:latin typeface="Arial"/>
              </a:rPr>
              <a:t>трейд </a:t>
            </a:r>
            <a:r>
              <a:rPr sz="1100" b="1" dirty="0" err="1" smtClean="0">
                <a:solidFill>
                  <a:srgbClr val="16A34A"/>
                </a:solidFill>
                <a:latin typeface="Arial"/>
              </a:rPr>
              <a:t>промо-акции</a:t>
            </a:r>
            <a:endParaRPr sz="1100" b="1" dirty="0">
              <a:solidFill>
                <a:srgbClr val="16A34A"/>
              </a:solidFill>
              <a:latin typeface="Arial"/>
            </a:endParaRPr>
          </a:p>
          <a:p>
            <a:r>
              <a:rPr lang="ru-RU" sz="900" b="0" dirty="0" smtClean="0">
                <a:solidFill>
                  <a:srgbClr val="1A1F36"/>
                </a:solidFill>
                <a:latin typeface="Arial"/>
              </a:rPr>
              <a:t>Мотивация РРТ за </a:t>
            </a:r>
            <a:r>
              <a:rPr sz="900" b="0" dirty="0" err="1" smtClean="0">
                <a:solidFill>
                  <a:srgbClr val="1A1F36"/>
                </a:solidFill>
                <a:latin typeface="Arial"/>
              </a:rPr>
              <a:t>банку</a:t>
            </a:r>
            <a:r>
              <a:rPr sz="900" b="0" dirty="0" smtClean="0">
                <a:solidFill>
                  <a:srgbClr val="1A1F36"/>
                </a:solidFill>
                <a:latin typeface="Arial"/>
              </a:rPr>
              <a:t>.</a:t>
            </a:r>
            <a:r>
              <a:rPr lang="ru-RU" sz="900" dirty="0">
                <a:solidFill>
                  <a:srgbClr val="1A1F36"/>
                </a:solidFill>
                <a:latin typeface="Arial"/>
              </a:rPr>
              <a:t> </a:t>
            </a:r>
            <a:endParaRPr sz="9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18135" y="4222242"/>
            <a:ext cx="6583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09575" y="4359402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09575" y="4359402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495" y="4324608"/>
            <a:ext cx="5897880" cy="47192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dirty="0" err="1">
                <a:solidFill>
                  <a:srgbClr val="1E3A5F"/>
                </a:solidFill>
                <a:latin typeface="Arial"/>
              </a:rPr>
              <a:t>Мастер-классы</a:t>
            </a:r>
            <a:r>
              <a:rPr sz="1100" b="1" dirty="0">
                <a:solidFill>
                  <a:srgbClr val="1E3A5F"/>
                </a:solidFill>
                <a:latin typeface="Arial"/>
              </a:rPr>
              <a:t> в </a:t>
            </a:r>
            <a:r>
              <a:rPr sz="1100" b="1" dirty="0" err="1">
                <a:solidFill>
                  <a:srgbClr val="1E3A5F"/>
                </a:solidFill>
                <a:latin typeface="Arial"/>
              </a:rPr>
              <a:t>топовых</a:t>
            </a:r>
            <a:r>
              <a:rPr sz="1100" b="1" dirty="0">
                <a:solidFill>
                  <a:srgbClr val="1E3A5F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1E3A5F"/>
                </a:solidFill>
                <a:latin typeface="Arial"/>
              </a:rPr>
              <a:t>точках</a:t>
            </a:r>
            <a:endParaRPr sz="1100" b="1" dirty="0">
              <a:solidFill>
                <a:srgbClr val="1E3A5F"/>
              </a:solidFill>
              <a:latin typeface="Arial"/>
            </a:endParaRPr>
          </a:p>
          <a:p>
            <a:pPr algn="l"/>
            <a:r>
              <a:rPr sz="900" b="0" dirty="0" err="1">
                <a:solidFill>
                  <a:srgbClr val="1A1F36"/>
                </a:solidFill>
                <a:latin typeface="Arial"/>
              </a:rPr>
              <a:t>Выезд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РМ + </a:t>
            </a:r>
            <a:r>
              <a:rPr sz="900" b="0" dirty="0" smtClean="0">
                <a:solidFill>
                  <a:srgbClr val="1A1F36"/>
                </a:solidFill>
                <a:latin typeface="Arial"/>
              </a:rPr>
              <a:t>в 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5-7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самых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крупных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РТТ.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Демонстрация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: TITAN </a:t>
            </a:r>
            <a:r>
              <a:rPr sz="900" b="0" dirty="0" smtClean="0">
                <a:solidFill>
                  <a:srgbClr val="1A1F36"/>
                </a:solidFill>
                <a:latin typeface="Arial"/>
              </a:rPr>
              <a:t>(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выкрас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,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адгезия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,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скорость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).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Обучение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продавцов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прямо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месте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, 45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мин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8135" y="5145405"/>
            <a:ext cx="6583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09575" y="5282565"/>
            <a:ext cx="365760" cy="36576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09575" y="5332075"/>
            <a:ext cx="365760" cy="2667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ru-RU" sz="1400" b="1" i="0" dirty="0" smtClean="0">
                <a:solidFill>
                  <a:srgbClr val="FFFFFF"/>
                </a:solidFill>
                <a:latin typeface="Arial"/>
              </a:rPr>
              <a:t>5</a:t>
            </a:r>
            <a:endParaRPr sz="14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12495" y="5238246"/>
            <a:ext cx="5897880" cy="47192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dirty="0" err="1">
                <a:solidFill>
                  <a:srgbClr val="F47920"/>
                </a:solidFill>
                <a:latin typeface="Arial"/>
              </a:rPr>
              <a:t>Личный</a:t>
            </a:r>
            <a:r>
              <a:rPr sz="1100" b="1" dirty="0">
                <a:solidFill>
                  <a:srgbClr val="F47920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F47920"/>
                </a:solidFill>
                <a:latin typeface="Arial"/>
              </a:rPr>
              <a:t>куратор</a:t>
            </a:r>
            <a:r>
              <a:rPr sz="1100" b="1" dirty="0">
                <a:solidFill>
                  <a:srgbClr val="F47920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F47920"/>
                </a:solidFill>
                <a:latin typeface="Arial"/>
              </a:rPr>
              <a:t>от</a:t>
            </a:r>
            <a:r>
              <a:rPr sz="1100" b="1" dirty="0">
                <a:solidFill>
                  <a:srgbClr val="F47920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F47920"/>
                </a:solidFill>
                <a:latin typeface="Arial"/>
              </a:rPr>
              <a:t>Эмпилс</a:t>
            </a:r>
            <a:endParaRPr sz="1100" b="1" dirty="0">
              <a:solidFill>
                <a:srgbClr val="F47920"/>
              </a:solidFill>
              <a:latin typeface="Arial"/>
            </a:endParaRPr>
          </a:p>
          <a:p>
            <a:pPr algn="l"/>
            <a:r>
              <a:rPr lang="ru-RU" sz="900" b="0" dirty="0" smtClean="0">
                <a:solidFill>
                  <a:srgbClr val="1A1F36"/>
                </a:solidFill>
                <a:latin typeface="Arial"/>
              </a:rPr>
              <a:t>Особый контроль </a:t>
            </a:r>
            <a:r>
              <a:rPr sz="900" b="0" dirty="0" err="1" smtClean="0">
                <a:solidFill>
                  <a:srgbClr val="1A1F36"/>
                </a:solidFill>
                <a:latin typeface="Arial"/>
              </a:rPr>
              <a:t>за</a:t>
            </a:r>
            <a:r>
              <a:rPr sz="900" b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проблемным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 smtClean="0">
                <a:solidFill>
                  <a:srgbClr val="1A1F36"/>
                </a:solidFill>
                <a:latin typeface="Arial"/>
              </a:rPr>
              <a:t>дистрибьютором</a:t>
            </a:r>
            <a:r>
              <a:rPr sz="900" b="0" dirty="0" smtClean="0">
                <a:solidFill>
                  <a:srgbClr val="1A1F36"/>
                </a:solidFill>
                <a:latin typeface="Arial"/>
              </a:rPr>
              <a:t>.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Еженедельные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созвоны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.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Личный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визит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1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раз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в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месяц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до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выхода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KPI.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65645" y="1173480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Arial"/>
              </a:rPr>
              <a:t>КОГДА ВКЛЮЧАЕТСЯ ПЛАН «Б»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65645" y="1584960"/>
            <a:ext cx="4937760" cy="676656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065645" y="1584960"/>
            <a:ext cx="1371600" cy="676656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065645" y="1584960"/>
            <a:ext cx="1371600" cy="67665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🔴 КРАСНЫЙ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28685" y="1764270"/>
            <a:ext cx="3383280" cy="3180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 dirty="0" err="1">
                <a:solidFill>
                  <a:srgbClr val="1A1F36"/>
                </a:solidFill>
                <a:latin typeface="Arial"/>
              </a:rPr>
              <a:t>Уход</a:t>
            </a:r>
            <a:r>
              <a:rPr sz="1000" b="1" dirty="0">
                <a:solidFill>
                  <a:srgbClr val="1A1F36"/>
                </a:solidFill>
                <a:latin typeface="Arial"/>
              </a:rPr>
              <a:t> с </a:t>
            </a:r>
            <a:r>
              <a:rPr sz="1000" b="1" dirty="0" err="1">
                <a:solidFill>
                  <a:srgbClr val="1A1F36"/>
                </a:solidFill>
                <a:latin typeface="Arial"/>
              </a:rPr>
              <a:t>полки</a:t>
            </a:r>
            <a:r>
              <a:rPr sz="1000" b="1" dirty="0">
                <a:solidFill>
                  <a:srgbClr val="1A1F36"/>
                </a:solidFill>
                <a:latin typeface="Arial"/>
              </a:rPr>
              <a:t> &lt; 50% </a:t>
            </a:r>
            <a:r>
              <a:rPr sz="1000" b="1" dirty="0" err="1">
                <a:solidFill>
                  <a:srgbClr val="1A1F36"/>
                </a:solidFill>
                <a:latin typeface="Arial"/>
              </a:rPr>
              <a:t>от</a:t>
            </a:r>
            <a:r>
              <a:rPr sz="1000" b="1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dirty="0" err="1">
                <a:solidFill>
                  <a:srgbClr val="1A1F36"/>
                </a:solidFill>
                <a:latin typeface="Arial"/>
              </a:rPr>
              <a:t>плана</a:t>
            </a:r>
            <a:endParaRPr sz="1000" b="1" dirty="0">
              <a:solidFill>
                <a:srgbClr val="1A1F36"/>
              </a:solidFill>
              <a:latin typeface="Arial"/>
            </a:endParaRPr>
          </a:p>
          <a:p>
            <a:pPr algn="l"/>
            <a:r>
              <a:rPr sz="900" b="0" dirty="0" err="1">
                <a:solidFill>
                  <a:srgbClr val="C62828"/>
                </a:solidFill>
                <a:latin typeface="Arial"/>
              </a:rPr>
              <a:t>Включение</a:t>
            </a:r>
            <a:r>
              <a:rPr sz="900" b="0" dirty="0">
                <a:solidFill>
                  <a:srgbClr val="C62828"/>
                </a:solidFill>
                <a:latin typeface="Arial"/>
              </a:rPr>
              <a:t> </a:t>
            </a:r>
            <a:r>
              <a:rPr lang="ru-RU" sz="900" b="0" dirty="0" smtClean="0">
                <a:solidFill>
                  <a:srgbClr val="C62828"/>
                </a:solidFill>
                <a:latin typeface="Arial"/>
              </a:rPr>
              <a:t>всех инструментов</a:t>
            </a:r>
            <a:endParaRPr sz="900" b="0" dirty="0">
              <a:solidFill>
                <a:srgbClr val="C62828"/>
              </a:solidFill>
              <a:latin typeface="Arial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7065645" y="2621280"/>
            <a:ext cx="4937760" cy="676656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065645" y="2621280"/>
            <a:ext cx="1371600" cy="676656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065645" y="2621280"/>
            <a:ext cx="1371600" cy="67665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🟡 ЖЁЛТЫЙ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28685" y="2657856"/>
            <a:ext cx="33832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 dirty="0" err="1">
                <a:solidFill>
                  <a:srgbClr val="1A1F36"/>
                </a:solidFill>
                <a:latin typeface="Arial"/>
              </a:rPr>
              <a:t>Уход</a:t>
            </a:r>
            <a:r>
              <a:rPr sz="1000" b="1" dirty="0">
                <a:solidFill>
                  <a:srgbClr val="1A1F36"/>
                </a:solidFill>
                <a:latin typeface="Arial"/>
              </a:rPr>
              <a:t> с </a:t>
            </a:r>
            <a:r>
              <a:rPr sz="1000" b="1" dirty="0" err="1">
                <a:solidFill>
                  <a:srgbClr val="1A1F36"/>
                </a:solidFill>
                <a:latin typeface="Arial"/>
              </a:rPr>
              <a:t>полки</a:t>
            </a:r>
            <a:r>
              <a:rPr sz="1000" b="1" dirty="0">
                <a:solidFill>
                  <a:srgbClr val="1A1F36"/>
                </a:solidFill>
                <a:latin typeface="Arial"/>
              </a:rPr>
              <a:t> 50-70% </a:t>
            </a:r>
            <a:r>
              <a:rPr sz="1000" b="1" dirty="0" err="1">
                <a:solidFill>
                  <a:srgbClr val="1A1F36"/>
                </a:solidFill>
                <a:latin typeface="Arial"/>
              </a:rPr>
              <a:t>от</a:t>
            </a:r>
            <a:r>
              <a:rPr sz="1000" b="1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dirty="0" err="1">
                <a:solidFill>
                  <a:srgbClr val="1A1F36"/>
                </a:solidFill>
                <a:latin typeface="Arial"/>
              </a:rPr>
              <a:t>плана</a:t>
            </a:r>
            <a:endParaRPr sz="1000" b="1" dirty="0">
              <a:solidFill>
                <a:srgbClr val="1A1F36"/>
              </a:solidFill>
              <a:latin typeface="Arial"/>
            </a:endParaRPr>
          </a:p>
          <a:p>
            <a:pPr algn="l"/>
            <a:r>
              <a:rPr sz="900" b="0" dirty="0" err="1">
                <a:solidFill>
                  <a:srgbClr val="F47920"/>
                </a:solidFill>
                <a:latin typeface="Arial"/>
              </a:rPr>
              <a:t>Обучение</a:t>
            </a:r>
            <a:r>
              <a:rPr sz="900" b="0" dirty="0">
                <a:solidFill>
                  <a:srgbClr val="F47920"/>
                </a:solidFill>
                <a:latin typeface="Arial"/>
              </a:rPr>
              <a:t> + </a:t>
            </a:r>
            <a:r>
              <a:rPr sz="900" b="0" dirty="0" err="1">
                <a:solidFill>
                  <a:srgbClr val="F47920"/>
                </a:solidFill>
                <a:latin typeface="Arial"/>
              </a:rPr>
              <a:t>корректировка</a:t>
            </a:r>
            <a:r>
              <a:rPr sz="900" b="0" dirty="0">
                <a:solidFill>
                  <a:srgbClr val="F47920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F47920"/>
                </a:solidFill>
                <a:latin typeface="Arial"/>
              </a:rPr>
              <a:t>ассортимента</a:t>
            </a:r>
            <a:r>
              <a:rPr sz="900" b="0" dirty="0">
                <a:solidFill>
                  <a:srgbClr val="F47920"/>
                </a:solidFill>
                <a:latin typeface="Arial"/>
              </a:rPr>
              <a:t> + </a:t>
            </a:r>
            <a:r>
              <a:rPr sz="900" b="0" dirty="0" err="1">
                <a:solidFill>
                  <a:srgbClr val="F47920"/>
                </a:solidFill>
                <a:latin typeface="Arial"/>
              </a:rPr>
              <a:t>промо</a:t>
            </a:r>
            <a:endParaRPr sz="900" b="0" dirty="0">
              <a:solidFill>
                <a:srgbClr val="F47920"/>
              </a:solidFill>
              <a:latin typeface="Arial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7065645" y="3638550"/>
            <a:ext cx="4937760" cy="676656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065645" y="3638550"/>
            <a:ext cx="1371600" cy="67665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065645" y="3638550"/>
            <a:ext cx="1371600" cy="67665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rial"/>
              </a:rPr>
              <a:t>🟢 ЗЕЛЁНЫЙ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28685" y="3817860"/>
            <a:ext cx="3383280" cy="3180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 dirty="0" err="1">
                <a:solidFill>
                  <a:srgbClr val="1A1F36"/>
                </a:solidFill>
                <a:latin typeface="Arial"/>
              </a:rPr>
              <a:t>Уход</a:t>
            </a:r>
            <a:r>
              <a:rPr sz="1000" b="1" dirty="0">
                <a:solidFill>
                  <a:srgbClr val="1A1F36"/>
                </a:solidFill>
                <a:latin typeface="Arial"/>
              </a:rPr>
              <a:t> с </a:t>
            </a:r>
            <a:r>
              <a:rPr sz="1000" b="1" dirty="0" err="1">
                <a:solidFill>
                  <a:srgbClr val="1A1F36"/>
                </a:solidFill>
                <a:latin typeface="Arial"/>
              </a:rPr>
              <a:t>полки</a:t>
            </a:r>
            <a:r>
              <a:rPr sz="1000" b="1" dirty="0">
                <a:solidFill>
                  <a:srgbClr val="1A1F36"/>
                </a:solidFill>
                <a:latin typeface="Arial"/>
              </a:rPr>
              <a:t> 70-85% </a:t>
            </a:r>
            <a:r>
              <a:rPr sz="1000" b="1" dirty="0" err="1">
                <a:solidFill>
                  <a:srgbClr val="1A1F36"/>
                </a:solidFill>
                <a:latin typeface="Arial"/>
              </a:rPr>
              <a:t>от</a:t>
            </a:r>
            <a:r>
              <a:rPr sz="1000" b="1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dirty="0" err="1">
                <a:solidFill>
                  <a:srgbClr val="1A1F36"/>
                </a:solidFill>
                <a:latin typeface="Arial"/>
              </a:rPr>
              <a:t>плана</a:t>
            </a:r>
            <a:endParaRPr sz="1000" b="1" dirty="0">
              <a:solidFill>
                <a:srgbClr val="1A1F36"/>
              </a:solidFill>
              <a:latin typeface="Arial"/>
            </a:endParaRPr>
          </a:p>
          <a:p>
            <a:pPr algn="l"/>
            <a:r>
              <a:rPr sz="900" b="0" dirty="0" err="1">
                <a:solidFill>
                  <a:srgbClr val="16A34A"/>
                </a:solidFill>
                <a:latin typeface="Arial"/>
              </a:rPr>
              <a:t>Дополнительные</a:t>
            </a:r>
            <a:r>
              <a:rPr sz="900" b="0" dirty="0">
                <a:solidFill>
                  <a:srgbClr val="16A34A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6A34A"/>
                </a:solidFill>
                <a:latin typeface="Arial"/>
              </a:rPr>
              <a:t>промо-акции</a:t>
            </a:r>
            <a:r>
              <a:rPr sz="900" b="0" dirty="0">
                <a:solidFill>
                  <a:srgbClr val="16A34A"/>
                </a:solidFill>
                <a:latin typeface="Arial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28482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00149" y="2644103"/>
            <a:ext cx="10020301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6000" b="1" dirty="0" smtClean="0">
                <a:solidFill>
                  <a:srgbClr val="F47629"/>
                </a:solidFill>
                <a:latin typeface="+mj-lt"/>
              </a:rPr>
              <a:t>СЕТЕВОЙ КАНАЛ</a:t>
            </a:r>
            <a:endParaRPr sz="6000" b="1" dirty="0">
              <a:solidFill>
                <a:srgbClr val="F47629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66984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9525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2215"/>
            <a:ext cx="11460175" cy="3590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ru-RU" sz="2000" b="1" i="0" dirty="0" smtClean="0">
                <a:solidFill>
                  <a:srgbClr val="FFFFFF"/>
                </a:solidFill>
                <a:latin typeface="Arial"/>
              </a:rPr>
              <a:t>ФЕДЕРАЛЬНЫЕ </a:t>
            </a:r>
            <a:r>
              <a:rPr sz="2000" b="1" i="0" dirty="0" smtClean="0">
                <a:solidFill>
                  <a:srgbClr val="FFFFFF"/>
                </a:solidFill>
                <a:latin typeface="Arial"/>
              </a:rPr>
              <a:t>СЕТИ </a:t>
            </a:r>
            <a:r>
              <a:rPr sz="2000" b="1" i="0" dirty="0">
                <a:solidFill>
                  <a:srgbClr val="FFFFFF"/>
                </a:solidFill>
                <a:latin typeface="Arial"/>
              </a:rPr>
              <a:t>«ЛЕМАНА ПРО</a:t>
            </a:r>
            <a:r>
              <a:rPr sz="2000" b="1" i="0" dirty="0" smtClean="0">
                <a:solidFill>
                  <a:srgbClr val="FFFFFF"/>
                </a:solidFill>
                <a:latin typeface="Arial"/>
              </a:rPr>
              <a:t>»</a:t>
            </a:r>
            <a:endParaRPr sz="20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1131894"/>
            <a:ext cx="5434965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ru-RU" sz="1600" b="1" dirty="0" smtClean="0">
                <a:solidFill>
                  <a:srgbClr val="C62828"/>
                </a:solidFill>
                <a:latin typeface="Arial"/>
              </a:rPr>
              <a:t>11 </a:t>
            </a:r>
            <a:r>
              <a:rPr lang="ru-RU" sz="1600" b="1" dirty="0">
                <a:solidFill>
                  <a:srgbClr val="C62828"/>
                </a:solidFill>
                <a:latin typeface="Arial"/>
              </a:rPr>
              <a:t>ТОРГОВЫХ ТОЧЕК </a:t>
            </a:r>
            <a:r>
              <a:rPr lang="ru-RU" sz="1600" b="1" dirty="0" err="1" smtClean="0">
                <a:solidFill>
                  <a:srgbClr val="C62828"/>
                </a:solidFill>
                <a:latin typeface="Arial"/>
              </a:rPr>
              <a:t>Лемана</a:t>
            </a:r>
            <a:r>
              <a:rPr lang="ru-RU" sz="1600" b="1" dirty="0" smtClean="0">
                <a:solidFill>
                  <a:srgbClr val="C62828"/>
                </a:solidFill>
                <a:latin typeface="Arial"/>
              </a:rPr>
              <a:t> Про в </a:t>
            </a:r>
            <a:r>
              <a:rPr lang="ru-RU" sz="1600" b="1" dirty="0">
                <a:solidFill>
                  <a:srgbClr val="C62828"/>
                </a:solidFill>
                <a:latin typeface="Arial"/>
              </a:rPr>
              <a:t>ЮФО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13248"/>
            <a:ext cx="5434965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7200" y="1722976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722976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712400"/>
            <a:ext cx="4846320" cy="348813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dirty="0">
                <a:solidFill>
                  <a:srgbClr val="1A1F36"/>
                </a:solidFill>
                <a:latin typeface="Arial"/>
              </a:rPr>
              <a:t>РК </a:t>
            </a:r>
            <a:r>
              <a:rPr sz="1100" b="1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1100" b="1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1A1F36"/>
                </a:solidFill>
                <a:latin typeface="Arial"/>
              </a:rPr>
              <a:t>экранах</a:t>
            </a:r>
            <a:r>
              <a:rPr sz="1100" b="1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1A1F36"/>
                </a:solidFill>
                <a:latin typeface="Arial"/>
              </a:rPr>
              <a:t>Ростова-на-Дону</a:t>
            </a:r>
            <a:endParaRPr sz="1100" b="1" dirty="0">
              <a:solidFill>
                <a:srgbClr val="1A1F36"/>
              </a:solidFill>
              <a:latin typeface="Arial"/>
            </a:endParaRPr>
          </a:p>
          <a:p>
            <a:pPr algn="l"/>
            <a:r>
              <a:rPr sz="1000" b="0" dirty="0">
                <a:solidFill>
                  <a:srgbClr val="9CA3AF"/>
                </a:solidFill>
                <a:latin typeface="Arial"/>
              </a:rPr>
              <a:t>6 </a:t>
            </a:r>
            <a:r>
              <a:rPr sz="1000" b="0" dirty="0" err="1">
                <a:solidFill>
                  <a:srgbClr val="9CA3AF"/>
                </a:solidFill>
                <a:latin typeface="Arial"/>
              </a:rPr>
              <a:t>топовых</a:t>
            </a:r>
            <a:r>
              <a:rPr sz="1000" b="0" dirty="0">
                <a:solidFill>
                  <a:srgbClr val="9CA3AF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9CA3AF"/>
                </a:solidFill>
                <a:latin typeface="Arial"/>
              </a:rPr>
              <a:t>экранов</a:t>
            </a:r>
            <a:r>
              <a:rPr sz="1000" b="0" dirty="0">
                <a:solidFill>
                  <a:srgbClr val="9CA3AF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9CA3AF"/>
                </a:solidFill>
                <a:latin typeface="Arial"/>
              </a:rPr>
              <a:t>города</a:t>
            </a:r>
            <a:r>
              <a:rPr sz="1000" b="0" dirty="0">
                <a:solidFill>
                  <a:srgbClr val="9CA3AF"/>
                </a:solidFill>
                <a:latin typeface="Arial"/>
              </a:rPr>
              <a:t> · с 01.07 </a:t>
            </a:r>
            <a:r>
              <a:rPr sz="1000" b="0" dirty="0" err="1">
                <a:solidFill>
                  <a:srgbClr val="9CA3AF"/>
                </a:solidFill>
                <a:latin typeface="Arial"/>
              </a:rPr>
              <a:t>на</a:t>
            </a:r>
            <a:r>
              <a:rPr sz="1000" b="0" dirty="0">
                <a:solidFill>
                  <a:srgbClr val="9CA3AF"/>
                </a:solidFill>
                <a:latin typeface="Arial"/>
              </a:rPr>
              <a:t> 1 </a:t>
            </a:r>
            <a:r>
              <a:rPr sz="1000" b="0" dirty="0" err="1">
                <a:solidFill>
                  <a:srgbClr val="9CA3AF"/>
                </a:solidFill>
                <a:latin typeface="Arial"/>
              </a:rPr>
              <a:t>месяц</a:t>
            </a:r>
            <a:endParaRPr sz="1000" b="0" dirty="0">
              <a:solidFill>
                <a:srgbClr val="9CA3AF"/>
              </a:solidFill>
              <a:latin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65760" y="2245327"/>
            <a:ext cx="5434965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2355055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355055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344479"/>
            <a:ext cx="4846320" cy="348813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dirty="0" err="1">
                <a:solidFill>
                  <a:srgbClr val="1A1F36"/>
                </a:solidFill>
                <a:latin typeface="Arial"/>
              </a:rPr>
              <a:t>Таргетированная</a:t>
            </a:r>
            <a:r>
              <a:rPr sz="1100" b="1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1A1F36"/>
                </a:solidFill>
                <a:latin typeface="Arial"/>
              </a:rPr>
              <a:t>реклама</a:t>
            </a:r>
            <a:r>
              <a:rPr sz="1100" b="1" dirty="0">
                <a:solidFill>
                  <a:srgbClr val="1A1F36"/>
                </a:solidFill>
                <a:latin typeface="Arial"/>
              </a:rPr>
              <a:t> в </a:t>
            </a:r>
            <a:r>
              <a:rPr lang="ru-RU" sz="1100" b="1" dirty="0" smtClean="0">
                <a:solidFill>
                  <a:srgbClr val="1A1F36"/>
                </a:solidFill>
                <a:latin typeface="Arial"/>
              </a:rPr>
              <a:t>сети контакте</a:t>
            </a:r>
            <a:endParaRPr sz="1100" b="1" dirty="0">
              <a:solidFill>
                <a:srgbClr val="1A1F36"/>
              </a:solidFill>
              <a:latin typeface="Arial"/>
            </a:endParaRPr>
          </a:p>
          <a:p>
            <a:pPr algn="l"/>
            <a:r>
              <a:rPr sz="1000" b="0" dirty="0">
                <a:solidFill>
                  <a:srgbClr val="9CA3AF"/>
                </a:solidFill>
                <a:latin typeface="Arial"/>
              </a:rPr>
              <a:t>ГЕО </a:t>
            </a:r>
            <a:r>
              <a:rPr sz="1000" b="0" dirty="0" err="1">
                <a:solidFill>
                  <a:srgbClr val="9CA3AF"/>
                </a:solidFill>
                <a:latin typeface="Arial"/>
              </a:rPr>
              <a:t>по</a:t>
            </a:r>
            <a:r>
              <a:rPr sz="1000" b="0" dirty="0">
                <a:solidFill>
                  <a:srgbClr val="9CA3AF"/>
                </a:solidFill>
                <a:latin typeface="Arial"/>
              </a:rPr>
              <a:t> 11 ТТ · </a:t>
            </a:r>
            <a:r>
              <a:rPr sz="1000" b="0" dirty="0" err="1">
                <a:solidFill>
                  <a:srgbClr val="9CA3AF"/>
                </a:solidFill>
                <a:latin typeface="Arial"/>
              </a:rPr>
              <a:t>ВКонтакте</a:t>
            </a:r>
            <a:r>
              <a:rPr sz="1000" b="0" dirty="0">
                <a:solidFill>
                  <a:srgbClr val="9CA3AF"/>
                </a:solidFill>
                <a:latin typeface="Arial"/>
              </a:rPr>
              <a:t> · с 07.07 </a:t>
            </a:r>
            <a:r>
              <a:rPr sz="1000" b="0" dirty="0" err="1">
                <a:solidFill>
                  <a:srgbClr val="9CA3AF"/>
                </a:solidFill>
                <a:latin typeface="Arial"/>
              </a:rPr>
              <a:t>по</a:t>
            </a:r>
            <a:r>
              <a:rPr sz="1000" b="0" dirty="0">
                <a:solidFill>
                  <a:srgbClr val="9CA3AF"/>
                </a:solidFill>
                <a:latin typeface="Arial"/>
              </a:rPr>
              <a:t> 31.08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858356"/>
            <a:ext cx="5434965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7200" y="2968084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2968084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2890088"/>
            <a:ext cx="4846320" cy="50270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dirty="0" err="1">
                <a:solidFill>
                  <a:srgbClr val="1A1F36"/>
                </a:solidFill>
                <a:latin typeface="Arial"/>
              </a:rPr>
              <a:t>Промо-акция</a:t>
            </a:r>
            <a:r>
              <a:rPr sz="1100" b="1" dirty="0">
                <a:solidFill>
                  <a:srgbClr val="1A1F36"/>
                </a:solidFill>
                <a:latin typeface="Arial"/>
              </a:rPr>
              <a:t> «</a:t>
            </a:r>
            <a:r>
              <a:rPr sz="1100" b="1" dirty="0" err="1">
                <a:solidFill>
                  <a:srgbClr val="1A1F36"/>
                </a:solidFill>
                <a:latin typeface="Arial"/>
              </a:rPr>
              <a:t>Подарок</a:t>
            </a:r>
            <a:r>
              <a:rPr sz="1100" b="1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1A1F36"/>
                </a:solidFill>
                <a:latin typeface="Arial"/>
              </a:rPr>
              <a:t>за</a:t>
            </a:r>
            <a:r>
              <a:rPr sz="1100" b="1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1A1F36"/>
                </a:solidFill>
                <a:latin typeface="Arial"/>
              </a:rPr>
              <a:t>покупку</a:t>
            </a:r>
            <a:r>
              <a:rPr sz="1100" b="1" dirty="0">
                <a:solidFill>
                  <a:srgbClr val="1A1F36"/>
                </a:solidFill>
                <a:latin typeface="Arial"/>
              </a:rPr>
              <a:t>»</a:t>
            </a:r>
          </a:p>
          <a:p>
            <a:pPr algn="l"/>
            <a:r>
              <a:rPr sz="1000" b="0" dirty="0" err="1">
                <a:solidFill>
                  <a:srgbClr val="9CA3AF"/>
                </a:solidFill>
                <a:latin typeface="Arial"/>
              </a:rPr>
              <a:t>Ростов</a:t>
            </a:r>
            <a:r>
              <a:rPr sz="1000" b="0" dirty="0">
                <a:solidFill>
                  <a:srgbClr val="9CA3AF"/>
                </a:solidFill>
                <a:latin typeface="Arial"/>
              </a:rPr>
              <a:t>: 17-18 </a:t>
            </a:r>
            <a:r>
              <a:rPr sz="1000" b="0" dirty="0" err="1">
                <a:solidFill>
                  <a:srgbClr val="9CA3AF"/>
                </a:solidFill>
                <a:latin typeface="Arial"/>
              </a:rPr>
              <a:t>июля</a:t>
            </a:r>
            <a:r>
              <a:rPr sz="1000" b="0" dirty="0">
                <a:solidFill>
                  <a:srgbClr val="9CA3AF"/>
                </a:solidFill>
                <a:latin typeface="Arial"/>
              </a:rPr>
              <a:t> · </a:t>
            </a:r>
            <a:r>
              <a:rPr sz="1000" b="0" dirty="0" err="1">
                <a:solidFill>
                  <a:srgbClr val="9CA3AF"/>
                </a:solidFill>
                <a:latin typeface="Arial"/>
              </a:rPr>
              <a:t>Краснодар</a:t>
            </a:r>
            <a:r>
              <a:rPr sz="1000" b="0" dirty="0">
                <a:solidFill>
                  <a:srgbClr val="9CA3AF"/>
                </a:solidFill>
                <a:latin typeface="Arial"/>
              </a:rPr>
              <a:t>: 18-19 </a:t>
            </a:r>
            <a:r>
              <a:rPr sz="1000" b="0" dirty="0" err="1">
                <a:solidFill>
                  <a:srgbClr val="9CA3AF"/>
                </a:solidFill>
                <a:latin typeface="Arial"/>
              </a:rPr>
              <a:t>июля</a:t>
            </a:r>
            <a:r>
              <a:rPr sz="1000" b="0" dirty="0">
                <a:solidFill>
                  <a:srgbClr val="9CA3AF"/>
                </a:solidFill>
                <a:latin typeface="Arial"/>
              </a:rPr>
              <a:t> · </a:t>
            </a:r>
            <a:r>
              <a:rPr sz="1000" b="0" dirty="0" err="1">
                <a:solidFill>
                  <a:srgbClr val="9CA3AF"/>
                </a:solidFill>
                <a:latin typeface="Arial"/>
              </a:rPr>
              <a:t>от</a:t>
            </a:r>
            <a:r>
              <a:rPr sz="1000" b="0" dirty="0">
                <a:solidFill>
                  <a:srgbClr val="9CA3AF"/>
                </a:solidFill>
                <a:latin typeface="Arial"/>
              </a:rPr>
              <a:t> 1900₽ — </a:t>
            </a:r>
            <a:r>
              <a:rPr sz="1000" b="0" dirty="0" err="1">
                <a:solidFill>
                  <a:srgbClr val="9CA3AF"/>
                </a:solidFill>
                <a:latin typeface="Arial"/>
              </a:rPr>
              <a:t>кисть+перчатки</a:t>
            </a:r>
            <a:r>
              <a:rPr sz="1000" b="0" dirty="0">
                <a:solidFill>
                  <a:srgbClr val="9CA3AF"/>
                </a:solidFill>
                <a:latin typeface="Arial"/>
              </a:rPr>
              <a:t>, </a:t>
            </a:r>
            <a:r>
              <a:rPr sz="1000" b="0" dirty="0" err="1">
                <a:solidFill>
                  <a:srgbClr val="9CA3AF"/>
                </a:solidFill>
                <a:latin typeface="Arial"/>
              </a:rPr>
              <a:t>от</a:t>
            </a:r>
            <a:r>
              <a:rPr sz="1000" b="0" dirty="0">
                <a:solidFill>
                  <a:srgbClr val="9CA3AF"/>
                </a:solidFill>
                <a:latin typeface="Arial"/>
              </a:rPr>
              <a:t> 3900₽ — </a:t>
            </a:r>
            <a:r>
              <a:rPr sz="1000" b="0" dirty="0" err="1">
                <a:solidFill>
                  <a:srgbClr val="9CA3AF"/>
                </a:solidFill>
                <a:latin typeface="Arial"/>
              </a:rPr>
              <a:t>сертификат</a:t>
            </a:r>
            <a:r>
              <a:rPr sz="1000" b="0" dirty="0">
                <a:solidFill>
                  <a:srgbClr val="9CA3AF"/>
                </a:solidFill>
                <a:latin typeface="Arial"/>
              </a:rPr>
              <a:t> 500₽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519010"/>
            <a:ext cx="5434965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" y="3628738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3628738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3637212"/>
            <a:ext cx="4846320" cy="348813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dirty="0" err="1">
                <a:solidFill>
                  <a:srgbClr val="1A1F36"/>
                </a:solidFill>
                <a:latin typeface="Arial"/>
              </a:rPr>
              <a:t>Кэшбек</a:t>
            </a:r>
            <a:r>
              <a:rPr sz="1100" b="1" dirty="0">
                <a:solidFill>
                  <a:srgbClr val="1A1F36"/>
                </a:solidFill>
                <a:latin typeface="Arial"/>
              </a:rPr>
              <a:t> 5% </a:t>
            </a:r>
            <a:r>
              <a:rPr sz="1100" b="1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1100" b="1" dirty="0">
                <a:solidFill>
                  <a:srgbClr val="1A1F36"/>
                </a:solidFill>
                <a:latin typeface="Arial"/>
              </a:rPr>
              <a:t> TITAN</a:t>
            </a:r>
          </a:p>
          <a:p>
            <a:pPr algn="l"/>
            <a:r>
              <a:rPr sz="1000" b="0" dirty="0" err="1">
                <a:solidFill>
                  <a:srgbClr val="9CA3AF"/>
                </a:solidFill>
                <a:latin typeface="Arial"/>
              </a:rPr>
              <a:t>Во</a:t>
            </a:r>
            <a:r>
              <a:rPr sz="1000" b="0" dirty="0">
                <a:solidFill>
                  <a:srgbClr val="9CA3AF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9CA3AF"/>
                </a:solidFill>
                <a:latin typeface="Arial"/>
              </a:rPr>
              <a:t>всех</a:t>
            </a:r>
            <a:r>
              <a:rPr sz="1000" b="0" dirty="0">
                <a:solidFill>
                  <a:srgbClr val="9CA3AF"/>
                </a:solidFill>
                <a:latin typeface="Arial"/>
              </a:rPr>
              <a:t> 11 ТТ </a:t>
            </a:r>
            <a:r>
              <a:rPr sz="1000" b="0" dirty="0" err="1">
                <a:solidFill>
                  <a:srgbClr val="9CA3AF"/>
                </a:solidFill>
                <a:latin typeface="Arial"/>
              </a:rPr>
              <a:t>Лемана</a:t>
            </a:r>
            <a:r>
              <a:rPr sz="1000" b="0" dirty="0">
                <a:solidFill>
                  <a:srgbClr val="9CA3AF"/>
                </a:solidFill>
                <a:latin typeface="Arial"/>
              </a:rPr>
              <a:t> ПРО · с 01.07 </a:t>
            </a:r>
            <a:r>
              <a:rPr sz="1000" b="0" dirty="0" err="1">
                <a:solidFill>
                  <a:srgbClr val="9CA3AF"/>
                </a:solidFill>
                <a:latin typeface="Arial"/>
              </a:rPr>
              <a:t>по</a:t>
            </a:r>
            <a:r>
              <a:rPr sz="1000" b="0" dirty="0">
                <a:solidFill>
                  <a:srgbClr val="9CA3AF"/>
                </a:solidFill>
                <a:latin typeface="Arial"/>
              </a:rPr>
              <a:t> 31.08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151089"/>
            <a:ext cx="5434965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57200" y="4260817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4260817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259766"/>
            <a:ext cx="4846320" cy="348813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dirty="0" err="1">
                <a:solidFill>
                  <a:srgbClr val="1A1F36"/>
                </a:solidFill>
                <a:latin typeface="Arial"/>
              </a:rPr>
              <a:t>Мастер-классы</a:t>
            </a:r>
            <a:r>
              <a:rPr sz="1100" b="1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1A1F36"/>
                </a:solidFill>
                <a:latin typeface="Arial"/>
              </a:rPr>
              <a:t>силами</a:t>
            </a:r>
            <a:r>
              <a:rPr sz="1100" b="1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1A1F36"/>
                </a:solidFill>
                <a:latin typeface="Arial"/>
              </a:rPr>
              <a:t>Эмпилс</a:t>
            </a:r>
            <a:endParaRPr sz="1100" b="1" dirty="0">
              <a:solidFill>
                <a:srgbClr val="1A1F36"/>
              </a:solidFill>
              <a:latin typeface="Arial"/>
            </a:endParaRPr>
          </a:p>
          <a:p>
            <a:pPr algn="l"/>
            <a:r>
              <a:rPr sz="1000" b="0" dirty="0">
                <a:solidFill>
                  <a:srgbClr val="9CA3AF"/>
                </a:solidFill>
                <a:latin typeface="Arial"/>
              </a:rPr>
              <a:t>3 ТТ в </a:t>
            </a:r>
            <a:r>
              <a:rPr sz="1000" b="0" dirty="0" err="1">
                <a:solidFill>
                  <a:srgbClr val="9CA3AF"/>
                </a:solidFill>
                <a:latin typeface="Arial"/>
              </a:rPr>
              <a:t>Ростове-на-Дону</a:t>
            </a:r>
            <a:r>
              <a:rPr sz="1000" b="0" dirty="0">
                <a:solidFill>
                  <a:srgbClr val="9CA3AF"/>
                </a:solidFill>
                <a:latin typeface="Arial"/>
              </a:rPr>
              <a:t> · 17 и 24 </a:t>
            </a:r>
            <a:r>
              <a:rPr sz="1000" b="0" dirty="0" err="1">
                <a:solidFill>
                  <a:srgbClr val="9CA3AF"/>
                </a:solidFill>
                <a:latin typeface="Arial"/>
              </a:rPr>
              <a:t>июля</a:t>
            </a:r>
            <a:r>
              <a:rPr sz="1000" b="0" dirty="0">
                <a:solidFill>
                  <a:srgbClr val="9CA3AF"/>
                </a:solidFill>
                <a:latin typeface="Arial"/>
              </a:rPr>
              <a:t> · </a:t>
            </a:r>
            <a:r>
              <a:rPr sz="1000" b="0" dirty="0" err="1">
                <a:solidFill>
                  <a:srgbClr val="9CA3AF"/>
                </a:solidFill>
                <a:latin typeface="Arial"/>
              </a:rPr>
              <a:t>выкрасы</a:t>
            </a:r>
            <a:r>
              <a:rPr sz="1000" b="0" dirty="0">
                <a:solidFill>
                  <a:srgbClr val="9CA3AF"/>
                </a:solidFill>
                <a:latin typeface="Arial"/>
              </a:rPr>
              <a:t> с </a:t>
            </a:r>
            <a:r>
              <a:rPr sz="1000" b="0" dirty="0" err="1">
                <a:solidFill>
                  <a:srgbClr val="9CA3AF"/>
                </a:solidFill>
                <a:latin typeface="Arial"/>
              </a:rPr>
              <a:t>покупателем</a:t>
            </a:r>
            <a:r>
              <a:rPr sz="1000" b="0" dirty="0">
                <a:solidFill>
                  <a:srgbClr val="9CA3AF"/>
                </a:solidFill>
                <a:latin typeface="Arial"/>
              </a:rPr>
              <a:t> + </a:t>
            </a:r>
            <a:r>
              <a:rPr sz="1000" b="0" dirty="0" err="1">
                <a:solidFill>
                  <a:srgbClr val="9CA3AF"/>
                </a:solidFill>
                <a:latin typeface="Arial"/>
              </a:rPr>
              <a:t>презентация</a:t>
            </a:r>
            <a:endParaRPr sz="1000" b="0" dirty="0">
              <a:solidFill>
                <a:srgbClr val="9CA3AF"/>
              </a:solidFill>
              <a:latin typeface="Arial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65760" y="4824697"/>
            <a:ext cx="5434965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457200" y="4934425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4981036"/>
            <a:ext cx="329184" cy="23596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ru-RU" sz="1200" b="1" dirty="0">
                <a:solidFill>
                  <a:srgbClr val="FFFFFF"/>
                </a:solidFill>
                <a:latin typeface="Arial"/>
              </a:rPr>
              <a:t>6</a:t>
            </a:r>
            <a:endParaRPr sz="12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68680" y="4923849"/>
            <a:ext cx="4846320" cy="348813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lang="ru-RU" sz="1100" b="1" dirty="0" smtClean="0">
                <a:solidFill>
                  <a:srgbClr val="1A1F36"/>
                </a:solidFill>
                <a:latin typeface="Arial"/>
              </a:rPr>
              <a:t>Обеспечение в</a:t>
            </a:r>
            <a:r>
              <a:rPr sz="1100" b="1" dirty="0" err="1" smtClean="0">
                <a:solidFill>
                  <a:srgbClr val="1A1F36"/>
                </a:solidFill>
                <a:latin typeface="Arial"/>
              </a:rPr>
              <a:t>еерны</a:t>
            </a:r>
            <a:r>
              <a:rPr lang="ru-RU" sz="1100" b="1" dirty="0" smtClean="0">
                <a:solidFill>
                  <a:srgbClr val="1A1F36"/>
                </a:solidFill>
                <a:latin typeface="Arial"/>
              </a:rPr>
              <a:t>ми</a:t>
            </a:r>
            <a:r>
              <a:rPr sz="1100" b="1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1100" b="1" dirty="0" err="1" smtClean="0">
                <a:solidFill>
                  <a:srgbClr val="1A1F36"/>
                </a:solidFill>
                <a:latin typeface="Arial"/>
              </a:rPr>
              <a:t>выкрас</a:t>
            </a:r>
            <a:r>
              <a:rPr lang="ru-RU" sz="1100" b="1" dirty="0" err="1" smtClean="0">
                <a:solidFill>
                  <a:srgbClr val="1A1F36"/>
                </a:solidFill>
                <a:latin typeface="Arial"/>
              </a:rPr>
              <a:t>ами</a:t>
            </a:r>
            <a:r>
              <a:rPr sz="1100" b="1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1100" b="1" dirty="0">
                <a:solidFill>
                  <a:srgbClr val="1A1F36"/>
                </a:solidFill>
                <a:latin typeface="Arial"/>
              </a:rPr>
              <a:t>B2B </a:t>
            </a:r>
            <a:r>
              <a:rPr sz="1100" b="1" dirty="0" err="1">
                <a:solidFill>
                  <a:srgbClr val="1A1F36"/>
                </a:solidFill>
                <a:latin typeface="Arial"/>
              </a:rPr>
              <a:t>Лемана</a:t>
            </a:r>
            <a:r>
              <a:rPr sz="1100" b="1" dirty="0">
                <a:solidFill>
                  <a:srgbClr val="1A1F36"/>
                </a:solidFill>
                <a:latin typeface="Arial"/>
              </a:rPr>
              <a:t> ПРО</a:t>
            </a:r>
          </a:p>
          <a:p>
            <a:pPr algn="l"/>
            <a:r>
              <a:rPr sz="1000" b="0" dirty="0">
                <a:solidFill>
                  <a:srgbClr val="9CA3AF"/>
                </a:solidFill>
                <a:latin typeface="Arial"/>
              </a:rPr>
              <a:t>13 </a:t>
            </a:r>
            <a:r>
              <a:rPr sz="1000" b="0" dirty="0" err="1">
                <a:solidFill>
                  <a:srgbClr val="9CA3AF"/>
                </a:solidFill>
                <a:latin typeface="Arial"/>
              </a:rPr>
              <a:t>веерных</a:t>
            </a:r>
            <a:r>
              <a:rPr sz="1000" b="0" dirty="0">
                <a:solidFill>
                  <a:srgbClr val="9CA3AF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9CA3AF"/>
                </a:solidFill>
                <a:latin typeface="Arial"/>
              </a:rPr>
              <a:t>выкрасов</a:t>
            </a:r>
            <a:r>
              <a:rPr sz="1000" b="0" dirty="0">
                <a:solidFill>
                  <a:srgbClr val="9CA3AF"/>
                </a:solidFill>
                <a:latin typeface="Arial"/>
              </a:rPr>
              <a:t> · </a:t>
            </a:r>
            <a:r>
              <a:rPr sz="1000" b="0" dirty="0" err="1">
                <a:solidFill>
                  <a:srgbClr val="9CA3AF"/>
                </a:solidFill>
                <a:latin typeface="Arial"/>
              </a:rPr>
              <a:t>изготовление</a:t>
            </a:r>
            <a:r>
              <a:rPr sz="1000" b="0" dirty="0">
                <a:solidFill>
                  <a:srgbClr val="9CA3AF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9CA3AF"/>
                </a:solidFill>
                <a:latin typeface="Arial"/>
              </a:rPr>
              <a:t>до</a:t>
            </a:r>
            <a:r>
              <a:rPr sz="1000" b="0" dirty="0">
                <a:solidFill>
                  <a:srgbClr val="9CA3AF"/>
                </a:solidFill>
                <a:latin typeface="Arial"/>
              </a:rPr>
              <a:t> 14.07, </a:t>
            </a:r>
            <a:r>
              <a:rPr sz="1000" b="0" dirty="0" err="1">
                <a:solidFill>
                  <a:srgbClr val="9CA3AF"/>
                </a:solidFill>
                <a:latin typeface="Arial"/>
              </a:rPr>
              <a:t>распределение</a:t>
            </a:r>
            <a:r>
              <a:rPr sz="1000" b="0" dirty="0">
                <a:solidFill>
                  <a:srgbClr val="9CA3AF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9CA3AF"/>
                </a:solidFill>
                <a:latin typeface="Arial"/>
              </a:rPr>
              <a:t>до</a:t>
            </a:r>
            <a:r>
              <a:rPr sz="1000" b="0" dirty="0">
                <a:solidFill>
                  <a:srgbClr val="9CA3AF"/>
                </a:solidFill>
                <a:latin typeface="Arial"/>
              </a:rPr>
              <a:t> 22.07</a:t>
            </a:r>
          </a:p>
        </p:txBody>
      </p:sp>
      <p:pic>
        <p:nvPicPr>
          <p:cNvPr id="128" name="Picture 6" descr="C:\Users\zakolodniy\Desktop\Empils\16._Federal_networks\Lemana_Pro\Master-klass_iyul\Лемана Про мастер класс.jp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643528" y="1140443"/>
            <a:ext cx="1948022" cy="2566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Picture 38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775"/>
          <a:stretch/>
        </p:blipFill>
        <p:spPr bwMode="auto">
          <a:xfrm>
            <a:off x="8963162" y="1169412"/>
            <a:ext cx="2312429" cy="2478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0" name="Picture 3" descr="C:\Users\zakolodniy\Desktop\IMG_20260811_123502_203.jpg"/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643527" y="3764661"/>
            <a:ext cx="1948023" cy="2612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Picture 4" descr="C:\Users\zakolodniy\Desktop\IMG_20260811_123504_690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84" t="33682" r="5788" b="22427"/>
          <a:stretch/>
        </p:blipFill>
        <p:spPr bwMode="auto">
          <a:xfrm>
            <a:off x="8963161" y="3712915"/>
            <a:ext cx="2312429" cy="2683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ectangle 45"/>
          <p:cNvSpPr/>
          <p:nvPr/>
        </p:nvSpPr>
        <p:spPr>
          <a:xfrm>
            <a:off x="365760" y="5486471"/>
            <a:ext cx="5434965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46"/>
          <p:cNvSpPr/>
          <p:nvPr/>
        </p:nvSpPr>
        <p:spPr>
          <a:xfrm>
            <a:off x="457200" y="5596199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5642810"/>
            <a:ext cx="329184" cy="23596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200" b="1" i="0" dirty="0" smtClean="0">
                <a:solidFill>
                  <a:srgbClr val="FFFFFF"/>
                </a:solidFill>
                <a:latin typeface="Arial"/>
              </a:rPr>
              <a:t>7</a:t>
            </a:r>
            <a:endParaRPr sz="12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68680" y="5585623"/>
            <a:ext cx="4846320" cy="348813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lang="ru-RU" sz="1100" b="1" dirty="0" smtClean="0">
                <a:solidFill>
                  <a:srgbClr val="1A1F36"/>
                </a:solidFill>
                <a:latin typeface="Arial"/>
              </a:rPr>
              <a:t>Скидка </a:t>
            </a:r>
            <a:r>
              <a:rPr lang="en-US" sz="1100" b="1" dirty="0" smtClean="0">
                <a:solidFill>
                  <a:srgbClr val="1A1F36"/>
                </a:solidFill>
                <a:latin typeface="Arial"/>
              </a:rPr>
              <a:t>20% c 01</a:t>
            </a:r>
            <a:r>
              <a:rPr lang="ru-RU" sz="1100" b="1" dirty="0" smtClean="0">
                <a:solidFill>
                  <a:srgbClr val="1A1F36"/>
                </a:solidFill>
                <a:latin typeface="Arial"/>
              </a:rPr>
              <a:t>.08.2026 по 31.08.2026</a:t>
            </a:r>
          </a:p>
          <a:p>
            <a:r>
              <a:rPr lang="ru-RU" sz="1000" dirty="0">
                <a:solidFill>
                  <a:srgbClr val="9CA3AF"/>
                </a:solidFill>
                <a:latin typeface="Arial"/>
              </a:rPr>
              <a:t>Желтый ценник</a:t>
            </a:r>
            <a:endParaRPr sz="1000" dirty="0">
              <a:solidFill>
                <a:srgbClr val="9CA3A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570986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65760" y="836390"/>
            <a:ext cx="3779520" cy="224942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836390"/>
            <a:ext cx="73152" cy="2249423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9600" y="946117"/>
            <a:ext cx="335280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13131"/>
                </a:solidFill>
                <a:latin typeface="Calibri"/>
              </a:rPr>
              <a:t>ЛЕМАНА ПРО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1253355"/>
            <a:ext cx="33528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i="1">
                <a:solidFill>
                  <a:srgbClr val="6B6B6B"/>
                </a:solidFill>
                <a:latin typeface="Calibri"/>
              </a:rPr>
              <a:t>(бывш. Леруа Мерлен)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1516703"/>
            <a:ext cx="33528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47629"/>
                </a:solidFill>
                <a:latin typeface="Calibri"/>
              </a:rPr>
              <a:t>112 ТТ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1911724"/>
            <a:ext cx="33528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6B6B6B"/>
                </a:solidFill>
                <a:latin typeface="Calibri"/>
              </a:rPr>
              <a:t>66 городов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2131179"/>
            <a:ext cx="33528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47629"/>
                </a:solidFill>
                <a:latin typeface="Calibri"/>
              </a:rPr>
              <a:t>РЕГИОНЫ: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2284799"/>
            <a:ext cx="3352800" cy="318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>
                <a:solidFill>
                  <a:srgbClr val="313131"/>
                </a:solidFill>
                <a:latin typeface="Calibri"/>
              </a:rPr>
              <a:t>ЮФО: Ростовская, Краснодарский, Волгоградская, Ставропольский, Сев. Осетия, Адыгея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8099" y="3313789"/>
            <a:ext cx="5505734" cy="224942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8099" y="3313789"/>
            <a:ext cx="73152" cy="2249423"/>
          </a:xfrm>
          <a:prstGeom prst="rect">
            <a:avLst/>
          </a:prstGeom>
          <a:solidFill>
            <a:srgbClr val="D55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51939" y="3423516"/>
            <a:ext cx="335280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dirty="0">
                <a:solidFill>
                  <a:srgbClr val="313131"/>
                </a:solidFill>
                <a:latin typeface="Calibri"/>
              </a:rPr>
              <a:t>ПЕТРОВИЧ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51939" y="3730754"/>
            <a:ext cx="33528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i="1">
                <a:solidFill>
                  <a:srgbClr val="6B6B6B"/>
                </a:solidFill>
                <a:latin typeface="Calibri"/>
              </a:rPr>
              <a:t>СЗФО · ЦФО · УФО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51939" y="3994102"/>
            <a:ext cx="33528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D55E0A"/>
                </a:solidFill>
                <a:latin typeface="Calibri"/>
              </a:rPr>
              <a:t>48 ТТ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51939" y="4389123"/>
            <a:ext cx="33528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6B6B6B"/>
                </a:solidFill>
                <a:latin typeface="Calibri"/>
              </a:rPr>
              <a:t>СЗФО+ЦФО+УФО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51939" y="4608578"/>
            <a:ext cx="33528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55E0A"/>
                </a:solidFill>
                <a:latin typeface="Calibri"/>
              </a:rPr>
              <a:t>РЕГИОНЫ: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51939" y="4762198"/>
            <a:ext cx="3352800" cy="159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>
                <a:solidFill>
                  <a:srgbClr val="313131"/>
                </a:solidFill>
                <a:latin typeface="Calibri"/>
              </a:rPr>
              <a:t>СПБ, Москва, Ленинградская и Московская обл., Урал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51939" y="5212081"/>
            <a:ext cx="1950720" cy="241402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51939" y="5255838"/>
            <a:ext cx="19507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565C0"/>
                </a:solidFill>
                <a:latin typeface="Calibri"/>
              </a:rPr>
              <a:t>ПЛАН ВХОДА 2027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58640" y="836390"/>
            <a:ext cx="3779520" cy="224942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358640" y="836390"/>
            <a:ext cx="73152" cy="2249423"/>
          </a:xfrm>
          <a:prstGeom prst="rect">
            <a:avLst/>
          </a:prstGeom>
          <a:solidFill>
            <a:srgbClr val="D55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602480" y="946117"/>
            <a:ext cx="335280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13131"/>
                </a:solidFill>
                <a:latin typeface="Calibri"/>
              </a:rPr>
              <a:t>МАКСИДОМ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2480" y="1253355"/>
            <a:ext cx="33528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i="1">
                <a:solidFill>
                  <a:srgbClr val="6B6B6B"/>
                </a:solidFill>
                <a:latin typeface="Calibri"/>
              </a:rPr>
              <a:t>12 регионов РФ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2480" y="1516703"/>
            <a:ext cx="33528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D55E0A"/>
                </a:solidFill>
                <a:latin typeface="Calibri"/>
              </a:rPr>
              <a:t>29 ТТ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2480" y="1911724"/>
            <a:ext cx="33528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6B6B6B"/>
                </a:solidFill>
                <a:latin typeface="Calibri"/>
              </a:rPr>
              <a:t>12 регионов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02480" y="2131179"/>
            <a:ext cx="33528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55E0A"/>
                </a:solidFill>
                <a:latin typeface="Calibri"/>
              </a:rPr>
              <a:t>РЕГИОНЫ: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02480" y="2284799"/>
            <a:ext cx="3352800" cy="159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>
                <a:solidFill>
                  <a:srgbClr val="313131"/>
                </a:solidFill>
                <a:latin typeface="Calibri"/>
              </a:rPr>
              <a:t>СПБ, Н.Новгород, Казань, Екатеринбург, Самара, Уфа, Москва, МО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" y="3268160"/>
            <a:ext cx="5791200" cy="224942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365760" y="3268160"/>
            <a:ext cx="73152" cy="2249423"/>
          </a:xfrm>
          <a:prstGeom prst="rect">
            <a:avLst/>
          </a:prstGeom>
          <a:solidFill>
            <a:srgbClr val="D55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9600" y="3377888"/>
            <a:ext cx="243840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13131"/>
                </a:solidFill>
                <a:latin typeface="Calibri"/>
              </a:rPr>
              <a:t>OBI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9600" y="3685126"/>
            <a:ext cx="2438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i="1">
                <a:solidFill>
                  <a:srgbClr val="6B6B6B"/>
                </a:solidFill>
                <a:latin typeface="Calibri"/>
              </a:rPr>
              <a:t>Оби · 12-14 городов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9600" y="3948473"/>
            <a:ext cx="24384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D55E0A"/>
                </a:solidFill>
                <a:latin typeface="Calibri"/>
              </a:rPr>
              <a:t>27 ТТ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9600" y="4343494"/>
            <a:ext cx="2438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6B6B6B"/>
                </a:solidFill>
                <a:latin typeface="Calibri"/>
              </a:rPr>
              <a:t>12-14 городов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09600" y="5166453"/>
            <a:ext cx="2194560" cy="241402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09600" y="5210210"/>
            <a:ext cx="219456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565C0"/>
                </a:solidFill>
                <a:latin typeface="Calibri"/>
              </a:rPr>
              <a:t>ПЛАН ВХОДА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91840" y="3377888"/>
            <a:ext cx="26212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55E0A"/>
                </a:solidFill>
                <a:latin typeface="Calibri"/>
              </a:rPr>
              <a:t>РЕГИОНЫ: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91840" y="3542480"/>
            <a:ext cx="2621280" cy="332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>
                <a:solidFill>
                  <a:srgbClr val="313131"/>
                </a:solidFill>
                <a:latin typeface="Calibri"/>
              </a:rPr>
              <a:t>Москва (8), СПБ (5), Н.Новгород (2), Казань, Самара, Краснодар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91840" y="4200848"/>
            <a:ext cx="26212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55E0A"/>
                </a:solidFill>
                <a:latin typeface="Calibri"/>
              </a:rPr>
              <a:t>ПЛАН TITAN: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91840" y="4365440"/>
            <a:ext cx="2621280" cy="332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>
                <a:solidFill>
                  <a:srgbClr val="313131"/>
                </a:solidFill>
                <a:latin typeface="Calibri"/>
              </a:rPr>
              <a:t>2 пилота в Москве. Восстановление сети после 2022 г.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262059" y="841697"/>
            <a:ext cx="3651774" cy="224942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262059" y="841697"/>
            <a:ext cx="73152" cy="2249423"/>
          </a:xfrm>
          <a:prstGeom prst="rect">
            <a:avLst/>
          </a:prstGeom>
          <a:solidFill>
            <a:srgbClr val="D55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505899" y="951425"/>
            <a:ext cx="243840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13131"/>
                </a:solidFill>
                <a:latin typeface="Calibri"/>
              </a:rPr>
              <a:t>МЕГАПОЛИС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05899" y="1258663"/>
            <a:ext cx="2438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i="1">
                <a:solidFill>
                  <a:srgbClr val="6B6B6B"/>
                </a:solidFill>
                <a:latin typeface="Calibri"/>
              </a:rPr>
              <a:t>Калининградская обл.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05899" y="1522010"/>
            <a:ext cx="24384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D55E0A"/>
                </a:solidFill>
                <a:latin typeface="Calibri"/>
              </a:rPr>
              <a:t>8 ТТ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05899" y="1917031"/>
            <a:ext cx="2438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6B6B6B"/>
                </a:solidFill>
                <a:latin typeface="Calibri"/>
              </a:rPr>
              <a:t>Калининградская обл.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05899" y="2128548"/>
            <a:ext cx="26212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dirty="0">
                <a:solidFill>
                  <a:srgbClr val="D55E0A"/>
                </a:solidFill>
                <a:latin typeface="Calibri"/>
              </a:rPr>
              <a:t>РЕГИОНЫ: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05899" y="2293140"/>
            <a:ext cx="2621280" cy="332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dirty="0" err="1">
                <a:solidFill>
                  <a:srgbClr val="313131"/>
                </a:solidFill>
                <a:latin typeface="Calibri"/>
              </a:rPr>
              <a:t>Калининград</a:t>
            </a:r>
            <a:r>
              <a:rPr sz="900" dirty="0">
                <a:solidFill>
                  <a:srgbClr val="313131"/>
                </a:solidFill>
                <a:latin typeface="Calibri"/>
              </a:rPr>
              <a:t> и </a:t>
            </a:r>
            <a:r>
              <a:rPr sz="900" dirty="0" err="1">
                <a:solidFill>
                  <a:srgbClr val="313131"/>
                </a:solidFill>
                <a:latin typeface="Calibri"/>
              </a:rPr>
              <a:t>область</a:t>
            </a:r>
            <a:r>
              <a:rPr sz="900" dirty="0">
                <a:solidFill>
                  <a:srgbClr val="313131"/>
                </a:solidFill>
                <a:latin typeface="Calibri"/>
              </a:rPr>
              <a:t> (8 ТЦ: </a:t>
            </a:r>
            <a:r>
              <a:rPr sz="900" dirty="0" err="1">
                <a:solidFill>
                  <a:srgbClr val="313131"/>
                </a:solidFill>
                <a:latin typeface="Calibri"/>
              </a:rPr>
              <a:t>пр</a:t>
            </a:r>
            <a:r>
              <a:rPr sz="900" dirty="0">
                <a:solidFill>
                  <a:srgbClr val="313131"/>
                </a:solidFill>
                <a:latin typeface="Calibri"/>
              </a:rPr>
              <a:t>. </a:t>
            </a:r>
            <a:r>
              <a:rPr sz="900" dirty="0" err="1">
                <a:solidFill>
                  <a:srgbClr val="313131"/>
                </a:solidFill>
                <a:latin typeface="Calibri"/>
              </a:rPr>
              <a:t>Мира</a:t>
            </a:r>
            <a:r>
              <a:rPr sz="900" dirty="0">
                <a:solidFill>
                  <a:srgbClr val="313131"/>
                </a:solidFill>
                <a:latin typeface="Calibri"/>
              </a:rPr>
              <a:t>, </a:t>
            </a:r>
            <a:r>
              <a:rPr sz="900" dirty="0" err="1">
                <a:solidFill>
                  <a:srgbClr val="313131"/>
                </a:solidFill>
                <a:latin typeface="Calibri"/>
              </a:rPr>
              <a:t>Камская</a:t>
            </a:r>
            <a:r>
              <a:rPr sz="900" dirty="0">
                <a:solidFill>
                  <a:srgbClr val="313131"/>
                </a:solidFill>
                <a:latin typeface="Calibri"/>
              </a:rPr>
              <a:t>, </a:t>
            </a:r>
            <a:r>
              <a:rPr sz="900" dirty="0" err="1">
                <a:solidFill>
                  <a:srgbClr val="313131"/>
                </a:solidFill>
                <a:latin typeface="Calibri"/>
              </a:rPr>
              <a:t>Энергетиков</a:t>
            </a:r>
            <a:r>
              <a:rPr sz="900" dirty="0">
                <a:solidFill>
                  <a:srgbClr val="313131"/>
                </a:solidFill>
                <a:latin typeface="Calibri"/>
              </a:rPr>
              <a:t> и </a:t>
            </a:r>
            <a:r>
              <a:rPr sz="900" dirty="0" err="1">
                <a:solidFill>
                  <a:srgbClr val="313131"/>
                </a:solidFill>
                <a:latin typeface="Calibri"/>
              </a:rPr>
              <a:t>др</a:t>
            </a:r>
            <a:r>
              <a:rPr sz="900" dirty="0">
                <a:solidFill>
                  <a:srgbClr val="313131"/>
                </a:solidFill>
                <a:latin typeface="Calibri"/>
              </a:rPr>
              <a:t>.)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5760" y="274615"/>
            <a:ext cx="11460175" cy="3590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ru-RU" sz="2000" b="1" i="0" dirty="0" smtClean="0">
                <a:solidFill>
                  <a:srgbClr val="FFFFFF"/>
                </a:solidFill>
                <a:latin typeface="Arial"/>
              </a:rPr>
              <a:t>ФЕДЕРАЛЬНЫЕ </a:t>
            </a:r>
            <a:r>
              <a:rPr sz="2000" b="1" i="0" dirty="0" smtClean="0">
                <a:solidFill>
                  <a:srgbClr val="FFFFFF"/>
                </a:solidFill>
                <a:latin typeface="Arial"/>
              </a:rPr>
              <a:t>СЕТИ</a:t>
            </a:r>
            <a:endParaRPr sz="20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65760" y="122215"/>
            <a:ext cx="11460175" cy="3590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ru-RU" sz="2000" b="1" i="0" dirty="0" smtClean="0">
                <a:solidFill>
                  <a:srgbClr val="FFFFFF"/>
                </a:solidFill>
                <a:latin typeface="Arial"/>
              </a:rPr>
              <a:t>РАЗВИТИЕ </a:t>
            </a:r>
            <a:r>
              <a:rPr lang="en-US" sz="2000" b="1" i="0" dirty="0" smtClean="0">
                <a:solidFill>
                  <a:srgbClr val="FFFFFF"/>
                </a:solidFill>
                <a:latin typeface="Arial"/>
              </a:rPr>
              <a:t>TITAN </a:t>
            </a:r>
            <a:r>
              <a:rPr lang="ru-RU" sz="2000" b="1" i="0" dirty="0" smtClean="0">
                <a:solidFill>
                  <a:srgbClr val="FFFFFF"/>
                </a:solidFill>
                <a:latin typeface="Arial"/>
              </a:rPr>
              <a:t>В ФЕДЕРАЛЬНЫХ СЕТЯХ</a:t>
            </a:r>
            <a:endParaRPr sz="20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Rounded Rectangle 24"/>
          <p:cNvSpPr/>
          <p:nvPr/>
        </p:nvSpPr>
        <p:spPr>
          <a:xfrm>
            <a:off x="623654" y="2664700"/>
            <a:ext cx="2011680" cy="320040"/>
          </a:xfrm>
          <a:prstGeom prst="roundRect">
            <a:avLst>
              <a:gd name="adj" fmla="val 5000"/>
            </a:avLst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23654" y="2707474"/>
            <a:ext cx="20116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2E7D32"/>
                </a:solidFill>
              </a:rPr>
              <a:t>ОХВАЧЕНО 11 ТТ</a:t>
            </a:r>
            <a:endParaRPr lang="ru-RU" sz="1400" b="1" dirty="0">
              <a:solidFill>
                <a:srgbClr val="2E7D32"/>
              </a:solidFill>
            </a:endParaRPr>
          </a:p>
        </p:txBody>
      </p:sp>
      <p:sp>
        <p:nvSpPr>
          <p:cNvPr id="85" name="Rounded Rectangle 24"/>
          <p:cNvSpPr/>
          <p:nvPr/>
        </p:nvSpPr>
        <p:spPr>
          <a:xfrm>
            <a:off x="4648200" y="2648452"/>
            <a:ext cx="2011680" cy="32004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ounded Rectangle 49"/>
          <p:cNvSpPr/>
          <p:nvPr/>
        </p:nvSpPr>
        <p:spPr>
          <a:xfrm>
            <a:off x="4612688" y="2646547"/>
            <a:ext cx="2011680" cy="320040"/>
          </a:xfrm>
          <a:prstGeom prst="roundRect">
            <a:avLst>
              <a:gd name="adj" fmla="val 5000"/>
            </a:avLst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566968" y="2698846"/>
            <a:ext cx="20116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400" b="1" i="0" dirty="0" smtClean="0">
                <a:solidFill>
                  <a:srgbClr val="2E7D32"/>
                </a:solidFill>
                <a:latin typeface="Calibri"/>
              </a:rPr>
              <a:t>ОХВАЧЕНО</a:t>
            </a:r>
            <a:r>
              <a:rPr lang="ru-RU" sz="1100" b="1" i="0" dirty="0" smtClean="0">
                <a:solidFill>
                  <a:srgbClr val="2E7D32"/>
                </a:solidFill>
                <a:latin typeface="Calibri"/>
              </a:rPr>
              <a:t> </a:t>
            </a:r>
            <a:r>
              <a:rPr lang="ru-RU" sz="1400" b="1" i="0" dirty="0" smtClean="0">
                <a:solidFill>
                  <a:srgbClr val="2E7D32"/>
                </a:solidFill>
                <a:latin typeface="Calibri"/>
              </a:rPr>
              <a:t>12 ТТ</a:t>
            </a:r>
            <a:endParaRPr sz="1400" b="1" i="0" dirty="0">
              <a:solidFill>
                <a:srgbClr val="2E7D32"/>
              </a:solidFill>
              <a:latin typeface="Calibri"/>
            </a:endParaRPr>
          </a:p>
        </p:txBody>
      </p:sp>
      <p:sp>
        <p:nvSpPr>
          <p:cNvPr id="88" name="Rounded Rectangle 49"/>
          <p:cNvSpPr/>
          <p:nvPr/>
        </p:nvSpPr>
        <p:spPr>
          <a:xfrm>
            <a:off x="8523506" y="2691349"/>
            <a:ext cx="2011680" cy="320040"/>
          </a:xfrm>
          <a:prstGeom prst="roundRect">
            <a:avLst>
              <a:gd name="adj" fmla="val 5000"/>
            </a:avLst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477786" y="2743648"/>
            <a:ext cx="20116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400" b="1" i="0" dirty="0" smtClean="0">
                <a:solidFill>
                  <a:srgbClr val="2E7D32"/>
                </a:solidFill>
                <a:latin typeface="Calibri"/>
              </a:rPr>
              <a:t>ОХВАЧЕНО</a:t>
            </a:r>
            <a:r>
              <a:rPr lang="ru-RU" sz="1100" b="1" i="0" dirty="0" smtClean="0">
                <a:solidFill>
                  <a:srgbClr val="2E7D32"/>
                </a:solidFill>
                <a:latin typeface="Calibri"/>
              </a:rPr>
              <a:t> </a:t>
            </a:r>
            <a:r>
              <a:rPr lang="ru-RU" sz="1400" b="1" dirty="0">
                <a:solidFill>
                  <a:srgbClr val="2E7D32"/>
                </a:solidFill>
                <a:latin typeface="Calibri"/>
              </a:rPr>
              <a:t>6</a:t>
            </a:r>
            <a:r>
              <a:rPr lang="ru-RU" sz="1400" b="1" i="0" dirty="0" smtClean="0">
                <a:solidFill>
                  <a:srgbClr val="2E7D32"/>
                </a:solidFill>
                <a:latin typeface="Calibri"/>
              </a:rPr>
              <a:t> ТТ</a:t>
            </a:r>
            <a:endParaRPr sz="1400" b="1" i="0" dirty="0">
              <a:solidFill>
                <a:srgbClr val="2E7D32"/>
              </a:solidFill>
              <a:latin typeface="Calibri"/>
            </a:endParaRPr>
          </a:p>
        </p:txBody>
      </p:sp>
      <p:sp>
        <p:nvSpPr>
          <p:cNvPr id="91" name="Rectangle 2"/>
          <p:cNvSpPr/>
          <p:nvPr/>
        </p:nvSpPr>
        <p:spPr>
          <a:xfrm>
            <a:off x="0" y="5761608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65760" y="5883823"/>
            <a:ext cx="11460175" cy="3590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ru-RU" sz="2000" b="1" i="0" dirty="0" smtClean="0">
                <a:solidFill>
                  <a:srgbClr val="FFFFFF"/>
                </a:solidFill>
                <a:latin typeface="Arial"/>
              </a:rPr>
              <a:t>РАЗВИТИЕ </a:t>
            </a:r>
            <a:r>
              <a:rPr lang="en-US" sz="2000" b="1" i="0" dirty="0" smtClean="0">
                <a:solidFill>
                  <a:srgbClr val="FFFFFF"/>
                </a:solidFill>
                <a:latin typeface="Arial"/>
              </a:rPr>
              <a:t>TITAN </a:t>
            </a:r>
            <a:r>
              <a:rPr lang="ru-RU" sz="2000" b="1" i="0" dirty="0" smtClean="0">
                <a:solidFill>
                  <a:srgbClr val="FFFFFF"/>
                </a:solidFill>
                <a:latin typeface="Arial"/>
              </a:rPr>
              <a:t>В РЕГИОНАЛЬНЫХ СЕТЯХ: УСИЛЕНИЕ ВАШ ДОМ</a:t>
            </a:r>
            <a:endParaRPr sz="2000" b="1" i="0" dirty="0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68752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00149" y="2644103"/>
            <a:ext cx="10020301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6000" b="1" dirty="0" smtClean="0">
                <a:solidFill>
                  <a:srgbClr val="F47629"/>
                </a:solidFill>
                <a:latin typeface="+mj-lt"/>
              </a:rPr>
              <a:t>B2B</a:t>
            </a:r>
            <a:r>
              <a:rPr lang="ru-RU" sz="6000" b="1" dirty="0" smtClean="0">
                <a:solidFill>
                  <a:srgbClr val="F47629"/>
                </a:solidFill>
                <a:latin typeface="+mj-lt"/>
              </a:rPr>
              <a:t> Канал</a:t>
            </a:r>
            <a:r>
              <a:rPr lang="en-US" sz="6000" b="1" dirty="0" smtClean="0">
                <a:solidFill>
                  <a:srgbClr val="F47629"/>
                </a:solidFill>
                <a:latin typeface="+mj-lt"/>
              </a:rPr>
              <a:t> </a:t>
            </a:r>
            <a:endParaRPr sz="6000" b="1" dirty="0">
              <a:solidFill>
                <a:srgbClr val="F47629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110501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83871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313131"/>
                </a:solidFill>
                <a:latin typeface="Calibri"/>
              </a:rPr>
              <a:t>TITAN B2B — ЧТО НУЖНО СДЕЛАТЬ, ЧТОБЫ ПАРТНЁРЫ ЗАХОТЕЛИ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01168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47629"/>
                </a:solidFill>
                <a:latin typeface="Calibri"/>
              </a:rPr>
              <a:t>TITAN · B2B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92123" y="3647186"/>
            <a:ext cx="27889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492123" y="3647186"/>
            <a:ext cx="73152" cy="201168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75003" y="3738626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smtClean="0">
                <a:solidFill>
                  <a:srgbClr val="F47629"/>
                </a:solidFill>
                <a:latin typeface="Calibri"/>
              </a:rPr>
              <a:t>0</a:t>
            </a:r>
            <a:r>
              <a:rPr lang="en-US" sz="1800" b="1" i="0" dirty="0" smtClean="0">
                <a:solidFill>
                  <a:srgbClr val="F47629"/>
                </a:solidFill>
                <a:latin typeface="Calibri"/>
              </a:rPr>
              <a:t>4</a:t>
            </a:r>
            <a:endParaRPr sz="1800" b="1" i="0" dirty="0">
              <a:solidFill>
                <a:srgbClr val="F47629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60803" y="3766058"/>
            <a:ext cx="1783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МОТИВАЦИЯ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5003" y="4104386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313131"/>
                </a:solidFill>
                <a:latin typeface="Calibri"/>
              </a:rPr>
              <a:t>Доходность для дистрибьютора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5003" y="4515866"/>
            <a:ext cx="246888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6B6B6B"/>
                </a:solidFill>
                <a:latin typeface="Calibri"/>
              </a:rPr>
              <a:t>Расчёт маржинальности B2B-канала. Демонстрируем дистрибьютору, что работа с B2B-партнёрами выгодна — доходность выше, чем в рознице, при меньших операционных затратах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92123" y="1510665"/>
            <a:ext cx="27889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492123" y="1510665"/>
            <a:ext cx="73152" cy="2011680"/>
          </a:xfrm>
          <a:prstGeom prst="rect">
            <a:avLst/>
          </a:prstGeom>
          <a:solidFill>
            <a:srgbClr val="D55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675003" y="1602105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smtClean="0">
                <a:solidFill>
                  <a:srgbClr val="D55E0A"/>
                </a:solidFill>
                <a:latin typeface="Calibri"/>
              </a:rPr>
              <a:t>0</a:t>
            </a:r>
            <a:r>
              <a:rPr lang="en-US" sz="1800" b="1" i="0" dirty="0" smtClean="0">
                <a:solidFill>
                  <a:srgbClr val="D55E0A"/>
                </a:solidFill>
                <a:latin typeface="Calibri"/>
              </a:rPr>
              <a:t>1</a:t>
            </a:r>
            <a:endParaRPr sz="1800" b="1" i="0" dirty="0">
              <a:solidFill>
                <a:srgbClr val="D55E0A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360803" y="1629537"/>
            <a:ext cx="1783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ТЕСТ-ОБРАЗЕЦ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75003" y="1967865"/>
            <a:ext cx="2468880" cy="372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 dirty="0" err="1">
                <a:solidFill>
                  <a:srgbClr val="313131"/>
                </a:solidFill>
                <a:latin typeface="Calibri"/>
              </a:rPr>
              <a:t>Пробник</a:t>
            </a:r>
            <a:r>
              <a:rPr sz="1100" b="1" i="0" dirty="0">
                <a:solidFill>
                  <a:srgbClr val="313131"/>
                </a:solidFill>
                <a:latin typeface="Calibri"/>
              </a:rPr>
              <a:t> TITAN 0,4 л (</a:t>
            </a:r>
            <a:r>
              <a:rPr sz="1100" b="1" i="0" dirty="0" err="1">
                <a:solidFill>
                  <a:srgbClr val="313131"/>
                </a:solidFill>
                <a:latin typeface="Calibri"/>
              </a:rPr>
              <a:t>глянец</a:t>
            </a:r>
            <a:r>
              <a:rPr sz="1100" b="1" i="0" dirty="0" smtClean="0">
                <a:solidFill>
                  <a:srgbClr val="313131"/>
                </a:solidFill>
                <a:latin typeface="Calibri"/>
              </a:rPr>
              <a:t>)</a:t>
            </a:r>
            <a:r>
              <a:rPr lang="ru-RU" sz="1100" b="1" i="0" dirty="0" smtClean="0">
                <a:solidFill>
                  <a:srgbClr val="313131"/>
                </a:solidFill>
                <a:latin typeface="Calibri"/>
              </a:rPr>
              <a:t> + веерные железные </a:t>
            </a:r>
            <a:r>
              <a:rPr lang="ru-RU" sz="1100" b="1" i="0" dirty="0" err="1" smtClean="0">
                <a:solidFill>
                  <a:srgbClr val="313131"/>
                </a:solidFill>
                <a:latin typeface="Calibri"/>
              </a:rPr>
              <a:t>выкрасы</a:t>
            </a:r>
            <a:endParaRPr sz="1100" b="1" i="0" dirty="0">
              <a:solidFill>
                <a:srgbClr val="313131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675003" y="2379345"/>
            <a:ext cx="2468880" cy="8175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 dirty="0" err="1">
                <a:solidFill>
                  <a:srgbClr val="6B6B6B"/>
                </a:solidFill>
                <a:latin typeface="Calibri"/>
              </a:rPr>
              <a:t>Тестовый</a:t>
            </a:r>
            <a:r>
              <a:rPr sz="85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6B6B6B"/>
                </a:solidFill>
                <a:latin typeface="Calibri"/>
              </a:rPr>
              <a:t>образец</a:t>
            </a:r>
            <a:r>
              <a:rPr sz="85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6B6B6B"/>
                </a:solidFill>
                <a:latin typeface="Calibri"/>
              </a:rPr>
              <a:t>для</a:t>
            </a:r>
            <a:r>
              <a:rPr sz="850" b="0" i="0" dirty="0">
                <a:solidFill>
                  <a:srgbClr val="6B6B6B"/>
                </a:solidFill>
                <a:latin typeface="Calibri"/>
              </a:rPr>
              <a:t> B2B-партнёра. </a:t>
            </a:r>
            <a:r>
              <a:rPr sz="850" b="0" i="0" dirty="0" err="1">
                <a:solidFill>
                  <a:srgbClr val="6B6B6B"/>
                </a:solidFill>
                <a:latin typeface="Calibri"/>
              </a:rPr>
              <a:t>Малая</a:t>
            </a:r>
            <a:r>
              <a:rPr sz="85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6B6B6B"/>
                </a:solidFill>
                <a:latin typeface="Calibri"/>
              </a:rPr>
              <a:t>фасовка</a:t>
            </a:r>
            <a:r>
              <a:rPr sz="850" b="0" i="0" dirty="0">
                <a:solidFill>
                  <a:srgbClr val="6B6B6B"/>
                </a:solidFill>
                <a:latin typeface="Calibri"/>
              </a:rPr>
              <a:t> — </a:t>
            </a:r>
            <a:r>
              <a:rPr sz="850" b="0" i="0" dirty="0" err="1">
                <a:solidFill>
                  <a:srgbClr val="6B6B6B"/>
                </a:solidFill>
                <a:latin typeface="Calibri"/>
              </a:rPr>
              <a:t>низкий</a:t>
            </a:r>
            <a:r>
              <a:rPr sz="85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6B6B6B"/>
                </a:solidFill>
                <a:latin typeface="Calibri"/>
              </a:rPr>
              <a:t>порог</a:t>
            </a:r>
            <a:r>
              <a:rPr sz="85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6B6B6B"/>
                </a:solidFill>
                <a:latin typeface="Calibri"/>
              </a:rPr>
              <a:t>входа</a:t>
            </a:r>
            <a:r>
              <a:rPr sz="850" b="0" i="0" dirty="0">
                <a:solidFill>
                  <a:srgbClr val="6B6B6B"/>
                </a:solidFill>
                <a:latin typeface="Calibri"/>
              </a:rPr>
              <a:t>. </a:t>
            </a:r>
            <a:r>
              <a:rPr sz="850" b="0" i="0" dirty="0" err="1">
                <a:solidFill>
                  <a:srgbClr val="6B6B6B"/>
                </a:solidFill>
                <a:latin typeface="Calibri"/>
              </a:rPr>
              <a:t>Партнёр</a:t>
            </a:r>
            <a:r>
              <a:rPr sz="85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6B6B6B"/>
                </a:solidFill>
                <a:latin typeface="Calibri"/>
              </a:rPr>
              <a:t>может</a:t>
            </a:r>
            <a:r>
              <a:rPr sz="85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6B6B6B"/>
                </a:solidFill>
                <a:latin typeface="Calibri"/>
              </a:rPr>
              <a:t>попробовать</a:t>
            </a:r>
            <a:r>
              <a:rPr sz="85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6B6B6B"/>
                </a:solidFill>
                <a:latin typeface="Calibri"/>
              </a:rPr>
              <a:t>продукт</a:t>
            </a:r>
            <a:r>
              <a:rPr sz="85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6B6B6B"/>
                </a:solidFill>
                <a:latin typeface="Calibri"/>
              </a:rPr>
              <a:t>без</a:t>
            </a:r>
            <a:r>
              <a:rPr sz="85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6B6B6B"/>
                </a:solidFill>
                <a:latin typeface="Calibri"/>
              </a:rPr>
              <a:t>больших</a:t>
            </a:r>
            <a:r>
              <a:rPr sz="85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6B6B6B"/>
                </a:solidFill>
                <a:latin typeface="Calibri"/>
              </a:rPr>
              <a:t>затрат</a:t>
            </a:r>
            <a:r>
              <a:rPr sz="850" b="0" i="0" dirty="0">
                <a:solidFill>
                  <a:srgbClr val="6B6B6B"/>
                </a:solidFill>
                <a:latin typeface="Calibri"/>
              </a:rPr>
              <a:t>, </a:t>
            </a:r>
            <a:r>
              <a:rPr sz="850" b="0" i="0" dirty="0" err="1">
                <a:solidFill>
                  <a:srgbClr val="6B6B6B"/>
                </a:solidFill>
                <a:latin typeface="Calibri"/>
              </a:rPr>
              <a:t>оценить</a:t>
            </a:r>
            <a:r>
              <a:rPr sz="85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6B6B6B"/>
                </a:solidFill>
                <a:latin typeface="Calibri"/>
              </a:rPr>
              <a:t>качество</a:t>
            </a:r>
            <a:r>
              <a:rPr sz="850" b="0" i="0" dirty="0">
                <a:solidFill>
                  <a:srgbClr val="6B6B6B"/>
                </a:solidFill>
                <a:latin typeface="Calibri"/>
              </a:rPr>
              <a:t> и </a:t>
            </a:r>
            <a:r>
              <a:rPr sz="850" b="0" i="0" dirty="0" err="1">
                <a:solidFill>
                  <a:srgbClr val="6B6B6B"/>
                </a:solidFill>
                <a:latin typeface="Calibri"/>
              </a:rPr>
              <a:t>принять</a:t>
            </a:r>
            <a:r>
              <a:rPr sz="85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6B6B6B"/>
                </a:solidFill>
                <a:latin typeface="Calibri"/>
              </a:rPr>
              <a:t>решение</a:t>
            </a:r>
            <a:r>
              <a:rPr sz="850" b="0" i="0" dirty="0">
                <a:solidFill>
                  <a:srgbClr val="6B6B6B"/>
                </a:solidFill>
                <a:latin typeface="Calibri"/>
              </a:rPr>
              <a:t> о </a:t>
            </a:r>
            <a:r>
              <a:rPr sz="850" b="0" i="0" dirty="0" err="1" smtClean="0">
                <a:solidFill>
                  <a:srgbClr val="6B6B6B"/>
                </a:solidFill>
                <a:latin typeface="Calibri"/>
              </a:rPr>
              <a:t>закупке</a:t>
            </a:r>
            <a:r>
              <a:rPr lang="ru-RU" sz="850" dirty="0" smtClean="0">
                <a:solidFill>
                  <a:srgbClr val="6B6B6B"/>
                </a:solidFill>
                <a:latin typeface="Calibri"/>
              </a:rPr>
              <a:t>. Также ознакомиться с цветовой палитрой.</a:t>
            </a:r>
            <a:endParaRPr sz="850" b="0" i="0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390771" y="1510665"/>
            <a:ext cx="27889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90771" y="1510665"/>
            <a:ext cx="73152" cy="201168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3651" y="1602105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smtClean="0">
                <a:solidFill>
                  <a:srgbClr val="F47629"/>
                </a:solidFill>
                <a:latin typeface="Calibri"/>
              </a:rPr>
              <a:t>0</a:t>
            </a:r>
            <a:r>
              <a:rPr lang="en-US" sz="1800" b="1" i="0" dirty="0" smtClean="0">
                <a:solidFill>
                  <a:srgbClr val="F47629"/>
                </a:solidFill>
                <a:latin typeface="Calibri"/>
              </a:rPr>
              <a:t>2</a:t>
            </a:r>
            <a:endParaRPr sz="1800" b="1" i="0" dirty="0">
              <a:solidFill>
                <a:srgbClr val="F47629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259451" y="1629537"/>
            <a:ext cx="1783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ИНСТРУМЕНТ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3651" y="1967865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 dirty="0" err="1">
                <a:solidFill>
                  <a:srgbClr val="313131"/>
                </a:solidFill>
                <a:latin typeface="Calibri"/>
              </a:rPr>
              <a:t>Листовка</a:t>
            </a:r>
            <a:r>
              <a:rPr sz="1100" b="1" i="0" dirty="0">
                <a:solidFill>
                  <a:srgbClr val="313131"/>
                </a:solidFill>
                <a:latin typeface="Calibri"/>
              </a:rPr>
              <a:t> </a:t>
            </a:r>
            <a:r>
              <a:rPr sz="1100" b="1" i="0" dirty="0" err="1">
                <a:solidFill>
                  <a:srgbClr val="313131"/>
                </a:solidFill>
                <a:latin typeface="Calibri"/>
              </a:rPr>
              <a:t>для</a:t>
            </a:r>
            <a:r>
              <a:rPr sz="1100" b="1" i="0" dirty="0">
                <a:solidFill>
                  <a:srgbClr val="313131"/>
                </a:solidFill>
                <a:latin typeface="Calibri"/>
              </a:rPr>
              <a:t> B2B-сегмента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3651" y="2379345"/>
            <a:ext cx="246888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6B6B6B"/>
                </a:solidFill>
                <a:latin typeface="Calibri"/>
              </a:rPr>
              <a:t>Отдельная листовка с расчётом выгоды TITAN для B2B-клиента: срок службы 10 лет, совокупная стоимость владения, экономия vs ПФ-115. Фокус на окупаемость, а не на цену банки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12183" y="3723513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smtClean="0">
                <a:solidFill>
                  <a:srgbClr val="D55E0A"/>
                </a:solidFill>
                <a:latin typeface="Calibri"/>
              </a:rPr>
              <a:t>0</a:t>
            </a:r>
            <a:r>
              <a:rPr lang="ru-RU" sz="1800" b="1" i="0" dirty="0" smtClean="0">
                <a:solidFill>
                  <a:srgbClr val="D55E0A"/>
                </a:solidFill>
                <a:latin typeface="Calibri"/>
              </a:rPr>
              <a:t>5</a:t>
            </a:r>
            <a:endParaRPr sz="1800" b="1" i="0" dirty="0">
              <a:solidFill>
                <a:srgbClr val="D55E0A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197983" y="3750945"/>
            <a:ext cx="1783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МАРЖА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2183" y="4089273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313131"/>
                </a:solidFill>
                <a:latin typeface="Calibri"/>
              </a:rPr>
              <a:t>Смещение к крупной фасовке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12183" y="4500753"/>
            <a:ext cx="2468880" cy="8175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 dirty="0" err="1">
                <a:solidFill>
                  <a:srgbClr val="6B6B6B"/>
                </a:solidFill>
                <a:latin typeface="Calibri"/>
              </a:rPr>
              <a:t>Расчёт</a:t>
            </a:r>
            <a:r>
              <a:rPr sz="85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6B6B6B"/>
                </a:solidFill>
                <a:latin typeface="Calibri"/>
              </a:rPr>
              <a:t>маржинальности</a:t>
            </a:r>
            <a:r>
              <a:rPr sz="85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6B6B6B"/>
                </a:solidFill>
                <a:latin typeface="Calibri"/>
              </a:rPr>
              <a:t>по</a:t>
            </a:r>
            <a:r>
              <a:rPr sz="85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850" b="0" i="0" dirty="0" err="1" smtClean="0">
                <a:solidFill>
                  <a:srgbClr val="6B6B6B"/>
                </a:solidFill>
                <a:latin typeface="Calibri"/>
              </a:rPr>
              <a:t>фасовкам</a:t>
            </a:r>
            <a:r>
              <a:rPr lang="ru-RU" sz="850" b="0" i="0" dirty="0" smtClean="0">
                <a:solidFill>
                  <a:srgbClr val="6B6B6B"/>
                </a:solidFill>
                <a:latin typeface="Calibri"/>
              </a:rPr>
              <a:t>, </a:t>
            </a:r>
            <a:r>
              <a:rPr lang="ru-RU" sz="850" b="0" i="0" dirty="0" err="1" smtClean="0">
                <a:solidFill>
                  <a:srgbClr val="6B6B6B"/>
                </a:solidFill>
                <a:latin typeface="Calibri"/>
              </a:rPr>
              <a:t>абсолюная</a:t>
            </a:r>
            <a:r>
              <a:rPr lang="ru-RU" sz="850" b="0" i="0" dirty="0" smtClean="0">
                <a:solidFill>
                  <a:srgbClr val="6B6B6B"/>
                </a:solidFill>
                <a:latin typeface="Calibri"/>
              </a:rPr>
              <a:t> прибыль</a:t>
            </a:r>
            <a:r>
              <a:rPr sz="850" b="0" i="0" dirty="0" smtClean="0">
                <a:solidFill>
                  <a:srgbClr val="6B6B6B"/>
                </a:solidFill>
                <a:latin typeface="Calibri"/>
              </a:rPr>
              <a:t>. </a:t>
            </a:r>
            <a:r>
              <a:rPr sz="850" b="0" i="0" dirty="0">
                <a:solidFill>
                  <a:srgbClr val="6B6B6B"/>
                </a:solidFill>
                <a:latin typeface="Calibri"/>
              </a:rPr>
              <a:t>B2B-клиенту </a:t>
            </a:r>
            <a:r>
              <a:rPr sz="850" b="0" i="0" dirty="0" err="1">
                <a:solidFill>
                  <a:srgbClr val="6B6B6B"/>
                </a:solidFill>
                <a:latin typeface="Calibri"/>
              </a:rPr>
              <a:t>выгоднее</a:t>
            </a:r>
            <a:r>
              <a:rPr sz="85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lang="en-US" sz="850" dirty="0" smtClean="0">
                <a:solidFill>
                  <a:srgbClr val="6B6B6B"/>
                </a:solidFill>
                <a:latin typeface="Calibri"/>
              </a:rPr>
              <a:t>8,5</a:t>
            </a:r>
            <a:r>
              <a:rPr sz="850" b="0" i="0" dirty="0" smtClean="0">
                <a:solidFill>
                  <a:srgbClr val="6B6B6B"/>
                </a:solidFill>
                <a:latin typeface="Calibri"/>
              </a:rPr>
              <a:t> </a:t>
            </a:r>
            <a:r>
              <a:rPr sz="850" b="0" i="0" dirty="0">
                <a:solidFill>
                  <a:srgbClr val="6B6B6B"/>
                </a:solidFill>
                <a:latin typeface="Calibri"/>
              </a:rPr>
              <a:t>л / </a:t>
            </a:r>
            <a:r>
              <a:rPr lang="en-US" sz="850" b="0" i="0" dirty="0" smtClean="0">
                <a:solidFill>
                  <a:srgbClr val="6B6B6B"/>
                </a:solidFill>
                <a:latin typeface="Calibri"/>
              </a:rPr>
              <a:t>10</a:t>
            </a:r>
            <a:r>
              <a:rPr sz="850" b="0" i="0" dirty="0" smtClean="0">
                <a:solidFill>
                  <a:srgbClr val="6B6B6B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6B6B6B"/>
                </a:solidFill>
                <a:latin typeface="Calibri"/>
              </a:rPr>
              <a:t>кг</a:t>
            </a:r>
            <a:r>
              <a:rPr sz="850" b="0" i="0" dirty="0">
                <a:solidFill>
                  <a:srgbClr val="6B6B6B"/>
                </a:solidFill>
                <a:latin typeface="Calibri"/>
              </a:rPr>
              <a:t>, </a:t>
            </a:r>
            <a:r>
              <a:rPr sz="850" b="0" i="0" dirty="0" err="1">
                <a:solidFill>
                  <a:srgbClr val="6B6B6B"/>
                </a:solidFill>
                <a:latin typeface="Calibri"/>
              </a:rPr>
              <a:t>чем</a:t>
            </a:r>
            <a:r>
              <a:rPr sz="850" b="0" i="0" dirty="0">
                <a:solidFill>
                  <a:srgbClr val="6B6B6B"/>
                </a:solidFill>
                <a:latin typeface="Calibri"/>
              </a:rPr>
              <a:t> 0,75 л. </a:t>
            </a:r>
            <a:r>
              <a:rPr sz="850" b="0" i="0" dirty="0" err="1">
                <a:solidFill>
                  <a:srgbClr val="6B6B6B"/>
                </a:solidFill>
                <a:latin typeface="Calibri"/>
              </a:rPr>
              <a:t>Дистрибьютор</a:t>
            </a:r>
            <a:r>
              <a:rPr sz="85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6B6B6B"/>
                </a:solidFill>
                <a:latin typeface="Calibri"/>
              </a:rPr>
              <a:t>зарабатывает</a:t>
            </a:r>
            <a:r>
              <a:rPr sz="85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6B6B6B"/>
                </a:solidFill>
                <a:latin typeface="Calibri"/>
              </a:rPr>
              <a:t>больше</a:t>
            </a:r>
            <a:r>
              <a:rPr sz="85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6B6B6B"/>
                </a:solidFill>
                <a:latin typeface="Calibri"/>
              </a:rPr>
              <a:t>на</a:t>
            </a:r>
            <a:r>
              <a:rPr sz="85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6B6B6B"/>
                </a:solidFill>
                <a:latin typeface="Calibri"/>
              </a:rPr>
              <a:t>крупной</a:t>
            </a:r>
            <a:r>
              <a:rPr sz="85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6B6B6B"/>
                </a:solidFill>
                <a:latin typeface="Calibri"/>
              </a:rPr>
              <a:t>фасовке</a:t>
            </a:r>
            <a:r>
              <a:rPr sz="850" b="0" i="0" dirty="0">
                <a:solidFill>
                  <a:srgbClr val="6B6B6B"/>
                </a:solidFill>
                <a:latin typeface="Calibri"/>
              </a:rPr>
              <a:t> — </a:t>
            </a:r>
            <a:r>
              <a:rPr sz="850" b="0" i="0" dirty="0" err="1">
                <a:solidFill>
                  <a:srgbClr val="6B6B6B"/>
                </a:solidFill>
                <a:latin typeface="Calibri"/>
              </a:rPr>
              <a:t>мотивируем</a:t>
            </a:r>
            <a:r>
              <a:rPr sz="85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6B6B6B"/>
                </a:solidFill>
                <a:latin typeface="Calibri"/>
              </a:rPr>
              <a:t>его</a:t>
            </a:r>
            <a:r>
              <a:rPr sz="85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6B6B6B"/>
                </a:solidFill>
                <a:latin typeface="Calibri"/>
              </a:rPr>
              <a:t>продвигать</a:t>
            </a:r>
            <a:r>
              <a:rPr sz="85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6B6B6B"/>
                </a:solidFill>
                <a:latin typeface="Calibri"/>
              </a:rPr>
              <a:t>именно</a:t>
            </a:r>
            <a:r>
              <a:rPr sz="85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6B6B6B"/>
                </a:solidFill>
                <a:latin typeface="Calibri"/>
              </a:rPr>
              <a:t>её</a:t>
            </a:r>
            <a:endParaRPr sz="850" b="0" i="0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269480" y="1483233"/>
            <a:ext cx="27889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269480" y="1483233"/>
            <a:ext cx="73152" cy="201168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52360" y="1574673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smtClean="0">
                <a:solidFill>
                  <a:srgbClr val="F47629"/>
                </a:solidFill>
                <a:latin typeface="Calibri"/>
              </a:rPr>
              <a:t>0</a:t>
            </a:r>
            <a:r>
              <a:rPr lang="en-US" b="1" dirty="0" smtClean="0">
                <a:solidFill>
                  <a:srgbClr val="F47629"/>
                </a:solidFill>
                <a:latin typeface="Calibri"/>
              </a:rPr>
              <a:t>3</a:t>
            </a:r>
            <a:endParaRPr sz="1800" b="1" i="0" dirty="0">
              <a:solidFill>
                <a:srgbClr val="F47629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138160" y="1602105"/>
            <a:ext cx="1783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ВЛИЯНИЕ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1940433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313131"/>
                </a:solidFill>
                <a:latin typeface="Calibri"/>
              </a:rPr>
              <a:t>Региональный B2B-инфлюенсер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2351913"/>
            <a:ext cx="246888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6B6B6B"/>
                </a:solidFill>
                <a:latin typeface="Calibri"/>
              </a:rPr>
              <a:t>Выявление регионального лидера мнений в сфере B2B (производитель металлоконструкций, владелец крупного цеха, руководитель строительной компании). Его рекомендация работает лучше любой рекламы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75023" y="3659505"/>
            <a:ext cx="73152" cy="2011680"/>
          </a:xfrm>
          <a:prstGeom prst="rect">
            <a:avLst/>
          </a:prstGeom>
          <a:solidFill>
            <a:srgbClr val="D55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32"/>
          <p:cNvSpPr/>
          <p:nvPr/>
        </p:nvSpPr>
        <p:spPr>
          <a:xfrm>
            <a:off x="7273671" y="3632073"/>
            <a:ext cx="27889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33"/>
          <p:cNvSpPr/>
          <p:nvPr/>
        </p:nvSpPr>
        <p:spPr>
          <a:xfrm>
            <a:off x="7273671" y="3632073"/>
            <a:ext cx="73152" cy="201168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456551" y="3723513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 smtClean="0">
                <a:solidFill>
                  <a:srgbClr val="F47629"/>
                </a:solidFill>
                <a:latin typeface="Calibri"/>
              </a:rPr>
              <a:t>0</a:t>
            </a:r>
            <a:r>
              <a:rPr lang="ru-RU" sz="1800" b="1" i="0" dirty="0" smtClean="0">
                <a:solidFill>
                  <a:srgbClr val="F47629"/>
                </a:solidFill>
                <a:latin typeface="Calibri"/>
              </a:rPr>
              <a:t>6</a:t>
            </a:r>
            <a:endParaRPr sz="1800" b="1" i="0" dirty="0">
              <a:solidFill>
                <a:srgbClr val="F47629"/>
              </a:solidFill>
              <a:latin typeface="Calibri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142351" y="3750945"/>
            <a:ext cx="1783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ВЛИЯНИЕ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56551" y="4089273"/>
            <a:ext cx="2468880" cy="186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ru-RU" sz="1100" b="1" i="0" dirty="0" smtClean="0">
                <a:solidFill>
                  <a:srgbClr val="313131"/>
                </a:solidFill>
                <a:latin typeface="Calibri"/>
              </a:rPr>
              <a:t>Портфолио </a:t>
            </a:r>
            <a:r>
              <a:rPr lang="en-US" sz="1100" b="1" dirty="0" smtClean="0">
                <a:solidFill>
                  <a:srgbClr val="313131"/>
                </a:solidFill>
                <a:latin typeface="Calibri"/>
              </a:rPr>
              <a:t>B2B</a:t>
            </a:r>
            <a:r>
              <a:rPr lang="ru-RU" sz="1100" b="1" dirty="0" smtClean="0">
                <a:solidFill>
                  <a:srgbClr val="313131"/>
                </a:solidFill>
                <a:latin typeface="Calibri"/>
              </a:rPr>
              <a:t> объектов</a:t>
            </a:r>
            <a:r>
              <a:rPr lang="en-US" sz="1100" b="1" dirty="0" smtClean="0">
                <a:solidFill>
                  <a:srgbClr val="313131"/>
                </a:solidFill>
                <a:latin typeface="Calibri"/>
              </a:rPr>
              <a:t> </a:t>
            </a:r>
            <a:endParaRPr sz="1100" b="1" i="0" dirty="0">
              <a:solidFill>
                <a:srgbClr val="313131"/>
              </a:solidFill>
              <a:latin typeface="Calibri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456551" y="4500753"/>
            <a:ext cx="2468880" cy="478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ru-RU" sz="850" dirty="0">
                <a:solidFill>
                  <a:srgbClr val="6B6B6B"/>
                </a:solidFill>
              </a:rPr>
              <a:t>B2B-портфолио TITAN — самый маржинальный канал дистрибьютора: крупная фасовка + долгий срок службы = максимальная прибыль на единицу</a:t>
            </a:r>
            <a:endParaRPr sz="850" b="0" i="0" dirty="0">
              <a:solidFill>
                <a:srgbClr val="6B6B6B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628749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61152" y="-38100"/>
            <a:ext cx="1695451" cy="806451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84" b="-2003"/>
          <a:stretch/>
        </p:blipFill>
        <p:spPr>
          <a:xfrm>
            <a:off x="7905753" y="2070101"/>
            <a:ext cx="4324351" cy="387985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551" b="12331"/>
          <a:stretch/>
        </p:blipFill>
        <p:spPr>
          <a:xfrm>
            <a:off x="3087371" y="2832100"/>
            <a:ext cx="4632052" cy="403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880351" y="327910"/>
            <a:ext cx="2595599" cy="2595599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38153" y="509403"/>
            <a:ext cx="3790951" cy="3730997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438153" y="6337302"/>
            <a:ext cx="361951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lnSpc>
                <a:spcPts val="1255"/>
              </a:lnSpc>
            </a:pPr>
            <a:r>
              <a:rPr lang="en-US" sz="1100" kern="0" spc="-12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2026</a:t>
            </a:r>
            <a:endParaRPr lang="en-US" sz="1100" dirty="0">
              <a:solidFill>
                <a:prstClr val="black"/>
              </a:solidFill>
            </a:endParaRPr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80" b="6250"/>
          <a:stretch/>
        </p:blipFill>
        <p:spPr>
          <a:xfrm>
            <a:off x="4114800" y="5238752"/>
            <a:ext cx="8077200" cy="1619251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395166" y="1984265"/>
            <a:ext cx="2939076" cy="4126841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344153" y="527053"/>
            <a:ext cx="1250951" cy="1250951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107728" y="1950264"/>
            <a:ext cx="3127517" cy="4198037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069696" y="1778001"/>
            <a:ext cx="4830464" cy="4830464"/>
          </a:xfrm>
          <a:prstGeom prst="rect">
            <a:avLst/>
          </a:prstGeom>
        </p:spPr>
      </p:pic>
      <p:sp>
        <p:nvSpPr>
          <p:cNvPr id="14" name="Text 2"/>
          <p:cNvSpPr/>
          <p:nvPr/>
        </p:nvSpPr>
        <p:spPr>
          <a:xfrm>
            <a:off x="8915400" y="4883149"/>
            <a:ext cx="3276600" cy="1016000"/>
          </a:xfrm>
          <a:prstGeom prst="rect">
            <a:avLst/>
          </a:prstGeom>
          <a:solidFill>
            <a:srgbClr val="E30614"/>
          </a:solidFill>
          <a:ln/>
        </p:spPr>
        <p:txBody>
          <a:bodyPr wrap="square" lIns="121914" tIns="60957" rIns="121914" bIns="60957" rtlCol="0" anchor="ctr"/>
          <a:lstStyle/>
          <a:p>
            <a:pPr defTabSz="1219140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5" name="Text 3"/>
          <p:cNvSpPr/>
          <p:nvPr/>
        </p:nvSpPr>
        <p:spPr>
          <a:xfrm>
            <a:off x="8915400" y="5016500"/>
            <a:ext cx="3276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lnSpc>
                <a:spcPts val="3021"/>
              </a:lnSpc>
            </a:pPr>
            <a:r>
              <a:rPr lang="en-US" sz="2900" kern="0" spc="-63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У КОРРОЗИИ</a:t>
            </a:r>
            <a:endParaRPr lang="en-US" sz="2900" dirty="0">
              <a:solidFill>
                <a:prstClr val="black"/>
              </a:solidFill>
            </a:endParaRPr>
          </a:p>
          <a:p>
            <a:pPr algn="ctr" defTabSz="1219140">
              <a:lnSpc>
                <a:spcPts val="3021"/>
              </a:lnSpc>
            </a:pPr>
            <a:r>
              <a:rPr lang="en-US" sz="2900" kern="0" spc="-63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НЕТ ШАНСОВ</a:t>
            </a:r>
            <a:endParaRPr lang="en-US" sz="29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436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864</TotalTime>
  <Words>2209</Words>
  <Application>Microsoft Office PowerPoint</Application>
  <PresentationFormat>Произвольный</PresentationFormat>
  <Paragraphs>564</Paragraphs>
  <Slides>19</Slides>
  <Notes>10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19</vt:i4>
      </vt:variant>
    </vt:vector>
  </HeadingPairs>
  <TitlesOfParts>
    <vt:vector size="21" baseType="lpstr">
      <vt:lpstr>Office Theme</vt:lpstr>
      <vt:lpstr>1_Office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Заколодний Роман Александрович</cp:lastModifiedBy>
  <cp:revision>220</cp:revision>
  <cp:lastPrinted>2026-08-19T10:42:56Z</cp:lastPrinted>
  <dcterms:created xsi:type="dcterms:W3CDTF">2013-01-27T09:14:16Z</dcterms:created>
  <dcterms:modified xsi:type="dcterms:W3CDTF">2026-08-20T07:00:52Z</dcterms:modified>
  <cp:category/>
</cp:coreProperties>
</file>