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60" r:id="rId5"/>
    <p:sldId id="259" r:id="rId6"/>
    <p:sldId id="262" r:id="rId7"/>
    <p:sldId id="267" r:id="rId8"/>
    <p:sldId id="270" r:id="rId9"/>
    <p:sldId id="264" r:id="rId10"/>
    <p:sldId id="258" r:id="rId11"/>
    <p:sldId id="263" r:id="rId12"/>
    <p:sldId id="268" r:id="rId13"/>
    <p:sldId id="269" r:id="rId14"/>
    <p:sldId id="265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-90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B8467-38C4-4842-B085-3A5E2A666F82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01294-2977-4189-BE23-42D2B81D6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7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2863" cy="5143500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806" y="571500"/>
            <a:ext cx="7144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5898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14375" y="428625"/>
            <a:ext cx="2992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ТЕХНИЧЕСКИЙ КАТАЛОГ · ЭМПИЛС · ЛКМ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071563"/>
            <a:ext cx="22860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0072" y="1075134"/>
            <a:ext cx="2278856" cy="2278856"/>
          </a:xfrm>
          <a:prstGeom prst="roundRect">
            <a:avLst>
              <a:gd name="adj" fmla="val 11703"/>
            </a:avLst>
          </a:prstGeom>
          <a:noFill/>
          <a:ln w="7144">
            <a:solidFill>
              <a:srgbClr val="1F4E79"/>
            </a:solidFill>
            <a:prstDash val="solid"/>
          </a:ln>
          <a:effectLst>
            <a:outerShdw blurRad="304800" dist="11430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393656" y="1178719"/>
            <a:ext cx="2071688" cy="2071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6379704" y="3500438"/>
            <a:ext cx="2198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Интерьерные · Фасадные · Эмали · Огнезащита · Полы</a:t>
            </a:r>
            <a:endParaRPr lang="en-US" sz="619" dirty="0"/>
          </a:p>
        </p:txBody>
      </p:sp>
      <p:sp>
        <p:nvSpPr>
          <p:cNvPr id="12" name="Text 8"/>
          <p:cNvSpPr/>
          <p:nvPr/>
        </p:nvSpPr>
        <p:spPr>
          <a:xfrm>
            <a:off x="8472488" y="350936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3" name="Text 9"/>
          <p:cNvSpPr/>
          <p:nvPr/>
        </p:nvSpPr>
        <p:spPr>
          <a:xfrm>
            <a:off x="571500" y="1571625"/>
            <a:ext cx="5400675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800" b="1" kern="0" spc="-20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Каталог продуктов Эмпилс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571500" y="1983060"/>
            <a:ext cx="4572000" cy="42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 ЛКМ в жилищном строительстве с учётом классов пожароопасности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571500" y="2575992"/>
            <a:ext cx="400050" cy="21431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71500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742950" y="2754585"/>
            <a:ext cx="10419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Все классы этажности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803462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1974912" y="2754585"/>
            <a:ext cx="82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КМ1 · Г1 · В1 · НГ</a:t>
            </a:r>
            <a:endParaRPr lang="en-US" sz="675" dirty="0"/>
          </a:p>
        </p:txBody>
      </p:sp>
      <p:sp>
        <p:nvSpPr>
          <p:cNvPr id="20" name="Text 16"/>
          <p:cNvSpPr/>
          <p:nvPr/>
        </p:nvSpPr>
        <p:spPr>
          <a:xfrm>
            <a:off x="2851249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3022699" y="2754585"/>
            <a:ext cx="1184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Сертификаты соответствия</a:t>
            </a:r>
            <a:endParaRPr lang="en-US" sz="675" dirty="0"/>
          </a:p>
        </p:txBody>
      </p:sp>
      <p:sp>
        <p:nvSpPr>
          <p:cNvPr id="22" name="Shape 18"/>
          <p:cNvSpPr/>
          <p:nvPr/>
        </p:nvSpPr>
        <p:spPr>
          <a:xfrm>
            <a:off x="571500" y="4461272"/>
            <a:ext cx="80010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571500" y="46041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4" name="Text 20"/>
          <p:cNvSpPr/>
          <p:nvPr/>
        </p:nvSpPr>
        <p:spPr>
          <a:xfrm>
            <a:off x="785813" y="4593431"/>
            <a:ext cx="26093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На основании ФЗ-123 и сертификатов соответствия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618251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7782077" y="4593431"/>
            <a:ext cx="7980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Сентябрь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1795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00050" y="2857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71500" y="289322"/>
            <a:ext cx="16593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 smtClean="0">
                <a:solidFill>
                  <a:srgbClr val="555555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ЛЕГЕНДА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428625"/>
            <a:ext cx="19223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800" b="1" kern="0" spc="-16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Как читать каталог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7211026" y="475059"/>
            <a:ext cx="1532924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КМ-классы · Этажность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89875" y="63222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7404992" y="621506"/>
            <a:ext cx="133895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Светофорная кодировка применения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036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4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7072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Цветовая кодировка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521494" y="1367582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8F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8644" y="1439019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934" y="147831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2969" y="1424732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 использовать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892969" y="1564035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Полностью соответствует требованиям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494" y="1895326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8644" y="1966764"/>
            <a:ext cx="228600" cy="228600"/>
          </a:xfrm>
          <a:prstGeom prst="ellipse">
            <a:avLst/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934" y="200605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36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2969" y="1952476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892969" y="2091779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конкретных зон / этажей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494" y="2423071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8644" y="2494508"/>
            <a:ext cx="228600" cy="228600"/>
          </a:xfrm>
          <a:prstGeom prst="ellipse">
            <a:avLst/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934" y="253379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✗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2969" y="2480221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 использовать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892969" y="2619524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Запрещено нормами пожарной безопасности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494" y="2950815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8644" y="3022253"/>
            <a:ext cx="228600" cy="228600"/>
          </a:xfrm>
          <a:prstGeom prst="ellipse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8644" y="3022253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1100" b="1" dirty="0">
                <a:solidFill>
                  <a:srgbClr val="90A4AE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2969" y="3007965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892969" y="3147268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Продукт не предназначен для данной зоны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327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05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49363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6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Классы пожароопасности (ФЗ-123)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750594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0594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Г1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9206" y="1477417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слабогорючие </a:t>
            </a: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(лучший для горючих)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6729413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29413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В1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58025" y="1477417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трудновоспламеняемые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0594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50594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Д1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79206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малодымообразующие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9413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29413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1F4E7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58025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малотоксичные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0594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50594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9206" y="2493615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распр. пламя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29413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29413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58025" y="2493615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комбин.: Г1+В1+Д1+Т1+РП1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0594" y="2860179"/>
            <a:ext cx="38719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750594" y="3055507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CEFF1"/>
          </a:solidFill>
          <a:ln w="7144">
            <a:solidFill>
              <a:srgbClr val="CFD8DC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50594" y="3066008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1100" b="1" dirty="0">
                <a:solidFill>
                  <a:srgbClr val="455A64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НГ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79206" y="3094583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негорючие — </a:t>
            </a:r>
            <a:r>
              <a:rPr lang="en-US" sz="800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зданий &gt;17 этажей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0050" y="36379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58" name="Text 56"/>
          <p:cNvSpPr/>
          <p:nvPr/>
        </p:nvSpPr>
        <p:spPr>
          <a:xfrm>
            <a:off x="585788" y="3621881"/>
            <a:ext cx="17111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Этажность жилых зданий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2011859" y="3648670"/>
            <a:ext cx="67320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· требования ужесточаются с ростом этажности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00050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00050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3120591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00050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4338" y="3854053"/>
            <a:ext cx="0" cy="528638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14350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14350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100" b="1" dirty="0">
                <a:solidFill>
                  <a:srgbClr val="00A85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≤9</a:t>
            </a:r>
            <a:endParaRPr lang="en-US" sz="1013" dirty="0"/>
          </a:p>
        </p:txBody>
      </p:sp>
      <p:sp>
        <p:nvSpPr>
          <p:cNvPr id="67" name="Text 65"/>
          <p:cNvSpPr/>
          <p:nvPr/>
        </p:nvSpPr>
        <p:spPr>
          <a:xfrm>
            <a:off x="942975" y="3993691"/>
            <a:ext cx="111785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9 этажей (≤28 м)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942975" y="4132994"/>
            <a:ext cx="104918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самые мягкие требования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3209888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3209888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5930429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3209888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3224175" y="3854053"/>
            <a:ext cx="0" cy="528638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3324188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324188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9–17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52813" y="3993691"/>
            <a:ext cx="116429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9–17 этажей (28–50 м)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3752813" y="4132994"/>
            <a:ext cx="1271588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строже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019726" y="3854053"/>
            <a:ext cx="2724224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6019726" y="3857625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8740378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6019726" y="4379119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6034013" y="3854053"/>
            <a:ext cx="0" cy="528638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134026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34026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&gt;17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562651" y="3993691"/>
            <a:ext cx="120020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Выше 17 этажей (&gt;50 м)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6562651" y="4132994"/>
            <a:ext cx="11783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только НГ на путях эвакуации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266" dirty="0"/>
          </a:p>
        </p:txBody>
      </p:sp>
      <p:sp>
        <p:nvSpPr>
          <p:cNvPr id="8" name="Shape 6"/>
          <p:cNvSpPr/>
          <p:nvPr/>
        </p:nvSpPr>
        <p:spPr>
          <a:xfrm>
            <a:off x="400050" y="957642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0050" y="311132"/>
            <a:ext cx="3409164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ПОТОЛОЧНАЯ КРАСКА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454007"/>
            <a:ext cx="3230091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полиакрил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050" y="707610"/>
            <a:ext cx="33223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Потолочная ВД-краска (полиакрил)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269994" y="426575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42222" y="591224"/>
            <a:ext cx="1524588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65082" y="604026"/>
            <a:ext cx="1478868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· Г1 В1 Д1 Т1 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079085"/>
            <a:ext cx="2850356" cy="1267123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2255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232676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439845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439845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597677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597677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05.02.2028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1844806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0069" y="1934103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Соответствие ФЗ-123 подтверждено декларацией. Класс КМ1 превышает базовые требования для жилых зданий.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3622" y="2467652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E3F2FD"/>
          </a:solidFill>
          <a:ln w="7144">
            <a:solidFill>
              <a:srgbClr val="BBDEFB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069" y="26140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735806" y="2621242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 ПРОДУКТА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0069" y="2799836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Водно-дисперсионная полиакриловая краска. Назначение — </a:t>
            </a:r>
            <a:r>
              <a:rPr lang="en-US" sz="800" b="1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потолки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Глубокоматовая фактура без бликов.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3997" y="1079085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2255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0" y="1232676"/>
            <a:ext cx="24145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445158"/>
              </p:ext>
            </p:extLst>
          </p:nvPr>
        </p:nvGraphicFramePr>
        <p:xfrm>
          <a:off x="3550444" y="1439845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3550444" y="412946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3707606" y="4122323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зданий &gt;17 этажей на путях эвакуации требуются материалы класса </a:t>
            </a:r>
            <a:r>
              <a:rPr lang="en-US" sz="7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НГ (негорючие)</a:t>
            </a: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5" name="Text 42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Специально для потолков. Глубокоматовая, не бликует. Для всех типов жилых и общественных зданий до 17 этажей.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2564606" y="12326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ТУ 2316-228-05744283-2005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</a:t>
            </a:r>
            <a:r>
              <a:rPr lang="en-US" sz="800" kern="0" spc="124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ПРОДУКТА</a:t>
            </a:r>
            <a:endParaRPr lang="ru-RU" sz="800" kern="0" spc="124" dirty="0" smtClean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44"/>
              </a:lnSpc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392906"/>
            <a:ext cx="5550694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400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моющаяся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0050" y="664369"/>
            <a:ext cx="52863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Интерьерная моющаяся ВД-краска для кухонь, прихожих, коридоров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06869" y="257175"/>
            <a:ext cx="1937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42857" y="410766"/>
            <a:ext cx="1597521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19731" y="404109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Т1, РП1)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232154" y="45720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403622" y="1014413"/>
            <a:ext cx="2064544" cy="1057610"/>
          </a:xfrm>
          <a:prstGeom prst="roundRect">
            <a:avLst>
              <a:gd name="adj" fmla="val 1080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1197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11799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30730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2 сертификата: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206" y="1457660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 fontScale="25000" lnSpcReduction="20000"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7206" y="1596963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206" y="1796988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7206" y="18702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35794" y="1857710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 05.02.2028 / 2026 г.</a:t>
            </a:r>
            <a:endParaRPr lang="en-US" sz="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161319"/>
            <a:ext cx="2071688" cy="76080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3622" y="2164891"/>
            <a:ext cx="2064544" cy="753666"/>
          </a:xfrm>
          <a:prstGeom prst="roundRect">
            <a:avLst>
              <a:gd name="adj" fmla="val 15166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7206" y="227026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678656" y="2268475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" y="2433639"/>
            <a:ext cx="325375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7206" y="2443497"/>
            <a:ext cx="325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Кухни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75444" y="2433639"/>
            <a:ext cx="468139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75444" y="2443497"/>
            <a:ext cx="4681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Прихожие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86446" y="2433639"/>
            <a:ext cx="48276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386446" y="2443497"/>
            <a:ext cx="48276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Коридоры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912069" y="2433639"/>
            <a:ext cx="39804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904486" y="2443497"/>
            <a:ext cx="4132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Детские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4346" y="2640808"/>
            <a:ext cx="902412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7206" y="2650666"/>
            <a:ext cx="85669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Места общего польз.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589609" y="1014413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07481" y="11447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2878931" y="1132284"/>
            <a:ext cx="25661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633208" y="1148358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7481" y="1357313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6"/>
          <p:cNvSpPr/>
          <p:nvPr/>
        </p:nvSpPr>
        <p:spPr>
          <a:xfrm>
            <a:off x="2707481" y="34039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41" name="Text 37"/>
          <p:cNvSpPr/>
          <p:nvPr/>
        </p:nvSpPr>
        <p:spPr>
          <a:xfrm>
            <a:off x="2836069" y="3393281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00050" y="3721894"/>
            <a:ext cx="8343900" cy="300038"/>
          </a:xfrm>
          <a:prstGeom prst="roundRect">
            <a:avLst>
              <a:gd name="adj" fmla="val 25397"/>
            </a:avLst>
          </a:prstGeom>
          <a:solidFill>
            <a:srgbClr val="00A859">
              <a:alpha val="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39"/>
          <p:cNvSpPr/>
          <p:nvPr/>
        </p:nvSpPr>
        <p:spPr>
          <a:xfrm>
            <a:off x="410766" y="3721894"/>
            <a:ext cx="0" cy="300038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44" name="Text 40"/>
          <p:cNvSpPr/>
          <p:nvPr/>
        </p:nvSpPr>
        <p:spPr>
          <a:xfrm>
            <a:off x="507206" y="3807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45" name="Text 41"/>
          <p:cNvSpPr/>
          <p:nvPr/>
        </p:nvSpPr>
        <p:spPr>
          <a:xfrm>
            <a:off x="721519" y="3807619"/>
            <a:ext cx="79367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Устойчива к мытью. Для кухонь, прихожих, детских комнат, мест общего пользования.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2507456" y="111799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ТУ 2316-228-05744283-2005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</a:t>
            </a:r>
            <a:endParaRPr lang="ru-RU" sz="800" kern="0" spc="124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44"/>
              </a:lnSpc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392906"/>
            <a:ext cx="5815013" cy="24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400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интерьерная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0050" y="664369"/>
            <a:ext cx="570928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ВД-краска полиакриловая для внутренних работ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06869" y="257175"/>
            <a:ext cx="1937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42857" y="410766"/>
            <a:ext cx="1597521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02034" y="427705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Т1, РП1)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184962" y="474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403622" y="1014413"/>
            <a:ext cx="2064544" cy="1211200"/>
          </a:xfrm>
          <a:prstGeom prst="roundRect">
            <a:avLst>
              <a:gd name="adj" fmla="val 943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1197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11799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30730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Сертификат: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206" y="1457660"/>
            <a:ext cx="1857375" cy="15473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7206" y="1643397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7206" y="1639825"/>
            <a:ext cx="1857375" cy="279749"/>
          </a:xfrm>
          <a:prstGeom prst="rect">
            <a:avLst/>
          </a:prstGeom>
          <a:noFill/>
          <a:ln/>
        </p:spPr>
        <p:txBody>
          <a:bodyPr wrap="square" lIns="0" tIns="42863" rIns="0" bIns="0" rtlCol="0" anchor="t">
            <a:normAutofit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ОРЕОЛ белая моющаяся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 полиакриловая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7206" y="1950579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7206" y="20238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635794" y="2011300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 05.02.2028</a:t>
            </a:r>
            <a:endParaRPr lang="en-US" sz="8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314910"/>
            <a:ext cx="2071688" cy="74652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03622" y="2318482"/>
            <a:ext cx="2064544" cy="739378"/>
          </a:xfrm>
          <a:prstGeom prst="roundRect">
            <a:avLst>
              <a:gd name="adj" fmla="val 15459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07206" y="242385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678656" y="2422066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2E7D32"/>
                </a:solidFill>
                <a:latin typeface="Courier New" pitchFamily="34" charset="0"/>
                <a:ea typeface="Carlito" pitchFamily="34" charset="-122"/>
                <a:cs typeface="Carlito" pitchFamily="34" charset="-120"/>
              </a:rPr>
              <a:t>ПРЕИМУЩЕСТВО КМ1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7206" y="2585515"/>
            <a:ext cx="590476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7206" y="2597088"/>
            <a:ext cx="5904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1100" b="1" dirty="0">
                <a:solidFill>
                  <a:srgbClr val="1B5E20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Д1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40544" y="2585515"/>
            <a:ext cx="590587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1140544" y="2597088"/>
            <a:ext cx="5905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1100" b="1" dirty="0">
                <a:solidFill>
                  <a:srgbClr val="1B5E20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73994" y="2585515"/>
            <a:ext cx="590476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773994" y="2597088"/>
            <a:ext cx="5904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7206" y="2847119"/>
            <a:ext cx="193167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вместо стандартных Д2 / Т2 / РП2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589609" y="1014413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707481" y="11447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2878930" y="1132284"/>
            <a:ext cx="22948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633208" y="1148358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7481" y="1357313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2707481" y="34039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39" name="Text 35"/>
          <p:cNvSpPr/>
          <p:nvPr/>
        </p:nvSpPr>
        <p:spPr>
          <a:xfrm>
            <a:off x="2836069" y="3393281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00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845561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0050" y="199051"/>
            <a:ext cx="3297261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ФАСАДНАЯ КРАСКА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341926"/>
            <a:ext cx="3134806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фасадная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050" y="595529"/>
            <a:ext cx="32243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Фасадная ВД-краска для наружных работ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334782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87009" y="495517"/>
            <a:ext cx="1953369" cy="257175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95769" y="491945"/>
            <a:ext cx="2200458" cy="264319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>
              <a:lnSpc>
                <a:spcPts val="1181"/>
              </a:lnSpc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(КМ1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ru-RU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</a:t>
            </a: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В1 · Д2 · Т2 · 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967004"/>
            <a:ext cx="2850356" cy="1424955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1134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120595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327764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327764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Д-RU.RA01.B.03123/21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485596"/>
            <a:ext cx="209579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СТО: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05134" y="1485596"/>
            <a:ext cx="55741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135-2018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550069" y="1643428"/>
            <a:ext cx="2151720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5011" y="1643428"/>
            <a:ext cx="433586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731" dirty="0"/>
          </a:p>
        </p:txBody>
      </p:sp>
      <p:sp>
        <p:nvSpPr>
          <p:cNvPr id="24" name="Shape 22"/>
          <p:cNvSpPr/>
          <p:nvPr/>
        </p:nvSpPr>
        <p:spPr>
          <a:xfrm>
            <a:off x="550069" y="1890557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0069" y="1979854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Продукт: Краска фасадная СТО 135-2018. Атмосферостойкая, для наружных работ.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3622" y="2513403"/>
            <a:ext cx="2850356" cy="784027"/>
          </a:xfrm>
          <a:prstGeom prst="roundRect">
            <a:avLst>
              <a:gd name="adj" fmla="val 14579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0069" y="26598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735806" y="2666994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УЛУЧШЕНИЕ ПО СЕРТИФИКАТУ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50616" y="2867019"/>
            <a:ext cx="190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1100" b="1" strike="sngStrike" dirty="0">
                <a:solidFill>
                  <a:srgbClr val="E53935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В2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98849" y="28762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2540943" y="2867019"/>
            <a:ext cx="190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1100" b="1" dirty="0">
                <a:solidFill>
                  <a:srgbClr val="00A859"/>
                </a:solidFill>
                <a:latin typeface="Segoe UI Symbol" pitchFamily="34" charset="0"/>
                <a:ea typeface="Courier New" pitchFamily="34" charset="-122"/>
                <a:cs typeface="Courier New" pitchFamily="34" charset="-120"/>
              </a:rPr>
              <a:t>В1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0069" y="3036683"/>
            <a:ext cx="26671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улучшено по сертификату соответствия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03997" y="967004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50444" y="11134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3736181" y="1120595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675882"/>
              </p:ext>
            </p:extLst>
          </p:nvPr>
        </p:nvGraphicFramePr>
        <p:xfrm>
          <a:off x="3550444" y="1327764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5" name="Text 42"/>
          <p:cNvSpPr/>
          <p:nvPr/>
        </p:nvSpPr>
        <p:spPr>
          <a:xfrm>
            <a:off x="3550444" y="401738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6" name="Text 43"/>
          <p:cNvSpPr/>
          <p:nvPr/>
        </p:nvSpPr>
        <p:spPr>
          <a:xfrm>
            <a:off x="3707606" y="4010242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⚠ «Жилые комнаты» помечены ограничением — продукт предназначен только для </a:t>
            </a:r>
            <a:r>
              <a:rPr lang="en-US" sz="700" b="1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наружных фасадов</a:t>
            </a: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00050" y="449504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414338" y="4495043"/>
            <a:ext cx="0" cy="328613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571500" y="458076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50" name="Text 47"/>
          <p:cNvSpPr/>
          <p:nvPr/>
        </p:nvSpPr>
        <p:spPr>
          <a:xfrm>
            <a:off x="814388" y="459059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1100" b="1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r>
              <a:rPr lang="en-US" sz="700" b="1" dirty="0">
                <a:solidFill>
                  <a:srgbClr val="FF9800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7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→В</a:t>
            </a:r>
            <a:r>
              <a:rPr lang="en-US" sz="700" b="1" dirty="0">
                <a:solidFill>
                  <a:srgbClr val="FF9800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улучшено по сертификату!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наружных фасадов зданий любой этажности. Атмосферостойкая.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8867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ПОЛЫ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020866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ts val="1654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для пола акриловая полуматовая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893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покрытия полов внутри помещений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95565" y="823017"/>
            <a:ext cx="1378364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18425" y="835819"/>
            <a:ext cx="133264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Д-RU.PA01.B.00229/22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Liberation Sans Narrow" pitchFamily="34" charset="-122"/>
                <a:cs typeface="Liberation Sans Narrow" pitchFamily="34" charset="-120"/>
              </a:rPr>
              <a:t>10.02.2027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2E7D32"/>
                </a:solidFill>
                <a:latin typeface="Courier New" pitchFamily="34" charset="0"/>
                <a:ea typeface="Carlito" pitchFamily="34" charset="-122"/>
                <a:cs typeface="Carlito" pitchFamily="34" charset="-120"/>
              </a:rPr>
              <a:t>КМ1 — ЛУЧШИЙ КЛАСС ДЛЯ ПОЛОВ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</a:t>
            </a:r>
            <a:r>
              <a:rPr lang="en-US" sz="7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КМ1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лучший показатель для половой эмали. Для полов в жилых и общественных зданиях </a:t>
            </a:r>
            <a:r>
              <a:rPr lang="en-US" sz="7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1506" y="3757613"/>
            <a:ext cx="2471738" cy="0"/>
          </a:xfrm>
          <a:prstGeom prst="line">
            <a:avLst/>
          </a:prstGeom>
          <a:noFill/>
          <a:ln w="7144">
            <a:solidFill>
              <a:srgbClr val="A5D6A7"/>
            </a:solidFill>
            <a:prstDash val="dash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21506" y="38558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7" name="Text 24"/>
          <p:cNvSpPr/>
          <p:nvPr/>
        </p:nvSpPr>
        <p:spPr>
          <a:xfrm>
            <a:off x="778669" y="3846909"/>
            <a:ext cx="23145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Высокая износостойкость · полуматовое покрытие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3636169" y="1775222"/>
            <a:ext cx="2906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  <p:sp>
        <p:nvSpPr>
          <p:cNvPr id="41" name="TextBox 40"/>
          <p:cNvSpPr txBox="1"/>
          <p:nvPr/>
        </p:nvSpPr>
        <p:spPr>
          <a:xfrm>
            <a:off x="2636044" y="177522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СТО 05744283-060-2010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6950649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ИНТЕРЬЕР </a:t>
            </a:r>
            <a:r>
              <a:rPr lang="en-US" sz="800" b="1" kern="0" spc="87" dirty="0">
                <a:solidFill>
                  <a:srgbClr val="00A85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· СТЕНЫ И ПОТОЛКИ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6713417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54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 моющаяся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1031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ВД-краска СТО 05744283-134-2018. Для стен и потолков.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42497" y="839391"/>
            <a:ext cx="1605000" cy="232172"/>
          </a:xfrm>
          <a:prstGeom prst="roundRect">
            <a:avLst>
              <a:gd name="adj" fmla="val 2461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38925" y="835819"/>
            <a:ext cx="1612143" cy="269034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Д2, Т2, РП1)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2E7D32"/>
                </a:solidFill>
                <a:latin typeface="Courier New" pitchFamily="34" charset="0"/>
                <a:ea typeface="Carlito" pitchFamily="34" charset="-122"/>
                <a:cs typeface="Carlito" pitchFamily="34" charset="-120"/>
              </a:rPr>
              <a:t>КМ1 · МОЮЩАЯСЯ · ИЗНОСОСТОЙКАЯ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7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</a:t>
            </a:r>
            <a:r>
              <a:rPr lang="en-US" sz="7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КМ1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Для стен и потолков в жилых и общественных зданиях </a:t>
            </a:r>
            <a:r>
              <a:rPr lang="en-US" sz="7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Моющаяся, устойчивая к истиранию.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1506" y="3296841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32222" y="3296841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28663" y="3353991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СТО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8663" y="3461147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05744283-134-2018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1885950" y="3296841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1896666" y="3296841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993106" y="3353991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Свойство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93106" y="3461147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Моющаяся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959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932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" name="Text 2"/>
          <p:cNvSpPr/>
          <p:nvPr/>
        </p:nvSpPr>
        <p:spPr>
          <a:xfrm>
            <a:off x="614363" y="100013"/>
            <a:ext cx="28272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59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ЭМПИЛС · ЖИЛИЩНОЕ СТРОИТЕЛЬСТВО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00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09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28713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0050" y="482203"/>
            <a:ext cx="4266826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ГЛЯНЦЕВАЯ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25078"/>
            <a:ext cx="4249772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54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акриловая глянцевая ОРЕОЛ</a:t>
            </a:r>
          </a:p>
        </p:txBody>
      </p:sp>
      <p:sp>
        <p:nvSpPr>
          <p:cNvPr id="11" name="Text 9"/>
          <p:cNvSpPr/>
          <p:nvPr/>
        </p:nvSpPr>
        <p:spPr>
          <a:xfrm>
            <a:off x="400050" y="878681"/>
            <a:ext cx="386342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внутренней отделки. Дерево, металл, ДСП, МДФ.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617934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762295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775097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Д1 · Т1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50156"/>
            <a:ext cx="2850356" cy="1267123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403747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610916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1091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Д-RU.PA01.B.01134/26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768748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768748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24.05.2031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2015877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0069" y="2105174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Декларация соответствия подтверждает классы пожаробезопасности по ФЗ-123.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3622" y="2638723"/>
            <a:ext cx="2850356" cy="803672"/>
          </a:xfrm>
          <a:prstGeom prst="roundRect">
            <a:avLst>
              <a:gd name="adj" fmla="val 1422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069" y="27851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735806" y="2792313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2E7D32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ЛУЧШИЕ ПОКАЗАТЕЛИ СРЕДИ ЭМАЛЕЙ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0069" y="2970907"/>
            <a:ext cx="2557463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Д1 / Т1 — малодымообразующие и малотоксичные. Превосходит матовую версию (Д2/Т2).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3997" y="1250156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1" y="1403747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10916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3550444" y="430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3707606" y="4293394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зданий &gt;17 этажей на путях эвакуации требуются материалы класса </a:t>
            </a:r>
            <a:r>
              <a:rPr lang="en-US" sz="7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НГ (негорючие)</a:t>
            </a: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5" name="Text 42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7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Лучшие показатели среди эмалей: Д1/Т1. Для деревянных и металлических поверхностей внутри помещений.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2564606" y="140374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СТО 05744283-062-2010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451896"/>
            <a:ext cx="6766560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400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80649" y="322064"/>
            <a:ext cx="156330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26062" y="460081"/>
            <a:ext cx="1340748" cy="224028"/>
          </a:xfrm>
          <a:prstGeom prst="roundRect">
            <a:avLst>
              <a:gd name="adj" fmla="val 25510"/>
            </a:avLst>
          </a:prstGeom>
          <a:solidFill>
            <a:srgbClr val="E3F2FD"/>
          </a:solidFill>
          <a:ln w="7144">
            <a:solidFill>
              <a:srgbClr val="90CAF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70378" y="522089"/>
            <a:ext cx="98070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Д2, Т2, РП1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506397" y="53388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403622" y="1197282"/>
            <a:ext cx="2064544" cy="1336216"/>
          </a:xfrm>
          <a:prstGeom prst="roundRect">
            <a:avLst>
              <a:gd name="adj" fmla="val 855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30265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300866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490175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800" dirty="0" err="1" smtClean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сертификата</a:t>
            </a:r>
            <a:r>
              <a:rPr lang="en-US" sz="800" dirty="0">
                <a:solidFill>
                  <a:srgbClr val="1F4E7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7206" y="1640529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Д-RU.PA01.B.00924/23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206" y="1779832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Д-RU.PA01.B.00925/23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206" y="1919135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Д-RU.PA01.B.00923/23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206" y="2058438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/>
                <a:ea typeface="Liberation Sans Narrow" pitchFamily="34" charset="-122"/>
                <a:cs typeface="Liberation Sans Narrow" pitchFamily="34" charset="-120"/>
              </a:rPr>
              <a:t>RU Д-RU.RA01.B.00926/23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206" y="2258463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7206" y="23316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635794" y="2319185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latin typeface="Carlito"/>
                <a:ea typeface="Courier New" pitchFamily="34" charset="-122"/>
                <a:cs typeface="Courier New" pitchFamily="34" charset="-120"/>
              </a:rPr>
              <a:t>Действует до 19.06.2028</a:t>
            </a:r>
            <a:endParaRPr lang="en-US" sz="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622794"/>
            <a:ext cx="2071688" cy="8179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03622" y="2626366"/>
            <a:ext cx="2064544" cy="810816"/>
          </a:xfrm>
          <a:prstGeom prst="roundRect">
            <a:avLst>
              <a:gd name="adj" fmla="val 14097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7206" y="273173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678656" y="2729951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/>
                <a:ea typeface="Carlito" pitchFamily="34" charset="-122"/>
                <a:cs typeface="Carlito" pitchFamily="34" charset="-120"/>
              </a:rPr>
              <a:t>МОДИФИКАЦИИ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7206" y="2893400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6174" y="2950325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Courier New" pitchFamily="34" charset="-122"/>
                <a:cs typeface="Courier New" pitchFamily="34" charset="-120"/>
              </a:rPr>
              <a:t>INTERIO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50069" y="29585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0" name="Text 27"/>
          <p:cNvSpPr/>
          <p:nvPr/>
        </p:nvSpPr>
        <p:spPr>
          <a:xfrm>
            <a:off x="1457325" y="2893400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621579" y="2950325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3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1500188" y="29585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507206" y="3129143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71460" y="3186068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7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50069" y="319429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1457325" y="3129143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615192" y="3186068"/>
            <a:ext cx="44208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/>
                <a:ea typeface="Liberation Sans Narrow" pitchFamily="34" charset="-122"/>
                <a:cs typeface="Liberation Sans Narrow" pitchFamily="34" charset="-120"/>
              </a:rPr>
              <a:t>LOTUS 20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500188" y="319429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65C0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2589609" y="1197282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707481" y="132765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2878930" y="1315153"/>
            <a:ext cx="24835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633208" y="1331227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64437"/>
              </p:ext>
            </p:extLst>
          </p:nvPr>
        </p:nvGraphicFramePr>
        <p:xfrm>
          <a:off x="2707481" y="1540182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2707481" y="358686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45" name="Text 41"/>
          <p:cNvSpPr/>
          <p:nvPr/>
        </p:nvSpPr>
        <p:spPr>
          <a:xfrm>
            <a:off x="2836069" y="3576150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00050" y="4046339"/>
            <a:ext cx="8343900" cy="300038"/>
          </a:xfrm>
          <a:prstGeom prst="roundRect">
            <a:avLst>
              <a:gd name="adj" fmla="val 25397"/>
            </a:avLst>
          </a:prstGeom>
          <a:solidFill>
            <a:srgbClr val="1F4E79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3"/>
          <p:cNvSpPr/>
          <p:nvPr/>
        </p:nvSpPr>
        <p:spPr>
          <a:xfrm>
            <a:off x="410766" y="4046339"/>
            <a:ext cx="0" cy="300038"/>
          </a:xfrm>
          <a:prstGeom prst="line">
            <a:avLst/>
          </a:prstGeom>
          <a:noFill/>
          <a:ln w="21431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507206" y="41379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49" name="Text 45"/>
          <p:cNvSpPr/>
          <p:nvPr/>
        </p:nvSpPr>
        <p:spPr>
          <a:xfrm>
            <a:off x="721519" y="4143862"/>
            <a:ext cx="79367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Премиальная интерьерная ВД-краска. Стены и потолки жилых, общественных, офисных помещений.</a:t>
            </a:r>
            <a:endParaRPr lang="en-US" sz="800" dirty="0"/>
          </a:p>
        </p:txBody>
      </p:sp>
      <p:sp>
        <p:nvSpPr>
          <p:cNvPr id="50" name="TextBox 49"/>
          <p:cNvSpPr txBox="1"/>
          <p:nvPr/>
        </p:nvSpPr>
        <p:spPr>
          <a:xfrm>
            <a:off x="2507456" y="130086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СТО 05744283-096-2013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00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5014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0050" y="518703"/>
            <a:ext cx="4655129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ДЛЯ РАДИАТОРОВ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61578"/>
            <a:ext cx="4604861" cy="2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для радиаторов акриловая ОРЕОЛ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050" y="900113"/>
            <a:ext cx="41862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Акриловая ВД-эмаль для радиаторов отопления, труб, металлических элементов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482203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61619" y="626564"/>
            <a:ext cx="1705191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84479" y="639366"/>
            <a:ext cx="165947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Д2 · Т2 · РП1*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05799" y="946547"/>
            <a:ext cx="17364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* По типичным показателям ВД-эмалей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3622" y="1271588"/>
            <a:ext cx="2850356" cy="1045220"/>
          </a:xfrm>
          <a:prstGeom prst="roundRect">
            <a:avLst>
              <a:gd name="adj" fmla="val 10935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069" y="1418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735806" y="1425178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E65100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⚠ ДС В БАЗЕ ЗНАНИЙ ОТСУТСТВУЕТ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0069" y="1632347"/>
            <a:ext cx="17603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24733" y="1632347"/>
            <a:ext cx="782799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— нет в базе 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0069" y="1843980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50069" y="1904702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Имеется </a:t>
            </a:r>
            <a:r>
              <a:rPr lang="en-US" sz="900" b="1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ПБ:</a:t>
            </a: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«ПБ Эмаль для радиаторов СТО 012-2011.pdf».</a:t>
            </a:r>
            <a:endParaRPr lang="en-US" sz="800" dirty="0"/>
          </a:p>
          <a:p>
            <a:pPr marL="0" indent="0" algn="l">
              <a:lnSpc>
                <a:spcPts val="1046"/>
              </a:lnSpc>
              <a:buNone/>
            </a:pPr>
            <a:r>
              <a:rPr lang="en-US" sz="9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Запросите ДС у производителя.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3622" y="2438251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E3F2FD"/>
          </a:solidFill>
          <a:ln w="7144">
            <a:solidFill>
              <a:srgbClr val="BBDEFB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0069" y="2584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735806" y="2591842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 ПРОДУКТА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0069" y="2770436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Термостойкая акриловая водно-дисперсионная эмаль. Применяется для радиаторов, труб отопления и металлических элементов во всех типах зданий.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3997" y="1271588"/>
            <a:ext cx="5336381" cy="3282553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50444" y="1418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736180" y="1425178"/>
            <a:ext cx="24145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32347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3550444" y="430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0" name="Text 37"/>
          <p:cNvSpPr/>
          <p:nvPr/>
        </p:nvSpPr>
        <p:spPr>
          <a:xfrm>
            <a:off x="3707606" y="4293394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Допускается во всех типах жилых и общественных зданий независимо от этажности.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4" name="Text 41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Термостойкая. Для радиаторов и труб отопления во всех типах зданий.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00A859">
                    <a:alpha val="5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40189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285592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ОГНЕЗАЩИТА </a:t>
            </a:r>
            <a:r>
              <a:rPr lang="en-US" sz="800" b="1" kern="0" spc="87" dirty="0">
                <a:solidFill>
                  <a:srgbClr val="00A85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ДРЕВЕСИНЫ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6760454" cy="251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654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Раствор водный ББ-11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438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Огнезащитная пропитка для древесины. </a:t>
            </a:r>
            <a:r>
              <a:rPr lang="en-US" sz="700" b="1" dirty="0">
                <a:solidFill>
                  <a:srgbClr val="2E7D32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ПОВЫШАЕТ класс пожаробезопасности.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581466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ЕАЭС RU C-RU.ПБ68.В.02464/26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5814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ТР ЕАЭС 043-2017 · до </a:t>
            </a:r>
            <a:r>
              <a:rPr lang="en-US" sz="700" b="1" dirty="0">
                <a:solidFill>
                  <a:srgbClr val="1F4E7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29.03.2031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332559" y="1671638"/>
            <a:ext cx="5379244" cy="2589609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44" name="Text 40"/>
          <p:cNvSpPr/>
          <p:nvPr/>
        </p:nvSpPr>
        <p:spPr>
          <a:xfrm>
            <a:off x="3636169" y="1775222"/>
            <a:ext cx="279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851093" y="1791295"/>
            <a:ext cx="742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ПОСЛЕ ПРОПИТКИ</a:t>
            </a:r>
            <a:endParaRPr lang="en-US" sz="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2" cy="1123476"/>
        </p:xfrm>
        <a:graphic>
          <a:graphicData uri="http://schemas.openxmlformats.org/drawingml/2006/table">
            <a:tbl>
              <a:tblPr/>
              <a:tblGrid>
                <a:gridCol w="2198489"/>
                <a:gridCol w="888392"/>
                <a:gridCol w="1010617"/>
                <a:gridCol w="97456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Деревянные конструкции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ДСП, МДФ, фанера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Все зоны (после пропитки)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7" name="Text 42"/>
          <p:cNvSpPr/>
          <p:nvPr/>
        </p:nvSpPr>
        <p:spPr>
          <a:xfrm>
            <a:off x="3454003" y="3132534"/>
            <a:ext cx="5136356" cy="450056"/>
          </a:xfrm>
          <a:prstGeom prst="roundRect">
            <a:avLst>
              <a:gd name="adj" fmla="val 1269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dash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3543300" y="32718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49" name="Text 44"/>
          <p:cNvSpPr/>
          <p:nvPr/>
        </p:nvSpPr>
        <p:spPr>
          <a:xfrm>
            <a:off x="3800475" y="3221831"/>
            <a:ext cx="4700588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Liberation Sans" pitchFamily="34" charset="0"/>
                <a:ea typeface="Carlito" pitchFamily="34" charset="-122"/>
                <a:cs typeface="Carlito" pitchFamily="34" charset="-120"/>
              </a:rPr>
              <a:t>Подходит для всех типов зданий, включая &gt;17 этажей</a:t>
            </a:r>
            <a:endParaRPr lang="en-US" sz="500" dirty="0"/>
          </a:p>
        </p:txBody>
      </p:sp>
      <p:sp>
        <p:nvSpPr>
          <p:cNvPr id="50" name="Text 45"/>
          <p:cNvSpPr/>
          <p:nvPr/>
        </p:nvSpPr>
        <p:spPr>
          <a:xfrm>
            <a:off x="3800475" y="3375422"/>
            <a:ext cx="470058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dirty="0">
                <a:solidFill>
                  <a:srgbClr val="1A1A2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После обработки древесина приобретает высший класс пожаробезопасности</a:t>
            </a:r>
            <a:endParaRPr lang="en-US" sz="800" dirty="0"/>
          </a:p>
        </p:txBody>
      </p:sp>
      <p:sp>
        <p:nvSpPr>
          <p:cNvPr id="51" name="TextBox 50"/>
          <p:cNvSpPr txBox="1"/>
          <p:nvPr/>
        </p:nvSpPr>
        <p:spPr>
          <a:xfrm>
            <a:off x="2636044" y="177522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ГОСТ 28815-2018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20716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ЭПОКСИДНЫЕ </a:t>
            </a:r>
            <a:r>
              <a:rPr lang="en-US" sz="800" b="1" kern="0" spc="87" dirty="0">
                <a:solidFill>
                  <a:srgbClr val="00A85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ПОЛЫ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082381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ts val="1654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Компаунд эпоксидный EMPILS E 608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438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Эпоксидное покрытие для полов. </a:t>
            </a: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Высокая износостойкость.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C-RU.ПБ68.В.02055/24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Courier New" pitchFamily="34" charset="0"/>
                <a:ea typeface="Liberation Sans" pitchFamily="34" charset="-122"/>
                <a:cs typeface="Liberation Sans" pitchFamily="34" charset="-120"/>
              </a:rPr>
              <a:t>ТР № 123-ФЗ · до </a:t>
            </a:r>
            <a:r>
              <a:rPr lang="en-US" sz="700" b="1" dirty="0">
                <a:solidFill>
                  <a:srgbClr val="1F4E7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27.10.2029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2E7D32"/>
                </a:solidFill>
                <a:latin typeface="Courier New" pitchFamily="34" charset="0"/>
                <a:ea typeface="Carlito" pitchFamily="34" charset="-122"/>
                <a:cs typeface="Carlito" pitchFamily="34" charset="-120"/>
              </a:rPr>
              <a:t>ЛУЧШИЙ КЛАСС ДЛЯ ПОЛОВ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61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Лучший класс пожаробезопасности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полового покрытия. Эпоксидный компаунд для высоконагруженных полов в жилых и общественных зданиях </a:t>
            </a:r>
            <a:r>
              <a:rPr lang="en-US" sz="7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1506" y="3436144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32222" y="3436144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28663" y="3493294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Тип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8663" y="3600450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Эпоксидный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885950" y="3436144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1896666" y="3436144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993106" y="3493294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93106" y="3600450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Высок. нагрузка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7056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2636044" y="177522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СТО 05744283-174-2023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00050" y="100483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0050" y="340627"/>
            <a:ext cx="4019639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МАТОВАЯ ⚠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483502"/>
            <a:ext cx="4010468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акриловая матовая ОРЕОЛ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0050" y="737105"/>
            <a:ext cx="36458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внутренней отделки. </a:t>
            </a:r>
            <a:r>
              <a:rPr lang="en-US" sz="7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класс В2!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476358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620719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633521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В2 · Д2 · Т2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126277"/>
            <a:ext cx="2850356" cy="1130052"/>
          </a:xfrm>
          <a:prstGeom prst="roundRect">
            <a:avLst>
              <a:gd name="adj" fmla="val 10115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2727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279868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E651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⚠ СЕРТИФИКАТ · ВНИМАНИЕ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487037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487037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Д-RU.RA01.B.00950/26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644869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644869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00" b="1" dirty="0">
                <a:solidFill>
                  <a:srgbClr val="00A859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20.05.2031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1891998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0069" y="19812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21519" y="1981295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ДС отсутствует в базе знаний!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3622" y="2377773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FFEBEE"/>
          </a:solidFill>
          <a:ln w="7144">
            <a:solidFill>
              <a:srgbClr val="FFCDD2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0069" y="252422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735806" y="2531364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B71C1C"/>
                </a:solidFill>
                <a:latin typeface="Courier New" pitchFamily="34" charset="0"/>
                <a:ea typeface="Carlito" pitchFamily="34" charset="-122"/>
                <a:cs typeface="Carlito" pitchFamily="34" charset="-120"/>
              </a:rPr>
              <a:t>КЛАСС В2 — ОГРАНИЧЕНИЕ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0069" y="2709957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Воспламеняемость В2 — умеренно горючие. </a:t>
            </a:r>
            <a:r>
              <a:rPr lang="en-US" sz="7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Запрещено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на путях эвакуации в зданиях выше 9 этажей.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03997" y="1126277"/>
            <a:ext cx="5336381" cy="3186113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50444" y="12727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736181" y="1279868"/>
            <a:ext cx="23360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915235"/>
              </p:ext>
            </p:extLst>
          </p:nvPr>
        </p:nvGraphicFramePr>
        <p:xfrm>
          <a:off x="3550444" y="1487037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3550444" y="405878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984" dirty="0"/>
          </a:p>
        </p:txBody>
      </p:sp>
      <p:sp>
        <p:nvSpPr>
          <p:cNvPr id="42" name="Text 39"/>
          <p:cNvSpPr/>
          <p:nvPr/>
        </p:nvSpPr>
        <p:spPr>
          <a:xfrm>
            <a:off x="3707606" y="4051643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≤9 этажей — с ограничениями, не на путях эвакуации.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00050" y="4554141"/>
            <a:ext cx="8343900" cy="446484"/>
          </a:xfrm>
          <a:prstGeom prst="roundRect">
            <a:avLst>
              <a:gd name="adj" fmla="val 17067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414338" y="4554141"/>
            <a:ext cx="0" cy="446484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571500" y="463986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46" name="Text 43"/>
          <p:cNvSpPr/>
          <p:nvPr/>
        </p:nvSpPr>
        <p:spPr>
          <a:xfrm>
            <a:off x="814388" y="4639866"/>
            <a:ext cx="778668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1100" b="1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r>
              <a:rPr lang="en-US" sz="700" b="1" dirty="0">
                <a:solidFill>
                  <a:srgbClr val="E53935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7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НЕ подходит для путей эвакуации в зданиях выше </a:t>
            </a:r>
            <a:r>
              <a:rPr lang="en-US" sz="700" b="1" dirty="0">
                <a:solidFill>
                  <a:srgbClr val="E53935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r>
              <a:rPr lang="en-US" sz="7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этажей!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Только для жилых комнат (квартир). Используйте </a:t>
            </a:r>
            <a:r>
              <a:rPr lang="en-US" sz="700" b="1" dirty="0">
                <a:solidFill>
                  <a:srgbClr val="00A8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глянцевую версию (В1)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коридоров и лестниц.</a:t>
            </a:r>
            <a:endParaRPr lang="en-US" sz="800" dirty="0"/>
          </a:p>
        </p:txBody>
      </p:sp>
      <p:sp>
        <p:nvSpPr>
          <p:cNvPr id="47" name="TextBox 46"/>
          <p:cNvSpPr txBox="1"/>
          <p:nvPr/>
        </p:nvSpPr>
        <p:spPr>
          <a:xfrm>
            <a:off x="2564606" y="12798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5555"/>
                </a:solidFill>
                <a:latin typeface="Courier New"/>
              </a:rPr>
              <a:t>СТО: СТО 05744283-062-2010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1100" b="1" dirty="0">
                <a:solidFill>
                  <a:srgbClr val="1F4E79">
                    <a:alpha val="4000"/>
                  </a:srgbClr>
                </a:solidFill>
                <a:latin typeface="Segoe UI Symbol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50094" y="405255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536518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Liberation Sans" pitchFamily="34" charset="0"/>
                <a:ea typeface="Courier New" pitchFamily="34" charset="-122"/>
                <a:cs typeface="Courier New" pitchFamily="34" charset="-120"/>
              </a:rPr>
              <a:t>ДЕРЕВООБРАБОТКА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389953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Liberation Sans Narrow" pitchFamily="34" charset="-122"/>
                <a:cs typeface="Liberation Sans Narrow" pitchFamily="34" charset="-120"/>
              </a:rPr>
              <a:t>Эмаль СТО 05744283-136-2018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718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защитно-декоративная для дерева. </a:t>
            </a:r>
            <a:r>
              <a:rPr lang="en-US" sz="700" b="1" dirty="0">
                <a:solidFill>
                  <a:srgbClr val="E651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класс В2!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31098" y="823017"/>
            <a:ext cx="1042831" cy="264919"/>
          </a:xfrm>
          <a:prstGeom prst="roundRect">
            <a:avLst>
              <a:gd name="adj" fmla="val 21573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553958" y="835819"/>
            <a:ext cx="99711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В2, Д2, Т2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3" dirty="0">
                <a:solidFill>
                  <a:srgbClr val="90A4AE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Courier New" pitchFamily="34" charset="0"/>
                <a:ea typeface="Liberation Sans Narrow" pitchFamily="34" charset="-122"/>
                <a:cs typeface="Liberation Sans Narrow" pitchFamily="34" charset="-120"/>
              </a:rPr>
              <a:t>RU Д-RU.RA01.B.00723/24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Liberation Sans Narrow" pitchFamily="34" charset="-122"/>
                <a:cs typeface="Liberation Sans Narrow" pitchFamily="34" charset="-120"/>
              </a:rPr>
              <a:t>02.04.2029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51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E65100"/>
                </a:solidFill>
                <a:latin typeface="Courier New" pitchFamily="34" charset="0"/>
                <a:ea typeface="Carlito" pitchFamily="34" charset="-122"/>
                <a:cs typeface="Carlito" pitchFamily="34" charset="-120"/>
              </a:rPr>
              <a:t>ВНИМАНИЕ: КЛАСС В2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100" b="1" dirty="0">
                <a:solidFill>
                  <a:srgbClr val="B7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r>
              <a:rPr lang="en-US" sz="700" b="1" dirty="0">
                <a:solidFill>
                  <a:srgbClr val="B71C1C"/>
                </a:solidFill>
                <a:latin typeface="Liberation Sans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700" b="1" dirty="0">
                <a:solidFill>
                  <a:srgbClr val="B71C1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НЕ для путей эвакуации</a:t>
            </a:r>
            <a:r>
              <a:rPr lang="en-US" sz="7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выше 9 этажей. Для деревянных поверхностей внутри помещений (кроме пола). Атмосферные условия — с ограничениями.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1506" y="3757613"/>
            <a:ext cx="2471738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dash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21506" y="38558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51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27" name="Text 24"/>
          <p:cNvSpPr/>
          <p:nvPr/>
        </p:nvSpPr>
        <p:spPr>
          <a:xfrm>
            <a:off x="778669" y="3846909"/>
            <a:ext cx="23145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Рекомендация: рассмотреть ББ-11 для повышения класса</a:t>
            </a:r>
            <a:endParaRPr lang="en-US" sz="619" dirty="0"/>
          </a:p>
        </p:txBody>
      </p:sp>
      <p:sp>
        <p:nvSpPr>
          <p:cNvPr id="28" name="Text 25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3636169" y="1775222"/>
            <a:ext cx="27823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2116</Words>
  <Application>Microsoft Office PowerPoint</Application>
  <PresentationFormat>Экран (16:9)</PresentationFormat>
  <Paragraphs>757</Paragraphs>
  <Slides>15</Slides>
  <Notes>15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21</cp:revision>
  <dcterms:created xsi:type="dcterms:W3CDTF">2026-09-29T07:29:24Z</dcterms:created>
  <dcterms:modified xsi:type="dcterms:W3CDTF">2026-09-29T08:38:42Z</dcterms:modified>
</cp:coreProperties>
</file>