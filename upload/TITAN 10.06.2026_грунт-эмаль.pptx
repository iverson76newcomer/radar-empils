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3" r:id="rId9"/>
    <p:sldId id="264" r:id="rId10"/>
    <p:sldId id="273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 Mono Medium" panose="00000009000000000000" pitchFamily="50" charset="0"/>
      <p:regular r:id="rId24"/>
      <p:italic r:id="rId25"/>
    </p:embeddedFont>
    <p:embeddedFont>
      <p:font typeface="Arimo" panose="020B0604020202020204" pitchFamily="34" charset="0"/>
      <p:regular r:id="rId26"/>
      <p:bold r:id="rId27"/>
      <p:italic r:id="rId28"/>
      <p:boldItalic r:id="rId29"/>
    </p:embeddedFont>
    <p:embeddedFont>
      <p:font typeface="Roboto Mono" panose="00000009000000000000" pitchFamily="50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5A2"/>
    <a:srgbClr val="144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0961" autoAdjust="0"/>
  </p:normalViewPr>
  <p:slideViewPr>
    <p:cSldViewPr snapToGrid="0" snapToObjects="1">
      <p:cViewPr>
        <p:scale>
          <a:sx n="125" d="100"/>
          <a:sy n="125" d="100"/>
        </p:scale>
        <p:origin x="-1224" y="-360"/>
      </p:cViewPr>
      <p:guideLst>
        <p:guide orient="horz" pos="2052"/>
        <p:guide pos="46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image" Target="../media/image18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8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нанесении грунт-эмали на цветные металлы (цинк, медь, алюминий), а так же на оцинкованные  металлические поверхности  и поверхности из  нержавеющей стали им необходимо придать шероховатость для увеличения </a:t>
            </a:r>
            <a:r>
              <a:rPr lang="ru-RU" dirty="0" err="1" smtClean="0"/>
              <a:t>адгезирующих</a:t>
            </a:r>
            <a:r>
              <a:rPr lang="ru-RU" dirty="0" smtClean="0"/>
              <a:t> свойств к подложке.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При необходимости, разбавить ксилолом до 5% по объему при нанесении кистью или валиком, до 15% по объему при нанесении </a:t>
            </a:r>
            <a:r>
              <a:rPr lang="ru-RU" dirty="0" err="1" smtClean="0"/>
              <a:t>пневмо</a:t>
            </a:r>
            <a:r>
              <a:rPr lang="ru-RU" dirty="0" smtClean="0"/>
              <a:t> распылением. При безвоздушном распылении разбавление не требуется.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r>
              <a:rPr lang="ru-RU" dirty="0" smtClean="0"/>
              <a:t>Каждый последующий слой наносить через 40 мин, но не позднее, чем через 2 ч. Если окрасочные работы не были проведены полностью, то их завершение (нанесение очередного слоя) можно выполнять только через (2-4) недели, когда покрытие наберет максимальную твердость, в противном случае происходит сморщивание покрытия. В случае длительного перерыва между нанесением слоев, рекомендуется исключить попадание загрязнений, осадков и других агрессивных компонентов на ранее окрашенную поверхность. Рекомендуется нанесение не менее двух слоев эмали. </a:t>
            </a:r>
          </a:p>
          <a:p>
            <a:endParaRPr lang="ru-RU" dirty="0" smtClean="0"/>
          </a:p>
          <a:p>
            <a:r>
              <a:rPr lang="ru-RU" dirty="0" smtClean="0"/>
              <a:t>ЗАПРЕЩЕНО НАНОСИТЬ ЭМАЛЬ ВО ВРЕМЯ ВЫПАДЕНИЯ ОСАДКОВ, А ТАК ЖЕ ЕСЛИ ПРЕДВИДИТСЯ ВЫПАДЕНИЕ ОСАДКОВ В БЛИЖАЙШИЕ 24Ч. </a:t>
            </a:r>
          </a:p>
          <a:p>
            <a:r>
              <a:rPr lang="ru-RU" dirty="0" smtClean="0"/>
              <a:t>НЕ ДОПУСКАЕТСЯ  ОКРАШИВАНИЕ ПРОМЕРЗШИХ И ВЛАЖНЫХ ПОВЕРХНОСТЕЙ, А ТАК ЖЕ ПОВЕРХНОСТЕЙ С КОНДЕНСАЦИОННОЙ ВДАГОЙ. Температура окрашиваемой поверхности должна быть выше "точки росы" минимум на 3°С.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031" tIns="53515" rIns="107031" bIns="5351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031" tIns="53515" rIns="107031" bIns="53515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7" Type="http://schemas.openxmlformats.org/officeDocument/2006/relationships/image" Target="../media/image24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9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8.png"/><Relationship Id="rId5" Type="http://schemas.openxmlformats.org/officeDocument/2006/relationships/image" Target="../media/image22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10" Type="http://schemas.openxmlformats.org/officeDocument/2006/relationships/image" Target="../media/image18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8" Type="http://schemas.openxmlformats.org/officeDocument/2006/relationships/image" Target="../media/image16.png"/><Relationship Id="rId3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21" Type="http://schemas.openxmlformats.org/officeDocument/2006/relationships/image" Target="../media/image73.png"/><Relationship Id="rId34" Type="http://schemas.openxmlformats.org/officeDocument/2006/relationships/image" Target="../media/image86.png"/><Relationship Id="rId7" Type="http://schemas.openxmlformats.org/officeDocument/2006/relationships/image" Target="../media/image63.png"/><Relationship Id="rId12" Type="http://schemas.openxmlformats.org/officeDocument/2006/relationships/image" Target="../media/image65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33" Type="http://schemas.openxmlformats.org/officeDocument/2006/relationships/image" Target="../media/image85.png"/><Relationship Id="rId38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4.pn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37" Type="http://schemas.openxmlformats.org/officeDocument/2006/relationships/image" Target="../media/image89.png"/><Relationship Id="rId5" Type="http://schemas.openxmlformats.org/officeDocument/2006/relationships/image" Target="../media/image22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png"/><Relationship Id="rId36" Type="http://schemas.openxmlformats.org/officeDocument/2006/relationships/image" Target="../media/image88.png"/><Relationship Id="rId10" Type="http://schemas.openxmlformats.org/officeDocument/2006/relationships/image" Target="../media/image18.png"/><Relationship Id="rId19" Type="http://schemas.openxmlformats.org/officeDocument/2006/relationships/image" Target="../media/image71.png"/><Relationship Id="rId31" Type="http://schemas.openxmlformats.org/officeDocument/2006/relationships/image" Target="../media/image83.png"/><Relationship Id="rId4" Type="http://schemas.openxmlformats.org/officeDocument/2006/relationships/image" Target="../media/image61.png"/><Relationship Id="rId9" Type="http://schemas.openxmlformats.org/officeDocument/2006/relationships/image" Target="../media/image17.png"/><Relationship Id="rId14" Type="http://schemas.openxmlformats.org/officeDocument/2006/relationships/image" Target="../media/image47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Relationship Id="rId30" Type="http://schemas.openxmlformats.org/officeDocument/2006/relationships/image" Target="../media/image82.png"/><Relationship Id="rId35" Type="http://schemas.openxmlformats.org/officeDocument/2006/relationships/image" Target="../media/image87.png"/><Relationship Id="rId8" Type="http://schemas.openxmlformats.org/officeDocument/2006/relationships/image" Target="../media/image16.png"/><Relationship Id="rId3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0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1.png"/><Relationship Id="rId26" Type="http://schemas.openxmlformats.org/officeDocument/2006/relationships/image" Target="../media/image119.png"/><Relationship Id="rId3" Type="http://schemas.openxmlformats.org/officeDocument/2006/relationships/image" Target="../media/image102.png"/><Relationship Id="rId21" Type="http://schemas.openxmlformats.org/officeDocument/2006/relationships/image" Target="../media/image114.png"/><Relationship Id="rId34" Type="http://schemas.openxmlformats.org/officeDocument/2006/relationships/image" Target="../media/image127.png"/><Relationship Id="rId7" Type="http://schemas.openxmlformats.org/officeDocument/2006/relationships/image" Target="../media/image105.png"/><Relationship Id="rId12" Type="http://schemas.openxmlformats.org/officeDocument/2006/relationships/image" Target="../media/image64.png"/><Relationship Id="rId17" Type="http://schemas.openxmlformats.org/officeDocument/2006/relationships/image" Target="../media/image110.png"/><Relationship Id="rId25" Type="http://schemas.openxmlformats.org/officeDocument/2006/relationships/image" Target="../media/image118.png"/><Relationship Id="rId33" Type="http://schemas.openxmlformats.org/officeDocument/2006/relationships/image" Target="../media/image1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8.png"/><Relationship Id="rId20" Type="http://schemas.openxmlformats.org/officeDocument/2006/relationships/image" Target="../media/image113.png"/><Relationship Id="rId29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8.png"/><Relationship Id="rId24" Type="http://schemas.openxmlformats.org/officeDocument/2006/relationships/image" Target="../media/image117.png"/><Relationship Id="rId32" Type="http://schemas.openxmlformats.org/officeDocument/2006/relationships/image" Target="../media/image125.png"/><Relationship Id="rId5" Type="http://schemas.openxmlformats.org/officeDocument/2006/relationships/image" Target="../media/image22.png"/><Relationship Id="rId15" Type="http://schemas.openxmlformats.org/officeDocument/2006/relationships/image" Target="../media/image109.png"/><Relationship Id="rId23" Type="http://schemas.openxmlformats.org/officeDocument/2006/relationships/image" Target="../media/image116.png"/><Relationship Id="rId28" Type="http://schemas.openxmlformats.org/officeDocument/2006/relationships/image" Target="../media/image121.png"/><Relationship Id="rId10" Type="http://schemas.openxmlformats.org/officeDocument/2006/relationships/image" Target="../media/image17.png"/><Relationship Id="rId19" Type="http://schemas.openxmlformats.org/officeDocument/2006/relationships/image" Target="../media/image112.png"/><Relationship Id="rId31" Type="http://schemas.openxmlformats.org/officeDocument/2006/relationships/image" Target="../media/image124.png"/><Relationship Id="rId4" Type="http://schemas.openxmlformats.org/officeDocument/2006/relationships/image" Target="../media/image103.png"/><Relationship Id="rId9" Type="http://schemas.openxmlformats.org/officeDocument/2006/relationships/image" Target="../media/image16.png"/><Relationship Id="rId14" Type="http://schemas.openxmlformats.org/officeDocument/2006/relationships/image" Target="../media/image108.png"/><Relationship Id="rId22" Type="http://schemas.openxmlformats.org/officeDocument/2006/relationships/image" Target="../media/image115.png"/><Relationship Id="rId27" Type="http://schemas.openxmlformats.org/officeDocument/2006/relationships/image" Target="../media/image120.png"/><Relationship Id="rId30" Type="http://schemas.openxmlformats.org/officeDocument/2006/relationships/image" Target="../media/image123.png"/><Relationship Id="rId35" Type="http://schemas.openxmlformats.org/officeDocument/2006/relationships/image" Target="../media/image128.png"/><Relationship Id="rId8" Type="http://schemas.openxmlformats.org/officeDocument/2006/relationships/image" Target="../media/image10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43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90.png"/><Relationship Id="rId4" Type="http://schemas.openxmlformats.org/officeDocument/2006/relationships/image" Target="../media/image154.png"/><Relationship Id="rId9" Type="http://schemas.openxmlformats.org/officeDocument/2006/relationships/image" Target="../media/image1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9.png"/><Relationship Id="rId7" Type="http://schemas.openxmlformats.org/officeDocument/2006/relationships/image" Target="../media/image162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65.png"/><Relationship Id="rId4" Type="http://schemas.openxmlformats.org/officeDocument/2006/relationships/image" Target="../media/image160.png"/><Relationship Id="rId9" Type="http://schemas.openxmlformats.org/officeDocument/2006/relationships/image" Target="../media/image1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7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5" Type="http://schemas.openxmlformats.org/officeDocument/2006/relationships/image" Target="../media/image179.png"/><Relationship Id="rId10" Type="http://schemas.openxmlformats.org/officeDocument/2006/relationships/image" Target="../media/image183.png"/><Relationship Id="rId4" Type="http://schemas.openxmlformats.org/officeDocument/2006/relationships/image" Target="../media/image178.png"/><Relationship Id="rId9" Type="http://schemas.openxmlformats.org/officeDocument/2006/relationships/image" Target="../media/image1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8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Word_Document2.docx"/><Relationship Id="rId5" Type="http://schemas.openxmlformats.org/officeDocument/2006/relationships/image" Target="../media/image184.emf"/><Relationship Id="rId4" Type="http://schemas.openxmlformats.org/officeDocument/2006/relationships/package" Target="../embeddings/Microsoft_Word_Document1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5863" y="-28575"/>
            <a:ext cx="1271588" cy="6048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 b="-2003"/>
          <a:stretch/>
        </p:blipFill>
        <p:spPr>
          <a:xfrm>
            <a:off x="5929313" y="1552575"/>
            <a:ext cx="3243263" cy="29098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51" b="12331"/>
          <a:stretch/>
        </p:blipFill>
        <p:spPr>
          <a:xfrm>
            <a:off x="2315528" y="2124075"/>
            <a:ext cx="3474039" cy="3028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10262" y="245931"/>
            <a:ext cx="1946699" cy="19466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595688"/>
            <a:ext cx="286226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Презентация продукции</a:t>
            </a:r>
            <a:endParaRPr lang="en-US" sz="342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80" b="6250"/>
          <a:stretch/>
        </p:blipFill>
        <p:spPr>
          <a:xfrm>
            <a:off x="3086100" y="3929063"/>
            <a:ext cx="6057900" cy="1214438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58113" y="395288"/>
            <a:ext cx="938213" cy="938213"/>
          </a:xfrm>
          <a:prstGeom prst="rect">
            <a:avLst/>
          </a:prstGeom>
        </p:spPr>
      </p:pic>
      <p:pic>
        <p:nvPicPr>
          <p:cNvPr id="1027" name="Picture 3" descr="E:\ПРОДУКЦИЯ 3D\TITAN\2026\Грунт-эмаль 3 в 1\1 L\80151_Грунт-эмаль 3 в 1 ОРЕОЛ TITAN, 1л белый117х321мм.png"/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0470" y="2456206"/>
            <a:ext cx="1398601" cy="181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E:\ПРОДУКЦИЯ 3D\TITAN\2026\Грунт-эмаль 3 в 1\2 L\80163_Грунт-эмаль 3 в 1 ОРЕОЛ TITAN, 2л белый 490х154мм.png"/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4803" y="1832011"/>
            <a:ext cx="3535023" cy="259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:\ПРОДУКЦИЯ 3D\TITAN\2026\Грунт-эмаль 3 в 1\5 L\89296_Ведро 5л Грунт-эмаль по ржавчине ОРЕОЛ TITAN, литограф НБЕ (без крышки)_белый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562" y="321575"/>
            <a:ext cx="5128482" cy="410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:\ПРОДУКЦИЯ 3D\TITAN\2026\Грунт-эмаль 3 в 1\0,5 L\89294_Банка 0,5л Грунт-эмаль по ржавчине ОРЕОЛ TITAN, литограф НБЕ (без крышки)_белый.png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4803" y="2974213"/>
            <a:ext cx="2293020" cy="157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2"/>
          <p:cNvSpPr/>
          <p:nvPr/>
        </p:nvSpPr>
        <p:spPr>
          <a:xfrm>
            <a:off x="6686550" y="3662362"/>
            <a:ext cx="2457450" cy="7620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3"/>
          <p:cNvSpPr/>
          <p:nvPr/>
        </p:nvSpPr>
        <p:spPr>
          <a:xfrm>
            <a:off x="6686550" y="3762375"/>
            <a:ext cx="2457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chemeClr val="bg1">
                <a:lumMod val="95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95413" y="1004888"/>
            <a:ext cx="1511215" cy="151121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62" b="3036"/>
          <a:stretch/>
        </p:blipFill>
        <p:spPr>
          <a:xfrm>
            <a:off x="2400300" y="-61912"/>
            <a:ext cx="2508121" cy="11683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30" b="3030"/>
          <a:stretch/>
        </p:blipFill>
        <p:spPr>
          <a:xfrm>
            <a:off x="5843588" y="4086225"/>
            <a:ext cx="1704975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37" b="3957"/>
          <a:stretch/>
        </p:blipFill>
        <p:spPr>
          <a:xfrm>
            <a:off x="-57150" y="3871913"/>
            <a:ext cx="6043613" cy="12715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300788" y="3867150"/>
            <a:ext cx="2843213" cy="7620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5298498" y="381000"/>
            <a:ext cx="3307339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Специализированная линейка материалов по металлу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сочетает в себе свойства самых последних и инновационных разработок в сфере лакокрасочных покрытий.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kern="0" spc="-34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Материалы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металлу</a:t>
            </a:r>
            <a:r>
              <a:rPr lang="ru-RU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предотвращают появление коррозии и сохраняют целостность конструкции в течение 10 лет. </a:t>
            </a:r>
            <a:r>
              <a:rPr lang="en-US" sz="1140" b="1" i="1" u="sng" kern="0" spc="-34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Подтверждено независимым испытательным центром ООО 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</a:t>
            </a:r>
            <a:r>
              <a:rPr lang="en-US" sz="1140" b="1" i="1" u="sng" kern="0" spc="-34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Рутил</a:t>
            </a:r>
            <a:r>
              <a:rPr lang="ru-RU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»</a:t>
            </a:r>
            <a:r>
              <a:rPr lang="en-US" sz="1140" b="1" i="1" u="sng" kern="0" spc="-3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40" b="1" i="1" u="sng" dirty="0"/>
          </a:p>
          <a:p>
            <a:pPr marL="0" indent="0" algn="l">
              <a:lnSpc>
                <a:spcPts val="1368"/>
              </a:lnSpc>
              <a:buNone/>
            </a:pPr>
            <a:endParaRPr lang="en-US" sz="1140" dirty="0">
              <a:solidFill>
                <a:srgbClr val="000000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1368"/>
              </a:lnSpc>
            </a:pP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Изделия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из металла встречаются повсюду: металлоконструкции, кованые изделия, садовый инвентарь и др., но поверхности из металла подвержены влиянию агрессивной среды, что сказывается на внешнем виде и прочности конструкций. Эффективный способ защитить поверхности от ржавчины – использование специальных </a:t>
            </a:r>
            <a:r>
              <a:rPr lang="en-US" sz="1140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отделочных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составов</a:t>
            </a:r>
            <a:r>
              <a:rPr lang="ru-RU" sz="1140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140" b="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</a:t>
            </a: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.</a:t>
            </a:r>
            <a:endParaRPr lang="en-US" sz="114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3622" y="381000"/>
            <a:ext cx="56199" cy="615446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83046" y="381000"/>
            <a:ext cx="257169" cy="615446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919191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855" dirty="0"/>
          </a:p>
        </p:txBody>
      </p:sp>
      <p:sp>
        <p:nvSpPr>
          <p:cNvPr id="17" name="Text 3"/>
          <p:cNvSpPr/>
          <p:nvPr/>
        </p:nvSpPr>
        <p:spPr>
          <a:xfrm>
            <a:off x="6300788" y="3962400"/>
            <a:ext cx="28432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У КОРРОЗИИ</a:t>
            </a:r>
            <a:endParaRPr lang="en-US" sz="2138" dirty="0"/>
          </a:p>
          <a:p>
            <a:pPr marL="0" indent="0" algn="ctr">
              <a:lnSpc>
                <a:spcPts val="2266"/>
              </a:lnSpc>
              <a:buNone/>
            </a:pPr>
            <a:r>
              <a:rPr lang="en-US" sz="2138" kern="0" spc="-4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НЕТ ШАНСОВ</a:t>
            </a:r>
            <a:endParaRPr lang="en-US" sz="2138" dirty="0"/>
          </a:p>
        </p:txBody>
      </p:sp>
      <p:pic>
        <p:nvPicPr>
          <p:cNvPr id="19" name="Picture 3" descr="E:\ПРОДУКЦИЯ 3D\TITAN\2026\Грунт-эмаль 3 в 1\1 L\80151_Грунт-эмаль 3 в 1 ОРЕОЛ TITAN, 1л белый117х321мм.png"/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5412" y="1314450"/>
            <a:ext cx="2289434" cy="296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chemeClr val="bg1">
                <a:lumMod val="95000"/>
              </a:schemeClr>
            </a:gs>
            <a:gs pos="38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1738" y="2490788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646" b="-1183"/>
          <a:stretch/>
        </p:blipFill>
        <p:spPr>
          <a:xfrm>
            <a:off x="-28575" y="3376612"/>
            <a:ext cx="1138238" cy="16287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77" b="5742"/>
          <a:stretch/>
        </p:blipFill>
        <p:spPr>
          <a:xfrm>
            <a:off x="2160835" y="-138368"/>
            <a:ext cx="2948460" cy="180245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3621" y="381000"/>
            <a:ext cx="56199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3046" y="381000"/>
            <a:ext cx="257168" cy="615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93785" y="381000"/>
            <a:ext cx="201627" cy="6154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"/>
          <p:cNvSpPr/>
          <p:nvPr/>
        </p:nvSpPr>
        <p:spPr>
          <a:xfrm>
            <a:off x="5462588" y="1304925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Гарантия сохранности покрытия вне помещений составляет минимум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 лет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благодаря повышенной устойчивости к ультрафиолетовому излучению, осадкам и температурным колебаниям;</a:t>
            </a:r>
            <a:endParaRPr lang="en-US" sz="855" dirty="0"/>
          </a:p>
        </p:txBody>
      </p:sp>
      <p:sp>
        <p:nvSpPr>
          <p:cNvPr id="15" name="Shape 2"/>
          <p:cNvSpPr/>
          <p:nvPr/>
        </p:nvSpPr>
        <p:spPr>
          <a:xfrm>
            <a:off x="4808213" y="1281113"/>
            <a:ext cx="463784" cy="463784"/>
          </a:xfrm>
          <a:prstGeom prst="rect">
            <a:avLst/>
          </a:prstGeom>
          <a:noFill/>
          <a:ln/>
        </p:spPr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08213" y="1281113"/>
            <a:ext cx="463783" cy="4637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88730" y="1367752"/>
            <a:ext cx="301749" cy="31467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74229" y="1409037"/>
            <a:ext cx="40279" cy="103632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042618" y="1407527"/>
            <a:ext cx="67089" cy="10652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969822" y="1534990"/>
            <a:ext cx="44390" cy="47662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5018491" y="1534193"/>
            <a:ext cx="42209" cy="49341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062210" y="1535032"/>
            <a:ext cx="45900" cy="47620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5462588" y="3338513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Образует высокоглянцевое покрытие: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 сохраняет первоначальный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глянец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яркость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окраски даже при воздействии атмосферных факторов;</a:t>
            </a:r>
            <a:endParaRPr lang="en-US" sz="855" dirty="0"/>
          </a:p>
        </p:txBody>
      </p:sp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808213" y="3333750"/>
            <a:ext cx="465788" cy="465787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5462588" y="29432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Быстрое высыхание: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1,5 часа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на «отлип»;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степени 3 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не более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часов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26" name="Shape 5"/>
          <p:cNvSpPr/>
          <p:nvPr/>
        </p:nvSpPr>
        <p:spPr>
          <a:xfrm>
            <a:off x="4808213" y="2824163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914402" y="2963089"/>
            <a:ext cx="253078" cy="253077"/>
          </a:xfrm>
          <a:prstGeom prst="rect">
            <a:avLst/>
          </a:prstGeom>
        </p:spPr>
      </p:pic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8216" y="2824163"/>
            <a:ext cx="465784" cy="465787"/>
          </a:xfrm>
          <a:prstGeom prst="rect">
            <a:avLst/>
          </a:prstGeom>
        </p:spPr>
      </p:pic>
      <p:pic>
        <p:nvPicPr>
          <p:cNvPr id="29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003648" y="2873885"/>
            <a:ext cx="74668" cy="63923"/>
          </a:xfrm>
          <a:prstGeom prst="rect">
            <a:avLst/>
          </a:prstGeom>
        </p:spPr>
      </p:pic>
      <p:pic>
        <p:nvPicPr>
          <p:cNvPr id="30" name="Image 22" descr="preencoded.png"/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9507" y="2933299"/>
            <a:ext cx="38672" cy="38671"/>
          </a:xfrm>
          <a:prstGeom prst="rect">
            <a:avLst/>
          </a:prstGeom>
        </p:spPr>
      </p:pic>
      <p:pic>
        <p:nvPicPr>
          <p:cNvPr id="31" name="Image 23" descr="preencoded.png"/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3740" y="2933299"/>
            <a:ext cx="38672" cy="38671"/>
          </a:xfrm>
          <a:prstGeom prst="rect">
            <a:avLst/>
          </a:prstGeom>
        </p:spPr>
      </p:pic>
      <p:pic>
        <p:nvPicPr>
          <p:cNvPr id="32" name="Image 24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4968378" y="3003458"/>
            <a:ext cx="33500" cy="86213"/>
          </a:xfrm>
          <a:prstGeom prst="rect">
            <a:avLst/>
          </a:prstGeom>
        </p:spPr>
      </p:pic>
      <p:pic>
        <p:nvPicPr>
          <p:cNvPr id="33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5025514" y="3076650"/>
            <a:ext cx="17108" cy="32867"/>
          </a:xfrm>
          <a:prstGeom prst="rect">
            <a:avLst/>
          </a:prstGeom>
        </p:spPr>
      </p:pic>
      <p:pic>
        <p:nvPicPr>
          <p:cNvPr id="34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064114" y="3003415"/>
            <a:ext cx="54273" cy="87351"/>
          </a:xfrm>
          <a:prstGeom prst="rect">
            <a:avLst/>
          </a:prstGeom>
        </p:spPr>
      </p:pic>
      <p:pic>
        <p:nvPicPr>
          <p:cNvPr id="35" name="Image 27" descr="preencoded.png"/>
          <p:cNvPicPr>
            <a:picLocks noChangeAspect="1"/>
          </p:cNvPicPr>
          <p:nvPr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52116" y="3115837"/>
            <a:ext cx="40746" cy="47910"/>
          </a:xfrm>
          <a:prstGeom prst="rect">
            <a:avLst/>
          </a:prstGeom>
        </p:spPr>
      </p:pic>
      <p:pic>
        <p:nvPicPr>
          <p:cNvPr id="36" name="Image 28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4998046" y="3115079"/>
            <a:ext cx="40704" cy="49512"/>
          </a:xfrm>
          <a:prstGeom prst="rect">
            <a:avLst/>
          </a:prstGeom>
        </p:spPr>
      </p:pic>
      <p:pic>
        <p:nvPicPr>
          <p:cNvPr id="37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5042711" y="3114910"/>
            <a:ext cx="41253" cy="49596"/>
          </a:xfrm>
          <a:prstGeom prst="rect">
            <a:avLst/>
          </a:prstGeom>
        </p:spPr>
      </p:pic>
      <p:pic>
        <p:nvPicPr>
          <p:cNvPr id="38" name="Image 30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5088599" y="3115079"/>
            <a:ext cx="40704" cy="49512"/>
          </a:xfrm>
          <a:prstGeom prst="rect">
            <a:avLst/>
          </a:prstGeom>
        </p:spPr>
      </p:pic>
      <p:sp>
        <p:nvSpPr>
          <p:cNvPr id="39" name="Text 6"/>
          <p:cNvSpPr/>
          <p:nvPr/>
        </p:nvSpPr>
        <p:spPr>
          <a:xfrm>
            <a:off x="5462588" y="1809750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Универсальность нанесения: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Подходит для всех видов металлов, включая сталь и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оцинкованные поверхности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обеспечивая надежную защиту независимо от типа материала;</a:t>
            </a:r>
            <a:endParaRPr lang="en-US" sz="855" dirty="0"/>
          </a:p>
        </p:txBody>
      </p:sp>
      <p:pic>
        <p:nvPicPr>
          <p:cNvPr id="40" name="Image 31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4808213" y="1809750"/>
            <a:ext cx="465788" cy="455026"/>
          </a:xfrm>
          <a:prstGeom prst="rect">
            <a:avLst/>
          </a:prstGeom>
        </p:spPr>
      </p:pic>
      <p:sp>
        <p:nvSpPr>
          <p:cNvPr id="41" name="Text 7"/>
          <p:cNvSpPr/>
          <p:nvPr/>
        </p:nvSpPr>
        <p:spPr>
          <a:xfrm>
            <a:off x="5462588" y="231933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Широкая цветовая гамма: 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Доступна широкая палитра цветов по 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каталогу RAL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позволяющая выбрать оттенок, соответствующий любым эстетическим требованиям потребителя;</a:t>
            </a:r>
            <a:endParaRPr lang="en-US" sz="855" dirty="0"/>
          </a:p>
        </p:txBody>
      </p:sp>
      <p:sp>
        <p:nvSpPr>
          <p:cNvPr id="42" name="Shape 8"/>
          <p:cNvSpPr/>
          <p:nvPr/>
        </p:nvSpPr>
        <p:spPr>
          <a:xfrm>
            <a:off x="4808213" y="2314575"/>
            <a:ext cx="465787" cy="465787"/>
          </a:xfrm>
          <a:prstGeom prst="rect">
            <a:avLst/>
          </a:prstGeom>
          <a:noFill/>
          <a:ln/>
        </p:spPr>
      </p:sp>
      <p:pic>
        <p:nvPicPr>
          <p:cNvPr id="43" name="Image 32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808213" y="2314575"/>
            <a:ext cx="465787" cy="465787"/>
          </a:xfrm>
          <a:prstGeom prst="rect">
            <a:avLst/>
          </a:prstGeom>
        </p:spPr>
      </p:pic>
      <p:pic>
        <p:nvPicPr>
          <p:cNvPr id="44" name="Image 33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4904277" y="2411237"/>
            <a:ext cx="298510" cy="298547"/>
          </a:xfrm>
          <a:prstGeom prst="rect">
            <a:avLst/>
          </a:prstGeom>
        </p:spPr>
      </p:pic>
      <p:pic>
        <p:nvPicPr>
          <p:cNvPr id="45" name="Image 34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929174" y="2441128"/>
            <a:ext cx="32333" cy="32333"/>
          </a:xfrm>
          <a:prstGeom prst="rect">
            <a:avLst/>
          </a:prstGeom>
        </p:spPr>
      </p:pic>
      <p:sp>
        <p:nvSpPr>
          <p:cNvPr id="46" name="Text 9"/>
          <p:cNvSpPr/>
          <p:nvPr/>
        </p:nvSpPr>
        <p:spPr>
          <a:xfrm>
            <a:off x="5462588" y="3905250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Прочность покрытия: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бразует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прочное покрытие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устойчивое к механическим повреждениям, царапинам и 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истиранию</a:t>
            </a:r>
            <a:r>
              <a:rPr lang="ru-RU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pic>
        <p:nvPicPr>
          <p:cNvPr id="47" name="Image 35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4808213" y="3843338"/>
            <a:ext cx="465788" cy="465705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5462588" y="4357688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Высокий уровень антикоррозионной защиты: 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</a:t>
            </a:r>
            <a:r>
              <a:rPr lang="en-US" sz="855" kern="0" spc="43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лагодаря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2х барьерной защите надежно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предотвращает образование ржавчины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даже в условиях агрессивной внешней среды.</a:t>
            </a:r>
            <a:endParaRPr lang="en-US" sz="855" dirty="0"/>
          </a:p>
        </p:txBody>
      </p:sp>
      <p:pic>
        <p:nvPicPr>
          <p:cNvPr id="49" name="Image 36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4808213" y="4352925"/>
            <a:ext cx="465788" cy="466223"/>
          </a:xfrm>
          <a:prstGeom prst="rect">
            <a:avLst/>
          </a:prstGeom>
        </p:spPr>
      </p:pic>
      <p:sp>
        <p:nvSpPr>
          <p:cNvPr id="50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855" dirty="0"/>
          </a:p>
        </p:txBody>
      </p:sp>
      <p:sp>
        <p:nvSpPr>
          <p:cNvPr id="51" name="Text 12"/>
          <p:cNvSpPr/>
          <p:nvPr/>
        </p:nvSpPr>
        <p:spPr>
          <a:xfrm>
            <a:off x="4891088" y="473393"/>
            <a:ext cx="42529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710" b="1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</a:t>
            </a:r>
            <a:r>
              <a:rPr lang="en-US" sz="1710" kern="0" spc="-28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Ореол TITAN высокоглянцевая</a:t>
            </a:r>
            <a:endParaRPr lang="en-US" sz="1710" dirty="0"/>
          </a:p>
        </p:txBody>
      </p:sp>
      <p:pic>
        <p:nvPicPr>
          <p:cNvPr id="52" name="Picture 3" descr="E:\ПРОДУКЦИЯ 3D\TITAN\2026\Грунт-эмаль 3 в 1\1 L\80151_Грунт-эмаль 3 в 1 ОРЕОЛ TITAN, 1л белый117х321мм.png"/>
          <p:cNvPicPr>
            <a:picLocks noChangeAspect="1" noChangeArrowheads="1"/>
          </p:cNvPicPr>
          <p:nvPr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0214" y="1314450"/>
            <a:ext cx="2289434" cy="296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chemeClr val="bg1">
                <a:lumMod val="95000"/>
              </a:schemeClr>
            </a:gs>
            <a:gs pos="54000">
              <a:schemeClr val="bg1">
                <a:lumMod val="8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38288" y="4238625"/>
            <a:ext cx="1395413" cy="509587"/>
          </a:xfrm>
          <a:prstGeom prst="rect">
            <a:avLst/>
          </a:prstGeom>
          <a:solidFill>
            <a:srgbClr val="1E4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375" y="3886200"/>
            <a:ext cx="1944802" cy="11214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8288" y="3248025"/>
            <a:ext cx="1395413" cy="509587"/>
          </a:xfrm>
          <a:prstGeom prst="rect">
            <a:avLst/>
          </a:prstGeom>
          <a:solidFill>
            <a:srgbClr val="7539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375" y="2895600"/>
            <a:ext cx="1944802" cy="11214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8288" y="2257425"/>
            <a:ext cx="1395413" cy="5095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3375" y="1905000"/>
            <a:ext cx="1942886" cy="11170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8288" y="1266825"/>
            <a:ext cx="1395413" cy="509587"/>
          </a:xfrm>
          <a:prstGeom prst="rect">
            <a:avLst/>
          </a:prstGeom>
          <a:solidFill>
            <a:srgbClr val="F3F8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33375" y="914400"/>
            <a:ext cx="1944802" cy="11214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05550" y="4184331"/>
            <a:ext cx="2838450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065520" y="4311966"/>
            <a:ext cx="2687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ПАЛИТРА</a:t>
            </a:r>
            <a:endParaRPr lang="en-US" sz="1710" dirty="0"/>
          </a:p>
        </p:txBody>
      </p:sp>
      <p:sp>
        <p:nvSpPr>
          <p:cNvPr id="13" name="Text 7"/>
          <p:cNvSpPr/>
          <p:nvPr/>
        </p:nvSpPr>
        <p:spPr>
          <a:xfrm>
            <a:off x="4262438" y="1266825"/>
            <a:ext cx="1428750" cy="509587"/>
          </a:xfrm>
          <a:prstGeom prst="rect">
            <a:avLst/>
          </a:prstGeom>
          <a:solidFill>
            <a:srgbClr val="A1A2A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4262438" y="2257425"/>
            <a:ext cx="1428750" cy="509587"/>
          </a:xfrm>
          <a:prstGeom prst="rect">
            <a:avLst/>
          </a:prstGeom>
          <a:solidFill>
            <a:srgbClr val="FBDE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262438" y="3248025"/>
            <a:ext cx="1428750" cy="509587"/>
          </a:xfrm>
          <a:prstGeom prst="rect">
            <a:avLst/>
          </a:prstGeom>
          <a:solidFill>
            <a:srgbClr val="4435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262438" y="4238625"/>
            <a:ext cx="1428750" cy="509587"/>
          </a:xfrm>
          <a:prstGeom prst="rect">
            <a:avLst/>
          </a:prstGeom>
          <a:solidFill>
            <a:srgbClr val="333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67050" y="914400"/>
            <a:ext cx="1944802" cy="1121483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7050" y="1900238"/>
            <a:ext cx="1944802" cy="1127009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67050" y="2890838"/>
            <a:ext cx="1944802" cy="112700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67050" y="3881438"/>
            <a:ext cx="1944802" cy="1127009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chemeClr val="tx1">
                    <a:lumMod val="50000"/>
                    <a:lumOff val="50000"/>
                    <a:alpha val="99000"/>
                  </a:scheme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855" dirty="0">
              <a:solidFill>
                <a:schemeClr val="tx1">
                  <a:lumMod val="50000"/>
                  <a:lumOff val="50000"/>
                  <a:alpha val="99000"/>
                </a:schemeClr>
              </a:solidFill>
            </a:endParaRPr>
          </a:p>
        </p:txBody>
      </p:sp>
      <p:sp>
        <p:nvSpPr>
          <p:cNvPr id="24" name="Text 12"/>
          <p:cNvSpPr/>
          <p:nvPr/>
        </p:nvSpPr>
        <p:spPr>
          <a:xfrm>
            <a:off x="14288" y="493395"/>
            <a:ext cx="561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kern="0" spc="-3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по ржавчине 3в1 высокоглянцевая</a:t>
            </a:r>
            <a:endParaRPr lang="en-US" sz="1425" dirty="0"/>
          </a:p>
        </p:txBody>
      </p:sp>
      <p:sp>
        <p:nvSpPr>
          <p:cNvPr id="25" name="Text 13"/>
          <p:cNvSpPr/>
          <p:nvPr/>
        </p:nvSpPr>
        <p:spPr>
          <a:xfrm>
            <a:off x="4338638" y="14097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7004</a:t>
            </a:r>
            <a:endParaRPr lang="en-US" sz="855" dirty="0"/>
          </a:p>
        </p:txBody>
      </p:sp>
      <p:sp>
        <p:nvSpPr>
          <p:cNvPr id="26" name="Text 14"/>
          <p:cNvSpPr/>
          <p:nvPr/>
        </p:nvSpPr>
        <p:spPr>
          <a:xfrm>
            <a:off x="4338638" y="24003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Желтый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1021</a:t>
            </a:r>
            <a:endParaRPr lang="en-US" sz="855" dirty="0"/>
          </a:p>
        </p:txBody>
      </p:sp>
      <p:sp>
        <p:nvSpPr>
          <p:cNvPr id="27" name="Text 15"/>
          <p:cNvSpPr/>
          <p:nvPr/>
        </p:nvSpPr>
        <p:spPr>
          <a:xfrm>
            <a:off x="4338638" y="33337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Шоколадно-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8017</a:t>
            </a:r>
            <a:endParaRPr lang="en-US" sz="855" dirty="0"/>
          </a:p>
        </p:txBody>
      </p:sp>
      <p:sp>
        <p:nvSpPr>
          <p:cNvPr id="28" name="Text 16"/>
          <p:cNvSpPr/>
          <p:nvPr/>
        </p:nvSpPr>
        <p:spPr>
          <a:xfrm>
            <a:off x="4338638" y="4324350"/>
            <a:ext cx="127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Графитовый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7024</a:t>
            </a:r>
            <a:endParaRPr lang="en-US" sz="855" dirty="0"/>
          </a:p>
        </p:txBody>
      </p:sp>
      <p:sp>
        <p:nvSpPr>
          <p:cNvPr id="29" name="Text 17"/>
          <p:cNvSpPr/>
          <p:nvPr/>
        </p:nvSpPr>
        <p:spPr>
          <a:xfrm>
            <a:off x="1614488" y="14097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Белый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9010</a:t>
            </a:r>
            <a:endParaRPr lang="en-US" sz="855" dirty="0"/>
          </a:p>
        </p:txBody>
      </p:sp>
      <p:sp>
        <p:nvSpPr>
          <p:cNvPr id="30" name="Text 18"/>
          <p:cNvSpPr/>
          <p:nvPr/>
        </p:nvSpPr>
        <p:spPr>
          <a:xfrm>
            <a:off x="1614488" y="24003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9005</a:t>
            </a:r>
            <a:endParaRPr lang="en-US" sz="855" dirty="0"/>
          </a:p>
        </p:txBody>
      </p:sp>
      <p:sp>
        <p:nvSpPr>
          <p:cNvPr id="31" name="Text 19"/>
          <p:cNvSpPr/>
          <p:nvPr/>
        </p:nvSpPr>
        <p:spPr>
          <a:xfrm>
            <a:off x="1614488" y="3333750"/>
            <a:ext cx="12430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Красно-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3009</a:t>
            </a:r>
            <a:endParaRPr lang="en-US" sz="855" dirty="0"/>
          </a:p>
        </p:txBody>
      </p:sp>
      <p:sp>
        <p:nvSpPr>
          <p:cNvPr id="32" name="Text 20"/>
          <p:cNvSpPr/>
          <p:nvPr/>
        </p:nvSpPr>
        <p:spPr>
          <a:xfrm>
            <a:off x="1614488" y="4381500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Зеленый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6005</a:t>
            </a:r>
            <a:endParaRPr lang="en-US" sz="855" dirty="0"/>
          </a:p>
        </p:txBody>
      </p:sp>
      <p:sp>
        <p:nvSpPr>
          <p:cNvPr id="34" name="Text 3"/>
          <p:cNvSpPr/>
          <p:nvPr/>
        </p:nvSpPr>
        <p:spPr>
          <a:xfrm>
            <a:off x="7081838" y="1271241"/>
            <a:ext cx="1395413" cy="509587"/>
          </a:xfrm>
          <a:prstGeom prst="rect">
            <a:avLst/>
          </a:prstGeom>
          <a:solidFill>
            <a:srgbClr val="14488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18"/>
          <p:cNvSpPr/>
          <p:nvPr/>
        </p:nvSpPr>
        <p:spPr>
          <a:xfrm>
            <a:off x="7158038" y="1414116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ru-RU" sz="855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Синий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</a:t>
            </a:r>
            <a:r>
              <a:rPr lang="ru-RU" sz="855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r>
              <a:rPr lang="en-US" sz="855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005</a:t>
            </a:r>
            <a:endParaRPr lang="en-US" sz="855" dirty="0"/>
          </a:p>
        </p:txBody>
      </p:sp>
      <p:sp>
        <p:nvSpPr>
          <p:cNvPr id="37" name="Text 3"/>
          <p:cNvSpPr/>
          <p:nvPr/>
        </p:nvSpPr>
        <p:spPr>
          <a:xfrm>
            <a:off x="7077076" y="2260866"/>
            <a:ext cx="1395413" cy="509587"/>
          </a:xfrm>
          <a:prstGeom prst="rect">
            <a:avLst/>
          </a:prstGeom>
          <a:solidFill>
            <a:srgbClr val="EBD5A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8"/>
          <p:cNvSpPr/>
          <p:nvPr/>
        </p:nvSpPr>
        <p:spPr>
          <a:xfrm>
            <a:off x="7153276" y="2403741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ru-RU" sz="855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Слоновая</a:t>
            </a:r>
          </a:p>
          <a:p>
            <a:pPr marL="0" indent="0" algn="r">
              <a:lnSpc>
                <a:spcPts val="855"/>
              </a:lnSpc>
              <a:buNone/>
            </a:pPr>
            <a:r>
              <a:rPr lang="ru-RU" sz="855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кость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latin typeface="Arimo" pitchFamily="34" charset="0"/>
                <a:ea typeface="Arimo" pitchFamily="34" charset="-122"/>
                <a:cs typeface="Arimo" pitchFamily="34" charset="-120"/>
              </a:rPr>
              <a:t>RAL </a:t>
            </a:r>
            <a:r>
              <a:rPr lang="ru-RU" sz="855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1014</a:t>
            </a:r>
            <a:endParaRPr lang="en-US" sz="855" dirty="0"/>
          </a:p>
        </p:txBody>
      </p:sp>
      <p:sp>
        <p:nvSpPr>
          <p:cNvPr id="40" name="Text 3"/>
          <p:cNvSpPr/>
          <p:nvPr/>
        </p:nvSpPr>
        <p:spPr>
          <a:xfrm>
            <a:off x="7077076" y="3252441"/>
            <a:ext cx="1395413" cy="509587"/>
          </a:xfrm>
          <a:prstGeom prst="rect">
            <a:avLst/>
          </a:prstGeom>
          <a:gradFill>
            <a:gsLst>
              <a:gs pos="46000">
                <a:schemeClr val="bg1">
                  <a:lumMod val="85000"/>
                </a:schemeClr>
              </a:gs>
              <a:gs pos="67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0" scaled="0"/>
          </a:gra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18"/>
          <p:cNvSpPr/>
          <p:nvPr/>
        </p:nvSpPr>
        <p:spPr>
          <a:xfrm>
            <a:off x="7153276" y="3395316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ru-RU" sz="855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Серебро</a:t>
            </a:r>
            <a:endParaRPr lang="en-US" sz="855" dirty="0"/>
          </a:p>
          <a:p>
            <a:pPr marL="0" indent="0" algn="r">
              <a:lnSpc>
                <a:spcPts val="855"/>
              </a:lnSpc>
              <a:buNone/>
            </a:pPr>
            <a:r>
              <a:rPr lang="en-US" sz="855" dirty="0">
                <a:latin typeface="Arimo" pitchFamily="34" charset="0"/>
                <a:ea typeface="Arimo" pitchFamily="34" charset="-122"/>
                <a:cs typeface="Arimo" pitchFamily="34" charset="-120"/>
              </a:rPr>
              <a:t>RAL </a:t>
            </a:r>
            <a:r>
              <a:rPr lang="ru-RU" sz="855" dirty="0" smtClean="0">
                <a:latin typeface="Arimo" pitchFamily="34" charset="0"/>
                <a:ea typeface="Arimo" pitchFamily="34" charset="-122"/>
                <a:cs typeface="Arimo" pitchFamily="34" charset="-120"/>
              </a:rPr>
              <a:t>9006</a:t>
            </a:r>
            <a:endParaRPr lang="en-US" sz="855" dirty="0"/>
          </a:p>
        </p:txBody>
      </p:sp>
      <p:pic>
        <p:nvPicPr>
          <p:cNvPr id="4101" name="Picture 5" descr="C:\Users\arustamyan\Desktop\Без имени-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2895600"/>
            <a:ext cx="1957173" cy="113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arustamyan\Desktop\слон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6" y="1900238"/>
            <a:ext cx="2029813" cy="117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arustamyan\Desktop\синий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906664"/>
            <a:ext cx="1942886" cy="112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chemeClr val="bg1">
                <a:lumMod val="95000"/>
              </a:schemeClr>
            </a:gs>
            <a:gs pos="30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71736" y="2490788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509963"/>
            <a:ext cx="1055514" cy="16430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7236" r="-1977" b="5743"/>
          <a:stretch/>
        </p:blipFill>
        <p:spPr>
          <a:xfrm>
            <a:off x="2160832" y="0"/>
            <a:ext cx="2948462" cy="166408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3621" y="381000"/>
            <a:ext cx="56201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83044" y="381000"/>
            <a:ext cx="257170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3788" y="381000"/>
            <a:ext cx="201625" cy="61544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"/>
          <p:cNvSpPr/>
          <p:nvPr/>
        </p:nvSpPr>
        <p:spPr>
          <a:xfrm>
            <a:off x="4833938" y="4543425"/>
            <a:ext cx="423863" cy="423863"/>
          </a:xfrm>
          <a:prstGeom prst="rect">
            <a:avLst/>
          </a:prstGeom>
          <a:noFill/>
          <a:ln/>
        </p:spPr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33938" y="4543425"/>
            <a:ext cx="423863" cy="423863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21351" y="4631387"/>
            <a:ext cx="271644" cy="271676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4010" y="4658587"/>
            <a:ext cx="29421" cy="29423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5462588" y="4643438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Палитра цветов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включает разнообразие оттенков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 стандарту RAL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18" name="Text 3"/>
          <p:cNvSpPr/>
          <p:nvPr/>
        </p:nvSpPr>
        <p:spPr>
          <a:xfrm>
            <a:off x="5462588" y="2628900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имеет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отличную устойчивость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к атмосферным воздействиям и ультрафиолетовому излучению, способно выдерживать перепады температур от –40°С до +80°С;</a:t>
            </a:r>
            <a:endParaRPr lang="en-US" sz="855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828263" y="2643188"/>
            <a:ext cx="429583" cy="429985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5462588" y="13239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покрытия, подтвержденный испытаниями – не менее 8 лет;</a:t>
            </a:r>
            <a:endParaRPr lang="en-US" sz="855" dirty="0"/>
          </a:p>
        </p:txBody>
      </p:sp>
      <p:sp>
        <p:nvSpPr>
          <p:cNvPr id="22" name="Shape 5"/>
          <p:cNvSpPr/>
          <p:nvPr/>
        </p:nvSpPr>
        <p:spPr>
          <a:xfrm>
            <a:off x="4832654" y="1223963"/>
            <a:ext cx="426056" cy="426056"/>
          </a:xfrm>
          <a:prstGeom prst="rect">
            <a:avLst/>
          </a:prstGeom>
          <a:noFill/>
          <a:ln/>
        </p:spPr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832654" y="1223963"/>
            <a:ext cx="426056" cy="426056"/>
          </a:xfrm>
          <a:prstGeom prst="rect">
            <a:avLst/>
          </a:prstGeom>
        </p:spPr>
      </p:pic>
      <p:pic>
        <p:nvPicPr>
          <p:cNvPr id="24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906621" y="1303554"/>
            <a:ext cx="277202" cy="289073"/>
          </a:xfrm>
          <a:prstGeom prst="rect">
            <a:avLst/>
          </a:prstGeom>
        </p:spPr>
      </p:pic>
      <p:pic>
        <p:nvPicPr>
          <p:cNvPr id="25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016624" y="1340170"/>
            <a:ext cx="60513" cy="97861"/>
          </a:xfrm>
          <a:prstGeom prst="rect">
            <a:avLst/>
          </a:prstGeom>
        </p:spPr>
      </p:pic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981124" y="1457187"/>
            <a:ext cx="40779" cy="43785"/>
          </a:xfrm>
          <a:prstGeom prst="rect">
            <a:avLst/>
          </a:prstGeom>
        </p:spPr>
      </p:pic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5025833" y="1456454"/>
            <a:ext cx="38774" cy="45327"/>
          </a:xfrm>
          <a:prstGeom prst="rect">
            <a:avLst/>
          </a:prstGeom>
        </p:spPr>
      </p:pic>
      <p:pic>
        <p:nvPicPr>
          <p:cNvPr id="28" name="Image 20" descr="preencoded.png"/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5993" y="1457225"/>
            <a:ext cx="42165" cy="43746"/>
          </a:xfrm>
          <a:prstGeom prst="rect">
            <a:avLst/>
          </a:prstGeom>
        </p:spPr>
      </p:pic>
      <p:sp>
        <p:nvSpPr>
          <p:cNvPr id="29" name="Text 6"/>
          <p:cNvSpPr/>
          <p:nvPr/>
        </p:nvSpPr>
        <p:spPr>
          <a:xfrm>
            <a:off x="5462588" y="179070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Легко наносится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образует гладкую декоративную поверхность с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глубокоматовым эффектом;</a:t>
            </a:r>
            <a:endParaRPr lang="en-US" sz="855" dirty="0"/>
          </a:p>
        </p:txBody>
      </p:sp>
      <p:pic>
        <p:nvPicPr>
          <p:cNvPr id="30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832654" y="1690688"/>
            <a:ext cx="426058" cy="42862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5462588" y="22574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Возможно применение при минусовых температурах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–15°C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pic>
        <p:nvPicPr>
          <p:cNvPr id="32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832654" y="2162175"/>
            <a:ext cx="426058" cy="426056"/>
          </a:xfrm>
          <a:prstGeom prst="rect">
            <a:avLst/>
          </a:prstGeom>
        </p:spPr>
      </p:pic>
      <p:sp>
        <p:nvSpPr>
          <p:cNvPr id="33" name="Text 8"/>
          <p:cNvSpPr/>
          <p:nvPr/>
        </p:nvSpPr>
        <p:spPr>
          <a:xfrm>
            <a:off x="5462588" y="3643313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Экономичная обработка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характеризуется хорошей укрывистостью. Обладает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отличной адгезией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к металлической поверхности;</a:t>
            </a:r>
            <a:endParaRPr lang="en-US" sz="855" dirty="0"/>
          </a:p>
        </p:txBody>
      </p:sp>
      <p:pic>
        <p:nvPicPr>
          <p:cNvPr id="34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4828263" y="3595688"/>
            <a:ext cx="430448" cy="433446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5462588" y="4114800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 высыхает: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время до полного высыхания каждого слоя составляет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 1 до 3 часов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Время высыхания «от пыли»: 30 минут;</a:t>
            </a:r>
            <a:endParaRPr lang="en-US" sz="855" dirty="0"/>
          </a:p>
        </p:txBody>
      </p:sp>
      <p:sp>
        <p:nvSpPr>
          <p:cNvPr id="36" name="Shape 10"/>
          <p:cNvSpPr/>
          <p:nvPr/>
        </p:nvSpPr>
        <p:spPr>
          <a:xfrm>
            <a:off x="4829175" y="4071938"/>
            <a:ext cx="428625" cy="428625"/>
          </a:xfrm>
          <a:prstGeom prst="rect">
            <a:avLst/>
          </a:prstGeom>
          <a:noFill/>
          <a:ln/>
        </p:spPr>
      </p:sp>
      <p:pic>
        <p:nvPicPr>
          <p:cNvPr id="37" name="Image 24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926890" y="4199780"/>
            <a:ext cx="232888" cy="232886"/>
          </a:xfrm>
          <a:prstGeom prst="rect">
            <a:avLst/>
          </a:prstGeom>
        </p:spPr>
      </p:pic>
      <p:pic>
        <p:nvPicPr>
          <p:cNvPr id="38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4829175" y="4071938"/>
            <a:ext cx="428625" cy="428625"/>
          </a:xfrm>
          <a:prstGeom prst="rect">
            <a:avLst/>
          </a:prstGeom>
        </p:spPr>
      </p:pic>
      <p:pic>
        <p:nvPicPr>
          <p:cNvPr id="3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009015" y="4117693"/>
            <a:ext cx="68712" cy="58823"/>
          </a:xfrm>
          <a:prstGeom prst="rect">
            <a:avLst/>
          </a:prstGeom>
        </p:spPr>
      </p:pic>
      <p:pic>
        <p:nvPicPr>
          <p:cNvPr id="40" name="Image 27" descr="preencoded.png"/>
          <p:cNvPicPr>
            <a:picLocks noChangeAspect="1"/>
          </p:cNvPicPr>
          <p:nvPr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"/>
          <a:stretch/>
        </p:blipFill>
        <p:spPr>
          <a:xfrm>
            <a:off x="5134040" y="4172367"/>
            <a:ext cx="35589" cy="35586"/>
          </a:xfrm>
          <a:prstGeom prst="rect">
            <a:avLst/>
          </a:prstGeom>
        </p:spPr>
      </p:pic>
      <p:pic>
        <p:nvPicPr>
          <p:cNvPr id="41" name="Image 28" descr="preencoded.png"/>
          <p:cNvPicPr>
            <a:picLocks noChangeAspect="1"/>
          </p:cNvPicPr>
          <p:nvPr/>
        </p:nvPicPr>
        <p:blipFill>
          <a:blip r:embed="rId2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"/>
          <a:stretch/>
        </p:blipFill>
        <p:spPr>
          <a:xfrm>
            <a:off x="4917077" y="4172367"/>
            <a:ext cx="35589" cy="35586"/>
          </a:xfrm>
          <a:prstGeom prst="rect">
            <a:avLst/>
          </a:prstGeom>
        </p:spPr>
      </p:pic>
      <p:pic>
        <p:nvPicPr>
          <p:cNvPr id="42" name="Image 29" descr="preencoded.png"/>
          <p:cNvPicPr>
            <a:picLocks noChangeAspect="1"/>
          </p:cNvPicPr>
          <p:nvPr/>
        </p:nvPicPr>
        <p:blipFill>
          <a:blip r:embed="rId3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5399" y="4243752"/>
            <a:ext cx="30826" cy="79335"/>
          </a:xfrm>
          <a:prstGeom prst="rect">
            <a:avLst/>
          </a:prstGeom>
        </p:spPr>
      </p:pic>
      <p:pic>
        <p:nvPicPr>
          <p:cNvPr id="43" name="Image 30" descr="preencoded.png"/>
          <p:cNvPicPr>
            <a:picLocks noChangeAspect="1"/>
          </p:cNvPicPr>
          <p:nvPr/>
        </p:nvPicPr>
        <p:blipFill>
          <a:blip r:embed="rId3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5021740" y="4284196"/>
            <a:ext cx="41686" cy="8298"/>
          </a:xfrm>
          <a:prstGeom prst="rect">
            <a:avLst/>
          </a:prstGeom>
        </p:spPr>
      </p:pic>
      <p:pic>
        <p:nvPicPr>
          <p:cNvPr id="4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5070863" y="4242666"/>
            <a:ext cx="50253" cy="81429"/>
          </a:xfrm>
          <a:prstGeom prst="rect">
            <a:avLst/>
          </a:prstGeom>
        </p:spPr>
      </p:pic>
      <p:pic>
        <p:nvPicPr>
          <p:cNvPr id="45" name="Image 32" descr="preencoded.png"/>
          <p:cNvPicPr>
            <a:picLocks noChangeAspect="1"/>
          </p:cNvPicPr>
          <p:nvPr/>
        </p:nvPicPr>
        <p:blipFill>
          <a:blip r:embed="rId3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590" y="4339528"/>
            <a:ext cx="37495" cy="44088"/>
          </a:xfrm>
          <a:prstGeom prst="rect">
            <a:avLst/>
          </a:prstGeom>
        </p:spPr>
      </p:pic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003862" y="4338831"/>
            <a:ext cx="37458" cy="45561"/>
          </a:xfrm>
          <a:prstGeom prst="rect">
            <a:avLst/>
          </a:prstGeom>
        </p:spPr>
      </p:pic>
      <p:pic>
        <p:nvPicPr>
          <p:cNvPr id="47" name="Image 34" descr="preencoded.png"/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4957" y="4338675"/>
            <a:ext cx="37960" cy="45639"/>
          </a:xfrm>
          <a:prstGeom prst="rect">
            <a:avLst/>
          </a:prstGeom>
        </p:spPr>
      </p:pic>
      <p:pic>
        <p:nvPicPr>
          <p:cNvPr id="48" name="Image 35" descr="preencoded.png"/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087192" y="4338831"/>
            <a:ext cx="37458" cy="45561"/>
          </a:xfrm>
          <a:prstGeom prst="rect">
            <a:avLst/>
          </a:prstGeom>
        </p:spPr>
      </p:pic>
      <p:sp>
        <p:nvSpPr>
          <p:cNvPr id="49" name="Text 11"/>
          <p:cNvSpPr/>
          <p:nvPr/>
        </p:nvSpPr>
        <p:spPr>
          <a:xfrm>
            <a:off x="5462588" y="3167063"/>
            <a:ext cx="3105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Бережет время и средства: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быстросохнущая формула заменяет грунтовку и финишное покрытие,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грунтование поверхности не требуется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50" name="Shape 12"/>
          <p:cNvSpPr/>
          <p:nvPr/>
        </p:nvSpPr>
        <p:spPr>
          <a:xfrm>
            <a:off x="4832654" y="3128963"/>
            <a:ext cx="426056" cy="426056"/>
          </a:xfrm>
          <a:prstGeom prst="rect">
            <a:avLst/>
          </a:prstGeom>
          <a:noFill/>
          <a:ln/>
        </p:spPr>
      </p:sp>
      <p:pic>
        <p:nvPicPr>
          <p:cNvPr id="51" name="Image 3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832654" y="3128963"/>
            <a:ext cx="426056" cy="426056"/>
          </a:xfrm>
          <a:prstGeom prst="rect">
            <a:avLst/>
          </a:prstGeom>
        </p:spPr>
      </p:pic>
      <p:pic>
        <p:nvPicPr>
          <p:cNvPr id="52" name="Image 37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4913147" y="3322620"/>
            <a:ext cx="265100" cy="126328"/>
          </a:xfrm>
          <a:prstGeom prst="rect">
            <a:avLst/>
          </a:prstGeom>
        </p:spPr>
      </p:pic>
      <p:pic>
        <p:nvPicPr>
          <p:cNvPr id="53" name="Image 38" descr="preencoded.png"/>
          <p:cNvPicPr>
            <a:picLocks noChangeAspect="1"/>
          </p:cNvPicPr>
          <p:nvPr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4611" y="3214890"/>
            <a:ext cx="99799" cy="99021"/>
          </a:xfrm>
          <a:prstGeom prst="rect">
            <a:avLst/>
          </a:prstGeom>
        </p:spPr>
      </p:pic>
      <p:sp>
        <p:nvSpPr>
          <p:cNvPr id="54" name="Text 13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855" dirty="0"/>
          </a:p>
        </p:txBody>
      </p:sp>
      <p:sp>
        <p:nvSpPr>
          <p:cNvPr id="55" name="Text 14"/>
          <p:cNvSpPr/>
          <p:nvPr/>
        </p:nvSpPr>
        <p:spPr>
          <a:xfrm>
            <a:off x="4876800" y="464820"/>
            <a:ext cx="4205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710" b="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Ореол TITAN </a:t>
            </a:r>
            <a:endParaRPr lang="en-US" sz="1710" dirty="0"/>
          </a:p>
          <a:p>
            <a:pPr marL="0" indent="0" algn="l">
              <a:lnSpc>
                <a:spcPts val="1932"/>
              </a:lnSpc>
              <a:buNone/>
            </a:pPr>
            <a:r>
              <a:rPr lang="en-US" sz="1710" b="1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быстросохнущая</a:t>
            </a: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матовая</a:t>
            </a:r>
            <a:endParaRPr lang="en-US" sz="1710" dirty="0"/>
          </a:p>
        </p:txBody>
      </p:sp>
      <p:pic>
        <p:nvPicPr>
          <p:cNvPr id="56" name="Picture 2" descr="E:\ПРОДУКЦИЯ 3D\TITAN\2026\Грунт-эмаль матовая\83347_Этикетка смет Грунт-эмаль быстросохнущая ОРЕОЛ TITAN МАТОВАЯ, 1л чёрная.png"/>
          <p:cNvPicPr>
            <a:picLocks noChangeAspect="1" noChangeArrowheads="1"/>
          </p:cNvPicPr>
          <p:nvPr/>
        </p:nvPicPr>
        <p:blipFill>
          <a:blip r:embed="rId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6514" y="1314450"/>
            <a:ext cx="2289434" cy="296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chemeClr val="bg1">
                <a:lumMod val="95000"/>
              </a:schemeClr>
            </a:gs>
            <a:gs pos="47000">
              <a:schemeClr val="bg1">
                <a:lumMod val="89000"/>
              </a:schemeClr>
            </a:gs>
            <a:gs pos="100000">
              <a:schemeClr val="bg1">
                <a:lumMod val="81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00150"/>
            <a:ext cx="981075" cy="509587"/>
          </a:xfrm>
          <a:prstGeom prst="rect">
            <a:avLst/>
          </a:prstGeom>
          <a:solidFill>
            <a:srgbClr val="F3F8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95487" y="1200150"/>
            <a:ext cx="1038225" cy="509587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5060" y="525780"/>
            <a:ext cx="2558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 ПАЛИТРА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09975" y="1200150"/>
            <a:ext cx="1114425" cy="509587"/>
          </a:xfrm>
          <a:prstGeom prst="rect">
            <a:avLst/>
          </a:prstGeom>
          <a:solidFill>
            <a:srgbClr val="4435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8363" y="3784049"/>
            <a:ext cx="2907232" cy="13594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29188" y="2019300"/>
            <a:ext cx="1114425" cy="509587"/>
          </a:xfrm>
          <a:prstGeom prst="rect">
            <a:avLst/>
          </a:prstGeom>
          <a:solidFill>
            <a:srgbClr val="333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10150" y="1957388"/>
            <a:ext cx="1361475" cy="2147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endParaRPr lang="en-US" sz="855" dirty="0"/>
          </a:p>
        </p:txBody>
      </p:sp>
      <p:sp>
        <p:nvSpPr>
          <p:cNvPr id="13" name="Text 8"/>
          <p:cNvSpPr/>
          <p:nvPr/>
        </p:nvSpPr>
        <p:spPr>
          <a:xfrm>
            <a:off x="71438" y="495300"/>
            <a:ext cx="5548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быстросохнущая матовая</a:t>
            </a:r>
            <a:endParaRPr lang="en-US" sz="1425" dirty="0"/>
          </a:p>
        </p:txBody>
      </p:sp>
      <p:sp>
        <p:nvSpPr>
          <p:cNvPr id="14" name="Text 9"/>
          <p:cNvSpPr/>
          <p:nvPr/>
        </p:nvSpPr>
        <p:spPr>
          <a:xfrm>
            <a:off x="457200" y="13430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Белый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9010</a:t>
            </a:r>
            <a:endParaRPr lang="en-US" sz="855" dirty="0"/>
          </a:p>
        </p:txBody>
      </p:sp>
      <p:sp>
        <p:nvSpPr>
          <p:cNvPr id="15" name="Text 10"/>
          <p:cNvSpPr/>
          <p:nvPr/>
        </p:nvSpPr>
        <p:spPr>
          <a:xfrm>
            <a:off x="2071688" y="134302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9005</a:t>
            </a:r>
            <a:endParaRPr lang="en-US" sz="855" dirty="0"/>
          </a:p>
        </p:txBody>
      </p:sp>
      <p:sp>
        <p:nvSpPr>
          <p:cNvPr id="16" name="Text 11"/>
          <p:cNvSpPr/>
          <p:nvPr/>
        </p:nvSpPr>
        <p:spPr>
          <a:xfrm>
            <a:off x="3686175" y="128587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Шоколадно-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8017</a:t>
            </a:r>
            <a:endParaRPr lang="en-US" sz="855" dirty="0"/>
          </a:p>
        </p:txBody>
      </p:sp>
      <p:sp>
        <p:nvSpPr>
          <p:cNvPr id="17" name="Text 12"/>
          <p:cNvSpPr/>
          <p:nvPr/>
        </p:nvSpPr>
        <p:spPr>
          <a:xfrm>
            <a:off x="5005388" y="210502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Графитовый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7024</a:t>
            </a:r>
            <a:endParaRPr lang="en-US" sz="855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1143000"/>
            <a:ext cx="1362075" cy="174307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95487" y="1143000"/>
            <a:ext cx="1362075" cy="172402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0937" y="1143000"/>
            <a:ext cx="1362075" cy="17240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81000" y="2790825"/>
            <a:ext cx="1042988" cy="509587"/>
          </a:xfrm>
          <a:prstGeom prst="rect">
            <a:avLst/>
          </a:prstGeom>
          <a:solidFill>
            <a:srgbClr val="A1A2A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457200" y="2933700"/>
            <a:ext cx="890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7004</a:t>
            </a:r>
            <a:endParaRPr lang="en-US" sz="855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81000" y="2705100"/>
            <a:ext cx="1361331" cy="21478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995487" y="2771775"/>
            <a:ext cx="1038225" cy="509587"/>
          </a:xfrm>
          <a:prstGeom prst="rect">
            <a:avLst/>
          </a:prstGeom>
          <a:solidFill>
            <a:srgbClr val="FBDE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2071688" y="291465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Желтый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1023</a:t>
            </a:r>
            <a:endParaRPr lang="en-US" sz="855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95487" y="2705100"/>
            <a:ext cx="1361475" cy="21478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09975" y="2771775"/>
            <a:ext cx="1114425" cy="509587"/>
          </a:xfrm>
          <a:prstGeom prst="rect">
            <a:avLst/>
          </a:prstGeom>
          <a:solidFill>
            <a:srgbClr val="1E4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8"/>
          <p:cNvSpPr/>
          <p:nvPr/>
        </p:nvSpPr>
        <p:spPr>
          <a:xfrm>
            <a:off x="3686175" y="29146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Зеленый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RAL 6005</a:t>
            </a:r>
            <a:endParaRPr lang="en-US" sz="855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90937" y="2705100"/>
            <a:ext cx="1361475" cy="2147888"/>
          </a:xfrm>
          <a:prstGeom prst="rect">
            <a:avLst/>
          </a:prstGeom>
        </p:spPr>
      </p:pic>
      <p:pic>
        <p:nvPicPr>
          <p:cNvPr id="30" name="Picture 2" descr="E:\ПРОДУКЦИЯ 3D\TITAN\2026\Грунт-эмаль матовая\83347_Этикетка смет Грунт-эмаль быстросохнущая ОРЕОЛ TITAN МАТОВАЯ, 1л чёрная.png"/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12411" y="1615186"/>
            <a:ext cx="2179136" cy="282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19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28775" y="1771650"/>
            <a:ext cx="35194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1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для защиты и окраски стальных и чугунных поверхностей с остатками плотно держащейся ржавчины, эксплуатируемых в атмосферных условиях (металлические конструкции, садовая мебель, гаражи, ограды, решётки и т. д.), и внутри помещений. Подходит для цветных металлов (цинк, медь, алюминий), поверхностей из оцинкованного металла и нержавеющей стали. Возможно нанесение на </a:t>
            </a: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деревянную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поверхность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419100" y="381000"/>
            <a:ext cx="3895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342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ТЕХНИЧЕСКИЕ ХАРАКТЕРИСТИКИ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19100" y="1438275"/>
            <a:ext cx="1171575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666875"/>
            <a:ext cx="1171575" cy="7429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566988"/>
            <a:ext cx="1171575" cy="4048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409825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3252788"/>
            <a:ext cx="1171575" cy="3429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3124200"/>
            <a:ext cx="1171575" cy="12858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595688"/>
            <a:ext cx="1171575" cy="2524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3848100"/>
            <a:ext cx="1171575" cy="14763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4648200"/>
            <a:ext cx="1171575" cy="20955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995738"/>
            <a:ext cx="1171575" cy="6524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2971800"/>
            <a:ext cx="1171575" cy="1524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90675" y="1438275"/>
            <a:ext cx="3652838" cy="228600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9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0013" y="271463"/>
            <a:ext cx="1126243" cy="1004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7313" y="1062038"/>
            <a:ext cx="1181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Инструмент нанесения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6557963" y="1062038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Область применения</a:t>
            </a:r>
            <a:endParaRPr lang="en-US" sz="855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433388"/>
            <a:ext cx="1003278" cy="5476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2371" y="433388"/>
            <a:ext cx="928688" cy="547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855" dirty="0"/>
          </a:p>
        </p:txBody>
      </p:sp>
      <p:sp>
        <p:nvSpPr>
          <p:cNvPr id="23" name="Text 18"/>
          <p:cNvSpPr/>
          <p:nvPr/>
        </p:nvSpPr>
        <p:spPr>
          <a:xfrm>
            <a:off x="5210175" y="3124200"/>
            <a:ext cx="3533776" cy="1285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ctr"/>
          <a:lstStyle/>
          <a:p>
            <a:pPr>
              <a:lnSpc>
                <a:spcPts val="855"/>
              </a:lnSpc>
            </a:pP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Ксилол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</a:p>
        </p:txBody>
      </p:sp>
      <p:sp>
        <p:nvSpPr>
          <p:cNvPr id="24" name="Text 19"/>
          <p:cNvSpPr/>
          <p:nvPr/>
        </p:nvSpPr>
        <p:spPr>
          <a:xfrm>
            <a:off x="5243513" y="1438275"/>
            <a:ext cx="3505200" cy="228600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628775" y="1462088"/>
            <a:ext cx="35766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3в1</a:t>
            </a:r>
            <a:endParaRPr lang="en-US" sz="1140" dirty="0"/>
          </a:p>
        </p:txBody>
      </p:sp>
      <p:sp>
        <p:nvSpPr>
          <p:cNvPr id="26" name="Text 21"/>
          <p:cNvSpPr/>
          <p:nvPr/>
        </p:nvSpPr>
        <p:spPr>
          <a:xfrm>
            <a:off x="5281613" y="1462088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быстросохнущая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495300" y="1981200"/>
            <a:ext cx="1019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Назначение</a:t>
            </a:r>
            <a:endParaRPr lang="en-US" sz="713" dirty="0"/>
          </a:p>
        </p:txBody>
      </p:sp>
      <p:sp>
        <p:nvSpPr>
          <p:cNvPr id="28" name="Text 23"/>
          <p:cNvSpPr/>
          <p:nvPr/>
        </p:nvSpPr>
        <p:spPr>
          <a:xfrm>
            <a:off x="457200" y="24336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Степень блеска</a:t>
            </a:r>
            <a:endParaRPr lang="en-US" sz="713" dirty="0"/>
          </a:p>
        </p:txBody>
      </p:sp>
      <p:sp>
        <p:nvSpPr>
          <p:cNvPr id="29" name="Text 24"/>
          <p:cNvSpPr/>
          <p:nvPr/>
        </p:nvSpPr>
        <p:spPr>
          <a:xfrm>
            <a:off x="457200" y="27146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</a:t>
            </a:r>
            <a:endParaRPr lang="en-US" sz="713" dirty="0"/>
          </a:p>
        </p:txBody>
      </p:sp>
      <p:sp>
        <p:nvSpPr>
          <p:cNvPr id="30" name="Text 25"/>
          <p:cNvSpPr/>
          <p:nvPr/>
        </p:nvSpPr>
        <p:spPr>
          <a:xfrm>
            <a:off x="457200" y="29908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Связующее</a:t>
            </a:r>
            <a:endParaRPr lang="en-US" sz="713" dirty="0"/>
          </a:p>
        </p:txBody>
      </p:sp>
      <p:sp>
        <p:nvSpPr>
          <p:cNvPr id="31" name="Text 26"/>
          <p:cNvSpPr/>
          <p:nvPr/>
        </p:nvSpPr>
        <p:spPr>
          <a:xfrm>
            <a:off x="457200" y="31337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Разбавление</a:t>
            </a:r>
            <a:endParaRPr lang="en-US" sz="713" dirty="0"/>
          </a:p>
        </p:txBody>
      </p:sp>
      <p:sp>
        <p:nvSpPr>
          <p:cNvPr id="32" name="Text 27"/>
          <p:cNvSpPr/>
          <p:nvPr/>
        </p:nvSpPr>
        <p:spPr>
          <a:xfrm>
            <a:off x="457200" y="336708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</a:t>
            </a:r>
            <a:endParaRPr lang="en-US" sz="713" dirty="0"/>
          </a:p>
        </p:txBody>
      </p:sp>
      <p:sp>
        <p:nvSpPr>
          <p:cNvPr id="33" name="Text 28"/>
          <p:cNvSpPr/>
          <p:nvPr/>
        </p:nvSpPr>
        <p:spPr>
          <a:xfrm>
            <a:off x="457200" y="36671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Условия нанесения</a:t>
            </a:r>
            <a:endParaRPr lang="en-US" sz="713" dirty="0"/>
          </a:p>
        </p:txBody>
      </p:sp>
      <p:sp>
        <p:nvSpPr>
          <p:cNvPr id="34" name="Text 29"/>
          <p:cNvSpPr/>
          <p:nvPr/>
        </p:nvSpPr>
        <p:spPr>
          <a:xfrm>
            <a:off x="457200" y="38671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нанесения</a:t>
            </a:r>
            <a:endParaRPr lang="en-US" sz="713" dirty="0"/>
          </a:p>
        </p:txBody>
      </p:sp>
      <p:sp>
        <p:nvSpPr>
          <p:cNvPr id="35" name="Text 30"/>
          <p:cNvSpPr/>
          <p:nvPr/>
        </p:nvSpPr>
        <p:spPr>
          <a:xfrm>
            <a:off x="495300" y="421005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Эксплуатация поверхности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457200" y="4695825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Фасовка</a:t>
            </a:r>
            <a:endParaRPr lang="en-US" sz="713" dirty="0"/>
          </a:p>
        </p:txBody>
      </p:sp>
      <p:sp>
        <p:nvSpPr>
          <p:cNvPr id="37" name="Text 32"/>
          <p:cNvSpPr/>
          <p:nvPr/>
        </p:nvSpPr>
        <p:spPr>
          <a:xfrm>
            <a:off x="5300663" y="1905000"/>
            <a:ext cx="3367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1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для окрашивания металлических поверхностей, предварительно очищенных от пыли и ржавчины, подвергающихся атмосферным воздействиям, а также расположенных </a:t>
            </a: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внутри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помещений</a:t>
            </a:r>
            <a:endParaRPr lang="en-US" sz="713" dirty="0"/>
          </a:p>
        </p:txBody>
      </p:sp>
      <p:sp>
        <p:nvSpPr>
          <p:cNvPr id="38" name="Text 33"/>
          <p:cNvSpPr/>
          <p:nvPr/>
        </p:nvSpPr>
        <p:spPr>
          <a:xfrm>
            <a:off x="1628775" y="2443163"/>
            <a:ext cx="35766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Глянцевая</a:t>
            </a:r>
            <a:endParaRPr lang="en-US" sz="713" dirty="0"/>
          </a:p>
        </p:txBody>
      </p:sp>
      <p:sp>
        <p:nvSpPr>
          <p:cNvPr id="39" name="Text 34"/>
          <p:cNvSpPr/>
          <p:nvPr/>
        </p:nvSpPr>
        <p:spPr>
          <a:xfrm>
            <a:off x="5300663" y="2443163"/>
            <a:ext cx="34051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Матовая</a:t>
            </a:r>
            <a:endParaRPr lang="en-US" sz="713" dirty="0"/>
          </a:p>
        </p:txBody>
      </p:sp>
      <p:sp>
        <p:nvSpPr>
          <p:cNvPr id="40" name="Text 35"/>
          <p:cNvSpPr/>
          <p:nvPr/>
        </p:nvSpPr>
        <p:spPr>
          <a:xfrm>
            <a:off x="1628775" y="2601278"/>
            <a:ext cx="3576638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13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«От пыли» — 1,5 ч. 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ст.3 – не более 5 часов.</a:t>
            </a:r>
          </a:p>
          <a:p>
            <a:pPr>
              <a:lnSpc>
                <a:spcPts val="713"/>
              </a:lnSpc>
            </a:pP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Каждый 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последующий слой наносить не ранее 10 часов от нанесения предыдущего слоя, для исключения дефекта покрытия "сморщивание</a:t>
            </a:r>
            <a:r>
              <a:rPr lang="ru-RU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". </a:t>
            </a:r>
            <a:endParaRPr lang="en-US" sz="713" dirty="0"/>
          </a:p>
        </p:txBody>
      </p:sp>
      <p:sp>
        <p:nvSpPr>
          <p:cNvPr id="41" name="Text 36"/>
          <p:cNvSpPr/>
          <p:nvPr/>
        </p:nvSpPr>
        <p:spPr>
          <a:xfrm>
            <a:off x="5300661" y="2719388"/>
            <a:ext cx="3405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«От пыли» — 30 минут. Каждого слоя — 1–3 ч.</a:t>
            </a:r>
            <a:endParaRPr lang="en-US" sz="713" dirty="0"/>
          </a:p>
        </p:txBody>
      </p:sp>
      <p:sp>
        <p:nvSpPr>
          <p:cNvPr id="42" name="Text 37"/>
          <p:cNvSpPr/>
          <p:nvPr/>
        </p:nvSpPr>
        <p:spPr>
          <a:xfrm>
            <a:off x="1628775" y="2990850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Модифицированный алкид.</a:t>
            </a:r>
            <a:endParaRPr lang="en-US" sz="713" dirty="0"/>
          </a:p>
        </p:txBody>
      </p:sp>
      <p:sp>
        <p:nvSpPr>
          <p:cNvPr id="43" name="Text 38"/>
          <p:cNvSpPr/>
          <p:nvPr/>
        </p:nvSpPr>
        <p:spPr>
          <a:xfrm>
            <a:off x="5300663" y="2990850"/>
            <a:ext cx="34051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Модифицированный алкид.</a:t>
            </a:r>
            <a:endParaRPr lang="en-US" sz="713" dirty="0"/>
          </a:p>
        </p:txBody>
      </p:sp>
      <p:sp>
        <p:nvSpPr>
          <p:cNvPr id="44" name="Text 39"/>
          <p:cNvSpPr/>
          <p:nvPr/>
        </p:nvSpPr>
        <p:spPr>
          <a:xfrm>
            <a:off x="1628775" y="3133725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Сольвент, ксилол. </a:t>
            </a:r>
            <a:endParaRPr lang="en-US" sz="713" dirty="0"/>
          </a:p>
        </p:txBody>
      </p:sp>
      <p:sp>
        <p:nvSpPr>
          <p:cNvPr id="45" name="Text 40"/>
          <p:cNvSpPr/>
          <p:nvPr/>
        </p:nvSpPr>
        <p:spPr>
          <a:xfrm>
            <a:off x="1628775" y="3314700"/>
            <a:ext cx="3576638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в зависимости от цвета, основания и требуемой фактуры поверхности — 50–120 г/м²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r>
              <a:rPr lang="ru-RU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Рекомендуемая толщина однослойного сухого покрытия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30-40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двухслойного - </a:t>
            </a:r>
            <a:r>
              <a:rPr lang="ru-RU" sz="713" i="1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60-80 мкм</a:t>
            </a:r>
            <a:r>
              <a:rPr lang="ru-RU" sz="713" i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713" i="1" dirty="0"/>
          </a:p>
        </p:txBody>
      </p:sp>
      <p:sp>
        <p:nvSpPr>
          <p:cNvPr id="46" name="Text 41"/>
          <p:cNvSpPr/>
          <p:nvPr/>
        </p:nvSpPr>
        <p:spPr>
          <a:xfrm>
            <a:off x="5300663" y="3314700"/>
            <a:ext cx="3405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в зависимости от цвета, основания и требуемой фактуры поверхности — 80–100 г/м².</a:t>
            </a:r>
            <a:endParaRPr lang="en-US" sz="713" dirty="0"/>
          </a:p>
        </p:txBody>
      </p:sp>
      <p:sp>
        <p:nvSpPr>
          <p:cNvPr id="47" name="Text 42"/>
          <p:cNvSpPr/>
          <p:nvPr/>
        </p:nvSpPr>
        <p:spPr>
          <a:xfrm>
            <a:off x="1628775" y="3667125"/>
            <a:ext cx="70818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Рекомендуется наносить в 2–3 слоя. Рекомендованная толщина одного слоя: 30–40 мкм сухой плёнки.   </a:t>
            </a:r>
            <a:endParaRPr lang="en-US" sz="713" dirty="0"/>
          </a:p>
        </p:txBody>
      </p:sp>
      <p:sp>
        <p:nvSpPr>
          <p:cNvPr id="48" name="Text 43"/>
          <p:cNvSpPr/>
          <p:nvPr/>
        </p:nvSpPr>
        <p:spPr>
          <a:xfrm>
            <a:off x="1628775" y="3867150"/>
            <a:ext cx="3576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713" kern="0" spc="-21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+</a:t>
            </a:r>
            <a:r>
              <a:rPr lang="ru-RU" sz="713" kern="0" spc="-2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r>
              <a:rPr lang="en-US" sz="713" kern="0" spc="-2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°C </a:t>
            </a: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+30°C.</a:t>
            </a:r>
            <a:endParaRPr lang="en-US" sz="713" dirty="0"/>
          </a:p>
        </p:txBody>
      </p:sp>
      <p:sp>
        <p:nvSpPr>
          <p:cNvPr id="49" name="Text 44"/>
          <p:cNvSpPr/>
          <p:nvPr/>
        </p:nvSpPr>
        <p:spPr>
          <a:xfrm>
            <a:off x="5300663" y="3867150"/>
            <a:ext cx="581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 –15°C.</a:t>
            </a:r>
            <a:endParaRPr lang="en-US" sz="713" dirty="0"/>
          </a:p>
        </p:txBody>
      </p:sp>
      <p:sp>
        <p:nvSpPr>
          <p:cNvPr id="50" name="Text 45"/>
          <p:cNvSpPr/>
          <p:nvPr/>
        </p:nvSpPr>
        <p:spPr>
          <a:xfrm>
            <a:off x="1628775" y="4100513"/>
            <a:ext cx="704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48 ч после окраски можно применить только лёгкую очистку влажной мягкой тканью.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7 дней после окраски готовое покрытие можно очищать моющими средствами (рН 6–8) с помощью мягкой ткани или губки. </a:t>
            </a:r>
            <a:endParaRPr lang="en-US" sz="713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достигает своей окончательной твёрдости и стойкости в течение одного месяца после окраски (при 20°C окружающей среды). Максимальный промежуток времени между подготовкой поверхности и окраской — 16 часов.</a:t>
            </a:r>
            <a:endParaRPr lang="en-US" sz="713" dirty="0"/>
          </a:p>
        </p:txBody>
      </p:sp>
      <p:sp>
        <p:nvSpPr>
          <p:cNvPr id="51" name="Text 46"/>
          <p:cNvSpPr/>
          <p:nvPr/>
        </p:nvSpPr>
        <p:spPr>
          <a:xfrm>
            <a:off x="1628775" y="4700588"/>
            <a:ext cx="2533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0,75 / 2 / 8,5 л.</a:t>
            </a:r>
            <a:endParaRPr lang="en-US" sz="713" dirty="0"/>
          </a:p>
        </p:txBody>
      </p:sp>
      <p:sp>
        <p:nvSpPr>
          <p:cNvPr id="52" name="Text 47"/>
          <p:cNvSpPr/>
          <p:nvPr/>
        </p:nvSpPr>
        <p:spPr>
          <a:xfrm>
            <a:off x="5300661" y="4700588"/>
            <a:ext cx="16049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0,75 / 2,2 / 8 л.</a:t>
            </a:r>
            <a:endParaRPr lang="en-US" sz="71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chemeClr val="bg1">
                <a:lumMod val="95000"/>
              </a:schemeClr>
            </a:gs>
            <a:gs pos="33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09936" y="2762250"/>
            <a:ext cx="1946700" cy="1946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66449"/>
            <a:ext cx="1085850" cy="1786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862"/>
          <a:stretch/>
        </p:blipFill>
        <p:spPr>
          <a:xfrm>
            <a:off x="247650" y="3386138"/>
            <a:ext cx="3967163" cy="17573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5" cy="15112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977"/>
          <a:stretch/>
        </p:blipFill>
        <p:spPr>
          <a:xfrm>
            <a:off x="3300414" y="0"/>
            <a:ext cx="2948462" cy="14074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602" y="3471863"/>
            <a:ext cx="2057400" cy="16716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28613" y="381000"/>
            <a:ext cx="182073" cy="61544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73621" y="381000"/>
            <a:ext cx="56201" cy="61544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2758" y="381000"/>
            <a:ext cx="182073" cy="61544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044" y="381000"/>
            <a:ext cx="257170" cy="61544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3788" y="381000"/>
            <a:ext cx="201625" cy="615446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786313" y="381000"/>
            <a:ext cx="4357688" cy="66675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"/>
          <p:cNvSpPr/>
          <p:nvPr/>
        </p:nvSpPr>
        <p:spPr>
          <a:xfrm>
            <a:off x="4862513" y="1243013"/>
            <a:ext cx="384333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в качестве защитно-декоративного покрытия для чистых, ранее окрашенных и ржавых (с толщиной плотно держащейся ржавчины до 100 мкм) металлических поверхностей, эксплуатируемых в атмосферных условиях, а также внутри помещений. </a:t>
            </a:r>
            <a:endParaRPr lang="en-US" sz="855" dirty="0"/>
          </a:p>
        </p:txBody>
      </p:sp>
      <p:sp>
        <p:nvSpPr>
          <p:cNvPr id="16" name="Text 2"/>
          <p:cNvSpPr/>
          <p:nvPr/>
        </p:nvSpPr>
        <p:spPr>
          <a:xfrm>
            <a:off x="5462588" y="4020502"/>
            <a:ext cx="32432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Может наноситься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прямо на ржавчину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без предварительного </a:t>
            </a:r>
            <a:r>
              <a:rPr lang="en-US" sz="855" kern="0" spc="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грунтования</a:t>
            </a:r>
            <a:r>
              <a:rPr lang="en-US" sz="855" kern="0" spc="43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r>
              <a:rPr lang="ru-RU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ВОЗМОЖНО НАНЕСЕНИЕ НА ОЦИНКОВКУ.</a:t>
            </a:r>
            <a:endParaRPr lang="en-US" sz="855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48225" y="4000500"/>
            <a:ext cx="390525" cy="39052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5462588" y="19145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Срок службы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покрытия, подтвержденный испытаниями –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не менее 10 лет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19" name="Shape 4"/>
          <p:cNvSpPr/>
          <p:nvPr/>
        </p:nvSpPr>
        <p:spPr>
          <a:xfrm>
            <a:off x="4848225" y="1833563"/>
            <a:ext cx="385763" cy="385763"/>
          </a:xfrm>
          <a:prstGeom prst="rect">
            <a:avLst/>
          </a:prstGeom>
          <a:noFill/>
          <a:ln/>
        </p:spPr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48225" y="1833563"/>
            <a:ext cx="385763" cy="385763"/>
          </a:xfrm>
          <a:prstGeom prst="rect">
            <a:avLst/>
          </a:prstGeom>
        </p:spPr>
      </p:pic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4915188" y="1905627"/>
            <a:ext cx="250989" cy="261735"/>
          </a:xfrm>
          <a:prstGeom prst="rect">
            <a:avLst/>
          </a:prstGeom>
        </p:spPr>
      </p:pic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"/>
          <a:stretch/>
        </p:blipFill>
        <p:spPr>
          <a:xfrm>
            <a:off x="4986319" y="1939966"/>
            <a:ext cx="33505" cy="86198"/>
          </a:xfrm>
          <a:prstGeom prst="rect">
            <a:avLst/>
          </a:prstGeom>
        </p:spPr>
      </p:pic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3208" y="1938710"/>
            <a:ext cx="55801" cy="88606"/>
          </a:xfrm>
          <a:prstGeom prst="rect">
            <a:avLst/>
          </a:prstGeom>
        </p:spPr>
      </p:pic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2645" y="2044730"/>
            <a:ext cx="36919" cy="39644"/>
          </a:xfrm>
          <a:prstGeom prst="rect">
            <a:avLst/>
          </a:prstGeom>
        </p:spPr>
      </p:pic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3135" y="2044067"/>
            <a:ext cx="35105" cy="41040"/>
          </a:xfrm>
          <a:prstGeom prst="rect">
            <a:avLst/>
          </a:prstGeom>
        </p:spPr>
      </p:pic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9496" y="2044765"/>
            <a:ext cx="38174" cy="39609"/>
          </a:xfrm>
          <a:prstGeom prst="rect">
            <a:avLst/>
          </a:prstGeom>
        </p:spPr>
      </p:pic>
      <p:sp>
        <p:nvSpPr>
          <p:cNvPr id="27" name="Text 5"/>
          <p:cNvSpPr/>
          <p:nvPr/>
        </p:nvSpPr>
        <p:spPr>
          <a:xfrm>
            <a:off x="5462588" y="2286000"/>
            <a:ext cx="2595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 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температуре 20°С 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 относительной влажности воздуха 65±5%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 более 1 часа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</a:t>
            </a:r>
            <a:endParaRPr lang="en-US" sz="855" dirty="0"/>
          </a:p>
        </p:txBody>
      </p:sp>
      <p:sp>
        <p:nvSpPr>
          <p:cNvPr id="28" name="Shape 6"/>
          <p:cNvSpPr/>
          <p:nvPr/>
        </p:nvSpPr>
        <p:spPr>
          <a:xfrm>
            <a:off x="4848225" y="2262188"/>
            <a:ext cx="385763" cy="390525"/>
          </a:xfrm>
          <a:prstGeom prst="rect">
            <a:avLst/>
          </a:prstGeom>
          <a:noFill/>
          <a:ln/>
        </p:spPr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936164" y="2378666"/>
            <a:ext cx="209597" cy="212185"/>
          </a:xfrm>
          <a:prstGeom prst="rect">
            <a:avLst/>
          </a:prstGeom>
        </p:spPr>
      </p:pic>
      <p:pic>
        <p:nvPicPr>
          <p:cNvPr id="30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848225" y="2262188"/>
            <a:ext cx="385763" cy="390525"/>
          </a:xfrm>
          <a:prstGeom prst="rect">
            <a:avLst/>
          </a:prstGeom>
        </p:spPr>
      </p:pic>
      <p:pic>
        <p:nvPicPr>
          <p:cNvPr id="31" name="Image 22" descr="preencoded.png"/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085" y="2303875"/>
            <a:ext cx="61838" cy="53594"/>
          </a:xfrm>
          <a:prstGeom prst="rect">
            <a:avLst/>
          </a:prstGeom>
        </p:spPr>
      </p:pic>
      <p:pic>
        <p:nvPicPr>
          <p:cNvPr id="32" name="Image 23" descr="preencoded.png"/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2608" y="2353689"/>
            <a:ext cx="32026" cy="32423"/>
          </a:xfrm>
          <a:prstGeom prst="rect">
            <a:avLst/>
          </a:prstGeom>
        </p:spPr>
      </p:pic>
      <p:pic>
        <p:nvPicPr>
          <p:cNvPr id="33" name="Image 24" descr="preencoded.png"/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7336" y="2353689"/>
            <a:ext cx="32026" cy="32423"/>
          </a:xfrm>
          <a:prstGeom prst="rect">
            <a:avLst/>
          </a:prstGeom>
        </p:spPr>
      </p:pic>
      <p:pic>
        <p:nvPicPr>
          <p:cNvPr id="34" name="Image 25" descr="preencoded.png"/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"/>
          <a:stretch/>
        </p:blipFill>
        <p:spPr>
          <a:xfrm>
            <a:off x="5021033" y="2412512"/>
            <a:ext cx="27747" cy="72283"/>
          </a:xfrm>
          <a:prstGeom prst="rect">
            <a:avLst/>
          </a:prstGeom>
        </p:spPr>
      </p:pic>
      <p:pic>
        <p:nvPicPr>
          <p:cNvPr id="35" name="Image 26" descr="preencoded.png"/>
          <p:cNvPicPr>
            <a:picLocks noChangeAspect="1"/>
          </p:cNvPicPr>
          <p:nvPr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4986142" y="2506733"/>
            <a:ext cx="33747" cy="40169"/>
          </a:xfrm>
          <a:prstGeom prst="rect">
            <a:avLst/>
          </a:prstGeom>
        </p:spPr>
      </p:pic>
      <p:pic>
        <p:nvPicPr>
          <p:cNvPr id="36" name="Image 27" descr="preencoded.png"/>
          <p:cNvPicPr>
            <a:picLocks noChangeAspect="1"/>
          </p:cNvPicPr>
          <p:nvPr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4214" y="2506097"/>
            <a:ext cx="33710" cy="41511"/>
          </a:xfrm>
          <a:prstGeom prst="rect">
            <a:avLst/>
          </a:prstGeom>
        </p:spPr>
      </p:pic>
      <p:pic>
        <p:nvPicPr>
          <p:cNvPr id="37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5061170" y="2505956"/>
            <a:ext cx="34165" cy="41582"/>
          </a:xfrm>
          <a:prstGeom prst="rect">
            <a:avLst/>
          </a:prstGeom>
        </p:spPr>
      </p:pic>
      <p:sp>
        <p:nvSpPr>
          <p:cNvPr id="38" name="Text 7"/>
          <p:cNvSpPr/>
          <p:nvPr/>
        </p:nvSpPr>
        <p:spPr>
          <a:xfrm>
            <a:off x="5462588" y="27717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Придает поверхности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декоративный эффект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имитирующий удары молотком – чеканку;</a:t>
            </a:r>
            <a:endParaRPr lang="en-US" sz="855" dirty="0"/>
          </a:p>
        </p:txBody>
      </p:sp>
      <p:pic>
        <p:nvPicPr>
          <p:cNvPr id="39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4848225" y="2690813"/>
            <a:ext cx="385763" cy="390525"/>
          </a:xfrm>
          <a:prstGeom prst="rect">
            <a:avLst/>
          </a:prstGeom>
        </p:spPr>
      </p:pic>
      <p:sp>
        <p:nvSpPr>
          <p:cNvPr id="40" name="Text 8"/>
          <p:cNvSpPr/>
          <p:nvPr/>
        </p:nvSpPr>
        <p:spPr>
          <a:xfrm>
            <a:off x="5462588" y="3086100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Высокие антикоррозионные свойства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отличная кроющая способность и легкость нанесения делают этот материал прекрасным выбором в качестве защитно-декоративного покрытия для любых изделий из металла;</a:t>
            </a:r>
            <a:endParaRPr lang="en-US" sz="855" dirty="0"/>
          </a:p>
        </p:txBody>
      </p:sp>
      <p:pic>
        <p:nvPicPr>
          <p:cNvPr id="41" name="Image 30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4848225" y="3124200"/>
            <a:ext cx="385763" cy="385763"/>
          </a:xfrm>
          <a:prstGeom prst="rect">
            <a:avLst/>
          </a:prstGeom>
        </p:spPr>
      </p:pic>
      <p:sp>
        <p:nvSpPr>
          <p:cNvPr id="42" name="Text 9"/>
          <p:cNvSpPr/>
          <p:nvPr/>
        </p:nvSpPr>
        <p:spPr>
          <a:xfrm>
            <a:off x="5462588" y="363855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Скрывает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мелкие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неровности и дефекты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окрашиваемой поверхности;</a:t>
            </a:r>
            <a:endParaRPr lang="en-US" sz="855" dirty="0"/>
          </a:p>
        </p:txBody>
      </p:sp>
      <p:pic>
        <p:nvPicPr>
          <p:cNvPr id="43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4848225" y="3557588"/>
            <a:ext cx="385763" cy="390525"/>
          </a:xfrm>
          <a:prstGeom prst="rect">
            <a:avLst/>
          </a:prstGeom>
        </p:spPr>
      </p:pic>
      <p:sp>
        <p:nvSpPr>
          <p:cNvPr id="44" name="Text 10"/>
          <p:cNvSpPr/>
          <p:nvPr/>
        </p:nvSpPr>
        <p:spPr>
          <a:xfrm>
            <a:off x="5462588" y="4457700"/>
            <a:ext cx="324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Молотковый эффект достигается как при использовании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пульверизатора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так и при нанесении </a:t>
            </a:r>
            <a:r>
              <a:rPr lang="en-US" sz="855" b="1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кистью или валиком</a:t>
            </a: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pic>
        <p:nvPicPr>
          <p:cNvPr id="4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4848225" y="4433888"/>
            <a:ext cx="385763" cy="385763"/>
          </a:xfrm>
          <a:prstGeom prst="rect">
            <a:avLst/>
          </a:prstGeom>
        </p:spPr>
      </p:pic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4872986" y="4540847"/>
            <a:ext cx="336240" cy="183552"/>
          </a:xfrm>
          <a:prstGeom prst="rect">
            <a:avLst/>
          </a:prstGeom>
        </p:spPr>
      </p:pic>
      <p:sp>
        <p:nvSpPr>
          <p:cNvPr id="47" name="Text 11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855" dirty="0"/>
          </a:p>
        </p:txBody>
      </p:sp>
      <p:sp>
        <p:nvSpPr>
          <p:cNvPr id="48" name="Text 12"/>
          <p:cNvSpPr/>
          <p:nvPr/>
        </p:nvSpPr>
        <p:spPr>
          <a:xfrm>
            <a:off x="4862513" y="496252"/>
            <a:ext cx="42052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9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</a:t>
            </a: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молотковым</a:t>
            </a: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эффектом </a:t>
            </a:r>
            <a:endParaRPr lang="en-US" sz="1425" dirty="0"/>
          </a:p>
          <a:p>
            <a:pPr marL="0" indent="0" algn="l">
              <a:lnSpc>
                <a:spcPts val="1739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для </a:t>
            </a: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металла</a:t>
            </a: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TITAN</a:t>
            </a:r>
            <a:endParaRPr lang="en-US" sz="1425" dirty="0"/>
          </a:p>
        </p:txBody>
      </p:sp>
      <p:pic>
        <p:nvPicPr>
          <p:cNvPr id="3074" name="Picture 2" descr="E:\ПРОДУКЦИЯ 3D\TITAN\2026\Эмаль с молотковым эффектом\80143_Эмаль с молотковым эффектом ОРЕОЛ TITAN, 1л коричневая 117х321мм.png"/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84" y="1149459"/>
            <a:ext cx="2401094" cy="311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chemeClr val="bg1">
                <a:lumMod val="95000"/>
              </a:schemeClr>
            </a:gs>
            <a:gs pos="4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28763" y="1600200"/>
            <a:ext cx="1462088" cy="576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76475" y="1462088"/>
            <a:ext cx="63341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Золотистый</a:t>
            </a:r>
            <a:endParaRPr lang="en-US" sz="85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8763" y="2638425"/>
            <a:ext cx="1462088" cy="5762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85988" y="2500313"/>
            <a:ext cx="7239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Серебристый</a:t>
            </a:r>
            <a:endParaRPr lang="en-US" sz="855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28763" y="3676650"/>
            <a:ext cx="1462088" cy="5762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57425" y="3538538"/>
            <a:ext cx="6524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Коричневый</a:t>
            </a:r>
            <a:endParaRPr lang="en-US" sz="855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57675" y="1600200"/>
            <a:ext cx="1462088" cy="5762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4463" y="1462088"/>
            <a:ext cx="4143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Черный</a:t>
            </a:r>
            <a:endParaRPr lang="en-US" sz="855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57675" y="2638425"/>
            <a:ext cx="1462088" cy="57626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200650" y="2500313"/>
            <a:ext cx="4381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Медный</a:t>
            </a:r>
            <a:endParaRPr lang="en-US" sz="855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57675" y="3676650"/>
            <a:ext cx="1462088" cy="57626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814888" y="3538538"/>
            <a:ext cx="82391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Темно-зеленый</a:t>
            </a:r>
            <a:endParaRPr lang="en-US" sz="855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87551" y="601028"/>
            <a:ext cx="2813800" cy="2738056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535" y="570548"/>
            <a:ext cx="2685213" cy="2738056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0" y="390525"/>
            <a:ext cx="5691188" cy="433388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7"/>
          <p:cNvSpPr/>
          <p:nvPr/>
        </p:nvSpPr>
        <p:spPr>
          <a:xfrm>
            <a:off x="6305550" y="390525"/>
            <a:ext cx="2838450" cy="433388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8"/>
          <p:cNvSpPr/>
          <p:nvPr/>
        </p:nvSpPr>
        <p:spPr>
          <a:xfrm>
            <a:off x="6305550" y="51816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71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ЦВЕТОВАЯ ПАЛИТРА</a:t>
            </a:r>
            <a:endParaRPr lang="en-US" sz="171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58"/>
          <a:stretch/>
        </p:blipFill>
        <p:spPr>
          <a:xfrm>
            <a:off x="5953125" y="3792612"/>
            <a:ext cx="2895014" cy="1350888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535" y="1576388"/>
            <a:ext cx="2685213" cy="2738056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9535" y="2699385"/>
            <a:ext cx="2685213" cy="2495550"/>
          </a:xfrm>
          <a:prstGeom prst="rect">
            <a:avLst/>
          </a:prstGeom>
        </p:spPr>
      </p:pic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687551" y="1614488"/>
            <a:ext cx="2813800" cy="2738056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588897" y="2707005"/>
            <a:ext cx="2813800" cy="249555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8682038" y="4752975"/>
            <a:ext cx="71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855" dirty="0"/>
          </a:p>
        </p:txBody>
      </p:sp>
      <p:sp>
        <p:nvSpPr>
          <p:cNvPr id="26" name="Text 10"/>
          <p:cNvSpPr/>
          <p:nvPr/>
        </p:nvSpPr>
        <p:spPr>
          <a:xfrm>
            <a:off x="7620" y="495300"/>
            <a:ext cx="5614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425" kern="0" spc="-31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молотковым эффектом для металла TITAN</a:t>
            </a:r>
            <a:endParaRPr lang="en-US" sz="1425" dirty="0"/>
          </a:p>
        </p:txBody>
      </p:sp>
      <p:pic>
        <p:nvPicPr>
          <p:cNvPr id="27" name="Picture 2" descr="E:\ПРОДУКЦИЯ 3D\TITAN\2026\Эмаль с молотковым эффектом\80143_Эмаль с молотковым эффектом ОРЕОЛ TITAN, 1л коричневая 117х321мм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877" y="1734283"/>
            <a:ext cx="2071510" cy="268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4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365760"/>
            <a:ext cx="3895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ТЕХНИЧЕСКИЕ ХАРАКТЕРИСТИКИ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19100" y="1438275"/>
            <a:ext cx="1171575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666875"/>
            <a:ext cx="1171575" cy="3810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2205038"/>
            <a:ext cx="1171575" cy="1905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047875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728913"/>
            <a:ext cx="1171575" cy="180975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2552700"/>
            <a:ext cx="1171575" cy="17621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909888"/>
            <a:ext cx="1171575" cy="4953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405188"/>
            <a:ext cx="1171575" cy="190500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100" y="4238625"/>
            <a:ext cx="1171575" cy="180975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4419600"/>
            <a:ext cx="8301038" cy="438150"/>
          </a:xfrm>
          <a:prstGeom prst="rect">
            <a:avLst/>
          </a:prstGeom>
          <a:solidFill>
            <a:srgbClr val="FFFFFF">
              <a:alpha val="6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595688"/>
            <a:ext cx="1171575" cy="642938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2395538"/>
            <a:ext cx="1171575" cy="157163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90675" y="1438275"/>
            <a:ext cx="7129463" cy="22860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0013" y="271463"/>
            <a:ext cx="1126248" cy="1004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67313" y="1062038"/>
            <a:ext cx="1181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Инструмент нанесения</a:t>
            </a:r>
            <a:endParaRPr lang="en-US" sz="855" dirty="0"/>
          </a:p>
        </p:txBody>
      </p:sp>
      <p:sp>
        <p:nvSpPr>
          <p:cNvPr id="19" name="Text 16"/>
          <p:cNvSpPr/>
          <p:nvPr/>
        </p:nvSpPr>
        <p:spPr>
          <a:xfrm>
            <a:off x="6557963" y="1062038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Область применения</a:t>
            </a:r>
            <a:endParaRPr lang="en-US" sz="855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7800" y="433388"/>
            <a:ext cx="1003278" cy="5476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52375" y="433388"/>
            <a:ext cx="928688" cy="547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7E7E7E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endParaRPr lang="en-US" sz="855" dirty="0"/>
          </a:p>
        </p:txBody>
      </p:sp>
      <p:sp>
        <p:nvSpPr>
          <p:cNvPr id="23" name="Text 18"/>
          <p:cNvSpPr/>
          <p:nvPr/>
        </p:nvSpPr>
        <p:spPr>
          <a:xfrm>
            <a:off x="1628775" y="1462088"/>
            <a:ext cx="70532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68"/>
              </a:lnSpc>
              <a:buNone/>
            </a:pPr>
            <a:r>
              <a:rPr lang="en-US" sz="1140" kern="0" spc="-25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с молотковым эффектом для металла TITAN</a:t>
            </a:r>
            <a:endParaRPr lang="en-US" sz="1140" dirty="0"/>
          </a:p>
        </p:txBody>
      </p:sp>
      <p:sp>
        <p:nvSpPr>
          <p:cNvPr id="24" name="Text 19"/>
          <p:cNvSpPr/>
          <p:nvPr/>
        </p:nvSpPr>
        <p:spPr>
          <a:xfrm>
            <a:off x="457200" y="1814513"/>
            <a:ext cx="1095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Назначение</a:t>
            </a:r>
            <a:endParaRPr lang="en-US" sz="713" dirty="0"/>
          </a:p>
        </p:txBody>
      </p:sp>
      <p:sp>
        <p:nvSpPr>
          <p:cNvPr id="25" name="Text 20"/>
          <p:cNvSpPr/>
          <p:nvPr/>
        </p:nvSpPr>
        <p:spPr>
          <a:xfrm>
            <a:off x="457200" y="20764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Степень блеска</a:t>
            </a:r>
            <a:endParaRPr lang="en-US" sz="713" dirty="0"/>
          </a:p>
        </p:txBody>
      </p:sp>
      <p:sp>
        <p:nvSpPr>
          <p:cNvPr id="26" name="Text 21"/>
          <p:cNvSpPr/>
          <p:nvPr/>
        </p:nvSpPr>
        <p:spPr>
          <a:xfrm>
            <a:off x="457200" y="22431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</a:t>
            </a:r>
            <a:endParaRPr lang="en-US" sz="713" dirty="0"/>
          </a:p>
        </p:txBody>
      </p:sp>
      <p:sp>
        <p:nvSpPr>
          <p:cNvPr id="27" name="Text 22"/>
          <p:cNvSpPr/>
          <p:nvPr/>
        </p:nvSpPr>
        <p:spPr>
          <a:xfrm>
            <a:off x="457200" y="24193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Связующее</a:t>
            </a:r>
            <a:endParaRPr lang="en-US" sz="713" dirty="0"/>
          </a:p>
        </p:txBody>
      </p:sp>
      <p:sp>
        <p:nvSpPr>
          <p:cNvPr id="28" name="Text 23"/>
          <p:cNvSpPr/>
          <p:nvPr/>
        </p:nvSpPr>
        <p:spPr>
          <a:xfrm>
            <a:off x="457200" y="258603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Разбавление</a:t>
            </a:r>
            <a:endParaRPr lang="en-US" sz="713" dirty="0"/>
          </a:p>
        </p:txBody>
      </p:sp>
      <p:sp>
        <p:nvSpPr>
          <p:cNvPr id="29" name="Text 24"/>
          <p:cNvSpPr/>
          <p:nvPr/>
        </p:nvSpPr>
        <p:spPr>
          <a:xfrm>
            <a:off x="457200" y="2762250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</a:t>
            </a:r>
            <a:endParaRPr lang="en-US" sz="713" dirty="0"/>
          </a:p>
        </p:txBody>
      </p:sp>
      <p:sp>
        <p:nvSpPr>
          <p:cNvPr id="30" name="Text 25"/>
          <p:cNvSpPr/>
          <p:nvPr/>
        </p:nvSpPr>
        <p:spPr>
          <a:xfrm>
            <a:off x="457200" y="2967990"/>
            <a:ext cx="10191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13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Условия нанесения</a:t>
            </a:r>
          </a:p>
        </p:txBody>
      </p:sp>
      <p:sp>
        <p:nvSpPr>
          <p:cNvPr id="31" name="Text 26"/>
          <p:cNvSpPr/>
          <p:nvPr/>
        </p:nvSpPr>
        <p:spPr>
          <a:xfrm>
            <a:off x="457200" y="3443288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нанесения</a:t>
            </a:r>
            <a:endParaRPr lang="en-US" sz="713" dirty="0"/>
          </a:p>
        </p:txBody>
      </p:sp>
      <p:sp>
        <p:nvSpPr>
          <p:cNvPr id="32" name="Text 27"/>
          <p:cNvSpPr/>
          <p:nvPr/>
        </p:nvSpPr>
        <p:spPr>
          <a:xfrm>
            <a:off x="457200" y="3805237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Эксплуатация поверхности</a:t>
            </a:r>
            <a:endParaRPr lang="en-US" sz="713" dirty="0"/>
          </a:p>
        </p:txBody>
      </p:sp>
      <p:sp>
        <p:nvSpPr>
          <p:cNvPr id="33" name="Text 28"/>
          <p:cNvSpPr/>
          <p:nvPr/>
        </p:nvSpPr>
        <p:spPr>
          <a:xfrm>
            <a:off x="457200" y="4271963"/>
            <a:ext cx="1095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13" b="1" kern="0" spc="-2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Фасовка</a:t>
            </a:r>
            <a:endParaRPr lang="en-US" sz="713" dirty="0"/>
          </a:p>
        </p:txBody>
      </p:sp>
      <p:sp>
        <p:nvSpPr>
          <p:cNvPr id="34" name="Text 29"/>
          <p:cNvSpPr/>
          <p:nvPr/>
        </p:nvSpPr>
        <p:spPr>
          <a:xfrm>
            <a:off x="466725" y="4500563"/>
            <a:ext cx="822483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b="1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Рекомендации по нанесению молотковой эмали пневмораспылением: </a:t>
            </a: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Необходимо разбавить материал 20% (ксилола) по объёму, сопло 1.7 мм, </a:t>
            </a:r>
            <a:endParaRPr lang="en-US" sz="855" dirty="0"/>
          </a:p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давление 1-1,5 – атмосфер.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1647825" y="1743075"/>
            <a:ext cx="7005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Применяется в качестве защитно-декоративного покрытия для чистых, ранее окрашенных и ржавых (с остатками плотно держащейся ржавчины) металлических поверхностей, эксплуатируемых в атмосферных условиях, а также внутри помещений.</a:t>
            </a:r>
            <a:endParaRPr lang="en-US" sz="855" dirty="0"/>
          </a:p>
        </p:txBody>
      </p:sp>
      <p:sp>
        <p:nvSpPr>
          <p:cNvPr id="36" name="Text 31"/>
          <p:cNvSpPr/>
          <p:nvPr/>
        </p:nvSpPr>
        <p:spPr>
          <a:xfrm>
            <a:off x="1647825" y="2071688"/>
            <a:ext cx="1690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Глянцевая.</a:t>
            </a:r>
            <a:endParaRPr lang="en-US" sz="855" dirty="0"/>
          </a:p>
        </p:txBody>
      </p:sp>
      <p:sp>
        <p:nvSpPr>
          <p:cNvPr id="37" name="Text 32"/>
          <p:cNvSpPr/>
          <p:nvPr/>
        </p:nvSpPr>
        <p:spPr>
          <a:xfrm>
            <a:off x="1647825" y="2243138"/>
            <a:ext cx="5538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Время высыхания при температуре +20°С и относительной влажности воздуха 65±5% не более 1 часа.</a:t>
            </a:r>
            <a:endParaRPr lang="en-US" sz="855" dirty="0"/>
          </a:p>
        </p:txBody>
      </p:sp>
      <p:sp>
        <p:nvSpPr>
          <p:cNvPr id="38" name="Text 33"/>
          <p:cNvSpPr/>
          <p:nvPr/>
        </p:nvSpPr>
        <p:spPr>
          <a:xfrm>
            <a:off x="1647825" y="2409825"/>
            <a:ext cx="24050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Стирол-модифицированная алкидная смола.</a:t>
            </a:r>
            <a:endParaRPr lang="en-US" sz="855" dirty="0"/>
          </a:p>
        </p:txBody>
      </p:sp>
      <p:sp>
        <p:nvSpPr>
          <p:cNvPr id="39" name="Text 34"/>
          <p:cNvSpPr/>
          <p:nvPr/>
        </p:nvSpPr>
        <p:spPr>
          <a:xfrm>
            <a:off x="1647825" y="2576513"/>
            <a:ext cx="19050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ru-RU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</a:t>
            </a:r>
            <a:r>
              <a:rPr lang="en-US" sz="855" kern="0" spc="-26" dirty="0" err="1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силол</a:t>
            </a: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855" dirty="0"/>
          </a:p>
        </p:txBody>
      </p:sp>
      <p:sp>
        <p:nvSpPr>
          <p:cNvPr id="40" name="Text 35"/>
          <p:cNvSpPr/>
          <p:nvPr/>
        </p:nvSpPr>
        <p:spPr>
          <a:xfrm>
            <a:off x="1647825" y="2752725"/>
            <a:ext cx="674846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однослойном покрытии — в зависимости от цвета, способа нанесения, подготовки и фактуры поверхности: 60–120 г/м².</a:t>
            </a:r>
            <a:endParaRPr lang="en-US" sz="855" dirty="0"/>
          </a:p>
        </p:txBody>
      </p:sp>
      <p:sp>
        <p:nvSpPr>
          <p:cNvPr id="41" name="Text 36"/>
          <p:cNvSpPr/>
          <p:nvPr/>
        </p:nvSpPr>
        <p:spPr>
          <a:xfrm>
            <a:off x="1647825" y="3001328"/>
            <a:ext cx="7005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55"/>
              </a:lnSpc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Для наилучшего проявления молоткового эффекта рекомендуется наносить в 2–3 слоя на горизонтальную поверхность методом распыления. </a:t>
            </a:r>
            <a:r>
              <a:rPr lang="ru-RU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Каждый последующий слой наносить через 40 мин, но не позднее, чем через 2 ч. 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 невозможности соблюсти указанный интервал, последующий слой можно наносить не ранее, чем </a:t>
            </a:r>
            <a:r>
              <a:rPr lang="en-US" sz="855" kern="0" spc="-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 </a:t>
            </a:r>
            <a:r>
              <a:rPr lang="ru-RU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недели</a:t>
            </a:r>
            <a:r>
              <a:rPr lang="en-US" sz="855" kern="0" spc="-9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Рекомендованная толщина одного слоя — 30–40 мкм сухой плёнки.</a:t>
            </a:r>
            <a:endParaRPr lang="en-US" sz="855" dirty="0"/>
          </a:p>
        </p:txBody>
      </p:sp>
      <p:sp>
        <p:nvSpPr>
          <p:cNvPr id="42" name="Text 37"/>
          <p:cNvSpPr/>
          <p:nvPr/>
        </p:nvSpPr>
        <p:spPr>
          <a:xfrm>
            <a:off x="1647825" y="3429000"/>
            <a:ext cx="52578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Температура при проведении работ — от +10°C до +30°C, влажность воздуха — не выше 80%.</a:t>
            </a:r>
            <a:endParaRPr lang="en-US" sz="855" dirty="0"/>
          </a:p>
        </p:txBody>
      </p:sp>
      <p:sp>
        <p:nvSpPr>
          <p:cNvPr id="43" name="Text 38"/>
          <p:cNvSpPr/>
          <p:nvPr/>
        </p:nvSpPr>
        <p:spPr>
          <a:xfrm>
            <a:off x="1647825" y="3690937"/>
            <a:ext cx="7005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48 часов после окраски можно применять только лёгкую очистку влажной мягкой тканью.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Через 7 дней после окраски готовое покрытие можно очищать моющими средствами (pH 6–8) с помощью мягкой ткани или губки.</a:t>
            </a:r>
            <a:endParaRPr lang="en-US" sz="855" dirty="0"/>
          </a:p>
          <a:p>
            <a:pPr marL="0" indent="0" algn="l">
              <a:lnSpc>
                <a:spcPts val="855"/>
              </a:lnSpc>
              <a:buNone/>
            </a:pPr>
            <a:r>
              <a:rPr lang="en-US" sz="855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Покрытие достигает своей окончательной твёрдости и стойкости в течение одного месяца после окраски (при +20°C окружающей среды). Максимальный промежуток времени между подготовкой поверхности и окраской — 16 часов.</a:t>
            </a:r>
            <a:endParaRPr lang="en-US" sz="855" dirty="0"/>
          </a:p>
        </p:txBody>
      </p:sp>
      <p:sp>
        <p:nvSpPr>
          <p:cNvPr id="44" name="Text 39"/>
          <p:cNvSpPr/>
          <p:nvPr/>
        </p:nvSpPr>
        <p:spPr>
          <a:xfrm>
            <a:off x="1647825" y="4262438"/>
            <a:ext cx="100488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0,8 / 2,5 л.</a:t>
            </a:r>
            <a:endParaRPr lang="en-US" sz="8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61000">
              <a:srgbClr val="AAAAAA"/>
            </a:gs>
            <a:gs pos="12000">
              <a:schemeClr val="bg1">
                <a:lumMod val="95000"/>
              </a:schemeClr>
            </a:gs>
            <a:gs pos="100000">
              <a:schemeClr val="tx1">
                <a:lumMod val="50000"/>
                <a:lumOff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73" b="5650"/>
          <a:stretch/>
        </p:blipFill>
        <p:spPr>
          <a:xfrm>
            <a:off x="-366709" y="3348038"/>
            <a:ext cx="1565700" cy="180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3020" y="0"/>
            <a:ext cx="922020" cy="4524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800" y="2828925"/>
            <a:ext cx="1604963" cy="2319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42913" y="4129088"/>
            <a:ext cx="1166813" cy="10144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42913" y="2271713"/>
            <a:ext cx="1166813" cy="1857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519113" y="2302193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Empils ОРЕОЛ TITAN чёрный RAL 9005 0.75 л, 0.75 кг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1866900" y="2128838"/>
            <a:ext cx="1166813" cy="19526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866900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411" y="2700815"/>
            <a:ext cx="1387497" cy="1714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7863" y="22336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3 в 1 Elcon глянцевая чёрная RAL 9005, 0.8 кг</a:t>
            </a:r>
            <a:endParaRPr lang="en-US" sz="855" dirty="0"/>
          </a:p>
        </p:txBody>
      </p:sp>
      <p:sp>
        <p:nvSpPr>
          <p:cNvPr id="12" name="Text 6"/>
          <p:cNvSpPr/>
          <p:nvPr/>
        </p:nvSpPr>
        <p:spPr>
          <a:xfrm>
            <a:off x="3290888" y="1824038"/>
            <a:ext cx="1166813" cy="21812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32908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53557" y="2576512"/>
            <a:ext cx="1396036" cy="1633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71850" y="1943100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Dufa CORREX 3 в 1 для металла </a:t>
            </a: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ржавчине</a:t>
            </a: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RAL 9005, чёрный, 0.75 л</a:t>
            </a:r>
            <a:endParaRPr lang="en-US" sz="855" dirty="0"/>
          </a:p>
        </p:txBody>
      </p:sp>
      <p:sp>
        <p:nvSpPr>
          <p:cNvPr id="16" name="Text 9"/>
          <p:cNvSpPr/>
          <p:nvPr/>
        </p:nvSpPr>
        <p:spPr>
          <a:xfrm>
            <a:off x="4714875" y="1747838"/>
            <a:ext cx="1166813" cy="20859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4714875" y="3595688"/>
            <a:ext cx="1166813" cy="15478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50362" y="2440780"/>
            <a:ext cx="1479128" cy="16335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95838" y="185356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Dali 3 в 1, чёрная RAL 9005, 0.75 л</a:t>
            </a:r>
            <a:endParaRPr lang="en-US" sz="855" dirty="0"/>
          </a:p>
        </p:txBody>
      </p:sp>
      <p:sp>
        <p:nvSpPr>
          <p:cNvPr id="20" name="Text 12"/>
          <p:cNvSpPr/>
          <p:nvPr/>
        </p:nvSpPr>
        <p:spPr>
          <a:xfrm>
            <a:off x="6138863" y="1619250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6138863" y="3400425"/>
            <a:ext cx="1166813" cy="1743075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43613" y="2233612"/>
            <a:ext cx="1361247" cy="165973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19825" y="1747838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по металлу HUSKY KLONDIKE глянцевая, чёрная, RAL 9005; 0.9 л</a:t>
            </a:r>
            <a:endParaRPr lang="en-US" sz="855" dirty="0"/>
          </a:p>
        </p:txBody>
      </p:sp>
      <p:sp>
        <p:nvSpPr>
          <p:cNvPr id="24" name="Text 15"/>
          <p:cNvSpPr/>
          <p:nvPr/>
        </p:nvSpPr>
        <p:spPr>
          <a:xfrm>
            <a:off x="7562850" y="1157288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6"/>
          <p:cNvSpPr/>
          <p:nvPr/>
        </p:nvSpPr>
        <p:spPr>
          <a:xfrm>
            <a:off x="7562850" y="2957513"/>
            <a:ext cx="1166813" cy="21859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437207" y="1734981"/>
            <a:ext cx="1427624" cy="17145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643813" y="128587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для металла Tikkurila METALLISTA по ржавчине 3 в 1,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51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л, чёрная</a:t>
            </a:r>
            <a:endParaRPr lang="en-US" sz="855" dirty="0"/>
          </a:p>
        </p:txBody>
      </p:sp>
      <p:sp>
        <p:nvSpPr>
          <p:cNvPr id="28" name="Text 18"/>
          <p:cNvSpPr/>
          <p:nvPr/>
        </p:nvSpPr>
        <p:spPr>
          <a:xfrm>
            <a:off x="419100" y="747713"/>
            <a:ext cx="833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для металла TITAN глянцевая</a:t>
            </a:r>
            <a:endParaRPr lang="en-US" sz="2280" dirty="0"/>
          </a:p>
        </p:txBody>
      </p:sp>
      <p:sp>
        <p:nvSpPr>
          <p:cNvPr id="29" name="Text 19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114300" y="418148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2000" dirty="0"/>
          </a:p>
        </p:txBody>
      </p:sp>
      <p:sp>
        <p:nvSpPr>
          <p:cNvPr id="31" name="Text 21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59631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855" dirty="0"/>
          </a:p>
        </p:txBody>
      </p:sp>
      <p:sp>
        <p:nvSpPr>
          <p:cNvPr id="35" name="Text 23"/>
          <p:cNvSpPr/>
          <p:nvPr/>
        </p:nvSpPr>
        <p:spPr>
          <a:xfrm>
            <a:off x="519113" y="452913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872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6" name="Text 24"/>
          <p:cNvSpPr/>
          <p:nvPr/>
        </p:nvSpPr>
        <p:spPr>
          <a:xfrm>
            <a:off x="1943100" y="4476750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958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7" name="Text 25"/>
          <p:cNvSpPr/>
          <p:nvPr/>
        </p:nvSpPr>
        <p:spPr>
          <a:xfrm>
            <a:off x="3367088" y="436245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1020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8" name="Text 26"/>
          <p:cNvSpPr/>
          <p:nvPr/>
        </p:nvSpPr>
        <p:spPr>
          <a:xfrm>
            <a:off x="4795838" y="419100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1055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9" name="Text 27"/>
          <p:cNvSpPr/>
          <p:nvPr/>
        </p:nvSpPr>
        <p:spPr>
          <a:xfrm>
            <a:off x="6219825" y="4157663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1153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40" name="Text 28"/>
          <p:cNvSpPr/>
          <p:nvPr/>
        </p:nvSpPr>
        <p:spPr>
          <a:xfrm>
            <a:off x="7634288" y="39338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2085</a:t>
            </a:r>
            <a:r>
              <a:rPr lang="en-US" sz="1425" b="1" kern="0" spc="71" dirty="0">
                <a:solidFill>
                  <a:srgbClr val="F5E1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pic>
        <p:nvPicPr>
          <p:cNvPr id="41" name="Picture 3" descr="E:\ПРОДУКЦИЯ 3D\TITAN\2026\Грунт-эмаль 3 в 1\1 L\80151_Грунт-эмаль 3 в 1 ОРЕОЛ TITAN, 1л белый117х321мм.png"/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" y="3134846"/>
            <a:ext cx="889734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1">
          <a:gsLst>
            <a:gs pos="41000">
              <a:srgbClr val="D2D2D2"/>
            </a:gs>
            <a:gs pos="9000">
              <a:schemeClr val="bg1">
                <a:lumMod val="95000"/>
              </a:schemeClr>
            </a:gs>
            <a:gs pos="90000">
              <a:schemeClr val="tx1">
                <a:lumMod val="65000"/>
                <a:lumOff val="3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28609" y="3924300"/>
            <a:ext cx="1603800" cy="1233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8800" y="0"/>
            <a:ext cx="899160" cy="51434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25"/>
          <a:stretch/>
        </p:blipFill>
        <p:spPr>
          <a:xfrm>
            <a:off x="7553325" y="1924050"/>
            <a:ext cx="1595438" cy="29432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19100" y="742950"/>
            <a:ext cx="581977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36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Грунт-эмаль для металла TITAN быстросохнущая матовая</a:t>
            </a:r>
            <a:endParaRPr lang="en-US" sz="2280" dirty="0"/>
          </a:p>
        </p:txBody>
      </p:sp>
      <p:sp>
        <p:nvSpPr>
          <p:cNvPr id="6" name="Text 1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90500" y="42005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200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238875" y="1390650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238875" y="3162300"/>
            <a:ext cx="1166813" cy="1981200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281738" y="1509713"/>
            <a:ext cx="108584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5 в 1 Новбытхим, серый, RAL 7040,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0.75 л</a:t>
            </a:r>
            <a:endParaRPr lang="en-US" sz="85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1280" y="2145983"/>
            <a:ext cx="770399" cy="10906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38313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738313" y="1905000"/>
            <a:ext cx="1166813" cy="2081212"/>
          </a:xfrm>
          <a:prstGeom prst="rect">
            <a:avLst/>
          </a:prstGeom>
          <a:solidFill>
            <a:srgbClr val="ED66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738312" y="2057400"/>
            <a:ext cx="1159957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 Грунт-эмаль быстросохнущая ОРЕОЛ TITAN </a:t>
            </a:r>
          </a:p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матовая</a:t>
            </a: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серая, </a:t>
            </a:r>
          </a:p>
          <a:p>
            <a:pPr marL="0" indent="0" algn="ctr">
              <a:lnSpc>
                <a:spcPts val="1094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0.75 л, 0.9 кг</a:t>
            </a:r>
            <a:endParaRPr lang="en-US" sz="855" dirty="0"/>
          </a:p>
        </p:txBody>
      </p:sp>
      <p:sp>
        <p:nvSpPr>
          <p:cNvPr id="15" name="Text 9"/>
          <p:cNvSpPr/>
          <p:nvPr/>
        </p:nvSpPr>
        <p:spPr>
          <a:xfrm>
            <a:off x="3238500" y="1905000"/>
            <a:ext cx="1166813" cy="22383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3238500" y="3986213"/>
            <a:ext cx="1166813" cy="11572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245356" y="2009775"/>
            <a:ext cx="115995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Быстросохнущая грунт-эмаль                по металлу </a:t>
            </a:r>
            <a:r>
              <a:rPr lang="en-US" sz="855" kern="0" spc="-9" dirty="0" err="1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Elcon</a:t>
            </a: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в 1 по ржавчине, матовая, серая,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кг</a:t>
            </a:r>
            <a:endParaRPr lang="en-US" sz="855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80052" y="2921318"/>
            <a:ext cx="879732" cy="11953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38688" y="1685925"/>
            <a:ext cx="1166813" cy="218122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47386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738688" y="1804988"/>
            <a:ext cx="116681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ЛАКРА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PROF IT 4 в 1, быстросохнущая, графит, RAL 7024, </a:t>
            </a: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 кг</a:t>
            </a:r>
            <a:endParaRPr lang="en-US" sz="855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14900" y="2734628"/>
            <a:ext cx="826954" cy="11287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855" dirty="0"/>
          </a:p>
        </p:txBody>
      </p:sp>
      <p:sp>
        <p:nvSpPr>
          <p:cNvPr id="25" name="Text 16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814513" y="447198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765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28" name="Text 18"/>
          <p:cNvSpPr/>
          <p:nvPr/>
        </p:nvSpPr>
        <p:spPr>
          <a:xfrm>
            <a:off x="3319463" y="447198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765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29" name="Text 19"/>
          <p:cNvSpPr/>
          <p:nvPr/>
        </p:nvSpPr>
        <p:spPr>
          <a:xfrm>
            <a:off x="4814888" y="43529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838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0" name="Text 20"/>
          <p:cNvSpPr/>
          <p:nvPr/>
        </p:nvSpPr>
        <p:spPr>
          <a:xfrm>
            <a:off x="6315075" y="403860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906</a:t>
            </a:r>
            <a:r>
              <a:rPr lang="en-US" sz="1425" b="1" kern="0" spc="71" dirty="0">
                <a:solidFill>
                  <a:srgbClr val="ED660A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pic>
        <p:nvPicPr>
          <p:cNvPr id="31" name="Picture 2" descr="E:\ПРОДУКЦИЯ 3D\TITAN\2026\Грунт-эмаль матовая\83347_Этикетка смет Грунт-эмаль быстросохнущая ОРЕОЛ TITAN МАТОВАЯ, 1л чёрная.png"/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66253" y="2990204"/>
            <a:ext cx="904074" cy="117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1">
          <a:gsLst>
            <a:gs pos="37000">
              <a:schemeClr val="bg1">
                <a:lumMod val="85000"/>
              </a:schemeClr>
            </a:gs>
            <a:gs pos="0">
              <a:schemeClr val="bg1">
                <a:lumMod val="95000"/>
              </a:schemeClr>
            </a:gs>
            <a:gs pos="73000">
              <a:srgbClr val="868686"/>
            </a:gs>
            <a:gs pos="100000">
              <a:schemeClr val="tx1">
                <a:lumMod val="65000"/>
                <a:lumOff val="3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73" b="5650"/>
          <a:stretch/>
        </p:blipFill>
        <p:spPr>
          <a:xfrm>
            <a:off x="-366709" y="3348038"/>
            <a:ext cx="1565700" cy="1809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35880" y="-9526"/>
            <a:ext cx="914400" cy="46196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3800" y="2828925"/>
            <a:ext cx="1604963" cy="23193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14875" y="1843088"/>
            <a:ext cx="1166813" cy="188595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714875" y="3490913"/>
            <a:ext cx="1166813" cy="165258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795838" y="19288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Грунт-эмаль по ржавчине Dali 3 в 1 молотковая золотистая 0.75 л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6138863" y="1495425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138863" y="3328988"/>
            <a:ext cx="1166813" cy="181451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219825" y="1590675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Кузнечная краска с молотковым эффектом Elcon золото 0.8 кг</a:t>
            </a:r>
            <a:endParaRPr lang="en-US" sz="855" dirty="0"/>
          </a:p>
        </p:txBody>
      </p:sp>
      <p:sp>
        <p:nvSpPr>
          <p:cNvPr id="11" name="Text 6"/>
          <p:cNvSpPr/>
          <p:nvPr/>
        </p:nvSpPr>
        <p:spPr>
          <a:xfrm>
            <a:off x="7562850" y="1138238"/>
            <a:ext cx="1166813" cy="2009775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562850" y="3043238"/>
            <a:ext cx="1166813" cy="2100263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643813" y="1228725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Краска по металлу</a:t>
            </a:r>
            <a:endParaRPr lang="en-US" sz="855" dirty="0"/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 молотковым эффектом </a:t>
            </a:r>
            <a:endParaRPr lang="en-US" sz="855" dirty="0"/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HUSKY KLONDIKE золото; 0.9 л</a:t>
            </a:r>
            <a:endParaRPr lang="en-US" sz="855" dirty="0"/>
          </a:p>
        </p:txBody>
      </p:sp>
      <p:sp>
        <p:nvSpPr>
          <p:cNvPr id="14" name="Text 9"/>
          <p:cNvSpPr/>
          <p:nvPr/>
        </p:nvSpPr>
        <p:spPr>
          <a:xfrm>
            <a:off x="419100" y="771525"/>
            <a:ext cx="53101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Эмаль с молотковым эффектом для металла TITAN</a:t>
            </a:r>
            <a:endParaRPr lang="en-US" sz="2280" dirty="0"/>
          </a:p>
        </p:txBody>
      </p:sp>
      <p:sp>
        <p:nvSpPr>
          <p:cNvPr id="15" name="Text 10"/>
          <p:cNvSpPr/>
          <p:nvPr/>
        </p:nvSpPr>
        <p:spPr>
          <a:xfrm>
            <a:off x="1866900" y="3943350"/>
            <a:ext cx="1166813" cy="1200150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866900" y="1971675"/>
            <a:ext cx="1166813" cy="1971676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1943100" y="1828800"/>
            <a:ext cx="1014413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endParaRPr lang="ru-RU" sz="855" kern="0" spc="-19" dirty="0" smtClean="0">
              <a:solidFill>
                <a:srgbClr val="FFFFFF">
                  <a:alpha val="99000"/>
                </a:srgbClr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 err="1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</a:t>
            </a:r>
            <a:r>
              <a:rPr lang="en-US" sz="855" kern="0" spc="-19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 молотковым </a:t>
            </a:r>
            <a:r>
              <a:rPr lang="en-US" sz="855" kern="0" spc="-19" dirty="0" err="1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эффектом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855" kern="0" spc="-19" dirty="0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 </a:t>
            </a:r>
            <a:r>
              <a:rPr lang="en-US" sz="855" kern="0" spc="-19" dirty="0" err="1" smtClean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алкидно-стирольная</a:t>
            </a:r>
            <a:r>
              <a:rPr lang="en-US" sz="855" kern="0" spc="-19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; золотистая; 0.8 кг</a:t>
            </a:r>
            <a:endParaRPr lang="en-US" sz="855" dirty="0"/>
          </a:p>
        </p:txBody>
      </p:sp>
      <p:sp>
        <p:nvSpPr>
          <p:cNvPr id="18" name="Text 13"/>
          <p:cNvSpPr/>
          <p:nvPr/>
        </p:nvSpPr>
        <p:spPr>
          <a:xfrm>
            <a:off x="442913" y="2490788"/>
            <a:ext cx="1166813" cy="1714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42913" y="4086225"/>
            <a:ext cx="1166813" cy="1057275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23875" y="2576513"/>
            <a:ext cx="10144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19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с молотковым эффектом Лакра золото, 0.8 кг</a:t>
            </a:r>
            <a:endParaRPr lang="en-US" sz="85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647" y="3228975"/>
            <a:ext cx="880235" cy="9382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90888" y="1885950"/>
            <a:ext cx="1166813" cy="20955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290888" y="3776662"/>
            <a:ext cx="1166813" cy="1366838"/>
          </a:xfrm>
          <a:prstGeom prst="rect">
            <a:avLst/>
          </a:prstGeom>
          <a:solidFill>
            <a:srgbClr val="1212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71850" y="1971675"/>
            <a:ext cx="10144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6"/>
              </a:lnSpc>
              <a:buNone/>
            </a:pPr>
            <a:r>
              <a:rPr lang="en-US" sz="855" kern="0" spc="-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Эмаль Dufa Premium HAMMERLACK молотковая, золотая 750 мл</a:t>
            </a:r>
            <a:endParaRPr lang="en-US" sz="855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27333" y="2767013"/>
            <a:ext cx="889229" cy="10668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55573" y="2605088"/>
            <a:ext cx="888039" cy="1047750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6025" y="2195513"/>
            <a:ext cx="857706" cy="1200150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5250" y="1985963"/>
            <a:ext cx="877100" cy="120015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591550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endParaRPr lang="en-US" sz="855" dirty="0"/>
          </a:p>
        </p:txBody>
      </p:sp>
      <p:sp>
        <p:nvSpPr>
          <p:cNvPr id="31" name="Text 20"/>
          <p:cNvSpPr/>
          <p:nvPr/>
        </p:nvSpPr>
        <p:spPr>
          <a:xfrm>
            <a:off x="4833938" y="452438"/>
            <a:ext cx="3395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855"/>
              </a:lnSpc>
              <a:buNone/>
            </a:pPr>
            <a:r>
              <a:rPr lang="en-US" sz="855" kern="0" spc="43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Все цены представлены с сайта Все Инструменты.ру</a:t>
            </a:r>
            <a:endParaRPr lang="en-US" sz="855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77238" y="328613"/>
            <a:ext cx="352425" cy="35242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0" y="338138"/>
            <a:ext cx="3590925" cy="333375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2"/>
          <p:cNvSpPr/>
          <p:nvPr/>
        </p:nvSpPr>
        <p:spPr>
          <a:xfrm>
            <a:off x="419100" y="412433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10"/>
              </a:lnSpc>
              <a:buNone/>
            </a:pPr>
            <a:r>
              <a:rPr lang="en-US" sz="1710" dirty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КОНКУРЕНТНОЕ ОКРУЖЕНИЕ</a:t>
            </a:r>
            <a:endParaRPr lang="en-US" sz="1710" dirty="0"/>
          </a:p>
        </p:txBody>
      </p:sp>
      <p:sp>
        <p:nvSpPr>
          <p:cNvPr id="35" name="Text 23"/>
          <p:cNvSpPr/>
          <p:nvPr/>
        </p:nvSpPr>
        <p:spPr>
          <a:xfrm>
            <a:off x="519113" y="4519613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1057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6" name="Text 24"/>
          <p:cNvSpPr/>
          <p:nvPr/>
        </p:nvSpPr>
        <p:spPr>
          <a:xfrm>
            <a:off x="1943100" y="4452938"/>
            <a:ext cx="1014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1097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7" name="Text 25"/>
          <p:cNvSpPr/>
          <p:nvPr/>
        </p:nvSpPr>
        <p:spPr>
          <a:xfrm>
            <a:off x="3367088" y="43529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1196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8" name="Text 26"/>
          <p:cNvSpPr/>
          <p:nvPr/>
        </p:nvSpPr>
        <p:spPr>
          <a:xfrm>
            <a:off x="4791075" y="4205288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1308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39" name="Text 27"/>
          <p:cNvSpPr/>
          <p:nvPr/>
        </p:nvSpPr>
        <p:spPr>
          <a:xfrm>
            <a:off x="6219825" y="4124325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1341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sp>
        <p:nvSpPr>
          <p:cNvPr id="40" name="Text 28"/>
          <p:cNvSpPr/>
          <p:nvPr/>
        </p:nvSpPr>
        <p:spPr>
          <a:xfrm>
            <a:off x="7639050" y="3981450"/>
            <a:ext cx="1014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10"/>
              </a:lnSpc>
              <a:buNone/>
            </a:pPr>
            <a:r>
              <a:rPr lang="en-US" sz="1425" b="1" kern="0" spc="71" dirty="0">
                <a:solidFill>
                  <a:srgbClr val="FFFFFF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1653</a:t>
            </a:r>
            <a:r>
              <a:rPr lang="en-US" sz="1425" b="1" kern="0" spc="71" dirty="0">
                <a:solidFill>
                  <a:srgbClr val="E30614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₽</a:t>
            </a:r>
            <a:endParaRPr lang="en-US" sz="1425" dirty="0"/>
          </a:p>
        </p:txBody>
      </p:sp>
      <p:pic>
        <p:nvPicPr>
          <p:cNvPr id="42" name="Picture 2" descr="E:\ПРОДУКЦИЯ 3D\TITAN\2026\Эмаль с молотковым эффектом\80143_Эмаль с молотковым эффектом ОРЕОЛ TITAN, 1л коричневая 117х321мм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201" y="2888415"/>
            <a:ext cx="930209" cy="120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0">
              <a:schemeClr val="bg1">
                <a:lumMod val="50000"/>
              </a:schemeClr>
            </a:gs>
            <a:gs pos="33000">
              <a:schemeClr val="bg1">
                <a:lumMod val="50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7105646" y="3661477"/>
            <a:ext cx="2038350" cy="271462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0" y="4110038"/>
            <a:ext cx="2095500" cy="600075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869" y="1661161"/>
            <a:ext cx="1222829" cy="1645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7538" y="2967037"/>
            <a:ext cx="1511219" cy="151121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533" b="7294"/>
          <a:stretch/>
        </p:blipFill>
        <p:spPr>
          <a:xfrm>
            <a:off x="7219946" y="-214312"/>
            <a:ext cx="1924050" cy="272393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47913" y="390525"/>
            <a:ext cx="1423169" cy="458927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7270" y="390525"/>
            <a:ext cx="1792002" cy="3517772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09563" y="4205288"/>
            <a:ext cx="178593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sz="1283" kern="0" spc="-26" dirty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Демонстрационные материалы (выкрасы) 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7148509" y="3691957"/>
            <a:ext cx="1995487" cy="29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39"/>
              </a:lnSpc>
              <a:buNone/>
            </a:pPr>
            <a:r>
              <a:rPr lang="ru-RU" sz="2000" dirty="0" smtClean="0">
                <a:solidFill>
                  <a:schemeClr val="tx1">
                    <a:alpha val="99000"/>
                  </a:scheme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ВИДЕО</a:t>
            </a:r>
            <a:r>
              <a:rPr lang="en-US" sz="2000" dirty="0" smtClean="0">
                <a:solidFill>
                  <a:schemeClr val="tx1">
                    <a:alpha val="99000"/>
                  </a:scheme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TITAN</a:t>
            </a:r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957638" y="1066800"/>
            <a:ext cx="1415932" cy="197289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53075" y="1066800"/>
            <a:ext cx="1415941" cy="1972891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53075" y="3019425"/>
            <a:ext cx="1413132" cy="1968912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3957638" y="3014419"/>
            <a:ext cx="1343537" cy="1900481"/>
          </a:xfrm>
          <a:prstGeom prst="rect">
            <a:avLst/>
          </a:prstGeom>
          <a:noFill/>
          <a:ln/>
        </p:spPr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7647" y="3014419"/>
            <a:ext cx="1343528" cy="1900481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148513" y="1485900"/>
            <a:ext cx="1667052" cy="19706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5553075" y="390525"/>
            <a:ext cx="3590925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6"/>
          <p:cNvSpPr/>
          <p:nvPr/>
        </p:nvSpPr>
        <p:spPr>
          <a:xfrm>
            <a:off x="5605463" y="518160"/>
            <a:ext cx="3148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10"/>
              </a:lnSpc>
              <a:buNone/>
            </a:pPr>
            <a:r>
              <a:rPr lang="en-US" sz="1710" dirty="0">
                <a:solidFill>
                  <a:srgbClr val="000000">
                    <a:alpha val="99000"/>
                  </a:srgbClr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Mono" pitchFamily="34" charset="-120"/>
              </a:rPr>
              <a:t>РЕКЛАМНАЯ ПОДДЕРЖКА</a:t>
            </a:r>
            <a:endParaRPr lang="en-US" sz="1710" dirty="0">
              <a:latin typeface="Roboto Mono Medium" panose="00000009000000000000" pitchFamily="50" charset="0"/>
              <a:ea typeface="Roboto Mono Medium" panose="00000009000000000000" pitchFamily="50" charset="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8615363" y="4752975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endParaRPr lang="en-US" sz="85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469" y="4061489"/>
            <a:ext cx="1002502" cy="100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1">
          <a:gsLst>
            <a:gs pos="14000">
              <a:schemeClr val="bg1">
                <a:lumMod val="50000"/>
              </a:schemeClr>
            </a:gs>
            <a:gs pos="0">
              <a:schemeClr val="bg1">
                <a:lumMod val="6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7683" r="-1977" b="16187"/>
          <a:stretch/>
        </p:blipFill>
        <p:spPr>
          <a:xfrm>
            <a:off x="2743201" y="0"/>
            <a:ext cx="2948462" cy="12645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1050" y="1062038"/>
            <a:ext cx="2024062" cy="3857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53075" y="390525"/>
            <a:ext cx="3590925" cy="433388"/>
          </a:xfrm>
          <a:prstGeom prst="rect">
            <a:avLst/>
          </a:prstGeom>
          <a:solidFill>
            <a:srgbClr val="F5E1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307079"/>
            <a:ext cx="1432560" cy="184594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7650" y="1576388"/>
            <a:ext cx="1511219" cy="151121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5" b="6764"/>
          <a:stretch/>
        </p:blipFill>
        <p:spPr>
          <a:xfrm>
            <a:off x="6910287" y="3471863"/>
            <a:ext cx="2233715" cy="167163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867400" y="414338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9"/>
              </a:lnSpc>
              <a:buNone/>
            </a:pPr>
            <a:r>
              <a:rPr lang="en-US" b="1" kern="0" spc="64" dirty="0" smtClean="0">
                <a:solidFill>
                  <a:srgbClr val="000000">
                    <a:alpha val="99000"/>
                  </a:srgbClr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titanpaints.ru</a:t>
            </a:r>
            <a:endParaRPr lang="en-US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9563" y="390525"/>
            <a:ext cx="2024062" cy="35052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47925" y="390525"/>
            <a:ext cx="2028825" cy="4524375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29413" y="1062038"/>
            <a:ext cx="2024062" cy="3852863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586788" y="4757738"/>
            <a:ext cx="1381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EBEBEB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endParaRPr lang="en-US" sz="85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1">
          <a:gsLst>
            <a:gs pos="0">
              <a:schemeClr val="bg1">
                <a:lumMod val="97000"/>
              </a:schemeClr>
            </a:gs>
            <a:gs pos="42000">
              <a:schemeClr val="bg1">
                <a:lumMod val="75000"/>
              </a:schemeClr>
            </a:gs>
            <a:gs pos="92000">
              <a:schemeClr val="tx1">
                <a:lumMod val="50000"/>
                <a:lumOff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 0"/>
          <p:cNvSpPr/>
          <p:nvPr/>
        </p:nvSpPr>
        <p:spPr>
          <a:xfrm>
            <a:off x="0" y="266700"/>
            <a:ext cx="4786313" cy="1009650"/>
          </a:xfrm>
          <a:prstGeom prst="rect">
            <a:avLst/>
          </a:prstGeom>
          <a:solidFill>
            <a:srgbClr val="E306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1"/>
          <p:cNvSpPr/>
          <p:nvPr/>
        </p:nvSpPr>
        <p:spPr>
          <a:xfrm>
            <a:off x="419100" y="266700"/>
            <a:ext cx="4367213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20"/>
              </a:lnSpc>
              <a:buNone/>
            </a:pPr>
            <a:r>
              <a:rPr lang="ru-RU" sz="1710" dirty="0" smtClean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АРТИКУЛЫ КАТЕГОРИИ ГРУНТ-ЭМАЛЕЙ</a:t>
            </a:r>
            <a:r>
              <a:rPr lang="en-US" sz="1710" dirty="0" smtClean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r>
              <a:rPr lang="ru-RU" sz="1710" dirty="0" smtClean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«ОРЕОЛ </a:t>
            </a:r>
            <a:r>
              <a:rPr lang="en-US" sz="1710" dirty="0" smtClean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TITAN</a:t>
            </a:r>
            <a:r>
              <a:rPr lang="ru-RU" sz="1710" dirty="0" smtClean="0">
                <a:solidFill>
                  <a:srgbClr val="FFFFFF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» В ЛЕМАНА ПРО</a:t>
            </a:r>
            <a:endParaRPr lang="en-US" sz="1710" dirty="0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040070"/>
              </p:ext>
            </p:extLst>
          </p:nvPr>
        </p:nvGraphicFramePr>
        <p:xfrm>
          <a:off x="7938" y="1439863"/>
          <a:ext cx="4525962" cy="319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Документ" r:id="rId4" imgW="6102906" imgH="4296770" progId="Word.Document.12">
                  <p:embed/>
                </p:oleObj>
              </mc:Choice>
              <mc:Fallback>
                <p:oleObj name="Документ" r:id="rId4" imgW="6102906" imgH="42967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38" y="1439863"/>
                        <a:ext cx="4525962" cy="3192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40176"/>
              </p:ext>
            </p:extLst>
          </p:nvPr>
        </p:nvGraphicFramePr>
        <p:xfrm>
          <a:off x="4572000" y="1652587"/>
          <a:ext cx="4335463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Документ" r:id="rId6" imgW="6102906" imgH="4010342" progId="Word.Document.12">
                  <p:embed/>
                </p:oleObj>
              </mc:Choice>
              <mc:Fallback>
                <p:oleObj name="Документ" r:id="rId6" imgW="6102906" imgH="40103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0" y="1652587"/>
                        <a:ext cx="4335463" cy="297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7000"/>
              </a:schemeClr>
            </a:gs>
            <a:gs pos="42000">
              <a:schemeClr val="bg1">
                <a:lumMod val="75000"/>
              </a:schemeClr>
            </a:gs>
            <a:gs pos="92000">
              <a:schemeClr val="tx1">
                <a:lumMod val="50000"/>
                <a:lumOff val="5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62575" y="-33337"/>
            <a:ext cx="995363" cy="6286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5525" y="728663"/>
            <a:ext cx="3100388" cy="34147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62525" y="3795712"/>
            <a:ext cx="2514600" cy="1485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3" y="581025"/>
            <a:ext cx="1965759" cy="196574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3633788"/>
            <a:ext cx="50292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249"/>
              </a:lnSpc>
              <a:buNone/>
            </a:pPr>
            <a:r>
              <a:rPr lang="en-US" sz="3420" kern="0" spc="-137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СПАСИБО ЗА ВНИМАНИЕ</a:t>
            </a:r>
            <a:endParaRPr lang="en-US" sz="3420" dirty="0"/>
          </a:p>
        </p:txBody>
      </p:sp>
      <p:sp>
        <p:nvSpPr>
          <p:cNvPr id="7" name="Text 1"/>
          <p:cNvSpPr/>
          <p:nvPr/>
        </p:nvSpPr>
        <p:spPr>
          <a:xfrm>
            <a:off x="328613" y="4752975"/>
            <a:ext cx="271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1"/>
              </a:lnSpc>
              <a:buNone/>
            </a:pPr>
            <a:r>
              <a:rPr lang="en-US" sz="855" kern="0" spc="-9" dirty="0">
                <a:solidFill>
                  <a:srgbClr val="000000">
                    <a:alpha val="99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2026</a:t>
            </a:r>
            <a:endParaRPr lang="en-US" sz="855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8613" y="382051"/>
            <a:ext cx="2843213" cy="27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4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1636</Words>
  <Application>Microsoft Office PowerPoint</Application>
  <PresentationFormat>Экран (16:9)</PresentationFormat>
  <Paragraphs>258</Paragraphs>
  <Slides>17</Slides>
  <Notes>17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Roboto Mono Medium</vt:lpstr>
      <vt:lpstr>Arimo</vt:lpstr>
      <vt:lpstr>Roboto Mono</vt:lpstr>
      <vt:lpstr>Office Theme</vt:lpstr>
      <vt:lpstr>Microsoft Word Document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Арустамян Варвара Романовна</cp:lastModifiedBy>
  <cp:revision>32</cp:revision>
  <cp:lastPrinted>2026-02-24T05:25:20Z</cp:lastPrinted>
  <dcterms:created xsi:type="dcterms:W3CDTF">2026-02-24T03:13:43Z</dcterms:created>
  <dcterms:modified xsi:type="dcterms:W3CDTF">2026-06-10T08:03:50Z</dcterms:modified>
</cp:coreProperties>
</file>