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Arial"/>
              </a:rPr>
              <a:t>TITAN — программа продвижения: 3 цифры, которые меняют повестку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827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6B7280"/>
                </a:solidFill>
                <a:latin typeface="Arial"/>
              </a:rPr>
              <a:t>Полугодие 2025 vs 2026 (без СтройТерминала — не предоставлял статистику в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440000"/>
            <a:ext cx="3600000" cy="2340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872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96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12000"/>
            <a:ext cx="32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988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42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1A1F36"/>
                </a:solidFill>
                <a:latin typeface="Arial"/>
              </a:rPr>
              <a:t>Розница СЖИМАЕТСЯ — рост был иллюзией СтройТерминала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0" y="1440000"/>
            <a:ext cx="3600000" cy="2340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1872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2196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2412000"/>
            <a:ext cx="32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988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342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1A1F36"/>
                </a:solidFill>
                <a:latin typeface="Arial"/>
              </a:rPr>
              <a:t>Розничная база сокращается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440000"/>
            <a:ext cx="3600000" cy="2340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1872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2196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2412000"/>
            <a:ext cx="32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0" y="2988000"/>
            <a:ext cx="32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342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1A1F36"/>
                </a:solidFill>
                <a:latin typeface="Arial"/>
              </a:rPr>
              <a:t>Берут реже и меньше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06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rial"/>
              </a:rPr>
              <a:t>ВЫВОД: </a:t>
            </a:r>
            <a:r>
              <a:rPr sz="1400">
                <a:solidFill>
                  <a:srgbClr val="1A1F36"/>
                </a:solidFill>
                <a:latin typeface="Arial"/>
              </a:rPr>
              <a:t>ВСЕ 3 метрики падают. Рост был иллюзией СтройТерминала. Цель программы — не «закрепить успех», а ОСТАНОВИТЬ ПАДЕНИЕ.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4680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Arial"/>
              </a:rPr>
              <a:t>ЧТО ДЕЛАТЬ — 4 ПРИОРИТЕТА ПРОГРАММЫ</a:t>
            </a:r>
          </a:p>
        </p:txBody>
      </p:sp>
      <p:sp>
        <p:nvSpPr>
          <p:cNvPr id="27" name="Oval 26"/>
          <p:cNvSpPr/>
          <p:nvPr/>
        </p:nvSpPr>
        <p:spPr>
          <a:xfrm>
            <a:off x="540000" y="4932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" y="4932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Спасти Технологии РС (Оберон)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000" y="513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−86% кг, 9 клиентов ушло</a:t>
            </a:r>
          </a:p>
        </p:txBody>
      </p:sp>
      <p:sp>
        <p:nvSpPr>
          <p:cNvPr id="30" name="Oval 29"/>
          <p:cNvSpPr/>
          <p:nvPr/>
        </p:nvSpPr>
        <p:spPr>
          <a:xfrm>
            <a:off x="3420000" y="4932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6000" y="4932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Увеличить MML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6000" y="513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12 дистр = 98% кг, расширить с 30 до 44 SKU</a:t>
            </a:r>
          </a:p>
        </p:txBody>
      </p:sp>
      <p:sp>
        <p:nvSpPr>
          <p:cNvPr id="33" name="Oval 32"/>
          <p:cNvSpPr/>
          <p:nvPr/>
        </p:nvSpPr>
        <p:spPr>
          <a:xfrm>
            <a:off x="6300000" y="4932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4932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Вернуть 30 клиентов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6000" y="513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10 000 кг потенциал, таргет-акция</a:t>
            </a:r>
          </a:p>
        </p:txBody>
      </p:sp>
      <p:sp>
        <p:nvSpPr>
          <p:cNvPr id="36" name="Oval 35"/>
          <p:cNvSpPr/>
          <p:nvPr/>
        </p:nvSpPr>
        <p:spPr>
          <a:xfrm>
            <a:off x="9180000" y="4932000"/>
            <a:ext cx="324000" cy="324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6000" y="4932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rial"/>
              </a:rPr>
              <a:t>Масштабировать АЮСС + Уралстрой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6000" y="513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F36"/>
                </a:solidFill>
                <a:latin typeface="Arial"/>
              </a:rPr>
              <a:t>+867% / +55% — 2 точки роста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640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Источник: «Титан итого.xlsx» (3 вкладки). Исключён СтройТерминал: в 2025 не предоставлял статистику, в 2026 дал 4 161 АКБ — искажал динамику. Период: 1 полугодие 2025 vs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