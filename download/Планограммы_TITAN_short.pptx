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64" r:id="rId5"/>
    <p:sldId id="259" r:id="rId6"/>
    <p:sldId id="260" r:id="rId7"/>
    <p:sldId id="261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110" d="100"/>
          <a:sy n="110" d="100"/>
        </p:scale>
        <p:origin x="-558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28FCCE-7C25-43B8-8E4F-BD0FC5F8ACE9}" type="datetimeFigureOut">
              <a:rPr lang="ru-RU" smtClean="0"/>
              <a:t>16.07.2026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0FD308C-39FA-4993-81EB-6F4074FE307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544646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029200" cy="685800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029200" y="0"/>
            <a:ext cx="91440" cy="685800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914400"/>
            <a:ext cx="4572000" cy="10972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7200" b="1" i="0">
                <a:solidFill>
                  <a:srgbClr val="FFFFFF"/>
                </a:solidFill>
                <a:latin typeface="Arial"/>
              </a:rPr>
              <a:t>TITAN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103120"/>
            <a:ext cx="4572000" cy="6400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Arial"/>
              </a:rPr>
              <a:t>ПЛАНОГРАММЫ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834640"/>
            <a:ext cx="4572000" cy="6400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Arial"/>
              </a:rPr>
              <a:t>ВЫКЛАДКИ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3657600"/>
            <a:ext cx="2286000" cy="4572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" y="3840480"/>
            <a:ext cx="457200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Arial"/>
              </a:rPr>
              <a:t>2 варианта выкладки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4343400"/>
            <a:ext cx="457200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600" b="0" i="1">
                <a:solidFill>
                  <a:srgbClr val="FFFFFF"/>
                </a:solidFill>
                <a:latin typeface="Arial"/>
              </a:rPr>
              <a:t>3 линейки · 27 SKU · 4 класса ТТ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0" y="914400"/>
            <a:ext cx="6400800" cy="9144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3600" b="1" i="0">
                <a:solidFill>
                  <a:srgbClr val="16A34A"/>
                </a:solidFill>
                <a:latin typeface="Arial"/>
              </a:rPr>
              <a:t>Красишь 1 раз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1737360"/>
            <a:ext cx="6400800" cy="9144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3600" b="1" i="0">
                <a:solidFill>
                  <a:srgbClr val="16A34A"/>
                </a:solidFill>
                <a:latin typeface="Arial"/>
              </a:rPr>
              <a:t>служит 10 лет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0" y="2697480"/>
            <a:ext cx="1828800" cy="4572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5486400" y="3200400"/>
            <a:ext cx="6400800" cy="137160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486400" y="3200400"/>
            <a:ext cx="137160" cy="137160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852160" y="3337560"/>
            <a:ext cx="54864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2800" b="1" i="0">
                <a:solidFill>
                  <a:srgbClr val="C62828"/>
                </a:solidFill>
                <a:latin typeface="Arial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3337560"/>
            <a:ext cx="502920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600" b="1" i="0">
                <a:solidFill>
                  <a:srgbClr val="C62828"/>
                </a:solidFill>
                <a:latin typeface="Arial"/>
              </a:rPr>
              <a:t>ВЕСЬ МОДЕЛЬНЫЙ РЯД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3840480"/>
            <a:ext cx="502920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200" b="0" i="0">
                <a:solidFill>
                  <a:srgbClr val="9CA3AF"/>
                </a:solidFill>
                <a:latin typeface="Arial"/>
              </a:rPr>
              <a:t>По категориям/сфере назначения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0" y="4846320"/>
            <a:ext cx="6400800" cy="137160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486400" y="4846320"/>
            <a:ext cx="137160" cy="137160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852160" y="4983480"/>
            <a:ext cx="54864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2800" b="1" i="0">
                <a:solidFill>
                  <a:srgbClr val="1E3A5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4983480"/>
            <a:ext cx="502920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600" b="1" i="0">
                <a:solidFill>
                  <a:srgbClr val="1E3A5F"/>
                </a:solidFill>
                <a:latin typeface="Arial"/>
              </a:rPr>
              <a:t>ПО КЛАССАМ ТТ (MML)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5486400"/>
            <a:ext cx="5029200" cy="235962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200" b="0" i="0" dirty="0">
                <a:solidFill>
                  <a:srgbClr val="9CA3AF"/>
                </a:solidFill>
                <a:latin typeface="Arial"/>
              </a:rPr>
              <a:t>A · B · C </a:t>
            </a:r>
            <a:r>
              <a:rPr sz="1200" b="0" i="0" dirty="0" smtClean="0">
                <a:solidFill>
                  <a:srgbClr val="9CA3AF"/>
                </a:solidFill>
                <a:latin typeface="Arial"/>
              </a:rPr>
              <a:t>·</a:t>
            </a:r>
            <a:r>
              <a:rPr lang="en-US" sz="1200" b="0" i="0" dirty="0" smtClean="0">
                <a:solidFill>
                  <a:srgbClr val="9CA3AF"/>
                </a:solidFill>
                <a:latin typeface="Arial"/>
              </a:rPr>
              <a:t> </a:t>
            </a:r>
            <a:r>
              <a:rPr sz="1200" b="0" i="0" dirty="0" smtClean="0">
                <a:solidFill>
                  <a:srgbClr val="9CA3AF"/>
                </a:solidFill>
                <a:latin typeface="Arial"/>
              </a:rPr>
              <a:t>— </a:t>
            </a:r>
            <a:r>
              <a:rPr sz="1200" b="0" i="0" dirty="0" err="1">
                <a:solidFill>
                  <a:srgbClr val="9CA3AF"/>
                </a:solidFill>
                <a:latin typeface="Arial"/>
              </a:rPr>
              <a:t>по</a:t>
            </a:r>
            <a:r>
              <a:rPr sz="1200" b="0" i="0" dirty="0">
                <a:solidFill>
                  <a:srgbClr val="9CA3AF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9CA3AF"/>
                </a:solidFill>
                <a:latin typeface="Arial"/>
              </a:rPr>
              <a:t>наличию</a:t>
            </a:r>
            <a:r>
              <a:rPr sz="1200" b="0" i="0" dirty="0">
                <a:solidFill>
                  <a:srgbClr val="9CA3AF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9CA3AF"/>
                </a:solidFill>
                <a:latin typeface="Arial"/>
              </a:rPr>
              <a:t>ассортимента</a:t>
            </a:r>
            <a:endParaRPr sz="1200" b="0" i="0" dirty="0">
              <a:solidFill>
                <a:srgbClr val="9CA3AF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37490"/>
            <a:ext cx="12191695" cy="36576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60175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Arial"/>
              </a:rPr>
              <a:t>ЛОГИКА ВЫКЛАДКИ — ПРИНЦИПЫ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19695" y="73152"/>
            <a:ext cx="420624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r"/>
            <a:r>
              <a:rPr sz="1100" b="0" i="0">
                <a:solidFill>
                  <a:srgbClr val="FBBF24"/>
                </a:solidFill>
                <a:latin typeface="Arial"/>
              </a:rPr>
              <a:t>Как распределены цвета на полке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911810"/>
            <a:ext cx="5577840" cy="1727873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65760" y="911810"/>
            <a:ext cx="5577840" cy="50292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502920" y="1003250"/>
            <a:ext cx="320040" cy="3200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1003250"/>
            <a:ext cx="320040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C62828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029900"/>
            <a:ext cx="4937760" cy="2667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400" b="1" i="0" dirty="0" err="1">
                <a:solidFill>
                  <a:srgbClr val="FFFFFF"/>
                </a:solidFill>
                <a:latin typeface="Arial"/>
              </a:rPr>
              <a:t>От</a:t>
            </a:r>
            <a:r>
              <a:rPr sz="1400" b="1" i="0" dirty="0">
                <a:solidFill>
                  <a:srgbClr val="FFFFFF"/>
                </a:solidFill>
                <a:latin typeface="Arial"/>
              </a:rPr>
              <a:t> </a:t>
            </a:r>
            <a:r>
              <a:rPr sz="1400" b="1" i="0" dirty="0" err="1" smtClean="0">
                <a:solidFill>
                  <a:srgbClr val="FFFFFF"/>
                </a:solidFill>
                <a:latin typeface="Arial"/>
              </a:rPr>
              <a:t>тёмных</a:t>
            </a:r>
            <a:r>
              <a:rPr lang="ru-RU" sz="1400" b="1" i="0" dirty="0" smtClean="0">
                <a:solidFill>
                  <a:srgbClr val="FFFFFF"/>
                </a:solidFill>
                <a:latin typeface="Arial"/>
              </a:rPr>
              <a:t> (топ продаж)</a:t>
            </a:r>
            <a:r>
              <a:rPr sz="1400" b="1" i="0" dirty="0" smtClean="0">
                <a:solidFill>
                  <a:srgbClr val="FFFFFF"/>
                </a:solidFill>
                <a:latin typeface="Arial"/>
              </a:rPr>
              <a:t> </a:t>
            </a:r>
            <a:r>
              <a:rPr sz="1400" b="1" i="0" dirty="0">
                <a:solidFill>
                  <a:srgbClr val="FFFFFF"/>
                </a:solidFill>
                <a:latin typeface="Arial"/>
              </a:rPr>
              <a:t>к </a:t>
            </a:r>
            <a:r>
              <a:rPr sz="1400" b="1" i="0" dirty="0" err="1">
                <a:solidFill>
                  <a:srgbClr val="FFFFFF"/>
                </a:solidFill>
                <a:latin typeface="Arial"/>
              </a:rPr>
              <a:t>светлым</a:t>
            </a:r>
            <a:endParaRPr sz="1400" b="1" i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48640" y="1551890"/>
            <a:ext cx="5212080" cy="16459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100" b="0" i="0">
                <a:solidFill>
                  <a:srgbClr val="1A1F36"/>
                </a:solidFill>
                <a:latin typeface="Arial"/>
              </a:rPr>
              <a:t>Цвета слева направо: чёрный → коричневый → серый → графит → белый. Покупатель сканирует полку слева — тёмные (топ-продажи) первыми.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911810"/>
            <a:ext cx="5577840" cy="1727873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479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126480" y="911810"/>
            <a:ext cx="5577840" cy="502920"/>
          </a:xfrm>
          <a:prstGeom prst="rect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6263640" y="1003250"/>
            <a:ext cx="320040" cy="3200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263640" y="1003250"/>
            <a:ext cx="320040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47920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957530"/>
            <a:ext cx="493776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Arial"/>
              </a:rPr>
              <a:t>Контраст соседей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1551890"/>
            <a:ext cx="5212080" cy="16459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100" b="0" i="0">
                <a:solidFill>
                  <a:srgbClr val="1A1F36"/>
                </a:solidFill>
                <a:latin typeface="Arial"/>
              </a:rPr>
              <a:t>Схожие оттенки (серый RAL 7004 и графит RAL 7024) не ставим рядом — они сливаются. Между ними — коричневый для визуального разделения.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2767388"/>
            <a:ext cx="5577840" cy="1735609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65760" y="2767388"/>
            <a:ext cx="5577840" cy="50292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502920" y="2858828"/>
            <a:ext cx="320040" cy="3200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02920" y="2858828"/>
            <a:ext cx="320040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16A34A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2813108"/>
            <a:ext cx="493776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Arial"/>
              </a:rPr>
              <a:t>ABC по продажам внутри градации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3459224"/>
            <a:ext cx="5212080" cy="16459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100" b="0" i="0">
                <a:solidFill>
                  <a:srgbClr val="1A1F36"/>
                </a:solidFill>
                <a:latin typeface="Arial"/>
              </a:rPr>
              <a:t>ТОП-3 цвета (чёрный 7738 шт, графит 5172 шт, серый 5071 шт) — в начале полки. Дублируем фейсинги на топ-3.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26480" y="2767388"/>
            <a:ext cx="5577840" cy="1735609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126480" y="2767388"/>
            <a:ext cx="5577840" cy="50292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6263640" y="2858828"/>
            <a:ext cx="320040" cy="3200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263640" y="2858828"/>
            <a:ext cx="320040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1E3A5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75120" y="2813108"/>
            <a:ext cx="493776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Arial"/>
              </a:rPr>
              <a:t>Цветные — отдельно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9360" y="3459224"/>
            <a:ext cx="5212080" cy="38985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lang="ru-RU" sz="1100" dirty="0">
                <a:solidFill>
                  <a:srgbClr val="1A1F36"/>
                </a:solidFill>
                <a:latin typeface="Arial"/>
              </a:rPr>
              <a:t>Ж</a:t>
            </a:r>
            <a:r>
              <a:rPr sz="1100" b="0" i="0" dirty="0" err="1" smtClean="0">
                <a:solidFill>
                  <a:srgbClr val="1A1F36"/>
                </a:solidFill>
                <a:latin typeface="Arial"/>
              </a:rPr>
              <a:t>ёлтый</a:t>
            </a:r>
            <a:r>
              <a:rPr sz="1100" b="0" i="0" dirty="0">
                <a:solidFill>
                  <a:srgbClr val="1A1F36"/>
                </a:solidFill>
                <a:latin typeface="Arial"/>
              </a:rPr>
              <a:t>, </a:t>
            </a:r>
            <a:r>
              <a:rPr sz="1100" b="0" i="0" dirty="0" err="1">
                <a:solidFill>
                  <a:srgbClr val="1A1F36"/>
                </a:solidFill>
                <a:latin typeface="Arial"/>
              </a:rPr>
              <a:t>синий</a:t>
            </a:r>
            <a:r>
              <a:rPr sz="1100" b="0" i="0" dirty="0">
                <a:solidFill>
                  <a:srgbClr val="1A1F36"/>
                </a:solidFill>
                <a:latin typeface="Arial"/>
              </a:rPr>
              <a:t> — </a:t>
            </a:r>
            <a:r>
              <a:rPr sz="1100" b="0" i="0" dirty="0" err="1">
                <a:solidFill>
                  <a:srgbClr val="1A1F36"/>
                </a:solidFill>
                <a:latin typeface="Arial"/>
              </a:rPr>
              <a:t>после</a:t>
            </a:r>
            <a:r>
              <a:rPr sz="1100" b="0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1100" b="0" i="0" dirty="0" err="1">
                <a:solidFill>
                  <a:srgbClr val="1A1F36"/>
                </a:solidFill>
                <a:latin typeface="Arial"/>
              </a:rPr>
              <a:t>нейтральных</a:t>
            </a:r>
            <a:r>
              <a:rPr sz="1100" b="0" i="0" dirty="0">
                <a:solidFill>
                  <a:srgbClr val="1A1F36"/>
                </a:solidFill>
                <a:latin typeface="Arial"/>
              </a:rPr>
              <a:t>. </a:t>
            </a:r>
            <a:r>
              <a:rPr sz="1100" b="0" i="0" dirty="0" err="1">
                <a:solidFill>
                  <a:srgbClr val="1A1F36"/>
                </a:solidFill>
                <a:latin typeface="Arial"/>
              </a:rPr>
              <a:t>Это</a:t>
            </a:r>
            <a:r>
              <a:rPr sz="1100" b="0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1100" b="0" i="0" dirty="0" err="1">
                <a:solidFill>
                  <a:srgbClr val="1A1F36"/>
                </a:solidFill>
                <a:latin typeface="Arial"/>
              </a:rPr>
              <a:t>специфические</a:t>
            </a:r>
            <a:r>
              <a:rPr sz="1100" b="0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1100" b="0" i="0" dirty="0" err="1">
                <a:solidFill>
                  <a:srgbClr val="1A1F36"/>
                </a:solidFill>
                <a:latin typeface="Arial"/>
              </a:rPr>
              <a:t>цвета</a:t>
            </a:r>
            <a:r>
              <a:rPr sz="1100" b="0" i="0" dirty="0">
                <a:solidFill>
                  <a:srgbClr val="1A1F36"/>
                </a:solidFill>
                <a:latin typeface="Arial"/>
              </a:rPr>
              <a:t> (</a:t>
            </a:r>
            <a:r>
              <a:rPr sz="1100" b="0" i="0" dirty="0" err="1">
                <a:solidFill>
                  <a:srgbClr val="1A1F36"/>
                </a:solidFill>
                <a:latin typeface="Arial"/>
              </a:rPr>
              <a:t>дача</a:t>
            </a:r>
            <a:r>
              <a:rPr sz="1100" b="0" i="0" dirty="0">
                <a:solidFill>
                  <a:srgbClr val="1A1F36"/>
                </a:solidFill>
                <a:latin typeface="Arial"/>
              </a:rPr>
              <a:t>, </a:t>
            </a:r>
            <a:r>
              <a:rPr sz="1100" b="0" i="0" dirty="0" err="1">
                <a:solidFill>
                  <a:srgbClr val="1A1F36"/>
                </a:solidFill>
                <a:latin typeface="Arial"/>
              </a:rPr>
              <a:t>дорожная</a:t>
            </a:r>
            <a:r>
              <a:rPr sz="1100" b="0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1100" b="0" i="0" dirty="0" err="1">
                <a:solidFill>
                  <a:srgbClr val="1A1F36"/>
                </a:solidFill>
                <a:latin typeface="Arial"/>
              </a:rPr>
              <a:t>техника</a:t>
            </a:r>
            <a:r>
              <a:rPr sz="1100" b="0" i="0" dirty="0">
                <a:solidFill>
                  <a:srgbClr val="1A1F36"/>
                </a:solidFill>
                <a:latin typeface="Arial"/>
              </a:rPr>
              <a:t>) с </a:t>
            </a:r>
            <a:r>
              <a:rPr sz="1100" b="0" i="0" dirty="0" err="1">
                <a:solidFill>
                  <a:srgbClr val="1A1F36"/>
                </a:solidFill>
                <a:latin typeface="Arial"/>
              </a:rPr>
              <a:t>меньшим</a:t>
            </a:r>
            <a:r>
              <a:rPr sz="1100" b="0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1100" b="0" i="0" dirty="0" err="1">
                <a:solidFill>
                  <a:srgbClr val="1A1F36"/>
                </a:solidFill>
                <a:latin typeface="Arial"/>
              </a:rPr>
              <a:t>оборотом</a:t>
            </a:r>
            <a:r>
              <a:rPr sz="1100" b="0" i="0" dirty="0">
                <a:solidFill>
                  <a:srgbClr val="1A1F36"/>
                </a:solidFill>
                <a:latin typeface="Arial"/>
              </a:rPr>
              <a:t>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65760" y="4670332"/>
            <a:ext cx="1143000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  <a:latin typeface="Arial"/>
              </a:rPr>
              <a:t>ТОП-5 ЦВЕТОВ ПО ВТОРИЧНЫМ ПРОДАЖАМ (шт):</a:t>
            </a:r>
          </a:p>
        </p:txBody>
      </p:sp>
      <p:sp>
        <p:nvSpPr>
          <p:cNvPr id="49" name="Rounded Rectangle 87"/>
          <p:cNvSpPr/>
          <p:nvPr/>
        </p:nvSpPr>
        <p:spPr>
          <a:xfrm>
            <a:off x="365760" y="5036092"/>
            <a:ext cx="2240280" cy="15544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Oval 88"/>
          <p:cNvSpPr/>
          <p:nvPr/>
        </p:nvSpPr>
        <p:spPr>
          <a:xfrm>
            <a:off x="457200" y="5127532"/>
            <a:ext cx="457200" cy="457200"/>
          </a:xfrm>
          <a:prstGeom prst="ellipse">
            <a:avLst/>
          </a:prstGeom>
          <a:solidFill>
            <a:srgbClr val="1A1A1A"/>
          </a:solidFill>
          <a:ln w="1270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457200" y="5127532"/>
            <a:ext cx="45720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05840" y="5127532"/>
            <a:ext cx="150876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Чёрный RAL 9005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57200" y="5676172"/>
            <a:ext cx="205740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600" b="1" i="0">
                <a:solidFill>
                  <a:srgbClr val="C62828"/>
                </a:solidFill>
                <a:latin typeface="Arial"/>
              </a:rPr>
              <a:t>7 738 шт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57200" y="6087652"/>
            <a:ext cx="205740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000" b="0" i="0">
                <a:solidFill>
                  <a:srgbClr val="9CA3AF"/>
                </a:solidFill>
                <a:latin typeface="Arial"/>
              </a:rPr>
              <a:t>393 АКБ</a:t>
            </a:r>
          </a:p>
        </p:txBody>
      </p:sp>
      <p:sp>
        <p:nvSpPr>
          <p:cNvPr id="55" name="Rounded Rectangle 93"/>
          <p:cNvSpPr/>
          <p:nvPr/>
        </p:nvSpPr>
        <p:spPr>
          <a:xfrm>
            <a:off x="2697480" y="5036092"/>
            <a:ext cx="2240280" cy="15544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Oval 94"/>
          <p:cNvSpPr/>
          <p:nvPr/>
        </p:nvSpPr>
        <p:spPr>
          <a:xfrm>
            <a:off x="2788920" y="5127532"/>
            <a:ext cx="457200" cy="457200"/>
          </a:xfrm>
          <a:prstGeom prst="ellipse">
            <a:avLst/>
          </a:prstGeom>
          <a:solidFill>
            <a:srgbClr val="404040"/>
          </a:solidFill>
          <a:ln w="1270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2788920" y="5127532"/>
            <a:ext cx="45720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37560" y="5127532"/>
            <a:ext cx="150876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Графитовый RAL 7024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788920" y="5676172"/>
            <a:ext cx="205740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600" b="1" i="0">
                <a:solidFill>
                  <a:srgbClr val="C62828"/>
                </a:solidFill>
                <a:latin typeface="Arial"/>
              </a:rPr>
              <a:t>5 172 шт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788920" y="6087652"/>
            <a:ext cx="205740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000" b="0" i="0">
                <a:solidFill>
                  <a:srgbClr val="9CA3AF"/>
                </a:solidFill>
                <a:latin typeface="Arial"/>
              </a:rPr>
              <a:t>240 АКБ</a:t>
            </a:r>
          </a:p>
        </p:txBody>
      </p:sp>
      <p:sp>
        <p:nvSpPr>
          <p:cNvPr id="61" name="Rounded Rectangle 99"/>
          <p:cNvSpPr/>
          <p:nvPr/>
        </p:nvSpPr>
        <p:spPr>
          <a:xfrm>
            <a:off x="5029200" y="5036092"/>
            <a:ext cx="2240280" cy="15544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B0B0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Oval 100"/>
          <p:cNvSpPr/>
          <p:nvPr/>
        </p:nvSpPr>
        <p:spPr>
          <a:xfrm>
            <a:off x="5120640" y="5127532"/>
            <a:ext cx="457200" cy="457200"/>
          </a:xfrm>
          <a:prstGeom prst="ellipse">
            <a:avLst/>
          </a:prstGeom>
          <a:solidFill>
            <a:srgbClr val="B0B0B0"/>
          </a:solidFill>
          <a:ln w="1270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5120640" y="5127532"/>
            <a:ext cx="45720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669280" y="5127532"/>
            <a:ext cx="150876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Серый RAL 7004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120640" y="5676172"/>
            <a:ext cx="205740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600" b="1" i="0">
                <a:solidFill>
                  <a:srgbClr val="C62828"/>
                </a:solidFill>
                <a:latin typeface="Arial"/>
              </a:rPr>
              <a:t>5 071 шт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120640" y="6087652"/>
            <a:ext cx="205740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000" b="0" i="0">
                <a:solidFill>
                  <a:srgbClr val="9CA3AF"/>
                </a:solidFill>
                <a:latin typeface="Arial"/>
              </a:rPr>
              <a:t>247 АКБ</a:t>
            </a:r>
          </a:p>
        </p:txBody>
      </p:sp>
      <p:sp>
        <p:nvSpPr>
          <p:cNvPr id="67" name="Rounded Rectangle 105"/>
          <p:cNvSpPr/>
          <p:nvPr/>
        </p:nvSpPr>
        <p:spPr>
          <a:xfrm>
            <a:off x="7360920" y="5036092"/>
            <a:ext cx="2240280" cy="15544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D28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Oval 106"/>
          <p:cNvSpPr/>
          <p:nvPr/>
        </p:nvSpPr>
        <p:spPr>
          <a:xfrm>
            <a:off x="7452360" y="5127532"/>
            <a:ext cx="457200" cy="457200"/>
          </a:xfrm>
          <a:prstGeom prst="ellipse">
            <a:avLst/>
          </a:prstGeom>
          <a:solidFill>
            <a:srgbClr val="3D2817"/>
          </a:solidFill>
          <a:ln w="1270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7452360" y="5127532"/>
            <a:ext cx="45720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001000" y="5127532"/>
            <a:ext cx="150876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Шоколад RAL 8017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452360" y="5676172"/>
            <a:ext cx="205740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600" b="1" i="0">
                <a:solidFill>
                  <a:srgbClr val="C62828"/>
                </a:solidFill>
                <a:latin typeface="Arial"/>
              </a:rPr>
              <a:t>4 524 шт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452360" y="6087652"/>
            <a:ext cx="205740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000" b="0" i="0">
                <a:solidFill>
                  <a:srgbClr val="9CA3AF"/>
                </a:solidFill>
                <a:latin typeface="Arial"/>
              </a:rPr>
              <a:t>287 АКБ</a:t>
            </a:r>
          </a:p>
        </p:txBody>
      </p:sp>
      <p:sp>
        <p:nvSpPr>
          <p:cNvPr id="73" name="Rounded Rectangle 111"/>
          <p:cNvSpPr/>
          <p:nvPr/>
        </p:nvSpPr>
        <p:spPr>
          <a:xfrm>
            <a:off x="9692640" y="5036092"/>
            <a:ext cx="2240280" cy="15544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5F5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Oval 112"/>
          <p:cNvSpPr/>
          <p:nvPr/>
        </p:nvSpPr>
        <p:spPr>
          <a:xfrm>
            <a:off x="9784080" y="5127532"/>
            <a:ext cx="457200" cy="457200"/>
          </a:xfrm>
          <a:prstGeom prst="ellipse">
            <a:avLst/>
          </a:prstGeom>
          <a:solidFill>
            <a:srgbClr val="F5F5DC"/>
          </a:solidFill>
          <a:ln w="1270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9784080" y="5127532"/>
            <a:ext cx="45720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1A1F36"/>
                </a:solidFill>
                <a:latin typeface="Arial"/>
              </a:rPr>
              <a:t>5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0332720" y="5127532"/>
            <a:ext cx="150876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Белый RAL 9010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784080" y="5676172"/>
            <a:ext cx="205740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600" b="1" i="0">
                <a:solidFill>
                  <a:srgbClr val="C62828"/>
                </a:solidFill>
                <a:latin typeface="Arial"/>
              </a:rPr>
              <a:t>3 273 шт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784080" y="6087652"/>
            <a:ext cx="205740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000" b="0" i="0">
                <a:solidFill>
                  <a:srgbClr val="9CA3AF"/>
                </a:solidFill>
                <a:latin typeface="Arial"/>
              </a:rPr>
              <a:t>225 АКБ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94360"/>
            <a:ext cx="12191695" cy="36576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60175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Arial"/>
              </a:rPr>
              <a:t>ВАРИАНТ 1 — ВЕСЬ МОДЕЛЬНЫЙ РЯД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19695" y="73152"/>
            <a:ext cx="420624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r"/>
            <a:r>
              <a:rPr sz="1100" b="0" i="0">
                <a:solidFill>
                  <a:srgbClr val="FBBF24"/>
                </a:solidFill>
                <a:latin typeface="Arial"/>
              </a:rPr>
              <a:t>3 категории · 27 SKU · выкладка по сфере назначения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728074"/>
            <a:ext cx="11460175" cy="1783080"/>
          </a:xfrm>
          <a:prstGeom prst="roundRect">
            <a:avLst/>
          </a:prstGeom>
          <a:solidFill>
            <a:srgbClr val="E5E7EB"/>
          </a:solidFill>
          <a:ln w="1270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2300842"/>
            <a:ext cx="11185855" cy="182880"/>
          </a:xfrm>
          <a:prstGeom prst="rect">
            <a:avLst/>
          </a:prstGeom>
          <a:solidFill>
            <a:srgbClr val="8B6F47"/>
          </a:solidFill>
          <a:ln w="12700">
            <a:solidFill>
              <a:srgbClr val="6B56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773794"/>
            <a:ext cx="54864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000" b="1" i="0">
                <a:solidFill>
                  <a:srgbClr val="C62828"/>
                </a:solidFill>
                <a:latin typeface="Arial"/>
              </a:rPr>
              <a:t>ПОЛКА 1: Грунт-эмаль 3в1 по ржавчине (9 цветов × 2 объёма = 14 SKU)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14255" y="773794"/>
            <a:ext cx="164592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/>
            <a:r>
              <a:rPr sz="900" b="1" i="0">
                <a:solidFill>
                  <a:srgbClr val="C62828"/>
                </a:solidFill>
                <a:latin typeface="Arial"/>
              </a:rPr>
              <a:t>14 SKU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1048114"/>
            <a:ext cx="694486" cy="1188720"/>
          </a:xfrm>
          <a:prstGeom prst="roundRect">
            <a:avLst/>
          </a:prstGeom>
          <a:solidFill>
            <a:srgbClr val="1A1A1A"/>
          </a:solidFill>
          <a:ln w="635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67512" y="1011538"/>
            <a:ext cx="639622" cy="54864"/>
          </a:xfrm>
          <a:prstGeom prst="rect">
            <a:avLst/>
          </a:prstGeom>
          <a:solidFill>
            <a:srgbClr val="9CA3AF"/>
          </a:solidFill>
          <a:ln w="381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" y="1066402"/>
            <a:ext cx="694486" cy="11521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rial"/>
              </a:rPr>
              <a:t>TITAN</a:t>
            </a:r>
          </a:p>
          <a:p>
            <a:pPr algn="ctr"/>
            <a:r>
              <a:rPr sz="500" b="1">
                <a:solidFill>
                  <a:srgbClr val="FFFFFF"/>
                </a:solidFill>
                <a:latin typeface="Arial"/>
              </a:rPr>
              <a:t>3в1 0.75л</a:t>
            </a:r>
          </a:p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Чёрный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426006" y="1048114"/>
            <a:ext cx="694486" cy="1188720"/>
          </a:xfrm>
          <a:prstGeom prst="roundRect">
            <a:avLst/>
          </a:prstGeom>
          <a:solidFill>
            <a:srgbClr val="3D2817"/>
          </a:solidFill>
          <a:ln w="635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453438" y="1011538"/>
            <a:ext cx="639622" cy="54864"/>
          </a:xfrm>
          <a:prstGeom prst="rect">
            <a:avLst/>
          </a:prstGeom>
          <a:solidFill>
            <a:srgbClr val="9CA3AF"/>
          </a:solidFill>
          <a:ln w="381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426006" y="1066402"/>
            <a:ext cx="694486" cy="11521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rial"/>
              </a:rPr>
              <a:t>TITAN</a:t>
            </a:r>
          </a:p>
          <a:p>
            <a:pPr algn="ctr"/>
            <a:r>
              <a:rPr sz="500" b="1">
                <a:solidFill>
                  <a:srgbClr val="FFFFFF"/>
                </a:solidFill>
                <a:latin typeface="Arial"/>
              </a:rPr>
              <a:t>3в1 0.75л</a:t>
            </a:r>
          </a:p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Шоколад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211933" y="1048114"/>
            <a:ext cx="694486" cy="1188720"/>
          </a:xfrm>
          <a:prstGeom prst="roundRect">
            <a:avLst/>
          </a:prstGeom>
          <a:solidFill>
            <a:srgbClr val="B0B0B0"/>
          </a:solidFill>
          <a:ln w="635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2239365" y="1011538"/>
            <a:ext cx="639622" cy="54864"/>
          </a:xfrm>
          <a:prstGeom prst="rect">
            <a:avLst/>
          </a:prstGeom>
          <a:solidFill>
            <a:srgbClr val="9CA3AF"/>
          </a:solidFill>
          <a:ln w="381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211933" y="1066402"/>
            <a:ext cx="694486" cy="11521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600" b="1">
                <a:solidFill>
                  <a:srgbClr val="1A1F36"/>
                </a:solidFill>
                <a:latin typeface="Arial"/>
              </a:rPr>
              <a:t>TITAN</a:t>
            </a:r>
          </a:p>
          <a:p>
            <a:pPr algn="ctr"/>
            <a:r>
              <a:rPr sz="500" b="1">
                <a:solidFill>
                  <a:srgbClr val="1A1F36"/>
                </a:solidFill>
                <a:latin typeface="Arial"/>
              </a:rPr>
              <a:t>3в1 0.75л</a:t>
            </a:r>
          </a:p>
          <a:p>
            <a:pPr algn="ctr"/>
            <a:r>
              <a:rPr sz="500" b="0">
                <a:solidFill>
                  <a:srgbClr val="1A1F36"/>
                </a:solidFill>
                <a:latin typeface="Arial"/>
              </a:rPr>
              <a:t>Серый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997860" y="1048114"/>
            <a:ext cx="694486" cy="1188720"/>
          </a:xfrm>
          <a:prstGeom prst="roundRect">
            <a:avLst/>
          </a:prstGeom>
          <a:solidFill>
            <a:srgbClr val="404040"/>
          </a:solidFill>
          <a:ln w="635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3025292" y="1011538"/>
            <a:ext cx="639622" cy="54864"/>
          </a:xfrm>
          <a:prstGeom prst="rect">
            <a:avLst/>
          </a:prstGeom>
          <a:solidFill>
            <a:srgbClr val="9CA3AF"/>
          </a:solidFill>
          <a:ln w="381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997860" y="1066402"/>
            <a:ext cx="694486" cy="11521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rial"/>
              </a:rPr>
              <a:t>TITAN</a:t>
            </a:r>
          </a:p>
          <a:p>
            <a:pPr algn="ctr"/>
            <a:r>
              <a:rPr sz="500" b="1">
                <a:solidFill>
                  <a:srgbClr val="FFFFFF"/>
                </a:solidFill>
                <a:latin typeface="Arial"/>
              </a:rPr>
              <a:t>3в1 0.75л</a:t>
            </a:r>
          </a:p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Графит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783787" y="1048114"/>
            <a:ext cx="694486" cy="1188720"/>
          </a:xfrm>
          <a:prstGeom prst="roundRect">
            <a:avLst/>
          </a:prstGeom>
          <a:solidFill>
            <a:srgbClr val="F5F5DC"/>
          </a:solidFill>
          <a:ln w="635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3811219" y="1011538"/>
            <a:ext cx="639622" cy="54864"/>
          </a:xfrm>
          <a:prstGeom prst="rect">
            <a:avLst/>
          </a:prstGeom>
          <a:solidFill>
            <a:srgbClr val="9CA3AF"/>
          </a:solidFill>
          <a:ln w="381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783787" y="1066402"/>
            <a:ext cx="694486" cy="11521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600" b="1">
                <a:solidFill>
                  <a:srgbClr val="1A1F36"/>
                </a:solidFill>
                <a:latin typeface="Arial"/>
              </a:rPr>
              <a:t>TITAN</a:t>
            </a:r>
          </a:p>
          <a:p>
            <a:pPr algn="ctr"/>
            <a:r>
              <a:rPr sz="500" b="1">
                <a:solidFill>
                  <a:srgbClr val="1A1F36"/>
                </a:solidFill>
                <a:latin typeface="Arial"/>
              </a:rPr>
              <a:t>3в1 0.75л</a:t>
            </a:r>
          </a:p>
          <a:p>
            <a:pPr algn="ctr"/>
            <a:r>
              <a:rPr sz="500" b="0">
                <a:solidFill>
                  <a:srgbClr val="1A1F36"/>
                </a:solidFill>
                <a:latin typeface="Arial"/>
              </a:rPr>
              <a:t>Белый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69713" y="1048114"/>
            <a:ext cx="694486" cy="1188720"/>
          </a:xfrm>
          <a:prstGeom prst="roundRect">
            <a:avLst/>
          </a:prstGeom>
          <a:solidFill>
            <a:srgbClr val="2D5016"/>
          </a:solidFill>
          <a:ln w="635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597145" y="1011538"/>
            <a:ext cx="639622" cy="54864"/>
          </a:xfrm>
          <a:prstGeom prst="rect">
            <a:avLst/>
          </a:prstGeom>
          <a:solidFill>
            <a:srgbClr val="9CA3AF"/>
          </a:solidFill>
          <a:ln w="381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569713" y="1066402"/>
            <a:ext cx="694486" cy="11521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rial"/>
              </a:rPr>
              <a:t>TITAN</a:t>
            </a:r>
          </a:p>
          <a:p>
            <a:pPr algn="ctr"/>
            <a:r>
              <a:rPr sz="500" b="1">
                <a:solidFill>
                  <a:srgbClr val="FFFFFF"/>
                </a:solidFill>
                <a:latin typeface="Arial"/>
              </a:rPr>
              <a:t>3в1 0.75л</a:t>
            </a:r>
          </a:p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Зелёный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355640" y="1048114"/>
            <a:ext cx="694486" cy="1188720"/>
          </a:xfrm>
          <a:prstGeom prst="roundRect">
            <a:avLst/>
          </a:prstGeom>
          <a:solidFill>
            <a:srgbClr val="E6B800"/>
          </a:solidFill>
          <a:ln w="635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5383072" y="1011538"/>
            <a:ext cx="639622" cy="54864"/>
          </a:xfrm>
          <a:prstGeom prst="rect">
            <a:avLst/>
          </a:prstGeom>
          <a:solidFill>
            <a:srgbClr val="9CA3AF"/>
          </a:solidFill>
          <a:ln w="381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355640" y="1066402"/>
            <a:ext cx="694486" cy="11521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600" b="1">
                <a:solidFill>
                  <a:srgbClr val="1A1F36"/>
                </a:solidFill>
                <a:latin typeface="Arial"/>
              </a:rPr>
              <a:t>TITAN</a:t>
            </a:r>
          </a:p>
          <a:p>
            <a:pPr algn="ctr"/>
            <a:r>
              <a:rPr sz="500" b="1">
                <a:solidFill>
                  <a:srgbClr val="1A1F36"/>
                </a:solidFill>
                <a:latin typeface="Arial"/>
              </a:rPr>
              <a:t>3в1 0.75л</a:t>
            </a:r>
          </a:p>
          <a:p>
            <a:pPr algn="ctr"/>
            <a:r>
              <a:rPr sz="500" b="0">
                <a:solidFill>
                  <a:srgbClr val="1A1F36"/>
                </a:solidFill>
                <a:latin typeface="Arial"/>
              </a:rPr>
              <a:t>Жёлтый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41567" y="1048114"/>
            <a:ext cx="694486" cy="1188720"/>
          </a:xfrm>
          <a:prstGeom prst="roundRect">
            <a:avLst/>
          </a:prstGeom>
          <a:solidFill>
            <a:srgbClr val="0047AB"/>
          </a:solidFill>
          <a:ln w="635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168999" y="1011538"/>
            <a:ext cx="639622" cy="54864"/>
          </a:xfrm>
          <a:prstGeom prst="rect">
            <a:avLst/>
          </a:prstGeom>
          <a:solidFill>
            <a:srgbClr val="9CA3AF"/>
          </a:solidFill>
          <a:ln w="381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141567" y="1066402"/>
            <a:ext cx="694486" cy="11521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rial"/>
              </a:rPr>
              <a:t>TITAN</a:t>
            </a:r>
          </a:p>
          <a:p>
            <a:pPr algn="ctr"/>
            <a:r>
              <a:rPr sz="500" b="1">
                <a:solidFill>
                  <a:srgbClr val="FFFFFF"/>
                </a:solidFill>
                <a:latin typeface="Arial"/>
              </a:rPr>
              <a:t>3в1 0.75л</a:t>
            </a:r>
          </a:p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Синий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927494" y="1048114"/>
            <a:ext cx="694486" cy="1188720"/>
          </a:xfrm>
          <a:prstGeom prst="roundRect">
            <a:avLst/>
          </a:prstGeom>
          <a:solidFill>
            <a:srgbClr val="7B3F00"/>
          </a:solidFill>
          <a:ln w="635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6954926" y="1011538"/>
            <a:ext cx="639622" cy="54864"/>
          </a:xfrm>
          <a:prstGeom prst="rect">
            <a:avLst/>
          </a:prstGeom>
          <a:solidFill>
            <a:srgbClr val="9CA3AF"/>
          </a:solidFill>
          <a:ln w="381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927494" y="1066402"/>
            <a:ext cx="694486" cy="11521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rial"/>
              </a:rPr>
              <a:t>TITAN</a:t>
            </a:r>
          </a:p>
          <a:p>
            <a:pPr algn="ctr"/>
            <a:r>
              <a:rPr sz="500" b="1">
                <a:solidFill>
                  <a:srgbClr val="FFFFFF"/>
                </a:solidFill>
                <a:latin typeface="Arial"/>
              </a:rPr>
              <a:t>3в1 0.75л</a:t>
            </a:r>
          </a:p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К-кор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713421" y="1048114"/>
            <a:ext cx="694486" cy="1188720"/>
          </a:xfrm>
          <a:prstGeom prst="roundRect">
            <a:avLst/>
          </a:prstGeom>
          <a:solidFill>
            <a:srgbClr val="1A1A1A"/>
          </a:solidFill>
          <a:ln w="635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7740853" y="1011538"/>
            <a:ext cx="639622" cy="54864"/>
          </a:xfrm>
          <a:prstGeom prst="rect">
            <a:avLst/>
          </a:prstGeom>
          <a:solidFill>
            <a:srgbClr val="9CA3AF"/>
          </a:solidFill>
          <a:ln w="381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713421" y="1066402"/>
            <a:ext cx="694486" cy="11521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rial"/>
              </a:rPr>
              <a:t>TITAN</a:t>
            </a:r>
          </a:p>
          <a:p>
            <a:pPr algn="ctr"/>
            <a:r>
              <a:rPr sz="500" b="1">
                <a:solidFill>
                  <a:srgbClr val="FFFFFF"/>
                </a:solidFill>
                <a:latin typeface="Arial"/>
              </a:rPr>
              <a:t>3в1 2л</a:t>
            </a:r>
          </a:p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Чёрный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499347" y="1048114"/>
            <a:ext cx="694486" cy="1188720"/>
          </a:xfrm>
          <a:prstGeom prst="roundRect">
            <a:avLst/>
          </a:prstGeom>
          <a:solidFill>
            <a:srgbClr val="3D2817"/>
          </a:solidFill>
          <a:ln w="635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8526779" y="1011538"/>
            <a:ext cx="639622" cy="54864"/>
          </a:xfrm>
          <a:prstGeom prst="rect">
            <a:avLst/>
          </a:prstGeom>
          <a:solidFill>
            <a:srgbClr val="9CA3AF"/>
          </a:solidFill>
          <a:ln w="381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499347" y="1066402"/>
            <a:ext cx="694486" cy="11521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rial"/>
              </a:rPr>
              <a:t>TITAN</a:t>
            </a:r>
          </a:p>
          <a:p>
            <a:pPr algn="ctr"/>
            <a:r>
              <a:rPr sz="500" b="1">
                <a:solidFill>
                  <a:srgbClr val="FFFFFF"/>
                </a:solidFill>
                <a:latin typeface="Arial"/>
              </a:rPr>
              <a:t>3в1 2л</a:t>
            </a:r>
          </a:p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Шоколад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285274" y="1048114"/>
            <a:ext cx="694486" cy="1188720"/>
          </a:xfrm>
          <a:prstGeom prst="roundRect">
            <a:avLst/>
          </a:prstGeom>
          <a:solidFill>
            <a:srgbClr val="B0B0B0"/>
          </a:solidFill>
          <a:ln w="635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9312706" y="1011538"/>
            <a:ext cx="639622" cy="54864"/>
          </a:xfrm>
          <a:prstGeom prst="rect">
            <a:avLst/>
          </a:prstGeom>
          <a:solidFill>
            <a:srgbClr val="9CA3AF"/>
          </a:solidFill>
          <a:ln w="381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9285274" y="1066402"/>
            <a:ext cx="694486" cy="11521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600" b="1">
                <a:solidFill>
                  <a:srgbClr val="1A1F36"/>
                </a:solidFill>
                <a:latin typeface="Arial"/>
              </a:rPr>
              <a:t>TITAN</a:t>
            </a:r>
          </a:p>
          <a:p>
            <a:pPr algn="ctr"/>
            <a:r>
              <a:rPr sz="500" b="1">
                <a:solidFill>
                  <a:srgbClr val="1A1F36"/>
                </a:solidFill>
                <a:latin typeface="Arial"/>
              </a:rPr>
              <a:t>3в1 2л</a:t>
            </a:r>
          </a:p>
          <a:p>
            <a:pPr algn="ctr"/>
            <a:r>
              <a:rPr sz="500" b="0">
                <a:solidFill>
                  <a:srgbClr val="1A1F36"/>
                </a:solidFill>
                <a:latin typeface="Arial"/>
              </a:rPr>
              <a:t>Серый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0071201" y="1048114"/>
            <a:ext cx="694486" cy="1188720"/>
          </a:xfrm>
          <a:prstGeom prst="roundRect">
            <a:avLst/>
          </a:prstGeom>
          <a:solidFill>
            <a:srgbClr val="404040"/>
          </a:solidFill>
          <a:ln w="635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10098633" y="1011538"/>
            <a:ext cx="639622" cy="54864"/>
          </a:xfrm>
          <a:prstGeom prst="rect">
            <a:avLst/>
          </a:prstGeom>
          <a:solidFill>
            <a:srgbClr val="9CA3AF"/>
          </a:solidFill>
          <a:ln w="381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10071201" y="1066402"/>
            <a:ext cx="694486" cy="11521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rial"/>
              </a:rPr>
              <a:t>TITAN</a:t>
            </a:r>
          </a:p>
          <a:p>
            <a:pPr algn="ctr"/>
            <a:r>
              <a:rPr sz="500" b="1">
                <a:solidFill>
                  <a:srgbClr val="FFFFFF"/>
                </a:solidFill>
                <a:latin typeface="Arial"/>
              </a:rPr>
              <a:t>3в1 2л</a:t>
            </a:r>
          </a:p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Графит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0857128" y="1048114"/>
            <a:ext cx="694486" cy="1188720"/>
          </a:xfrm>
          <a:prstGeom prst="roundRect">
            <a:avLst/>
          </a:prstGeom>
          <a:solidFill>
            <a:srgbClr val="F5F5DC"/>
          </a:solidFill>
          <a:ln w="635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10884560" y="1011538"/>
            <a:ext cx="639622" cy="54864"/>
          </a:xfrm>
          <a:prstGeom prst="rect">
            <a:avLst/>
          </a:prstGeom>
          <a:solidFill>
            <a:srgbClr val="9CA3AF"/>
          </a:solidFill>
          <a:ln w="381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10857128" y="1066402"/>
            <a:ext cx="694486" cy="11521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600" b="1">
                <a:solidFill>
                  <a:srgbClr val="1A1F36"/>
                </a:solidFill>
                <a:latin typeface="Arial"/>
              </a:rPr>
              <a:t>TITAN</a:t>
            </a:r>
          </a:p>
          <a:p>
            <a:pPr algn="ctr"/>
            <a:r>
              <a:rPr sz="500" b="1">
                <a:solidFill>
                  <a:srgbClr val="1A1F36"/>
                </a:solidFill>
                <a:latin typeface="Arial"/>
              </a:rPr>
              <a:t>3в1 2л</a:t>
            </a:r>
          </a:p>
          <a:p>
            <a:pPr algn="ctr"/>
            <a:r>
              <a:rPr sz="500" b="0">
                <a:solidFill>
                  <a:srgbClr val="1A1F36"/>
                </a:solidFill>
                <a:latin typeface="Arial"/>
              </a:rPr>
              <a:t>Белый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365760" y="2694034"/>
            <a:ext cx="11460175" cy="1783080"/>
          </a:xfrm>
          <a:prstGeom prst="roundRect">
            <a:avLst/>
          </a:prstGeom>
          <a:solidFill>
            <a:srgbClr val="E5E7EB"/>
          </a:solidFill>
          <a:ln w="1270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502920" y="4266802"/>
            <a:ext cx="11185855" cy="182880"/>
          </a:xfrm>
          <a:prstGeom prst="rect">
            <a:avLst/>
          </a:prstGeom>
          <a:solidFill>
            <a:srgbClr val="8B6F47"/>
          </a:solidFill>
          <a:ln w="12700">
            <a:solidFill>
              <a:srgbClr val="6B56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502920" y="2739754"/>
            <a:ext cx="54864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000" b="1" i="0">
                <a:solidFill>
                  <a:srgbClr val="1A1F36"/>
                </a:solidFill>
                <a:latin typeface="Arial"/>
              </a:rPr>
              <a:t>ПОЛКА 2: Быстросохнущая матовая (6 цветов 0.75л + 1×2.2л = 7 SKU, графит RAL 7024 — скоро)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814255" y="2739754"/>
            <a:ext cx="164592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/>
            <a:r>
              <a:rPr sz="900" b="1" i="0">
                <a:solidFill>
                  <a:srgbClr val="1A1F36"/>
                </a:solidFill>
                <a:latin typeface="Arial"/>
              </a:rPr>
              <a:t>7 SKU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40080" y="3014074"/>
            <a:ext cx="1480413" cy="1188720"/>
          </a:xfrm>
          <a:prstGeom prst="roundRect">
            <a:avLst/>
          </a:prstGeom>
          <a:solidFill>
            <a:srgbClr val="1A1A1A"/>
          </a:solidFill>
          <a:ln w="635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667512" y="2977498"/>
            <a:ext cx="1425549" cy="54864"/>
          </a:xfrm>
          <a:prstGeom prst="rect">
            <a:avLst/>
          </a:prstGeom>
          <a:solidFill>
            <a:srgbClr val="9CA3AF"/>
          </a:solidFill>
          <a:ln w="381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640080" y="3032362"/>
            <a:ext cx="1480413" cy="11521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rial"/>
              </a:rPr>
              <a:t>TITAN</a:t>
            </a:r>
          </a:p>
          <a:p>
            <a:pPr algn="ctr"/>
            <a:r>
              <a:rPr sz="500" b="1">
                <a:solidFill>
                  <a:srgbClr val="FFFFFF"/>
                </a:solidFill>
                <a:latin typeface="Arial"/>
              </a:rPr>
              <a:t>БЫСТ 0.75л</a:t>
            </a:r>
          </a:p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Чёрный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2211933" y="3014074"/>
            <a:ext cx="1480413" cy="1188720"/>
          </a:xfrm>
          <a:prstGeom prst="roundRect">
            <a:avLst/>
          </a:prstGeom>
          <a:solidFill>
            <a:srgbClr val="808080"/>
          </a:solidFill>
          <a:ln w="635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2239365" y="2977498"/>
            <a:ext cx="1425549" cy="54864"/>
          </a:xfrm>
          <a:prstGeom prst="rect">
            <a:avLst/>
          </a:prstGeom>
          <a:solidFill>
            <a:srgbClr val="9CA3AF"/>
          </a:solidFill>
          <a:ln w="381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2211933" y="3032362"/>
            <a:ext cx="1480413" cy="11521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rial"/>
              </a:rPr>
              <a:t>TITAN</a:t>
            </a:r>
          </a:p>
          <a:p>
            <a:pPr algn="ctr"/>
            <a:r>
              <a:rPr sz="500" b="1">
                <a:solidFill>
                  <a:srgbClr val="FFFFFF"/>
                </a:solidFill>
                <a:latin typeface="Arial"/>
              </a:rPr>
              <a:t>БЫСТ 0.75л</a:t>
            </a:r>
          </a:p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Серый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3783787" y="3014074"/>
            <a:ext cx="1480413" cy="1188720"/>
          </a:xfrm>
          <a:prstGeom prst="roundRect">
            <a:avLst/>
          </a:prstGeom>
          <a:solidFill>
            <a:srgbClr val="3D2817"/>
          </a:solidFill>
          <a:ln w="635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ectangle 63"/>
          <p:cNvSpPr/>
          <p:nvPr/>
        </p:nvSpPr>
        <p:spPr>
          <a:xfrm>
            <a:off x="3811219" y="2977498"/>
            <a:ext cx="1425549" cy="54864"/>
          </a:xfrm>
          <a:prstGeom prst="rect">
            <a:avLst/>
          </a:prstGeom>
          <a:solidFill>
            <a:srgbClr val="9CA3AF"/>
          </a:solidFill>
          <a:ln w="381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3783787" y="3032362"/>
            <a:ext cx="1480413" cy="11521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rial"/>
              </a:rPr>
              <a:t>TITAN</a:t>
            </a:r>
          </a:p>
          <a:p>
            <a:pPr algn="ctr"/>
            <a:r>
              <a:rPr sz="500" b="1">
                <a:solidFill>
                  <a:srgbClr val="FFFFFF"/>
                </a:solidFill>
                <a:latin typeface="Arial"/>
              </a:rPr>
              <a:t>БЫСТ 0.75л</a:t>
            </a:r>
          </a:p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Шоколад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5355640" y="3014074"/>
            <a:ext cx="1480413" cy="1188720"/>
          </a:xfrm>
          <a:prstGeom prst="roundRect">
            <a:avLst/>
          </a:prstGeom>
          <a:solidFill>
            <a:srgbClr val="F5F5DC"/>
          </a:solidFill>
          <a:ln w="635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ectangle 66"/>
          <p:cNvSpPr/>
          <p:nvPr/>
        </p:nvSpPr>
        <p:spPr>
          <a:xfrm>
            <a:off x="5383072" y="2977498"/>
            <a:ext cx="1425549" cy="54864"/>
          </a:xfrm>
          <a:prstGeom prst="rect">
            <a:avLst/>
          </a:prstGeom>
          <a:solidFill>
            <a:srgbClr val="9CA3AF"/>
          </a:solidFill>
          <a:ln w="381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5355640" y="3032362"/>
            <a:ext cx="1480413" cy="11521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600" b="1">
                <a:solidFill>
                  <a:srgbClr val="1A1F36"/>
                </a:solidFill>
                <a:latin typeface="Arial"/>
              </a:rPr>
              <a:t>TITAN</a:t>
            </a:r>
          </a:p>
          <a:p>
            <a:pPr algn="ctr"/>
            <a:r>
              <a:rPr sz="500" b="1">
                <a:solidFill>
                  <a:srgbClr val="1A1F36"/>
                </a:solidFill>
                <a:latin typeface="Arial"/>
              </a:rPr>
              <a:t>БЫСТ 0.75л</a:t>
            </a:r>
          </a:p>
          <a:p>
            <a:pPr algn="ctr"/>
            <a:r>
              <a:rPr sz="500" b="0">
                <a:solidFill>
                  <a:srgbClr val="1A1F36"/>
                </a:solidFill>
                <a:latin typeface="Arial"/>
              </a:rPr>
              <a:t>Белый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6927494" y="3014074"/>
            <a:ext cx="1480413" cy="1188720"/>
          </a:xfrm>
          <a:prstGeom prst="roundRect">
            <a:avLst/>
          </a:prstGeom>
          <a:solidFill>
            <a:srgbClr val="404040"/>
          </a:solidFill>
          <a:ln w="635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Rectangle 69"/>
          <p:cNvSpPr/>
          <p:nvPr/>
        </p:nvSpPr>
        <p:spPr>
          <a:xfrm>
            <a:off x="6954926" y="2977498"/>
            <a:ext cx="1425549" cy="54864"/>
          </a:xfrm>
          <a:prstGeom prst="rect">
            <a:avLst/>
          </a:prstGeom>
          <a:solidFill>
            <a:srgbClr val="9CA3AF"/>
          </a:solidFill>
          <a:ln w="381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6927494" y="3032362"/>
            <a:ext cx="1480413" cy="11521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rial"/>
              </a:rPr>
              <a:t>TITAN</a:t>
            </a:r>
          </a:p>
          <a:p>
            <a:pPr algn="ctr"/>
            <a:r>
              <a:rPr sz="500" b="1">
                <a:solidFill>
                  <a:srgbClr val="FFFFFF"/>
                </a:solidFill>
                <a:latin typeface="Arial"/>
              </a:rPr>
              <a:t>БЫСТ 0.75л</a:t>
            </a:r>
          </a:p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Графит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8499347" y="3014074"/>
            <a:ext cx="1480413" cy="1188720"/>
          </a:xfrm>
          <a:prstGeom prst="roundRect">
            <a:avLst/>
          </a:prstGeom>
          <a:solidFill>
            <a:srgbClr val="E6C800"/>
          </a:solidFill>
          <a:ln w="635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Rectangle 72"/>
          <p:cNvSpPr/>
          <p:nvPr/>
        </p:nvSpPr>
        <p:spPr>
          <a:xfrm>
            <a:off x="8526779" y="2977498"/>
            <a:ext cx="1425549" cy="54864"/>
          </a:xfrm>
          <a:prstGeom prst="rect">
            <a:avLst/>
          </a:prstGeom>
          <a:solidFill>
            <a:srgbClr val="9CA3AF"/>
          </a:solidFill>
          <a:ln w="381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8499347" y="3032362"/>
            <a:ext cx="1480413" cy="11521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600" b="1">
                <a:solidFill>
                  <a:srgbClr val="1A1F36"/>
                </a:solidFill>
                <a:latin typeface="Arial"/>
              </a:rPr>
              <a:t>TITAN</a:t>
            </a:r>
          </a:p>
          <a:p>
            <a:pPr algn="ctr"/>
            <a:r>
              <a:rPr sz="500" b="1">
                <a:solidFill>
                  <a:srgbClr val="1A1F36"/>
                </a:solidFill>
                <a:latin typeface="Arial"/>
              </a:rPr>
              <a:t>БЫСТ 0.75л</a:t>
            </a:r>
          </a:p>
          <a:p>
            <a:pPr algn="ctr"/>
            <a:r>
              <a:rPr sz="500" b="0">
                <a:solidFill>
                  <a:srgbClr val="1A1F36"/>
                </a:solidFill>
                <a:latin typeface="Arial"/>
              </a:rPr>
              <a:t>Жёлтый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10071201" y="3014074"/>
            <a:ext cx="1480413" cy="1188720"/>
          </a:xfrm>
          <a:prstGeom prst="roundRect">
            <a:avLst/>
          </a:prstGeom>
          <a:solidFill>
            <a:srgbClr val="1A1A1A"/>
          </a:solidFill>
          <a:ln w="635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Rectangle 75"/>
          <p:cNvSpPr/>
          <p:nvPr/>
        </p:nvSpPr>
        <p:spPr>
          <a:xfrm>
            <a:off x="10098633" y="2977498"/>
            <a:ext cx="1425549" cy="54864"/>
          </a:xfrm>
          <a:prstGeom prst="rect">
            <a:avLst/>
          </a:prstGeom>
          <a:solidFill>
            <a:srgbClr val="9CA3AF"/>
          </a:solidFill>
          <a:ln w="381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10071201" y="3032362"/>
            <a:ext cx="1480413" cy="11521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rial"/>
              </a:rPr>
              <a:t>TITAN</a:t>
            </a:r>
          </a:p>
          <a:p>
            <a:pPr algn="ctr"/>
            <a:r>
              <a:rPr sz="500" b="1">
                <a:solidFill>
                  <a:srgbClr val="FFFFFF"/>
                </a:solidFill>
                <a:latin typeface="Arial"/>
              </a:rPr>
              <a:t>БЫСТ 2.2л</a:t>
            </a:r>
          </a:p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Чёрный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365760" y="4659994"/>
            <a:ext cx="11460175" cy="1783080"/>
          </a:xfrm>
          <a:prstGeom prst="roundRect">
            <a:avLst/>
          </a:prstGeom>
          <a:solidFill>
            <a:srgbClr val="E5E7EB"/>
          </a:solidFill>
          <a:ln w="1270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Rectangle 78"/>
          <p:cNvSpPr/>
          <p:nvPr/>
        </p:nvSpPr>
        <p:spPr>
          <a:xfrm>
            <a:off x="502920" y="6206884"/>
            <a:ext cx="11185855" cy="182880"/>
          </a:xfrm>
          <a:prstGeom prst="rect">
            <a:avLst/>
          </a:prstGeom>
          <a:solidFill>
            <a:srgbClr val="8B6F47"/>
          </a:solidFill>
          <a:ln w="12700">
            <a:solidFill>
              <a:srgbClr val="6B56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502920" y="4705714"/>
            <a:ext cx="54864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000" b="1" i="0">
                <a:solidFill>
                  <a:srgbClr val="B8860B"/>
                </a:solidFill>
                <a:latin typeface="Arial"/>
              </a:rPr>
              <a:t>ПОЛКА 3: Эмаль с молотковым эффектом (6 цветов 0.8кг + 1×2.5кг = 7 SKU)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814255" y="4705714"/>
            <a:ext cx="164592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/>
            <a:r>
              <a:rPr sz="900" b="1" i="0">
                <a:solidFill>
                  <a:srgbClr val="B8860B"/>
                </a:solidFill>
                <a:latin typeface="Arial"/>
              </a:rPr>
              <a:t>7 SKU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640080" y="4980034"/>
            <a:ext cx="1480413" cy="1188720"/>
          </a:xfrm>
          <a:prstGeom prst="roundRect">
            <a:avLst/>
          </a:prstGeom>
          <a:solidFill>
            <a:srgbClr val="1A1A1A"/>
          </a:solidFill>
          <a:ln w="635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Rectangle 82"/>
          <p:cNvSpPr/>
          <p:nvPr/>
        </p:nvSpPr>
        <p:spPr>
          <a:xfrm>
            <a:off x="667512" y="4943458"/>
            <a:ext cx="1425549" cy="54864"/>
          </a:xfrm>
          <a:prstGeom prst="rect">
            <a:avLst/>
          </a:prstGeom>
          <a:solidFill>
            <a:srgbClr val="9CA3AF"/>
          </a:solidFill>
          <a:ln w="381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Oval 83"/>
          <p:cNvSpPr/>
          <p:nvPr/>
        </p:nvSpPr>
        <p:spPr>
          <a:xfrm>
            <a:off x="1366228" y="5799551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Oval 84"/>
          <p:cNvSpPr/>
          <p:nvPr/>
        </p:nvSpPr>
        <p:spPr>
          <a:xfrm>
            <a:off x="914870" y="5891378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Oval 85"/>
          <p:cNvSpPr/>
          <p:nvPr/>
        </p:nvSpPr>
        <p:spPr>
          <a:xfrm>
            <a:off x="899411" y="5648207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Oval 86"/>
          <p:cNvSpPr/>
          <p:nvPr/>
        </p:nvSpPr>
        <p:spPr>
          <a:xfrm>
            <a:off x="1417796" y="5192580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640080" y="4998322"/>
            <a:ext cx="1480413" cy="11521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rial"/>
              </a:rPr>
              <a:t>TITAN</a:t>
            </a:r>
          </a:p>
          <a:p>
            <a:pPr algn="ctr"/>
            <a:r>
              <a:rPr sz="500" b="1">
                <a:solidFill>
                  <a:srgbClr val="FFFFFF"/>
                </a:solidFill>
                <a:latin typeface="Arial"/>
              </a:rPr>
              <a:t>МОЛ 0.8кг</a:t>
            </a:r>
          </a:p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Чёрный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2211933" y="4980034"/>
            <a:ext cx="1480413" cy="1188720"/>
          </a:xfrm>
          <a:prstGeom prst="roundRect">
            <a:avLst/>
          </a:prstGeom>
          <a:solidFill>
            <a:srgbClr val="4A2C17"/>
          </a:solidFill>
          <a:ln w="635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Rectangle 89"/>
          <p:cNvSpPr/>
          <p:nvPr/>
        </p:nvSpPr>
        <p:spPr>
          <a:xfrm>
            <a:off x="2239365" y="4943458"/>
            <a:ext cx="1425549" cy="54864"/>
          </a:xfrm>
          <a:prstGeom prst="rect">
            <a:avLst/>
          </a:prstGeom>
          <a:solidFill>
            <a:srgbClr val="9CA3AF"/>
          </a:solidFill>
          <a:ln w="381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Oval 90"/>
          <p:cNvSpPr/>
          <p:nvPr/>
        </p:nvSpPr>
        <p:spPr>
          <a:xfrm>
            <a:off x="2525761" y="5821163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Oval 91"/>
          <p:cNvSpPr/>
          <p:nvPr/>
        </p:nvSpPr>
        <p:spPr>
          <a:xfrm>
            <a:off x="2479342" y="5241017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Oval 92"/>
          <p:cNvSpPr/>
          <p:nvPr/>
        </p:nvSpPr>
        <p:spPr>
          <a:xfrm>
            <a:off x="2972472" y="5543495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Oval 93"/>
          <p:cNvSpPr/>
          <p:nvPr/>
        </p:nvSpPr>
        <p:spPr>
          <a:xfrm>
            <a:off x="2355770" y="5590313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2211933" y="4998322"/>
            <a:ext cx="1480413" cy="11521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rial"/>
              </a:rPr>
              <a:t>TITAN</a:t>
            </a:r>
          </a:p>
          <a:p>
            <a:pPr algn="ctr"/>
            <a:r>
              <a:rPr sz="500" b="1">
                <a:solidFill>
                  <a:srgbClr val="FFFFFF"/>
                </a:solidFill>
                <a:latin typeface="Arial"/>
              </a:rPr>
              <a:t>МОЛ 0.8кг</a:t>
            </a:r>
          </a:p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Корич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3783787" y="4980034"/>
            <a:ext cx="1480413" cy="1188720"/>
          </a:xfrm>
          <a:prstGeom prst="roundRect">
            <a:avLst/>
          </a:prstGeom>
          <a:solidFill>
            <a:srgbClr val="C0C0C0"/>
          </a:solidFill>
          <a:ln w="635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Rectangle 96"/>
          <p:cNvSpPr/>
          <p:nvPr/>
        </p:nvSpPr>
        <p:spPr>
          <a:xfrm>
            <a:off x="3811219" y="4943458"/>
            <a:ext cx="1425549" cy="54864"/>
          </a:xfrm>
          <a:prstGeom prst="rect">
            <a:avLst/>
          </a:prstGeom>
          <a:solidFill>
            <a:srgbClr val="9CA3AF"/>
          </a:solidFill>
          <a:ln w="381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Oval 97"/>
          <p:cNvSpPr/>
          <p:nvPr/>
        </p:nvSpPr>
        <p:spPr>
          <a:xfrm>
            <a:off x="4439128" y="5322981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Oval 98"/>
          <p:cNvSpPr/>
          <p:nvPr/>
        </p:nvSpPr>
        <p:spPr>
          <a:xfrm>
            <a:off x="4921223" y="5591826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Oval 99"/>
          <p:cNvSpPr/>
          <p:nvPr/>
        </p:nvSpPr>
        <p:spPr>
          <a:xfrm>
            <a:off x="4169501" y="5705687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Oval 100"/>
          <p:cNvSpPr/>
          <p:nvPr/>
        </p:nvSpPr>
        <p:spPr>
          <a:xfrm>
            <a:off x="4919258" y="5468984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TextBox 101"/>
          <p:cNvSpPr txBox="1"/>
          <p:nvPr/>
        </p:nvSpPr>
        <p:spPr>
          <a:xfrm>
            <a:off x="3783787" y="4998322"/>
            <a:ext cx="1480413" cy="11521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600" b="1">
                <a:solidFill>
                  <a:srgbClr val="1A1F36"/>
                </a:solidFill>
                <a:latin typeface="Arial"/>
              </a:rPr>
              <a:t>TITAN</a:t>
            </a:r>
          </a:p>
          <a:p>
            <a:pPr algn="ctr"/>
            <a:r>
              <a:rPr sz="500" b="1">
                <a:solidFill>
                  <a:srgbClr val="1A1F36"/>
                </a:solidFill>
                <a:latin typeface="Arial"/>
              </a:rPr>
              <a:t>МОЛ 0.8кг</a:t>
            </a:r>
          </a:p>
          <a:p>
            <a:pPr algn="ctr"/>
            <a:r>
              <a:rPr sz="500" b="0">
                <a:solidFill>
                  <a:srgbClr val="1A1F36"/>
                </a:solidFill>
                <a:latin typeface="Arial"/>
              </a:rPr>
              <a:t>Сереб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5355640" y="4980034"/>
            <a:ext cx="1480413" cy="1188720"/>
          </a:xfrm>
          <a:prstGeom prst="roundRect">
            <a:avLst/>
          </a:prstGeom>
          <a:solidFill>
            <a:srgbClr val="B8860B"/>
          </a:solidFill>
          <a:ln w="635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Rectangle 103"/>
          <p:cNvSpPr/>
          <p:nvPr/>
        </p:nvSpPr>
        <p:spPr>
          <a:xfrm>
            <a:off x="5383072" y="4943458"/>
            <a:ext cx="1425549" cy="54864"/>
          </a:xfrm>
          <a:prstGeom prst="rect">
            <a:avLst/>
          </a:prstGeom>
          <a:solidFill>
            <a:srgbClr val="9CA3AF"/>
          </a:solidFill>
          <a:ln w="381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Oval 104"/>
          <p:cNvSpPr/>
          <p:nvPr/>
        </p:nvSpPr>
        <p:spPr>
          <a:xfrm>
            <a:off x="5582041" y="5211556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Oval 105"/>
          <p:cNvSpPr/>
          <p:nvPr/>
        </p:nvSpPr>
        <p:spPr>
          <a:xfrm>
            <a:off x="5774866" y="5142506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Oval 106"/>
          <p:cNvSpPr/>
          <p:nvPr/>
        </p:nvSpPr>
        <p:spPr>
          <a:xfrm>
            <a:off x="6652573" y="5509288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Oval 107"/>
          <p:cNvSpPr/>
          <p:nvPr/>
        </p:nvSpPr>
        <p:spPr>
          <a:xfrm>
            <a:off x="5732806" y="5810126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TextBox 108"/>
          <p:cNvSpPr txBox="1"/>
          <p:nvPr/>
        </p:nvSpPr>
        <p:spPr>
          <a:xfrm>
            <a:off x="5355640" y="4998322"/>
            <a:ext cx="1480413" cy="11521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rial"/>
              </a:rPr>
              <a:t>TITAN</a:t>
            </a:r>
          </a:p>
          <a:p>
            <a:pPr algn="ctr"/>
            <a:r>
              <a:rPr sz="500" b="1">
                <a:solidFill>
                  <a:srgbClr val="FFFFFF"/>
                </a:solidFill>
                <a:latin typeface="Arial"/>
              </a:rPr>
              <a:t>МОЛ 0.8кг</a:t>
            </a:r>
          </a:p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Золот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6927494" y="4980034"/>
            <a:ext cx="1480413" cy="1188720"/>
          </a:xfrm>
          <a:prstGeom prst="roundRect">
            <a:avLst/>
          </a:prstGeom>
          <a:solidFill>
            <a:srgbClr val="B87333"/>
          </a:solidFill>
          <a:ln w="635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Rectangle 110"/>
          <p:cNvSpPr/>
          <p:nvPr/>
        </p:nvSpPr>
        <p:spPr>
          <a:xfrm>
            <a:off x="6954926" y="4943458"/>
            <a:ext cx="1425549" cy="54864"/>
          </a:xfrm>
          <a:prstGeom prst="rect">
            <a:avLst/>
          </a:prstGeom>
          <a:solidFill>
            <a:srgbClr val="9CA3AF"/>
          </a:solidFill>
          <a:ln w="381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Oval 111"/>
          <p:cNvSpPr/>
          <p:nvPr/>
        </p:nvSpPr>
        <p:spPr>
          <a:xfrm>
            <a:off x="7628577" y="5322224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Oval 112"/>
          <p:cNvSpPr/>
          <p:nvPr/>
        </p:nvSpPr>
        <p:spPr>
          <a:xfrm>
            <a:off x="7691205" y="5714146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Oval 113"/>
          <p:cNvSpPr/>
          <p:nvPr/>
        </p:nvSpPr>
        <p:spPr>
          <a:xfrm>
            <a:off x="7952905" y="5770311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Oval 114"/>
          <p:cNvSpPr/>
          <p:nvPr/>
        </p:nvSpPr>
        <p:spPr>
          <a:xfrm>
            <a:off x="8088697" y="5626334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TextBox 115"/>
          <p:cNvSpPr txBox="1"/>
          <p:nvPr/>
        </p:nvSpPr>
        <p:spPr>
          <a:xfrm>
            <a:off x="6927494" y="4998322"/>
            <a:ext cx="1480413" cy="11521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rial"/>
              </a:rPr>
              <a:t>TITAN</a:t>
            </a:r>
          </a:p>
          <a:p>
            <a:pPr algn="ctr"/>
            <a:r>
              <a:rPr sz="500" b="1">
                <a:solidFill>
                  <a:srgbClr val="FFFFFF"/>
                </a:solidFill>
                <a:latin typeface="Arial"/>
              </a:rPr>
              <a:t>МОЛ 0.8кг</a:t>
            </a:r>
          </a:p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Медн</a:t>
            </a:r>
          </a:p>
        </p:txBody>
      </p:sp>
      <p:sp>
        <p:nvSpPr>
          <p:cNvPr id="117" name="Rounded Rectangle 116"/>
          <p:cNvSpPr/>
          <p:nvPr/>
        </p:nvSpPr>
        <p:spPr>
          <a:xfrm>
            <a:off x="8499347" y="4980034"/>
            <a:ext cx="1480413" cy="1188720"/>
          </a:xfrm>
          <a:prstGeom prst="roundRect">
            <a:avLst/>
          </a:prstGeom>
          <a:solidFill>
            <a:srgbClr val="355E3B"/>
          </a:solidFill>
          <a:ln w="635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Rectangle 117"/>
          <p:cNvSpPr/>
          <p:nvPr/>
        </p:nvSpPr>
        <p:spPr>
          <a:xfrm>
            <a:off x="8526779" y="4943458"/>
            <a:ext cx="1425549" cy="54864"/>
          </a:xfrm>
          <a:prstGeom prst="rect">
            <a:avLst/>
          </a:prstGeom>
          <a:solidFill>
            <a:srgbClr val="9CA3AF"/>
          </a:solidFill>
          <a:ln w="381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Oval 118"/>
          <p:cNvSpPr/>
          <p:nvPr/>
        </p:nvSpPr>
        <p:spPr>
          <a:xfrm>
            <a:off x="8812013" y="5167151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Oval 119"/>
          <p:cNvSpPr/>
          <p:nvPr/>
        </p:nvSpPr>
        <p:spPr>
          <a:xfrm>
            <a:off x="9665969" y="5175346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Oval 120"/>
          <p:cNvSpPr/>
          <p:nvPr/>
        </p:nvSpPr>
        <p:spPr>
          <a:xfrm>
            <a:off x="8957305" y="5623854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Oval 121"/>
          <p:cNvSpPr/>
          <p:nvPr/>
        </p:nvSpPr>
        <p:spPr>
          <a:xfrm>
            <a:off x="9681592" y="5514254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TextBox 122"/>
          <p:cNvSpPr txBox="1"/>
          <p:nvPr/>
        </p:nvSpPr>
        <p:spPr>
          <a:xfrm>
            <a:off x="8499347" y="4998322"/>
            <a:ext cx="1480413" cy="11521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rial"/>
              </a:rPr>
              <a:t>TITAN</a:t>
            </a:r>
          </a:p>
          <a:p>
            <a:pPr algn="ctr"/>
            <a:r>
              <a:rPr sz="500" b="1">
                <a:solidFill>
                  <a:srgbClr val="FFFFFF"/>
                </a:solidFill>
                <a:latin typeface="Arial"/>
              </a:rPr>
              <a:t>МОЛ 0.8кг</a:t>
            </a:r>
          </a:p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Т-зел</a:t>
            </a:r>
          </a:p>
        </p:txBody>
      </p:sp>
      <p:sp>
        <p:nvSpPr>
          <p:cNvPr id="124" name="Rounded Rectangle 123"/>
          <p:cNvSpPr/>
          <p:nvPr/>
        </p:nvSpPr>
        <p:spPr>
          <a:xfrm>
            <a:off x="10071201" y="4980034"/>
            <a:ext cx="1480413" cy="1188720"/>
          </a:xfrm>
          <a:prstGeom prst="roundRect">
            <a:avLst/>
          </a:prstGeom>
          <a:solidFill>
            <a:srgbClr val="1A1A1A"/>
          </a:solidFill>
          <a:ln w="635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Rectangle 124"/>
          <p:cNvSpPr/>
          <p:nvPr/>
        </p:nvSpPr>
        <p:spPr>
          <a:xfrm>
            <a:off x="10098633" y="4943458"/>
            <a:ext cx="1425549" cy="54864"/>
          </a:xfrm>
          <a:prstGeom prst="rect">
            <a:avLst/>
          </a:prstGeom>
          <a:solidFill>
            <a:srgbClr val="9CA3AF"/>
          </a:solidFill>
          <a:ln w="381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Oval 125"/>
          <p:cNvSpPr/>
          <p:nvPr/>
        </p:nvSpPr>
        <p:spPr>
          <a:xfrm>
            <a:off x="10914281" y="5554690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Oval 126"/>
          <p:cNvSpPr/>
          <p:nvPr/>
        </p:nvSpPr>
        <p:spPr>
          <a:xfrm>
            <a:off x="11172660" y="5170325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Oval 127"/>
          <p:cNvSpPr/>
          <p:nvPr/>
        </p:nvSpPr>
        <p:spPr>
          <a:xfrm>
            <a:off x="10762938" y="5927134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9" name="Oval 128"/>
          <p:cNvSpPr/>
          <p:nvPr/>
        </p:nvSpPr>
        <p:spPr>
          <a:xfrm>
            <a:off x="11361336" y="5425437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TextBox 129"/>
          <p:cNvSpPr txBox="1"/>
          <p:nvPr/>
        </p:nvSpPr>
        <p:spPr>
          <a:xfrm>
            <a:off x="10071201" y="4998322"/>
            <a:ext cx="1480413" cy="11521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rial"/>
              </a:rPr>
              <a:t>TITAN</a:t>
            </a:r>
          </a:p>
          <a:p>
            <a:pPr algn="ctr"/>
            <a:r>
              <a:rPr sz="500" b="1">
                <a:solidFill>
                  <a:srgbClr val="FFFFFF"/>
                </a:solidFill>
                <a:latin typeface="Arial"/>
              </a:rPr>
              <a:t>МОЛ 2.5кг</a:t>
            </a:r>
          </a:p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Чёрный</a:t>
            </a:r>
          </a:p>
        </p:txBody>
      </p:sp>
      <p:sp>
        <p:nvSpPr>
          <p:cNvPr id="131" name="Rounded Rectangle 130"/>
          <p:cNvSpPr/>
          <p:nvPr/>
        </p:nvSpPr>
        <p:spPr>
          <a:xfrm>
            <a:off x="365760" y="6371476"/>
            <a:ext cx="11460175" cy="320040"/>
          </a:xfrm>
          <a:prstGeom prst="round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2" name="TextBox 131"/>
          <p:cNvSpPr txBox="1"/>
          <p:nvPr/>
        </p:nvSpPr>
        <p:spPr>
          <a:xfrm>
            <a:off x="365760" y="6371476"/>
            <a:ext cx="11460175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1A1F36"/>
                </a:solidFill>
                <a:latin typeface="Arial"/>
              </a:rPr>
              <a:t>!  Для точек класса A (федеральная DIY) — выкладка всего модельного ряда. Топ-3 цвета дублировать фейсингами.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94360"/>
            <a:ext cx="12191695" cy="36576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60175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Arial"/>
              </a:rPr>
              <a:t>СВОДНАЯ ТАБЛИЦА — MML TITAN ПО КЛАССАМ ТТ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19695" y="73152"/>
            <a:ext cx="420624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r"/>
            <a:r>
              <a:rPr sz="1100" b="0" i="0">
                <a:solidFill>
                  <a:srgbClr val="FBBF24"/>
                </a:solidFill>
                <a:latin typeface="Arial"/>
              </a:rPr>
              <a:t>Сравнение по категориям · RAL указан</a:t>
            </a:r>
          </a:p>
        </p:txBody>
      </p:sp>
      <p:sp>
        <p:nvSpPr>
          <p:cNvPr id="7" name="Rectangle 6"/>
          <p:cNvSpPr/>
          <p:nvPr/>
        </p:nvSpPr>
        <p:spPr>
          <a:xfrm>
            <a:off x="1102416" y="980818"/>
            <a:ext cx="3200400" cy="411480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02416" y="980818"/>
            <a:ext cx="320040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Категория / Объём</a:t>
            </a:r>
          </a:p>
        </p:txBody>
      </p:sp>
      <p:sp>
        <p:nvSpPr>
          <p:cNvPr id="9" name="Rectangle 8"/>
          <p:cNvSpPr/>
          <p:nvPr/>
        </p:nvSpPr>
        <p:spPr>
          <a:xfrm>
            <a:off x="4302816" y="980818"/>
            <a:ext cx="2194560" cy="411480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302816" y="980818"/>
            <a:ext cx="219456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A — Федер. DIY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97376" y="980818"/>
            <a:ext cx="2194560" cy="411480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97376" y="980818"/>
            <a:ext cx="219456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B — Локал. сеть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91936" y="980818"/>
            <a:ext cx="2011680" cy="411480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691936" y="980818"/>
            <a:ext cx="201168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C — Супермаркет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102416" y="1392298"/>
            <a:ext cx="3200400" cy="68580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148136" y="1392298"/>
            <a:ext cx="3108960" cy="6858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1" i="0">
                <a:solidFill>
                  <a:srgbClr val="1A1F36"/>
                </a:solidFill>
                <a:latin typeface="Arial"/>
              </a:rPr>
              <a:t>3в1 по ржавчине, 0.75 л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02816" y="1392298"/>
            <a:ext cx="2194560" cy="68580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348536" y="1392298"/>
            <a:ext cx="2103120" cy="6858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5 цветов:
RAL 9005 (чёрный)
RAL 8017 (шоколад)
RAL 7004 (серый)
RAL 7024 (графит)
RAL 9010 (белый)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97376" y="1392298"/>
            <a:ext cx="2194560" cy="68580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543096" y="1392298"/>
            <a:ext cx="2103120" cy="6858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5 цветов:
RAL 9005 (чёрный)
RAL 8017 (шоколад)
RAL 7004 (серый)
RAL 7024 (графит)
RAL 9010 (белый)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691936" y="1392298"/>
            <a:ext cx="2011680" cy="68580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737656" y="1392298"/>
            <a:ext cx="1920240" cy="6858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C62828"/>
                </a:solidFill>
                <a:latin typeface="Arial"/>
              </a:rPr>
              <a:t>—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102416" y="2112602"/>
            <a:ext cx="3200400" cy="68580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148136" y="2112602"/>
            <a:ext cx="3108960" cy="6858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1" i="0">
                <a:solidFill>
                  <a:srgbClr val="1A1F36"/>
                </a:solidFill>
                <a:latin typeface="Arial"/>
              </a:rPr>
              <a:t>3в1 по ржавчине, 2 л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02816" y="2112602"/>
            <a:ext cx="2194560" cy="68580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348536" y="2112602"/>
            <a:ext cx="2103120" cy="6858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5 цветов:
RAL 9005 (чёрный)
RAL 8017 (шоколад)
RAL 7004 (серый)
RAL 7024 (графит)
RAL 9010 (белый)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97376" y="2112602"/>
            <a:ext cx="2194560" cy="68580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543096" y="2112602"/>
            <a:ext cx="2103120" cy="6858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4 цвета:
RAL 9005 (чёрный)
RAL 8017 (шоколад)
RAL 7004 (серый)
RAL 7024 (графит)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691936" y="2112602"/>
            <a:ext cx="2011680" cy="68580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737656" y="2112602"/>
            <a:ext cx="1920240" cy="6858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C62828"/>
                </a:solidFill>
                <a:latin typeface="Arial"/>
              </a:rPr>
              <a:t>—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102416" y="2832906"/>
            <a:ext cx="3200400" cy="68580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148136" y="2832906"/>
            <a:ext cx="3108960" cy="6858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1" i="0">
                <a:solidFill>
                  <a:srgbClr val="1A1F36"/>
                </a:solidFill>
                <a:latin typeface="Arial"/>
              </a:rPr>
              <a:t>Быстросохнущая, 0.75 л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302816" y="2832906"/>
            <a:ext cx="2194560" cy="68580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348536" y="2832906"/>
            <a:ext cx="2103120" cy="6858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1 цвет:
RAL 9005 (чёрный)</a:t>
            </a:r>
          </a:p>
          <a:p>
            <a:r>
              <a:rPr sz="800">
                <a:solidFill>
                  <a:srgbClr val="F47920"/>
                </a:solidFill>
                <a:latin typeface="Arial"/>
              </a:rPr>
              <a:t>скоро: RAL 7024 (графит)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97376" y="2832906"/>
            <a:ext cx="2194560" cy="68580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543096" y="2832906"/>
            <a:ext cx="2103120" cy="6858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1 цвет:
RAL 9005 (чёрный)</a:t>
            </a:r>
          </a:p>
          <a:p>
            <a:r>
              <a:rPr sz="800">
                <a:solidFill>
                  <a:srgbClr val="F47920"/>
                </a:solidFill>
                <a:latin typeface="Arial"/>
              </a:rPr>
              <a:t>скоро: RAL 7024 (графит)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691936" y="2832906"/>
            <a:ext cx="2011680" cy="68580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737656" y="2832906"/>
            <a:ext cx="1920240" cy="6858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C62828"/>
                </a:solidFill>
                <a:latin typeface="Arial"/>
              </a:rPr>
              <a:t>—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102416" y="3518706"/>
            <a:ext cx="3200400" cy="68580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1148136" y="3518706"/>
            <a:ext cx="3108960" cy="6858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1" i="0">
                <a:solidFill>
                  <a:srgbClr val="1A1F36"/>
                </a:solidFill>
                <a:latin typeface="Arial"/>
              </a:rPr>
              <a:t>Быстросохнущая, 2.2 л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302816" y="3518706"/>
            <a:ext cx="2194560" cy="68580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4348536" y="3518706"/>
            <a:ext cx="2103120" cy="6858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1 цвет:
RAL 9005 (чёрный)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497376" y="3518706"/>
            <a:ext cx="2194560" cy="68580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543096" y="3518706"/>
            <a:ext cx="2103120" cy="6858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C62828"/>
                </a:solidFill>
                <a:latin typeface="Arial"/>
              </a:rPr>
              <a:t>—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691936" y="3518706"/>
            <a:ext cx="2011680" cy="68580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8737656" y="3518706"/>
            <a:ext cx="1920240" cy="6858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C62828"/>
                </a:solidFill>
                <a:latin typeface="Arial"/>
              </a:rPr>
              <a:t>—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102416" y="4204506"/>
            <a:ext cx="3200400" cy="68580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1148136" y="4204506"/>
            <a:ext cx="3108960" cy="6858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1" i="0">
                <a:solidFill>
                  <a:srgbClr val="1A1F36"/>
                </a:solidFill>
                <a:latin typeface="Arial"/>
              </a:rPr>
              <a:t>Молотковая, 0.8 кг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302816" y="4204506"/>
            <a:ext cx="2194560" cy="68580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4348536" y="4204506"/>
            <a:ext cx="2103120" cy="6858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3 цвета:
Чёрный
Коричневый
Серебристый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497376" y="4204506"/>
            <a:ext cx="2194560" cy="68580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6543096" y="4204506"/>
            <a:ext cx="2103120" cy="6858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2 цвета:
Чёрный
Коричневый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691936" y="4204506"/>
            <a:ext cx="2011680" cy="68580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8737656" y="4204506"/>
            <a:ext cx="1920240" cy="6858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2 цвета:
Чёрный
Коричневый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102416" y="4890306"/>
            <a:ext cx="3200400" cy="68580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1148136" y="4890306"/>
            <a:ext cx="3108960" cy="6858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1" i="0">
                <a:solidFill>
                  <a:srgbClr val="1A1F36"/>
                </a:solidFill>
                <a:latin typeface="Arial"/>
              </a:rPr>
              <a:t>Молотковая, 2.5 кг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302816" y="4890306"/>
            <a:ext cx="2194560" cy="68580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4348536" y="4890306"/>
            <a:ext cx="2103120" cy="6858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1 цвет:
Чёрный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497376" y="4890306"/>
            <a:ext cx="2194560" cy="68580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6543096" y="4890306"/>
            <a:ext cx="2103120" cy="6858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C62828"/>
                </a:solidFill>
                <a:latin typeface="Arial"/>
              </a:rPr>
              <a:t>—</a:t>
            </a:r>
          </a:p>
        </p:txBody>
      </p:sp>
      <p:sp>
        <p:nvSpPr>
          <p:cNvPr id="73" name="Rectangle 72"/>
          <p:cNvSpPr/>
          <p:nvPr/>
        </p:nvSpPr>
        <p:spPr>
          <a:xfrm>
            <a:off x="8691936" y="4890306"/>
            <a:ext cx="2011680" cy="68580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8737656" y="4890306"/>
            <a:ext cx="1920240" cy="6858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C62828"/>
                </a:solidFill>
                <a:latin typeface="Arial"/>
              </a:rPr>
              <a:t>—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102416" y="5576106"/>
            <a:ext cx="3200400" cy="411480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1102416" y="5576106"/>
            <a:ext cx="320040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ИТОГО SKU</a:t>
            </a:r>
          </a:p>
        </p:txBody>
      </p:sp>
      <p:sp>
        <p:nvSpPr>
          <p:cNvPr id="79" name="Rectangle 78"/>
          <p:cNvSpPr/>
          <p:nvPr/>
        </p:nvSpPr>
        <p:spPr>
          <a:xfrm>
            <a:off x="4302816" y="5576106"/>
            <a:ext cx="2194560" cy="411480"/>
          </a:xfrm>
          <a:prstGeom prst="rect">
            <a:avLst/>
          </a:prstGeom>
          <a:solidFill>
            <a:srgbClr val="C6282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4302816" y="5576106"/>
            <a:ext cx="219456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16</a:t>
            </a:r>
          </a:p>
        </p:txBody>
      </p:sp>
      <p:sp>
        <p:nvSpPr>
          <p:cNvPr id="81" name="Rectangle 80"/>
          <p:cNvSpPr/>
          <p:nvPr/>
        </p:nvSpPr>
        <p:spPr>
          <a:xfrm>
            <a:off x="6497376" y="5576106"/>
            <a:ext cx="2194560" cy="411480"/>
          </a:xfrm>
          <a:prstGeom prst="rect">
            <a:avLst/>
          </a:prstGeom>
          <a:solidFill>
            <a:srgbClr val="F4792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6497376" y="5576106"/>
            <a:ext cx="219456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12</a:t>
            </a:r>
          </a:p>
        </p:txBody>
      </p:sp>
      <p:sp>
        <p:nvSpPr>
          <p:cNvPr id="83" name="Rectangle 82"/>
          <p:cNvSpPr/>
          <p:nvPr/>
        </p:nvSpPr>
        <p:spPr>
          <a:xfrm>
            <a:off x="8691936" y="5576106"/>
            <a:ext cx="2011680" cy="411480"/>
          </a:xfrm>
          <a:prstGeom prst="rect">
            <a:avLst/>
          </a:prstGeom>
          <a:solidFill>
            <a:srgbClr val="16A34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8691936" y="5576106"/>
            <a:ext cx="201168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94360"/>
            <a:ext cx="12191695" cy="36576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60175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Arial"/>
              </a:rPr>
              <a:t>ВАРИАНТ 2 — КЛАСС A: ФЕДЕРАЛЬНАЯ СЕТЬ DIY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19695" y="73152"/>
            <a:ext cx="420624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r"/>
            <a:r>
              <a:rPr sz="1100" b="0" i="0">
                <a:solidFill>
                  <a:srgbClr val="FBBF24"/>
                </a:solidFill>
                <a:latin typeface="Arial"/>
              </a:rPr>
              <a:t>16 SKU · MML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822960"/>
            <a:ext cx="11460175" cy="1737360"/>
          </a:xfrm>
          <a:prstGeom prst="roundRect">
            <a:avLst/>
          </a:prstGeom>
          <a:solidFill>
            <a:srgbClr val="E5E7EB"/>
          </a:solidFill>
          <a:ln w="1270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2350008"/>
            <a:ext cx="11185855" cy="182880"/>
          </a:xfrm>
          <a:prstGeom prst="rect">
            <a:avLst/>
          </a:prstGeom>
          <a:solidFill>
            <a:srgbClr val="8B6F47"/>
          </a:solidFill>
          <a:ln w="12700">
            <a:solidFill>
              <a:srgbClr val="6B56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868680"/>
            <a:ext cx="54864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000" b="1" i="0">
                <a:solidFill>
                  <a:srgbClr val="C62828"/>
                </a:solidFill>
                <a:latin typeface="Arial"/>
              </a:rPr>
              <a:t>ПОЛКА 1: 3в1 по ржавчине 0.75 л — 5 цветов RAL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14255" y="868680"/>
            <a:ext cx="164592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/>
            <a:r>
              <a:rPr sz="900" b="1" i="0">
                <a:solidFill>
                  <a:srgbClr val="C62828"/>
                </a:solidFill>
                <a:latin typeface="Arial"/>
              </a:rPr>
              <a:t>6 SKU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1143000"/>
            <a:ext cx="1742389" cy="1143000"/>
          </a:xfrm>
          <a:prstGeom prst="roundRect">
            <a:avLst/>
          </a:prstGeom>
          <a:solidFill>
            <a:srgbClr val="1A1A1A"/>
          </a:solidFill>
          <a:ln w="635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67512" y="1106424"/>
            <a:ext cx="1687525" cy="54864"/>
          </a:xfrm>
          <a:prstGeom prst="rect">
            <a:avLst/>
          </a:prstGeom>
          <a:solidFill>
            <a:srgbClr val="9CA3AF"/>
          </a:solidFill>
          <a:ln w="381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" y="1161288"/>
            <a:ext cx="1742389" cy="11064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rial"/>
              </a:rPr>
              <a:t>TITAN</a:t>
            </a:r>
          </a:p>
          <a:p>
            <a:pPr algn="ctr"/>
            <a:r>
              <a:rPr sz="500" b="1">
                <a:solidFill>
                  <a:srgbClr val="FFFFFF"/>
                </a:solidFill>
                <a:latin typeface="Arial"/>
              </a:rPr>
              <a:t>3в1 0.75</a:t>
            </a:r>
          </a:p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Чёрный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473909" y="1143000"/>
            <a:ext cx="1742389" cy="1143000"/>
          </a:xfrm>
          <a:prstGeom prst="roundRect">
            <a:avLst/>
          </a:prstGeom>
          <a:solidFill>
            <a:srgbClr val="F5F5DC"/>
          </a:solidFill>
          <a:ln w="635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501341" y="1106424"/>
            <a:ext cx="1687525" cy="54864"/>
          </a:xfrm>
          <a:prstGeom prst="rect">
            <a:avLst/>
          </a:prstGeom>
          <a:solidFill>
            <a:srgbClr val="9CA3AF"/>
          </a:solidFill>
          <a:ln w="381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473909" y="1161288"/>
            <a:ext cx="1742389" cy="11064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600" b="1">
                <a:solidFill>
                  <a:srgbClr val="1A1F36"/>
                </a:solidFill>
                <a:latin typeface="Arial"/>
              </a:rPr>
              <a:t>TITAN</a:t>
            </a:r>
          </a:p>
          <a:p>
            <a:pPr algn="ctr"/>
            <a:r>
              <a:rPr sz="500" b="1">
                <a:solidFill>
                  <a:srgbClr val="1A1F36"/>
                </a:solidFill>
                <a:latin typeface="Arial"/>
              </a:rPr>
              <a:t>3в1 0.75</a:t>
            </a:r>
          </a:p>
          <a:p>
            <a:pPr algn="ctr"/>
            <a:r>
              <a:rPr sz="500" b="0">
                <a:solidFill>
                  <a:srgbClr val="1A1F36"/>
                </a:solidFill>
                <a:latin typeface="Arial"/>
              </a:rPr>
              <a:t>Белый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07738" y="1143000"/>
            <a:ext cx="1742389" cy="1143000"/>
          </a:xfrm>
          <a:prstGeom prst="roundRect">
            <a:avLst/>
          </a:prstGeom>
          <a:solidFill>
            <a:srgbClr val="B0B0B0"/>
          </a:solidFill>
          <a:ln w="635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335170" y="1106424"/>
            <a:ext cx="1687525" cy="54864"/>
          </a:xfrm>
          <a:prstGeom prst="rect">
            <a:avLst/>
          </a:prstGeom>
          <a:solidFill>
            <a:srgbClr val="9CA3AF"/>
          </a:solidFill>
          <a:ln w="381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307738" y="1161288"/>
            <a:ext cx="1742389" cy="11064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600" b="1">
                <a:solidFill>
                  <a:srgbClr val="1A1F36"/>
                </a:solidFill>
                <a:latin typeface="Arial"/>
              </a:rPr>
              <a:t>TITAN</a:t>
            </a:r>
          </a:p>
          <a:p>
            <a:pPr algn="ctr"/>
            <a:r>
              <a:rPr sz="500" b="1">
                <a:solidFill>
                  <a:srgbClr val="1A1F36"/>
                </a:solidFill>
                <a:latin typeface="Arial"/>
              </a:rPr>
              <a:t>3в1 0.75</a:t>
            </a:r>
          </a:p>
          <a:p>
            <a:pPr algn="ctr"/>
            <a:r>
              <a:rPr sz="500" b="0">
                <a:solidFill>
                  <a:srgbClr val="1A1F36"/>
                </a:solidFill>
                <a:latin typeface="Arial"/>
              </a:rPr>
              <a:t>Серый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41567" y="1143000"/>
            <a:ext cx="1742389" cy="1143000"/>
          </a:xfrm>
          <a:prstGeom prst="roundRect">
            <a:avLst/>
          </a:prstGeom>
          <a:solidFill>
            <a:srgbClr val="404040"/>
          </a:solidFill>
          <a:ln w="635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168999" y="1106424"/>
            <a:ext cx="1687525" cy="54864"/>
          </a:xfrm>
          <a:prstGeom prst="rect">
            <a:avLst/>
          </a:prstGeom>
          <a:solidFill>
            <a:srgbClr val="9CA3AF"/>
          </a:solidFill>
          <a:ln w="381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141567" y="1161288"/>
            <a:ext cx="1742389" cy="11064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rial"/>
              </a:rPr>
              <a:t>TITAN</a:t>
            </a:r>
          </a:p>
          <a:p>
            <a:pPr algn="ctr"/>
            <a:r>
              <a:rPr sz="500" b="1">
                <a:solidFill>
                  <a:srgbClr val="FFFFFF"/>
                </a:solidFill>
                <a:latin typeface="Arial"/>
              </a:rPr>
              <a:t>3в1 0.75</a:t>
            </a:r>
          </a:p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Графит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75396" y="1143000"/>
            <a:ext cx="1742389" cy="1143000"/>
          </a:xfrm>
          <a:prstGeom prst="roundRect">
            <a:avLst/>
          </a:prstGeom>
          <a:solidFill>
            <a:srgbClr val="3D2817"/>
          </a:solidFill>
          <a:ln w="635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002828" y="1106424"/>
            <a:ext cx="1687525" cy="54864"/>
          </a:xfrm>
          <a:prstGeom prst="rect">
            <a:avLst/>
          </a:prstGeom>
          <a:solidFill>
            <a:srgbClr val="9CA3AF"/>
          </a:solidFill>
          <a:ln w="381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975396" y="1161288"/>
            <a:ext cx="1742389" cy="11064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rial"/>
              </a:rPr>
              <a:t>TITAN</a:t>
            </a:r>
          </a:p>
          <a:p>
            <a:pPr algn="ctr"/>
            <a:r>
              <a:rPr sz="500" b="1">
                <a:solidFill>
                  <a:srgbClr val="FFFFFF"/>
                </a:solidFill>
                <a:latin typeface="Arial"/>
              </a:rPr>
              <a:t>3в1 0.75</a:t>
            </a:r>
          </a:p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Шоколад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809225" y="1143000"/>
            <a:ext cx="1742389" cy="1143000"/>
          </a:xfrm>
          <a:prstGeom prst="roundRect">
            <a:avLst/>
          </a:prstGeom>
          <a:solidFill>
            <a:srgbClr val="1A1A1A"/>
          </a:solidFill>
          <a:ln w="635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9836657" y="1106424"/>
            <a:ext cx="1687525" cy="54864"/>
          </a:xfrm>
          <a:prstGeom prst="rect">
            <a:avLst/>
          </a:prstGeom>
          <a:solidFill>
            <a:srgbClr val="9CA3AF"/>
          </a:solidFill>
          <a:ln w="381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809225" y="1161288"/>
            <a:ext cx="1742389" cy="11064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rial"/>
              </a:rPr>
              <a:t>TITAN</a:t>
            </a:r>
          </a:p>
          <a:p>
            <a:pPr algn="ctr"/>
            <a:r>
              <a:rPr sz="500" b="1">
                <a:solidFill>
                  <a:srgbClr val="FFFFFF"/>
                </a:solidFill>
                <a:latin typeface="Arial"/>
              </a:rPr>
              <a:t>3в1 2л</a:t>
            </a:r>
          </a:p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Чёрный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65760" y="2697480"/>
            <a:ext cx="11460175" cy="1737360"/>
          </a:xfrm>
          <a:prstGeom prst="roundRect">
            <a:avLst/>
          </a:prstGeom>
          <a:solidFill>
            <a:srgbClr val="E5E7EB"/>
          </a:solidFill>
          <a:ln w="1270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502920" y="4224528"/>
            <a:ext cx="11185855" cy="182880"/>
          </a:xfrm>
          <a:prstGeom prst="rect">
            <a:avLst/>
          </a:prstGeom>
          <a:solidFill>
            <a:srgbClr val="8B6F47"/>
          </a:solidFill>
          <a:ln w="12700">
            <a:solidFill>
              <a:srgbClr val="6B56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02920" y="2743200"/>
            <a:ext cx="54864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000" b="1" i="0">
                <a:solidFill>
                  <a:srgbClr val="1A1F36"/>
                </a:solidFill>
                <a:latin typeface="Arial"/>
              </a:rPr>
              <a:t>ПОЛКА 2: 3в1 2 л (4 цвета) + быстросохнущая (2 SKU)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14255" y="2743200"/>
            <a:ext cx="164592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/>
            <a:r>
              <a:rPr sz="900" b="1" i="0">
                <a:solidFill>
                  <a:srgbClr val="1A1F36"/>
                </a:solidFill>
                <a:latin typeface="Arial"/>
              </a:rPr>
              <a:t>5 SKU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" y="3017520"/>
            <a:ext cx="2109155" cy="1143000"/>
          </a:xfrm>
          <a:prstGeom prst="roundRect">
            <a:avLst/>
          </a:prstGeom>
          <a:solidFill>
            <a:srgbClr val="F5F5DC"/>
          </a:solidFill>
          <a:ln w="635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67512" y="2980944"/>
            <a:ext cx="2054291" cy="54864"/>
          </a:xfrm>
          <a:prstGeom prst="rect">
            <a:avLst/>
          </a:prstGeom>
          <a:solidFill>
            <a:srgbClr val="9CA3AF"/>
          </a:solidFill>
          <a:ln w="381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40080" y="3035808"/>
            <a:ext cx="2109155" cy="11064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600" b="1">
                <a:solidFill>
                  <a:srgbClr val="1A1F36"/>
                </a:solidFill>
                <a:latin typeface="Arial"/>
              </a:rPr>
              <a:t>TITAN</a:t>
            </a:r>
          </a:p>
          <a:p>
            <a:pPr algn="ctr"/>
            <a:r>
              <a:rPr sz="500" b="1">
                <a:solidFill>
                  <a:srgbClr val="1A1F36"/>
                </a:solidFill>
                <a:latin typeface="Arial"/>
              </a:rPr>
              <a:t>3в1 2л</a:t>
            </a:r>
          </a:p>
          <a:p>
            <a:pPr algn="ctr"/>
            <a:r>
              <a:rPr sz="500" b="0">
                <a:solidFill>
                  <a:srgbClr val="1A1F36"/>
                </a:solidFill>
                <a:latin typeface="Arial"/>
              </a:rPr>
              <a:t>Белый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840675" y="3017520"/>
            <a:ext cx="2109155" cy="1143000"/>
          </a:xfrm>
          <a:prstGeom prst="roundRect">
            <a:avLst/>
          </a:prstGeom>
          <a:solidFill>
            <a:srgbClr val="B0B0B0"/>
          </a:solidFill>
          <a:ln w="635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2868107" y="2980944"/>
            <a:ext cx="2054291" cy="54864"/>
          </a:xfrm>
          <a:prstGeom prst="rect">
            <a:avLst/>
          </a:prstGeom>
          <a:solidFill>
            <a:srgbClr val="9CA3AF"/>
          </a:solidFill>
          <a:ln w="381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2840675" y="3035808"/>
            <a:ext cx="2109155" cy="11064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600" b="1">
                <a:solidFill>
                  <a:srgbClr val="1A1F36"/>
                </a:solidFill>
                <a:latin typeface="Arial"/>
              </a:rPr>
              <a:t>TITAN</a:t>
            </a:r>
          </a:p>
          <a:p>
            <a:pPr algn="ctr"/>
            <a:r>
              <a:rPr sz="500" b="1">
                <a:solidFill>
                  <a:srgbClr val="1A1F36"/>
                </a:solidFill>
                <a:latin typeface="Arial"/>
              </a:rPr>
              <a:t>3в1 2л</a:t>
            </a:r>
          </a:p>
          <a:p>
            <a:pPr algn="ctr"/>
            <a:r>
              <a:rPr sz="500" b="0">
                <a:solidFill>
                  <a:srgbClr val="1A1F36"/>
                </a:solidFill>
                <a:latin typeface="Arial"/>
              </a:rPr>
              <a:t>Серый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041270" y="3017520"/>
            <a:ext cx="2109155" cy="1143000"/>
          </a:xfrm>
          <a:prstGeom prst="roundRect">
            <a:avLst/>
          </a:prstGeom>
          <a:solidFill>
            <a:srgbClr val="404040"/>
          </a:solidFill>
          <a:ln w="635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5068702" y="2980944"/>
            <a:ext cx="2054291" cy="54864"/>
          </a:xfrm>
          <a:prstGeom prst="rect">
            <a:avLst/>
          </a:prstGeom>
          <a:solidFill>
            <a:srgbClr val="9CA3AF"/>
          </a:solidFill>
          <a:ln w="381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041270" y="3035808"/>
            <a:ext cx="2109155" cy="11064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rial"/>
              </a:rPr>
              <a:t>TITAN</a:t>
            </a:r>
          </a:p>
          <a:p>
            <a:pPr algn="ctr"/>
            <a:r>
              <a:rPr sz="500" b="1">
                <a:solidFill>
                  <a:srgbClr val="FFFFFF"/>
                </a:solidFill>
                <a:latin typeface="Arial"/>
              </a:rPr>
              <a:t>3в1 2л</a:t>
            </a:r>
          </a:p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Графит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241865" y="3017520"/>
            <a:ext cx="2109155" cy="1143000"/>
          </a:xfrm>
          <a:prstGeom prst="roundRect">
            <a:avLst/>
          </a:prstGeom>
          <a:solidFill>
            <a:srgbClr val="3D2817"/>
          </a:solidFill>
          <a:ln w="635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7269297" y="2980944"/>
            <a:ext cx="2054291" cy="54864"/>
          </a:xfrm>
          <a:prstGeom prst="rect">
            <a:avLst/>
          </a:prstGeom>
          <a:solidFill>
            <a:srgbClr val="9CA3AF"/>
          </a:solidFill>
          <a:ln w="381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7241865" y="3035808"/>
            <a:ext cx="2109155" cy="11064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rial"/>
              </a:rPr>
              <a:t>TITAN</a:t>
            </a:r>
          </a:p>
          <a:p>
            <a:pPr algn="ctr"/>
            <a:r>
              <a:rPr sz="500" b="1">
                <a:solidFill>
                  <a:srgbClr val="FFFFFF"/>
                </a:solidFill>
                <a:latin typeface="Arial"/>
              </a:rPr>
              <a:t>3в1 2л</a:t>
            </a:r>
          </a:p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Шоколад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442460" y="3017520"/>
            <a:ext cx="2109155" cy="1143000"/>
          </a:xfrm>
          <a:prstGeom prst="roundRect">
            <a:avLst/>
          </a:prstGeom>
          <a:solidFill>
            <a:srgbClr val="1A1A1A"/>
          </a:solidFill>
          <a:ln w="635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9469892" y="2980944"/>
            <a:ext cx="2054291" cy="54864"/>
          </a:xfrm>
          <a:prstGeom prst="rect">
            <a:avLst/>
          </a:prstGeom>
          <a:solidFill>
            <a:srgbClr val="9CA3AF"/>
          </a:solidFill>
          <a:ln w="381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9442460" y="3035808"/>
            <a:ext cx="2109155" cy="11064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rial"/>
              </a:rPr>
              <a:t>TITAN</a:t>
            </a:r>
          </a:p>
          <a:p>
            <a:pPr algn="ctr"/>
            <a:r>
              <a:rPr sz="500" b="1">
                <a:solidFill>
                  <a:srgbClr val="FFFFFF"/>
                </a:solidFill>
                <a:latin typeface="Arial"/>
              </a:rPr>
              <a:t>БЫСТ 0.75</a:t>
            </a:r>
          </a:p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Чёрный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65760" y="4572000"/>
            <a:ext cx="11460175" cy="1737360"/>
          </a:xfrm>
          <a:prstGeom prst="roundRect">
            <a:avLst/>
          </a:prstGeom>
          <a:solidFill>
            <a:srgbClr val="E5E7EB"/>
          </a:solidFill>
          <a:ln w="1270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502920" y="6099048"/>
            <a:ext cx="11185855" cy="182880"/>
          </a:xfrm>
          <a:prstGeom prst="rect">
            <a:avLst/>
          </a:prstGeom>
          <a:solidFill>
            <a:srgbClr val="8B6F47"/>
          </a:solidFill>
          <a:ln w="12700">
            <a:solidFill>
              <a:srgbClr val="6B56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502920" y="4617720"/>
            <a:ext cx="54864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000" b="1" i="0">
                <a:solidFill>
                  <a:srgbClr val="B8860B"/>
                </a:solidFill>
                <a:latin typeface="Arial"/>
              </a:rPr>
              <a:t>ПОЛКА 3: молотковый эффект — 4 цвета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814255" y="4617720"/>
            <a:ext cx="164592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/>
            <a:r>
              <a:rPr sz="900" b="1" i="0">
                <a:solidFill>
                  <a:srgbClr val="B8860B"/>
                </a:solidFill>
                <a:latin typeface="Arial"/>
              </a:rPr>
              <a:t>5 SKU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40080" y="4892040"/>
            <a:ext cx="2109155" cy="1143000"/>
          </a:xfrm>
          <a:prstGeom prst="roundRect">
            <a:avLst/>
          </a:prstGeom>
          <a:solidFill>
            <a:srgbClr val="1A1A1A"/>
          </a:solidFill>
          <a:ln w="635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667512" y="4855464"/>
            <a:ext cx="2054291" cy="54864"/>
          </a:xfrm>
          <a:prstGeom prst="rect">
            <a:avLst/>
          </a:prstGeom>
          <a:solidFill>
            <a:srgbClr val="9CA3AF"/>
          </a:solidFill>
          <a:ln w="381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640080" y="4910328"/>
            <a:ext cx="2109155" cy="11064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rial"/>
              </a:rPr>
              <a:t>TITAN</a:t>
            </a:r>
          </a:p>
          <a:p>
            <a:pPr algn="ctr"/>
            <a:r>
              <a:rPr sz="500" b="1">
                <a:solidFill>
                  <a:srgbClr val="FFFFFF"/>
                </a:solidFill>
                <a:latin typeface="Arial"/>
              </a:rPr>
              <a:t>БЫСТ 2.2л</a:t>
            </a:r>
          </a:p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Чёрный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2840675" y="4892040"/>
            <a:ext cx="2109155" cy="1143000"/>
          </a:xfrm>
          <a:prstGeom prst="roundRect">
            <a:avLst/>
          </a:prstGeom>
          <a:solidFill>
            <a:srgbClr val="1A1A1A"/>
          </a:solidFill>
          <a:ln w="635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2868107" y="4855464"/>
            <a:ext cx="2054291" cy="54864"/>
          </a:xfrm>
          <a:prstGeom prst="rect">
            <a:avLst/>
          </a:prstGeom>
          <a:solidFill>
            <a:srgbClr val="9CA3AF"/>
          </a:solidFill>
          <a:ln w="381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Oval 56"/>
          <p:cNvSpPr/>
          <p:nvPr/>
        </p:nvSpPr>
        <p:spPr>
          <a:xfrm>
            <a:off x="3008921" y="5419855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Oval 57"/>
          <p:cNvSpPr/>
          <p:nvPr/>
        </p:nvSpPr>
        <p:spPr>
          <a:xfrm>
            <a:off x="3954459" y="5666783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Oval 58"/>
          <p:cNvSpPr/>
          <p:nvPr/>
        </p:nvSpPr>
        <p:spPr>
          <a:xfrm>
            <a:off x="4493959" y="5126935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Oval 59"/>
          <p:cNvSpPr/>
          <p:nvPr/>
        </p:nvSpPr>
        <p:spPr>
          <a:xfrm>
            <a:off x="3809371" y="5269214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2840675" y="4910328"/>
            <a:ext cx="2109155" cy="11064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rial"/>
              </a:rPr>
              <a:t>TITAN</a:t>
            </a:r>
          </a:p>
          <a:p>
            <a:pPr algn="ctr"/>
            <a:r>
              <a:rPr sz="500" b="1">
                <a:solidFill>
                  <a:srgbClr val="FFFFFF"/>
                </a:solidFill>
                <a:latin typeface="Arial"/>
              </a:rPr>
              <a:t>МОЛ 0.8</a:t>
            </a:r>
          </a:p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Чёрный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5041270" y="4892040"/>
            <a:ext cx="2109155" cy="1143000"/>
          </a:xfrm>
          <a:prstGeom prst="roundRect">
            <a:avLst/>
          </a:prstGeom>
          <a:solidFill>
            <a:srgbClr val="1A1A1A"/>
          </a:solidFill>
          <a:ln w="635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5068702" y="4855464"/>
            <a:ext cx="2054291" cy="54864"/>
          </a:xfrm>
          <a:prstGeom prst="rect">
            <a:avLst/>
          </a:prstGeom>
          <a:solidFill>
            <a:srgbClr val="9CA3AF"/>
          </a:solidFill>
          <a:ln w="381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Oval 63"/>
          <p:cNvSpPr/>
          <p:nvPr/>
        </p:nvSpPr>
        <p:spPr>
          <a:xfrm>
            <a:off x="5709406" y="5631893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Oval 64"/>
          <p:cNvSpPr/>
          <p:nvPr/>
        </p:nvSpPr>
        <p:spPr>
          <a:xfrm>
            <a:off x="5652332" y="5483992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Oval 65"/>
          <p:cNvSpPr/>
          <p:nvPr/>
        </p:nvSpPr>
        <p:spPr>
          <a:xfrm>
            <a:off x="6515711" y="5277775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Oval 66"/>
          <p:cNvSpPr/>
          <p:nvPr/>
        </p:nvSpPr>
        <p:spPr>
          <a:xfrm>
            <a:off x="5318262" y="5506405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5041270" y="4910328"/>
            <a:ext cx="2109155" cy="11064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rial"/>
              </a:rPr>
              <a:t>TITAN</a:t>
            </a:r>
          </a:p>
          <a:p>
            <a:pPr algn="ctr"/>
            <a:r>
              <a:rPr sz="500" b="1">
                <a:solidFill>
                  <a:srgbClr val="FFFFFF"/>
                </a:solidFill>
                <a:latin typeface="Arial"/>
              </a:rPr>
              <a:t>МОЛ 2.5</a:t>
            </a:r>
          </a:p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Чёрный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7241865" y="4892040"/>
            <a:ext cx="2109155" cy="1143000"/>
          </a:xfrm>
          <a:prstGeom prst="roundRect">
            <a:avLst/>
          </a:prstGeom>
          <a:solidFill>
            <a:srgbClr val="4A2C17"/>
          </a:solidFill>
          <a:ln w="635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Rectangle 69"/>
          <p:cNvSpPr/>
          <p:nvPr/>
        </p:nvSpPr>
        <p:spPr>
          <a:xfrm>
            <a:off x="7269297" y="4855464"/>
            <a:ext cx="2054291" cy="54864"/>
          </a:xfrm>
          <a:prstGeom prst="rect">
            <a:avLst/>
          </a:prstGeom>
          <a:solidFill>
            <a:srgbClr val="9CA3AF"/>
          </a:solidFill>
          <a:ln w="381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Oval 70"/>
          <p:cNvSpPr/>
          <p:nvPr/>
        </p:nvSpPr>
        <p:spPr>
          <a:xfrm>
            <a:off x="8249221" y="5742476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Oval 71"/>
          <p:cNvSpPr/>
          <p:nvPr/>
        </p:nvSpPr>
        <p:spPr>
          <a:xfrm>
            <a:off x="8862234" y="5661486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Oval 72"/>
          <p:cNvSpPr/>
          <p:nvPr/>
        </p:nvSpPr>
        <p:spPr>
          <a:xfrm>
            <a:off x="8521066" y="5580642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Oval 73"/>
          <p:cNvSpPr/>
          <p:nvPr/>
        </p:nvSpPr>
        <p:spPr>
          <a:xfrm>
            <a:off x="8152364" y="5458087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7241865" y="4910328"/>
            <a:ext cx="2109155" cy="11064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rial"/>
              </a:rPr>
              <a:t>TITAN</a:t>
            </a:r>
          </a:p>
          <a:p>
            <a:pPr algn="ctr"/>
            <a:r>
              <a:rPr sz="500" b="1">
                <a:solidFill>
                  <a:srgbClr val="FFFFFF"/>
                </a:solidFill>
                <a:latin typeface="Arial"/>
              </a:rPr>
              <a:t>МОЛ 0.8</a:t>
            </a:r>
          </a:p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Корич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9442460" y="4892040"/>
            <a:ext cx="2109155" cy="1143000"/>
          </a:xfrm>
          <a:prstGeom prst="roundRect">
            <a:avLst/>
          </a:prstGeom>
          <a:solidFill>
            <a:srgbClr val="C0C0C0"/>
          </a:solidFill>
          <a:ln w="635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Rectangle 76"/>
          <p:cNvSpPr/>
          <p:nvPr/>
        </p:nvSpPr>
        <p:spPr>
          <a:xfrm>
            <a:off x="9469892" y="4855464"/>
            <a:ext cx="2054291" cy="54864"/>
          </a:xfrm>
          <a:prstGeom prst="rect">
            <a:avLst/>
          </a:prstGeom>
          <a:solidFill>
            <a:srgbClr val="9CA3AF"/>
          </a:solidFill>
          <a:ln w="381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Oval 77"/>
          <p:cNvSpPr/>
          <p:nvPr/>
        </p:nvSpPr>
        <p:spPr>
          <a:xfrm>
            <a:off x="11256257" y="5656892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Oval 78"/>
          <p:cNvSpPr/>
          <p:nvPr/>
        </p:nvSpPr>
        <p:spPr>
          <a:xfrm>
            <a:off x="9978250" y="5076902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Oval 79"/>
          <p:cNvSpPr/>
          <p:nvPr/>
        </p:nvSpPr>
        <p:spPr>
          <a:xfrm>
            <a:off x="9999572" y="5117691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Oval 80"/>
          <p:cNvSpPr/>
          <p:nvPr/>
        </p:nvSpPr>
        <p:spPr>
          <a:xfrm>
            <a:off x="10639084" y="5248325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9442460" y="4910328"/>
            <a:ext cx="2109155" cy="11064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600" b="1">
                <a:solidFill>
                  <a:srgbClr val="1A1F36"/>
                </a:solidFill>
                <a:latin typeface="Arial"/>
              </a:rPr>
              <a:t>TITAN</a:t>
            </a:r>
          </a:p>
          <a:p>
            <a:pPr algn="ctr"/>
            <a:r>
              <a:rPr sz="500" b="1">
                <a:solidFill>
                  <a:srgbClr val="1A1F36"/>
                </a:solidFill>
                <a:latin typeface="Arial"/>
              </a:rPr>
              <a:t>МОЛ 0.8</a:t>
            </a:r>
          </a:p>
          <a:p>
            <a:pPr algn="ctr"/>
            <a:r>
              <a:rPr sz="500" b="0">
                <a:solidFill>
                  <a:srgbClr val="1A1F36"/>
                </a:solidFill>
                <a:latin typeface="Arial"/>
              </a:rPr>
              <a:t>Сереб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365760" y="6397354"/>
            <a:ext cx="11460175" cy="320040"/>
          </a:xfrm>
          <a:prstGeom prst="round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365760" y="6397354"/>
            <a:ext cx="11460175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1A1F36"/>
                </a:solidFill>
                <a:latin typeface="Arial"/>
              </a:rPr>
              <a:t>!  Класс A — эталонная выкладка. Топ-3 цвета (чёрный, коричневый, графит) — по 2 фейсинга. Глубина: 6 шт/SKU.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94360"/>
            <a:ext cx="12191695" cy="36576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60175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Arial"/>
              </a:rPr>
              <a:t>ВАРИАНТ 2 — КЛАСС B: ЛОКАЛЬНАЯ СЕТЬ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19695" y="73152"/>
            <a:ext cx="420624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r"/>
            <a:r>
              <a:rPr sz="1100" b="0" i="0">
                <a:solidFill>
                  <a:srgbClr val="FBBF24"/>
                </a:solidFill>
                <a:latin typeface="Arial"/>
              </a:rPr>
              <a:t>12 SKU · MML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822960"/>
            <a:ext cx="11460175" cy="1737360"/>
          </a:xfrm>
          <a:prstGeom prst="roundRect">
            <a:avLst/>
          </a:prstGeom>
          <a:solidFill>
            <a:srgbClr val="E5E7EB"/>
          </a:solidFill>
          <a:ln w="1270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2350008"/>
            <a:ext cx="11185855" cy="182880"/>
          </a:xfrm>
          <a:prstGeom prst="rect">
            <a:avLst/>
          </a:prstGeom>
          <a:solidFill>
            <a:srgbClr val="8B6F47"/>
          </a:solidFill>
          <a:ln w="12700">
            <a:solidFill>
              <a:srgbClr val="6B56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868680"/>
            <a:ext cx="54864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000" b="1" i="0">
                <a:solidFill>
                  <a:srgbClr val="F47920"/>
                </a:solidFill>
                <a:latin typeface="Arial"/>
              </a:rPr>
              <a:t>ПОЛКА 1: 3в1 по ржавчине 0.75 л — 5 цветов RAL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14255" y="868680"/>
            <a:ext cx="164592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/>
            <a:r>
              <a:rPr sz="900" b="1" i="0">
                <a:solidFill>
                  <a:srgbClr val="F47920"/>
                </a:solidFill>
                <a:latin typeface="Arial"/>
              </a:rPr>
              <a:t>5 SKU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1143000"/>
            <a:ext cx="2109155" cy="1143000"/>
          </a:xfrm>
          <a:prstGeom prst="roundRect">
            <a:avLst/>
          </a:prstGeom>
          <a:solidFill>
            <a:srgbClr val="1A1A1A"/>
          </a:solidFill>
          <a:ln w="635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67512" y="1106424"/>
            <a:ext cx="2054291" cy="54864"/>
          </a:xfrm>
          <a:prstGeom prst="rect">
            <a:avLst/>
          </a:prstGeom>
          <a:solidFill>
            <a:srgbClr val="9CA3AF"/>
          </a:solidFill>
          <a:ln w="381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" y="1161288"/>
            <a:ext cx="2109155" cy="11064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rial"/>
              </a:rPr>
              <a:t>TITAN</a:t>
            </a:r>
          </a:p>
          <a:p>
            <a:pPr algn="ctr"/>
            <a:r>
              <a:rPr sz="500" b="1">
                <a:solidFill>
                  <a:srgbClr val="FFFFFF"/>
                </a:solidFill>
                <a:latin typeface="Arial"/>
              </a:rPr>
              <a:t>3в1 0.75</a:t>
            </a:r>
          </a:p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Чёрный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40675" y="1143000"/>
            <a:ext cx="2109155" cy="1143000"/>
          </a:xfrm>
          <a:prstGeom prst="roundRect">
            <a:avLst/>
          </a:prstGeom>
          <a:solidFill>
            <a:srgbClr val="F5F5DC"/>
          </a:solidFill>
          <a:ln w="635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868107" y="1106424"/>
            <a:ext cx="2054291" cy="54864"/>
          </a:xfrm>
          <a:prstGeom prst="rect">
            <a:avLst/>
          </a:prstGeom>
          <a:solidFill>
            <a:srgbClr val="9CA3AF"/>
          </a:solidFill>
          <a:ln w="381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840675" y="1161288"/>
            <a:ext cx="2109155" cy="11064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600" b="1">
                <a:solidFill>
                  <a:srgbClr val="1A1F36"/>
                </a:solidFill>
                <a:latin typeface="Arial"/>
              </a:rPr>
              <a:t>TITAN</a:t>
            </a:r>
          </a:p>
          <a:p>
            <a:pPr algn="ctr"/>
            <a:r>
              <a:rPr sz="500" b="1">
                <a:solidFill>
                  <a:srgbClr val="1A1F36"/>
                </a:solidFill>
                <a:latin typeface="Arial"/>
              </a:rPr>
              <a:t>3в1 0.75</a:t>
            </a:r>
          </a:p>
          <a:p>
            <a:pPr algn="ctr"/>
            <a:r>
              <a:rPr sz="500" b="0">
                <a:solidFill>
                  <a:srgbClr val="1A1F36"/>
                </a:solidFill>
                <a:latin typeface="Arial"/>
              </a:rPr>
              <a:t>Белый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41270" y="1143000"/>
            <a:ext cx="2109155" cy="1143000"/>
          </a:xfrm>
          <a:prstGeom prst="roundRect">
            <a:avLst/>
          </a:prstGeom>
          <a:solidFill>
            <a:srgbClr val="B0B0B0"/>
          </a:solidFill>
          <a:ln w="635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068702" y="1106424"/>
            <a:ext cx="2054291" cy="54864"/>
          </a:xfrm>
          <a:prstGeom prst="rect">
            <a:avLst/>
          </a:prstGeom>
          <a:solidFill>
            <a:srgbClr val="9CA3AF"/>
          </a:solidFill>
          <a:ln w="381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041270" y="1161288"/>
            <a:ext cx="2109155" cy="11064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600" b="1">
                <a:solidFill>
                  <a:srgbClr val="1A1F36"/>
                </a:solidFill>
                <a:latin typeface="Arial"/>
              </a:rPr>
              <a:t>TITAN</a:t>
            </a:r>
          </a:p>
          <a:p>
            <a:pPr algn="ctr"/>
            <a:r>
              <a:rPr sz="500" b="1">
                <a:solidFill>
                  <a:srgbClr val="1A1F36"/>
                </a:solidFill>
                <a:latin typeface="Arial"/>
              </a:rPr>
              <a:t>3в1 0.75</a:t>
            </a:r>
          </a:p>
          <a:p>
            <a:pPr algn="ctr"/>
            <a:r>
              <a:rPr sz="500" b="0">
                <a:solidFill>
                  <a:srgbClr val="1A1F36"/>
                </a:solidFill>
                <a:latin typeface="Arial"/>
              </a:rPr>
              <a:t>Серый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241865" y="1143000"/>
            <a:ext cx="2109155" cy="1143000"/>
          </a:xfrm>
          <a:prstGeom prst="roundRect">
            <a:avLst/>
          </a:prstGeom>
          <a:solidFill>
            <a:srgbClr val="404040"/>
          </a:solidFill>
          <a:ln w="635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269297" y="1106424"/>
            <a:ext cx="2054291" cy="54864"/>
          </a:xfrm>
          <a:prstGeom prst="rect">
            <a:avLst/>
          </a:prstGeom>
          <a:solidFill>
            <a:srgbClr val="9CA3AF"/>
          </a:solidFill>
          <a:ln w="381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241865" y="1161288"/>
            <a:ext cx="2109155" cy="11064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rial"/>
              </a:rPr>
              <a:t>TITAN</a:t>
            </a:r>
          </a:p>
          <a:p>
            <a:pPr algn="ctr"/>
            <a:r>
              <a:rPr sz="500" b="1">
                <a:solidFill>
                  <a:srgbClr val="FFFFFF"/>
                </a:solidFill>
                <a:latin typeface="Arial"/>
              </a:rPr>
              <a:t>3в1 0.75</a:t>
            </a:r>
          </a:p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Графит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442460" y="1143000"/>
            <a:ext cx="2109155" cy="1143000"/>
          </a:xfrm>
          <a:prstGeom prst="roundRect">
            <a:avLst/>
          </a:prstGeom>
          <a:solidFill>
            <a:srgbClr val="3D2817"/>
          </a:solidFill>
          <a:ln w="635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469892" y="1106424"/>
            <a:ext cx="2054291" cy="54864"/>
          </a:xfrm>
          <a:prstGeom prst="rect">
            <a:avLst/>
          </a:prstGeom>
          <a:solidFill>
            <a:srgbClr val="9CA3AF"/>
          </a:solidFill>
          <a:ln w="381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442460" y="1161288"/>
            <a:ext cx="2109155" cy="11064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rial"/>
              </a:rPr>
              <a:t>TITAN</a:t>
            </a:r>
          </a:p>
          <a:p>
            <a:pPr algn="ctr"/>
            <a:r>
              <a:rPr sz="500" b="1">
                <a:solidFill>
                  <a:srgbClr val="FFFFFF"/>
                </a:solidFill>
                <a:latin typeface="Arial"/>
              </a:rPr>
              <a:t>3в1 0.75</a:t>
            </a:r>
          </a:p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Шоколад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65760" y="2697480"/>
            <a:ext cx="11460175" cy="1737360"/>
          </a:xfrm>
          <a:prstGeom prst="roundRect">
            <a:avLst/>
          </a:prstGeom>
          <a:solidFill>
            <a:srgbClr val="E5E7EB"/>
          </a:solidFill>
          <a:ln w="1270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02920" y="4224528"/>
            <a:ext cx="11185855" cy="182880"/>
          </a:xfrm>
          <a:prstGeom prst="rect">
            <a:avLst/>
          </a:prstGeom>
          <a:solidFill>
            <a:srgbClr val="8B6F47"/>
          </a:solidFill>
          <a:ln w="12700">
            <a:solidFill>
              <a:srgbClr val="6B56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02920" y="2743200"/>
            <a:ext cx="54864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000" b="1" i="0">
                <a:solidFill>
                  <a:srgbClr val="1A1F36"/>
                </a:solidFill>
                <a:latin typeface="Arial"/>
              </a:rPr>
              <a:t>ПОЛКА 2: 3в1 2 л (4 цвета) + быстросохнущая (1 SKU)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14255" y="2743200"/>
            <a:ext cx="164592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/>
            <a:r>
              <a:rPr sz="900" b="1" i="0">
                <a:solidFill>
                  <a:srgbClr val="1A1F36"/>
                </a:solidFill>
                <a:latin typeface="Arial"/>
              </a:rPr>
              <a:t>5 SKU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" y="3017520"/>
            <a:ext cx="2109155" cy="1143000"/>
          </a:xfrm>
          <a:prstGeom prst="roundRect">
            <a:avLst/>
          </a:prstGeom>
          <a:solidFill>
            <a:srgbClr val="1A1A1A"/>
          </a:solidFill>
          <a:ln w="635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67512" y="2980944"/>
            <a:ext cx="2054291" cy="54864"/>
          </a:xfrm>
          <a:prstGeom prst="rect">
            <a:avLst/>
          </a:prstGeom>
          <a:solidFill>
            <a:srgbClr val="9CA3AF"/>
          </a:solidFill>
          <a:ln w="381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40080" y="3035808"/>
            <a:ext cx="2109155" cy="11064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rial"/>
              </a:rPr>
              <a:t>TITAN</a:t>
            </a:r>
          </a:p>
          <a:p>
            <a:pPr algn="ctr"/>
            <a:r>
              <a:rPr sz="500" b="1">
                <a:solidFill>
                  <a:srgbClr val="FFFFFF"/>
                </a:solidFill>
                <a:latin typeface="Arial"/>
              </a:rPr>
              <a:t>3в1 2л</a:t>
            </a:r>
          </a:p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Чёрный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840675" y="3017520"/>
            <a:ext cx="2109155" cy="1143000"/>
          </a:xfrm>
          <a:prstGeom prst="roundRect">
            <a:avLst/>
          </a:prstGeom>
          <a:solidFill>
            <a:srgbClr val="B0B0B0"/>
          </a:solidFill>
          <a:ln w="635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2868107" y="2980944"/>
            <a:ext cx="2054291" cy="54864"/>
          </a:xfrm>
          <a:prstGeom prst="rect">
            <a:avLst/>
          </a:prstGeom>
          <a:solidFill>
            <a:srgbClr val="9CA3AF"/>
          </a:solidFill>
          <a:ln w="381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2840675" y="3035808"/>
            <a:ext cx="2109155" cy="11064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600" b="1">
                <a:solidFill>
                  <a:srgbClr val="1A1F36"/>
                </a:solidFill>
                <a:latin typeface="Arial"/>
              </a:rPr>
              <a:t>TITAN</a:t>
            </a:r>
          </a:p>
          <a:p>
            <a:pPr algn="ctr"/>
            <a:r>
              <a:rPr sz="500" b="1">
                <a:solidFill>
                  <a:srgbClr val="1A1F36"/>
                </a:solidFill>
                <a:latin typeface="Arial"/>
              </a:rPr>
              <a:t>3в1 2л</a:t>
            </a:r>
          </a:p>
          <a:p>
            <a:pPr algn="ctr"/>
            <a:r>
              <a:rPr sz="500" b="0">
                <a:solidFill>
                  <a:srgbClr val="1A1F36"/>
                </a:solidFill>
                <a:latin typeface="Arial"/>
              </a:rPr>
              <a:t>Серый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041270" y="3017520"/>
            <a:ext cx="2109155" cy="1143000"/>
          </a:xfrm>
          <a:prstGeom prst="roundRect">
            <a:avLst/>
          </a:prstGeom>
          <a:solidFill>
            <a:srgbClr val="404040"/>
          </a:solidFill>
          <a:ln w="635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5068702" y="2980944"/>
            <a:ext cx="2054291" cy="54864"/>
          </a:xfrm>
          <a:prstGeom prst="rect">
            <a:avLst/>
          </a:prstGeom>
          <a:solidFill>
            <a:srgbClr val="9CA3AF"/>
          </a:solidFill>
          <a:ln w="381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041270" y="3035808"/>
            <a:ext cx="2109155" cy="11064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rial"/>
              </a:rPr>
              <a:t>TITAN</a:t>
            </a:r>
          </a:p>
          <a:p>
            <a:pPr algn="ctr"/>
            <a:r>
              <a:rPr sz="500" b="1">
                <a:solidFill>
                  <a:srgbClr val="FFFFFF"/>
                </a:solidFill>
                <a:latin typeface="Arial"/>
              </a:rPr>
              <a:t>3в1 2л</a:t>
            </a:r>
          </a:p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Графит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241865" y="3017520"/>
            <a:ext cx="2109155" cy="1143000"/>
          </a:xfrm>
          <a:prstGeom prst="roundRect">
            <a:avLst/>
          </a:prstGeom>
          <a:solidFill>
            <a:srgbClr val="3D2817"/>
          </a:solidFill>
          <a:ln w="635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7269297" y="2980944"/>
            <a:ext cx="2054291" cy="54864"/>
          </a:xfrm>
          <a:prstGeom prst="rect">
            <a:avLst/>
          </a:prstGeom>
          <a:solidFill>
            <a:srgbClr val="9CA3AF"/>
          </a:solidFill>
          <a:ln w="381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241865" y="3035808"/>
            <a:ext cx="2109155" cy="11064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rial"/>
              </a:rPr>
              <a:t>TITAN</a:t>
            </a:r>
          </a:p>
          <a:p>
            <a:pPr algn="ctr"/>
            <a:r>
              <a:rPr sz="500" b="1">
                <a:solidFill>
                  <a:srgbClr val="FFFFFF"/>
                </a:solidFill>
                <a:latin typeface="Arial"/>
              </a:rPr>
              <a:t>3в1 2л</a:t>
            </a:r>
          </a:p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Шоколад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442460" y="3017520"/>
            <a:ext cx="2109155" cy="1143000"/>
          </a:xfrm>
          <a:prstGeom prst="roundRect">
            <a:avLst/>
          </a:prstGeom>
          <a:solidFill>
            <a:srgbClr val="1A1A1A"/>
          </a:solidFill>
          <a:ln w="635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9469892" y="2980944"/>
            <a:ext cx="2054291" cy="54864"/>
          </a:xfrm>
          <a:prstGeom prst="rect">
            <a:avLst/>
          </a:prstGeom>
          <a:solidFill>
            <a:srgbClr val="9CA3AF"/>
          </a:solidFill>
          <a:ln w="381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9442460" y="3035808"/>
            <a:ext cx="2109155" cy="11064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rial"/>
              </a:rPr>
              <a:t>TITAN</a:t>
            </a:r>
          </a:p>
          <a:p>
            <a:pPr algn="ctr"/>
            <a:r>
              <a:rPr sz="500" b="1">
                <a:solidFill>
                  <a:srgbClr val="FFFFFF"/>
                </a:solidFill>
                <a:latin typeface="Arial"/>
              </a:rPr>
              <a:t>БЫСТ 0.75</a:t>
            </a:r>
          </a:p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Чёрный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65760" y="4572000"/>
            <a:ext cx="11460175" cy="1737360"/>
          </a:xfrm>
          <a:prstGeom prst="roundRect">
            <a:avLst/>
          </a:prstGeom>
          <a:solidFill>
            <a:srgbClr val="E5E7EB"/>
          </a:solidFill>
          <a:ln w="1270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502920" y="6099048"/>
            <a:ext cx="11185855" cy="182880"/>
          </a:xfrm>
          <a:prstGeom prst="rect">
            <a:avLst/>
          </a:prstGeom>
          <a:solidFill>
            <a:srgbClr val="8B6F47"/>
          </a:solidFill>
          <a:ln w="12700">
            <a:solidFill>
              <a:srgbClr val="6B56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02920" y="4617720"/>
            <a:ext cx="54864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000" b="1" i="0">
                <a:solidFill>
                  <a:srgbClr val="B8860B"/>
                </a:solidFill>
                <a:latin typeface="Arial"/>
              </a:rPr>
              <a:t>ПОЛКА 3: молотковый эффект — 2 цвета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814255" y="4617720"/>
            <a:ext cx="164592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/>
            <a:r>
              <a:rPr sz="900" b="1" i="0">
                <a:solidFill>
                  <a:srgbClr val="B8860B"/>
                </a:solidFill>
                <a:latin typeface="Arial"/>
              </a:rPr>
              <a:t>2 SKU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40080" y="4892040"/>
            <a:ext cx="5410047" cy="1143000"/>
          </a:xfrm>
          <a:prstGeom prst="roundRect">
            <a:avLst/>
          </a:prstGeom>
          <a:solidFill>
            <a:srgbClr val="1A1A1A"/>
          </a:solidFill>
          <a:ln w="635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667512" y="4855464"/>
            <a:ext cx="5355183" cy="54864"/>
          </a:xfrm>
          <a:prstGeom prst="rect">
            <a:avLst/>
          </a:prstGeom>
          <a:solidFill>
            <a:srgbClr val="9CA3AF"/>
          </a:solidFill>
          <a:ln w="381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Oval 50"/>
          <p:cNvSpPr/>
          <p:nvPr/>
        </p:nvSpPr>
        <p:spPr>
          <a:xfrm>
            <a:off x="5159966" y="5328229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Oval 51"/>
          <p:cNvSpPr/>
          <p:nvPr/>
        </p:nvSpPr>
        <p:spPr>
          <a:xfrm>
            <a:off x="2630323" y="5274121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Oval 52"/>
          <p:cNvSpPr/>
          <p:nvPr/>
        </p:nvSpPr>
        <p:spPr>
          <a:xfrm>
            <a:off x="1145317" y="5458641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Oval 53"/>
          <p:cNvSpPr/>
          <p:nvPr/>
        </p:nvSpPr>
        <p:spPr>
          <a:xfrm>
            <a:off x="957896" y="5641075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640080" y="4910328"/>
            <a:ext cx="5410047" cy="11064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rial"/>
              </a:rPr>
              <a:t>TITAN</a:t>
            </a:r>
          </a:p>
          <a:p>
            <a:pPr algn="ctr"/>
            <a:r>
              <a:rPr sz="500" b="1">
                <a:solidFill>
                  <a:srgbClr val="FFFFFF"/>
                </a:solidFill>
                <a:latin typeface="Arial"/>
              </a:rPr>
              <a:t>МОЛ 0.8</a:t>
            </a:r>
          </a:p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Чёрный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141567" y="4892040"/>
            <a:ext cx="5410047" cy="1143000"/>
          </a:xfrm>
          <a:prstGeom prst="roundRect">
            <a:avLst/>
          </a:prstGeom>
          <a:solidFill>
            <a:srgbClr val="4A2C17"/>
          </a:solidFill>
          <a:ln w="635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6168999" y="4855464"/>
            <a:ext cx="5355183" cy="54864"/>
          </a:xfrm>
          <a:prstGeom prst="rect">
            <a:avLst/>
          </a:prstGeom>
          <a:solidFill>
            <a:srgbClr val="9CA3AF"/>
          </a:solidFill>
          <a:ln w="381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Oval 57"/>
          <p:cNvSpPr/>
          <p:nvPr/>
        </p:nvSpPr>
        <p:spPr>
          <a:xfrm>
            <a:off x="7599807" y="5448008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Oval 58"/>
          <p:cNvSpPr/>
          <p:nvPr/>
        </p:nvSpPr>
        <p:spPr>
          <a:xfrm>
            <a:off x="6453574" y="5154002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Oval 59"/>
          <p:cNvSpPr/>
          <p:nvPr/>
        </p:nvSpPr>
        <p:spPr>
          <a:xfrm>
            <a:off x="9711661" y="5171035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Oval 60"/>
          <p:cNvSpPr/>
          <p:nvPr/>
        </p:nvSpPr>
        <p:spPr>
          <a:xfrm>
            <a:off x="7924691" y="5422397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6141567" y="4910328"/>
            <a:ext cx="5410047" cy="11064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rial"/>
              </a:rPr>
              <a:t>TITAN</a:t>
            </a:r>
          </a:p>
          <a:p>
            <a:pPr algn="ctr"/>
            <a:r>
              <a:rPr sz="500" b="1">
                <a:solidFill>
                  <a:srgbClr val="FFFFFF"/>
                </a:solidFill>
                <a:latin typeface="Arial"/>
              </a:rPr>
              <a:t>МОЛ 0.8</a:t>
            </a:r>
          </a:p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Корич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365760" y="6405980"/>
            <a:ext cx="11460175" cy="320040"/>
          </a:xfrm>
          <a:prstGeom prst="round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365760" y="6405980"/>
            <a:ext cx="11460175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1A1F36"/>
                </a:solidFill>
                <a:latin typeface="Arial"/>
              </a:rPr>
              <a:t>!  Класс B — основная выкладка. Нет белого 2л, серебристой молотковой, 2.5 кг. Глубина: 4 шт/SKU.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94360"/>
            <a:ext cx="12191695" cy="36576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60175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Arial"/>
              </a:rPr>
              <a:t>ВАРИАНТ 2 — КЛАСС C и D: СУПЕРМАРКЕТ И ХОЗМАГ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19695" y="73152"/>
            <a:ext cx="420624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r"/>
            <a:r>
              <a:rPr sz="1100" b="0" i="0">
                <a:solidFill>
                  <a:srgbClr val="FBBF24"/>
                </a:solidFill>
                <a:latin typeface="Arial"/>
              </a:rPr>
              <a:t>C: 2 SKU · D: 0 SKU · MML (текущий)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59315" y="1872975"/>
            <a:ext cx="5547207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400" b="1" i="0">
                <a:solidFill>
                  <a:srgbClr val="16A34A"/>
                </a:solidFill>
                <a:latin typeface="Arial"/>
              </a:rPr>
              <a:t>КЛАСС C — СУПЕРМАРКЕТ (2 SKU)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59315" y="2413845"/>
            <a:ext cx="5547207" cy="2286000"/>
          </a:xfrm>
          <a:prstGeom prst="roundRect">
            <a:avLst/>
          </a:prstGeom>
          <a:solidFill>
            <a:srgbClr val="E5E7EB"/>
          </a:solidFill>
          <a:ln w="254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496475" y="4455029"/>
            <a:ext cx="5272887" cy="182880"/>
          </a:xfrm>
          <a:prstGeom prst="rect">
            <a:avLst/>
          </a:prstGeom>
          <a:solidFill>
            <a:srgbClr val="8B6F47"/>
          </a:solidFill>
          <a:ln w="12700">
            <a:solidFill>
              <a:srgbClr val="6B56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258398" y="2733885"/>
            <a:ext cx="1645920" cy="1645920"/>
          </a:xfrm>
          <a:prstGeom prst="roundRect">
            <a:avLst/>
          </a:prstGeom>
          <a:solidFill>
            <a:srgbClr val="1A1A1A"/>
          </a:solidFill>
          <a:ln w="635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285830" y="2697309"/>
            <a:ext cx="1591056" cy="54864"/>
          </a:xfrm>
          <a:prstGeom prst="rect">
            <a:avLst/>
          </a:prstGeom>
          <a:solidFill>
            <a:srgbClr val="9CA3AF"/>
          </a:solidFill>
          <a:ln w="381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4929300" y="3692601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4460991" y="3916262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4484539" y="2955497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4971012" y="3652322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258398" y="2752173"/>
            <a:ext cx="1645920" cy="16093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rial"/>
              </a:rPr>
              <a:t>TITAN</a:t>
            </a:r>
          </a:p>
          <a:p>
            <a:pPr algn="ctr"/>
            <a:r>
              <a:rPr sz="500" b="1">
                <a:solidFill>
                  <a:srgbClr val="FFFFFF"/>
                </a:solidFill>
                <a:latin typeface="Arial"/>
              </a:rPr>
              <a:t>МОЛ 0.8</a:t>
            </a:r>
          </a:p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Чёрный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61518" y="2733885"/>
            <a:ext cx="1645920" cy="1645920"/>
          </a:xfrm>
          <a:prstGeom prst="roundRect">
            <a:avLst/>
          </a:prstGeom>
          <a:solidFill>
            <a:srgbClr val="4A2C17"/>
          </a:solidFill>
          <a:ln w="635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388950" y="2697309"/>
            <a:ext cx="1591056" cy="54864"/>
          </a:xfrm>
          <a:prstGeom prst="rect">
            <a:avLst/>
          </a:prstGeom>
          <a:solidFill>
            <a:srgbClr val="9CA3AF"/>
          </a:solidFill>
          <a:ln w="381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6823623" y="3603263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6783915" y="3302174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6834257" y="3555156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7239823" y="3550803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61518" y="2752173"/>
            <a:ext cx="1645920" cy="16093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rial"/>
              </a:rPr>
              <a:t>TITAN</a:t>
            </a:r>
          </a:p>
          <a:p>
            <a:pPr algn="ctr"/>
            <a:r>
              <a:rPr sz="500" b="1">
                <a:solidFill>
                  <a:srgbClr val="FFFFFF"/>
                </a:solidFill>
                <a:latin typeface="Arial"/>
              </a:rPr>
              <a:t>МОЛ 0.8</a:t>
            </a:r>
          </a:p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Корич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842</Words>
  <Application>Microsoft Office PowerPoint</Application>
  <PresentationFormat>Произвольный</PresentationFormat>
  <Paragraphs>286</Paragraphs>
  <Slides>7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8" baseType="lpstr"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Заколодний Роман Александрович</dc:creator>
  <dc:description>generated using python-pptx</dc:description>
  <cp:lastModifiedBy>Заколодний Роман Александрович</cp:lastModifiedBy>
  <cp:revision>17</cp:revision>
  <dcterms:created xsi:type="dcterms:W3CDTF">2013-01-27T09:14:16Z</dcterms:created>
  <dcterms:modified xsi:type="dcterms:W3CDTF">2026-07-16T13:19:09Z</dcterms:modified>
</cp:coreProperties>
</file>