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683" r:id="rId3"/>
  </p:sldMasterIdLst>
  <p:notesMasterIdLst>
    <p:notesMasterId r:id="rId15"/>
  </p:notesMasterIdLst>
  <p:sldIdLst>
    <p:sldId id="256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785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95"/>
    <p:restoredTop sz="96966"/>
  </p:normalViewPr>
  <p:slideViewPr>
    <p:cSldViewPr snapToGrid="0">
      <p:cViewPr varScale="1">
        <p:scale>
          <a:sx n="106" d="100"/>
          <a:sy n="106" d="100"/>
        </p:scale>
        <p:origin x="-1548" y="-96"/>
      </p:cViewPr>
      <p:guideLst>
        <p:guide orient="horz" pos="2381"/>
        <p:guide pos="33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95BC99-9886-944B-B61C-58073DD33563}" type="datetimeFigureOut">
              <a:rPr lang="ru-RU" smtClean="0"/>
              <a:t>04.06.2026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36810C-3A04-2E42-B711-8573A0AB3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6985E-B2CD-054D-A1EE-276BAB6066E5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336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ECC81-2ABA-464E-A369-DB45E0DABC58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3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5679-A9AA-744E-B595-575F38DF88A1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175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9744-02BE-4946-AEFF-E655D7510572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78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6DC57-65F4-994B-9944-E8CE3CE64179}" type="datetime1">
              <a:rPr lang="ru-RU" smtClean="0"/>
              <a:t>04.06.2026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330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0976-D1E6-064E-8CB7-E1A23EA26525}" type="datetime1">
              <a:rPr lang="ru-RU" smtClean="0"/>
              <a:t>04.06.2026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0792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4205-20D5-9C44-AF6D-B0CD87F6058E}" type="datetime1">
              <a:rPr lang="ru-RU" smtClean="0"/>
              <a:t>04.06.2026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744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80017-FC76-0243-81EC-13AB0A69E4BB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6771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771C-84BB-0743-AF9F-0FDC1C2766F6}" type="datetime1">
              <a:rPr lang="ru-RU" smtClean="0"/>
              <a:t>04.06.2026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347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675A-D523-5B49-88F6-F58AE40D91B6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9846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2DF3-815B-A449-ACFF-546EF5E2EA5F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71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801688" y="2348400"/>
            <a:ext cx="9088437" cy="162043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03375" y="4283816"/>
            <a:ext cx="7485063" cy="19319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6E4E-75A8-457F-AA6E-A76FDE746D0E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7C1A-9067-45B7-900A-F6BC30AC0B0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5736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6E4E-75A8-457F-AA6E-A76FDE746D0E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7C1A-9067-45B7-900A-F6BC30AC0B0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464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4550" y="4857792"/>
            <a:ext cx="9088438" cy="15014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44550" y="3204114"/>
            <a:ext cx="9088438" cy="165367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6E4E-75A8-457F-AA6E-A76FDE746D0E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7C1A-9067-45B7-900A-F6BC30AC0B0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Рисунок 6" descr="Изображение выглядит как снимок экрана, микрофон, логотип, Шрифт&#10;&#10;Автоматически созданное описание">
            <a:extLst>
              <a:ext uri="{FF2B5EF4-FFF2-40B4-BE49-F238E27FC236}">
                <a16:creationId xmlns:a16="http://schemas.microsoft.com/office/drawing/2014/main" xmlns="" id="{02CB71CF-4A3B-AE03-E805-4AF9CC75D7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31442" y="272988"/>
            <a:ext cx="1802167" cy="643947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39CCCE1E-6B9A-D928-061D-52F8806C0823}"/>
              </a:ext>
            </a:extLst>
          </p:cNvPr>
          <p:cNvSpPr/>
          <p:nvPr userDrawn="1"/>
        </p:nvSpPr>
        <p:spPr>
          <a:xfrm>
            <a:off x="10037" y="864698"/>
            <a:ext cx="5121256" cy="643947"/>
          </a:xfrm>
          <a:prstGeom prst="rect">
            <a:avLst/>
          </a:prstGeom>
          <a:solidFill>
            <a:srgbClr val="F7850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053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34989" y="1763925"/>
            <a:ext cx="4733925" cy="49890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21313" y="1763925"/>
            <a:ext cx="4735512" cy="49890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6E4E-75A8-457F-AA6E-A76FDE746D0E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7C1A-9067-45B7-900A-F6BC30AC0B0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Рисунок 7" descr="Изображение выглядит как снимок экрана, микрофон, логотип, Шрифт&#10;&#10;Автоматически созданное описание">
            <a:extLst>
              <a:ext uri="{FF2B5EF4-FFF2-40B4-BE49-F238E27FC236}">
                <a16:creationId xmlns:a16="http://schemas.microsoft.com/office/drawing/2014/main" xmlns="" id="{02CB71CF-4A3B-AE03-E805-4AF9CC75D7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31442" y="272988"/>
            <a:ext cx="1802167" cy="64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41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4988" y="1692178"/>
            <a:ext cx="4724400" cy="7052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34988" y="2397397"/>
            <a:ext cx="4724400" cy="4355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30839" y="1692178"/>
            <a:ext cx="4725987" cy="7052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30839" y="2397397"/>
            <a:ext cx="4725987" cy="43555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6E4E-75A8-457F-AA6E-A76FDE746D0E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7C1A-9067-45B7-900A-F6BC30AC0B0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715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6E4E-75A8-457F-AA6E-A76FDE746D0E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7C1A-9067-45B7-900A-F6BC30AC0B0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Рисунок 5" descr="Изображение выглядит как снимок экрана, микрофон, логотип, Шрифт&#10;&#10;Автоматически созданное описание">
            <a:extLst>
              <a:ext uri="{FF2B5EF4-FFF2-40B4-BE49-F238E27FC236}">
                <a16:creationId xmlns:a16="http://schemas.microsoft.com/office/drawing/2014/main" xmlns="" id="{02CB71CF-4A3B-AE03-E805-4AF9CC75D7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31442" y="272988"/>
            <a:ext cx="1802167" cy="643947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09740023-634C-4152-7ED2-7C51AE81FDE9}"/>
              </a:ext>
            </a:extLst>
          </p:cNvPr>
          <p:cNvSpPr/>
          <p:nvPr userDrawn="1"/>
        </p:nvSpPr>
        <p:spPr>
          <a:xfrm>
            <a:off x="0" y="870773"/>
            <a:ext cx="5121256" cy="6439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4253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4988" y="300987"/>
            <a:ext cx="3517900" cy="128094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179889" y="300988"/>
            <a:ext cx="5976937" cy="645197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34988" y="1581933"/>
            <a:ext cx="3517900" cy="51710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6E4E-75A8-457F-AA6E-A76FDE746D0E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7C1A-9067-45B7-900A-F6BC30AC0B0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Рисунок 7" descr="Изображение выглядит как снимок экрана, микрофон, логотип, Шрифт&#10;&#10;Автоматически созданное описание">
            <a:extLst>
              <a:ext uri="{FF2B5EF4-FFF2-40B4-BE49-F238E27FC236}">
                <a16:creationId xmlns:a16="http://schemas.microsoft.com/office/drawing/2014/main" xmlns="" id="{02CB71CF-4A3B-AE03-E805-4AF9CC75D7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6085" y="635070"/>
            <a:ext cx="2680495" cy="9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432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95500" y="5291772"/>
            <a:ext cx="6415088" cy="62472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095500" y="675471"/>
            <a:ext cx="6415088" cy="45358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095500" y="5916496"/>
            <a:ext cx="6415088" cy="8872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6E4E-75A8-457F-AA6E-A76FDE746D0E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7C1A-9067-45B7-900A-F6BC30AC0B0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5310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6E4E-75A8-457F-AA6E-A76FDE746D0E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7C1A-9067-45B7-900A-F6BC30AC0B0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1471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751763" y="302738"/>
            <a:ext cx="2405062" cy="645022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34988" y="302738"/>
            <a:ext cx="7064375" cy="645022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26E4E-75A8-457F-AA6E-A76FDE746D0E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47C1A-9067-45B7-900A-F6BC30AC0B0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049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6985E-B2CD-054D-A1EE-276BAB6066E5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0964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ECC81-2ABA-464E-A369-DB45E0DABC58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0037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>
                    <a:tint val="82000"/>
                  </a:schemeClr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82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B5679-A9AA-744E-B595-575F38DF88A1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0806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99744-02BE-4946-AEFF-E655D7510572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04014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6DC57-65F4-994B-9944-E8CE3CE64179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0052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10976-D1E6-064E-8CB7-E1A23EA26525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9810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C4205-20D5-9C44-AF6D-B0CD87F6058E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8765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80017-FC76-0243-81EC-13AB0A69E4BB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6287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5771C-84BB-0743-AF9F-0FDC1C2766F6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0128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C675A-D523-5B49-88F6-F58AE40D91B6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280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72DF3-815B-A449-ACFF-546EF5E2EA5F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640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0C675-6A69-CF4D-B0DA-CC058AF4F505}" type="datetime1">
              <a:rPr lang="ru-RU" smtClean="0"/>
              <a:t>04.06.2026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4E78E-4947-6447-94F7-14B83FCA70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507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4988" y="302737"/>
            <a:ext cx="9621837" cy="12599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34988" y="1763925"/>
            <a:ext cx="9621837" cy="49890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534988" y="7006699"/>
            <a:ext cx="249396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26E4E-75A8-457F-AA6E-A76FDE746D0E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652838" y="7006699"/>
            <a:ext cx="338613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662863" y="7006699"/>
            <a:ext cx="249396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47C1A-9067-45B7-900A-F6BC30AC0B0A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Рисунок 6" descr="Изображение выглядит как шаблон, темнота, черный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xmlns="" id="{1CA3EB04-484D-BB31-B416-1799921BDD1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0153" y="0"/>
            <a:ext cx="5601661" cy="755967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35C528DD-2BE0-20DD-DADF-FE3F3E79E826}"/>
              </a:ext>
            </a:extLst>
          </p:cNvPr>
          <p:cNvSpPr/>
          <p:nvPr userDrawn="1"/>
        </p:nvSpPr>
        <p:spPr>
          <a:xfrm>
            <a:off x="9897647" y="7118397"/>
            <a:ext cx="486880" cy="44127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2071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90C675-6A69-CF4D-B0DA-CC058AF4F505}" type="datetime1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04.06.2026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900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hdr="0" ftr="0" dt="0"/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логотип, снимок экран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2D8A654D-3EF3-F863-2A90-2B43DEC28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14" y="790992"/>
            <a:ext cx="4787900" cy="13335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C6F5C2E8-5567-C466-7779-F1237161181C}"/>
              </a:ext>
            </a:extLst>
          </p:cNvPr>
          <p:cNvSpPr/>
          <p:nvPr/>
        </p:nvSpPr>
        <p:spPr>
          <a:xfrm>
            <a:off x="0" y="3483429"/>
            <a:ext cx="7068457" cy="17272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C510160-E2E5-BA26-18AF-BE12F06DD274}"/>
              </a:ext>
            </a:extLst>
          </p:cNvPr>
          <p:cNvSpPr txBox="1"/>
          <p:nvPr/>
        </p:nvSpPr>
        <p:spPr>
          <a:xfrm>
            <a:off x="803565" y="4404657"/>
            <a:ext cx="62648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Arial" pitchFamily="34" charset="0"/>
                <a:ea typeface="PCMyungjo" pitchFamily="2" charset="-127"/>
                <a:cs typeface="Arial" pitchFamily="34" charset="0"/>
              </a:rPr>
              <a:t>Сгруппированные технологии</a:t>
            </a:r>
            <a:endParaRPr lang="ru-RU" sz="2000" dirty="0">
              <a:solidFill>
                <a:schemeClr val="bg1"/>
              </a:solidFill>
              <a:latin typeface="Arial" pitchFamily="34" charset="0"/>
              <a:ea typeface="PCMyungjo" pitchFamily="2" charset="-127"/>
              <a:cs typeface="Arial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789DBAE-F22D-1C01-8C12-20D7BD6B9B70}"/>
              </a:ext>
            </a:extLst>
          </p:cNvPr>
          <p:cNvSpPr txBox="1"/>
          <p:nvPr/>
        </p:nvSpPr>
        <p:spPr>
          <a:xfrm flipH="1">
            <a:off x="803563" y="3881437"/>
            <a:ext cx="6264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Arial" pitchFamily="34" charset="0"/>
                <a:ea typeface="PCMyungjo" pitchFamily="2" charset="-127"/>
                <a:cs typeface="Arial" pitchFamily="34" charset="0"/>
              </a:rPr>
              <a:t>ЗАО «ЭМПИЛС»</a:t>
            </a:r>
          </a:p>
        </p:txBody>
      </p:sp>
    </p:spTree>
    <p:extLst>
      <p:ext uri="{BB962C8B-B14F-4D97-AF65-F5344CB8AC3E}">
        <p14:creationId xmlns:p14="http://schemas.microsoft.com/office/powerpoint/2010/main" val="2556645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178"/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логотип, снимок экран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2D8A654D-3EF3-F863-2A90-2B43DEC28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0673" y="253744"/>
            <a:ext cx="2104172" cy="586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C510160-E2E5-BA26-18AF-BE12F06DD274}"/>
              </a:ext>
            </a:extLst>
          </p:cNvPr>
          <p:cNvSpPr txBox="1"/>
          <p:nvPr/>
        </p:nvSpPr>
        <p:spPr>
          <a:xfrm>
            <a:off x="0" y="4404657"/>
            <a:ext cx="70684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prstClr val="white"/>
                </a:solidFill>
                <a:latin typeface="Arial" pitchFamily="34" charset="0"/>
                <a:ea typeface="PCMyungjo" pitchFamily="2" charset="-127"/>
                <a:cs typeface="Arial" pitchFamily="34" charset="0"/>
              </a:rPr>
              <a:t>Итоги 6 месяцев 2024 года</a:t>
            </a:r>
          </a:p>
        </p:txBody>
      </p:sp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xmlns="" id="{8D86F123-68D9-1CC2-D5FD-71652F1C7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1268" y="7157192"/>
            <a:ext cx="720000" cy="402483"/>
          </a:xfrm>
        </p:spPr>
        <p:txBody>
          <a:bodyPr/>
          <a:lstStyle/>
          <a:p>
            <a:fld id="{D8E00931-F721-0948-9507-7FC58DF35D5A}" type="slidenum">
              <a:rPr lang="ru-RU" sz="1400" smtClean="0">
                <a:solidFill>
                  <a:prstClr val="black">
                    <a:lumMod val="50000"/>
                    <a:lumOff val="50000"/>
                  </a:prstClr>
                </a:solidFill>
                <a:latin typeface="Arial" pitchFamily="34" charset="0"/>
                <a:cs typeface="Arial" pitchFamily="34" charset="0"/>
              </a:rPr>
              <a:pPr/>
              <a:t>2</a:t>
            </a:fld>
            <a:endParaRPr lang="ru-RU" sz="1400" dirty="0">
              <a:solidFill>
                <a:prstClr val="black">
                  <a:lumMod val="50000"/>
                  <a:lumOff val="50000"/>
                </a:prst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42047" y="1334873"/>
            <a:ext cx="999564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Технология 1: «Фасад, который самоочищается» (Защита от грязи, дождя и плесени</a:t>
            </a:r>
            <a:r>
              <a:rPr lang="ru-RU" b="1" dirty="0" smtClean="0"/>
              <a:t>)</a:t>
            </a:r>
          </a:p>
          <a:p>
            <a:pPr algn="just"/>
            <a:endParaRPr lang="ru-RU" b="1" dirty="0"/>
          </a:p>
          <a:p>
            <a:pPr algn="just"/>
            <a:r>
              <a:rPr lang="ru-RU" b="1" dirty="0"/>
              <a:t>Проблема:</a:t>
            </a:r>
            <a:r>
              <a:rPr lang="ru-RU" dirty="0"/>
              <a:t> Фасад быстро пачкается, покрывается подтеками, поражается грибком, краска трескается из-за перепадов влажности. </a:t>
            </a:r>
            <a:endParaRPr lang="ru-RU" dirty="0" smtClean="0"/>
          </a:p>
          <a:p>
            <a:pPr algn="just"/>
            <a:endParaRPr lang="ru-RU" b="1" dirty="0"/>
          </a:p>
          <a:p>
            <a:pPr algn="just"/>
            <a:r>
              <a:rPr lang="ru-RU" b="1" dirty="0" smtClean="0"/>
              <a:t>Комбинация </a:t>
            </a:r>
            <a:r>
              <a:rPr lang="ru-RU" b="1" dirty="0"/>
              <a:t>продуктов:</a:t>
            </a:r>
            <a:endParaRPr lang="ru-RU" dirty="0"/>
          </a:p>
          <a:p>
            <a:pPr algn="just"/>
            <a:r>
              <a:rPr lang="ru-RU" b="1" dirty="0"/>
              <a:t>Грунт:</a:t>
            </a:r>
            <a:r>
              <a:rPr lang="ru-RU" dirty="0"/>
              <a:t> Грунтовка глубокого проникновения с антисептиком акриловая (линейка NEWTONE) — </a:t>
            </a:r>
            <a:r>
              <a:rPr lang="ru-RU" i="1" dirty="0"/>
              <a:t>укрепляет основание, убивает споры плесени, выравнивает впитывание.</a:t>
            </a:r>
            <a:endParaRPr lang="ru-RU" dirty="0"/>
          </a:p>
          <a:p>
            <a:pPr algn="just"/>
            <a:endParaRPr lang="ru-RU" b="1" dirty="0" smtClean="0"/>
          </a:p>
          <a:p>
            <a:pPr algn="just"/>
            <a:r>
              <a:rPr lang="ru-RU" b="1" dirty="0" smtClean="0"/>
              <a:t>Финишное </a:t>
            </a:r>
            <a:r>
              <a:rPr lang="ru-RU" b="1" dirty="0"/>
              <a:t>покрытие:</a:t>
            </a:r>
            <a:r>
              <a:rPr lang="ru-RU" dirty="0"/>
              <a:t> Краска фасадная силиконовая матовая MODERN PRO база A/C (линейка NEWTONE) — </a:t>
            </a:r>
            <a:r>
              <a:rPr lang="ru-RU" i="1" dirty="0"/>
              <a:t>создает водо- и грязеотталкивающую поверхность (класс W3).</a:t>
            </a:r>
            <a:endParaRPr lang="ru-RU" dirty="0"/>
          </a:p>
          <a:p>
            <a:pPr algn="just"/>
            <a:endParaRPr lang="ru-RU" b="1" dirty="0" smtClean="0"/>
          </a:p>
          <a:p>
            <a:pPr algn="just"/>
            <a:r>
              <a:rPr lang="ru-RU" b="1" dirty="0" smtClean="0"/>
              <a:t>В </a:t>
            </a:r>
            <a:r>
              <a:rPr lang="ru-RU" b="1" dirty="0"/>
              <a:t>чем выгода и что это дает:</a:t>
            </a:r>
            <a:r>
              <a:rPr lang="ru-RU" dirty="0"/>
              <a:t> Силиконовая краска MODERN PRO обладает эффектом «лотоса» — вода скатывается каплями, увлекая за собой пыль и грязь (самоочищение). Но если нанести её на </a:t>
            </a:r>
            <a:r>
              <a:rPr lang="ru-RU" dirty="0" err="1"/>
              <a:t>непрогрунтованную</a:t>
            </a:r>
            <a:r>
              <a:rPr lang="ru-RU" dirty="0"/>
              <a:t> или зараженную грибком стену, влага будет просачиваться изнутри здания, и краска отслоится. Грунтовка с антисептиком решает эту проблему: она блокирует биопоражения на стадии подготовки, а силиконовая краска гарантирует срок службы фасада не менее 12 лет без потери внешнего вида.</a:t>
            </a:r>
          </a:p>
        </p:txBody>
      </p:sp>
    </p:spTree>
    <p:extLst>
      <p:ext uri="{BB962C8B-B14F-4D97-AF65-F5344CB8AC3E}">
        <p14:creationId xmlns:p14="http://schemas.microsoft.com/office/powerpoint/2010/main" val="407567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3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pic>
        <p:nvPicPr>
          <p:cNvPr id="5" name="Рисунок 4" descr="Изображение выглядит как логотип, снимок экран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2D8A654D-3EF3-F863-2A90-2B43DEC2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673" y="253744"/>
            <a:ext cx="2104172" cy="58604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457199" y="1188313"/>
            <a:ext cx="970877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Технология 2: «Крепость во влажной зоне» </a:t>
            </a:r>
            <a:r>
              <a:rPr lang="ru-RU" b="1" dirty="0" smtClean="0"/>
              <a:t>(ванная</a:t>
            </a:r>
            <a:r>
              <a:rPr lang="ru-RU" b="1" dirty="0"/>
              <a:t>, кухня, прачечная</a:t>
            </a:r>
            <a:r>
              <a:rPr lang="ru-RU" b="1" dirty="0" smtClean="0"/>
              <a:t>)</a:t>
            </a:r>
          </a:p>
          <a:p>
            <a:endParaRPr lang="ru-RU" b="1" dirty="0"/>
          </a:p>
          <a:p>
            <a:r>
              <a:rPr lang="ru-RU" b="1" dirty="0"/>
              <a:t>Проблема:</a:t>
            </a:r>
            <a:r>
              <a:rPr lang="ru-RU" dirty="0"/>
              <a:t> Стены покрываются конденсатом, появляется плесень, краска размокает и шелушится при мытье. </a:t>
            </a:r>
            <a:endParaRPr lang="ru-RU" dirty="0" smtClean="0"/>
          </a:p>
          <a:p>
            <a:endParaRPr lang="ru-RU" b="1" dirty="0"/>
          </a:p>
          <a:p>
            <a:r>
              <a:rPr lang="ru-RU" b="1" dirty="0" smtClean="0"/>
              <a:t>Комбинация </a:t>
            </a:r>
            <a:r>
              <a:rPr lang="ru-RU" b="1" dirty="0"/>
              <a:t>продуктов:</a:t>
            </a:r>
            <a:endParaRPr lang="ru-RU" dirty="0"/>
          </a:p>
          <a:p>
            <a:r>
              <a:rPr lang="ru-RU" b="1" dirty="0"/>
              <a:t>Грунт:</a:t>
            </a:r>
            <a:r>
              <a:rPr lang="ru-RU" dirty="0"/>
              <a:t> Грунт-концентрат </a:t>
            </a:r>
            <a:r>
              <a:rPr lang="ru-RU" dirty="0" err="1"/>
              <a:t>влагоизолирующий</a:t>
            </a:r>
            <a:r>
              <a:rPr lang="ru-RU" dirty="0"/>
              <a:t> акриловый (линейка OREOL) — </a:t>
            </a:r>
            <a:r>
              <a:rPr lang="ru-RU" i="1" dirty="0"/>
              <a:t>используется неразбавленным для создания гидроизолирующего барьера.</a:t>
            </a:r>
            <a:endParaRPr lang="ru-RU" dirty="0"/>
          </a:p>
          <a:p>
            <a:r>
              <a:rPr lang="ru-RU" b="1" dirty="0"/>
              <a:t>Шпатлевка:</a:t>
            </a:r>
            <a:r>
              <a:rPr lang="ru-RU" dirty="0"/>
              <a:t> Шпатлевка для влажных помещений с антисептиком (линейка OREOL) — </a:t>
            </a:r>
            <a:r>
              <a:rPr lang="ru-RU" i="1" dirty="0"/>
              <a:t>выравнивает стены, не разрушаясь от пара и влаги, фунгицид в составе защищает от плесени.</a:t>
            </a:r>
            <a:endParaRPr lang="ru-RU" dirty="0"/>
          </a:p>
          <a:p>
            <a:r>
              <a:rPr lang="ru-RU" b="1" dirty="0"/>
              <a:t>Финишное покрытие:</a:t>
            </a:r>
            <a:r>
              <a:rPr lang="ru-RU" dirty="0"/>
              <a:t> Краска для влажных помещений белоснежная </a:t>
            </a:r>
            <a:r>
              <a:rPr lang="ru-RU" dirty="0" err="1"/>
              <a:t>суперсстойкая</a:t>
            </a:r>
            <a:r>
              <a:rPr lang="ru-RU" dirty="0"/>
              <a:t> (линейка OREOL) ИЛИ </a:t>
            </a:r>
            <a:r>
              <a:rPr lang="ru-RU" dirty="0" err="1"/>
              <a:t>Lotus</a:t>
            </a:r>
            <a:r>
              <a:rPr lang="ru-RU" dirty="0"/>
              <a:t> 20 (линейка NEWTONE) — </a:t>
            </a:r>
            <a:r>
              <a:rPr lang="ru-RU" i="1" dirty="0"/>
              <a:t>выдерживает прямой конденсат и мытье с бытовой химией (1-й класс по DIN).</a:t>
            </a:r>
            <a:endParaRPr lang="ru-RU" dirty="0"/>
          </a:p>
          <a:p>
            <a:endParaRPr lang="ru-RU" b="1" dirty="0" smtClean="0"/>
          </a:p>
          <a:p>
            <a:r>
              <a:rPr lang="ru-RU" b="1" dirty="0" smtClean="0"/>
              <a:t>В </a:t>
            </a:r>
            <a:r>
              <a:rPr lang="ru-RU" b="1" dirty="0"/>
              <a:t>чем выгода и что это дает:</a:t>
            </a:r>
            <a:r>
              <a:rPr lang="ru-RU" dirty="0"/>
              <a:t> Это классическая «сэндвич-система» для мокрых зон. Влага действует с двух сторон: изнутри помещения (пар) и снаружи (протечки). </a:t>
            </a:r>
            <a:r>
              <a:rPr lang="ru-RU" dirty="0" err="1"/>
              <a:t>Влагоизолирующий</a:t>
            </a:r>
            <a:r>
              <a:rPr lang="ru-RU" dirty="0"/>
              <a:t> грунт блокирует подсос влаги из стен, шпатлевка с антисептиком не дает грибку развиться в микротрещинах, а </a:t>
            </a:r>
            <a:r>
              <a:rPr lang="ru-RU" dirty="0" err="1"/>
              <a:t>суперсстойкая</a:t>
            </a:r>
            <a:r>
              <a:rPr lang="ru-RU" dirty="0"/>
              <a:t> краска надежно запечатывает пирог снаружи. Риск появления плесени и вздутия покрытия сведен к нулю.</a:t>
            </a:r>
          </a:p>
        </p:txBody>
      </p:sp>
    </p:spTree>
    <p:extLst>
      <p:ext uri="{BB962C8B-B14F-4D97-AF65-F5344CB8AC3E}">
        <p14:creationId xmlns:p14="http://schemas.microsoft.com/office/powerpoint/2010/main" val="4241317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4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76518" y="1138527"/>
            <a:ext cx="1008529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Технология 3: «Идеальный интерьер под </a:t>
            </a:r>
            <a:r>
              <a:rPr lang="ru-RU" b="1" dirty="0" err="1"/>
              <a:t>шелкографию</a:t>
            </a:r>
            <a:r>
              <a:rPr lang="ru-RU" b="1" dirty="0"/>
              <a:t>» </a:t>
            </a:r>
            <a:r>
              <a:rPr lang="ru-RU" b="1" dirty="0" smtClean="0"/>
              <a:t>(спальни</a:t>
            </a:r>
            <a:r>
              <a:rPr lang="ru-RU" b="1" dirty="0"/>
              <a:t>, премиум-ремонт</a:t>
            </a:r>
            <a:r>
              <a:rPr lang="ru-RU" b="1" dirty="0" smtClean="0"/>
              <a:t>)</a:t>
            </a:r>
          </a:p>
          <a:p>
            <a:endParaRPr lang="ru-RU" b="1" dirty="0"/>
          </a:p>
          <a:p>
            <a:r>
              <a:rPr lang="ru-RU" b="1" dirty="0"/>
              <a:t>Проблема:</a:t>
            </a:r>
            <a:r>
              <a:rPr lang="ru-RU" dirty="0"/>
              <a:t> После покраски стен или наклейки дорогих тонких обоев проступают мелкие дефекты (царапины, песчинки), краска ложится неравномерно, видны полосы от валика. </a:t>
            </a:r>
            <a:endParaRPr lang="ru-RU" dirty="0" smtClean="0"/>
          </a:p>
          <a:p>
            <a:endParaRPr lang="ru-RU" b="1" dirty="0"/>
          </a:p>
          <a:p>
            <a:r>
              <a:rPr lang="ru-RU" b="1" dirty="0" smtClean="0"/>
              <a:t>Комбинация </a:t>
            </a:r>
            <a:r>
              <a:rPr lang="ru-RU" b="1" dirty="0"/>
              <a:t>продуктов:</a:t>
            </a:r>
            <a:endParaRPr lang="ru-RU" dirty="0"/>
          </a:p>
          <a:p>
            <a:r>
              <a:rPr lang="ru-RU" b="1" dirty="0"/>
              <a:t>Грунт:</a:t>
            </a:r>
            <a:r>
              <a:rPr lang="ru-RU" dirty="0"/>
              <a:t> Грунтовка глубокого проникновения с антисептиком акриловая (NEWTONE).</a:t>
            </a:r>
          </a:p>
          <a:p>
            <a:r>
              <a:rPr lang="ru-RU" b="1" dirty="0"/>
              <a:t>Шпатлевка:</a:t>
            </a:r>
            <a:r>
              <a:rPr lang="ru-RU" dirty="0"/>
              <a:t> Шпатлевка </a:t>
            </a:r>
            <a:r>
              <a:rPr lang="ru-RU" dirty="0" err="1"/>
              <a:t>суперфинишная</a:t>
            </a:r>
            <a:r>
              <a:rPr lang="ru-RU" dirty="0"/>
              <a:t> для внутренних работ акриловая (NEWTONE) — </a:t>
            </a:r>
            <a:r>
              <a:rPr lang="ru-RU" i="1" dirty="0"/>
              <a:t>позволяет создать ювелирную поверхность слоем от 0 мм, обладает высочайшей белизной.</a:t>
            </a:r>
            <a:endParaRPr lang="ru-RU" dirty="0"/>
          </a:p>
          <a:p>
            <a:r>
              <a:rPr lang="ru-RU" b="1" dirty="0"/>
              <a:t>Финишное покрытие:</a:t>
            </a:r>
            <a:r>
              <a:rPr lang="ru-RU" dirty="0"/>
              <a:t> Краска интерьерная моющаяся AVANTGARDE база A/C — </a:t>
            </a:r>
            <a:r>
              <a:rPr lang="ru-RU" i="1" dirty="0"/>
              <a:t>гибридная технология, в 10 раз прочнее обычных красок, не оставляет следов от валика.</a:t>
            </a:r>
            <a:endParaRPr lang="ru-RU" dirty="0"/>
          </a:p>
          <a:p>
            <a:endParaRPr lang="ru-RU" b="1" dirty="0" smtClean="0"/>
          </a:p>
          <a:p>
            <a:r>
              <a:rPr lang="ru-RU" b="1" dirty="0" smtClean="0"/>
              <a:t>В </a:t>
            </a:r>
            <a:r>
              <a:rPr lang="ru-RU" b="1" dirty="0"/>
              <a:t>чем выгода и что это дает:</a:t>
            </a:r>
            <a:r>
              <a:rPr lang="ru-RU" dirty="0"/>
              <a:t> </a:t>
            </a:r>
            <a:r>
              <a:rPr lang="ru-RU" dirty="0" err="1"/>
              <a:t>Бликующий</a:t>
            </a:r>
            <a:r>
              <a:rPr lang="ru-RU" dirty="0"/>
              <a:t> свет от окон или искусственного освещения безжалостно выдает любые неровности стен. </a:t>
            </a:r>
            <a:r>
              <a:rPr lang="ru-RU" dirty="0" err="1"/>
              <a:t>Суперфинишная</a:t>
            </a:r>
            <a:r>
              <a:rPr lang="ru-RU" dirty="0"/>
              <a:t> шпатлевка NEWTONE (толщина нанесения буквально от 0 до 1 мм) делает стену абсолютно гладкой, как стекло. А краска AVANTGARDE благодаря гибридной технологии (водная алкидная дисперсия) обладает «отличным розливом» — она сама разравнивается после нанесения валиком, не оставляя шагрени и полос. Итог — эффект немецкого качества без привлечения маляров-премиум класса.</a:t>
            </a:r>
          </a:p>
        </p:txBody>
      </p:sp>
      <p:pic>
        <p:nvPicPr>
          <p:cNvPr id="6" name="Рисунок 5" descr="Изображение выглядит как логотип, снимок экран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2D8A654D-3EF3-F863-2A90-2B43DEC2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673" y="253744"/>
            <a:ext cx="2104172" cy="58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911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5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31695" y="1185585"/>
            <a:ext cx="97984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Технология 4: «Деревянный пол, который не нужно циклевать» (Паркет, лестницы, доска</a:t>
            </a:r>
            <a:r>
              <a:rPr lang="ru-RU" b="1" dirty="0" smtClean="0"/>
              <a:t>)</a:t>
            </a:r>
          </a:p>
          <a:p>
            <a:endParaRPr lang="ru-RU" b="1" dirty="0"/>
          </a:p>
          <a:p>
            <a:r>
              <a:rPr lang="ru-RU" b="1" dirty="0"/>
              <a:t>Проблема:</a:t>
            </a:r>
            <a:r>
              <a:rPr lang="ru-RU" dirty="0"/>
              <a:t> Деревянный пол быстро истирается, покрывается царапинами, тускнеет, обычные лаки желтеют. </a:t>
            </a:r>
            <a:endParaRPr lang="ru-RU" dirty="0" smtClean="0"/>
          </a:p>
          <a:p>
            <a:endParaRPr lang="ru-RU" b="1" dirty="0"/>
          </a:p>
          <a:p>
            <a:r>
              <a:rPr lang="ru-RU" b="1" dirty="0" smtClean="0"/>
              <a:t>Комбинация </a:t>
            </a:r>
            <a:r>
              <a:rPr lang="ru-RU" b="1" dirty="0"/>
              <a:t>продуктов:</a:t>
            </a:r>
            <a:endParaRPr lang="ru-RU" dirty="0"/>
          </a:p>
          <a:p>
            <a:r>
              <a:rPr lang="ru-RU" b="1" dirty="0"/>
              <a:t>Подготовка:</a:t>
            </a:r>
            <a:r>
              <a:rPr lang="ru-RU" dirty="0"/>
              <a:t> Грунтовка глубокого проникновения (для блокировки древесных смол и укрепления волокон).</a:t>
            </a:r>
          </a:p>
          <a:p>
            <a:r>
              <a:rPr lang="ru-RU" b="1" dirty="0"/>
              <a:t>Финишное покрытие:</a:t>
            </a:r>
            <a:r>
              <a:rPr lang="ru-RU" dirty="0"/>
              <a:t> Лак высокой твердости паркетный AVANTGARDE (полуматовый/глянцевый).</a:t>
            </a:r>
          </a:p>
          <a:p>
            <a:r>
              <a:rPr lang="ru-RU" b="1" dirty="0"/>
              <a:t>В чем выгода и что это дает:</a:t>
            </a:r>
            <a:r>
              <a:rPr lang="ru-RU" dirty="0"/>
              <a:t> Лак AVANTGARDE создан по гибридной технологии на основе водной дисперсии модифицированной алкидной смолы. Это дает уникальное сочетание: </a:t>
            </a:r>
            <a:r>
              <a:rPr lang="ru-RU" dirty="0" err="1"/>
              <a:t>экологичность</a:t>
            </a:r>
            <a:r>
              <a:rPr lang="ru-RU" dirty="0"/>
              <a:t> воды и прочность </a:t>
            </a:r>
            <a:r>
              <a:rPr lang="ru-RU" dirty="0" err="1"/>
              <a:t>алкида</a:t>
            </a:r>
            <a:r>
              <a:rPr lang="ru-RU" dirty="0"/>
              <a:t>. Он обеспечивает 1-й класс стойкости к истиранию (можно мыть с абразивами!), не желтеет от УФ-лучей и устойчив к ударам. Дополнительная выгода — </a:t>
            </a:r>
            <a:r>
              <a:rPr lang="ru-RU" b="1" dirty="0"/>
              <a:t>проведение работ за 1 день</a:t>
            </a:r>
            <a:r>
              <a:rPr lang="ru-RU" dirty="0"/>
              <a:t>. Межслойная сушка занимает всего 3 часа, что позволяет нанести 2-3 слоя лака за световой день, а ходить по полу можно уже через 12 часов.</a:t>
            </a:r>
          </a:p>
        </p:txBody>
      </p:sp>
      <p:pic>
        <p:nvPicPr>
          <p:cNvPr id="6" name="Рисунок 5" descr="Изображение выглядит как логотип, снимок экран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2D8A654D-3EF3-F863-2A90-2B43DEC2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673" y="253744"/>
            <a:ext cx="2104172" cy="58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440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6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75130" y="1112960"/>
            <a:ext cx="9484659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Технология 5: «Окна, которые не слипаются» (Пластиковые и деревянные окна)</a:t>
            </a:r>
          </a:p>
          <a:p>
            <a:endParaRPr lang="ru-RU" b="1" dirty="0" smtClean="0"/>
          </a:p>
          <a:p>
            <a:r>
              <a:rPr lang="ru-RU" b="1" dirty="0" smtClean="0"/>
              <a:t>Проблема</a:t>
            </a:r>
            <a:r>
              <a:rPr lang="ru-RU" b="1" dirty="0"/>
              <a:t>:</a:t>
            </a:r>
            <a:r>
              <a:rPr lang="ru-RU" dirty="0"/>
              <a:t> При покраске окон обычными красками створки намертво прилипают к рамам (</a:t>
            </a:r>
            <a:r>
              <a:rPr lang="ru-RU" dirty="0" err="1"/>
              <a:t>blocking</a:t>
            </a:r>
            <a:r>
              <a:rPr lang="ru-RU" dirty="0"/>
              <a:t>-эффект), покрытие трескается от температурных расширений пластика/дерева, желтеет. </a:t>
            </a:r>
            <a:r>
              <a:rPr lang="ru-RU" b="1" dirty="0"/>
              <a:t>Комбинация продуктов:</a:t>
            </a:r>
            <a:endParaRPr lang="ru-RU" dirty="0"/>
          </a:p>
          <a:p>
            <a:endParaRPr lang="ru-RU" b="1" dirty="0" smtClean="0"/>
          </a:p>
          <a:p>
            <a:r>
              <a:rPr lang="ru-RU" b="1" dirty="0" smtClean="0"/>
              <a:t>Грунт </a:t>
            </a:r>
            <a:r>
              <a:rPr lang="ru-RU" b="1" dirty="0"/>
              <a:t>(для металла, если есть):</a:t>
            </a:r>
            <a:r>
              <a:rPr lang="ru-RU" dirty="0"/>
              <a:t> Эмаль акриловая универсальная (как грунт по металлу) — содержит ингибитор коррозии.</a:t>
            </a:r>
          </a:p>
          <a:p>
            <a:endParaRPr lang="ru-RU" b="1" dirty="0" smtClean="0"/>
          </a:p>
          <a:p>
            <a:r>
              <a:rPr lang="ru-RU" b="1" dirty="0" smtClean="0"/>
              <a:t>Финишное </a:t>
            </a:r>
            <a:r>
              <a:rPr lang="ru-RU" b="1" dirty="0"/>
              <a:t>покрытие:</a:t>
            </a:r>
            <a:r>
              <a:rPr lang="ru-RU" dirty="0"/>
              <a:t> Эмаль для окон полиуретановая акриловая (линейка OREOL).</a:t>
            </a:r>
          </a:p>
          <a:p>
            <a:endParaRPr lang="ru-RU" b="1" dirty="0" smtClean="0"/>
          </a:p>
          <a:p>
            <a:r>
              <a:rPr lang="ru-RU" b="1" dirty="0" smtClean="0"/>
              <a:t>В </a:t>
            </a:r>
            <a:r>
              <a:rPr lang="ru-RU" b="1" dirty="0"/>
              <a:t>чем выгода и что это дает:</a:t>
            </a:r>
            <a:r>
              <a:rPr lang="ru-RU" dirty="0"/>
              <a:t> Полиуретан-акриловая смола в составе эмали для окон дает эффект </a:t>
            </a:r>
            <a:r>
              <a:rPr lang="ru-RU" dirty="0" err="1"/>
              <a:t>термошва</a:t>
            </a:r>
            <a:r>
              <a:rPr lang="ru-RU" dirty="0"/>
              <a:t>: покрытие становится невероятно эластичным и растягивается вместе с ПВХ или деревом при нагревании на солнце, не образуя микротрещин. </a:t>
            </a:r>
            <a:endParaRPr lang="ru-RU" dirty="0" smtClean="0"/>
          </a:p>
          <a:p>
            <a:endParaRPr lang="ru-RU" b="1" dirty="0"/>
          </a:p>
          <a:p>
            <a:r>
              <a:rPr lang="ru-RU" b="1" dirty="0" smtClean="0"/>
              <a:t>Ключевая </a:t>
            </a:r>
            <a:r>
              <a:rPr lang="ru-RU" b="1" dirty="0"/>
              <a:t>фишка технологии</a:t>
            </a:r>
            <a:r>
              <a:rPr lang="ru-RU" dirty="0"/>
              <a:t> — высохшая эмаль блокирует прилипание оконных створок (</a:t>
            </a:r>
            <a:r>
              <a:rPr lang="ru-RU" dirty="0" err="1"/>
              <a:t>anti-blocking</a:t>
            </a:r>
            <a:r>
              <a:rPr lang="ru-RU" dirty="0"/>
              <a:t>), что критично важно для окон. Кроме того, она устойчива к УФ-излучению и не желтеет, сохраняя белизну рам на годы.</a:t>
            </a:r>
          </a:p>
        </p:txBody>
      </p:sp>
      <p:pic>
        <p:nvPicPr>
          <p:cNvPr id="6" name="Рисунок 5" descr="Изображение выглядит как логотип, снимок экран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2D8A654D-3EF3-F863-2A90-2B43DEC2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673" y="253744"/>
            <a:ext cx="2104172" cy="58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40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7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pic>
        <p:nvPicPr>
          <p:cNvPr id="5" name="Рисунок 4" descr="Изображение выглядит как логотип, снимок экран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2D8A654D-3EF3-F863-2A90-2B43DEC2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673" y="253744"/>
            <a:ext cx="2104172" cy="58604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04800" y="1079823"/>
            <a:ext cx="9959788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Линейка AVANTGARDE </a:t>
            </a:r>
            <a:r>
              <a:rPr lang="ru-RU" b="1" dirty="0" smtClean="0"/>
              <a:t>(премиум</a:t>
            </a:r>
            <a:r>
              <a:rPr lang="ru-RU" b="1" dirty="0"/>
              <a:t>, гибридные технологии</a:t>
            </a:r>
            <a:r>
              <a:rPr lang="ru-RU" b="1" dirty="0" smtClean="0"/>
              <a:t>)</a:t>
            </a:r>
          </a:p>
          <a:p>
            <a:endParaRPr lang="ru-RU" b="1" dirty="0"/>
          </a:p>
          <a:p>
            <a:r>
              <a:rPr lang="ru-RU" b="1" dirty="0"/>
              <a:t>Технология 6: «Морской климат и экстерьер» (Защита дерева от любых атмосферных бедствий</a:t>
            </a:r>
            <a:r>
              <a:rPr lang="ru-RU" b="1" dirty="0" smtClean="0"/>
              <a:t>)</a:t>
            </a:r>
          </a:p>
          <a:p>
            <a:endParaRPr lang="ru-RU" b="1" dirty="0"/>
          </a:p>
          <a:p>
            <a:r>
              <a:rPr lang="ru-RU" b="1" dirty="0"/>
              <a:t>Проблема:</a:t>
            </a:r>
            <a:r>
              <a:rPr lang="ru-RU" dirty="0"/>
              <a:t> Деревянный фасад, забор, терраса или лоджия подвергаются жесткому воздействию: УФ-лучи (дерево сереет), дожди (разбухает), мороз (трескается). </a:t>
            </a:r>
            <a:endParaRPr lang="ru-RU" dirty="0" smtClean="0"/>
          </a:p>
          <a:p>
            <a:endParaRPr lang="ru-RU" b="1" dirty="0"/>
          </a:p>
          <a:p>
            <a:r>
              <a:rPr lang="ru-RU" b="1" dirty="0" smtClean="0"/>
              <a:t>Комбинация </a:t>
            </a:r>
            <a:r>
              <a:rPr lang="ru-RU" b="1" dirty="0"/>
              <a:t>продуктов:</a:t>
            </a:r>
            <a:endParaRPr lang="ru-RU" dirty="0"/>
          </a:p>
          <a:p>
            <a:r>
              <a:rPr lang="ru-RU" b="1" dirty="0"/>
              <a:t>Грунт:</a:t>
            </a:r>
            <a:r>
              <a:rPr lang="ru-RU" dirty="0"/>
              <a:t> Грунтовка глубокого проникновения с антисептиком акриловая (NEWTONE — как подготовительный слой для дерева).</a:t>
            </a:r>
          </a:p>
          <a:p>
            <a:r>
              <a:rPr lang="ru-RU" b="1" dirty="0" smtClean="0"/>
              <a:t>Финишное </a:t>
            </a:r>
            <a:r>
              <a:rPr lang="ru-RU" b="1" dirty="0"/>
              <a:t>покрытие:</a:t>
            </a:r>
            <a:r>
              <a:rPr lang="ru-RU" dirty="0"/>
              <a:t> Лак высокой твердости яхтный AVANTGARDE.</a:t>
            </a:r>
          </a:p>
          <a:p>
            <a:endParaRPr lang="ru-RU" b="1" dirty="0" smtClean="0"/>
          </a:p>
          <a:p>
            <a:r>
              <a:rPr lang="ru-RU" b="1" dirty="0" smtClean="0"/>
              <a:t>В </a:t>
            </a:r>
            <a:r>
              <a:rPr lang="ru-RU" b="1" dirty="0"/>
              <a:t>чем выгода и что это дает:</a:t>
            </a:r>
            <a:r>
              <a:rPr lang="ru-RU" dirty="0"/>
              <a:t> Яхтный лак в линейке AVANTGARD — это продукт на основе </a:t>
            </a:r>
            <a:r>
              <a:rPr lang="ru-RU" i="1" dirty="0"/>
              <a:t>водной дисперсии модифицированной алкидной смолы</a:t>
            </a:r>
            <a:r>
              <a:rPr lang="ru-RU" dirty="0"/>
              <a:t>. Это уникальная гибридная технология. В отличие от обычных алкидных лаков, он не желтеет, не имеет запаха и </a:t>
            </a:r>
            <a:r>
              <a:rPr lang="ru-RU" dirty="0" err="1"/>
              <a:t>экологичен</a:t>
            </a:r>
            <a:r>
              <a:rPr lang="ru-RU" dirty="0"/>
              <a:t>. В отличие от обычных акриловых лаков — он невероятно стоек к воде (включая морской климат), маслам и царапинам. Связка «грунт-антисептик + яхтный лак» создает на дереве броню, которая не трескается при температурных расширениях древесины и позволяет мыть поверхность жесткими щетками.</a:t>
            </a:r>
          </a:p>
        </p:txBody>
      </p:sp>
    </p:spTree>
    <p:extLst>
      <p:ext uri="{BB962C8B-B14F-4D97-AF65-F5344CB8AC3E}">
        <p14:creationId xmlns:p14="http://schemas.microsoft.com/office/powerpoint/2010/main" val="1735979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8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pic>
        <p:nvPicPr>
          <p:cNvPr id="5" name="Рисунок 4" descr="Изображение выглядит как логотип, снимок экран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2D8A654D-3EF3-F863-2A90-2B43DEC2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673" y="253744"/>
            <a:ext cx="2104172" cy="586043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49625" y="1156476"/>
            <a:ext cx="993289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Линейка OREOL (Надежный средний сегмент, универсальность)</a:t>
            </a:r>
          </a:p>
          <a:p>
            <a:r>
              <a:rPr lang="ru-RU" b="1" dirty="0"/>
              <a:t>Технология 7: «Покраска проблемных оснований» (Плитка, старая алкидная краска, плотный бетон</a:t>
            </a:r>
            <a:r>
              <a:rPr lang="ru-RU" b="1" dirty="0" smtClean="0"/>
              <a:t>)</a:t>
            </a:r>
          </a:p>
          <a:p>
            <a:endParaRPr lang="ru-RU" b="1" dirty="0"/>
          </a:p>
          <a:p>
            <a:r>
              <a:rPr lang="ru-RU" b="1" dirty="0"/>
              <a:t>Проблема:</a:t>
            </a:r>
            <a:r>
              <a:rPr lang="ru-RU" dirty="0"/>
              <a:t> Нужно перекрасить стену в ванной или на кухне, где лежит старая глянцевая краска (алкидная/масляная) или даже керамическая плитка. Обычная водная краска на таком основании «свернется» или отвалится пленкой из-за нулевой </a:t>
            </a:r>
            <a:r>
              <a:rPr lang="ru-RU" dirty="0" err="1"/>
              <a:t>впитываемости</a:t>
            </a:r>
            <a:r>
              <a:rPr lang="ru-RU" dirty="0"/>
              <a:t>. </a:t>
            </a:r>
            <a:endParaRPr lang="ru-RU" dirty="0" smtClean="0"/>
          </a:p>
          <a:p>
            <a:endParaRPr lang="ru-RU" b="1" dirty="0"/>
          </a:p>
          <a:p>
            <a:r>
              <a:rPr lang="ru-RU" b="1" dirty="0" smtClean="0"/>
              <a:t>Комбинация </a:t>
            </a:r>
            <a:r>
              <a:rPr lang="ru-RU" b="1" dirty="0"/>
              <a:t>продуктов:</a:t>
            </a:r>
            <a:endParaRPr lang="ru-RU" dirty="0"/>
          </a:p>
          <a:p>
            <a:r>
              <a:rPr lang="ru-RU" b="1" dirty="0"/>
              <a:t>Грунт:</a:t>
            </a:r>
            <a:r>
              <a:rPr lang="ru-RU" dirty="0"/>
              <a:t> Грунтовка Бетон-контакт (OREOL).</a:t>
            </a:r>
          </a:p>
          <a:p>
            <a:r>
              <a:rPr lang="ru-RU" b="1" dirty="0"/>
              <a:t>Финишное покрытие:</a:t>
            </a:r>
            <a:r>
              <a:rPr lang="ru-RU" dirty="0"/>
              <a:t> Краска для влажных помещений белоснежная </a:t>
            </a:r>
            <a:r>
              <a:rPr lang="ru-RU" dirty="0" err="1"/>
              <a:t>суперсстойкая</a:t>
            </a:r>
            <a:r>
              <a:rPr lang="ru-RU" dirty="0"/>
              <a:t> (OREOL) ИЛИ Эмаль акриловая универсальная (OREOL).</a:t>
            </a:r>
          </a:p>
          <a:p>
            <a:endParaRPr lang="ru-RU" b="1" dirty="0" smtClean="0"/>
          </a:p>
          <a:p>
            <a:r>
              <a:rPr lang="ru-RU" b="1" dirty="0" smtClean="0"/>
              <a:t>В </a:t>
            </a:r>
            <a:r>
              <a:rPr lang="ru-RU" b="1" dirty="0"/>
              <a:t>чем выгода и что это дает:</a:t>
            </a:r>
            <a:r>
              <a:rPr lang="ru-RU" dirty="0"/>
              <a:t> В каталоге четко указано, что Бетон-контакт OREOL применяется «перед нанесением выравнивающих штукатурок... для обработки масляных и алкидных покрытий... и покрытий из керамической плитки». Он создает шероховатую поверхность (с кварцевым песком в составе) и имеет розовый индикатор, чтобы не пропустить участки. Акриловая эмаль или </a:t>
            </a:r>
            <a:r>
              <a:rPr lang="ru-RU" dirty="0" err="1"/>
              <a:t>суперсстойкая</a:t>
            </a:r>
            <a:r>
              <a:rPr lang="ru-RU" dirty="0"/>
              <a:t> краска надежно цепляется за эту шероховатость. Это позволяет сэкономить огромные деньги на удалении старой плитки или краски.</a:t>
            </a:r>
          </a:p>
        </p:txBody>
      </p:sp>
    </p:spTree>
    <p:extLst>
      <p:ext uri="{BB962C8B-B14F-4D97-AF65-F5344CB8AC3E}">
        <p14:creationId xmlns:p14="http://schemas.microsoft.com/office/powerpoint/2010/main" val="808808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9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02024" y="1060079"/>
            <a:ext cx="981635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Технология 8: «Быстрый ремонт радиаторов и труб без запаха</a:t>
            </a:r>
            <a:r>
              <a:rPr lang="ru-RU" b="1" dirty="0" smtClean="0"/>
              <a:t>»</a:t>
            </a:r>
          </a:p>
          <a:p>
            <a:endParaRPr lang="ru-RU" b="1" dirty="0"/>
          </a:p>
          <a:p>
            <a:r>
              <a:rPr lang="ru-RU" b="1" dirty="0"/>
              <a:t>Проблема:</a:t>
            </a:r>
            <a:r>
              <a:rPr lang="ru-RU" dirty="0"/>
              <a:t> Ржавые батареи и трубы. Нужно покрасить зимой, пока отопление включено, но алкидные эмали воняют и желтеют от горячих труб. </a:t>
            </a:r>
            <a:endParaRPr lang="ru-RU" dirty="0" smtClean="0"/>
          </a:p>
          <a:p>
            <a:endParaRPr lang="ru-RU" b="1" dirty="0"/>
          </a:p>
          <a:p>
            <a:r>
              <a:rPr lang="ru-RU" b="1" dirty="0" smtClean="0"/>
              <a:t>Комбинация </a:t>
            </a:r>
            <a:r>
              <a:rPr lang="ru-RU" b="1" dirty="0"/>
              <a:t>продуктов:</a:t>
            </a:r>
            <a:endParaRPr lang="ru-RU" dirty="0"/>
          </a:p>
          <a:p>
            <a:r>
              <a:rPr lang="ru-RU" b="1" dirty="0"/>
              <a:t>Защита металла:</a:t>
            </a:r>
            <a:r>
              <a:rPr lang="ru-RU" dirty="0"/>
              <a:t> Эмаль акриловая универсальная (OREOL) — </a:t>
            </a:r>
            <a:r>
              <a:rPr lang="ru-RU" i="1" dirty="0"/>
              <a:t>в качестве грунта по металлу</a:t>
            </a:r>
            <a:r>
              <a:rPr lang="ru-RU" i="1" dirty="0" smtClean="0"/>
              <a:t>.</a:t>
            </a:r>
          </a:p>
          <a:p>
            <a:r>
              <a:rPr lang="ru-RU" b="1" dirty="0" smtClean="0"/>
              <a:t>Финишное </a:t>
            </a:r>
            <a:r>
              <a:rPr lang="ru-RU" b="1" dirty="0"/>
              <a:t>покрытие:</a:t>
            </a:r>
            <a:r>
              <a:rPr lang="ru-RU" dirty="0"/>
              <a:t> Эмаль для радиаторов отопления акриловая (OREOL).</a:t>
            </a:r>
          </a:p>
          <a:p>
            <a:endParaRPr lang="ru-RU" b="1" dirty="0" smtClean="0"/>
          </a:p>
          <a:p>
            <a:r>
              <a:rPr lang="ru-RU" b="1" dirty="0" smtClean="0"/>
              <a:t>В </a:t>
            </a:r>
            <a:r>
              <a:rPr lang="ru-RU" b="1" dirty="0"/>
              <a:t>чем выгода и что это дает:</a:t>
            </a:r>
            <a:r>
              <a:rPr lang="ru-RU" dirty="0"/>
              <a:t> Эмаль для радиаторов содержит ингибитор коррозии и позволяет красить прямо по ржавчине (если она не отслаивается), а также выдерживает температуру до 120°C и не желтеет. </a:t>
            </a:r>
            <a:r>
              <a:rPr lang="ru-RU" i="1" dirty="0"/>
              <a:t>Но</a:t>
            </a:r>
            <a:r>
              <a:rPr lang="ru-RU" dirty="0"/>
              <a:t>, если трубы сильно поражены коррозией, каталог рекомендует двухслойную систему: сначала нанести универсальную акриловую эмаль (она отлично липнет к металлу и блокирует ржавчину), а сверху — специальную эмаль для радиаторов, которая даст идеальный белый цвет и стойкость к нагреву. Оба материала на водной основе — можно красить батарею, не выселяя семью из квартиры на неделю.</a:t>
            </a:r>
          </a:p>
        </p:txBody>
      </p:sp>
      <p:pic>
        <p:nvPicPr>
          <p:cNvPr id="6" name="Рисунок 5" descr="Изображение выглядит как логотип, снимок экран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2D8A654D-3EF3-F863-2A90-2B43DEC2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673" y="253744"/>
            <a:ext cx="2104172" cy="58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89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10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45459" y="1130889"/>
            <a:ext cx="925157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Технология 9: «Система для OSB-панелей и SIP-домов</a:t>
            </a:r>
            <a:r>
              <a:rPr lang="ru-RU" b="1" dirty="0" smtClean="0"/>
              <a:t>»</a:t>
            </a:r>
          </a:p>
          <a:p>
            <a:endParaRPr lang="ru-RU" b="1" dirty="0"/>
          </a:p>
          <a:p>
            <a:r>
              <a:rPr lang="ru-RU" b="1" dirty="0"/>
              <a:t>Проблема:</a:t>
            </a:r>
            <a:r>
              <a:rPr lang="ru-RU" dirty="0"/>
              <a:t> OSB-плита имеет крайне неоднородную структуру (поры, щепа, клей), она активно впитывает краску пятнами, а обычные краски на ней трескаются из-за подвижности плиты. </a:t>
            </a:r>
            <a:endParaRPr lang="ru-RU" dirty="0" smtClean="0"/>
          </a:p>
          <a:p>
            <a:endParaRPr lang="ru-RU" b="1" dirty="0"/>
          </a:p>
          <a:p>
            <a:r>
              <a:rPr lang="ru-RU" b="1" dirty="0" smtClean="0"/>
              <a:t>Комбинация </a:t>
            </a:r>
            <a:r>
              <a:rPr lang="ru-RU" b="1" dirty="0"/>
              <a:t>продуктов:</a:t>
            </a:r>
            <a:endParaRPr lang="ru-RU" dirty="0"/>
          </a:p>
          <a:p>
            <a:r>
              <a:rPr lang="ru-RU" b="1" dirty="0"/>
              <a:t>Грунт:</a:t>
            </a:r>
            <a:r>
              <a:rPr lang="ru-RU" dirty="0"/>
              <a:t> Грунт-концентрат </a:t>
            </a:r>
            <a:r>
              <a:rPr lang="ru-RU" dirty="0" err="1"/>
              <a:t>влагоизолирующий</a:t>
            </a:r>
            <a:r>
              <a:rPr lang="ru-RU" dirty="0"/>
              <a:t> акриловый (OREOL) — </a:t>
            </a:r>
            <a:r>
              <a:rPr lang="ru-RU" i="1" dirty="0"/>
              <a:t>использовать неразбавленным.</a:t>
            </a:r>
            <a:endParaRPr lang="ru-RU" dirty="0"/>
          </a:p>
          <a:p>
            <a:r>
              <a:rPr lang="ru-RU" b="1" dirty="0"/>
              <a:t>Финишное покрытие:</a:t>
            </a:r>
            <a:r>
              <a:rPr lang="ru-RU" dirty="0"/>
              <a:t> Краска для плит OSB база А (OREOL).</a:t>
            </a:r>
          </a:p>
          <a:p>
            <a:endParaRPr lang="ru-RU" b="1" dirty="0" smtClean="0"/>
          </a:p>
          <a:p>
            <a:r>
              <a:rPr lang="ru-RU" b="1" dirty="0" smtClean="0"/>
              <a:t>В </a:t>
            </a:r>
            <a:r>
              <a:rPr lang="ru-RU" b="1" dirty="0"/>
              <a:t>чем выгода и что это дает:</a:t>
            </a:r>
            <a:r>
              <a:rPr lang="ru-RU" dirty="0"/>
              <a:t> Влагозащитный грунт (голубого цвета) в неразбавленном виде запечатывает поры и стыки OSB-плиты, выравнивая впитывающую способность щепы и клеевых швов. Без этого дорогая краска ляжет пятнами. Краска для OSB специально разработана с учетом высокой подвижности этого материала — она эластична и содержит фунгицид. Такая связка позволяет получить ровный цвет и защиту фасада из OSB/SIP-панелей без образования микротрещин.</a:t>
            </a:r>
          </a:p>
        </p:txBody>
      </p:sp>
      <p:pic>
        <p:nvPicPr>
          <p:cNvPr id="6" name="Рисунок 5" descr="Изображение выглядит как логотип, снимок экран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2D8A654D-3EF3-F863-2A90-2B43DEC2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673" y="253744"/>
            <a:ext cx="2104172" cy="58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25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E78E-4947-6447-94F7-14B83FCA70BA}" type="slidenum">
              <a:rPr lang="ru-RU" smtClean="0">
                <a:solidFill>
                  <a:prstClr val="black">
                    <a:tint val="82000"/>
                  </a:prstClr>
                </a:solidFill>
              </a:rPr>
              <a:pPr/>
              <a:t>11</a:t>
            </a:fld>
            <a:endParaRPr lang="ru-RU">
              <a:solidFill>
                <a:prstClr val="black">
                  <a:tint val="82000"/>
                </a:prst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19045" y="1565626"/>
            <a:ext cx="944693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Линейка ДИСКОНТ (Эконом, базовая защита</a:t>
            </a:r>
            <a:r>
              <a:rPr lang="ru-RU" b="1" dirty="0" smtClean="0"/>
              <a:t>)</a:t>
            </a:r>
          </a:p>
          <a:p>
            <a:endParaRPr lang="ru-RU" b="1" dirty="0"/>
          </a:p>
          <a:p>
            <a:r>
              <a:rPr lang="ru-RU" b="1" dirty="0"/>
              <a:t>Технология 10: «Эконом-ремонт съемной квартиры или дачи</a:t>
            </a:r>
            <a:r>
              <a:rPr lang="ru-RU" b="1" dirty="0" smtClean="0"/>
              <a:t>»</a:t>
            </a:r>
          </a:p>
          <a:p>
            <a:endParaRPr lang="ru-RU" b="1" dirty="0"/>
          </a:p>
          <a:p>
            <a:r>
              <a:rPr lang="ru-RU" b="1" dirty="0"/>
              <a:t>Проблема:</a:t>
            </a:r>
            <a:r>
              <a:rPr lang="ru-RU" dirty="0"/>
              <a:t> Нужно быстро и </a:t>
            </a:r>
            <a:r>
              <a:rPr lang="ru-RU" dirty="0" err="1"/>
              <a:t>дешко</a:t>
            </a:r>
            <a:r>
              <a:rPr lang="ru-RU" dirty="0"/>
              <a:t> освежить ремонт во влажных зонах или коридорах без особых требований к декоративности, но чтобы не отваливалось. </a:t>
            </a:r>
            <a:endParaRPr lang="ru-RU" dirty="0" smtClean="0"/>
          </a:p>
          <a:p>
            <a:endParaRPr lang="ru-RU" b="1" dirty="0"/>
          </a:p>
          <a:p>
            <a:r>
              <a:rPr lang="ru-RU" b="1" dirty="0" smtClean="0"/>
              <a:t>Комбинация </a:t>
            </a:r>
            <a:r>
              <a:rPr lang="ru-RU" b="1" dirty="0"/>
              <a:t>продуктов:</a:t>
            </a:r>
            <a:endParaRPr lang="ru-RU" dirty="0"/>
          </a:p>
          <a:p>
            <a:r>
              <a:rPr lang="ru-RU" b="1" dirty="0"/>
              <a:t>Грунт:</a:t>
            </a:r>
            <a:r>
              <a:rPr lang="ru-RU" dirty="0"/>
              <a:t> Грунтовка универсальная с антисептиком (ДИСКОНТ).</a:t>
            </a:r>
          </a:p>
          <a:p>
            <a:r>
              <a:rPr lang="ru-RU" b="1" dirty="0"/>
              <a:t>Шпатлевка:</a:t>
            </a:r>
            <a:r>
              <a:rPr lang="ru-RU" dirty="0"/>
              <a:t> Шпатлевка универсальная </a:t>
            </a:r>
            <a:r>
              <a:rPr lang="ru-RU" dirty="0" err="1"/>
              <a:t>масляно</a:t>
            </a:r>
            <a:r>
              <a:rPr lang="ru-RU" dirty="0"/>
              <a:t>-клеевая (ДИСКОНТ).</a:t>
            </a:r>
          </a:p>
          <a:p>
            <a:r>
              <a:rPr lang="ru-RU" b="1" dirty="0"/>
              <a:t>Финишное покрытие:</a:t>
            </a:r>
            <a:r>
              <a:rPr lang="ru-RU" dirty="0"/>
              <a:t> Краска интерьерная моющаяся (ДИСКОНТ).</a:t>
            </a:r>
            <a:endParaRPr lang="ru-RU" dirty="0">
              <a:effectLst/>
            </a:endParaRPr>
          </a:p>
        </p:txBody>
      </p:sp>
      <p:pic>
        <p:nvPicPr>
          <p:cNvPr id="6" name="Рисунок 5" descr="Изображение выглядит как логотип, снимок экрана, Шрифт, текст&#10;&#10;Автоматически созданное описание">
            <a:extLst>
              <a:ext uri="{FF2B5EF4-FFF2-40B4-BE49-F238E27FC236}">
                <a16:creationId xmlns:a16="http://schemas.microsoft.com/office/drawing/2014/main" xmlns="" id="{2D8A654D-3EF3-F863-2A90-2B43DEC2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0673" y="253744"/>
            <a:ext cx="2104172" cy="58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274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448</TotalTime>
  <Words>1596</Words>
  <Application>Microsoft Office PowerPoint</Application>
  <PresentationFormat>Произвольный</PresentationFormat>
  <Paragraphs>111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Тема Office</vt:lpstr>
      <vt:lpstr>Специальное оформление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Ильяшенко</dc:creator>
  <cp:lastModifiedBy>Заколодний Роман Александрович</cp:lastModifiedBy>
  <cp:revision>23</cp:revision>
  <dcterms:created xsi:type="dcterms:W3CDTF">2024-08-26T09:35:56Z</dcterms:created>
  <dcterms:modified xsi:type="dcterms:W3CDTF">2026-06-04T13:38:32Z</dcterms:modified>
</cp:coreProperties>
</file>